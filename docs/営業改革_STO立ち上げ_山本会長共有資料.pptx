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山本会長 共有資料 — 体制・スコープ・運用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営業改革推進室（STO）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の立ち上げについて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実行部隊ではなく、改革の「運転席」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STOは3つの機能に徹します — 案件の実行判断や顧客対応はしません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39696"/>
            <a:ext cx="3538728" cy="914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79092" y="2523744"/>
            <a:ext cx="786384" cy="786384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データを回す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棚卸し・スコアリング・KPIを、正しく速く供給する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2139696"/>
            <a:ext cx="3538728" cy="914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01284" y="2523744"/>
            <a:ext cx="786384" cy="786384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会議を回す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分科会→戦略会議→点検会議のサイクルを運転し、宿題を管理する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7304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7304" y="2139696"/>
            <a:ext cx="3538728" cy="914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23476" y="2523744"/>
            <a:ext cx="786384" cy="786384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意思決定に上げる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詰まりは24時間以内にオーナーへ渡す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468112"/>
            <a:ext cx="11183112" cy="64008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468112"/>
            <a:ext cx="38100" cy="64008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522976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STOは案件の実行判断・顧客対応をしません。改革の主役は各部長です。STOはその運転席に徹します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改革のスコープ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営業に閉じず、バリューチェーン全体へ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部門間の分断こそが本改革の対象です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67712"/>
            <a:ext cx="1543812" cy="9326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制作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8330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0780" y="2267712"/>
            <a:ext cx="1543812" cy="9326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7650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商品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1116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8640" y="2267712"/>
            <a:ext cx="1543812" cy="9326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436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流通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3902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6500" y="2267712"/>
            <a:ext cx="1543812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222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プロモーション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688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4360" y="2267712"/>
            <a:ext cx="1543812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008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ライブ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79474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42220" y="2267712"/>
            <a:ext cx="1543812" cy="93268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794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営業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（ライセンス・広告・海外）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29584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■ IPの価値は制作で生まれ、お客様との接点で届きます。部門間の分断こそが本改革の対象です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部長フィードバックでも全部門から「自部門も対象」の声が挙がりました（商品開発・カード、製作企画、流通、販促、ライブ、TFEI）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63440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663440"/>
            <a:ext cx="3810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718304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棚卸し・工数計測は営業領域から開始し、各領域へ段階展開します（一斉適用による現場負荷の集中を避けるため）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専任2名＋兼務2名の最小構成 — 全枠確定（7/16決定）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10512"/>
          <a:ext cx="1118311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286"/>
                <a:gridCol w="1283307"/>
                <a:gridCol w="1741632"/>
                <a:gridCol w="5774885"/>
              </a:tblGrid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区分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主な責務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優先順位・重要判断・障害の除去・トップ外交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変革設計リード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小沢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改革の中身：課題設計・営業プロセス/案件評価/監修・契約の再設計・意思決定書・パイロット・標準化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実行統制・データリード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改革の完遂：統合計画・KPIダッシュボード・データ品質統制・決定/リスク/未決の一元管理・停滞検知とエスカレーション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読み管理原案・経営向け論点整理・HD経企との接続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柳沼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兼務・週2〜3h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財務データ定期供給・粗利算定検証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285232"/>
            <a:ext cx="5504688" cy="713232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285232"/>
            <a:ext cx="38100" cy="7132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358384"/>
            <a:ext cx="5212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外部コンサルに依存せず内製で回します（型は文書化済み）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5285232"/>
            <a:ext cx="5504688" cy="713232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5285232"/>
            <a:ext cx="38100" cy="71323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5358384"/>
            <a:ext cx="5212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増員は3条件（工数集計の本格化・撤退交渉の開始・海外棚卸しの本格化）でのみ。肥大化させません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立ち上げ方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現任業務を止めない立ち上げ方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64008" cy="1042415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4088" y="221284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176272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着任前に整理してから専任化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現任業務・サポート中案件の一覧を部門長と確認し、引き継ぐか停止するかを決めてから専任化する（兼務での二重負荷は認めない）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36975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236975"/>
            <a:ext cx="64008" cy="1042415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3438143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401567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専任期間の評価は新谷が責任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専任期間中の評価は改革貢献で新谷が責任を持つ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62270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62270"/>
            <a:ext cx="64008" cy="1042415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4088" y="466343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626862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90日後の戻り先は現部門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改革で得たデータ運用・会議運営の力を部門に還元する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50992"/>
            <a:ext cx="11183112" cy="69494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650992"/>
            <a:ext cx="38100" cy="69494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705856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部長からの声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『現任案件の遅延を起こさない体制の確認が重要』『推進する側と現状業務を守る側の明確化を』——この2点を立ち上げ手順に組み込み済みです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スコープの明確化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STOがやらないこと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48256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48256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203704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103120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案件の実行判断・顧客対応の代行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35224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935224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090672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2990088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評価・採点の判断（採点は部長・分科会）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22192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22192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3977640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3877056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評価制度・組織改編の決定（経営会議マター）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09160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709160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864608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4764024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工数データの個人評価への使用（一切使いません）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32704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632704"/>
            <a:ext cx="3810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687568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見える化は管理強化のためではありません。現場が自走できる範囲を明確にするためです（部長フィードバックの懸念に対する設計上の回答）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権限とエスカレーション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全部を経営に上げない設計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920240"/>
          <a:ext cx="11183111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9978"/>
                <a:gridCol w="8249836"/>
                <a:gridCol w="1833297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階層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決定できること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サイクル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STO内（データ処理手順・会議運営）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即日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部長（担当替え・部門内省力化）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1〜2週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戦略会議＝社長（部門横断・ルール制定）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隔週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点検会議＝会長・経営会議（撤退・投資・組織）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4882896"/>
            <a:ext cx="11183112" cy="84124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882896"/>
            <a:ext cx="38100" cy="8412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4974336"/>
            <a:ext cx="10835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24時間で解けないものは抱えずに上へ。滞留こそ失点として運用します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「全て経営確認が必要になり現場が動けなくなる」懸念への回答が、この4段の設計です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会議体設計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分科会と戦略会議の関係 — 論点が決まっていく流れ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55648"/>
            <a:ext cx="768096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55648"/>
            <a:ext cx="82296" cy="98755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731520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点検会議（月次60分・議長: 山本会長）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役割: 会長にしか決められないことだけを、選択肢と推奨案の形で（1回3件以内）</a:t>
            </a:r>
          </a:p>
        </p:txBody>
      </p:sp>
      <p:sp>
        <p:nvSpPr>
          <p:cNvPr id="8" name="Up Arrow 7"/>
          <p:cNvSpPr/>
          <p:nvPr/>
        </p:nvSpPr>
        <p:spPr>
          <a:xfrm>
            <a:off x="4206240" y="2798064"/>
            <a:ext cx="292608" cy="274320"/>
          </a:xfrm>
          <a:prstGeom prst="upArrow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127248"/>
            <a:ext cx="7680960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127248"/>
            <a:ext cx="82296" cy="95097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18688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戦略会議（隔週90分・議長: 永竹社長）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役割: 決め切る場 — リソース配分・部門横断・ルール制定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点検会議に上げる論点を、ここで選別する</a:t>
            </a:r>
          </a:p>
        </p:txBody>
      </p:sp>
      <p:sp>
        <p:nvSpPr>
          <p:cNvPr id="12" name="Up Arrow 11"/>
          <p:cNvSpPr/>
          <p:nvPr/>
        </p:nvSpPr>
        <p:spPr>
          <a:xfrm>
            <a:off x="4206240" y="4114800"/>
            <a:ext cx="292608" cy="274320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7680960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43984"/>
            <a:ext cx="82296" cy="1042415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35424"/>
            <a:ext cx="7315200" cy="859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 ×3（週次75分）　リーダー: 黒澤・南谷・高橋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テーマ: 接点づくり ／ ライセンス営業改革 ／ 経営基盤強化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B5E8A"/>
                </a:solidFill>
                <a:latin typeface="Yu Gothic"/>
                <a:ea typeface="Yu Gothic"/>
                <a:cs typeface="Yu Gothic"/>
              </a:rPr>
              <a:t>役割: 実務の検討とPDCA。決め切れるものは、ここで決める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2724912"/>
            <a:ext cx="3319272" cy="84124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66760" y="2724912"/>
            <a:ext cx="64008" cy="84124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7928" y="2798064"/>
            <a:ext cx="295351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↑ 点検会議へ上げる論点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方針・投資・聖域・重大遅延のみ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4041648"/>
            <a:ext cx="3319272" cy="84124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60" y="4041648"/>
            <a:ext cx="64008" cy="8412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67928" y="4114800"/>
            <a:ext cx="295351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↑ 戦略会議へ上げる論点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分科会で決め切れない論点のみ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541264"/>
            <a:ext cx="11183112" cy="859536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541264"/>
            <a:ext cx="38100" cy="8595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614416"/>
            <a:ext cx="106984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同じ論点を二度議論しない（下で決めたことは上では報告のみ）　　② 下で決められることは、下で決める</a:t>
            </a:r>
          </a:p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③ 決定は24時間以内に「決定ログ」で全体へ展開する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週次の運転リズム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スケジュール確定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データ週次更新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0632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0632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0632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分科会×3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（週次75分）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38344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8344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データ処理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集中日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06056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06056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06056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2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（隔週90分・社長）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73768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73768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73768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1784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STO週次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レビュー30分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94960"/>
            <a:ext cx="11183112" cy="676656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394960"/>
            <a:ext cx="38100" cy="67665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449824"/>
            <a:ext cx="10835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会長のお時間をいただくのは月次の点検会議60分のみです。日々の運転はSTOが担います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部長フィードバック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部長フィードバック37件 — 全部門が当事者として応答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27632"/>
            <a:ext cx="11183112" cy="43891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38100" cy="43891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44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11部門・37件。反対ではなく「共に設計したい」という提案が大勢です（全件に回答済み）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12848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212848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26771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橋本部長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TFEI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00984" y="2340864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2267712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「案件成立からクロージングまで採番制で一気通貫管理を。担当が変わっても質が落ちない仕組みに」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49524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049524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3104388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石塚部長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製作企画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00984" y="3177540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3104388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「企画段階から営業と会話しながら進める仕組みを一緒に作りたい。製作と営業の間の情報流通は双方に大きなロス」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86200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41064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田中部長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ライブイベント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00984" y="4014216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02152" y="3941064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「ライブは収益だけでなくファン化・海外・商品への波及を担う。総合評価とセットなら賛成」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22876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722876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7777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高橋本部長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管理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00984" y="4850892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2152" y="4777740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「契約まわりの改革はすぐにでも動き出したい。HD側の新規人員で最優先稼働が可能」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559552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559552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5614416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木綿さん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HD戦略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00984" y="5687568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02152" y="5614416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「ウルトラマート内覧会でファッションブランドから「一緒に面白いことを」の声。新拠点を営業拠点として活用できる」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部長フィードバック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経営が受け止めるべき率直な声 — 会長にもそのまま共有します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27632"/>
            <a:ext cx="11183112" cy="43891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38100" cy="43891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44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耳の痛い声こそ改革の信頼の源泉です。加工せずお伝えします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231136"/>
          <a:ext cx="11183111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4885"/>
                <a:gridCol w="5408226"/>
              </a:tblGrid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経営が受け止めるべき声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改革としての受け止め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山田部長（商品開発）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「会長直下の案件は情報が個人に紐づき、横の連動が弱くなり、組織ではなく個人の取り組みになってしまう」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会長のお力を組織の力に変える情報の仕組みを設計したい（本日ご相談したい論点）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井上部長（販売促進）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「組織変更に伴う負荷増で心身ともに疲弊しているメンバーが少なくない。経営陣からの継続的な発信を」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負荷の順序設計と経営メッセージの継続。改革の負荷を現場に一斉にかけない段階展開の理由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庄司部長（ライセンス）・高橋本部長（管理）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「STOメンバーの現任案件に遅延を出さない体制の確認を。推進する側と現状業務を守る側の明確化を」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着任前の業務棚卸しと部門長合意を立ち上げ手順に組み込み済み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宍戸部長（カード開発）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「実行を支える予算設計と人事評価制度との連携が必須」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重要だが順序を慎重に。評価制度への接続は経営会議マターとして後段で（工数データは評価に使わない原則は堅持）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70448"/>
            <a:ext cx="38100" cy="54864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5925312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未回答の部門（海外・監修・法務）には個別ヒアリングを実施します。沈黙を合意とみなしません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立ち上げの道筋と会長へのお願い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小さく発足し、90日で解散できる状態へ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3456432" cy="3840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専任化の部門長合意・発足通知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95928" y="2267712"/>
            <a:ext cx="256032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1920240"/>
            <a:ext cx="3456432" cy="3840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8536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来週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棚卸し確認会・データ整備の完了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81544" y="2267712"/>
            <a:ext cx="256032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4152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4152" y="1920240"/>
            <a:ext cx="3456432" cy="38404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以降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分科会×3の定常運転開始、初回点検会議へ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0468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45536"/>
            <a:ext cx="5504688" cy="548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3346704"/>
            <a:ext cx="50657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発足の後ろ盾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全社への発足通知に際し、会長からも一言の後押しをいただきたい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3145536"/>
            <a:ext cx="550468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3145536"/>
            <a:ext cx="5504688" cy="548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346704"/>
            <a:ext cx="50657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② 専任体制の維持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途中で部門都合により専任が崩れそうな場合の後押し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626864"/>
            <a:ext cx="11183112" cy="9692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626864"/>
            <a:ext cx="38100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小さく発足し、肥大化させず、90日で解散できる状態を目指します。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恒常組織を作るのではなく、会社の運転方法を変えるための時限装置です。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