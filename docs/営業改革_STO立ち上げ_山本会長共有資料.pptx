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山本会長 共有資料 — 体制・スコープ・運用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営業改革推進室（STO）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の立ち上げについて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STOとは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実行部隊ではなく、改革の「運転席」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STOは3つの機能に徹します — 案件の実行判断や顧客対応はしません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879092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データを回す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棚卸し・スコアリング・KPIを、正しく速く供給する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701284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会議を回す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分科会→戦略会議→点検会議のサイクルを運転し、宿題を管理する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47304" y="2139696"/>
            <a:ext cx="3538728" cy="30540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47304" y="2139696"/>
            <a:ext cx="3538728" cy="914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23476" y="2523744"/>
            <a:ext cx="786384" cy="786384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529584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意思決定に上げる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3336" y="4078224"/>
            <a:ext cx="302666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詰まりは24時間以内にオーナーへ渡す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468112"/>
            <a:ext cx="11183112" cy="64008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468112"/>
            <a:ext cx="38100" cy="64008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522976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STOは案件の実行判断・顧客対応をしません。改革の主役は各部長です。STOはその運転席に徹します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改革のスコープ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営業に閉じず、バリューチェーン全体へ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部門間の分断こそが本改革の対象です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制作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8330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3078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7650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商品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1116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58640" y="2267712"/>
            <a:ext cx="1543812" cy="932688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436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流通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3902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6500" y="2267712"/>
            <a:ext cx="1543812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222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プロモーション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86688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14360" y="2267712"/>
            <a:ext cx="1543812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6008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ライブ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794748" y="2606040"/>
            <a:ext cx="310896" cy="256032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42220" y="2267712"/>
            <a:ext cx="1543812" cy="9326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87940" y="2340864"/>
            <a:ext cx="145237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営業</a:t>
            </a:r>
          </a:p>
          <a:p>
            <a:pPr algn="ctr">
              <a:spcAft>
                <a:spcPts val="0"/>
              </a:spcAft>
            </a:pPr>
            <a:r>
              <a:rPr sz="80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（ライセンス・広告・海外）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29584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■ IPの価値は制作で生まれ、お客様との接点で届きます。部門間の分断こそが本改革の対象です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■ 部長フィードバックでも全部門から「自部門も対象」の声が挙がりました（商品開発・カード、製作企画、流通、販促、ライブ、TFEI）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63440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663440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718304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棚卸し・工数計測は営業領域から開始し、各領域へ段階展開します（一斉適用による現場負荷の集中を避けるため）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体制（案）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専任2名＋兼務2名の最小構成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75104"/>
          <a:ext cx="1118311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286"/>
                <a:gridCol w="1374972"/>
                <a:gridCol w="2016626"/>
                <a:gridCol w="5408226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担当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区分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主な責務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意思決定・トップ外交・詰まりの解消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STOリード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データ基盤の総責任者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PMO・会議運営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岡田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会議体の運転・宿題管理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柳沼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兼務・週2〜3h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財務データ供給・粗利算定検証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937760"/>
            <a:ext cx="5504688" cy="71323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937760"/>
            <a:ext cx="38100" cy="7132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010912"/>
            <a:ext cx="5212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外部コンサルに依存せず内製で回します（型は文書化済み）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1344" y="4937760"/>
            <a:ext cx="5504688" cy="713232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4937760"/>
            <a:ext cx="38100" cy="71323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5010912"/>
            <a:ext cx="521208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増員は3条件（工数集計の本格化・撤退交渉の開始・海外棚卸しの本格化）でのみ。肥大化させません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立ち上げ方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現任業務を止めない立ち上げ方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04088" y="221284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176272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着任前に整理してから専任化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現任業務・サポート中案件の一覧を部門長と確認し、引き継ぐか停止するかを決めてから専任化する（兼務での二重負荷は認めない）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36975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236975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4088" y="3438143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3401567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専任期間の評価は新谷が責任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専任期間中の評価は改革貢献で新谷が責任を持つ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62270"/>
            <a:ext cx="11183112" cy="1042415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462270"/>
            <a:ext cx="64008" cy="1042415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04088" y="466343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4168" y="4626862"/>
            <a:ext cx="10158984" cy="76809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90日後の戻り先は現部門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改革で得たデータ運用・会議運営の力を部門に還元する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50992"/>
            <a:ext cx="11183112" cy="69494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650992"/>
            <a:ext cx="38100" cy="69494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705856"/>
            <a:ext cx="108356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部長からの声　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『現任案件の遅延を起こさない体制の確認が重要』『推進する側と現状業務を守る側の明確化を』——この2点を立ち上げ手順に組み込み済みです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スコープの明確化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STOがやらないこと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48256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48256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13232" y="2203704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103120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案件の実行判断・顧客対応の代行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35224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35224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090672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6736" y="2990088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評価・採点の判断（採点は部長・分科会）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822192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822192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3977640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877056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評価制度・組織改編の決定（経営会議マター）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709160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709160"/>
            <a:ext cx="64008" cy="731520"/>
          </a:xfrm>
          <a:prstGeom prst="rect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4864608"/>
            <a:ext cx="420624" cy="420624"/>
          </a:xfrm>
          <a:prstGeom prst="ellipse">
            <a:avLst/>
          </a:prstGeom>
          <a:solidFill>
            <a:srgbClr val="C03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4764024"/>
            <a:ext cx="102412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工数データの個人評価への使用（一切使いません）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32704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5632704"/>
            <a:ext cx="38100" cy="65836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5687568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見える化は管理強化のためではありません。現場が自走できる範囲を明確にするためです（部長フィードバックの懸念に対する設計上の回答）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権限とエスカレーション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全部を経営に上げない設計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920240"/>
          <a:ext cx="11183111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9978"/>
                <a:gridCol w="8249836"/>
                <a:gridCol w="1833297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階層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決定できること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サイクル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STO内（データ処理手順・会議運営）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即日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L2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部長（担当替え・部門内省力化）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1〜2週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戦略会議＝社長（部門横断・ルール制定）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隔週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L4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点検会議＝会長・経営会議（撤退・投資・組織）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月次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882896"/>
            <a:ext cx="11183112" cy="841248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882896"/>
            <a:ext cx="38100" cy="8412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974336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24時間で解けないものは抱えずに上へ。滞留こそ失点として運用します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「全て経営確認が必要になり現場が動けなくなる」懸念への回答が、この4段の設計です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週次の運転リズム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スケジュール確定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データ週次更新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0632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0632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70632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分科会×3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（週次75分）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38344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8344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データ処理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集中日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06056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06056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06056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2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（隔週90分・社長）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73768" y="2249424"/>
            <a:ext cx="2112264" cy="27980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73768" y="2249424"/>
            <a:ext cx="2112264" cy="78638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73768" y="2322576"/>
            <a:ext cx="2112264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3291839"/>
            <a:ext cx="18562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STO週次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レビュー30分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394960"/>
            <a:ext cx="11183112" cy="67665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394960"/>
            <a:ext cx="38100" cy="67665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449824"/>
            <a:ext cx="108356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会長のお時間をいただくのは月次の点検会議60分のみです。日々の運転はSTOが担います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部長の声 → STO設計への反映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いただいた懸念を、設計に落とし込みました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1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58237"/>
                <a:gridCol w="6324874"/>
              </a:tblGrid>
              <a:tr h="658367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部長の声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STO設計への反映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658367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STOメンバーの現任案件に遅延を出さない体制を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着任前の業務棚卸しと部門長合意を立ち上げ手順に組み込み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67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コア人員のリソース確保と疲弊防止を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専任化の3原則＋金曜レビューで負荷を毎週確認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658367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経営確認だらけで現場が止まらないか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L1〜L4の権限4段設計で現場の自走範囲を明文化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58371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管理強化にならないか・評価に使われないか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1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工数の個人評価利用の禁止を大原則として全資料に明記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285232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285232"/>
            <a:ext cx="38100" cy="60350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340096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部長フィードバックは37件全件に回答済み。うち7点をグランドデザインに反映しています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立ち上げの道筋と会長へのお願い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小さく発足し、90日で解散できる状態へ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456432" cy="3840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専任化の部門長合意・発足通知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95928" y="2267712"/>
            <a:ext cx="256032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88536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920240"/>
            <a:ext cx="3456432" cy="38404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88536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来週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棚卸し確認会・データ整備の完了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81544" y="2267712"/>
            <a:ext cx="256032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74152" y="1920240"/>
            <a:ext cx="345643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74152" y="1920240"/>
            <a:ext cx="3456432" cy="38404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1965960"/>
            <a:ext cx="345643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以降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2377440"/>
            <a:ext cx="3163824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分科会×3の定常運転開始、初回点検会議へ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0468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45536"/>
            <a:ext cx="5504688" cy="548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3346704"/>
            <a:ext cx="50657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① 発足の後ろ盾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全社への発足通知に際し、会長からも一言の後押しをいただきたい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1344" y="3145536"/>
            <a:ext cx="550468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81344" y="3145536"/>
            <a:ext cx="5504688" cy="548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346704"/>
            <a:ext cx="5065776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② 専任体制の維持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途中で部門都合により専任が崩れそうな場合の後押し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626864"/>
            <a:ext cx="11183112" cy="9692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626864"/>
            <a:ext cx="38100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75488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小さく発足し、肥大化させず、90日で解散できる状態を目指します。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恒常組織を作るのではなく、会社の運転方法を変えるための時限装置です。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社外秘（経営限り）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