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C&amp;D営業利益</c:v>
                </c:pt>
              </c:strCache>
            </c:strRef>
          </c:tx>
          <c:spPr>
            <a:solidFill>
              <a:srgbClr val="9AA6B8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1" i="0" strike="noStrike" sz="1150" u="none">
                    <a:solidFill>
                      <a:srgbClr val="262630"/>
                    </a:solidFill>
                    <a:latin typeface="Yu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6B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A10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A10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7823DC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2026/3期 実績</c:v>
                  </c:pt>
                  <c:pt idx="1">
                    <c:v>2027/3期 計画</c:v>
                  </c:pt>
                  <c:pt idx="2">
                    <c:v>2028/3期 計画</c:v>
                  </c:pt>
                  <c:pt idx="3">
                    <c:v>2029/3期 計画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9.3</c:v>
                </c:pt>
                <c:pt idx="1">
                  <c:v>45</c:v>
                </c:pt>
                <c:pt idx="2">
                  <c:v>55</c:v>
                </c:pt>
                <c:pt idx="3">
                  <c:v>65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1" i="0" strike="noStrike" sz="1150" u="none">
                  <a:solidFill>
                    <a:srgbClr val="262630"/>
                  </a:solidFill>
                  <a:latin typeface="Yu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F6E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823DC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960120"/>
            <a:ext cx="2011680" cy="45720"/>
          </a:xfrm>
          <a:prstGeom prst="rect">
            <a:avLst/>
          </a:prstGeom>
          <a:solidFill>
            <a:srgbClr val="7823DC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188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F5F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部長会（2026年7月）｜円谷フィールズホールディングス／円谷プロダクション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107899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626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今回の上方修正を、</a:t>
            </a:r>
            <a:endParaRPr lang="en-US" sz="3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626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再現可能な成長モデルへ変える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361188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823D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――なぜ「今」が極めて重要なのか／部長陣に求める実行責任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この資料の結論：上方修正は「改革が完了した証明」ではない。市場に対し、改革成果を数字として約束した瞬間である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53492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ここから各部門が、45億円→55億円→65億円の継続利益を、案件・KPI・実行速度で証明できるかが企業価値を決めます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5760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F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基礎資料：2027年3月期 第1四半期決算短信・決算説明資料・中期経営計画修正・決算説明会質疑（2026年7月27日〜28日開示）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823D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ファクト｜2026年7月27日発表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626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決算発表で確定した数字――経営判断の前提となる公式開示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3685032" cy="1371600"/>
          </a:xfrm>
          <a:prstGeom prst="roundRect">
            <a:avLst>
              <a:gd name="adj" fmla="val 8000"/>
            </a:avLst>
          </a:prstGeom>
          <a:solidFill>
            <a:srgbClr val="F7F7F9"/>
          </a:solidFill>
          <a:ln w="12700">
            <a:solidFill>
              <a:srgbClr val="D9D9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5331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F5F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連結営業利益予想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31520" y="1627632"/>
            <a:ext cx="3227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F5F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190億円 → </a:t>
            </a:r>
            <a:pPr indent="0" marL="0">
              <a:buNone/>
            </a:pPr>
            <a:r>
              <a:rPr lang="en-US" sz="2700" b="1" dirty="0">
                <a:solidFill>
                  <a:srgbClr val="7823D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225億円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212848"/>
            <a:ext cx="3227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F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＋35億円（アミューズ＋20／C&amp;D＋15）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343400" y="1234440"/>
            <a:ext cx="3685032" cy="1371600"/>
          </a:xfrm>
          <a:prstGeom prst="roundRect">
            <a:avLst>
              <a:gd name="adj" fmla="val 8000"/>
            </a:avLst>
          </a:prstGeom>
          <a:solidFill>
            <a:srgbClr val="7823DC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135331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C&amp;D営業利益予想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0" y="1627632"/>
            <a:ext cx="3227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C6F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30億円 → </a:t>
            </a:r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45億円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2212848"/>
            <a:ext cx="3227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DE3F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＋50%上方修正・FY2029目標65億円へ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183880" y="1234440"/>
            <a:ext cx="3685032" cy="1371600"/>
          </a:xfrm>
          <a:prstGeom prst="roundRect">
            <a:avLst>
              <a:gd name="adj" fmla="val 8000"/>
            </a:avLst>
          </a:prstGeom>
          <a:solidFill>
            <a:srgbClr val="F7F7F9"/>
          </a:solidFill>
          <a:ln w="12700">
            <a:solidFill>
              <a:srgbClr val="D9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0" y="135331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F5F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年間配当予想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412480" y="1627632"/>
            <a:ext cx="3227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F5F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70円 → </a:t>
            </a:r>
            <a:pPr indent="0" marL="0">
              <a:buNone/>
            </a:pPr>
            <a:r>
              <a:rPr lang="en-US" sz="2700" b="1" dirty="0">
                <a:solidFill>
                  <a:srgbClr val="7823D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140円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12480" y="2212848"/>
            <a:ext cx="3227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F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倍増・来期以降も中間配当を継続予定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02920" y="2834640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上方修正理由として公式に示された項目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154680"/>
            <a:ext cx="5760720" cy="932688"/>
          </a:xfrm>
          <a:prstGeom prst="roundRect">
            <a:avLst>
              <a:gd name="adj" fmla="val 7843"/>
            </a:avLst>
          </a:prstGeom>
          <a:solidFill>
            <a:srgbClr val="F7F7F9"/>
          </a:solidFill>
          <a:ln w="12700">
            <a:solidFill>
              <a:srgbClr val="D9D9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3218688"/>
            <a:ext cx="5349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3A10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C&amp;D：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6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国内MD好調／ライセンス好調／広告収入が想定以上／中国市場の回復基調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31520" y="3639312"/>
            <a:ext cx="5349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3A10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アミューズメント：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6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2Q累計納品予定商品が完売／3Q主力機種の受注が極めて好調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02920" y="4224528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中期経営計画（営業利益）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535424"/>
          <a:ext cx="57607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463040"/>
                <a:gridCol w="1371600"/>
                <a:gridCol w="150876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年度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連結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C&amp;D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アミューズ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106E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3A106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2027/3期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225億円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45億円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220億円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3A106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2028/3期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255億円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55億円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240億円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3A106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2029/3期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285億円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65億円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260億円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 19"/>
          <p:cNvSpPr/>
          <p:nvPr/>
        </p:nvSpPr>
        <p:spPr>
          <a:xfrm>
            <a:off x="6537960" y="283464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C&amp;D営業利益：実績9.3億円からの利益成長コミット（億円）</a:t>
            </a:r>
            <a:endParaRPr lang="en-US" sz="1300" dirty="0"/>
          </a:p>
        </p:txBody>
      </p:sp>
      <p:graphicFrame>
        <p:nvGraphicFramePr>
          <p:cNvPr id="23" name="Chart 0" descr=""/>
          <p:cNvGraphicFramePr/>
          <p:nvPr/>
        </p:nvGraphicFramePr>
        <p:xfrm>
          <a:off x="6537960" y="3154680"/>
          <a:ext cx="5148072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4" name="Shape 20"/>
          <p:cNvSpPr/>
          <p:nvPr/>
        </p:nvSpPr>
        <p:spPr>
          <a:xfrm>
            <a:off x="502920" y="5806440"/>
            <a:ext cx="11183112" cy="530352"/>
          </a:xfrm>
          <a:prstGeom prst="rect">
            <a:avLst/>
          </a:prstGeom>
          <a:solidFill>
            <a:srgbClr val="F3EFFB"/>
          </a:solidFill>
          <a:ln/>
        </p:spPr>
      </p:sp>
      <p:sp>
        <p:nvSpPr>
          <p:cNvPr id="25" name="Shape 21"/>
          <p:cNvSpPr/>
          <p:nvPr/>
        </p:nvSpPr>
        <p:spPr>
          <a:xfrm>
            <a:off x="502920" y="5806440"/>
            <a:ext cx="50292" cy="530352"/>
          </a:xfrm>
          <a:prstGeom prst="rect">
            <a:avLst/>
          </a:prstGeom>
          <a:solidFill>
            <a:srgbClr val="7823DC"/>
          </a:solidFill>
          <a:ln/>
        </p:spPr>
      </p:sp>
      <p:sp>
        <p:nvSpPr>
          <p:cNvPr id="26" name="Text 22"/>
          <p:cNvSpPr/>
          <p:nvPr/>
        </p:nvSpPr>
        <p:spPr>
          <a:xfrm>
            <a:off x="777240" y="5806440"/>
            <a:ext cx="10835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823D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この場で覚えて帰ってほしいこと　</a:t>
            </a:r>
            <a:pPr indent="0" marL="0">
              <a:buNone/>
            </a:pPr>
            <a:r>
              <a:rPr lang="en-US" sz="1250" dirty="0">
                <a:solidFill>
                  <a:srgbClr val="2626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部長陣は、45→55→65億円の利益成長を支える実行主体である。</a:t>
            </a:r>
            <a:endParaRPr lang="en-US" sz="1250" dirty="0"/>
          </a:p>
        </p:txBody>
      </p:sp>
      <p:sp>
        <p:nvSpPr>
          <p:cNvPr id="27" name="Shape 23"/>
          <p:cNvSpPr/>
          <p:nvPr/>
        </p:nvSpPr>
        <p:spPr>
          <a:xfrm>
            <a:off x="502920" y="6473952"/>
            <a:ext cx="11183112" cy="7315"/>
          </a:xfrm>
          <a:prstGeom prst="rect">
            <a:avLst/>
          </a:prstGeom>
          <a:solidFill>
            <a:srgbClr val="D9D9E0"/>
          </a:solidFill>
          <a:ln/>
        </p:spPr>
      </p:sp>
      <p:sp>
        <p:nvSpPr>
          <p:cNvPr id="28" name="Text 24"/>
          <p:cNvSpPr/>
          <p:nvPr/>
        </p:nvSpPr>
        <p:spPr>
          <a:xfrm>
            <a:off x="502920" y="651967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5F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円谷フィールズホールディングス／円谷プロダクション｜部長会資料（社外秘）</a:t>
            </a:r>
            <a:endParaRPr lang="en-US" sz="850" dirty="0"/>
          </a:p>
        </p:txBody>
      </p:sp>
      <p:sp>
        <p:nvSpPr>
          <p:cNvPr id="29" name="Text 25"/>
          <p:cNvSpPr/>
          <p:nvPr/>
        </p:nvSpPr>
        <p:spPr>
          <a:xfrm>
            <a:off x="11247120" y="6519672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5F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823D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なぜ今か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626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なぜ「今」が極めて重要なのか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1554480" cy="36576"/>
          </a:xfrm>
          <a:prstGeom prst="rect">
            <a:avLst/>
          </a:prstGeom>
          <a:solidFill>
            <a:srgbClr val="7823D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32588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26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上方修正後の局面を、5つの経営論点で捉えます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28800"/>
          <a:ext cx="11183112" cy="914400"/>
        </p:xfrm>
        <a:graphic>
          <a:graphicData uri="http://schemas.openxmlformats.org/drawingml/2006/table">
            <a:tbl>
              <a:tblPr/>
              <a:tblGrid>
                <a:gridCol w="3429000"/>
                <a:gridCol w="7754112"/>
              </a:tblGrid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経営論点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部長会で共有すべき含意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106E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A106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1｜市場への約束が拘束力を持った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45→55→65億円は外部公表した利益計画。投資家は「何をしたか」ではなく「計画に対し何億円進んだか」を確認する。一部門の遅れが連結業績・配当・企業価値に波及する。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A106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2｜評価軸がコスト改革から成長改革へ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問われるのは費用を抑えたことではなく、売上・粗利・営業利益を増やしたこと。部門計画は「費用内で実行」から「投資対効果を伴う成長」へ切り替える。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A106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3｜営業改革が会社の公式戦略になった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個別案件対応型からアカウント型営業への転換を公表。映像・MD・イベント・デジタルの複合提案は、商品・監修・法務・財務を束ねる全社横断課題である。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A106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4｜中国の成功を国内へ移植できるか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中国はトイ&amp;ホビー中心に回復基調。ただし中計の中心テーマは日本事業の立て直し。重点顧客・カテゴリー細分化・SNS需要創出・商品高速開発を国内で実装する。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A106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5｜還元拡大で継続利益への責任が強まった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年間配当を70円→140円へ引き上げ、来期以降も中間配当を継続予定。株主還元を支えるのは継続的な営業キャッシュフローであり、利益品質が直接問われる。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5806440"/>
            <a:ext cx="11183112" cy="530352"/>
          </a:xfrm>
          <a:prstGeom prst="rect">
            <a:avLst/>
          </a:prstGeom>
          <a:solidFill>
            <a:srgbClr val="F3EFFB"/>
          </a:solidFill>
          <a:ln/>
        </p:spPr>
      </p:sp>
      <p:sp>
        <p:nvSpPr>
          <p:cNvPr id="8" name="Shape 5"/>
          <p:cNvSpPr/>
          <p:nvPr/>
        </p:nvSpPr>
        <p:spPr>
          <a:xfrm>
            <a:off x="502920" y="5806440"/>
            <a:ext cx="50292" cy="530352"/>
          </a:xfrm>
          <a:prstGeom prst="rect">
            <a:avLst/>
          </a:prstGeom>
          <a:solidFill>
            <a:srgbClr val="7823DC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" y="5806440"/>
            <a:ext cx="10835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823D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この局面の本質　</a:t>
            </a:r>
            <a:pPr indent="0" marL="0">
              <a:buNone/>
            </a:pPr>
            <a:r>
              <a:rPr lang="en-US" sz="1250" dirty="0">
                <a:solidFill>
                  <a:srgbClr val="2626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今後6〜12か月が、C&amp;D事業の評価を「回復」から「成長」へ変えられるかを決める。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02920" y="6473952"/>
            <a:ext cx="11183112" cy="7315"/>
          </a:xfrm>
          <a:prstGeom prst="rect">
            <a:avLst/>
          </a:prstGeom>
          <a:solidFill>
            <a:srgbClr val="D9D9E0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651967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5F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円谷フィールズホールディングス／円谷プロダクション｜部長会資料（社外秘）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11247120" y="6519672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5F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823D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実行責任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626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部長陣に求める5つの実行責任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1554480" cy="36576"/>
          </a:xfrm>
          <a:prstGeom prst="rect">
            <a:avLst/>
          </a:prstGeom>
          <a:solidFill>
            <a:srgbClr val="7823D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32588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26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すべてを営業利益と実行速度で管理します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828800"/>
            <a:ext cx="3657600" cy="1783080"/>
          </a:xfrm>
          <a:prstGeom prst="roundRect">
            <a:avLst>
              <a:gd name="adj" fmla="val 6154"/>
            </a:avLst>
          </a:prstGeom>
          <a:solidFill>
            <a:srgbClr val="F7F7F9"/>
          </a:solidFill>
          <a:ln w="12700">
            <a:solidFill>
              <a:srgbClr val="D9D9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04088" y="1975104"/>
            <a:ext cx="3255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10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1｜部門計画を「営業利益ブリッジ」へ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04088" y="2670048"/>
            <a:ext cx="3255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626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売上・粗利・費用・利益寄与を施策別に説明。一過性／翌期継続／複数年を必ず区分する。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65676" y="1828800"/>
            <a:ext cx="3657600" cy="1783080"/>
          </a:xfrm>
          <a:prstGeom prst="roundRect">
            <a:avLst>
              <a:gd name="adj" fmla="val 6154"/>
            </a:avLst>
          </a:prstGeom>
          <a:solidFill>
            <a:srgbClr val="F7F7F9"/>
          </a:solidFill>
          <a:ln w="12700">
            <a:solidFill>
              <a:srgbClr val="D9D9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66844" y="1975104"/>
            <a:ext cx="3255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10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2｜パイプラインを確度×利益×計上時期で管理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66844" y="2670048"/>
            <a:ext cx="3255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626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A契約済み／B高確度／C提案中／D構想。計画数字に入れるのはA・Bのみ。Cの受注確率を過大評価しない。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28432" y="1828800"/>
            <a:ext cx="3657600" cy="1783080"/>
          </a:xfrm>
          <a:prstGeom prst="roundRect">
            <a:avLst>
              <a:gd name="adj" fmla="val 6154"/>
            </a:avLst>
          </a:prstGeom>
          <a:solidFill>
            <a:srgbClr val="F7F7F9"/>
          </a:solidFill>
          <a:ln w="12700">
            <a:solidFill>
              <a:srgbClr val="D9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1975104"/>
            <a:ext cx="3255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10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3｜既存深耕とTier1開拓を二層で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229600" y="2670048"/>
            <a:ext cx="3255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626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短期は既存ライセンシーのSKU・販路・更新率拡大。中期はTier1企業への複合提案。既存増益を土台に大型案件を上乗せ。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02920" y="3813048"/>
            <a:ext cx="3657600" cy="1783080"/>
          </a:xfrm>
          <a:prstGeom prst="roundRect">
            <a:avLst>
              <a:gd name="adj" fmla="val 6154"/>
            </a:avLst>
          </a:prstGeom>
          <a:solidFill>
            <a:srgbClr val="F7F7F9"/>
          </a:solidFill>
          <a:ln w="12700">
            <a:solidFill>
              <a:srgbClr val="D9D9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4088" y="3959352"/>
            <a:ext cx="3255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10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4｜契約・監修・制作のリードタイム短縮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04088" y="4654296"/>
            <a:ext cx="3255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626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案件は契約時点では利益ではない。契約審査日数・監修日数・滞留件数・発売延期額を週次で可視化する。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265676" y="3813048"/>
            <a:ext cx="3657600" cy="1783080"/>
          </a:xfrm>
          <a:prstGeom prst="roundRect">
            <a:avLst>
              <a:gd name="adj" fmla="val 6154"/>
            </a:avLst>
          </a:prstGeom>
          <a:solidFill>
            <a:srgbClr val="F7F7F9"/>
          </a:solidFill>
          <a:ln w="12700">
            <a:solidFill>
              <a:srgbClr val="D9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66844" y="3959352"/>
            <a:ext cx="3255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10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5｜MD・デジタル・イベントを横断KPIで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466844" y="4654296"/>
            <a:ext cx="3255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626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単体売上で終わらせず、顧客ID・EC転換・法人提案化・ライセンス横展開への波及まで測定する。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028432" y="3813048"/>
            <a:ext cx="3657600" cy="1783080"/>
          </a:xfrm>
          <a:prstGeom prst="roundRect">
            <a:avLst>
              <a:gd name="adj" fmla="val 6154"/>
            </a:avLst>
          </a:prstGeom>
          <a:solidFill>
            <a:srgbClr val="7823DC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0" y="3941064"/>
            <a:ext cx="3255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毎週の経営管理フォーマット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229600" y="4251960"/>
            <a:ext cx="32552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営業利益：計画／見込み／差異</a:t>
            </a:r>
            <a:endParaRPr lang="en-US" sz="10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A・B案件の利益と計上月</a:t>
            </a:r>
            <a:endParaRPr lang="en-US" sz="10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先週からの変動と原因</a:t>
            </a:r>
            <a:endParaRPr lang="en-US" sz="10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契約・監修・制作のボトルネック</a:t>
            </a:r>
            <a:endParaRPr lang="en-US" sz="10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⑤ 経営判断が必要な事項と期限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2920" y="5806440"/>
            <a:ext cx="11183112" cy="530352"/>
          </a:xfrm>
          <a:prstGeom prst="rect">
            <a:avLst/>
          </a:prstGeom>
          <a:solidFill>
            <a:srgbClr val="F3EFFB"/>
          </a:solidFill>
          <a:ln/>
        </p:spPr>
      </p:sp>
      <p:sp>
        <p:nvSpPr>
          <p:cNvPr id="25" name="Shape 23"/>
          <p:cNvSpPr/>
          <p:nvPr/>
        </p:nvSpPr>
        <p:spPr>
          <a:xfrm>
            <a:off x="502920" y="5806440"/>
            <a:ext cx="50292" cy="530352"/>
          </a:xfrm>
          <a:prstGeom prst="rect">
            <a:avLst/>
          </a:prstGeom>
          <a:solidFill>
            <a:srgbClr val="7823DC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5806440"/>
            <a:ext cx="10835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823D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この場で覚えて帰ってほしいこと　</a:t>
            </a:r>
            <a:pPr indent="0" marL="0">
              <a:buNone/>
            </a:pPr>
            <a:r>
              <a:rPr lang="en-US" sz="1250" dirty="0">
                <a:solidFill>
                  <a:srgbClr val="2626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部長評価は「活動量」ではなく、営業利益・確度・計上時期・継続性・実行速度で行う。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02920" y="6473952"/>
            <a:ext cx="11183112" cy="7315"/>
          </a:xfrm>
          <a:prstGeom prst="rect">
            <a:avLst/>
          </a:prstGeom>
          <a:solidFill>
            <a:srgbClr val="D9D9E0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651967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5F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円谷フィールズホールディングス／円谷プロダクション｜部長会資料（社外秘）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1247120" y="6519672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5F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823D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スケジュール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626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今後90日間の実行計画――「理解」ではなく「数字が動く状態」をつくる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3657600" cy="1965960"/>
          </a:xfrm>
          <a:prstGeom prst="roundRect">
            <a:avLst>
              <a:gd name="adj" fmla="val 5581"/>
            </a:avLst>
          </a:prstGeom>
          <a:solidFill>
            <a:srgbClr val="F7F7F9"/>
          </a:solidFill>
          <a:ln w="12700">
            <a:solidFill>
              <a:srgbClr val="D9D9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04088" y="1371600"/>
            <a:ext cx="3255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823D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30日以内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04088" y="1764792"/>
            <a:ext cx="3255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2626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上方修正の部門別・案件別分解／A〜D確度分類／一過性と継続性の分離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04088" y="2651760"/>
            <a:ext cx="32552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3A10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アウトプット：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A10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部門別営業利益ブリッジ、通期着地見込み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65676" y="1234440"/>
            <a:ext cx="3657600" cy="1965960"/>
          </a:xfrm>
          <a:prstGeom prst="roundRect">
            <a:avLst>
              <a:gd name="adj" fmla="val 5581"/>
            </a:avLst>
          </a:prstGeom>
          <a:solidFill>
            <a:srgbClr val="F7F7F9"/>
          </a:solidFill>
          <a:ln w="12700">
            <a:solidFill>
              <a:srgbClr val="D9D9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66844" y="1371600"/>
            <a:ext cx="3255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823D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60日以内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466844" y="1764792"/>
            <a:ext cx="3255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2626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重点顧客・重点カテゴリーの確定／既存顧客深耕計画／中国成功施策の国内実証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466844" y="2651760"/>
            <a:ext cx="32552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3A10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アウトプット：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A10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アカウントプラン、施策別KPI、責任者・期限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28432" y="1234440"/>
            <a:ext cx="3657600" cy="1965960"/>
          </a:xfrm>
          <a:prstGeom prst="roundRect">
            <a:avLst>
              <a:gd name="adj" fmla="val 5581"/>
            </a:avLst>
          </a:prstGeom>
          <a:solidFill>
            <a:srgbClr val="F7F7F9"/>
          </a:solidFill>
          <a:ln w="12700">
            <a:solidFill>
              <a:srgbClr val="D9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1371600"/>
            <a:ext cx="3255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823D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90日以内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229600" y="1764792"/>
            <a:ext cx="3255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2626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翌期利益パイプライン可視化／監修・契約ボトルネック改善／開示可能KPIの整備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229600" y="2651760"/>
            <a:ext cx="32552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3A10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アウトプット：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A10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2028年3月期55億円への利益パイプライン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2920" y="34290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部門別の最優先課題（部長会での報告指標）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749040"/>
          <a:ext cx="1118311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754880"/>
                <a:gridCol w="3593592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部門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最優先課題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報告指標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106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A106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国内ライセンス／法人営業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既存深耕・新規開拓／Tier1の複合・年間契約化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既存増収額、更新率、確度別利益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A106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自社MD／デジタル／イベント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原宿から全国・ECへ展開／ファン接点を購買へ転換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粗利率、再購買、ID、EC転換率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A106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中国・海外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パートナー分散と成功施策の国内移植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新規ライセンシー、国内実装数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A106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監修・制作・法務／財務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収益化リードタイム短縮／予測精度と利益品質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平均日数、滞留件数、着地誤差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502920" y="5806440"/>
            <a:ext cx="11183112" cy="530352"/>
          </a:xfrm>
          <a:prstGeom prst="rect">
            <a:avLst/>
          </a:prstGeom>
          <a:solidFill>
            <a:srgbClr val="F3EFFB"/>
          </a:solidFill>
          <a:ln/>
        </p:spPr>
      </p:sp>
      <p:sp>
        <p:nvSpPr>
          <p:cNvPr id="19" name="Shape 16"/>
          <p:cNvSpPr/>
          <p:nvPr/>
        </p:nvSpPr>
        <p:spPr>
          <a:xfrm>
            <a:off x="502920" y="5806440"/>
            <a:ext cx="50292" cy="530352"/>
          </a:xfrm>
          <a:prstGeom prst="rect">
            <a:avLst/>
          </a:prstGeom>
          <a:solidFill>
            <a:srgbClr val="7823DC"/>
          </a:solidFill>
          <a:ln/>
        </p:spPr>
      </p:sp>
      <p:sp>
        <p:nvSpPr>
          <p:cNvPr id="20" name="Text 17"/>
          <p:cNvSpPr/>
          <p:nvPr/>
        </p:nvSpPr>
        <p:spPr>
          <a:xfrm>
            <a:off x="777240" y="5806440"/>
            <a:ext cx="10835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823D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最後に残す一文　</a:t>
            </a:r>
            <a:pPr indent="0" marL="0">
              <a:buNone/>
            </a:pPr>
            <a:r>
              <a:rPr lang="en-US" sz="1250" dirty="0">
                <a:solidFill>
                  <a:srgbClr val="2626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今回の上方修正は、改革が完成した結果ではない。改革を本物にする責任を、私たちが負ったということである。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02920" y="6473952"/>
            <a:ext cx="11183112" cy="7315"/>
          </a:xfrm>
          <a:prstGeom prst="rect">
            <a:avLst/>
          </a:prstGeom>
          <a:solidFill>
            <a:srgbClr val="D9D9E0"/>
          </a:solidFill>
          <a:ln/>
        </p:spPr>
      </p:sp>
      <p:sp>
        <p:nvSpPr>
          <p:cNvPr id="22" name="Text 19"/>
          <p:cNvSpPr/>
          <p:nvPr/>
        </p:nvSpPr>
        <p:spPr>
          <a:xfrm>
            <a:off x="502920" y="651967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5F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円谷フィールズホールディングス／円谷プロダクション｜部長会資料（社外秘）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1247120" y="6519672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5F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2026-07-29T00:46:54Z</dcterms:created>
  <dcterms:modified xsi:type="dcterms:W3CDTF">2026-07-29T00:46:54Z</dcterms:modified>
</cp:coreProperties>
</file>