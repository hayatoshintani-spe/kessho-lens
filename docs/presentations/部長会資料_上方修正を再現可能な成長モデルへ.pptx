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C&amp;D営業利益</c:v>
                </c:pt>
              </c:strCache>
            </c:strRef>
          </c:tx>
          <c:spPr>
            <a:solidFill>
              <a:srgbClr val="9AA6B8"/>
            </a:solidFill>
            <a:effectLst/>
          </c:spPr>
          <c:invertIfNegative val="0"/>
          <c:dLbls>
            <c:numFmt formatCode="General" sourceLinked="0"/>
            <c:txPr>
              <a:bodyPr/>
              <a:lstStyle/>
              <a:p>
                <a:pPr>
                  <a:defRPr b="1" i="0" strike="noStrike" sz="1200" u="none">
                    <a:solidFill>
                      <a:srgbClr val="1B2A4A"/>
                    </a:solidFill>
                    <a:latin typeface="Meiryo"/>
                  </a:defRPr>
                </a:pPr>
              </a:p>
            </c:txPr>
            <c:showLegendKey val="0"/>
            <c:showVal val="1"/>
            <c:showCatName val="0"/>
            <c:showSerName val="0"/>
            <c:showPercent val="0"/>
            <c:showBubbleSize val="0"/>
            <c:showLeaderLines val="0"/>
          </c:dLbls>
          <c:dPt>
            <c:idx val="0"/>
            <c:invertIfNegative val="0"/>
            <c:bubble3D val="0"/>
            <c:spPr>
              <a:solidFill>
                <a:srgbClr val="9AA6B8"/>
              </a:solidFill>
              <a:effectLst/>
            </c:spPr>
          </c:dPt>
          <c:dPt>
            <c:idx val="1"/>
            <c:invertIfNegative val="0"/>
            <c:bubble3D val="0"/>
            <c:spPr>
              <a:solidFill>
                <a:srgbClr val="1B2A4A"/>
              </a:solidFill>
              <a:effectLst/>
            </c:spPr>
          </c:dPt>
          <c:dPt>
            <c:idx val="2"/>
            <c:invertIfNegative val="0"/>
            <c:bubble3D val="0"/>
            <c:spPr>
              <a:solidFill>
                <a:srgbClr val="1B2A4A"/>
              </a:solidFill>
              <a:effectLst/>
            </c:spPr>
          </c:dPt>
          <c:dPt>
            <c:idx val="3"/>
            <c:invertIfNegative val="0"/>
            <c:bubble3D val="0"/>
            <c:spPr>
              <a:solidFill>
                <a:srgbClr val="C8102E"/>
              </a:solidFill>
              <a:effectLst/>
            </c:spPr>
          </c:dPt>
          <c:cat>
            <c:multiLvlStrRef>
              <c:f>Sheet1!$A$2:$A$5</c:f>
              <c:multiLvlStrCache>
                <c:ptCount val="4"/>
                <c:lvl>
                  <c:pt idx="0">
                    <c:v>2026/3期 実績</c:v>
                  </c:pt>
                  <c:pt idx="1">
                    <c:v>2027/3期 計画</c:v>
                  </c:pt>
                  <c:pt idx="2">
                    <c:v>2028/3期 計画</c:v>
                  </c:pt>
                  <c:pt idx="3">
                    <c:v>2029/3期 計画</c:v>
                  </c:pt>
                </c:lvl>
              </c:multiLvlStrCache>
            </c:multiLvlStrRef>
          </c:cat>
          <c:val>
            <c:numRef>
              <c:f>Sheet1!$B$2:$B$5</c:f>
              <c:numCache>
                <c:formatCode>General</c:formatCode>
                <c:ptCount val="4"/>
                <c:pt idx="0">
                  <c:v>9.3</c:v>
                </c:pt>
                <c:pt idx="1">
                  <c:v>45</c:v>
                </c:pt>
                <c:pt idx="2">
                  <c:v>55</c:v>
                </c:pt>
                <c:pt idx="3">
                  <c:v>65</c:v>
                </c:pt>
              </c:numCache>
            </c:numRef>
          </c:val>
        </c:ser>
        <c:dLbls>
          <c:numFmt formatCode="General" sourceLinked="0"/>
          <c:txPr>
            <a:bodyPr/>
            <a:lstStyle/>
            <a:p>
              <a:pPr>
                <a:defRPr b="1" i="0" strike="noStrike" sz="1200" u="none">
                  <a:solidFill>
                    <a:srgbClr val="1B2A4A"/>
                  </a:solidFill>
                  <a:latin typeface="Meiryo"/>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A6472"/>
                </a:solidFill>
                <a:latin typeface="Meiryo"/>
              </a:defRPr>
            </a:pPr>
            <a:endParaRPr lang="en-US"/>
          </a:p>
        </c:txPr>
        <c:crossAx val="2094734552"/>
        <c:crosses val="autoZero"/>
        <c:auto val="1"/>
        <c:lblAlgn val="ctr"/>
        <c:noMultiLvlLbl val="1"/>
      </c:catAx>
      <c:valAx>
        <c:axId val="2094734552"/>
        <c:scaling>
          <c:orientation val="minMax"/>
          <c:max val="7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640080" y="502920"/>
            <a:ext cx="10972800" cy="365760"/>
          </a:xfrm>
          <a:prstGeom prst="rect">
            <a:avLst/>
          </a:prstGeom>
          <a:noFill/>
          <a:ln/>
        </p:spPr>
        <p:txBody>
          <a:bodyPr wrap="square" lIns="0" tIns="0" rIns="0" bIns="0" rtlCol="0" anchor="ctr"/>
          <a:lstStyle/>
          <a:p>
            <a:pPr indent="0" marL="0">
              <a:buNone/>
            </a:pPr>
            <a:r>
              <a:rPr lang="en-US" sz="1200" dirty="0">
                <a:solidFill>
                  <a:srgbClr val="AFC6E9"/>
                </a:solidFill>
                <a:latin typeface="Meiryo" pitchFamily="34" charset="0"/>
                <a:ea typeface="Meiryo" pitchFamily="34" charset="-122"/>
                <a:cs typeface="Meiryo" pitchFamily="34" charset="-120"/>
              </a:rPr>
              <a:t>部長会資料｜2026年7月　円谷フィールズホールディングス／円谷プロダクション</a:t>
            </a:r>
            <a:endParaRPr lang="en-US" sz="1200" dirty="0"/>
          </a:p>
        </p:txBody>
      </p:sp>
      <p:sp>
        <p:nvSpPr>
          <p:cNvPr id="3" name="Text 1"/>
          <p:cNvSpPr/>
          <p:nvPr/>
        </p:nvSpPr>
        <p:spPr>
          <a:xfrm>
            <a:off x="640080" y="1417320"/>
            <a:ext cx="10972800" cy="1920240"/>
          </a:xfrm>
          <a:prstGeom prst="rect">
            <a:avLst/>
          </a:prstGeom>
          <a:noFill/>
          <a:ln/>
        </p:spPr>
        <p:txBody>
          <a:bodyPr wrap="square" lIns="0" tIns="0" rIns="0" bIns="0" rtlCol="0" anchor="t"/>
          <a:lstStyle/>
          <a:p>
            <a:pPr indent="0" marL="0">
              <a:lnSpc>
                <a:spcPct val="115000"/>
              </a:lnSpc>
              <a:buNone/>
            </a:pPr>
            <a:r>
              <a:rPr lang="en-US" sz="4000" b="1" dirty="0">
                <a:solidFill>
                  <a:srgbClr val="FFFFFF"/>
                </a:solidFill>
                <a:latin typeface="Meiryo" pitchFamily="34" charset="0"/>
                <a:ea typeface="Meiryo" pitchFamily="34" charset="-122"/>
                <a:cs typeface="Meiryo" pitchFamily="34" charset="-120"/>
              </a:rPr>
              <a:t>今回の上方修正を、</a:t>
            </a:r>
            <a:endParaRPr lang="en-US" sz="4000" dirty="0"/>
          </a:p>
          <a:p>
            <a:pPr indent="0" marL="0">
              <a:lnSpc>
                <a:spcPct val="115000"/>
              </a:lnSpc>
              <a:buNone/>
            </a:pPr>
            <a:r>
              <a:rPr lang="en-US" sz="4000" b="1" dirty="0">
                <a:solidFill>
                  <a:srgbClr val="FFFFFF"/>
                </a:solidFill>
                <a:latin typeface="Meiryo" pitchFamily="34" charset="0"/>
                <a:ea typeface="Meiryo" pitchFamily="34" charset="-122"/>
                <a:cs typeface="Meiryo" pitchFamily="34" charset="-120"/>
              </a:rPr>
              <a:t>再現可能な成長モデルへ変える</a:t>
            </a:r>
            <a:endParaRPr lang="en-US" sz="4000" dirty="0"/>
          </a:p>
        </p:txBody>
      </p:sp>
      <p:sp>
        <p:nvSpPr>
          <p:cNvPr id="4" name="Text 2"/>
          <p:cNvSpPr/>
          <p:nvPr/>
        </p:nvSpPr>
        <p:spPr>
          <a:xfrm>
            <a:off x="640080" y="3429000"/>
            <a:ext cx="10972800" cy="457200"/>
          </a:xfrm>
          <a:prstGeom prst="rect">
            <a:avLst/>
          </a:prstGeom>
          <a:noFill/>
          <a:ln/>
        </p:spPr>
        <p:txBody>
          <a:bodyPr wrap="square" lIns="0" tIns="0" rIns="0" bIns="0" rtlCol="0" anchor="ctr"/>
          <a:lstStyle/>
          <a:p>
            <a:pPr indent="0" marL="0">
              <a:buNone/>
            </a:pPr>
            <a:r>
              <a:rPr lang="en-US" sz="1700" dirty="0">
                <a:solidFill>
                  <a:srgbClr val="AFC6E9"/>
                </a:solidFill>
                <a:latin typeface="Meiryo" pitchFamily="34" charset="0"/>
                <a:ea typeface="Meiryo" pitchFamily="34" charset="-122"/>
                <a:cs typeface="Meiryo" pitchFamily="34" charset="-120"/>
              </a:rPr>
              <a:t>― なぜ「今」が極めて重要なのか／部長陣に求める実行責任 ―</a:t>
            </a:r>
            <a:endParaRPr lang="en-US" sz="1700" dirty="0"/>
          </a:p>
        </p:txBody>
      </p:sp>
      <p:sp>
        <p:nvSpPr>
          <p:cNvPr id="5" name="Shape 3"/>
          <p:cNvSpPr/>
          <p:nvPr/>
        </p:nvSpPr>
        <p:spPr>
          <a:xfrm>
            <a:off x="640080" y="4343400"/>
            <a:ext cx="10908792" cy="1783080"/>
          </a:xfrm>
          <a:prstGeom prst="roundRect">
            <a:avLst>
              <a:gd name="adj" fmla="val 4103"/>
            </a:avLst>
          </a:prstGeom>
          <a:solidFill>
            <a:srgbClr val="263A63"/>
          </a:solidFill>
          <a:ln/>
        </p:spPr>
      </p:sp>
      <p:sp>
        <p:nvSpPr>
          <p:cNvPr id="6" name="Text 4"/>
          <p:cNvSpPr/>
          <p:nvPr/>
        </p:nvSpPr>
        <p:spPr>
          <a:xfrm>
            <a:off x="960120" y="4572000"/>
            <a:ext cx="10241280" cy="320040"/>
          </a:xfrm>
          <a:prstGeom prst="rect">
            <a:avLst/>
          </a:prstGeom>
          <a:noFill/>
          <a:ln/>
        </p:spPr>
        <p:txBody>
          <a:bodyPr wrap="square" lIns="0" tIns="0" rIns="0" bIns="0" rtlCol="0" anchor="ctr"/>
          <a:lstStyle/>
          <a:p>
            <a:pPr indent="0" marL="0">
              <a:buNone/>
            </a:pPr>
            <a:r>
              <a:rPr lang="en-US" sz="1300" b="1" dirty="0">
                <a:solidFill>
                  <a:srgbClr val="FF7A85"/>
                </a:solidFill>
                <a:latin typeface="Meiryo" pitchFamily="34" charset="0"/>
                <a:ea typeface="Meiryo" pitchFamily="34" charset="-122"/>
                <a:cs typeface="Meiryo" pitchFamily="34" charset="-120"/>
              </a:rPr>
              <a:t>この資料の結論</a:t>
            </a:r>
            <a:endParaRPr lang="en-US" sz="1300" dirty="0"/>
          </a:p>
        </p:txBody>
      </p:sp>
      <p:sp>
        <p:nvSpPr>
          <p:cNvPr id="7" name="Text 5"/>
          <p:cNvSpPr/>
          <p:nvPr/>
        </p:nvSpPr>
        <p:spPr>
          <a:xfrm>
            <a:off x="960120" y="4937760"/>
            <a:ext cx="10287000" cy="1005840"/>
          </a:xfrm>
          <a:prstGeom prst="rect">
            <a:avLst/>
          </a:prstGeom>
          <a:noFill/>
          <a:ln/>
        </p:spPr>
        <p:txBody>
          <a:bodyPr wrap="square" lIns="0" tIns="0" rIns="0" bIns="0" rtlCol="0" anchor="t"/>
          <a:lstStyle/>
          <a:p>
            <a:pPr indent="0" marL="0">
              <a:lnSpc>
                <a:spcPct val="130000"/>
              </a:lnSpc>
              <a:buNone/>
            </a:pPr>
            <a:r>
              <a:rPr lang="en-US" sz="1400" dirty="0">
                <a:solidFill>
                  <a:srgbClr val="FFFFFF"/>
                </a:solidFill>
                <a:latin typeface="Meiryo" pitchFamily="34" charset="0"/>
                <a:ea typeface="Meiryo" pitchFamily="34" charset="-122"/>
                <a:cs typeface="Meiryo" pitchFamily="34" charset="-120"/>
              </a:rPr>
              <a:t>今回の上方修正は「改革が完了した証明」ではない。市場に対し、改革成果を数字として約束した瞬間である。ここから各部門が、45億円→55億円→65億円の継続利益を案件・KPI・実行速度で証明できるかが、企業価値を決める。</a:t>
            </a:r>
            <a:endParaRPr lang="en-US" sz="1400" dirty="0"/>
          </a:p>
        </p:txBody>
      </p:sp>
      <p:sp>
        <p:nvSpPr>
          <p:cNvPr id="8" name="Text 6"/>
          <p:cNvSpPr/>
          <p:nvPr/>
        </p:nvSpPr>
        <p:spPr>
          <a:xfrm>
            <a:off x="640080" y="6355080"/>
            <a:ext cx="10972800" cy="320040"/>
          </a:xfrm>
          <a:prstGeom prst="rect">
            <a:avLst/>
          </a:prstGeom>
          <a:noFill/>
          <a:ln/>
        </p:spPr>
        <p:txBody>
          <a:bodyPr wrap="square" lIns="0" tIns="0" rIns="0" bIns="0" rtlCol="0" anchor="ctr"/>
          <a:lstStyle/>
          <a:p>
            <a:pPr indent="0" marL="0">
              <a:buNone/>
            </a:pPr>
            <a:r>
              <a:rPr lang="en-US" sz="1050" dirty="0">
                <a:solidFill>
                  <a:srgbClr val="8FA3C8"/>
                </a:solidFill>
                <a:latin typeface="Meiryo" pitchFamily="34" charset="0"/>
                <a:ea typeface="Meiryo" pitchFamily="34" charset="-122"/>
                <a:cs typeface="Meiryo" pitchFamily="34" charset="-120"/>
              </a:rPr>
              <a:t>基礎資料：2027年3月期 第1四半期決算短信・決算説明資料・中期経営計画修正・決算説明会質疑</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686800" cy="548640"/>
          </a:xfrm>
          <a:prstGeom prst="rect">
            <a:avLst/>
          </a:prstGeom>
          <a:noFill/>
          <a:ln/>
        </p:spPr>
        <p:txBody>
          <a:bodyPr wrap="square" lIns="0" tIns="0" rIns="0" bIns="0" rtlCol="0" anchor="ctr"/>
          <a:lstStyle/>
          <a:p>
            <a:pPr indent="0" marL="0">
              <a:buNone/>
            </a:pPr>
            <a:r>
              <a:rPr lang="en-US" sz="2600" b="1" dirty="0">
                <a:solidFill>
                  <a:srgbClr val="1B2A4A"/>
                </a:solidFill>
                <a:latin typeface="Meiryo" pitchFamily="34" charset="0"/>
                <a:ea typeface="Meiryo" pitchFamily="34" charset="-122"/>
                <a:cs typeface="Meiryo" pitchFamily="34" charset="-120"/>
              </a:rPr>
              <a:t>1｜決算発表で確定したファクト</a:t>
            </a:r>
            <a:endParaRPr lang="en-US" sz="2600" dirty="0"/>
          </a:p>
        </p:txBody>
      </p:sp>
      <p:sp>
        <p:nvSpPr>
          <p:cNvPr id="3" name="Text 1"/>
          <p:cNvSpPr/>
          <p:nvPr/>
        </p:nvSpPr>
        <p:spPr>
          <a:xfrm>
            <a:off x="457200" y="868680"/>
            <a:ext cx="10972800" cy="320040"/>
          </a:xfrm>
          <a:prstGeom prst="rect">
            <a:avLst/>
          </a:prstGeom>
          <a:noFill/>
          <a:ln/>
        </p:spPr>
        <p:txBody>
          <a:bodyPr wrap="square" lIns="0" tIns="0" rIns="0" bIns="0" rtlCol="0" anchor="ctr"/>
          <a:lstStyle/>
          <a:p>
            <a:pPr indent="0" marL="0">
              <a:buNone/>
            </a:pPr>
            <a:r>
              <a:rPr lang="en-US" sz="1250" dirty="0">
                <a:solidFill>
                  <a:srgbClr val="5A6472"/>
                </a:solidFill>
                <a:latin typeface="Meiryo" pitchFamily="34" charset="0"/>
                <a:ea typeface="Meiryo" pitchFamily="34" charset="-122"/>
                <a:cs typeface="Meiryo" pitchFamily="34" charset="-120"/>
              </a:rPr>
              <a:t>経営判断の前提となる公式開示数字（2026年7月27日発表）</a:t>
            </a:r>
            <a:endParaRPr lang="en-US" sz="1250" dirty="0"/>
          </a:p>
        </p:txBody>
      </p:sp>
      <p:sp>
        <p:nvSpPr>
          <p:cNvPr id="4" name="Shape 2"/>
          <p:cNvSpPr/>
          <p:nvPr/>
        </p:nvSpPr>
        <p:spPr>
          <a:xfrm>
            <a:off x="457200" y="1325880"/>
            <a:ext cx="3767328" cy="1481328"/>
          </a:xfrm>
          <a:prstGeom prst="roundRect">
            <a:avLst>
              <a:gd name="adj" fmla="val 3704"/>
            </a:avLst>
          </a:prstGeom>
          <a:solidFill>
            <a:srgbClr val="F2F4F8"/>
          </a:solidFill>
          <a:ln/>
        </p:spPr>
      </p:sp>
      <p:sp>
        <p:nvSpPr>
          <p:cNvPr id="5" name="Text 3"/>
          <p:cNvSpPr/>
          <p:nvPr/>
        </p:nvSpPr>
        <p:spPr>
          <a:xfrm>
            <a:off x="685800" y="1463040"/>
            <a:ext cx="3383280" cy="292608"/>
          </a:xfrm>
          <a:prstGeom prst="rect">
            <a:avLst/>
          </a:prstGeom>
          <a:noFill/>
          <a:ln/>
        </p:spPr>
        <p:txBody>
          <a:bodyPr wrap="square" lIns="0" tIns="0" rIns="0" bIns="0" rtlCol="0" anchor="ctr"/>
          <a:lstStyle/>
          <a:p>
            <a:pPr indent="0" marL="0">
              <a:buNone/>
            </a:pPr>
            <a:r>
              <a:rPr lang="en-US" sz="1200" b="1" dirty="0">
                <a:solidFill>
                  <a:srgbClr val="5A6472"/>
                </a:solidFill>
                <a:latin typeface="Meiryo" pitchFamily="34" charset="0"/>
                <a:ea typeface="Meiryo" pitchFamily="34" charset="-122"/>
                <a:cs typeface="Meiryo" pitchFamily="34" charset="-120"/>
              </a:rPr>
              <a:t>連結営業利益予想</a:t>
            </a:r>
            <a:endParaRPr lang="en-US" sz="1200" dirty="0"/>
          </a:p>
        </p:txBody>
      </p:sp>
      <p:sp>
        <p:nvSpPr>
          <p:cNvPr id="6" name="Text 4"/>
          <p:cNvSpPr/>
          <p:nvPr/>
        </p:nvSpPr>
        <p:spPr>
          <a:xfrm>
            <a:off x="685800" y="1755648"/>
            <a:ext cx="3383280" cy="566928"/>
          </a:xfrm>
          <a:prstGeom prst="rect">
            <a:avLst/>
          </a:prstGeom>
          <a:noFill/>
          <a:ln/>
        </p:spPr>
        <p:txBody>
          <a:bodyPr wrap="square" lIns="0" tIns="0" rIns="0" bIns="0" rtlCol="0" anchor="ctr"/>
          <a:lstStyle/>
          <a:p>
            <a:pPr indent="0" marL="0">
              <a:buNone/>
            </a:pPr>
            <a:r>
              <a:rPr lang="en-US" sz="1800" b="1" dirty="0">
                <a:solidFill>
                  <a:srgbClr val="5A6472"/>
                </a:solidFill>
                <a:latin typeface="Meiryo" pitchFamily="34" charset="0"/>
                <a:ea typeface="Meiryo" pitchFamily="34" charset="-122"/>
                <a:cs typeface="Meiryo" pitchFamily="34" charset="-120"/>
              </a:rPr>
              <a:t>190億円 </a:t>
            </a:r>
            <a:pPr indent="0" marL="0">
              <a:buNone/>
            </a:pPr>
            <a:r>
              <a:rPr lang="en-US" sz="1800" b="1" dirty="0">
                <a:solidFill>
                  <a:srgbClr val="5A6472"/>
                </a:solidFill>
                <a:latin typeface="Meiryo" pitchFamily="34" charset="0"/>
                <a:ea typeface="Meiryo" pitchFamily="34" charset="-122"/>
                <a:cs typeface="Meiryo" pitchFamily="34" charset="-120"/>
              </a:rPr>
              <a:t>→ </a:t>
            </a:r>
            <a:pPr indent="0" marL="0">
              <a:buNone/>
            </a:pPr>
            <a:r>
              <a:rPr lang="en-US" sz="3000" b="1" dirty="0">
                <a:solidFill>
                  <a:srgbClr val="C8102E"/>
                </a:solidFill>
                <a:latin typeface="Meiryo" pitchFamily="34" charset="0"/>
                <a:ea typeface="Meiryo" pitchFamily="34" charset="-122"/>
                <a:cs typeface="Meiryo" pitchFamily="34" charset="-120"/>
              </a:rPr>
              <a:t>225億円</a:t>
            </a:r>
            <a:endParaRPr lang="en-US" sz="1800" dirty="0"/>
          </a:p>
        </p:txBody>
      </p:sp>
      <p:sp>
        <p:nvSpPr>
          <p:cNvPr id="7" name="Text 5"/>
          <p:cNvSpPr/>
          <p:nvPr/>
        </p:nvSpPr>
        <p:spPr>
          <a:xfrm>
            <a:off x="685800" y="2377440"/>
            <a:ext cx="3383280" cy="365760"/>
          </a:xfrm>
          <a:prstGeom prst="rect">
            <a:avLst/>
          </a:prstGeom>
          <a:noFill/>
          <a:ln/>
        </p:spPr>
        <p:txBody>
          <a:bodyPr wrap="square" lIns="0" tIns="0" rIns="0" bIns="0" rtlCol="0" anchor="ctr"/>
          <a:lstStyle/>
          <a:p>
            <a:pPr indent="0" marL="0">
              <a:buNone/>
            </a:pPr>
            <a:r>
              <a:rPr lang="en-US" sz="1050" dirty="0">
                <a:solidFill>
                  <a:srgbClr val="5A6472"/>
                </a:solidFill>
                <a:latin typeface="Meiryo" pitchFamily="34" charset="0"/>
                <a:ea typeface="Meiryo" pitchFamily="34" charset="-122"/>
                <a:cs typeface="Meiryo" pitchFamily="34" charset="-120"/>
              </a:rPr>
              <a:t>＋35億円（アミューズ＋20／C&amp;D＋15）</a:t>
            </a:r>
            <a:endParaRPr lang="en-US" sz="1050" dirty="0"/>
          </a:p>
        </p:txBody>
      </p:sp>
      <p:sp>
        <p:nvSpPr>
          <p:cNvPr id="8" name="Shape 6"/>
          <p:cNvSpPr/>
          <p:nvPr/>
        </p:nvSpPr>
        <p:spPr>
          <a:xfrm>
            <a:off x="4370832" y="1325880"/>
            <a:ext cx="3767328" cy="1481328"/>
          </a:xfrm>
          <a:prstGeom prst="roundRect">
            <a:avLst>
              <a:gd name="adj" fmla="val 3704"/>
            </a:avLst>
          </a:prstGeom>
          <a:solidFill>
            <a:srgbClr val="F2F4F8"/>
          </a:solidFill>
          <a:ln/>
        </p:spPr>
      </p:sp>
      <p:sp>
        <p:nvSpPr>
          <p:cNvPr id="9" name="Text 7"/>
          <p:cNvSpPr/>
          <p:nvPr/>
        </p:nvSpPr>
        <p:spPr>
          <a:xfrm>
            <a:off x="4599432" y="1463040"/>
            <a:ext cx="3383280" cy="292608"/>
          </a:xfrm>
          <a:prstGeom prst="rect">
            <a:avLst/>
          </a:prstGeom>
          <a:noFill/>
          <a:ln/>
        </p:spPr>
        <p:txBody>
          <a:bodyPr wrap="square" lIns="0" tIns="0" rIns="0" bIns="0" rtlCol="0" anchor="ctr"/>
          <a:lstStyle/>
          <a:p>
            <a:pPr indent="0" marL="0">
              <a:buNone/>
            </a:pPr>
            <a:r>
              <a:rPr lang="en-US" sz="1200" b="1" dirty="0">
                <a:solidFill>
                  <a:srgbClr val="5A6472"/>
                </a:solidFill>
                <a:latin typeface="Meiryo" pitchFamily="34" charset="0"/>
                <a:ea typeface="Meiryo" pitchFamily="34" charset="-122"/>
                <a:cs typeface="Meiryo" pitchFamily="34" charset="-120"/>
              </a:rPr>
              <a:t>C&amp;D営業利益予想</a:t>
            </a:r>
            <a:endParaRPr lang="en-US" sz="1200" dirty="0"/>
          </a:p>
        </p:txBody>
      </p:sp>
      <p:sp>
        <p:nvSpPr>
          <p:cNvPr id="10" name="Text 8"/>
          <p:cNvSpPr/>
          <p:nvPr/>
        </p:nvSpPr>
        <p:spPr>
          <a:xfrm>
            <a:off x="4599432" y="1755648"/>
            <a:ext cx="3383280" cy="566928"/>
          </a:xfrm>
          <a:prstGeom prst="rect">
            <a:avLst/>
          </a:prstGeom>
          <a:noFill/>
          <a:ln/>
        </p:spPr>
        <p:txBody>
          <a:bodyPr wrap="square" lIns="0" tIns="0" rIns="0" bIns="0" rtlCol="0" anchor="ctr"/>
          <a:lstStyle/>
          <a:p>
            <a:pPr indent="0" marL="0">
              <a:buNone/>
            </a:pPr>
            <a:r>
              <a:rPr lang="en-US" sz="1800" b="1" dirty="0">
                <a:solidFill>
                  <a:srgbClr val="5A6472"/>
                </a:solidFill>
                <a:latin typeface="Meiryo" pitchFamily="34" charset="0"/>
                <a:ea typeface="Meiryo" pitchFamily="34" charset="-122"/>
                <a:cs typeface="Meiryo" pitchFamily="34" charset="-120"/>
              </a:rPr>
              <a:t>30億円 </a:t>
            </a:r>
            <a:pPr indent="0" marL="0">
              <a:buNone/>
            </a:pPr>
            <a:r>
              <a:rPr lang="en-US" sz="1800" b="1" dirty="0">
                <a:solidFill>
                  <a:srgbClr val="5A6472"/>
                </a:solidFill>
                <a:latin typeface="Meiryo" pitchFamily="34" charset="0"/>
                <a:ea typeface="Meiryo" pitchFamily="34" charset="-122"/>
                <a:cs typeface="Meiryo" pitchFamily="34" charset="-120"/>
              </a:rPr>
              <a:t>→ </a:t>
            </a:r>
            <a:pPr indent="0" marL="0">
              <a:buNone/>
            </a:pPr>
            <a:r>
              <a:rPr lang="en-US" sz="3000" b="1" dirty="0">
                <a:solidFill>
                  <a:srgbClr val="C8102E"/>
                </a:solidFill>
                <a:latin typeface="Meiryo" pitchFamily="34" charset="0"/>
                <a:ea typeface="Meiryo" pitchFamily="34" charset="-122"/>
                <a:cs typeface="Meiryo" pitchFamily="34" charset="-120"/>
              </a:rPr>
              <a:t>45億円</a:t>
            </a:r>
            <a:endParaRPr lang="en-US" sz="1800" dirty="0"/>
          </a:p>
        </p:txBody>
      </p:sp>
      <p:sp>
        <p:nvSpPr>
          <p:cNvPr id="11" name="Text 9"/>
          <p:cNvSpPr/>
          <p:nvPr/>
        </p:nvSpPr>
        <p:spPr>
          <a:xfrm>
            <a:off x="4599432" y="2377440"/>
            <a:ext cx="3383280" cy="365760"/>
          </a:xfrm>
          <a:prstGeom prst="rect">
            <a:avLst/>
          </a:prstGeom>
          <a:noFill/>
          <a:ln/>
        </p:spPr>
        <p:txBody>
          <a:bodyPr wrap="square" lIns="0" tIns="0" rIns="0" bIns="0" rtlCol="0" anchor="ctr"/>
          <a:lstStyle/>
          <a:p>
            <a:pPr indent="0" marL="0">
              <a:buNone/>
            </a:pPr>
            <a:r>
              <a:rPr lang="en-US" sz="1050" dirty="0">
                <a:solidFill>
                  <a:srgbClr val="5A6472"/>
                </a:solidFill>
                <a:latin typeface="Meiryo" pitchFamily="34" charset="0"/>
                <a:ea typeface="Meiryo" pitchFamily="34" charset="-122"/>
                <a:cs typeface="Meiryo" pitchFamily="34" charset="-120"/>
              </a:rPr>
              <a:t>＋50%上方修正・FY2029目標65億円へ</a:t>
            </a:r>
            <a:endParaRPr lang="en-US" sz="1050" dirty="0"/>
          </a:p>
        </p:txBody>
      </p:sp>
      <p:sp>
        <p:nvSpPr>
          <p:cNvPr id="12" name="Shape 10"/>
          <p:cNvSpPr/>
          <p:nvPr/>
        </p:nvSpPr>
        <p:spPr>
          <a:xfrm>
            <a:off x="8284464" y="1325880"/>
            <a:ext cx="3767328" cy="1481328"/>
          </a:xfrm>
          <a:prstGeom prst="roundRect">
            <a:avLst>
              <a:gd name="adj" fmla="val 3704"/>
            </a:avLst>
          </a:prstGeom>
          <a:solidFill>
            <a:srgbClr val="F2F4F8"/>
          </a:solidFill>
          <a:ln/>
        </p:spPr>
      </p:sp>
      <p:sp>
        <p:nvSpPr>
          <p:cNvPr id="13" name="Text 11"/>
          <p:cNvSpPr/>
          <p:nvPr/>
        </p:nvSpPr>
        <p:spPr>
          <a:xfrm>
            <a:off x="8513064" y="1463040"/>
            <a:ext cx="3383280" cy="292608"/>
          </a:xfrm>
          <a:prstGeom prst="rect">
            <a:avLst/>
          </a:prstGeom>
          <a:noFill/>
          <a:ln/>
        </p:spPr>
        <p:txBody>
          <a:bodyPr wrap="square" lIns="0" tIns="0" rIns="0" bIns="0" rtlCol="0" anchor="ctr"/>
          <a:lstStyle/>
          <a:p>
            <a:pPr indent="0" marL="0">
              <a:buNone/>
            </a:pPr>
            <a:r>
              <a:rPr lang="en-US" sz="1200" b="1" dirty="0">
                <a:solidFill>
                  <a:srgbClr val="5A6472"/>
                </a:solidFill>
                <a:latin typeface="Meiryo" pitchFamily="34" charset="0"/>
                <a:ea typeface="Meiryo" pitchFamily="34" charset="-122"/>
                <a:cs typeface="Meiryo" pitchFamily="34" charset="-120"/>
              </a:rPr>
              <a:t>年間配当予想</a:t>
            </a:r>
            <a:endParaRPr lang="en-US" sz="1200" dirty="0"/>
          </a:p>
        </p:txBody>
      </p:sp>
      <p:sp>
        <p:nvSpPr>
          <p:cNvPr id="14" name="Text 12"/>
          <p:cNvSpPr/>
          <p:nvPr/>
        </p:nvSpPr>
        <p:spPr>
          <a:xfrm>
            <a:off x="8513064" y="1755648"/>
            <a:ext cx="3383280" cy="566928"/>
          </a:xfrm>
          <a:prstGeom prst="rect">
            <a:avLst/>
          </a:prstGeom>
          <a:noFill/>
          <a:ln/>
        </p:spPr>
        <p:txBody>
          <a:bodyPr wrap="square" lIns="0" tIns="0" rIns="0" bIns="0" rtlCol="0" anchor="ctr"/>
          <a:lstStyle/>
          <a:p>
            <a:pPr indent="0" marL="0">
              <a:buNone/>
            </a:pPr>
            <a:r>
              <a:rPr lang="en-US" sz="1800" b="1" dirty="0">
                <a:solidFill>
                  <a:srgbClr val="5A6472"/>
                </a:solidFill>
                <a:latin typeface="Meiryo" pitchFamily="34" charset="0"/>
                <a:ea typeface="Meiryo" pitchFamily="34" charset="-122"/>
                <a:cs typeface="Meiryo" pitchFamily="34" charset="-120"/>
              </a:rPr>
              <a:t>70円 </a:t>
            </a:r>
            <a:pPr indent="0" marL="0">
              <a:buNone/>
            </a:pPr>
            <a:r>
              <a:rPr lang="en-US" sz="1800" b="1" dirty="0">
                <a:solidFill>
                  <a:srgbClr val="5A6472"/>
                </a:solidFill>
                <a:latin typeface="Meiryo" pitchFamily="34" charset="0"/>
                <a:ea typeface="Meiryo" pitchFamily="34" charset="-122"/>
                <a:cs typeface="Meiryo" pitchFamily="34" charset="-120"/>
              </a:rPr>
              <a:t>→ </a:t>
            </a:r>
            <a:pPr indent="0" marL="0">
              <a:buNone/>
            </a:pPr>
            <a:r>
              <a:rPr lang="en-US" sz="3000" b="1" dirty="0">
                <a:solidFill>
                  <a:srgbClr val="C8102E"/>
                </a:solidFill>
                <a:latin typeface="Meiryo" pitchFamily="34" charset="0"/>
                <a:ea typeface="Meiryo" pitchFamily="34" charset="-122"/>
                <a:cs typeface="Meiryo" pitchFamily="34" charset="-120"/>
              </a:rPr>
              <a:t>140円</a:t>
            </a:r>
            <a:endParaRPr lang="en-US" sz="1800" dirty="0"/>
          </a:p>
        </p:txBody>
      </p:sp>
      <p:sp>
        <p:nvSpPr>
          <p:cNvPr id="15" name="Text 13"/>
          <p:cNvSpPr/>
          <p:nvPr/>
        </p:nvSpPr>
        <p:spPr>
          <a:xfrm>
            <a:off x="8513064" y="2377440"/>
            <a:ext cx="3383280" cy="365760"/>
          </a:xfrm>
          <a:prstGeom prst="rect">
            <a:avLst/>
          </a:prstGeom>
          <a:noFill/>
          <a:ln/>
        </p:spPr>
        <p:txBody>
          <a:bodyPr wrap="square" lIns="0" tIns="0" rIns="0" bIns="0" rtlCol="0" anchor="ctr"/>
          <a:lstStyle/>
          <a:p>
            <a:pPr indent="0" marL="0">
              <a:buNone/>
            </a:pPr>
            <a:r>
              <a:rPr lang="en-US" sz="1050" dirty="0">
                <a:solidFill>
                  <a:srgbClr val="5A6472"/>
                </a:solidFill>
                <a:latin typeface="Meiryo" pitchFamily="34" charset="0"/>
                <a:ea typeface="Meiryo" pitchFamily="34" charset="-122"/>
                <a:cs typeface="Meiryo" pitchFamily="34" charset="-120"/>
              </a:rPr>
              <a:t>倍増・来期以降も中間配当を継続予定</a:t>
            </a:r>
            <a:endParaRPr lang="en-US" sz="1050" dirty="0"/>
          </a:p>
        </p:txBody>
      </p:sp>
      <p:sp>
        <p:nvSpPr>
          <p:cNvPr id="16" name="Text 14"/>
          <p:cNvSpPr/>
          <p:nvPr/>
        </p:nvSpPr>
        <p:spPr>
          <a:xfrm>
            <a:off x="457200" y="3063240"/>
            <a:ext cx="5760720" cy="320040"/>
          </a:xfrm>
          <a:prstGeom prst="rect">
            <a:avLst/>
          </a:prstGeom>
          <a:noFill/>
          <a:ln/>
        </p:spPr>
        <p:txBody>
          <a:bodyPr wrap="square" lIns="0" tIns="0" rIns="0" bIns="0" rtlCol="0" anchor="ctr"/>
          <a:lstStyle/>
          <a:p>
            <a:pPr indent="0" marL="0">
              <a:buNone/>
            </a:pPr>
            <a:r>
              <a:rPr lang="en-US" sz="1400" b="1" dirty="0">
                <a:solidFill>
                  <a:srgbClr val="1B2A4A"/>
                </a:solidFill>
                <a:latin typeface="Meiryo" pitchFamily="34" charset="0"/>
                <a:ea typeface="Meiryo" pitchFamily="34" charset="-122"/>
                <a:cs typeface="Meiryo" pitchFamily="34" charset="-120"/>
              </a:rPr>
              <a:t>上方修正理由として公式に示された項目</a:t>
            </a:r>
            <a:endParaRPr lang="en-US" sz="1400" dirty="0"/>
          </a:p>
        </p:txBody>
      </p:sp>
      <p:sp>
        <p:nvSpPr>
          <p:cNvPr id="17" name="Shape 15"/>
          <p:cNvSpPr/>
          <p:nvPr/>
        </p:nvSpPr>
        <p:spPr>
          <a:xfrm>
            <a:off x="457200" y="3429000"/>
            <a:ext cx="5760720" cy="1143000"/>
          </a:xfrm>
          <a:prstGeom prst="roundRect">
            <a:avLst>
              <a:gd name="adj" fmla="val 4800"/>
            </a:avLst>
          </a:prstGeom>
          <a:solidFill>
            <a:srgbClr val="F2F4F8"/>
          </a:solidFill>
          <a:ln/>
        </p:spPr>
      </p:sp>
      <p:sp>
        <p:nvSpPr>
          <p:cNvPr id="18" name="Text 16"/>
          <p:cNvSpPr/>
          <p:nvPr/>
        </p:nvSpPr>
        <p:spPr>
          <a:xfrm>
            <a:off x="685800" y="3520440"/>
            <a:ext cx="5349240" cy="502920"/>
          </a:xfrm>
          <a:prstGeom prst="rect">
            <a:avLst/>
          </a:prstGeom>
          <a:noFill/>
          <a:ln/>
        </p:spPr>
        <p:txBody>
          <a:bodyPr wrap="square" lIns="0" tIns="0" rIns="0" bIns="0" rtlCol="0" anchor="ctr"/>
          <a:lstStyle/>
          <a:p>
            <a:pPr indent="0" marL="0">
              <a:lnSpc>
                <a:spcPct val="120000"/>
              </a:lnSpc>
              <a:buNone/>
            </a:pPr>
            <a:r>
              <a:rPr lang="en-US" sz="1200" b="1" dirty="0">
                <a:solidFill>
                  <a:srgbClr val="1B2A4A"/>
                </a:solidFill>
                <a:latin typeface="Meiryo" pitchFamily="34" charset="0"/>
                <a:ea typeface="Meiryo" pitchFamily="34" charset="-122"/>
                <a:cs typeface="Meiryo" pitchFamily="34" charset="-120"/>
              </a:rPr>
              <a:t>C&amp;D：</a:t>
            </a:r>
            <a:pPr indent="0" marL="0">
              <a:lnSpc>
                <a:spcPct val="120000"/>
              </a:lnSpc>
              <a:buNone/>
            </a:pPr>
            <a:r>
              <a:rPr lang="en-US" sz="1200" dirty="0">
                <a:solidFill>
                  <a:srgbClr val="1A1A1A"/>
                </a:solidFill>
                <a:latin typeface="Meiryo" pitchFamily="34" charset="0"/>
                <a:ea typeface="Meiryo" pitchFamily="34" charset="-122"/>
                <a:cs typeface="Meiryo" pitchFamily="34" charset="-120"/>
              </a:rPr>
              <a:t>国内MD好調／ライセンス好調／広告収入が想定以上／中国市場の回復基調</a:t>
            </a:r>
            <a:endParaRPr lang="en-US" sz="1200" dirty="0"/>
          </a:p>
        </p:txBody>
      </p:sp>
      <p:sp>
        <p:nvSpPr>
          <p:cNvPr id="19" name="Text 17"/>
          <p:cNvSpPr/>
          <p:nvPr/>
        </p:nvSpPr>
        <p:spPr>
          <a:xfrm>
            <a:off x="685800" y="4041648"/>
            <a:ext cx="5349240" cy="502920"/>
          </a:xfrm>
          <a:prstGeom prst="rect">
            <a:avLst/>
          </a:prstGeom>
          <a:noFill/>
          <a:ln/>
        </p:spPr>
        <p:txBody>
          <a:bodyPr wrap="square" lIns="0" tIns="0" rIns="0" bIns="0" rtlCol="0" anchor="ctr"/>
          <a:lstStyle/>
          <a:p>
            <a:pPr indent="0" marL="0">
              <a:lnSpc>
                <a:spcPct val="120000"/>
              </a:lnSpc>
              <a:buNone/>
            </a:pPr>
            <a:r>
              <a:rPr lang="en-US" sz="1200" b="1" dirty="0">
                <a:solidFill>
                  <a:srgbClr val="1B2A4A"/>
                </a:solidFill>
                <a:latin typeface="Meiryo" pitchFamily="34" charset="0"/>
                <a:ea typeface="Meiryo" pitchFamily="34" charset="-122"/>
                <a:cs typeface="Meiryo" pitchFamily="34" charset="-120"/>
              </a:rPr>
              <a:t>アミューズメント：</a:t>
            </a:r>
            <a:pPr indent="0" marL="0">
              <a:lnSpc>
                <a:spcPct val="120000"/>
              </a:lnSpc>
              <a:buNone/>
            </a:pPr>
            <a:r>
              <a:rPr lang="en-US" sz="1200" dirty="0">
                <a:solidFill>
                  <a:srgbClr val="1A1A1A"/>
                </a:solidFill>
                <a:latin typeface="Meiryo" pitchFamily="34" charset="0"/>
                <a:ea typeface="Meiryo" pitchFamily="34" charset="-122"/>
                <a:cs typeface="Meiryo" pitchFamily="34" charset="-120"/>
              </a:rPr>
              <a:t>2Q累計納品予定商品が完売／3Q主力機種の受注が極めて好調</a:t>
            </a:r>
            <a:endParaRPr lang="en-US" sz="1200" dirty="0"/>
          </a:p>
        </p:txBody>
      </p:sp>
      <p:sp>
        <p:nvSpPr>
          <p:cNvPr id="20" name="Text 18"/>
          <p:cNvSpPr/>
          <p:nvPr/>
        </p:nvSpPr>
        <p:spPr>
          <a:xfrm>
            <a:off x="457200" y="4754880"/>
            <a:ext cx="5760720" cy="320040"/>
          </a:xfrm>
          <a:prstGeom prst="rect">
            <a:avLst/>
          </a:prstGeom>
          <a:noFill/>
          <a:ln/>
        </p:spPr>
        <p:txBody>
          <a:bodyPr wrap="square" lIns="0" tIns="0" rIns="0" bIns="0" rtlCol="0" anchor="ctr"/>
          <a:lstStyle/>
          <a:p>
            <a:pPr indent="0" marL="0">
              <a:buNone/>
            </a:pPr>
            <a:r>
              <a:rPr lang="en-US" sz="1400" b="1" dirty="0">
                <a:solidFill>
                  <a:srgbClr val="1B2A4A"/>
                </a:solidFill>
                <a:latin typeface="Meiryo" pitchFamily="34" charset="0"/>
                <a:ea typeface="Meiryo" pitchFamily="34" charset="-122"/>
                <a:cs typeface="Meiryo" pitchFamily="34" charset="-120"/>
              </a:rPr>
              <a:t>中期経営計画（連結営業利益）</a:t>
            </a:r>
            <a:endParaRPr lang="en-US" sz="1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5120640"/>
          <a:ext cx="5760720" cy="914400"/>
        </p:xfrm>
        <a:graphic>
          <a:graphicData uri="http://schemas.openxmlformats.org/drawingml/2006/table">
            <a:tbl>
              <a:tblPr/>
              <a:tblGrid>
                <a:gridCol w="1417320"/>
                <a:gridCol w="1463040"/>
                <a:gridCol w="1371600"/>
                <a:gridCol w="1508760"/>
              </a:tblGrid>
              <a:tr h="292608">
                <a:tc>
                  <a:txBody>
                    <a:bodyPr/>
                    <a:lstStyle/>
                    <a:p>
                      <a:pPr algn="ctr" indent="0" marL="0">
                        <a:buNone/>
                      </a:pPr>
                      <a:r>
                        <a:rPr lang="en-US" sz="1150" b="1" dirty="0">
                          <a:solidFill>
                            <a:srgbClr val="FFFFFF"/>
                          </a:solidFill>
                          <a:latin typeface="Meiryo" pitchFamily="34" charset="0"/>
                          <a:ea typeface="Meiryo" pitchFamily="34" charset="-122"/>
                          <a:cs typeface="Meiryo" pitchFamily="34" charset="-120"/>
                        </a:rPr>
                        <a:t>年度</a:t>
                      </a:r>
                      <a:endParaRPr lang="en-US" sz="1150" dirty="0">
                        <a:latin typeface="Meiryo" charset="0"/>
                        <a:ea typeface="Meiryo" charset="0"/>
                        <a:cs typeface="Meiryo"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B2A4A"/>
                    </a:solidFill>
                  </a:tcPr>
                </a:tc>
                <a:tc>
                  <a:txBody>
                    <a:bodyPr/>
                    <a:lstStyle/>
                    <a:p>
                      <a:pPr algn="ctr" indent="0" marL="0">
                        <a:buNone/>
                      </a:pPr>
                      <a:r>
                        <a:rPr lang="en-US" sz="1150" b="1" dirty="0">
                          <a:solidFill>
                            <a:srgbClr val="FFFFFF"/>
                          </a:solidFill>
                          <a:latin typeface="Meiryo" pitchFamily="34" charset="0"/>
                          <a:ea typeface="Meiryo" pitchFamily="34" charset="-122"/>
                          <a:cs typeface="Meiryo" pitchFamily="34" charset="-120"/>
                        </a:rPr>
                        <a:t>連結</a:t>
                      </a:r>
                      <a:endParaRPr lang="en-US" sz="1150" dirty="0">
                        <a:latin typeface="Meiryo" charset="0"/>
                        <a:ea typeface="Meiryo" charset="0"/>
                        <a:cs typeface="Meiryo"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B2A4A"/>
                    </a:solidFill>
                  </a:tcPr>
                </a:tc>
                <a:tc>
                  <a:txBody>
                    <a:bodyPr/>
                    <a:lstStyle/>
                    <a:p>
                      <a:pPr algn="ctr" indent="0" marL="0">
                        <a:buNone/>
                      </a:pPr>
                      <a:r>
                        <a:rPr lang="en-US" sz="1150" b="1" dirty="0">
                          <a:solidFill>
                            <a:srgbClr val="FFFFFF"/>
                          </a:solidFill>
                          <a:latin typeface="Meiryo" pitchFamily="34" charset="0"/>
                          <a:ea typeface="Meiryo" pitchFamily="34" charset="-122"/>
                          <a:cs typeface="Meiryo" pitchFamily="34" charset="-120"/>
                        </a:rPr>
                        <a:t>C&amp;D</a:t>
                      </a:r>
                      <a:endParaRPr lang="en-US" sz="1150" dirty="0">
                        <a:latin typeface="Meiryo" charset="0"/>
                        <a:ea typeface="Meiryo" charset="0"/>
                        <a:cs typeface="Meiryo"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B2A4A"/>
                    </a:solidFill>
                  </a:tcPr>
                </a:tc>
                <a:tc>
                  <a:txBody>
                    <a:bodyPr/>
                    <a:lstStyle/>
                    <a:p>
                      <a:pPr algn="ctr" indent="0" marL="0">
                        <a:buNone/>
                      </a:pPr>
                      <a:r>
                        <a:rPr lang="en-US" sz="1150" b="1" dirty="0">
                          <a:solidFill>
                            <a:srgbClr val="FFFFFF"/>
                          </a:solidFill>
                          <a:latin typeface="Meiryo" pitchFamily="34" charset="0"/>
                          <a:ea typeface="Meiryo" pitchFamily="34" charset="-122"/>
                          <a:cs typeface="Meiryo" pitchFamily="34" charset="-120"/>
                        </a:rPr>
                        <a:t>アミューズ</a:t>
                      </a:r>
                      <a:endParaRPr lang="en-US" sz="1150" dirty="0">
                        <a:latin typeface="Meiryo" charset="0"/>
                        <a:ea typeface="Meiryo" charset="0"/>
                        <a:cs typeface="Meiryo"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B2A4A"/>
                    </a:solidFill>
                  </a:tcPr>
                </a:tc>
              </a:tr>
              <a:tr h="292608">
                <a:tc>
                  <a:txBody>
                    <a:bodyPr/>
                    <a:lstStyle/>
                    <a:p>
                      <a:pPr algn="ctr" indent="0" marL="0">
                        <a:buNone/>
                      </a:pPr>
                      <a:r>
                        <a:rPr lang="en-US" sz="1150" dirty="0">
                          <a:solidFill>
                            <a:srgbClr val="1A1A1A"/>
                          </a:solidFill>
                          <a:latin typeface="Meiryo" pitchFamily="34" charset="0"/>
                          <a:ea typeface="Meiryo" pitchFamily="34" charset="-122"/>
                          <a:cs typeface="Meiryo" pitchFamily="34" charset="-120"/>
                        </a:rPr>
                        <a:t>2027/3期</a:t>
                      </a:r>
                      <a:endParaRPr lang="en-US" sz="1150" dirty="0">
                        <a:latin typeface="Meiryo" charset="0"/>
                        <a:ea typeface="Meiryo" charset="0"/>
                        <a:cs typeface="Meiryo"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1A1A"/>
                          </a:solidFill>
                          <a:latin typeface="Meiryo" pitchFamily="34" charset="0"/>
                          <a:ea typeface="Meiryo" pitchFamily="34" charset="-122"/>
                          <a:cs typeface="Meiryo" pitchFamily="34" charset="-120"/>
                        </a:rPr>
                        <a:t>225億円</a:t>
                      </a:r>
                      <a:endParaRPr lang="en-US" sz="1150" dirty="0">
                        <a:latin typeface="Meiryo" charset="0"/>
                        <a:ea typeface="Meiryo" charset="0"/>
                        <a:cs typeface="Meiryo"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1A1A"/>
                          </a:solidFill>
                          <a:latin typeface="Meiryo" pitchFamily="34" charset="0"/>
                          <a:ea typeface="Meiryo" pitchFamily="34" charset="-122"/>
                          <a:cs typeface="Meiryo" pitchFamily="34" charset="-120"/>
                        </a:rPr>
                        <a:t>45億円</a:t>
                      </a:r>
                      <a:endParaRPr lang="en-US" sz="1150" dirty="0">
                        <a:latin typeface="Meiryo" charset="0"/>
                        <a:ea typeface="Meiryo" charset="0"/>
                        <a:cs typeface="Meiryo"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1A1A"/>
                          </a:solidFill>
                          <a:latin typeface="Meiryo" pitchFamily="34" charset="0"/>
                          <a:ea typeface="Meiryo" pitchFamily="34" charset="-122"/>
                          <a:cs typeface="Meiryo" pitchFamily="34" charset="-120"/>
                        </a:rPr>
                        <a:t>220億円</a:t>
                      </a:r>
                      <a:endParaRPr lang="en-US" sz="1150" dirty="0">
                        <a:latin typeface="Meiryo" charset="0"/>
                        <a:ea typeface="Meiryo" charset="0"/>
                        <a:cs typeface="Meiryo"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292608">
                <a:tc>
                  <a:txBody>
                    <a:bodyPr/>
                    <a:lstStyle/>
                    <a:p>
                      <a:pPr algn="ctr" indent="0" marL="0">
                        <a:buNone/>
                      </a:pPr>
                      <a:r>
                        <a:rPr lang="en-US" sz="1150" dirty="0">
                          <a:solidFill>
                            <a:srgbClr val="1A1A1A"/>
                          </a:solidFill>
                          <a:latin typeface="Meiryo" pitchFamily="34" charset="0"/>
                          <a:ea typeface="Meiryo" pitchFamily="34" charset="-122"/>
                          <a:cs typeface="Meiryo" pitchFamily="34" charset="-120"/>
                        </a:rPr>
                        <a:t>2028/3期</a:t>
                      </a:r>
                      <a:endParaRPr lang="en-US" sz="1150" dirty="0">
                        <a:latin typeface="Meiryo" charset="0"/>
                        <a:ea typeface="Meiryo" charset="0"/>
                        <a:cs typeface="Meiryo"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1A1A"/>
                          </a:solidFill>
                          <a:latin typeface="Meiryo" pitchFamily="34" charset="0"/>
                          <a:ea typeface="Meiryo" pitchFamily="34" charset="-122"/>
                          <a:cs typeface="Meiryo" pitchFamily="34" charset="-120"/>
                        </a:rPr>
                        <a:t>255億円</a:t>
                      </a:r>
                      <a:endParaRPr lang="en-US" sz="1150" dirty="0">
                        <a:latin typeface="Meiryo" charset="0"/>
                        <a:ea typeface="Meiryo" charset="0"/>
                        <a:cs typeface="Meiryo"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1A1A"/>
                          </a:solidFill>
                          <a:latin typeface="Meiryo" pitchFamily="34" charset="0"/>
                          <a:ea typeface="Meiryo" pitchFamily="34" charset="-122"/>
                          <a:cs typeface="Meiryo" pitchFamily="34" charset="-120"/>
                        </a:rPr>
                        <a:t>55億円</a:t>
                      </a:r>
                      <a:endParaRPr lang="en-US" sz="1150" dirty="0">
                        <a:latin typeface="Meiryo" charset="0"/>
                        <a:ea typeface="Meiryo" charset="0"/>
                        <a:cs typeface="Meiryo"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1A1A"/>
                          </a:solidFill>
                          <a:latin typeface="Meiryo" pitchFamily="34" charset="0"/>
                          <a:ea typeface="Meiryo" pitchFamily="34" charset="-122"/>
                          <a:cs typeface="Meiryo" pitchFamily="34" charset="-120"/>
                        </a:rPr>
                        <a:t>240億円</a:t>
                      </a:r>
                      <a:endParaRPr lang="en-US" sz="1150" dirty="0">
                        <a:latin typeface="Meiryo" charset="0"/>
                        <a:ea typeface="Meiryo" charset="0"/>
                        <a:cs typeface="Meiryo"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292608">
                <a:tc>
                  <a:txBody>
                    <a:bodyPr/>
                    <a:lstStyle/>
                    <a:p>
                      <a:pPr algn="ctr" indent="0" marL="0">
                        <a:buNone/>
                      </a:pPr>
                      <a:r>
                        <a:rPr lang="en-US" sz="1150" dirty="0">
                          <a:solidFill>
                            <a:srgbClr val="1A1A1A"/>
                          </a:solidFill>
                          <a:latin typeface="Meiryo" pitchFamily="34" charset="0"/>
                          <a:ea typeface="Meiryo" pitchFamily="34" charset="-122"/>
                          <a:cs typeface="Meiryo" pitchFamily="34" charset="-120"/>
                        </a:rPr>
                        <a:t>2029/3期</a:t>
                      </a:r>
                      <a:endParaRPr lang="en-US" sz="1150" dirty="0">
                        <a:latin typeface="Meiryo" charset="0"/>
                        <a:ea typeface="Meiryo" charset="0"/>
                        <a:cs typeface="Meiryo"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1A1A"/>
                          </a:solidFill>
                          <a:latin typeface="Meiryo" pitchFamily="34" charset="0"/>
                          <a:ea typeface="Meiryo" pitchFamily="34" charset="-122"/>
                          <a:cs typeface="Meiryo" pitchFamily="34" charset="-120"/>
                        </a:rPr>
                        <a:t>285億円</a:t>
                      </a:r>
                      <a:endParaRPr lang="en-US" sz="1150" dirty="0">
                        <a:latin typeface="Meiryo" charset="0"/>
                        <a:ea typeface="Meiryo" charset="0"/>
                        <a:cs typeface="Meiryo"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1A1A"/>
                          </a:solidFill>
                          <a:latin typeface="Meiryo" pitchFamily="34" charset="0"/>
                          <a:ea typeface="Meiryo" pitchFamily="34" charset="-122"/>
                          <a:cs typeface="Meiryo" pitchFamily="34" charset="-120"/>
                        </a:rPr>
                        <a:t>65億円</a:t>
                      </a:r>
                      <a:endParaRPr lang="en-US" sz="1150" dirty="0">
                        <a:latin typeface="Meiryo" charset="0"/>
                        <a:ea typeface="Meiryo" charset="0"/>
                        <a:cs typeface="Meiryo"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1A1A"/>
                          </a:solidFill>
                          <a:latin typeface="Meiryo" pitchFamily="34" charset="0"/>
                          <a:ea typeface="Meiryo" pitchFamily="34" charset="-122"/>
                          <a:cs typeface="Meiryo" pitchFamily="34" charset="-120"/>
                        </a:rPr>
                        <a:t>260億円</a:t>
                      </a:r>
                      <a:endParaRPr lang="en-US" sz="1150" dirty="0">
                        <a:latin typeface="Meiryo" charset="0"/>
                        <a:ea typeface="Meiryo" charset="0"/>
                        <a:cs typeface="Meiryo"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bl>
          </a:graphicData>
        </a:graphic>
      </p:graphicFrame>
      <p:sp>
        <p:nvSpPr>
          <p:cNvPr id="22" name="Text 19"/>
          <p:cNvSpPr/>
          <p:nvPr/>
        </p:nvSpPr>
        <p:spPr>
          <a:xfrm>
            <a:off x="6537960" y="3063240"/>
            <a:ext cx="5212080" cy="320040"/>
          </a:xfrm>
          <a:prstGeom prst="rect">
            <a:avLst/>
          </a:prstGeom>
          <a:noFill/>
          <a:ln/>
        </p:spPr>
        <p:txBody>
          <a:bodyPr wrap="square" lIns="0" tIns="0" rIns="0" bIns="0" rtlCol="0" anchor="ctr"/>
          <a:lstStyle/>
          <a:p>
            <a:pPr indent="0" marL="0">
              <a:buNone/>
            </a:pPr>
            <a:r>
              <a:rPr lang="en-US" sz="1400" b="1" dirty="0">
                <a:solidFill>
                  <a:srgbClr val="1B2A4A"/>
                </a:solidFill>
                <a:latin typeface="Meiryo" pitchFamily="34" charset="0"/>
                <a:ea typeface="Meiryo" pitchFamily="34" charset="-122"/>
                <a:cs typeface="Meiryo" pitchFamily="34" charset="-120"/>
              </a:rPr>
              <a:t>C&amp;D営業利益：実績9.3億円からの利益成長コミット（億円）</a:t>
            </a:r>
            <a:endParaRPr lang="en-US" sz="1400" dirty="0"/>
          </a:p>
        </p:txBody>
      </p:sp>
      <p:graphicFrame>
        <p:nvGraphicFramePr>
          <p:cNvPr id="23" name="Chart 0" descr=""/>
          <p:cNvGraphicFramePr/>
          <p:nvPr/>
        </p:nvGraphicFramePr>
        <p:xfrm>
          <a:off x="6537960" y="3429000"/>
          <a:ext cx="5193792" cy="2788920"/>
        </p:xfrm>
        <a:graphic xmlns:a="http://schemas.openxmlformats.org/drawingml/2006/main">
          <a:graphicData uri="http://schemas.openxmlformats.org/drawingml/2006/chart">
            <c:chart xmlns:c="http://schemas.openxmlformats.org/drawingml/2006/chart" r:id="rId1"/>
          </a:graphicData>
        </a:graphic>
      </p:graphicFrame>
      <p:sp>
        <p:nvSpPr>
          <p:cNvPr id="24" name="Text 20"/>
          <p:cNvSpPr/>
          <p:nvPr/>
        </p:nvSpPr>
        <p:spPr>
          <a:xfrm>
            <a:off x="6537960" y="6263640"/>
            <a:ext cx="5193792" cy="320040"/>
          </a:xfrm>
          <a:prstGeom prst="rect">
            <a:avLst/>
          </a:prstGeom>
          <a:noFill/>
          <a:ln/>
        </p:spPr>
        <p:txBody>
          <a:bodyPr wrap="square" lIns="0" tIns="0" rIns="0" bIns="0" rtlCol="0" anchor="ctr"/>
          <a:lstStyle/>
          <a:p>
            <a:pPr indent="0" marL="0">
              <a:buNone/>
            </a:pPr>
            <a:r>
              <a:rPr lang="en-US" sz="1200" b="1" dirty="0">
                <a:solidFill>
                  <a:srgbClr val="C8102E"/>
                </a:solidFill>
                <a:latin typeface="Meiryo" pitchFamily="34" charset="0"/>
                <a:ea typeface="Meiryo" pitchFamily="34" charset="-122"/>
                <a:cs typeface="Meiryo" pitchFamily="34" charset="-120"/>
              </a:rPr>
              <a:t>部長陣は、この利益成長を支える実行主体である。</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686800" cy="548640"/>
          </a:xfrm>
          <a:prstGeom prst="rect">
            <a:avLst/>
          </a:prstGeom>
          <a:noFill/>
          <a:ln/>
        </p:spPr>
        <p:txBody>
          <a:bodyPr wrap="square" lIns="0" tIns="0" rIns="0" bIns="0" rtlCol="0" anchor="ctr"/>
          <a:lstStyle/>
          <a:p>
            <a:pPr indent="0" marL="0">
              <a:buNone/>
            </a:pPr>
            <a:r>
              <a:rPr lang="en-US" sz="2600" b="1" dirty="0">
                <a:solidFill>
                  <a:srgbClr val="1B2A4A"/>
                </a:solidFill>
                <a:latin typeface="Meiryo" pitchFamily="34" charset="0"/>
                <a:ea typeface="Meiryo" pitchFamily="34" charset="-122"/>
                <a:cs typeface="Meiryo" pitchFamily="34" charset="-120"/>
              </a:rPr>
              <a:t>2｜なぜ「今」が極めて重要なのか</a:t>
            </a:r>
            <a:endParaRPr lang="en-US" sz="2600" dirty="0"/>
          </a:p>
        </p:txBody>
      </p:sp>
      <p:sp>
        <p:nvSpPr>
          <p:cNvPr id="3" name="Text 1"/>
          <p:cNvSpPr/>
          <p:nvPr/>
        </p:nvSpPr>
        <p:spPr>
          <a:xfrm>
            <a:off x="457200" y="868680"/>
            <a:ext cx="10972800" cy="320040"/>
          </a:xfrm>
          <a:prstGeom prst="rect">
            <a:avLst/>
          </a:prstGeom>
          <a:noFill/>
          <a:ln/>
        </p:spPr>
        <p:txBody>
          <a:bodyPr wrap="square" lIns="0" tIns="0" rIns="0" bIns="0" rtlCol="0" anchor="ctr"/>
          <a:lstStyle/>
          <a:p>
            <a:pPr indent="0" marL="0">
              <a:buNone/>
            </a:pPr>
            <a:r>
              <a:rPr lang="en-US" sz="1250" dirty="0">
                <a:solidFill>
                  <a:srgbClr val="5A6472"/>
                </a:solidFill>
                <a:latin typeface="Meiryo" pitchFamily="34" charset="0"/>
                <a:ea typeface="Meiryo" pitchFamily="34" charset="-122"/>
                <a:cs typeface="Meiryo" pitchFamily="34" charset="-120"/>
              </a:rPr>
              <a:t>上方修正後の局面を、5つの経営論点で捉える</a:t>
            </a:r>
            <a:endParaRPr lang="en-US" sz="1250" dirty="0"/>
          </a:p>
        </p:txBody>
      </p:sp>
      <p:sp>
        <p:nvSpPr>
          <p:cNvPr id="4" name="Shape 2"/>
          <p:cNvSpPr/>
          <p:nvPr/>
        </p:nvSpPr>
        <p:spPr>
          <a:xfrm>
            <a:off x="457200" y="1380744"/>
            <a:ext cx="475488" cy="475488"/>
          </a:xfrm>
          <a:prstGeom prst="ellipse">
            <a:avLst/>
          </a:prstGeom>
          <a:solidFill>
            <a:srgbClr val="1B2A4A"/>
          </a:solidFill>
          <a:ln/>
        </p:spPr>
      </p:sp>
      <p:sp>
        <p:nvSpPr>
          <p:cNvPr id="5" name="Text 3"/>
          <p:cNvSpPr/>
          <p:nvPr/>
        </p:nvSpPr>
        <p:spPr>
          <a:xfrm>
            <a:off x="457200" y="1380744"/>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1</a:t>
            </a:r>
            <a:endParaRPr lang="en-US" sz="1800" dirty="0"/>
          </a:p>
        </p:txBody>
      </p:sp>
      <p:sp>
        <p:nvSpPr>
          <p:cNvPr id="6" name="Text 4"/>
          <p:cNvSpPr/>
          <p:nvPr/>
        </p:nvSpPr>
        <p:spPr>
          <a:xfrm>
            <a:off x="1143000" y="1325880"/>
            <a:ext cx="10561320" cy="310896"/>
          </a:xfrm>
          <a:prstGeom prst="rect">
            <a:avLst/>
          </a:prstGeom>
          <a:noFill/>
          <a:ln/>
        </p:spPr>
        <p:txBody>
          <a:bodyPr wrap="square" lIns="0" tIns="0" rIns="0" bIns="0" rtlCol="0" anchor="t"/>
          <a:lstStyle/>
          <a:p>
            <a:pPr indent="0" marL="0">
              <a:buNone/>
            </a:pPr>
            <a:r>
              <a:rPr lang="en-US" sz="1550" b="1" dirty="0">
                <a:solidFill>
                  <a:srgbClr val="1B2A4A"/>
                </a:solidFill>
                <a:latin typeface="Meiryo" pitchFamily="34" charset="0"/>
                <a:ea typeface="Meiryo" pitchFamily="34" charset="-122"/>
                <a:cs typeface="Meiryo" pitchFamily="34" charset="-120"/>
              </a:rPr>
              <a:t>市場への約束が、社内目標を上回る拘束力を持った</a:t>
            </a:r>
            <a:endParaRPr lang="en-US" sz="1550" dirty="0"/>
          </a:p>
        </p:txBody>
      </p:sp>
      <p:sp>
        <p:nvSpPr>
          <p:cNvPr id="7" name="Text 5"/>
          <p:cNvSpPr/>
          <p:nvPr/>
        </p:nvSpPr>
        <p:spPr>
          <a:xfrm>
            <a:off x="1143000" y="1645920"/>
            <a:ext cx="10561320" cy="530352"/>
          </a:xfrm>
          <a:prstGeom prst="rect">
            <a:avLst/>
          </a:prstGeom>
          <a:noFill/>
          <a:ln/>
        </p:spPr>
        <p:txBody>
          <a:bodyPr wrap="square" lIns="0" tIns="0" rIns="0" bIns="0" rtlCol="0" anchor="t"/>
          <a:lstStyle/>
          <a:p>
            <a:pPr indent="0" marL="0">
              <a:lnSpc>
                <a:spcPct val="115000"/>
              </a:lnSpc>
              <a:buNone/>
            </a:pPr>
            <a:r>
              <a:rPr lang="en-US" sz="1150" dirty="0">
                <a:solidFill>
                  <a:srgbClr val="5A6472"/>
                </a:solidFill>
                <a:latin typeface="Meiryo" pitchFamily="34" charset="0"/>
                <a:ea typeface="Meiryo" pitchFamily="34" charset="-122"/>
                <a:cs typeface="Meiryo" pitchFamily="34" charset="-120"/>
              </a:rPr>
              <a:t>45→55→65億円は外部公表した利益計画。投資家は「何をしたか」ではなく「計画に対し何億円進んだか」を確認する。一部門の遅れが連結業績・配当・企業価値に波及する。</a:t>
            </a:r>
            <a:endParaRPr lang="en-US" sz="1150" dirty="0"/>
          </a:p>
        </p:txBody>
      </p:sp>
      <p:sp>
        <p:nvSpPr>
          <p:cNvPr id="8" name="Shape 6"/>
          <p:cNvSpPr/>
          <p:nvPr/>
        </p:nvSpPr>
        <p:spPr>
          <a:xfrm>
            <a:off x="457200" y="2276856"/>
            <a:ext cx="475488" cy="475488"/>
          </a:xfrm>
          <a:prstGeom prst="ellipse">
            <a:avLst/>
          </a:prstGeom>
          <a:solidFill>
            <a:srgbClr val="1B2A4A"/>
          </a:solidFill>
          <a:ln/>
        </p:spPr>
      </p:sp>
      <p:sp>
        <p:nvSpPr>
          <p:cNvPr id="9" name="Text 7"/>
          <p:cNvSpPr/>
          <p:nvPr/>
        </p:nvSpPr>
        <p:spPr>
          <a:xfrm>
            <a:off x="457200" y="227685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2</a:t>
            </a:r>
            <a:endParaRPr lang="en-US" sz="1800" dirty="0"/>
          </a:p>
        </p:txBody>
      </p:sp>
      <p:sp>
        <p:nvSpPr>
          <p:cNvPr id="10" name="Text 8"/>
          <p:cNvSpPr/>
          <p:nvPr/>
        </p:nvSpPr>
        <p:spPr>
          <a:xfrm>
            <a:off x="1143000" y="2221992"/>
            <a:ext cx="10561320" cy="310896"/>
          </a:xfrm>
          <a:prstGeom prst="rect">
            <a:avLst/>
          </a:prstGeom>
          <a:noFill/>
          <a:ln/>
        </p:spPr>
        <p:txBody>
          <a:bodyPr wrap="square" lIns="0" tIns="0" rIns="0" bIns="0" rtlCol="0" anchor="t"/>
          <a:lstStyle/>
          <a:p>
            <a:pPr indent="0" marL="0">
              <a:buNone/>
            </a:pPr>
            <a:r>
              <a:rPr lang="en-US" sz="1550" b="1" dirty="0">
                <a:solidFill>
                  <a:srgbClr val="1B2A4A"/>
                </a:solidFill>
                <a:latin typeface="Meiryo" pitchFamily="34" charset="0"/>
                <a:ea typeface="Meiryo" pitchFamily="34" charset="-122"/>
                <a:cs typeface="Meiryo" pitchFamily="34" charset="-120"/>
              </a:rPr>
              <a:t>評価軸が「コスト改革」から「成長改革」へ変わった</a:t>
            </a:r>
            <a:endParaRPr lang="en-US" sz="1550" dirty="0"/>
          </a:p>
        </p:txBody>
      </p:sp>
      <p:sp>
        <p:nvSpPr>
          <p:cNvPr id="11" name="Text 9"/>
          <p:cNvSpPr/>
          <p:nvPr/>
        </p:nvSpPr>
        <p:spPr>
          <a:xfrm>
            <a:off x="1143000" y="2542032"/>
            <a:ext cx="10561320" cy="530352"/>
          </a:xfrm>
          <a:prstGeom prst="rect">
            <a:avLst/>
          </a:prstGeom>
          <a:noFill/>
          <a:ln/>
        </p:spPr>
        <p:txBody>
          <a:bodyPr wrap="square" lIns="0" tIns="0" rIns="0" bIns="0" rtlCol="0" anchor="t"/>
          <a:lstStyle/>
          <a:p>
            <a:pPr indent="0" marL="0">
              <a:lnSpc>
                <a:spcPct val="115000"/>
              </a:lnSpc>
              <a:buNone/>
            </a:pPr>
            <a:r>
              <a:rPr lang="en-US" sz="1150" dirty="0">
                <a:solidFill>
                  <a:srgbClr val="5A6472"/>
                </a:solidFill>
                <a:latin typeface="Meiryo" pitchFamily="34" charset="0"/>
                <a:ea typeface="Meiryo" pitchFamily="34" charset="-122"/>
                <a:cs typeface="Meiryo" pitchFamily="34" charset="-120"/>
              </a:rPr>
              <a:t>今後問われるのは、費用を抑えたことではなく、売上・粗利・営業利益を増やしたこと。部門計画は「費用内で実行」から「投資対効果を伴う成長」へ切り替える。</a:t>
            </a:r>
            <a:endParaRPr lang="en-US" sz="1150" dirty="0"/>
          </a:p>
        </p:txBody>
      </p:sp>
      <p:sp>
        <p:nvSpPr>
          <p:cNvPr id="12" name="Shape 10"/>
          <p:cNvSpPr/>
          <p:nvPr/>
        </p:nvSpPr>
        <p:spPr>
          <a:xfrm>
            <a:off x="457200" y="3172968"/>
            <a:ext cx="475488" cy="475488"/>
          </a:xfrm>
          <a:prstGeom prst="ellipse">
            <a:avLst/>
          </a:prstGeom>
          <a:solidFill>
            <a:srgbClr val="1B2A4A"/>
          </a:solidFill>
          <a:ln/>
        </p:spPr>
      </p:sp>
      <p:sp>
        <p:nvSpPr>
          <p:cNvPr id="13" name="Text 11"/>
          <p:cNvSpPr/>
          <p:nvPr/>
        </p:nvSpPr>
        <p:spPr>
          <a:xfrm>
            <a:off x="457200" y="317296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3</a:t>
            </a:r>
            <a:endParaRPr lang="en-US" sz="1800" dirty="0"/>
          </a:p>
        </p:txBody>
      </p:sp>
      <p:sp>
        <p:nvSpPr>
          <p:cNvPr id="14" name="Text 12"/>
          <p:cNvSpPr/>
          <p:nvPr/>
        </p:nvSpPr>
        <p:spPr>
          <a:xfrm>
            <a:off x="1143000" y="3118104"/>
            <a:ext cx="10561320" cy="310896"/>
          </a:xfrm>
          <a:prstGeom prst="rect">
            <a:avLst/>
          </a:prstGeom>
          <a:noFill/>
          <a:ln/>
        </p:spPr>
        <p:txBody>
          <a:bodyPr wrap="square" lIns="0" tIns="0" rIns="0" bIns="0" rtlCol="0" anchor="t"/>
          <a:lstStyle/>
          <a:p>
            <a:pPr indent="0" marL="0">
              <a:buNone/>
            </a:pPr>
            <a:r>
              <a:rPr lang="en-US" sz="1550" b="1" dirty="0">
                <a:solidFill>
                  <a:srgbClr val="1B2A4A"/>
                </a:solidFill>
                <a:latin typeface="Meiryo" pitchFamily="34" charset="0"/>
                <a:ea typeface="Meiryo" pitchFamily="34" charset="-122"/>
                <a:cs typeface="Meiryo" pitchFamily="34" charset="-120"/>
              </a:rPr>
              <a:t>営業改革が会社の公式戦略になった</a:t>
            </a:r>
            <a:endParaRPr lang="en-US" sz="1550" dirty="0"/>
          </a:p>
        </p:txBody>
      </p:sp>
      <p:sp>
        <p:nvSpPr>
          <p:cNvPr id="15" name="Text 13"/>
          <p:cNvSpPr/>
          <p:nvPr/>
        </p:nvSpPr>
        <p:spPr>
          <a:xfrm>
            <a:off x="1143000" y="3438144"/>
            <a:ext cx="10561320" cy="530352"/>
          </a:xfrm>
          <a:prstGeom prst="rect">
            <a:avLst/>
          </a:prstGeom>
          <a:noFill/>
          <a:ln/>
        </p:spPr>
        <p:txBody>
          <a:bodyPr wrap="square" lIns="0" tIns="0" rIns="0" bIns="0" rtlCol="0" anchor="t"/>
          <a:lstStyle/>
          <a:p>
            <a:pPr indent="0" marL="0">
              <a:lnSpc>
                <a:spcPct val="115000"/>
              </a:lnSpc>
              <a:buNone/>
            </a:pPr>
            <a:r>
              <a:rPr lang="en-US" sz="1150" dirty="0">
                <a:solidFill>
                  <a:srgbClr val="5A6472"/>
                </a:solidFill>
                <a:latin typeface="Meiryo" pitchFamily="34" charset="0"/>
                <a:ea typeface="Meiryo" pitchFamily="34" charset="-122"/>
                <a:cs typeface="Meiryo" pitchFamily="34" charset="-120"/>
              </a:rPr>
              <a:t>個別案件対応型からアカウント型営業への転換を公表。映像・MD・イベント・デジタルを組み合わせた複合提案は、商品・監修・法務・財務を束ねる全社横断課題である。</a:t>
            </a:r>
            <a:endParaRPr lang="en-US" sz="1150" dirty="0"/>
          </a:p>
        </p:txBody>
      </p:sp>
      <p:sp>
        <p:nvSpPr>
          <p:cNvPr id="16" name="Shape 14"/>
          <p:cNvSpPr/>
          <p:nvPr/>
        </p:nvSpPr>
        <p:spPr>
          <a:xfrm>
            <a:off x="457200" y="4069080"/>
            <a:ext cx="475488" cy="475488"/>
          </a:xfrm>
          <a:prstGeom prst="ellipse">
            <a:avLst/>
          </a:prstGeom>
          <a:solidFill>
            <a:srgbClr val="1B2A4A"/>
          </a:solidFill>
          <a:ln/>
        </p:spPr>
      </p:sp>
      <p:sp>
        <p:nvSpPr>
          <p:cNvPr id="17" name="Text 15"/>
          <p:cNvSpPr/>
          <p:nvPr/>
        </p:nvSpPr>
        <p:spPr>
          <a:xfrm>
            <a:off x="457200" y="4069080"/>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4</a:t>
            </a:r>
            <a:endParaRPr lang="en-US" sz="1800" dirty="0"/>
          </a:p>
        </p:txBody>
      </p:sp>
      <p:sp>
        <p:nvSpPr>
          <p:cNvPr id="18" name="Text 16"/>
          <p:cNvSpPr/>
          <p:nvPr/>
        </p:nvSpPr>
        <p:spPr>
          <a:xfrm>
            <a:off x="1143000" y="4014216"/>
            <a:ext cx="10561320" cy="310896"/>
          </a:xfrm>
          <a:prstGeom prst="rect">
            <a:avLst/>
          </a:prstGeom>
          <a:noFill/>
          <a:ln/>
        </p:spPr>
        <p:txBody>
          <a:bodyPr wrap="square" lIns="0" tIns="0" rIns="0" bIns="0" rtlCol="0" anchor="t"/>
          <a:lstStyle/>
          <a:p>
            <a:pPr indent="0" marL="0">
              <a:buNone/>
            </a:pPr>
            <a:r>
              <a:rPr lang="en-US" sz="1550" b="1" dirty="0">
                <a:solidFill>
                  <a:srgbClr val="1B2A4A"/>
                </a:solidFill>
                <a:latin typeface="Meiryo" pitchFamily="34" charset="0"/>
                <a:ea typeface="Meiryo" pitchFamily="34" charset="-122"/>
                <a:cs typeface="Meiryo" pitchFamily="34" charset="-120"/>
              </a:rPr>
              <a:t>中国の成功を国内へ移植できるかが次の評価分岐点</a:t>
            </a:r>
            <a:endParaRPr lang="en-US" sz="1550" dirty="0"/>
          </a:p>
        </p:txBody>
      </p:sp>
      <p:sp>
        <p:nvSpPr>
          <p:cNvPr id="19" name="Text 17"/>
          <p:cNvSpPr/>
          <p:nvPr/>
        </p:nvSpPr>
        <p:spPr>
          <a:xfrm>
            <a:off x="1143000" y="4334256"/>
            <a:ext cx="10561320" cy="530352"/>
          </a:xfrm>
          <a:prstGeom prst="rect">
            <a:avLst/>
          </a:prstGeom>
          <a:noFill/>
          <a:ln/>
        </p:spPr>
        <p:txBody>
          <a:bodyPr wrap="square" lIns="0" tIns="0" rIns="0" bIns="0" rtlCol="0" anchor="t"/>
          <a:lstStyle/>
          <a:p>
            <a:pPr indent="0" marL="0">
              <a:lnSpc>
                <a:spcPct val="115000"/>
              </a:lnSpc>
              <a:buNone/>
            </a:pPr>
            <a:r>
              <a:rPr lang="en-US" sz="1150" dirty="0">
                <a:solidFill>
                  <a:srgbClr val="5A6472"/>
                </a:solidFill>
                <a:latin typeface="Meiryo" pitchFamily="34" charset="0"/>
                <a:ea typeface="Meiryo" pitchFamily="34" charset="-122"/>
                <a:cs typeface="Meiryo" pitchFamily="34" charset="-120"/>
              </a:rPr>
              <a:t>中国はトイ&amp;ホビー中心に回復基調。ただし中計の中心テーマは日本事業の立て直し。重点顧客・カテゴリー細分化・SNS需要創出・商品高速開発を国内で実装する必要がある。</a:t>
            </a:r>
            <a:endParaRPr lang="en-US" sz="1150" dirty="0"/>
          </a:p>
        </p:txBody>
      </p:sp>
      <p:sp>
        <p:nvSpPr>
          <p:cNvPr id="20" name="Shape 18"/>
          <p:cNvSpPr/>
          <p:nvPr/>
        </p:nvSpPr>
        <p:spPr>
          <a:xfrm>
            <a:off x="457200" y="4965192"/>
            <a:ext cx="475488" cy="475488"/>
          </a:xfrm>
          <a:prstGeom prst="ellipse">
            <a:avLst/>
          </a:prstGeom>
          <a:solidFill>
            <a:srgbClr val="C8102E"/>
          </a:solidFill>
          <a:ln/>
        </p:spPr>
      </p:sp>
      <p:sp>
        <p:nvSpPr>
          <p:cNvPr id="21" name="Text 19"/>
          <p:cNvSpPr/>
          <p:nvPr/>
        </p:nvSpPr>
        <p:spPr>
          <a:xfrm>
            <a:off x="457200" y="4965192"/>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5</a:t>
            </a:r>
            <a:endParaRPr lang="en-US" sz="1800" dirty="0"/>
          </a:p>
        </p:txBody>
      </p:sp>
      <p:sp>
        <p:nvSpPr>
          <p:cNvPr id="22" name="Text 20"/>
          <p:cNvSpPr/>
          <p:nvPr/>
        </p:nvSpPr>
        <p:spPr>
          <a:xfrm>
            <a:off x="1143000" y="4910328"/>
            <a:ext cx="10561320" cy="310896"/>
          </a:xfrm>
          <a:prstGeom prst="rect">
            <a:avLst/>
          </a:prstGeom>
          <a:noFill/>
          <a:ln/>
        </p:spPr>
        <p:txBody>
          <a:bodyPr wrap="square" lIns="0" tIns="0" rIns="0" bIns="0" rtlCol="0" anchor="t"/>
          <a:lstStyle/>
          <a:p>
            <a:pPr indent="0" marL="0">
              <a:buNone/>
            </a:pPr>
            <a:r>
              <a:rPr lang="en-US" sz="1550" b="1" dirty="0">
                <a:solidFill>
                  <a:srgbClr val="1B2A4A"/>
                </a:solidFill>
                <a:latin typeface="Meiryo" pitchFamily="34" charset="0"/>
                <a:ea typeface="Meiryo" pitchFamily="34" charset="-122"/>
                <a:cs typeface="Meiryo" pitchFamily="34" charset="-120"/>
              </a:rPr>
              <a:t>還元拡大により、継続利益への責任が強まった</a:t>
            </a:r>
            <a:endParaRPr lang="en-US" sz="1550" dirty="0"/>
          </a:p>
        </p:txBody>
      </p:sp>
      <p:sp>
        <p:nvSpPr>
          <p:cNvPr id="23" name="Text 21"/>
          <p:cNvSpPr/>
          <p:nvPr/>
        </p:nvSpPr>
        <p:spPr>
          <a:xfrm>
            <a:off x="1143000" y="5230368"/>
            <a:ext cx="10561320" cy="530352"/>
          </a:xfrm>
          <a:prstGeom prst="rect">
            <a:avLst/>
          </a:prstGeom>
          <a:noFill/>
          <a:ln/>
        </p:spPr>
        <p:txBody>
          <a:bodyPr wrap="square" lIns="0" tIns="0" rIns="0" bIns="0" rtlCol="0" anchor="t"/>
          <a:lstStyle/>
          <a:p>
            <a:pPr indent="0" marL="0">
              <a:lnSpc>
                <a:spcPct val="115000"/>
              </a:lnSpc>
              <a:buNone/>
            </a:pPr>
            <a:r>
              <a:rPr lang="en-US" sz="1150" dirty="0">
                <a:solidFill>
                  <a:srgbClr val="5A6472"/>
                </a:solidFill>
                <a:latin typeface="Meiryo" pitchFamily="34" charset="0"/>
                <a:ea typeface="Meiryo" pitchFamily="34" charset="-122"/>
                <a:cs typeface="Meiryo" pitchFamily="34" charset="-120"/>
              </a:rPr>
              <a:t>年間配当を70円→140円へ引き上げ、来期以降も中間配当を継続予定。株主還元を支えるのは一過性利益ではなく継続的な営業キャッシュフロー。利益品質が直接問われる。</a:t>
            </a:r>
            <a:endParaRPr lang="en-US" sz="1150" dirty="0"/>
          </a:p>
        </p:txBody>
      </p:sp>
      <p:sp>
        <p:nvSpPr>
          <p:cNvPr id="24" name="Shape 22"/>
          <p:cNvSpPr/>
          <p:nvPr/>
        </p:nvSpPr>
        <p:spPr>
          <a:xfrm>
            <a:off x="457200" y="5897880"/>
            <a:ext cx="11274552" cy="640080"/>
          </a:xfrm>
          <a:prstGeom prst="roundRect">
            <a:avLst>
              <a:gd name="adj" fmla="val 8571"/>
            </a:avLst>
          </a:prstGeom>
          <a:solidFill>
            <a:srgbClr val="1B2A4A"/>
          </a:solidFill>
          <a:ln/>
        </p:spPr>
      </p:sp>
      <p:sp>
        <p:nvSpPr>
          <p:cNvPr id="25" name="Text 23"/>
          <p:cNvSpPr/>
          <p:nvPr/>
        </p:nvSpPr>
        <p:spPr>
          <a:xfrm>
            <a:off x="777240" y="5897880"/>
            <a:ext cx="10698480" cy="640080"/>
          </a:xfrm>
          <a:prstGeom prst="rect">
            <a:avLst/>
          </a:prstGeom>
          <a:noFill/>
          <a:ln/>
        </p:spPr>
        <p:txBody>
          <a:bodyPr wrap="square" lIns="0" tIns="0" rIns="0" bIns="0" rtlCol="0" anchor="ctr"/>
          <a:lstStyle/>
          <a:p>
            <a:pPr indent="0" marL="0">
              <a:buNone/>
            </a:pPr>
            <a:r>
              <a:rPr lang="en-US" sz="1350" b="1" dirty="0">
                <a:solidFill>
                  <a:srgbClr val="FF7A85"/>
                </a:solidFill>
                <a:latin typeface="Meiryo" pitchFamily="34" charset="0"/>
                <a:ea typeface="Meiryo" pitchFamily="34" charset="-122"/>
                <a:cs typeface="Meiryo" pitchFamily="34" charset="-120"/>
              </a:rPr>
              <a:t>この局面の本質　</a:t>
            </a:r>
            <a:pPr indent="0" marL="0">
              <a:buNone/>
            </a:pPr>
            <a:r>
              <a:rPr lang="en-US" sz="1350" b="1" dirty="0">
                <a:solidFill>
                  <a:srgbClr val="FFFFFF"/>
                </a:solidFill>
                <a:latin typeface="Meiryo" pitchFamily="34" charset="0"/>
                <a:ea typeface="Meiryo" pitchFamily="34" charset="-122"/>
                <a:cs typeface="Meiryo" pitchFamily="34" charset="-120"/>
              </a:rPr>
              <a:t>今後6〜12か月が、C&amp;D事業の評価を「回復」から「成長」へ変えられるかを決める。</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686800" cy="548640"/>
          </a:xfrm>
          <a:prstGeom prst="rect">
            <a:avLst/>
          </a:prstGeom>
          <a:noFill/>
          <a:ln/>
        </p:spPr>
        <p:txBody>
          <a:bodyPr wrap="square" lIns="0" tIns="0" rIns="0" bIns="0" rtlCol="0" anchor="ctr"/>
          <a:lstStyle/>
          <a:p>
            <a:pPr indent="0" marL="0">
              <a:buNone/>
            </a:pPr>
            <a:r>
              <a:rPr lang="en-US" sz="2600" b="1" dirty="0">
                <a:solidFill>
                  <a:srgbClr val="1B2A4A"/>
                </a:solidFill>
                <a:latin typeface="Meiryo" pitchFamily="34" charset="0"/>
                <a:ea typeface="Meiryo" pitchFamily="34" charset="-122"/>
                <a:cs typeface="Meiryo" pitchFamily="34" charset="-120"/>
              </a:rPr>
              <a:t>3｜部長陣に求める5つの実行責任</a:t>
            </a:r>
            <a:endParaRPr lang="en-US" sz="2600" dirty="0"/>
          </a:p>
        </p:txBody>
      </p:sp>
      <p:sp>
        <p:nvSpPr>
          <p:cNvPr id="3" name="Text 1"/>
          <p:cNvSpPr/>
          <p:nvPr/>
        </p:nvSpPr>
        <p:spPr>
          <a:xfrm>
            <a:off x="457200" y="868680"/>
            <a:ext cx="10972800" cy="320040"/>
          </a:xfrm>
          <a:prstGeom prst="rect">
            <a:avLst/>
          </a:prstGeom>
          <a:noFill/>
          <a:ln/>
        </p:spPr>
        <p:txBody>
          <a:bodyPr wrap="square" lIns="0" tIns="0" rIns="0" bIns="0" rtlCol="0" anchor="ctr"/>
          <a:lstStyle/>
          <a:p>
            <a:pPr indent="0" marL="0">
              <a:buNone/>
            </a:pPr>
            <a:r>
              <a:rPr lang="en-US" sz="1250" dirty="0">
                <a:solidFill>
                  <a:srgbClr val="5A6472"/>
                </a:solidFill>
                <a:latin typeface="Meiryo" pitchFamily="34" charset="0"/>
                <a:ea typeface="Meiryo" pitchFamily="34" charset="-122"/>
                <a:cs typeface="Meiryo" pitchFamily="34" charset="-120"/>
              </a:rPr>
              <a:t>すべてを営業利益と実行速度で管理する</a:t>
            </a:r>
            <a:endParaRPr lang="en-US" sz="1250" dirty="0"/>
          </a:p>
        </p:txBody>
      </p:sp>
      <p:sp>
        <p:nvSpPr>
          <p:cNvPr id="4" name="Shape 2"/>
          <p:cNvSpPr/>
          <p:nvPr/>
        </p:nvSpPr>
        <p:spPr>
          <a:xfrm>
            <a:off x="457200" y="1371600"/>
            <a:ext cx="3758184" cy="1965960"/>
          </a:xfrm>
          <a:prstGeom prst="roundRect">
            <a:avLst>
              <a:gd name="adj" fmla="val 2791"/>
            </a:avLst>
          </a:prstGeom>
          <a:solidFill>
            <a:srgbClr val="F2F4F8"/>
          </a:solidFill>
          <a:ln/>
        </p:spPr>
      </p:sp>
      <p:sp>
        <p:nvSpPr>
          <p:cNvPr id="5" name="Shape 3"/>
          <p:cNvSpPr/>
          <p:nvPr/>
        </p:nvSpPr>
        <p:spPr>
          <a:xfrm>
            <a:off x="658368" y="1554480"/>
            <a:ext cx="384048" cy="384048"/>
          </a:xfrm>
          <a:prstGeom prst="ellipse">
            <a:avLst/>
          </a:prstGeom>
          <a:solidFill>
            <a:srgbClr val="1B2A4A"/>
          </a:solidFill>
          <a:ln/>
        </p:spPr>
      </p:sp>
      <p:sp>
        <p:nvSpPr>
          <p:cNvPr id="6" name="Text 4"/>
          <p:cNvSpPr/>
          <p:nvPr/>
        </p:nvSpPr>
        <p:spPr>
          <a:xfrm>
            <a:off x="658368" y="155448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1</a:t>
            </a:r>
            <a:endParaRPr lang="en-US" sz="1500" dirty="0"/>
          </a:p>
        </p:txBody>
      </p:sp>
      <p:sp>
        <p:nvSpPr>
          <p:cNvPr id="7" name="Text 5"/>
          <p:cNvSpPr/>
          <p:nvPr/>
        </p:nvSpPr>
        <p:spPr>
          <a:xfrm>
            <a:off x="1170432" y="1517904"/>
            <a:ext cx="2862072" cy="777240"/>
          </a:xfrm>
          <a:prstGeom prst="rect">
            <a:avLst/>
          </a:prstGeom>
          <a:noFill/>
          <a:ln/>
        </p:spPr>
        <p:txBody>
          <a:bodyPr wrap="square" lIns="0" tIns="0" rIns="0" bIns="0" rtlCol="0" anchor="t"/>
          <a:lstStyle/>
          <a:p>
            <a:pPr indent="0" marL="0">
              <a:lnSpc>
                <a:spcPct val="110000"/>
              </a:lnSpc>
              <a:buNone/>
            </a:pPr>
            <a:r>
              <a:rPr lang="en-US" sz="1350" b="1" dirty="0">
                <a:solidFill>
                  <a:srgbClr val="1B2A4A"/>
                </a:solidFill>
                <a:latin typeface="Meiryo" pitchFamily="34" charset="0"/>
                <a:ea typeface="Meiryo" pitchFamily="34" charset="-122"/>
                <a:cs typeface="Meiryo" pitchFamily="34" charset="-120"/>
              </a:rPr>
              <a:t>部門計画を「営業利益ブリッジ」へ</a:t>
            </a:r>
            <a:endParaRPr lang="en-US" sz="1350" dirty="0"/>
          </a:p>
        </p:txBody>
      </p:sp>
      <p:sp>
        <p:nvSpPr>
          <p:cNvPr id="8" name="Text 6"/>
          <p:cNvSpPr/>
          <p:nvPr/>
        </p:nvSpPr>
        <p:spPr>
          <a:xfrm>
            <a:off x="685800" y="2304288"/>
            <a:ext cx="3300984" cy="914400"/>
          </a:xfrm>
          <a:prstGeom prst="rect">
            <a:avLst/>
          </a:prstGeom>
          <a:noFill/>
          <a:ln/>
        </p:spPr>
        <p:txBody>
          <a:bodyPr wrap="square" lIns="0" tIns="0" rIns="0" bIns="0" rtlCol="0" anchor="t"/>
          <a:lstStyle/>
          <a:p>
            <a:pPr indent="0" marL="0">
              <a:lnSpc>
                <a:spcPct val="120000"/>
              </a:lnSpc>
              <a:buNone/>
            </a:pPr>
            <a:r>
              <a:rPr lang="en-US" sz="1100" dirty="0">
                <a:solidFill>
                  <a:srgbClr val="1A1A1A"/>
                </a:solidFill>
                <a:latin typeface="Meiryo" pitchFamily="34" charset="0"/>
                <a:ea typeface="Meiryo" pitchFamily="34" charset="-122"/>
                <a:cs typeface="Meiryo" pitchFamily="34" charset="-120"/>
              </a:rPr>
              <a:t>売上・粗利・費用・利益寄与を施策別に説明。一過性／翌期継続／複数年を必ず区分する。</a:t>
            </a:r>
            <a:endParaRPr lang="en-US" sz="1100" dirty="0"/>
          </a:p>
        </p:txBody>
      </p:sp>
      <p:sp>
        <p:nvSpPr>
          <p:cNvPr id="9" name="Shape 7"/>
          <p:cNvSpPr/>
          <p:nvPr/>
        </p:nvSpPr>
        <p:spPr>
          <a:xfrm>
            <a:off x="4315968" y="1371600"/>
            <a:ext cx="3758184" cy="1965960"/>
          </a:xfrm>
          <a:prstGeom prst="roundRect">
            <a:avLst>
              <a:gd name="adj" fmla="val 2791"/>
            </a:avLst>
          </a:prstGeom>
          <a:solidFill>
            <a:srgbClr val="F2F4F8"/>
          </a:solidFill>
          <a:ln/>
        </p:spPr>
      </p:sp>
      <p:sp>
        <p:nvSpPr>
          <p:cNvPr id="10" name="Shape 8"/>
          <p:cNvSpPr/>
          <p:nvPr/>
        </p:nvSpPr>
        <p:spPr>
          <a:xfrm>
            <a:off x="4517136" y="1554480"/>
            <a:ext cx="384048" cy="384048"/>
          </a:xfrm>
          <a:prstGeom prst="ellipse">
            <a:avLst/>
          </a:prstGeom>
          <a:solidFill>
            <a:srgbClr val="1B2A4A"/>
          </a:solidFill>
          <a:ln/>
        </p:spPr>
      </p:sp>
      <p:sp>
        <p:nvSpPr>
          <p:cNvPr id="11" name="Text 9"/>
          <p:cNvSpPr/>
          <p:nvPr/>
        </p:nvSpPr>
        <p:spPr>
          <a:xfrm>
            <a:off x="4517136" y="155448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2</a:t>
            </a:r>
            <a:endParaRPr lang="en-US" sz="1500" dirty="0"/>
          </a:p>
        </p:txBody>
      </p:sp>
      <p:sp>
        <p:nvSpPr>
          <p:cNvPr id="12" name="Text 10"/>
          <p:cNvSpPr/>
          <p:nvPr/>
        </p:nvSpPr>
        <p:spPr>
          <a:xfrm>
            <a:off x="5029200" y="1517904"/>
            <a:ext cx="2862072" cy="777240"/>
          </a:xfrm>
          <a:prstGeom prst="rect">
            <a:avLst/>
          </a:prstGeom>
          <a:noFill/>
          <a:ln/>
        </p:spPr>
        <p:txBody>
          <a:bodyPr wrap="square" lIns="0" tIns="0" rIns="0" bIns="0" rtlCol="0" anchor="t"/>
          <a:lstStyle/>
          <a:p>
            <a:pPr indent="0" marL="0">
              <a:lnSpc>
                <a:spcPct val="110000"/>
              </a:lnSpc>
              <a:buNone/>
            </a:pPr>
            <a:r>
              <a:rPr lang="en-US" sz="1350" b="1" dirty="0">
                <a:solidFill>
                  <a:srgbClr val="1B2A4A"/>
                </a:solidFill>
                <a:latin typeface="Meiryo" pitchFamily="34" charset="0"/>
                <a:ea typeface="Meiryo" pitchFamily="34" charset="-122"/>
                <a:cs typeface="Meiryo" pitchFamily="34" charset="-120"/>
              </a:rPr>
              <a:t>パイプラインを確度×利益×計上時期で管理</a:t>
            </a:r>
            <a:endParaRPr lang="en-US" sz="1350" dirty="0"/>
          </a:p>
        </p:txBody>
      </p:sp>
      <p:sp>
        <p:nvSpPr>
          <p:cNvPr id="13" name="Text 11"/>
          <p:cNvSpPr/>
          <p:nvPr/>
        </p:nvSpPr>
        <p:spPr>
          <a:xfrm>
            <a:off x="4544568" y="2304288"/>
            <a:ext cx="3300984" cy="914400"/>
          </a:xfrm>
          <a:prstGeom prst="rect">
            <a:avLst/>
          </a:prstGeom>
          <a:noFill/>
          <a:ln/>
        </p:spPr>
        <p:txBody>
          <a:bodyPr wrap="square" lIns="0" tIns="0" rIns="0" bIns="0" rtlCol="0" anchor="t"/>
          <a:lstStyle/>
          <a:p>
            <a:pPr indent="0" marL="0">
              <a:lnSpc>
                <a:spcPct val="120000"/>
              </a:lnSpc>
              <a:buNone/>
            </a:pPr>
            <a:r>
              <a:rPr lang="en-US" sz="1100" dirty="0">
                <a:solidFill>
                  <a:srgbClr val="1A1A1A"/>
                </a:solidFill>
                <a:latin typeface="Meiryo" pitchFamily="34" charset="0"/>
                <a:ea typeface="Meiryo" pitchFamily="34" charset="-122"/>
                <a:cs typeface="Meiryo" pitchFamily="34" charset="-120"/>
              </a:rPr>
              <a:t>A契約済み／B高確度／C提案中／D構想。計画数字に入れるのはA・Bのみ。Cの受注確率を過大評価しない。</a:t>
            </a:r>
            <a:endParaRPr lang="en-US" sz="1100" dirty="0"/>
          </a:p>
        </p:txBody>
      </p:sp>
      <p:sp>
        <p:nvSpPr>
          <p:cNvPr id="14" name="Shape 12"/>
          <p:cNvSpPr/>
          <p:nvPr/>
        </p:nvSpPr>
        <p:spPr>
          <a:xfrm>
            <a:off x="8174736" y="1371600"/>
            <a:ext cx="3758184" cy="1965960"/>
          </a:xfrm>
          <a:prstGeom prst="roundRect">
            <a:avLst>
              <a:gd name="adj" fmla="val 2791"/>
            </a:avLst>
          </a:prstGeom>
          <a:solidFill>
            <a:srgbClr val="F2F4F8"/>
          </a:solidFill>
          <a:ln/>
        </p:spPr>
      </p:sp>
      <p:sp>
        <p:nvSpPr>
          <p:cNvPr id="15" name="Shape 13"/>
          <p:cNvSpPr/>
          <p:nvPr/>
        </p:nvSpPr>
        <p:spPr>
          <a:xfrm>
            <a:off x="8375904" y="1554480"/>
            <a:ext cx="384048" cy="384048"/>
          </a:xfrm>
          <a:prstGeom prst="ellipse">
            <a:avLst/>
          </a:prstGeom>
          <a:solidFill>
            <a:srgbClr val="1B2A4A"/>
          </a:solidFill>
          <a:ln/>
        </p:spPr>
      </p:sp>
      <p:sp>
        <p:nvSpPr>
          <p:cNvPr id="16" name="Text 14"/>
          <p:cNvSpPr/>
          <p:nvPr/>
        </p:nvSpPr>
        <p:spPr>
          <a:xfrm>
            <a:off x="8375904" y="155448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3</a:t>
            </a:r>
            <a:endParaRPr lang="en-US" sz="1500" dirty="0"/>
          </a:p>
        </p:txBody>
      </p:sp>
      <p:sp>
        <p:nvSpPr>
          <p:cNvPr id="17" name="Text 15"/>
          <p:cNvSpPr/>
          <p:nvPr/>
        </p:nvSpPr>
        <p:spPr>
          <a:xfrm>
            <a:off x="8887968" y="1517904"/>
            <a:ext cx="2862072" cy="777240"/>
          </a:xfrm>
          <a:prstGeom prst="rect">
            <a:avLst/>
          </a:prstGeom>
          <a:noFill/>
          <a:ln/>
        </p:spPr>
        <p:txBody>
          <a:bodyPr wrap="square" lIns="0" tIns="0" rIns="0" bIns="0" rtlCol="0" anchor="t"/>
          <a:lstStyle/>
          <a:p>
            <a:pPr indent="0" marL="0">
              <a:lnSpc>
                <a:spcPct val="110000"/>
              </a:lnSpc>
              <a:buNone/>
            </a:pPr>
            <a:r>
              <a:rPr lang="en-US" sz="1350" b="1" dirty="0">
                <a:solidFill>
                  <a:srgbClr val="1B2A4A"/>
                </a:solidFill>
                <a:latin typeface="Meiryo" pitchFamily="34" charset="0"/>
                <a:ea typeface="Meiryo" pitchFamily="34" charset="-122"/>
                <a:cs typeface="Meiryo" pitchFamily="34" charset="-120"/>
              </a:rPr>
              <a:t>既存深耕とTier1開拓を二層で</a:t>
            </a:r>
            <a:endParaRPr lang="en-US" sz="1350" dirty="0"/>
          </a:p>
        </p:txBody>
      </p:sp>
      <p:sp>
        <p:nvSpPr>
          <p:cNvPr id="18" name="Text 16"/>
          <p:cNvSpPr/>
          <p:nvPr/>
        </p:nvSpPr>
        <p:spPr>
          <a:xfrm>
            <a:off x="8403336" y="2304288"/>
            <a:ext cx="3300984" cy="914400"/>
          </a:xfrm>
          <a:prstGeom prst="rect">
            <a:avLst/>
          </a:prstGeom>
          <a:noFill/>
          <a:ln/>
        </p:spPr>
        <p:txBody>
          <a:bodyPr wrap="square" lIns="0" tIns="0" rIns="0" bIns="0" rtlCol="0" anchor="t"/>
          <a:lstStyle/>
          <a:p>
            <a:pPr indent="0" marL="0">
              <a:lnSpc>
                <a:spcPct val="120000"/>
              </a:lnSpc>
              <a:buNone/>
            </a:pPr>
            <a:r>
              <a:rPr lang="en-US" sz="1100" dirty="0">
                <a:solidFill>
                  <a:srgbClr val="1A1A1A"/>
                </a:solidFill>
                <a:latin typeface="Meiryo" pitchFamily="34" charset="0"/>
                <a:ea typeface="Meiryo" pitchFamily="34" charset="-122"/>
                <a:cs typeface="Meiryo" pitchFamily="34" charset="-120"/>
              </a:rPr>
              <a:t>短期は既存ライセンシーのSKU・販路・更新率拡大。中期はTier1企業への複合提案。既存増益を土台に大型案件を上乗せ。</a:t>
            </a:r>
            <a:endParaRPr lang="en-US" sz="1100" dirty="0"/>
          </a:p>
        </p:txBody>
      </p:sp>
      <p:sp>
        <p:nvSpPr>
          <p:cNvPr id="19" name="Shape 17"/>
          <p:cNvSpPr/>
          <p:nvPr/>
        </p:nvSpPr>
        <p:spPr>
          <a:xfrm>
            <a:off x="457200" y="3566160"/>
            <a:ext cx="3758184" cy="1965960"/>
          </a:xfrm>
          <a:prstGeom prst="roundRect">
            <a:avLst>
              <a:gd name="adj" fmla="val 2791"/>
            </a:avLst>
          </a:prstGeom>
          <a:solidFill>
            <a:srgbClr val="F2F4F8"/>
          </a:solidFill>
          <a:ln/>
        </p:spPr>
      </p:sp>
      <p:sp>
        <p:nvSpPr>
          <p:cNvPr id="20" name="Shape 18"/>
          <p:cNvSpPr/>
          <p:nvPr/>
        </p:nvSpPr>
        <p:spPr>
          <a:xfrm>
            <a:off x="658368" y="3749040"/>
            <a:ext cx="384048" cy="384048"/>
          </a:xfrm>
          <a:prstGeom prst="ellipse">
            <a:avLst/>
          </a:prstGeom>
          <a:solidFill>
            <a:srgbClr val="1B2A4A"/>
          </a:solidFill>
          <a:ln/>
        </p:spPr>
      </p:sp>
      <p:sp>
        <p:nvSpPr>
          <p:cNvPr id="21" name="Text 19"/>
          <p:cNvSpPr/>
          <p:nvPr/>
        </p:nvSpPr>
        <p:spPr>
          <a:xfrm>
            <a:off x="658368" y="37490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4</a:t>
            </a:r>
            <a:endParaRPr lang="en-US" sz="1500" dirty="0"/>
          </a:p>
        </p:txBody>
      </p:sp>
      <p:sp>
        <p:nvSpPr>
          <p:cNvPr id="22" name="Text 20"/>
          <p:cNvSpPr/>
          <p:nvPr/>
        </p:nvSpPr>
        <p:spPr>
          <a:xfrm>
            <a:off x="1170432" y="3712464"/>
            <a:ext cx="2862072" cy="777240"/>
          </a:xfrm>
          <a:prstGeom prst="rect">
            <a:avLst/>
          </a:prstGeom>
          <a:noFill/>
          <a:ln/>
        </p:spPr>
        <p:txBody>
          <a:bodyPr wrap="square" lIns="0" tIns="0" rIns="0" bIns="0" rtlCol="0" anchor="t"/>
          <a:lstStyle/>
          <a:p>
            <a:pPr indent="0" marL="0">
              <a:lnSpc>
                <a:spcPct val="110000"/>
              </a:lnSpc>
              <a:buNone/>
            </a:pPr>
            <a:r>
              <a:rPr lang="en-US" sz="1350" b="1" dirty="0">
                <a:solidFill>
                  <a:srgbClr val="1B2A4A"/>
                </a:solidFill>
                <a:latin typeface="Meiryo" pitchFamily="34" charset="0"/>
                <a:ea typeface="Meiryo" pitchFamily="34" charset="-122"/>
                <a:cs typeface="Meiryo" pitchFamily="34" charset="-120"/>
              </a:rPr>
              <a:t>契約・監修・制作のリードタイム短縮</a:t>
            </a:r>
            <a:endParaRPr lang="en-US" sz="1350" dirty="0"/>
          </a:p>
        </p:txBody>
      </p:sp>
      <p:sp>
        <p:nvSpPr>
          <p:cNvPr id="23" name="Text 21"/>
          <p:cNvSpPr/>
          <p:nvPr/>
        </p:nvSpPr>
        <p:spPr>
          <a:xfrm>
            <a:off x="685800" y="4498848"/>
            <a:ext cx="3300984" cy="914400"/>
          </a:xfrm>
          <a:prstGeom prst="rect">
            <a:avLst/>
          </a:prstGeom>
          <a:noFill/>
          <a:ln/>
        </p:spPr>
        <p:txBody>
          <a:bodyPr wrap="square" lIns="0" tIns="0" rIns="0" bIns="0" rtlCol="0" anchor="t"/>
          <a:lstStyle/>
          <a:p>
            <a:pPr indent="0" marL="0">
              <a:lnSpc>
                <a:spcPct val="120000"/>
              </a:lnSpc>
              <a:buNone/>
            </a:pPr>
            <a:r>
              <a:rPr lang="en-US" sz="1100" dirty="0">
                <a:solidFill>
                  <a:srgbClr val="1A1A1A"/>
                </a:solidFill>
                <a:latin typeface="Meiryo" pitchFamily="34" charset="0"/>
                <a:ea typeface="Meiryo" pitchFamily="34" charset="-122"/>
                <a:cs typeface="Meiryo" pitchFamily="34" charset="-120"/>
              </a:rPr>
              <a:t>案件は契約時点では利益ではない。契約審査日数・監修日数・滞留件数・発売延期額を週次で可視化する。</a:t>
            </a:r>
            <a:endParaRPr lang="en-US" sz="1100" dirty="0"/>
          </a:p>
        </p:txBody>
      </p:sp>
      <p:sp>
        <p:nvSpPr>
          <p:cNvPr id="24" name="Shape 22"/>
          <p:cNvSpPr/>
          <p:nvPr/>
        </p:nvSpPr>
        <p:spPr>
          <a:xfrm>
            <a:off x="4315968" y="3566160"/>
            <a:ext cx="3758184" cy="1965960"/>
          </a:xfrm>
          <a:prstGeom prst="roundRect">
            <a:avLst>
              <a:gd name="adj" fmla="val 2791"/>
            </a:avLst>
          </a:prstGeom>
          <a:solidFill>
            <a:srgbClr val="F2F4F8"/>
          </a:solidFill>
          <a:ln/>
        </p:spPr>
      </p:sp>
      <p:sp>
        <p:nvSpPr>
          <p:cNvPr id="25" name="Shape 23"/>
          <p:cNvSpPr/>
          <p:nvPr/>
        </p:nvSpPr>
        <p:spPr>
          <a:xfrm>
            <a:off x="4517136" y="3749040"/>
            <a:ext cx="384048" cy="384048"/>
          </a:xfrm>
          <a:prstGeom prst="ellipse">
            <a:avLst/>
          </a:prstGeom>
          <a:solidFill>
            <a:srgbClr val="1B2A4A"/>
          </a:solidFill>
          <a:ln/>
        </p:spPr>
      </p:sp>
      <p:sp>
        <p:nvSpPr>
          <p:cNvPr id="26" name="Text 24"/>
          <p:cNvSpPr/>
          <p:nvPr/>
        </p:nvSpPr>
        <p:spPr>
          <a:xfrm>
            <a:off x="4517136" y="37490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5</a:t>
            </a:r>
            <a:endParaRPr lang="en-US" sz="1500" dirty="0"/>
          </a:p>
        </p:txBody>
      </p:sp>
      <p:sp>
        <p:nvSpPr>
          <p:cNvPr id="27" name="Text 25"/>
          <p:cNvSpPr/>
          <p:nvPr/>
        </p:nvSpPr>
        <p:spPr>
          <a:xfrm>
            <a:off x="5029200" y="3712464"/>
            <a:ext cx="2862072" cy="777240"/>
          </a:xfrm>
          <a:prstGeom prst="rect">
            <a:avLst/>
          </a:prstGeom>
          <a:noFill/>
          <a:ln/>
        </p:spPr>
        <p:txBody>
          <a:bodyPr wrap="square" lIns="0" tIns="0" rIns="0" bIns="0" rtlCol="0" anchor="t"/>
          <a:lstStyle/>
          <a:p>
            <a:pPr indent="0" marL="0">
              <a:lnSpc>
                <a:spcPct val="110000"/>
              </a:lnSpc>
              <a:buNone/>
            </a:pPr>
            <a:r>
              <a:rPr lang="en-US" sz="1350" b="1" dirty="0">
                <a:solidFill>
                  <a:srgbClr val="1B2A4A"/>
                </a:solidFill>
                <a:latin typeface="Meiryo" pitchFamily="34" charset="0"/>
                <a:ea typeface="Meiryo" pitchFamily="34" charset="-122"/>
                <a:cs typeface="Meiryo" pitchFamily="34" charset="-120"/>
              </a:rPr>
              <a:t>MD・デジタル・イベントを横断KPIで</a:t>
            </a:r>
            <a:endParaRPr lang="en-US" sz="1350" dirty="0"/>
          </a:p>
        </p:txBody>
      </p:sp>
      <p:sp>
        <p:nvSpPr>
          <p:cNvPr id="28" name="Text 26"/>
          <p:cNvSpPr/>
          <p:nvPr/>
        </p:nvSpPr>
        <p:spPr>
          <a:xfrm>
            <a:off x="4544568" y="4498848"/>
            <a:ext cx="3300984" cy="914400"/>
          </a:xfrm>
          <a:prstGeom prst="rect">
            <a:avLst/>
          </a:prstGeom>
          <a:noFill/>
          <a:ln/>
        </p:spPr>
        <p:txBody>
          <a:bodyPr wrap="square" lIns="0" tIns="0" rIns="0" bIns="0" rtlCol="0" anchor="t"/>
          <a:lstStyle/>
          <a:p>
            <a:pPr indent="0" marL="0">
              <a:lnSpc>
                <a:spcPct val="120000"/>
              </a:lnSpc>
              <a:buNone/>
            </a:pPr>
            <a:r>
              <a:rPr lang="en-US" sz="1100" dirty="0">
                <a:solidFill>
                  <a:srgbClr val="1A1A1A"/>
                </a:solidFill>
                <a:latin typeface="Meiryo" pitchFamily="34" charset="0"/>
                <a:ea typeface="Meiryo" pitchFamily="34" charset="-122"/>
                <a:cs typeface="Meiryo" pitchFamily="34" charset="-120"/>
              </a:rPr>
              <a:t>単体売上で終わらせず、顧客ID・EC転換・法人提案化・ライセンス横展開への波及まで測定する。</a:t>
            </a:r>
            <a:endParaRPr lang="en-US" sz="1100" dirty="0"/>
          </a:p>
        </p:txBody>
      </p:sp>
      <p:sp>
        <p:nvSpPr>
          <p:cNvPr id="29" name="Shape 27"/>
          <p:cNvSpPr/>
          <p:nvPr/>
        </p:nvSpPr>
        <p:spPr>
          <a:xfrm>
            <a:off x="8174736" y="3566160"/>
            <a:ext cx="3758184" cy="1965960"/>
          </a:xfrm>
          <a:prstGeom prst="roundRect">
            <a:avLst>
              <a:gd name="adj" fmla="val 2791"/>
            </a:avLst>
          </a:prstGeom>
          <a:solidFill>
            <a:srgbClr val="1B2A4A"/>
          </a:solidFill>
          <a:ln/>
        </p:spPr>
      </p:sp>
      <p:sp>
        <p:nvSpPr>
          <p:cNvPr id="30" name="Text 28"/>
          <p:cNvSpPr/>
          <p:nvPr/>
        </p:nvSpPr>
        <p:spPr>
          <a:xfrm>
            <a:off x="8403336" y="3712464"/>
            <a:ext cx="3300984" cy="320040"/>
          </a:xfrm>
          <a:prstGeom prst="rect">
            <a:avLst/>
          </a:prstGeom>
          <a:noFill/>
          <a:ln/>
        </p:spPr>
        <p:txBody>
          <a:bodyPr wrap="square" lIns="0" tIns="0" rIns="0" bIns="0" rtlCol="0" anchor="ctr"/>
          <a:lstStyle/>
          <a:p>
            <a:pPr indent="0" marL="0">
              <a:buNone/>
            </a:pPr>
            <a:r>
              <a:rPr lang="en-US" sz="1300" b="1" dirty="0">
                <a:solidFill>
                  <a:srgbClr val="FF7A85"/>
                </a:solidFill>
                <a:latin typeface="Meiryo" pitchFamily="34" charset="0"/>
                <a:ea typeface="Meiryo" pitchFamily="34" charset="-122"/>
                <a:cs typeface="Meiryo" pitchFamily="34" charset="-120"/>
              </a:rPr>
              <a:t>毎週の経営管理フォーマット</a:t>
            </a:r>
            <a:endParaRPr lang="en-US" sz="1300" dirty="0"/>
          </a:p>
        </p:txBody>
      </p:sp>
      <p:sp>
        <p:nvSpPr>
          <p:cNvPr id="31" name="Text 29"/>
          <p:cNvSpPr/>
          <p:nvPr/>
        </p:nvSpPr>
        <p:spPr>
          <a:xfrm>
            <a:off x="8403336" y="4069080"/>
            <a:ext cx="3300984" cy="1371600"/>
          </a:xfrm>
          <a:prstGeom prst="rect">
            <a:avLst/>
          </a:prstGeom>
          <a:noFill/>
          <a:ln/>
        </p:spPr>
        <p:txBody>
          <a:bodyPr wrap="square" lIns="0" tIns="0" rIns="0" bIns="0" rtlCol="0" anchor="t"/>
          <a:lstStyle/>
          <a:p>
            <a:pPr indent="0" marL="0">
              <a:lnSpc>
                <a:spcPct val="135000"/>
              </a:lnSpc>
              <a:buNone/>
            </a:pPr>
            <a:r>
              <a:rPr lang="en-US" sz="1050" dirty="0">
                <a:solidFill>
                  <a:srgbClr val="FFFFFF"/>
                </a:solidFill>
                <a:latin typeface="Meiryo" pitchFamily="34" charset="0"/>
                <a:ea typeface="Meiryo" pitchFamily="34" charset="-122"/>
                <a:cs typeface="Meiryo" pitchFamily="34" charset="-120"/>
              </a:rPr>
              <a:t>① 営業利益：計画／見込み／差異</a:t>
            </a:r>
            <a:endParaRPr lang="en-US" sz="1050" dirty="0"/>
          </a:p>
          <a:p>
            <a:pPr indent="0" marL="0">
              <a:lnSpc>
                <a:spcPct val="135000"/>
              </a:lnSpc>
              <a:buNone/>
            </a:pPr>
            <a:r>
              <a:rPr lang="en-US" sz="1050" dirty="0">
                <a:solidFill>
                  <a:srgbClr val="FFFFFF"/>
                </a:solidFill>
                <a:latin typeface="Meiryo" pitchFamily="34" charset="0"/>
                <a:ea typeface="Meiryo" pitchFamily="34" charset="-122"/>
                <a:cs typeface="Meiryo" pitchFamily="34" charset="-120"/>
              </a:rPr>
              <a:t>② A・B案件の利益と計上月</a:t>
            </a:r>
            <a:endParaRPr lang="en-US" sz="1050" dirty="0"/>
          </a:p>
          <a:p>
            <a:pPr indent="0" marL="0">
              <a:lnSpc>
                <a:spcPct val="135000"/>
              </a:lnSpc>
              <a:buNone/>
            </a:pPr>
            <a:r>
              <a:rPr lang="en-US" sz="1050" dirty="0">
                <a:solidFill>
                  <a:srgbClr val="FFFFFF"/>
                </a:solidFill>
                <a:latin typeface="Meiryo" pitchFamily="34" charset="0"/>
                <a:ea typeface="Meiryo" pitchFamily="34" charset="-122"/>
                <a:cs typeface="Meiryo" pitchFamily="34" charset="-120"/>
              </a:rPr>
              <a:t>③ 先週からの変動と原因</a:t>
            </a:r>
            <a:endParaRPr lang="en-US" sz="1050" dirty="0"/>
          </a:p>
          <a:p>
            <a:pPr indent="0" marL="0">
              <a:lnSpc>
                <a:spcPct val="135000"/>
              </a:lnSpc>
              <a:buNone/>
            </a:pPr>
            <a:r>
              <a:rPr lang="en-US" sz="1050" dirty="0">
                <a:solidFill>
                  <a:srgbClr val="FFFFFF"/>
                </a:solidFill>
                <a:latin typeface="Meiryo" pitchFamily="34" charset="0"/>
                <a:ea typeface="Meiryo" pitchFamily="34" charset="-122"/>
                <a:cs typeface="Meiryo" pitchFamily="34" charset="-120"/>
              </a:rPr>
              <a:t>④ 契約・監修・制作のボトルネック</a:t>
            </a:r>
            <a:endParaRPr lang="en-US" sz="1050" dirty="0"/>
          </a:p>
          <a:p>
            <a:pPr indent="0" marL="0">
              <a:lnSpc>
                <a:spcPct val="135000"/>
              </a:lnSpc>
              <a:buNone/>
            </a:pPr>
            <a:r>
              <a:rPr lang="en-US" sz="1050" dirty="0">
                <a:solidFill>
                  <a:srgbClr val="FFFFFF"/>
                </a:solidFill>
                <a:latin typeface="Meiryo" pitchFamily="34" charset="0"/>
                <a:ea typeface="Meiryo" pitchFamily="34" charset="-122"/>
                <a:cs typeface="Meiryo" pitchFamily="34" charset="-120"/>
              </a:rPr>
              <a:t>⑤ 経営判断が必要な事項と期限</a:t>
            </a:r>
            <a:endParaRPr lang="en-US" sz="1050" dirty="0"/>
          </a:p>
        </p:txBody>
      </p:sp>
      <p:sp>
        <p:nvSpPr>
          <p:cNvPr id="32" name="Text 30"/>
          <p:cNvSpPr/>
          <p:nvPr/>
        </p:nvSpPr>
        <p:spPr>
          <a:xfrm>
            <a:off x="457200" y="5943600"/>
            <a:ext cx="11274552" cy="411480"/>
          </a:xfrm>
          <a:prstGeom prst="rect">
            <a:avLst/>
          </a:prstGeom>
          <a:noFill/>
          <a:ln/>
        </p:spPr>
        <p:txBody>
          <a:bodyPr wrap="square" lIns="0" tIns="0" rIns="0" bIns="0" rtlCol="0" anchor="ctr"/>
          <a:lstStyle/>
          <a:p>
            <a:pPr indent="0" marL="0">
              <a:buNone/>
            </a:pPr>
            <a:r>
              <a:rPr lang="en-US" sz="1350" b="1" dirty="0">
                <a:solidFill>
                  <a:srgbClr val="C8102E"/>
                </a:solidFill>
                <a:latin typeface="Meiryo" pitchFamily="34" charset="0"/>
                <a:ea typeface="Meiryo" pitchFamily="34" charset="-122"/>
                <a:cs typeface="Meiryo" pitchFamily="34" charset="-120"/>
              </a:rPr>
              <a:t>部長評価は「活動量」ではなく、営業利益・確度・計上時期・継続性・実行速度で行う。</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686800" cy="548640"/>
          </a:xfrm>
          <a:prstGeom prst="rect">
            <a:avLst/>
          </a:prstGeom>
          <a:noFill/>
          <a:ln/>
        </p:spPr>
        <p:txBody>
          <a:bodyPr wrap="square" lIns="0" tIns="0" rIns="0" bIns="0" rtlCol="0" anchor="ctr"/>
          <a:lstStyle/>
          <a:p>
            <a:pPr indent="0" marL="0">
              <a:buNone/>
            </a:pPr>
            <a:r>
              <a:rPr lang="en-US" sz="2600" b="1" dirty="0">
                <a:solidFill>
                  <a:srgbClr val="1B2A4A"/>
                </a:solidFill>
                <a:latin typeface="Meiryo" pitchFamily="34" charset="0"/>
                <a:ea typeface="Meiryo" pitchFamily="34" charset="-122"/>
                <a:cs typeface="Meiryo" pitchFamily="34" charset="-120"/>
              </a:rPr>
              <a:t>4｜今後90日間の実行計画</a:t>
            </a:r>
            <a:endParaRPr lang="en-US" sz="2600" dirty="0"/>
          </a:p>
        </p:txBody>
      </p:sp>
      <p:sp>
        <p:nvSpPr>
          <p:cNvPr id="3" name="Text 1"/>
          <p:cNvSpPr/>
          <p:nvPr/>
        </p:nvSpPr>
        <p:spPr>
          <a:xfrm>
            <a:off x="457200" y="868680"/>
            <a:ext cx="10972800" cy="320040"/>
          </a:xfrm>
          <a:prstGeom prst="rect">
            <a:avLst/>
          </a:prstGeom>
          <a:noFill/>
          <a:ln/>
        </p:spPr>
        <p:txBody>
          <a:bodyPr wrap="square" lIns="0" tIns="0" rIns="0" bIns="0" rtlCol="0" anchor="ctr"/>
          <a:lstStyle/>
          <a:p>
            <a:pPr indent="0" marL="0">
              <a:buNone/>
            </a:pPr>
            <a:r>
              <a:rPr lang="en-US" sz="1250" dirty="0">
                <a:solidFill>
                  <a:srgbClr val="5A6472"/>
                </a:solidFill>
                <a:latin typeface="Meiryo" pitchFamily="34" charset="0"/>
                <a:ea typeface="Meiryo" pitchFamily="34" charset="-122"/>
                <a:cs typeface="Meiryo" pitchFamily="34" charset="-120"/>
              </a:rPr>
              <a:t>「理解」ではなく「数字が動く状態」をつくる</a:t>
            </a:r>
            <a:endParaRPr lang="en-US" sz="1250" dirty="0"/>
          </a:p>
        </p:txBody>
      </p:sp>
      <p:sp>
        <p:nvSpPr>
          <p:cNvPr id="4" name="Shape 2"/>
          <p:cNvSpPr/>
          <p:nvPr/>
        </p:nvSpPr>
        <p:spPr>
          <a:xfrm>
            <a:off x="457200" y="1371600"/>
            <a:ext cx="3758184" cy="2286000"/>
          </a:xfrm>
          <a:prstGeom prst="roundRect">
            <a:avLst>
              <a:gd name="adj" fmla="val 2400"/>
            </a:avLst>
          </a:prstGeom>
          <a:solidFill>
            <a:srgbClr val="F2F4F8"/>
          </a:solidFill>
          <a:ln/>
        </p:spPr>
      </p:sp>
      <p:sp>
        <p:nvSpPr>
          <p:cNvPr id="5" name="Text 3"/>
          <p:cNvSpPr/>
          <p:nvPr/>
        </p:nvSpPr>
        <p:spPr>
          <a:xfrm>
            <a:off x="685800" y="1536192"/>
            <a:ext cx="3300984" cy="384048"/>
          </a:xfrm>
          <a:prstGeom prst="rect">
            <a:avLst/>
          </a:prstGeom>
          <a:noFill/>
          <a:ln/>
        </p:spPr>
        <p:txBody>
          <a:bodyPr wrap="square" lIns="0" tIns="0" rIns="0" bIns="0" rtlCol="0" anchor="ctr"/>
          <a:lstStyle/>
          <a:p>
            <a:pPr indent="0" marL="0">
              <a:buNone/>
            </a:pPr>
            <a:r>
              <a:rPr lang="en-US" sz="1800" b="1" dirty="0">
                <a:solidFill>
                  <a:srgbClr val="C8102E"/>
                </a:solidFill>
                <a:latin typeface="Meiryo" pitchFamily="34" charset="0"/>
                <a:ea typeface="Meiryo" pitchFamily="34" charset="-122"/>
                <a:cs typeface="Meiryo" pitchFamily="34" charset="-120"/>
              </a:rPr>
              <a:t>30日以内</a:t>
            </a:r>
            <a:endParaRPr lang="en-US" sz="1800" dirty="0"/>
          </a:p>
        </p:txBody>
      </p:sp>
      <p:sp>
        <p:nvSpPr>
          <p:cNvPr id="6" name="Text 4"/>
          <p:cNvSpPr/>
          <p:nvPr/>
        </p:nvSpPr>
        <p:spPr>
          <a:xfrm>
            <a:off x="685800" y="1993392"/>
            <a:ext cx="3300984" cy="960120"/>
          </a:xfrm>
          <a:prstGeom prst="rect">
            <a:avLst/>
          </a:prstGeom>
          <a:noFill/>
          <a:ln/>
        </p:spPr>
        <p:txBody>
          <a:bodyPr wrap="square" lIns="0" tIns="0" rIns="0" bIns="0" rtlCol="0" anchor="t"/>
          <a:lstStyle/>
          <a:p>
            <a:pPr indent="0" marL="0">
              <a:lnSpc>
                <a:spcPct val="125000"/>
              </a:lnSpc>
              <a:buNone/>
            </a:pPr>
            <a:r>
              <a:rPr lang="en-US" sz="1150" dirty="0">
                <a:solidFill>
                  <a:srgbClr val="1A1A1A"/>
                </a:solidFill>
                <a:latin typeface="Meiryo" pitchFamily="34" charset="0"/>
                <a:ea typeface="Meiryo" pitchFamily="34" charset="-122"/>
                <a:cs typeface="Meiryo" pitchFamily="34" charset="-120"/>
              </a:rPr>
              <a:t>上方修正の部門別・案件別分解／A〜D確度分類／一過性と継続性の分離</a:t>
            </a:r>
            <a:endParaRPr lang="en-US" sz="1150" dirty="0"/>
          </a:p>
        </p:txBody>
      </p:sp>
      <p:sp>
        <p:nvSpPr>
          <p:cNvPr id="7" name="Text 5"/>
          <p:cNvSpPr/>
          <p:nvPr/>
        </p:nvSpPr>
        <p:spPr>
          <a:xfrm>
            <a:off x="685800" y="3017520"/>
            <a:ext cx="3300984" cy="548640"/>
          </a:xfrm>
          <a:prstGeom prst="rect">
            <a:avLst/>
          </a:prstGeom>
          <a:noFill/>
          <a:ln/>
        </p:spPr>
        <p:txBody>
          <a:bodyPr wrap="square" lIns="0" tIns="0" rIns="0" bIns="0" rtlCol="0" anchor="t"/>
          <a:lstStyle/>
          <a:p>
            <a:pPr indent="0" marL="0">
              <a:lnSpc>
                <a:spcPct val="120000"/>
              </a:lnSpc>
              <a:buNone/>
            </a:pPr>
            <a:r>
              <a:rPr lang="en-US" sz="1100" b="1" dirty="0">
                <a:solidFill>
                  <a:srgbClr val="1B2A4A"/>
                </a:solidFill>
                <a:latin typeface="Meiryo" pitchFamily="34" charset="0"/>
                <a:ea typeface="Meiryo" pitchFamily="34" charset="-122"/>
                <a:cs typeface="Meiryo" pitchFamily="34" charset="-120"/>
              </a:rPr>
              <a:t>アウトプット：</a:t>
            </a:r>
            <a:pPr indent="0" marL="0">
              <a:lnSpc>
                <a:spcPct val="120000"/>
              </a:lnSpc>
              <a:buNone/>
            </a:pPr>
            <a:r>
              <a:rPr lang="en-US" sz="1100" dirty="0">
                <a:solidFill>
                  <a:srgbClr val="1B2A4A"/>
                </a:solidFill>
                <a:latin typeface="Meiryo" pitchFamily="34" charset="0"/>
                <a:ea typeface="Meiryo" pitchFamily="34" charset="-122"/>
                <a:cs typeface="Meiryo" pitchFamily="34" charset="-120"/>
              </a:rPr>
              <a:t>部門別営業利益ブリッジ、通期着地見込み</a:t>
            </a:r>
            <a:endParaRPr lang="en-US" sz="1100" dirty="0"/>
          </a:p>
        </p:txBody>
      </p:sp>
      <p:sp>
        <p:nvSpPr>
          <p:cNvPr id="8" name="Shape 6"/>
          <p:cNvSpPr/>
          <p:nvPr/>
        </p:nvSpPr>
        <p:spPr>
          <a:xfrm>
            <a:off x="4315968" y="1371600"/>
            <a:ext cx="3758184" cy="2286000"/>
          </a:xfrm>
          <a:prstGeom prst="roundRect">
            <a:avLst>
              <a:gd name="adj" fmla="val 2400"/>
            </a:avLst>
          </a:prstGeom>
          <a:solidFill>
            <a:srgbClr val="F2F4F8"/>
          </a:solidFill>
          <a:ln/>
        </p:spPr>
      </p:sp>
      <p:sp>
        <p:nvSpPr>
          <p:cNvPr id="9" name="Text 7"/>
          <p:cNvSpPr/>
          <p:nvPr/>
        </p:nvSpPr>
        <p:spPr>
          <a:xfrm>
            <a:off x="4544568" y="1536192"/>
            <a:ext cx="3300984" cy="384048"/>
          </a:xfrm>
          <a:prstGeom prst="rect">
            <a:avLst/>
          </a:prstGeom>
          <a:noFill/>
          <a:ln/>
        </p:spPr>
        <p:txBody>
          <a:bodyPr wrap="square" lIns="0" tIns="0" rIns="0" bIns="0" rtlCol="0" anchor="ctr"/>
          <a:lstStyle/>
          <a:p>
            <a:pPr indent="0" marL="0">
              <a:buNone/>
            </a:pPr>
            <a:r>
              <a:rPr lang="en-US" sz="1800" b="1" dirty="0">
                <a:solidFill>
                  <a:srgbClr val="C8102E"/>
                </a:solidFill>
                <a:latin typeface="Meiryo" pitchFamily="34" charset="0"/>
                <a:ea typeface="Meiryo" pitchFamily="34" charset="-122"/>
                <a:cs typeface="Meiryo" pitchFamily="34" charset="-120"/>
              </a:rPr>
              <a:t>60日以内</a:t>
            </a:r>
            <a:endParaRPr lang="en-US" sz="1800" dirty="0"/>
          </a:p>
        </p:txBody>
      </p:sp>
      <p:sp>
        <p:nvSpPr>
          <p:cNvPr id="10" name="Text 8"/>
          <p:cNvSpPr/>
          <p:nvPr/>
        </p:nvSpPr>
        <p:spPr>
          <a:xfrm>
            <a:off x="4544568" y="1993392"/>
            <a:ext cx="3300984" cy="960120"/>
          </a:xfrm>
          <a:prstGeom prst="rect">
            <a:avLst/>
          </a:prstGeom>
          <a:noFill/>
          <a:ln/>
        </p:spPr>
        <p:txBody>
          <a:bodyPr wrap="square" lIns="0" tIns="0" rIns="0" bIns="0" rtlCol="0" anchor="t"/>
          <a:lstStyle/>
          <a:p>
            <a:pPr indent="0" marL="0">
              <a:lnSpc>
                <a:spcPct val="125000"/>
              </a:lnSpc>
              <a:buNone/>
            </a:pPr>
            <a:r>
              <a:rPr lang="en-US" sz="1150" dirty="0">
                <a:solidFill>
                  <a:srgbClr val="1A1A1A"/>
                </a:solidFill>
                <a:latin typeface="Meiryo" pitchFamily="34" charset="0"/>
                <a:ea typeface="Meiryo" pitchFamily="34" charset="-122"/>
                <a:cs typeface="Meiryo" pitchFamily="34" charset="-120"/>
              </a:rPr>
              <a:t>重点顧客・重点カテゴリーの確定／既存顧客深耕計画／中国成功施策の国内実証</a:t>
            </a:r>
            <a:endParaRPr lang="en-US" sz="1150" dirty="0"/>
          </a:p>
        </p:txBody>
      </p:sp>
      <p:sp>
        <p:nvSpPr>
          <p:cNvPr id="11" name="Text 9"/>
          <p:cNvSpPr/>
          <p:nvPr/>
        </p:nvSpPr>
        <p:spPr>
          <a:xfrm>
            <a:off x="4544568" y="3017520"/>
            <a:ext cx="3300984" cy="548640"/>
          </a:xfrm>
          <a:prstGeom prst="rect">
            <a:avLst/>
          </a:prstGeom>
          <a:noFill/>
          <a:ln/>
        </p:spPr>
        <p:txBody>
          <a:bodyPr wrap="square" lIns="0" tIns="0" rIns="0" bIns="0" rtlCol="0" anchor="t"/>
          <a:lstStyle/>
          <a:p>
            <a:pPr indent="0" marL="0">
              <a:lnSpc>
                <a:spcPct val="120000"/>
              </a:lnSpc>
              <a:buNone/>
            </a:pPr>
            <a:r>
              <a:rPr lang="en-US" sz="1100" b="1" dirty="0">
                <a:solidFill>
                  <a:srgbClr val="1B2A4A"/>
                </a:solidFill>
                <a:latin typeface="Meiryo" pitchFamily="34" charset="0"/>
                <a:ea typeface="Meiryo" pitchFamily="34" charset="-122"/>
                <a:cs typeface="Meiryo" pitchFamily="34" charset="-120"/>
              </a:rPr>
              <a:t>アウトプット：</a:t>
            </a:r>
            <a:pPr indent="0" marL="0">
              <a:lnSpc>
                <a:spcPct val="120000"/>
              </a:lnSpc>
              <a:buNone/>
            </a:pPr>
            <a:r>
              <a:rPr lang="en-US" sz="1100" dirty="0">
                <a:solidFill>
                  <a:srgbClr val="1B2A4A"/>
                </a:solidFill>
                <a:latin typeface="Meiryo" pitchFamily="34" charset="0"/>
                <a:ea typeface="Meiryo" pitchFamily="34" charset="-122"/>
                <a:cs typeface="Meiryo" pitchFamily="34" charset="-120"/>
              </a:rPr>
              <a:t>アカウントプラン、施策別KPI、責任者・期限</a:t>
            </a:r>
            <a:endParaRPr lang="en-US" sz="1100" dirty="0"/>
          </a:p>
        </p:txBody>
      </p:sp>
      <p:sp>
        <p:nvSpPr>
          <p:cNvPr id="12" name="Shape 10"/>
          <p:cNvSpPr/>
          <p:nvPr/>
        </p:nvSpPr>
        <p:spPr>
          <a:xfrm>
            <a:off x="8174736" y="1371600"/>
            <a:ext cx="3758184" cy="2286000"/>
          </a:xfrm>
          <a:prstGeom prst="roundRect">
            <a:avLst>
              <a:gd name="adj" fmla="val 2400"/>
            </a:avLst>
          </a:prstGeom>
          <a:solidFill>
            <a:srgbClr val="F2F4F8"/>
          </a:solidFill>
          <a:ln/>
        </p:spPr>
      </p:sp>
      <p:sp>
        <p:nvSpPr>
          <p:cNvPr id="13" name="Text 11"/>
          <p:cNvSpPr/>
          <p:nvPr/>
        </p:nvSpPr>
        <p:spPr>
          <a:xfrm>
            <a:off x="8403336" y="1536192"/>
            <a:ext cx="3300984" cy="384048"/>
          </a:xfrm>
          <a:prstGeom prst="rect">
            <a:avLst/>
          </a:prstGeom>
          <a:noFill/>
          <a:ln/>
        </p:spPr>
        <p:txBody>
          <a:bodyPr wrap="square" lIns="0" tIns="0" rIns="0" bIns="0" rtlCol="0" anchor="ctr"/>
          <a:lstStyle/>
          <a:p>
            <a:pPr indent="0" marL="0">
              <a:buNone/>
            </a:pPr>
            <a:r>
              <a:rPr lang="en-US" sz="1800" b="1" dirty="0">
                <a:solidFill>
                  <a:srgbClr val="C8102E"/>
                </a:solidFill>
                <a:latin typeface="Meiryo" pitchFamily="34" charset="0"/>
                <a:ea typeface="Meiryo" pitchFamily="34" charset="-122"/>
                <a:cs typeface="Meiryo" pitchFamily="34" charset="-120"/>
              </a:rPr>
              <a:t>90日以内</a:t>
            </a:r>
            <a:endParaRPr lang="en-US" sz="1800" dirty="0"/>
          </a:p>
        </p:txBody>
      </p:sp>
      <p:sp>
        <p:nvSpPr>
          <p:cNvPr id="14" name="Text 12"/>
          <p:cNvSpPr/>
          <p:nvPr/>
        </p:nvSpPr>
        <p:spPr>
          <a:xfrm>
            <a:off x="8403336" y="1993392"/>
            <a:ext cx="3300984" cy="960120"/>
          </a:xfrm>
          <a:prstGeom prst="rect">
            <a:avLst/>
          </a:prstGeom>
          <a:noFill/>
          <a:ln/>
        </p:spPr>
        <p:txBody>
          <a:bodyPr wrap="square" lIns="0" tIns="0" rIns="0" bIns="0" rtlCol="0" anchor="t"/>
          <a:lstStyle/>
          <a:p>
            <a:pPr indent="0" marL="0">
              <a:lnSpc>
                <a:spcPct val="125000"/>
              </a:lnSpc>
              <a:buNone/>
            </a:pPr>
            <a:r>
              <a:rPr lang="en-US" sz="1150" dirty="0">
                <a:solidFill>
                  <a:srgbClr val="1A1A1A"/>
                </a:solidFill>
                <a:latin typeface="Meiryo" pitchFamily="34" charset="0"/>
                <a:ea typeface="Meiryo" pitchFamily="34" charset="-122"/>
                <a:cs typeface="Meiryo" pitchFamily="34" charset="-120"/>
              </a:rPr>
              <a:t>翌期利益パイプライン可視化／監修・契約ボトルネック改善／開示可能KPIの整備</a:t>
            </a:r>
            <a:endParaRPr lang="en-US" sz="1150" dirty="0"/>
          </a:p>
        </p:txBody>
      </p:sp>
      <p:sp>
        <p:nvSpPr>
          <p:cNvPr id="15" name="Text 13"/>
          <p:cNvSpPr/>
          <p:nvPr/>
        </p:nvSpPr>
        <p:spPr>
          <a:xfrm>
            <a:off x="8403336" y="3017520"/>
            <a:ext cx="3300984" cy="548640"/>
          </a:xfrm>
          <a:prstGeom prst="rect">
            <a:avLst/>
          </a:prstGeom>
          <a:noFill/>
          <a:ln/>
        </p:spPr>
        <p:txBody>
          <a:bodyPr wrap="square" lIns="0" tIns="0" rIns="0" bIns="0" rtlCol="0" anchor="t"/>
          <a:lstStyle/>
          <a:p>
            <a:pPr indent="0" marL="0">
              <a:lnSpc>
                <a:spcPct val="120000"/>
              </a:lnSpc>
              <a:buNone/>
            </a:pPr>
            <a:r>
              <a:rPr lang="en-US" sz="1100" b="1" dirty="0">
                <a:solidFill>
                  <a:srgbClr val="1B2A4A"/>
                </a:solidFill>
                <a:latin typeface="Meiryo" pitchFamily="34" charset="0"/>
                <a:ea typeface="Meiryo" pitchFamily="34" charset="-122"/>
                <a:cs typeface="Meiryo" pitchFamily="34" charset="-120"/>
              </a:rPr>
              <a:t>アウトプット：</a:t>
            </a:r>
            <a:pPr indent="0" marL="0">
              <a:lnSpc>
                <a:spcPct val="120000"/>
              </a:lnSpc>
              <a:buNone/>
            </a:pPr>
            <a:r>
              <a:rPr lang="en-US" sz="1100" dirty="0">
                <a:solidFill>
                  <a:srgbClr val="1B2A4A"/>
                </a:solidFill>
                <a:latin typeface="Meiryo" pitchFamily="34" charset="0"/>
                <a:ea typeface="Meiryo" pitchFamily="34" charset="-122"/>
                <a:cs typeface="Meiryo" pitchFamily="34" charset="-120"/>
              </a:rPr>
              <a:t>2028年3月期55億円への利益パイプライン</a:t>
            </a:r>
            <a:endParaRPr lang="en-US" sz="1100" dirty="0"/>
          </a:p>
        </p:txBody>
      </p:sp>
      <p:sp>
        <p:nvSpPr>
          <p:cNvPr id="16" name="Text 14"/>
          <p:cNvSpPr/>
          <p:nvPr/>
        </p:nvSpPr>
        <p:spPr>
          <a:xfrm>
            <a:off x="457200" y="3931920"/>
            <a:ext cx="7315200" cy="320040"/>
          </a:xfrm>
          <a:prstGeom prst="rect">
            <a:avLst/>
          </a:prstGeom>
          <a:noFill/>
          <a:ln/>
        </p:spPr>
        <p:txBody>
          <a:bodyPr wrap="square" lIns="0" tIns="0" rIns="0" bIns="0" rtlCol="0" anchor="ctr"/>
          <a:lstStyle/>
          <a:p>
            <a:pPr indent="0" marL="0">
              <a:buNone/>
            </a:pPr>
            <a:r>
              <a:rPr lang="en-US" sz="1400" b="1" dirty="0">
                <a:solidFill>
                  <a:srgbClr val="1B2A4A"/>
                </a:solidFill>
                <a:latin typeface="Meiryo" pitchFamily="34" charset="0"/>
                <a:ea typeface="Meiryo" pitchFamily="34" charset="-122"/>
                <a:cs typeface="Meiryo" pitchFamily="34" charset="-120"/>
              </a:rPr>
              <a:t>部門別の最優先課題（部長会での報告指標）</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4297680"/>
          <a:ext cx="11274552" cy="914400"/>
        </p:xfrm>
        <a:graphic>
          <a:graphicData uri="http://schemas.openxmlformats.org/drawingml/2006/table">
            <a:tbl>
              <a:tblPr/>
              <a:tblGrid>
                <a:gridCol w="2834640"/>
                <a:gridCol w="4782312"/>
                <a:gridCol w="3657600"/>
              </a:tblGrid>
              <a:tr h="310896">
                <a:tc>
                  <a:txBody>
                    <a:bodyPr/>
                    <a:lstStyle/>
                    <a:p>
                      <a:pPr algn="l" indent="0" marL="0">
                        <a:buNone/>
                      </a:pPr>
                      <a:r>
                        <a:rPr lang="en-US" sz="1050" b="1" dirty="0">
                          <a:solidFill>
                            <a:srgbClr val="FFFFFF"/>
                          </a:solidFill>
                          <a:latin typeface="Meiryo" pitchFamily="34" charset="0"/>
                          <a:ea typeface="Meiryo" pitchFamily="34" charset="-122"/>
                          <a:cs typeface="Meiryo" pitchFamily="34" charset="-120"/>
                        </a:rPr>
                        <a:t>部門</a:t>
                      </a:r>
                      <a:endParaRPr lang="en-US" sz="1050" dirty="0">
                        <a:latin typeface="Meiryo" charset="0"/>
                        <a:ea typeface="Meiryo" charset="0"/>
                        <a:cs typeface="Meiryo"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B2A4A"/>
                    </a:solidFill>
                  </a:tcPr>
                </a:tc>
                <a:tc>
                  <a:txBody>
                    <a:bodyPr/>
                    <a:lstStyle/>
                    <a:p>
                      <a:pPr algn="l" indent="0" marL="0">
                        <a:buNone/>
                      </a:pPr>
                      <a:r>
                        <a:rPr lang="en-US" sz="1050" b="1" dirty="0">
                          <a:solidFill>
                            <a:srgbClr val="FFFFFF"/>
                          </a:solidFill>
                          <a:latin typeface="Meiryo" pitchFamily="34" charset="0"/>
                          <a:ea typeface="Meiryo" pitchFamily="34" charset="-122"/>
                          <a:cs typeface="Meiryo" pitchFamily="34" charset="-120"/>
                        </a:rPr>
                        <a:t>最優先課題</a:t>
                      </a:r>
                      <a:endParaRPr lang="en-US" sz="1050" dirty="0">
                        <a:latin typeface="Meiryo" charset="0"/>
                        <a:ea typeface="Meiryo" charset="0"/>
                        <a:cs typeface="Meiryo"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B2A4A"/>
                    </a:solidFill>
                  </a:tcPr>
                </a:tc>
                <a:tc>
                  <a:txBody>
                    <a:bodyPr/>
                    <a:lstStyle/>
                    <a:p>
                      <a:pPr algn="l" indent="0" marL="0">
                        <a:buNone/>
                      </a:pPr>
                      <a:r>
                        <a:rPr lang="en-US" sz="1050" b="1" dirty="0">
                          <a:solidFill>
                            <a:srgbClr val="FFFFFF"/>
                          </a:solidFill>
                          <a:latin typeface="Meiryo" pitchFamily="34" charset="0"/>
                          <a:ea typeface="Meiryo" pitchFamily="34" charset="-122"/>
                          <a:cs typeface="Meiryo" pitchFamily="34" charset="-120"/>
                        </a:rPr>
                        <a:t>報告指標</a:t>
                      </a:r>
                      <a:endParaRPr lang="en-US" sz="1050" dirty="0">
                        <a:latin typeface="Meiryo" charset="0"/>
                        <a:ea typeface="Meiryo" charset="0"/>
                        <a:cs typeface="Meiryo"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B2A4A"/>
                    </a:solidFill>
                  </a:tcPr>
                </a:tc>
              </a:tr>
              <a:tr h="310896">
                <a:tc>
                  <a:txBody>
                    <a:bodyPr/>
                    <a:lstStyle/>
                    <a:p>
                      <a:pPr algn="l" indent="0" marL="0">
                        <a:buNone/>
                      </a:pPr>
                      <a:r>
                        <a:rPr lang="en-US" sz="1050" dirty="0">
                          <a:solidFill>
                            <a:srgbClr val="1A1A1A"/>
                          </a:solidFill>
                          <a:latin typeface="Meiryo" pitchFamily="34" charset="0"/>
                          <a:ea typeface="Meiryo" pitchFamily="34" charset="-122"/>
                          <a:cs typeface="Meiryo" pitchFamily="34" charset="-120"/>
                        </a:rPr>
                        <a:t>国内ライセンス／法人営業</a:t>
                      </a:r>
                      <a:endParaRPr lang="en-US" sz="1050" dirty="0">
                        <a:latin typeface="Meiryo" charset="0"/>
                        <a:ea typeface="Meiryo" charset="0"/>
                        <a:cs typeface="Meiryo"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Meiryo" pitchFamily="34" charset="0"/>
                          <a:ea typeface="Meiryo" pitchFamily="34" charset="-122"/>
                          <a:cs typeface="Meiryo" pitchFamily="34" charset="-120"/>
                        </a:rPr>
                        <a:t>既存深耕・新規開拓／Tier1の複合・年間契約化</a:t>
                      </a:r>
                      <a:endParaRPr lang="en-US" sz="1050" dirty="0">
                        <a:latin typeface="Meiryo" charset="0"/>
                        <a:ea typeface="Meiryo" charset="0"/>
                        <a:cs typeface="Meiryo"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Meiryo" pitchFamily="34" charset="0"/>
                          <a:ea typeface="Meiryo" pitchFamily="34" charset="-122"/>
                          <a:cs typeface="Meiryo" pitchFamily="34" charset="-120"/>
                        </a:rPr>
                        <a:t>既存増収額、更新率、確度別利益</a:t>
                      </a:r>
                      <a:endParaRPr lang="en-US" sz="1050" dirty="0">
                        <a:latin typeface="Meiryo" charset="0"/>
                        <a:ea typeface="Meiryo" charset="0"/>
                        <a:cs typeface="Meiryo"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1A1A1A"/>
                          </a:solidFill>
                          <a:latin typeface="Meiryo" pitchFamily="34" charset="0"/>
                          <a:ea typeface="Meiryo" pitchFamily="34" charset="-122"/>
                          <a:cs typeface="Meiryo" pitchFamily="34" charset="-120"/>
                        </a:rPr>
                        <a:t>自社MD／デジタル／イベント</a:t>
                      </a:r>
                      <a:endParaRPr lang="en-US" sz="1050" dirty="0">
                        <a:latin typeface="Meiryo" charset="0"/>
                        <a:ea typeface="Meiryo" charset="0"/>
                        <a:cs typeface="Meiryo"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Meiryo" pitchFamily="34" charset="0"/>
                          <a:ea typeface="Meiryo" pitchFamily="34" charset="-122"/>
                          <a:cs typeface="Meiryo" pitchFamily="34" charset="-120"/>
                        </a:rPr>
                        <a:t>原宿から全国・ECへ展開／ファン接点を購買へ転換</a:t>
                      </a:r>
                      <a:endParaRPr lang="en-US" sz="1050" dirty="0">
                        <a:latin typeface="Meiryo" charset="0"/>
                        <a:ea typeface="Meiryo" charset="0"/>
                        <a:cs typeface="Meiryo"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Meiryo" pitchFamily="34" charset="0"/>
                          <a:ea typeface="Meiryo" pitchFamily="34" charset="-122"/>
                          <a:cs typeface="Meiryo" pitchFamily="34" charset="-120"/>
                        </a:rPr>
                        <a:t>粗利率、再購買、ID、EC転換率</a:t>
                      </a:r>
                      <a:endParaRPr lang="en-US" sz="1050" dirty="0">
                        <a:latin typeface="Meiryo" charset="0"/>
                        <a:ea typeface="Meiryo" charset="0"/>
                        <a:cs typeface="Meiryo"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1A1A1A"/>
                          </a:solidFill>
                          <a:latin typeface="Meiryo" pitchFamily="34" charset="0"/>
                          <a:ea typeface="Meiryo" pitchFamily="34" charset="-122"/>
                          <a:cs typeface="Meiryo" pitchFamily="34" charset="-120"/>
                        </a:rPr>
                        <a:t>中国・海外</a:t>
                      </a:r>
                      <a:endParaRPr lang="en-US" sz="1050" dirty="0">
                        <a:latin typeface="Meiryo" charset="0"/>
                        <a:ea typeface="Meiryo" charset="0"/>
                        <a:cs typeface="Meiryo"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Meiryo" pitchFamily="34" charset="0"/>
                          <a:ea typeface="Meiryo" pitchFamily="34" charset="-122"/>
                          <a:cs typeface="Meiryo" pitchFamily="34" charset="-120"/>
                        </a:rPr>
                        <a:t>パートナー分散と成功施策の国内移植</a:t>
                      </a:r>
                      <a:endParaRPr lang="en-US" sz="1050" dirty="0">
                        <a:latin typeface="Meiryo" charset="0"/>
                        <a:ea typeface="Meiryo" charset="0"/>
                        <a:cs typeface="Meiryo"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Meiryo" pitchFamily="34" charset="0"/>
                          <a:ea typeface="Meiryo" pitchFamily="34" charset="-122"/>
                          <a:cs typeface="Meiryo" pitchFamily="34" charset="-120"/>
                        </a:rPr>
                        <a:t>新規ライセンシー、国内実装数</a:t>
                      </a:r>
                      <a:endParaRPr lang="en-US" sz="1050" dirty="0">
                        <a:latin typeface="Meiryo" charset="0"/>
                        <a:ea typeface="Meiryo" charset="0"/>
                        <a:cs typeface="Meiryo"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1A1A1A"/>
                          </a:solidFill>
                          <a:latin typeface="Meiryo" pitchFamily="34" charset="0"/>
                          <a:ea typeface="Meiryo" pitchFamily="34" charset="-122"/>
                          <a:cs typeface="Meiryo" pitchFamily="34" charset="-120"/>
                        </a:rPr>
                        <a:t>監修・制作・法務／財務</a:t>
                      </a:r>
                      <a:endParaRPr lang="en-US" sz="1050" dirty="0">
                        <a:latin typeface="Meiryo" charset="0"/>
                        <a:ea typeface="Meiryo" charset="0"/>
                        <a:cs typeface="Meiryo"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Meiryo" pitchFamily="34" charset="0"/>
                          <a:ea typeface="Meiryo" pitchFamily="34" charset="-122"/>
                          <a:cs typeface="Meiryo" pitchFamily="34" charset="-120"/>
                        </a:rPr>
                        <a:t>収益化リードタイム短縮／予測精度と利益品質</a:t>
                      </a:r>
                      <a:endParaRPr lang="en-US" sz="1050" dirty="0">
                        <a:latin typeface="Meiryo" charset="0"/>
                        <a:ea typeface="Meiryo" charset="0"/>
                        <a:cs typeface="Meiryo"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Meiryo" pitchFamily="34" charset="0"/>
                          <a:ea typeface="Meiryo" pitchFamily="34" charset="-122"/>
                          <a:cs typeface="Meiryo" pitchFamily="34" charset="-120"/>
                        </a:rPr>
                        <a:t>平均日数、滞留件数、着地誤差</a:t>
                      </a:r>
                      <a:endParaRPr lang="en-US" sz="1050" dirty="0">
                        <a:latin typeface="Meiryo" charset="0"/>
                        <a:ea typeface="Meiryo" charset="0"/>
                        <a:cs typeface="Meiryo"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bl>
          </a:graphicData>
        </a:graphic>
      </p:graphicFrame>
      <p:sp>
        <p:nvSpPr>
          <p:cNvPr id="18" name="Shape 15"/>
          <p:cNvSpPr/>
          <p:nvPr/>
        </p:nvSpPr>
        <p:spPr>
          <a:xfrm>
            <a:off x="457200" y="6035040"/>
            <a:ext cx="11274552" cy="566928"/>
          </a:xfrm>
          <a:prstGeom prst="roundRect">
            <a:avLst>
              <a:gd name="adj" fmla="val 9677"/>
            </a:avLst>
          </a:prstGeom>
          <a:solidFill>
            <a:srgbClr val="1B2A4A"/>
          </a:solidFill>
          <a:ln/>
        </p:spPr>
      </p:sp>
      <p:sp>
        <p:nvSpPr>
          <p:cNvPr id="19" name="Text 16"/>
          <p:cNvSpPr/>
          <p:nvPr/>
        </p:nvSpPr>
        <p:spPr>
          <a:xfrm>
            <a:off x="777240" y="6035040"/>
            <a:ext cx="10698480" cy="566928"/>
          </a:xfrm>
          <a:prstGeom prst="rect">
            <a:avLst/>
          </a:prstGeom>
          <a:noFill/>
          <a:ln/>
        </p:spPr>
        <p:txBody>
          <a:bodyPr wrap="square" lIns="0" tIns="0" rIns="0" bIns="0" rtlCol="0" anchor="ctr"/>
          <a:lstStyle/>
          <a:p>
            <a:pPr indent="0" marL="0">
              <a:buNone/>
            </a:pPr>
            <a:r>
              <a:rPr lang="en-US" sz="1350" b="1" dirty="0">
                <a:solidFill>
                  <a:srgbClr val="FFFFFF"/>
                </a:solidFill>
                <a:latin typeface="Meiryo" pitchFamily="34" charset="0"/>
                <a:ea typeface="Meiryo" pitchFamily="34" charset="-122"/>
                <a:cs typeface="Meiryo" pitchFamily="34" charset="-120"/>
              </a:rPr>
              <a:t>今回の上方修正は、改革が完成した結果ではない。改革を本物にする責任を、私たちが負ったということである。</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2026-07-29T00:39:14Z</dcterms:created>
  <dcterms:modified xsi:type="dcterms:W3CDTF">2026-07-29T00:39:14Z</dcterms:modified>
</cp:coreProperties>
</file>