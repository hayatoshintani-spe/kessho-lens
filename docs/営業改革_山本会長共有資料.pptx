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山本会長 事前共有資料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</a:t>
            </a:r>
          </a:p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点検会議の設計と重要論点のご相談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新谷隼人（専務執行役員）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本日お話ししたいこと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3つのテーマで、あわせて30分ほどお時間をいただきます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84831"/>
            <a:ext cx="11183112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64008" cy="10607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2285999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249423"/>
            <a:ext cx="1015898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改革の現在地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なぜ今やるのか、どこまで進んだか（5分）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46703"/>
            <a:ext cx="11183112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46703"/>
            <a:ext cx="64008" cy="10607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3547871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511295"/>
            <a:ext cx="1015898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点検会議の設計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会長にお願いしたい役割（10分）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08575"/>
            <a:ext cx="11183112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08575"/>
            <a:ext cx="64008" cy="10607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4809743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773167"/>
            <a:ext cx="1015898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重要論点の先出し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初回点検会議までにご相談したいこと（15分）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4864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38100" cy="5486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34456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本日は決定をお願いする場ではありません。設計へのご意見と、論点の目線合わせをお願いします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01 ｜ 改革の現在地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なぜ今やるのか、どこまで進んだか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75104"/>
            <a:ext cx="5468112" cy="3675887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75104"/>
            <a:ext cx="5468112" cy="4023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20824"/>
            <a:ext cx="51937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なぜ今か（社内財務データ・経営限り）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23744"/>
            <a:ext cx="5065776" cy="301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64期 売上110.8億円（ピーク）粗利率59.3%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→ 65期 売上87.4億円（▲21%）粗利率40.2%（▲19pt）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粗利はほぼ半減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利益の柱は海外IPライセンスに集中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（64期は海外事業部単独で全社売上の57%）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「どの顧客・案件に力を注ぐか」の評価軸がないまま、領域だけが広がっている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75104"/>
            <a:ext cx="5468112" cy="3675887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75104"/>
            <a:ext cx="5468112" cy="4023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020824"/>
            <a:ext cx="51937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ここまでの進捗（発足〜現在）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23744"/>
            <a:ext cx="5065776" cy="301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顧客746社・案件299件の棚卸し起票が完了</a:t>
            </a:r>
          </a:p>
          <a:p>
            <a:pPr algn="l">
              <a:spcAft>
                <a:spcPts val="9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部長フィードバック37件に全件回答・7点を設計に反映</a:t>
            </a:r>
          </a:p>
          <a:p>
            <a:pPr algn="l">
              <a:spcAft>
                <a:spcPts val="9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推進体制STO（専任1名＋兼務3名）が発足</a:t>
            </a:r>
          </a:p>
          <a:p>
            <a:pPr algn="l">
              <a:spcAft>
                <a:spcPts val="9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会議体系（分科会×3→戦略会議→点検会議）を設計完了</a:t>
            </a:r>
          </a:p>
          <a:p>
            <a:pPr algn="l">
              <a:spcAft>
                <a:spcPts val="9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工数計測は「評価に使わない」を宣言のうえ開始準備中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02 ｜ 点検会議の設計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会議体系のなかでの点検会議の位置づけ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47672" y="1938528"/>
            <a:ext cx="8321040" cy="84124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7128" y="2029968"/>
            <a:ext cx="78821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</a:t>
            </a:r>
            <a:r>
              <a:rPr sz="10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（月次60分・議長：山本会長）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重要テーマの意思決定・優先順位・改革が約束どおり進んでいるかの点検</a:t>
            </a:r>
          </a:p>
        </p:txBody>
      </p:sp>
      <p:sp>
        <p:nvSpPr>
          <p:cNvPr id="7" name="Up Arrow 6"/>
          <p:cNvSpPr/>
          <p:nvPr/>
        </p:nvSpPr>
        <p:spPr>
          <a:xfrm>
            <a:off x="5852160" y="2834640"/>
            <a:ext cx="457200" cy="274320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84378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会長のご判断が必要な論点のみ（1回3件以内）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3200400"/>
            <a:ext cx="8321040" cy="84124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291840"/>
            <a:ext cx="78821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戦略会議</a:t>
            </a:r>
            <a:r>
              <a:rPr sz="10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（隔週90分・議長：永竹社長）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決め切る場。リソース配分・部門横断の決定</a:t>
            </a:r>
          </a:p>
        </p:txBody>
      </p:sp>
      <p:sp>
        <p:nvSpPr>
          <p:cNvPr id="11" name="Up Arrow 10"/>
          <p:cNvSpPr/>
          <p:nvPr/>
        </p:nvSpPr>
        <p:spPr>
          <a:xfrm>
            <a:off x="5852160" y="4096512"/>
            <a:ext cx="457200" cy="274320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0565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分科会で決め切れない論点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7672" y="4462272"/>
            <a:ext cx="8321040" cy="841248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4553712"/>
            <a:ext cx="78821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分科会×3</a:t>
            </a:r>
            <a:r>
              <a:rPr sz="10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（週次75分・黒澤／南谷／高橋）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接点づくり／ライセンス営業改革／経営基盤強化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742432"/>
            <a:ext cx="11183112" cy="60350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742432"/>
            <a:ext cx="38100" cy="6035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815584"/>
            <a:ext cx="10881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原則：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下で決められることは下で決め、会長には「会長にしか決められないこと」だけを、選択肢と推奨案の形でお持ちします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02 ｜ 点検会議の設計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点検会議の標準アジェンダ（60分）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65376"/>
          <a:ext cx="11183111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43"/>
                <a:gridCol w="999146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アジェンダ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0–5分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 本日決めるべき事項の確認（最大3件）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5–10分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② 前回決定事項の進捗確認（決定ログの消し込み）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10–20分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③ 全体進捗（3分科会の信号 緑/黄/赤・遅延・リスク）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20–30分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④ 分科会別ハイライト（決まったこと/次にやること/課題）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30–50分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⑤ 意思決定（本丸）— 論点ごとに選択肢と推奨案を提示し、会長が決定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50–57分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⑥ 課題・ボトルネックの対応方針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57–60分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⑦ 次回までのToDo確認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846320"/>
            <a:ext cx="5504688" cy="658368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38100" cy="65836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19472"/>
            <a:ext cx="5212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資料はキーチャート5枚のみ（事務局の作成時間上限2時間・作り込み禁止）。前日までにお届けし、1ページ目が「本日決めること」です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4846320"/>
            <a:ext cx="5504688" cy="658368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4846320"/>
            <a:ext cx="3810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4919472"/>
            <a:ext cx="5212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進捗報告会にはしません。「何を決めたか」が残らない回は失敗と定義しています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02 ｜ 点検会議の設計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会長にお願いしたいこと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64008" cy="117043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304288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267712"/>
            <a:ext cx="101589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点検会議の議長（月次60分）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意思決定と優先順位付けの最終判断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93008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493008"/>
            <a:ext cx="64008" cy="117043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3694176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657600"/>
            <a:ext cx="101589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トップ外交のご登板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重要パートナーとの関係強化で、会長にしか開けない扉を数件（対象は初回点検会議でご相談）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82896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882896"/>
            <a:ext cx="64008" cy="117043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5084064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047488"/>
            <a:ext cx="101589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「決める会議」の運用へのご賛同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報告の受領ではなく、毎回2〜3件の決定をお願いする運び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03 ｜ 重要論点の先出し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初回点検会議までにご相談したいこと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00784"/>
          <a:ext cx="1118311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621"/>
                <a:gridCol w="5499891"/>
                <a:gridCol w="3391599"/>
              </a:tblGrid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私の考え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ご相談したいこと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論点1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評価の例外の扱い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全顧客・全案件を同じ5軸で評価。歴史的経緯のある取引先や経営に近い案件も例外にせず、例外とする場合は「理由を明文化してリスト化」する運びとしたい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この方針へのご賛同。会長ご自身に関わりの深い先も同じ土俵に載せることのご了解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論点2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65期急減速への向き合い方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底打ちを待つのではなく、粗利率40%を基点に「どこに力を注ぐか」を数字で選び直す。低採算領域の縮小・撤退判断も避けない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撤退・縮小が点検会議に上がってきた際の、判断基準の目線合わせ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論点3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トップ外交の初回ターゲット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海外IPライセンスへの依存構造を踏まえ、柱の維持（海外・中国）と次の柱づくりの両にらみで対象を選定中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会長のネットワークで優先すべき先のご示唆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論点4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実行体制の独立性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STOの2リードは、専任・兼務それぞれの枠を部門と合意して確保しました。評価は改革貢献で新谷が責任を持ちます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途中で部門都合により専任・兼務の枠が崩れそうな場合の後ろ盾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次のステップ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12848"/>
            <a:ext cx="1118311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2468880" cy="8595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67712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267712"/>
            <a:ext cx="825703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設計と論点のご意見をいただく</a:t>
            </a:r>
          </a:p>
        </p:txBody>
      </p:sp>
      <p:sp>
        <p:nvSpPr>
          <p:cNvPr id="9" name="Up Arrow 8"/>
          <p:cNvSpPr/>
          <p:nvPr/>
        </p:nvSpPr>
        <p:spPr>
          <a:xfrm>
            <a:off x="5852160" y="3054096"/>
            <a:ext cx="384048" cy="237744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310128"/>
            <a:ext cx="1118311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10128"/>
            <a:ext cx="2468880" cy="8595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364992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今週中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364992"/>
            <a:ext cx="825703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ご意見を反映し初回アジェンダ確定（事務局）</a:t>
            </a:r>
          </a:p>
        </p:txBody>
      </p:sp>
      <p:sp>
        <p:nvSpPr>
          <p:cNvPr id="14" name="Up Arrow 13"/>
          <p:cNvSpPr/>
          <p:nvPr/>
        </p:nvSpPr>
        <p:spPr>
          <a:xfrm>
            <a:off x="5852160" y="4151376"/>
            <a:ext cx="384048" cy="237744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407408"/>
            <a:ext cx="1118311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07408"/>
            <a:ext cx="2468880" cy="8595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462272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初回点検会議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4462272"/>
            <a:ext cx="825703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キーチャート5枚でご判断を仰ぐ（日程は秘書室と調整）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32704"/>
            <a:ext cx="11183112" cy="71323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632704"/>
            <a:ext cx="38100" cy="7132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2414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改革の主役は部長と現場です。私は詰まりを外す役に徹し、会長には「最後の判断」だけをお願いします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