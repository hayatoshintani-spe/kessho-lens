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営業改革プロジェクト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概要ブリーフ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小沢さん 着任にあたって（2026年8月〜）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新谷隼人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2026年7月16日版 ｜ 社外秘・取扱注意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1分で全体像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このプロジェクトは何か（3行）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73936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73936"/>
            <a:ext cx="64008" cy="11704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2376" y="2130552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2456" y="192024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営業と財務のデータをつなぎ、どの顧客・案件に力を注ぐかを「数字で選べる会社」になる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08960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108960"/>
            <a:ext cx="64008" cy="11704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376" y="3465576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3255264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売上が伸びても利益につながらない構造を、90日で変え始める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65期：売上▲21%・粗利率▲19pt。今期も売上超過なのに利益未達見込み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43984"/>
            <a:ext cx="1118311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443984"/>
            <a:ext cx="64008" cy="11704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" y="4800600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4590288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山本会長・ホールディングスがコミット。円谷プロ全体（制作〜商品〜流通〜プロモ〜ライブ〜営業）が対象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687568"/>
            <a:ext cx="11183112" cy="713232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687568"/>
            <a:ext cx="38100" cy="7132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742432"/>
            <a:ext cx="108356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成果目標：営業利益 予算比 ＋5億円　</a:t>
            </a: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66期予算40.2億→45.2億（見込み比ギャップ6.25億）。現場への数字の展開は新谷が管理　※取り扱い注意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4分で読めるタイムライン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これまでの経緯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55648"/>
          <a:ext cx="11183111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498"/>
                <a:gridCol w="9640613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何があったか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〜6月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グランドデザイン策定（棚卸し→評価→資源再配分の設計）。「工数は評価に使わない」を大原則に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7月上旬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部長FB第1弾37件に全件回答・7点を設計反映。棚卸しマスター整備、顧客746社・案件299件を起票（坪井さん）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7/14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山本会長と決議：STO発足・点検会議（月次60分）の議長を会長が内諾。部長会で進捗共有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7/15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部長FB第2弾13件→全件回答。運営変更5点を決定（確認会の合同化・担当列拡張・軽量化候補・AI窓口一本化・会議廃止の議題化）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7/16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体制確定（小沢さん専任・坪井さん兼務・大塩さん・柳沼さん）。成果目標＋5億（予算比）確定。プロジェクトのシンプル化を決定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760720"/>
            <a:ext cx="11183112" cy="603504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760720"/>
            <a:ext cx="38100" cy="60350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15584"/>
            <a:ext cx="108356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過去の詳細設計は50本以上あるが、全部読む必要はない（必要になったら新谷か坪井さんが指す）。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シンプル化済み（7/16決定）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いまの運転方針 — 動くものは3本だけ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83664"/>
            <a:ext cx="338328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83664"/>
            <a:ext cx="3383280" cy="8229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2139696"/>
            <a:ext cx="548640" cy="54864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816352"/>
            <a:ext cx="3090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確認会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255264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主担当の確定（顧客746社・案件299件）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2836" y="1883664"/>
            <a:ext cx="338328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2836" y="1883664"/>
            <a:ext cx="3383280" cy="8229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20156" y="2139696"/>
            <a:ext cx="548640" cy="54864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140" y="2816352"/>
            <a:ext cx="3090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財務ひも付け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0580" y="3255264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柳沼さんデータ×名寄せで金額を付ける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02752" y="1883664"/>
            <a:ext cx="3383280" cy="1847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1883664"/>
            <a:ext cx="3383280" cy="8229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20072" y="2139696"/>
            <a:ext cx="548640" cy="54864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816352"/>
            <a:ext cx="3090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採点と力の入れ直し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255264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ランクを決め、力の注ぎ先を変える</a:t>
            </a:r>
          </a:p>
        </p:txBody>
      </p:sp>
      <p:sp>
        <p:nvSpPr>
          <p:cNvPr id="20" name="Chevron 19"/>
          <p:cNvSpPr/>
          <p:nvPr/>
        </p:nvSpPr>
        <p:spPr>
          <a:xfrm>
            <a:off x="3913632" y="2587752"/>
            <a:ext cx="420624" cy="457200"/>
          </a:xfrm>
          <a:prstGeom prst="chevron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7813548" y="2587752"/>
            <a:ext cx="420624" cy="457200"/>
          </a:xfrm>
          <a:prstGeom prst="chevron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023360"/>
            <a:ext cx="3602736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23360"/>
            <a:ext cx="3602736" cy="7315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20624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会議は最小起動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626864"/>
            <a:ext cx="32004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・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分科会×3は隔週45分</a:t>
            </a:r>
          </a:p>
          <a:p>
            <a:pPr algn="l">
              <a:spcAft>
                <a:spcPts val="500"/>
              </a:spcAft>
              <a:buFont typeface="Arial"/>
              <a:buChar char="・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STO内は週2回15分＋金曜レビュー30分</a:t>
            </a:r>
          </a:p>
          <a:p>
            <a:pPr algn="l">
              <a:spcAft>
                <a:spcPts val="500"/>
              </a:spcAft>
              <a:buFont typeface="Arial"/>
              <a:buChar char="・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戦略会議（隔週）／点検会議（月次）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3108" y="4023360"/>
            <a:ext cx="3602736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3108" y="4023360"/>
            <a:ext cx="3602736" cy="7315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4276" y="420624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資料は3つだけ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4276" y="4626864"/>
            <a:ext cx="32004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・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プロジェクト1枚</a:t>
            </a:r>
          </a:p>
          <a:p>
            <a:pPr algn="l">
              <a:spcAft>
                <a:spcPts val="500"/>
              </a:spcAft>
              <a:buFont typeface="Arial"/>
              <a:buChar char="・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運用指南書</a:t>
            </a:r>
          </a:p>
          <a:p>
            <a:pPr algn="l">
              <a:spcAft>
                <a:spcPts val="500"/>
              </a:spcAft>
              <a:buFont typeface="Arial"/>
              <a:buChar char="・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棚卸しマスター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3296" y="4023360"/>
            <a:ext cx="3602736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4023360"/>
            <a:ext cx="3602736" cy="7315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20624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現場向けルール3つ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4626864"/>
            <a:ext cx="320040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  <a:buFont typeface="Arial"/>
              <a:buChar char="・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評価に使わない</a:t>
            </a:r>
          </a:p>
          <a:p>
            <a:pPr algn="l">
              <a:spcAft>
                <a:spcPts val="500"/>
              </a:spcAft>
              <a:buFont typeface="Arial"/>
              <a:buChar char="・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いま決めるのは主担当だけ</a:t>
            </a:r>
          </a:p>
          <a:p>
            <a:pPr algn="l">
              <a:spcAft>
                <a:spcPts val="500"/>
              </a:spcAft>
              <a:buFont typeface="Arial"/>
              <a:buChar char="・"/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迷ったら24時間で新谷へ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8月の着任時点で待っている状況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01952"/>
            <a:ext cx="1118311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01952"/>
            <a:ext cx="64008" cy="10058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57984"/>
            <a:ext cx="493776" cy="493776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2011680"/>
            <a:ext cx="101041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確認会は完了〜終盤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主担当が埋まり、財務ひも付けが進行中（柳沼さんの明細受領状況による）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54096"/>
            <a:ext cx="1118311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054096"/>
            <a:ext cx="64008" cy="10058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310128"/>
            <a:ext cx="493776" cy="493776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3163824"/>
            <a:ext cx="101041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工数計測は確認会完了後に開始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着任と前後する見込み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1118311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206240"/>
            <a:ext cx="64008" cy="10058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462272"/>
            <a:ext cx="493776" cy="493776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4315968"/>
            <a:ext cx="101041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分科会×3が隔週で回り始めている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初回アジェンダ作成済み：担当役割の定義／確度定義レビュー／会議統廃合／契約改革の着手順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358384"/>
            <a:ext cx="1118311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358384"/>
            <a:ext cx="64008" cy="10058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5614416"/>
            <a:ext cx="493776" cy="493776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5468112"/>
            <a:ext cx="101041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未着手の設計テーマが小沢さんを待っている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次章の「引き取ってほしい5つ」を参照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役割：変革設計リード（専任・90日）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改革の「中身」の責任者です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56816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56816"/>
            <a:ext cx="5486400" cy="45720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成果の測り方（「資料を作った」ではない）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78608"/>
            <a:ext cx="310896" cy="310896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経営判断が成立した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44368"/>
            <a:ext cx="310896" cy="310896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業務が変わった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310128"/>
            <a:ext cx="310896" cy="310896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291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部門が自走した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675888"/>
            <a:ext cx="310896" cy="310896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数字が改善した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956816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956816"/>
            <a:ext cx="5486400" cy="4572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9568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やらないこと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596896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buFont typeface="Arial"/>
              <a:buChar char="✕"/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データ加工</a:t>
            </a:r>
          </a:p>
          <a:p>
            <a:pPr algn="l">
              <a:spcAft>
                <a:spcPts val="1000"/>
              </a:spcAft>
              <a:buFont typeface="Arial"/>
              <a:buChar char="✕"/>
            </a:pPr>
            <a:r>
              <a:rPr sz="12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議事録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→ 坪井さんの実行統制とレビューし合う関係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85232"/>
            <a:ext cx="11183112" cy="91440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285232"/>
            <a:ext cx="38100" cy="91440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340096"/>
            <a:ext cx="10835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原則　一人が作り、もう一人がレビューする　</a:t>
            </a: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小沢さんが作り、坪井さんがレビューする。逆もまた然り。二人で品質を担保する体制です。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着任後の最優先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最初に引き取ってほしい5つ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18311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8436"/>
                <a:gridCol w="8290927"/>
                <a:gridCol w="2313747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5億ブリッジ第1版：ギャップ6.25億を6レバーに割り付け、レバー別の責任者と目標額を確定（第0版あり）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最優先・Day30目標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読み管理（案件確度）の定義確定：大塩さんの原案（黒青赤の状態ベース）をレビューし分科会で確定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原案待ち→レビュー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アセット素材Webフロー化のパイロット設計：1部門・2〜4週で試し、数字で前後比較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候補印付きで坪井さんが保持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1ページ意思決定書の運用開始：論点→選択肢→推奨の型で戦略・点検会議に論点を上げる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型は設計済み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日次の督促・エスカレーション運用の引き取り：現在は新谷が暫定代行中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8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着任後にSTO内で再配分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742432"/>
            <a:ext cx="11183112" cy="64008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742432"/>
            <a:ext cx="38100" cy="64008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797296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中期の本丸　</a:t>
            </a: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監修改革（営業時間の8割を占めるボトルネック。判断基準の形式知化＋決定記録方式。論点メモあり）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体制と守ってほしいこと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チームと原則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01952"/>
            <a:ext cx="5989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体制（専任1・兼務3・オーナー1）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249424"/>
          <a:ext cx="598931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582"/>
                <a:gridCol w="1357579"/>
                <a:gridCol w="2715158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人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備考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オーナー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新谷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優先順位・障害の除去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変革設計リード</a:t>
                      </a:r>
                    </a:p>
                  </a:txBody>
                  <a:tcPr marL="54864" marR="54864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小沢さん</a:t>
                      </a:r>
                    </a:p>
                  </a:txBody>
                  <a:tcPr marL="54864" marR="54864" marT="18288" marB="18288" anchor="ctr">
                    <a:solidFill>
                      <a:srgbClr val="F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改革の中身（専任）</a:t>
                      </a:r>
                    </a:p>
                  </a:txBody>
                  <a:tcPr marL="54864" marR="54864" marT="18288" marB="18288" anchor="ctr">
                    <a:solidFill>
                      <a:srgbClr val="F3EF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実行統制・データ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坪井さん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データ正本管理・棚卸し基盤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戦略サポート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大塩さん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HD経営企画・並走PJ整理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財務リエゾン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柳沼さん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データ供給・粗利算定検証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693408" y="1920240"/>
            <a:ext cx="4992624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93408" y="1920240"/>
            <a:ext cx="4992624" cy="4572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920240"/>
            <a:ext cx="4992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守ってほしい原則（3つ＋1つ）</a:t>
            </a:r>
          </a:p>
        </p:txBody>
      </p:sp>
      <p:sp>
        <p:nvSpPr>
          <p:cNvPr id="10" name="Oval 9"/>
          <p:cNvSpPr/>
          <p:nvPr/>
        </p:nvSpPr>
        <p:spPr>
          <a:xfrm>
            <a:off x="6894576" y="2578608"/>
            <a:ext cx="384048" cy="384048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4928" y="2523744"/>
            <a:ext cx="40782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工数・データは個人の評価に使わない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この改革の信頼の土台。例外なし</a:t>
            </a:r>
          </a:p>
        </p:txBody>
      </p:sp>
      <p:sp>
        <p:nvSpPr>
          <p:cNvPr id="12" name="Oval 11"/>
          <p:cNvSpPr/>
          <p:nvPr/>
        </p:nvSpPr>
        <p:spPr>
          <a:xfrm>
            <a:off x="6894576" y="3328416"/>
            <a:ext cx="384048" cy="384048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4928" y="3273552"/>
            <a:ext cx="40782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会議は週8時間以内・資料は1ページまで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STOが忙しいことは成果ではない</a:t>
            </a:r>
          </a:p>
        </p:txBody>
      </p:sp>
      <p:sp>
        <p:nvSpPr>
          <p:cNvPr id="14" name="Oval 13"/>
          <p:cNvSpPr/>
          <p:nvPr/>
        </p:nvSpPr>
        <p:spPr>
          <a:xfrm>
            <a:off x="6894576" y="4078224"/>
            <a:ext cx="384048" cy="384048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4023360"/>
            <a:ext cx="40782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90日後にSTOが定常業務を抱えていない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部門へ移管して初めて成果</a:t>
            </a:r>
          </a:p>
        </p:txBody>
      </p:sp>
      <p:sp>
        <p:nvSpPr>
          <p:cNvPr id="16" name="Oval 15"/>
          <p:cNvSpPr/>
          <p:nvPr/>
        </p:nvSpPr>
        <p:spPr>
          <a:xfrm>
            <a:off x="6894576" y="4828032"/>
            <a:ext cx="384048" cy="384048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4773168"/>
            <a:ext cx="40782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＋5億の現場への出し方は新谷が管理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数字だけを降ろさない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着任準備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資料の読む順と初週の予定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54864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486400" cy="45720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資料の読む順（4ステップ）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578608"/>
            <a:ext cx="365760" cy="36576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542032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プロジェクト1枚（全員の共通言語・A4一枚）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3145536"/>
            <a:ext cx="365760" cy="36576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3108960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本ブリーフ（この文書）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712464"/>
            <a:ext cx="365760" cy="36576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675888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STO設計書＋運用指南書2章（小沢さんの章）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4279392"/>
            <a:ext cx="365760" cy="36576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4242816"/>
            <a:ext cx="462686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着手テーマの該当設計メモを都度（成果目標／監修改革ほか）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920240"/>
            <a:ext cx="54864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920240"/>
            <a:ext cx="5486400" cy="4572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920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初週の予定（新谷がセット）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596896"/>
            <a:ext cx="1188720" cy="38404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9689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30分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2542032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この文書の読み合わせ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63824"/>
            <a:ext cx="1188720" cy="38404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163824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60分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108960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坪井さんとデータ現在地確認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30752"/>
            <a:ext cx="1188720" cy="38404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30752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30分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3675888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大塩さんと読み管理・並走PJ引き継ぎ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297680"/>
            <a:ext cx="1188720" cy="38404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97680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金曜17:00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4242816"/>
            <a:ext cx="380390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週次レビューに初参加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38928"/>
            <a:ext cx="11183112" cy="100584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138928"/>
            <a:ext cx="38100" cy="10058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285232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外から来た目で「これはおかしい」を遠慮なく言ってください。</a:t>
            </a:r>
          </a:p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それを言ってもらうための専任です。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