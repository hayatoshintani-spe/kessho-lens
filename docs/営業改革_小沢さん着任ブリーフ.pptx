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280160"/>
            <a:ext cx="4754880" cy="4754880"/>
          </a:xfrm>
          <a:prstGeom prst="ellipse">
            <a:avLst/>
          </a:prstGeom>
          <a:solidFill>
            <a:srgbClr val="4F7DE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4206240"/>
            <a:ext cx="3291840" cy="3291840"/>
          </a:xfrm>
          <a:prstGeom prst="ellipse">
            <a:avLst/>
          </a:prstGeom>
          <a:noFill/>
          <a:ln w="17780">
            <a:solidFill>
              <a:srgbClr val="FFFFFF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22960" y="4663440"/>
            <a:ext cx="2560320" cy="2560320"/>
          </a:xfrm>
          <a:prstGeom prst="ellipse">
            <a:avLst/>
          </a:prstGeom>
          <a:noFill/>
          <a:ln w="15240">
            <a:solidFill>
              <a:srgbClr val="FFFFFF">
                <a:alpha val="16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200000">
            <a:off x="10881360" y="1737360"/>
            <a:ext cx="1371600" cy="1371600"/>
          </a:xfrm>
          <a:prstGeom prst="triangle">
            <a:avLst/>
          </a:prstGeom>
          <a:noFill/>
          <a:ln w="15240">
            <a:solidFill>
              <a:srgbClr val="FFFFFF">
                <a:alpha val="1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84831"/>
            <a:ext cx="603504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49424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営業改革プロジェクト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607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概要ブリーフ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667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小沢さん 着任にあたって（2026年7月16日着任）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新谷隼人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2026年7月16日版 ｜ 社外秘・取扱注意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30986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1分で全体像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このプロジェクトは何か（3行）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73936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73936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3055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1920240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営業と財務のデータをつなぎ、どの顧客・案件に力を注ぐかを「数字で選べる会社」になる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10896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46557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3255264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売上が伸びても利益につながらない構造を、90日で変え始める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65期：売上▲21%・粗利率▲19pt。今期も売上超過なのに利益未達見込み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43984"/>
            <a:ext cx="64008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48006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4590288"/>
            <a:ext cx="1012240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山本会長・ホールディングスがコミット。円谷プロ全体（制作〜商品〜流通〜プロモ〜ライブ〜営業）が対象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3112" cy="713232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87568"/>
            <a:ext cx="38100" cy="713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742432"/>
            <a:ext cx="108356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成果目標：営業利益 予算比 ＋5億円　</a:t>
            </a:r>
            <a:r>
              <a:rPr sz="11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66期予算40.2億→45.2億（見込み比ギャップ6.25億）。現場への数字の展開は新谷が管理　※取り扱い注意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812797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4分で読めるタイムライン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これまでの経緯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55648"/>
          <a:ext cx="11183111" cy="3401568"/>
        </p:xfrm>
        <a:graphic>
          <a:graphicData uri="http://schemas.openxmlformats.org/drawingml/2006/table">
            <a:tbl>
              <a:tblPr firstRow="0" bandRow="0"/>
              <a:tblGrid>
                <a:gridCol w="1542498"/>
                <a:gridCol w="9640613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時期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何があったか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〜6月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グランドデザイン策定（棚卸し→評価→資源再配分の設計）。「工数は評価に使わない」を大原則に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7月上旬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部長FB第1弾37件に全件回答・7点を設計反映。棚卸しマスター整備、顧客746社・案件299件を起票（坪井さん）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7/14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山本会長と決議：STO発足・点検会議（月次60分）の議長を会長が内諾。部長会で進捗共有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7/15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部長FB第2弾13件→全件回答。運営変更5点を決定（確認会の合同化・担当列拡張・軽量化候補・AI窓口一本化・会議廃止の議題化）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7/16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体制確定（小沢さん専任・坪井さん兼務・大塩さん・柳沼さん）。成果目標＋5億（予算比）確定。プロジェクトのシンプル化を決定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過去の詳細設計は50本以上あるが、全部読む必要はない（必要になったら新谷か坪井さんが指す）。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018537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シンプル化済み（7/16決定）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いまの運転方針 — 動くものは3本だけ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338328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33832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40" y="2139696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816352"/>
            <a:ext cx="3090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確認会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3255264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主担当の確定（顧客746社・案件299件）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2836" y="1883664"/>
            <a:ext cx="338328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2836" y="1883664"/>
            <a:ext cx="33832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20156" y="2139696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9140" y="2816352"/>
            <a:ext cx="3090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財務ひも付け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0580" y="3255264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柳沼さんデータ×名寄せで金額を付ける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02752" y="1883664"/>
            <a:ext cx="338328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02752" y="1883664"/>
            <a:ext cx="33832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20072" y="2139696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6" y="2816352"/>
            <a:ext cx="30906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採点と力の入れ直し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3255264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ランクを決め、力の注ぎ先を変える</a:t>
            </a:r>
          </a:p>
        </p:txBody>
      </p:sp>
      <p:sp>
        <p:nvSpPr>
          <p:cNvPr id="20" name="Chevron 19"/>
          <p:cNvSpPr/>
          <p:nvPr/>
        </p:nvSpPr>
        <p:spPr>
          <a:xfrm>
            <a:off x="3913632" y="2587752"/>
            <a:ext cx="420624" cy="45720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evron 20"/>
          <p:cNvSpPr/>
          <p:nvPr/>
        </p:nvSpPr>
        <p:spPr>
          <a:xfrm>
            <a:off x="7813548" y="2587752"/>
            <a:ext cx="420624" cy="45720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023360"/>
            <a:ext cx="360273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023360"/>
            <a:ext cx="3602736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420624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会議は最小起動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" y="462686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分科会×3は隔週45分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STO内は週2回15分＋金曜レビュー30分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戦略会議（隔週）／点検会議（月次）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3108" y="4023360"/>
            <a:ext cx="360273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3108" y="4023360"/>
            <a:ext cx="3602736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94276" y="420624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資料は3つだけ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4276" y="462686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プロジェクト1枚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運用指南書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棚卸しマスター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83296" y="4023360"/>
            <a:ext cx="360273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83296" y="4023360"/>
            <a:ext cx="3602736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4206240"/>
            <a:ext cx="3200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現場向けルール3つ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626864"/>
            <a:ext cx="320040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評価に使わない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いま決めるのは主担当だけ</a:t>
            </a:r>
          </a:p>
          <a:p>
            <a:pPr algn="l">
              <a:spcAft>
                <a:spcPts val="500"/>
              </a:spcAft>
              <a:buFont typeface="Arial"/>
              <a:buChar char="・"/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迷ったら24時間で新谷へ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いまの状況（着任時点）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01952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01952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2157984"/>
            <a:ext cx="493776" cy="49377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08176" y="2011680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確認会はこれから開始（7/21週）。財務ひも付けは営業側データ（140社ランク・6年分の継続判断）の取り込みから先行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54096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054096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3310128"/>
            <a:ext cx="493776" cy="49377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3163824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工数計測は確認会完了後に開始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206240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206240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4462272"/>
            <a:ext cx="493776" cy="49377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4315968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分科会×3は7/28週に初回を実施し、8/4の初回点検会議（山本会長）に「決議・報告・承認」の3分類で上げる計画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358384"/>
            <a:ext cx="11183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358384"/>
            <a:ext cx="64008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5614416"/>
            <a:ext cx="493776" cy="49377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5468112"/>
            <a:ext cx="101041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未着手の設計テーマが小沢さんを待っている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次章の「引き取ってほしい5つ」を参照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2532887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役割：変革設計リード（専任・90日）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小沢さんに期待する役割（4つ）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73936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73936"/>
            <a:ext cx="64008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197967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2456" y="1920240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経営判断を成立させる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論点を「1ページ意思決定書」（問い→選択肢→推奨）に仕上げ、戦略会議・点検会議で決定まで持ち込む。論点発生から経営判断まで原則5営業日以内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752344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52344"/>
            <a:ext cx="64008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29580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2456" y="2898648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業務を変えて、部門に移管する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プロセス再設計とパイロット（1部門・2〜4週・数字で前後比較）。移管が完了して初めて成果——「資料を作った」は成果に数えない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30752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730752"/>
            <a:ext cx="64008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393649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" y="3877056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部門横断の合意形成の推進役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部長間の利害がぶつかる論点を「基準の議論」に翻訳して前に進める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09160"/>
            <a:ext cx="11183112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709160"/>
            <a:ext cx="64008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" y="49149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2456" y="4855464"/>
            <a:ext cx="10122408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外から来た目で「これはおかしい」と言う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社内の常識に染まっていないことが最大の武器。それを言ってもらうための専任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69280"/>
            <a:ext cx="11183112" cy="676656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669280"/>
            <a:ext cx="38100" cy="6766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742432"/>
            <a:ext cx="106984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データ加工と議事録はやりません。坪井さん（統制）と「一人が作り、もう一人がレビューする」の関係です。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353312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専任・週の使い方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想定工数（週の使い方の目安）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5486398" cy="3511296"/>
        </p:xfrm>
        <a:graphic>
          <a:graphicData uri="http://schemas.openxmlformats.org/drawingml/2006/table">
            <a:tbl>
              <a:tblPr firstRow="0" bandRow="0"/>
              <a:tblGrid>
                <a:gridCol w="3008670"/>
                <a:gridCol w="1061883"/>
                <a:gridCol w="1415845"/>
              </a:tblGrid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業務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配分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週40hなら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課題分析・改革設計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40%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16h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パイロット・部門実装支援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25%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10h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経営判断資料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6h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6h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緊急対応・思考の余白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2h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920240"/>
            <a:ext cx="5486400" cy="3511296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工数の防衛ルール</a:t>
            </a:r>
          </a:p>
        </p:txBody>
      </p:sp>
      <p:sp>
        <p:nvSpPr>
          <p:cNvPr id="9" name="Oval 8"/>
          <p:cNvSpPr/>
          <p:nvPr/>
        </p:nvSpPr>
        <p:spPr>
          <a:xfrm>
            <a:off x="6400800" y="257860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152" y="2523744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会議は週8時間以内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坪井さんとの同席は週4h以内・分科会はどちらか1名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30098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3246120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資料は1ページまで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装飾を始めたら赤信号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02336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3968496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稼働を100%埋めない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1割は突発の重要課題用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74573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31152" y="4690872"/>
            <a:ext cx="4553712" cy="722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元業務の引継ぎ支援は4週間・週2時間以内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着任後4週で完了させる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14416"/>
            <a:ext cx="11183112" cy="65836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14416"/>
            <a:ext cx="38100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66928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STOが自分の首を絞めないための約束です。守れなくなりそうなときは新谷に言ってください。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22301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着任後の最優先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最初に引き取ってほしい5つ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10" cy="3950208"/>
        </p:xfrm>
        <a:graphic>
          <a:graphicData uri="http://schemas.openxmlformats.org/drawingml/2006/table">
            <a:tbl>
              <a:tblPr firstRow="0" bandRow="0"/>
              <a:tblGrid>
                <a:gridCol w="578436"/>
                <a:gridCol w="8290927"/>
                <a:gridCol w="2313747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5億ブリッジ第1版：ギャップ6.25億を6レバーに割り付け、レバー別の責任者と目標額を確定（第0版あり）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最優先・Day30目標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読み管理（案件確度）の定義確定：大塩さんの原案（黒青赤の状態ベース）をレビューし分科会で確定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原案待ち→レビュー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アセット素材Webフロー化のパイロット設計：1部門・2〜4週で試し、数字で前後比較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候補印付きで坪井さんが保持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1ページ意思決定書の運用開始：論点→選択肢→推奨の型で戦略・点検会議に論点を上げる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型は設計済み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日次の督促・エスカレーション運用（今日から小沢さんの担務）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8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即時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42432"/>
            <a:ext cx="11183112" cy="640080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42432"/>
            <a:ext cx="38100" cy="64008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97296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中期の本丸　</a:t>
            </a: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監修改革（営業時間の8割を占めるボトルネック。判断基準の形式知化＋決定記録方式。論点メモあり）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744218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体制と守ってほしいこと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チームと原則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5989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体制（専任1・兼務3・オーナー1）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249424"/>
          <a:ext cx="5989319" cy="3621024"/>
        </p:xfrm>
        <a:graphic>
          <a:graphicData uri="http://schemas.openxmlformats.org/drawingml/2006/table">
            <a:tbl>
              <a:tblPr firstRow="0" bandRow="0"/>
              <a:tblGrid>
                <a:gridCol w="1916582"/>
                <a:gridCol w="1357579"/>
                <a:gridCol w="2715158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人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備考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15240" cap="flat">
                      <a:solidFill>
                        <a:srgbClr val="2563EB"/>
                      </a:solidFill>
                    </a:lnB>
                    <a:lnT w="15240" cap="flat">
                      <a:solidFill>
                        <a:srgbClr val="2563EB"/>
                      </a:solidFill>
                    </a:lnT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優先順位・障害の除去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1E40AF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1E40AF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小沢さん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1E40AF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改革の中身（専任）</a:t>
                      </a:r>
                    </a:p>
                  </a:txBody>
                  <a:tcPr marL="73152" marR="54864" marT="18288" marB="18288" anchor="ctr">
                    <a:solidFill>
                      <a:srgbClr val="EAF1FE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坪井さん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データ正本管理・棚卸し基盤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大塩さん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HD経営企画・並走PJ整理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2563EB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柳沼さん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1B1B26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データ供給・粗利算定検証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93408" y="1920240"/>
            <a:ext cx="4992624" cy="374903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93408" y="1920240"/>
            <a:ext cx="4992624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1920240"/>
            <a:ext cx="499262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守ってほしい原則（3つ＋1つ）</a:t>
            </a:r>
          </a:p>
        </p:txBody>
      </p:sp>
      <p:sp>
        <p:nvSpPr>
          <p:cNvPr id="10" name="Oval 9"/>
          <p:cNvSpPr/>
          <p:nvPr/>
        </p:nvSpPr>
        <p:spPr>
          <a:xfrm>
            <a:off x="6894576" y="257860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4928" y="2523744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工数・データは個人の評価に使わない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この改革の信頼の土台。例外なし</a:t>
            </a:r>
          </a:p>
        </p:txBody>
      </p:sp>
      <p:sp>
        <p:nvSpPr>
          <p:cNvPr id="12" name="Oval 11"/>
          <p:cNvSpPr/>
          <p:nvPr/>
        </p:nvSpPr>
        <p:spPr>
          <a:xfrm>
            <a:off x="6894576" y="332841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8" y="3273552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会議は週8時間以内・資料は1ページまで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STOが忙しいことは成果ではない</a:t>
            </a:r>
          </a:p>
        </p:txBody>
      </p:sp>
      <p:sp>
        <p:nvSpPr>
          <p:cNvPr id="14" name="Oval 13"/>
          <p:cNvSpPr/>
          <p:nvPr/>
        </p:nvSpPr>
        <p:spPr>
          <a:xfrm>
            <a:off x="6894576" y="407822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4023360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90日後にSTOが定常業務を抱えていない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部門へ移管して初めて成果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48280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4773168"/>
            <a:ext cx="407822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E40AF"/>
                </a:solidFill>
                <a:latin typeface="Yu Gothic"/>
                <a:ea typeface="Yu Gothic"/>
                <a:cs typeface="Yu Gothic"/>
              </a:rPr>
              <a:t>＋5億の現場への出し方は新谷が管理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数字だけを降ろさない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743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着任準備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資料の読む順と初週の予定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35024"/>
            <a:ext cx="11183112" cy="1143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54864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5486400" cy="4572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資料の読む順（4ステップ）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2578608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2542032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プロジェクト1枚（全員の共通言語・A4一枚）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3145536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3108960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本ブリーフ（この文書）</a:t>
            </a:r>
          </a:p>
        </p:txBody>
      </p:sp>
      <p:sp>
        <p:nvSpPr>
          <p:cNvPr id="12" name="Oval 11"/>
          <p:cNvSpPr/>
          <p:nvPr/>
        </p:nvSpPr>
        <p:spPr>
          <a:xfrm>
            <a:off x="713232" y="3712464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3675888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STO設計書＋運用指南書2章（小沢さんの章）</a:t>
            </a:r>
          </a:p>
        </p:txBody>
      </p:sp>
      <p:sp>
        <p:nvSpPr>
          <p:cNvPr id="14" name="Oval 13"/>
          <p:cNvSpPr/>
          <p:nvPr/>
        </p:nvSpPr>
        <p:spPr>
          <a:xfrm>
            <a:off x="713232" y="4279392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242816"/>
            <a:ext cx="462686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着手テーマの該当設計メモを都度（成果目標／監修改革ほか）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920240"/>
            <a:ext cx="54864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9632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初週の予定（新谷がセット）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596896"/>
            <a:ext cx="1188720" cy="38404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59689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30分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17536" y="2542032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この文書の読み合わせ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163824"/>
            <a:ext cx="1188720" cy="38404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16382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60分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17536" y="3108960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坪井さんとデータ現在地確認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730752"/>
            <a:ext cx="1188720" cy="38404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730752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30分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3675888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大塩さんと読み管理・並走PJ引き継ぎ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4297680"/>
            <a:ext cx="1188720" cy="384048"/>
          </a:xfrm>
          <a:prstGeom prst="rect">
            <a:avLst/>
          </a:prstGeom>
          <a:solidFill>
            <a:srgbClr val="EA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29768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2563EB"/>
                </a:solidFill>
                <a:latin typeface="Yu Gothic"/>
                <a:ea typeface="Yu Gothic"/>
                <a:cs typeface="Yu Gothic"/>
              </a:rPr>
              <a:t>金曜17:00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4242816"/>
            <a:ext cx="380390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B1B26"/>
                </a:solidFill>
                <a:latin typeface="Yu Gothic"/>
                <a:ea typeface="Yu Gothic"/>
                <a:cs typeface="Yu Gothic"/>
              </a:rPr>
              <a:t>週次レビューに初参加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138928"/>
            <a:ext cx="11183112" cy="10058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138928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285232"/>
            <a:ext cx="10698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外から来た目で「これはおかしい」を遠慮なく言ってください。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FD4FE"/>
                </a:solidFill>
                <a:latin typeface="Yu Gothic"/>
                <a:ea typeface="Yu Gothic"/>
                <a:cs typeface="Yu Gothic"/>
              </a:rPr>
              <a:t>それを言ってもらうための専任です。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F9C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