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4572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3F3F3F"/>
                </a:solidFill>
                <a:latin typeface="ＭＳ Ｐゴシック"/>
                <a:ea typeface="ＭＳ Ｐゴシック"/>
              </a:rPr>
              <a:t>営業改革推進室（STO）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89520" y="475488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spc="200">
                <a:solidFill>
                  <a:srgbClr val="7F7F7F"/>
                </a:solidFill>
                <a:latin typeface="ＭＳ Ｐゴシック"/>
                <a:ea typeface="ＭＳ Ｐゴシック"/>
              </a:rPr>
              <a:t>TSUBURAYA PRODUCTIONS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33172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0">
                <a:solidFill>
                  <a:srgbClr val="262626"/>
                </a:solidFill>
                <a:latin typeface="ＭＳ Ｐゴシック"/>
                <a:ea typeface="ＭＳ Ｐゴシック"/>
              </a:rPr>
              <a:t>業績定点報告 — 営業利益40億の達成管理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32461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0">
                <a:solidFill>
                  <a:srgbClr val="3F3F3F"/>
                </a:solidFill>
                <a:latin typeface="ＭＳ Ｐゴシック"/>
                <a:ea typeface="ＭＳ Ｐゴシック"/>
              </a:rPr>
              <a:t>円谷プロダクション 経営会議 | 2026年8月（8月13日正本ベース）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09360"/>
            <a:ext cx="12191695" cy="77724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47395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 spc="300">
                <a:solidFill>
                  <a:srgbClr val="3F3F3F"/>
                </a:solidFill>
                <a:latin typeface="ＭＳ Ｐゴシック"/>
                <a:ea typeface="ＭＳ Ｐゴシック"/>
              </a:rPr>
              <a:t>対 外 厳 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74320"/>
            <a:ext cx="1920240" cy="29260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5468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1. 今月の全体像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spc="300">
                <a:solidFill>
                  <a:srgbClr val="3F3F3F"/>
                </a:solidFill>
                <a:latin typeface="ＭＳ Ｐゴシック"/>
                <a:ea typeface="ＭＳ Ｐゴシック"/>
              </a:rPr>
              <a:t>社 外 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31520"/>
            <a:ext cx="1234440" cy="50292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877824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262626"/>
                </a:solidFill>
                <a:latin typeface="ＭＳ Ｐゴシック"/>
                <a:ea typeface="ＭＳ Ｐゴシック"/>
              </a:rPr>
              <a:t>営業利益40億 達成管理 — 今月のサマリー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8988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F3F3F"/>
                </a:solidFill>
                <a:latin typeface="ＭＳ Ｐゴシック"/>
                <a:ea typeface="ＭＳ Ｐゴシック"/>
              </a:rPr>
              <a:t>毎月同じ7枚のみを更新して報告する。見る数字は3つ：通期見込／40億までの残り／確定（黒）の額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65960"/>
            <a:ext cx="360273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65960"/>
            <a:ext cx="3602736" cy="329184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02082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3F3F3F"/>
                </a:solidFill>
                <a:latin typeface="ＭＳ Ｐゴシック"/>
                <a:ea typeface="ＭＳ Ｐゴシック"/>
              </a:rPr>
              <a:t>通期見込（PL・販管費込み）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95728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>
                <a:solidFill>
                  <a:srgbClr val="262626"/>
                </a:solidFill>
                <a:latin typeface="ＭＳ Ｐゴシック"/>
                <a:ea typeface="ＭＳ Ｐゴシック"/>
              </a:rPr>
              <a:t>19.8億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99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前期5.7億から＋14.2億。部門目標23.7億比▲3.9億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965960"/>
            <a:ext cx="360273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965960"/>
            <a:ext cx="3602736" cy="329184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62272" y="202082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3F3F3F"/>
                </a:solidFill>
                <a:latin typeface="ＭＳ Ｐゴシック"/>
                <a:ea typeface="ＭＳ Ｐゴシック"/>
              </a:rPr>
              <a:t>40億まで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395728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>
                <a:solidFill>
                  <a:srgbClr val="C00000"/>
                </a:solidFill>
                <a:latin typeface="ＭＳ Ｐゴシック"/>
                <a:ea typeface="ＭＳ Ｐゴシック"/>
              </a:rPr>
              <a:t>あと20.2億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999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挽回3.9＋アップサイド15＋コスト1.3で到達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3672" y="1901952"/>
            <a:ext cx="3730752" cy="1545336"/>
          </a:xfrm>
          <a:prstGeom prst="rect">
            <a:avLst/>
          </a:prstGeom>
          <a:noFill/>
          <a:ln w="1778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965960"/>
            <a:ext cx="3602736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92440" y="1965960"/>
            <a:ext cx="3602736" cy="329184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1" y="202082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3F3F3F"/>
                </a:solidFill>
                <a:latin typeface="ＭＳ Ｐゴシック"/>
                <a:ea typeface="ＭＳ Ｐゴシック"/>
              </a:rPr>
              <a:t>アップサイドの確定（黒）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19" y="2395728"/>
            <a:ext cx="32918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>
                <a:solidFill>
                  <a:srgbClr val="262626"/>
                </a:solidFill>
                <a:latin typeface="ＭＳ Ｐゴシック"/>
                <a:ea typeface="ＭＳ Ｐゴシック"/>
              </a:rPr>
              <a:t>0.3億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99923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カード9弾（8/17受注確定）。青・赤の転換が毎月の焦点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675887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262626"/>
                </a:solidFill>
                <a:latin typeface="ＭＳ Ｐゴシック"/>
                <a:ea typeface="ＭＳ Ｐゴシック"/>
              </a:rPr>
              <a:t>今月のポイント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931919"/>
            <a:ext cx="5029200" cy="127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6928" y="4041648"/>
            <a:ext cx="110642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850" b="0">
                <a:solidFill>
                  <a:srgbClr val="1F3864"/>
                </a:solidFill>
                <a:latin typeface="ＭＳ Ｐゴシック"/>
                <a:ea typeface="ＭＳ Ｐゴシック"/>
              </a:rPr>
              <a:t>●  </a:t>
            </a:r>
            <a:r>
              <a:rPr sz="1100" b="0">
                <a:solidFill>
                  <a:srgbClr val="3F3F3F"/>
                </a:solidFill>
                <a:latin typeface="ＭＳ Ｐゴシック"/>
                <a:ea typeface="ＭＳ Ｐゴシック"/>
              </a:rPr>
              <a:t>全社共通のPL正本が初めて確定（8/13・財務検証済み）。以後この数字だけで議論する</a:t>
            </a:r>
          </a:p>
          <a:p>
            <a:pPr>
              <a:spcAft>
                <a:spcPts val="600"/>
              </a:spcAft>
            </a:pPr>
            <a:r>
              <a:rPr sz="850" b="0">
                <a:solidFill>
                  <a:srgbClr val="1F3864"/>
                </a:solidFill>
                <a:latin typeface="ＭＳ Ｐゴシック"/>
                <a:ea typeface="ＭＳ Ｐゴシック"/>
              </a:rPr>
              <a:t>●  </a:t>
            </a:r>
            <a:r>
              <a:rPr sz="1100" b="0">
                <a:solidFill>
                  <a:srgbClr val="3F3F3F"/>
                </a:solidFill>
                <a:latin typeface="ＭＳ Ｐゴシック"/>
                <a:ea typeface="ＭＳ Ｐゴシック"/>
              </a:rPr>
              <a:t>目標比▲3.9億は3カ所に集中：ライブ▲1.8億／ライセンス（海外ディス・国内MD）▲2.2億／管理販管費＋1.5億。挽回オーナーを本日確定する</a:t>
            </a:r>
          </a:p>
          <a:p>
            <a:pPr>
              <a:spcAft>
                <a:spcPts val="600"/>
              </a:spcAft>
            </a:pPr>
            <a:r>
              <a:rPr sz="850" b="0">
                <a:solidFill>
                  <a:srgbClr val="C00000"/>
                </a:solidFill>
                <a:latin typeface="ＭＳ Ｐゴシック"/>
                <a:ea typeface="ＭＳ Ｐゴシック"/>
              </a:rPr>
              <a:t>●  </a:t>
            </a:r>
            <a:r>
              <a:rPr sz="1100" b="0">
                <a:solidFill>
                  <a:srgbClr val="3F3F3F"/>
                </a:solidFill>
                <a:latin typeface="ＭＳ Ｐゴシック"/>
                <a:ea typeface="ＭＳ Ｐゴシック"/>
              </a:rPr>
              <a:t>構造リスク：中国単体の利益22.4億が全社19.8億を上回り、中国以外は▲2.5億。中国の契約防衛を常設の確認事項とする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303520"/>
            <a:ext cx="11183112" cy="932688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5303520"/>
            <a:ext cx="54864" cy="932688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5422392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262626"/>
                </a:solidFill>
                <a:latin typeface="ＭＳ Ｐゴシック"/>
                <a:ea typeface="ＭＳ Ｐゴシック"/>
              </a:rPr>
              <a:t>本日決めていただきたいこと（3件）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3F3F3F"/>
                </a:solidFill>
                <a:latin typeface="ＭＳ Ｐゴシック"/>
                <a:ea typeface="ＭＳ Ｐゴシック"/>
              </a:rPr>
              <a:t>①挽回3本（ライブ・海外ディス／国内MD・管理販管費）のオーナーと期限　②コスト削減の目標額　③トップ外交のターゲット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556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62626"/>
                </a:solidFill>
                <a:latin typeface="ＭＳ Ｐゴシック"/>
                <a:ea typeface="ＭＳ Ｐゴシック"/>
              </a:rPr>
              <a:t>円谷プロダクション STO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64922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ＭＳ Ｐゴシック"/>
                <a:ea typeface="ＭＳ Ｐゴシック"/>
              </a:rPr>
              <a:t>出所：部門別通期見込サマリー（2026年8月13日時点・財務検証済み）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6483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spc="150">
                <a:solidFill>
                  <a:srgbClr val="3F3F3F"/>
                </a:solidFill>
                <a:latin typeface="ＭＳ Ｐゴシック"/>
                <a:ea typeface="ＭＳ Ｐゴシック"/>
              </a:rPr>
              <a:t>TSUBURAYA PRODUCTIONS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74320"/>
            <a:ext cx="1920240" cy="29260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5468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1. 今月の全体像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spc="300">
                <a:solidFill>
                  <a:srgbClr val="3F3F3F"/>
                </a:solidFill>
                <a:latin typeface="ＭＳ Ｐゴシック"/>
                <a:ea typeface="ＭＳ Ｐゴシック"/>
              </a:rPr>
              <a:t>社 外 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31520"/>
            <a:ext cx="1234440" cy="50292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877824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262626"/>
                </a:solidFill>
                <a:latin typeface="ＭＳ Ｐゴシック"/>
                <a:ea typeface="ＭＳ Ｐゴシック"/>
              </a:rPr>
              <a:t>40億まで、あと20.2億 — 現在地からの道筋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8988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F3F3F"/>
                </a:solidFill>
                <a:latin typeface="ＭＳ Ｐゴシック"/>
                <a:ea typeface="ＭＳ Ｐゴシック"/>
              </a:rPr>
              <a:t>通期見込19.8億から4つのブロックで積み上げる。このページの形は毎月変えない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3903573"/>
            <a:ext cx="1481328" cy="171998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620109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62626"/>
                </a:solidFill>
                <a:latin typeface="ＭＳ Ｐゴシック"/>
                <a:ea typeface="ＭＳ Ｐゴシック"/>
              </a:rPr>
              <a:t>19.8億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" y="4635550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現在地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3564788"/>
            <a:ext cx="1481328" cy="338785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60320" y="3281324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00000"/>
                </a:solidFill>
                <a:latin typeface="ＭＳ Ｐゴシック"/>
                <a:ea typeface="ＭＳ Ｐゴシック"/>
              </a:rPr>
              <a:t>＋3.9億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34056" y="3606165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ベース挽回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2261768"/>
            <a:ext cx="1481328" cy="1303020"/>
          </a:xfrm>
          <a:prstGeom prst="rect">
            <a:avLst/>
          </a:prstGeom>
          <a:solidFill>
            <a:srgbClr val="318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978304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1859B"/>
                </a:solidFill>
                <a:latin typeface="ＭＳ Ｐゴシック"/>
                <a:ea typeface="ＭＳ Ｐゴシック"/>
              </a:rPr>
              <a:t>＋15億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456" y="2785262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アップサイド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03720" y="2148840"/>
            <a:ext cx="1481328" cy="11292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1865376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C55A11"/>
                </a:solidFill>
                <a:latin typeface="ＭＳ Ｐゴシック"/>
                <a:ea typeface="ＭＳ Ｐゴシック"/>
              </a:rPr>
              <a:t>＋1.3億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148840"/>
            <a:ext cx="1481328" cy="34747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32520" y="1865376"/>
            <a:ext cx="19385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262626"/>
                </a:solidFill>
                <a:latin typeface="ＭＳ Ｐゴシック"/>
                <a:ea typeface="ＭＳ Ｐゴシック"/>
              </a:rPr>
              <a:t>40億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06256" y="3758184"/>
            <a:ext cx="159105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今期目標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12848" y="3903573"/>
            <a:ext cx="576071" cy="12700"/>
          </a:xfrm>
          <a:prstGeom prst="rect">
            <a:avLst/>
          </a:prstGeom>
          <a:noFill/>
          <a:ln w="1143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70248" y="3564788"/>
            <a:ext cx="576071" cy="12700"/>
          </a:xfrm>
          <a:prstGeom prst="rect">
            <a:avLst/>
          </a:prstGeom>
          <a:noFill/>
          <a:ln w="1143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27648" y="2261768"/>
            <a:ext cx="576071" cy="12700"/>
          </a:xfrm>
          <a:prstGeom prst="rect">
            <a:avLst/>
          </a:prstGeom>
          <a:noFill/>
          <a:ln w="1143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85048" y="2148840"/>
            <a:ext cx="576072" cy="12700"/>
          </a:xfrm>
          <a:prstGeom prst="rect">
            <a:avLst/>
          </a:prstGeom>
          <a:noFill/>
          <a:ln w="11430">
            <a:solidFill>
              <a:srgbClr val="7F7F7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" y="5623560"/>
            <a:ext cx="9966960" cy="15240"/>
          </a:xfrm>
          <a:prstGeom prst="rect">
            <a:avLst/>
          </a:prstGeom>
          <a:solidFill>
            <a:srgbClr val="3F3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68879" y="5760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1F3864"/>
                </a:solidFill>
                <a:latin typeface="ＭＳ Ｐゴシック"/>
                <a:ea typeface="ＭＳ Ｐゴシック"/>
              </a:rPr>
              <a:t>毀損の復元</a:t>
            </a:r>
          </a:p>
          <a:p>
            <a:pPr algn="ctr">
              <a:spcAft>
                <a:spcPts val="0"/>
              </a:spcAft>
            </a:pPr>
            <a:r>
              <a:rPr sz="750" b="0">
                <a:solidFill>
                  <a:srgbClr val="7F7F7F"/>
                </a:solidFill>
                <a:latin typeface="ＭＳ Ｐゴシック"/>
                <a:ea typeface="ＭＳ Ｐゴシック"/>
              </a:rPr>
              <a:t>ライブ・海外ディス・国内MD（5頁）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26280" y="5760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1F3864"/>
                </a:solidFill>
                <a:latin typeface="ＭＳ Ｐゴシック"/>
                <a:ea typeface="ＭＳ Ｐゴシック"/>
              </a:rPr>
              <a:t>確度で管理</a:t>
            </a:r>
          </a:p>
          <a:p>
            <a:pPr algn="ctr">
              <a:spcAft>
                <a:spcPts val="0"/>
              </a:spcAft>
            </a:pPr>
            <a:r>
              <a:rPr sz="750" b="0">
                <a:solidFill>
                  <a:srgbClr val="7F7F7F"/>
                </a:solidFill>
                <a:latin typeface="ＭＳ Ｐゴシック"/>
                <a:ea typeface="ＭＳ Ｐゴシック"/>
              </a:rPr>
              <a:t>黒0.3／青／赤（7頁）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5760720"/>
            <a:ext cx="2148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100"/>
              </a:spcAft>
            </a:pPr>
            <a:r>
              <a:rPr sz="950" b="1">
                <a:solidFill>
                  <a:srgbClr val="1F3864"/>
                </a:solidFill>
                <a:latin typeface="ＭＳ Ｐゴシック"/>
                <a:ea typeface="ＭＳ Ｐゴシック"/>
              </a:rPr>
              <a:t>コスト削減（第3のレバー）</a:t>
            </a:r>
          </a:p>
          <a:p>
            <a:pPr algn="ctr">
              <a:spcAft>
                <a:spcPts val="0"/>
              </a:spcAft>
            </a:pPr>
            <a:r>
              <a:rPr sz="750" b="0">
                <a:solidFill>
                  <a:srgbClr val="7F7F7F"/>
                </a:solidFill>
                <a:latin typeface="ＭＳ Ｐゴシック"/>
                <a:ea typeface="ＭＳ Ｐゴシック"/>
              </a:rPr>
              <a:t>販管費超過＋1.0億の解消を含む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212848"/>
            <a:ext cx="3566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262626"/>
                </a:solidFill>
                <a:latin typeface="ＭＳ Ｐゴシック"/>
                <a:ea typeface="ＭＳ Ｐゴシック"/>
              </a:rPr>
              <a:t>現在地の評価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2468880"/>
            <a:ext cx="3566160" cy="127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2578608"/>
            <a:ext cx="35661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3F3F3F"/>
                </a:solidFill>
                <a:latin typeface="ＭＳ Ｐゴシック"/>
                <a:ea typeface="ＭＳ Ｐゴシック"/>
              </a:rPr>
              <a:t>前期5.7億 → 見込19.8億（＋14.2億の改善）。</a:t>
            </a:r>
          </a:p>
          <a:p>
            <a:pPr>
              <a:spcAft>
                <a:spcPts val="400"/>
              </a:spcAft>
            </a:pPr>
            <a:r>
              <a:rPr sz="1000" b="1">
                <a:solidFill>
                  <a:srgbClr val="C00000"/>
                </a:solidFill>
                <a:latin typeface="ＭＳ Ｐゴシック"/>
                <a:ea typeface="ＭＳ Ｐゴシック"/>
              </a:rPr>
              <a:t>ただし部門目標23.7億比では▲3.9億</a:t>
            </a:r>
          </a:p>
          <a:p>
            <a:pPr>
              <a:spcAft>
                <a:spcPts val="0"/>
              </a:spcAft>
            </a:pPr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※カード9弾等は見込に未反映。毎月「あといくら」を更新する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556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62626"/>
                </a:solidFill>
                <a:latin typeface="ＭＳ Ｐゴシック"/>
                <a:ea typeface="ＭＳ Ｐゴシック"/>
              </a:rPr>
              <a:t>円谷プロダクション STO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1800" y="64922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ＭＳ Ｐゴシック"/>
                <a:ea typeface="ＭＳ Ｐゴシック"/>
              </a:rPr>
              <a:t>出所：部門別通期見込サマリー（2026年8月13日時点・財務検証済み）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6483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spc="150">
                <a:solidFill>
                  <a:srgbClr val="3F3F3F"/>
                </a:solidFill>
                <a:latin typeface="ＭＳ Ｐゴシック"/>
                <a:ea typeface="ＭＳ Ｐゴシック"/>
              </a:rPr>
              <a:t>TSUBURAYA PRODUCTIONS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74320"/>
            <a:ext cx="2148840" cy="29260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546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2. 利益の構造と毀損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spc="300">
                <a:solidFill>
                  <a:srgbClr val="3F3F3F"/>
                </a:solidFill>
                <a:latin typeface="ＭＳ Ｐゴシック"/>
                <a:ea typeface="ＭＳ Ｐゴシック"/>
              </a:rPr>
              <a:t>社 外 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31520"/>
            <a:ext cx="1234440" cy="50292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877824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262626"/>
                </a:solidFill>
                <a:latin typeface="ＭＳ Ｐゴシック"/>
                <a:ea typeface="ＭＳ Ｐゴシック"/>
              </a:rPr>
              <a:t>利益の構造 — どこで稼ぎ、どこで使っているか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8988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F3F3F"/>
                </a:solidFill>
                <a:latin typeface="ＭＳ Ｐゴシック"/>
                <a:ea typeface="ＭＳ Ｐゴシック"/>
              </a:rPr>
              <a:t>単位：億円（営業利益・共通費配賦後）。この構造理解が全アクションの前提となる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65960"/>
            <a:ext cx="2624328" cy="34747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29967"/>
            <a:ext cx="262432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部門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54680" y="1965960"/>
            <a:ext cx="1207008" cy="34747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54680" y="2029967"/>
            <a:ext cx="1207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目標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1965960"/>
            <a:ext cx="1207008" cy="34747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2029967"/>
            <a:ext cx="1207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見込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23560" y="1965960"/>
            <a:ext cx="1207008" cy="34747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60" y="2029967"/>
            <a:ext cx="120700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差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0" y="1965960"/>
            <a:ext cx="4800600" cy="34747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0" y="2029967"/>
            <a:ext cx="4800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読み方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50008"/>
            <a:ext cx="2624328" cy="493775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" y="247802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262626"/>
                </a:solidFill>
                <a:latin typeface="ＭＳ Ｐゴシック"/>
                <a:ea typeface="ＭＳ Ｐゴシック"/>
              </a:rPr>
              <a:t>営業事業本部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9544" y="2478024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3F3F3F"/>
                </a:solidFill>
                <a:latin typeface="ＭＳ Ｐゴシック"/>
                <a:ea typeface="ＭＳ Ｐゴシック"/>
              </a:rPr>
              <a:t>42.1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3984" y="2478024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3F3F3F"/>
                </a:solidFill>
                <a:latin typeface="ＭＳ Ｐゴシック"/>
                <a:ea typeface="ＭＳ Ｐゴシック"/>
              </a:rPr>
              <a:t>38.4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78424" y="2478024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C00000"/>
                </a:solidFill>
                <a:latin typeface="ＭＳ Ｐゴシック"/>
                <a:ea typeface="ＭＳ Ｐゴシック"/>
              </a:rPr>
              <a:t>▲3.7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12864" y="2432303"/>
            <a:ext cx="46817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うち中国22.4億・国内ライセンス（粗利率86%）が利益の源泉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862072"/>
            <a:ext cx="11183112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2880360"/>
            <a:ext cx="2624328" cy="493775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" y="3008376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262626"/>
                </a:solidFill>
                <a:latin typeface="ＭＳ Ｐゴシック"/>
                <a:ea typeface="ＭＳ Ｐゴシック"/>
              </a:rPr>
              <a:t>　うち中国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9544" y="3008376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3F3F3F"/>
                </a:solidFill>
                <a:latin typeface="ＭＳ Ｐゴシック"/>
                <a:ea typeface="ＭＳ Ｐゴシック"/>
              </a:rPr>
              <a:t>22.7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4" y="3008376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3F3F3F"/>
                </a:solidFill>
                <a:latin typeface="ＭＳ Ｐゴシック"/>
                <a:ea typeface="ＭＳ Ｐゴシック"/>
              </a:rPr>
              <a:t>22.4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78424" y="3008376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C00000"/>
                </a:solidFill>
                <a:latin typeface="ＭＳ Ｐゴシック"/>
                <a:ea typeface="ＭＳ Ｐゴシック"/>
              </a:rPr>
              <a:t>▲0.3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12864" y="2962656"/>
            <a:ext cx="46817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1">
                <a:solidFill>
                  <a:srgbClr val="1F3864"/>
                </a:solidFill>
                <a:latin typeface="ＭＳ Ｐゴシック"/>
                <a:ea typeface="ＭＳ Ｐゴシック"/>
              </a:rPr>
              <a:t>全社利益19.8億を単体で上回る。契約・取り分率の防衛が生命線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392424"/>
            <a:ext cx="11183112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2852928"/>
            <a:ext cx="11274552" cy="548640"/>
          </a:xfrm>
          <a:prstGeom prst="rect">
            <a:avLst/>
          </a:prstGeom>
          <a:noFill/>
          <a:ln w="1778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3410712"/>
            <a:ext cx="2624328" cy="493775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53872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262626"/>
                </a:solidFill>
                <a:latin typeface="ＭＳ Ｐゴシック"/>
                <a:ea typeface="ＭＳ Ｐゴシック"/>
              </a:rPr>
              <a:t>商品開発事業本部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9544" y="3538728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3F3F3F"/>
                </a:solidFill>
                <a:latin typeface="ＭＳ Ｐゴシック"/>
                <a:ea typeface="ＭＳ Ｐゴシック"/>
              </a:rPr>
              <a:t>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43984" y="3538728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3F3F3F"/>
                </a:solidFill>
                <a:latin typeface="ＭＳ Ｐゴシック"/>
                <a:ea typeface="ＭＳ Ｐゴシック"/>
              </a:rPr>
              <a:t>0.7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78424" y="3538728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C00000"/>
                </a:solidFill>
                <a:latin typeface="ＭＳ Ｐゴシック"/>
                <a:ea typeface="ＭＳ Ｐゴシック"/>
              </a:rPr>
              <a:t>▲0.3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3493008"/>
            <a:ext cx="46817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カード9弾（8/17受注）が未反映。反転見込み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922776"/>
            <a:ext cx="11183112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3941063"/>
            <a:ext cx="2624328" cy="493775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406907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262626"/>
                </a:solidFill>
                <a:latin typeface="ＭＳ Ｐゴシック"/>
                <a:ea typeface="ＭＳ Ｐゴシック"/>
              </a:rPr>
              <a:t>映像事業本部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9544" y="4069079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3F3F3F"/>
                </a:solidFill>
                <a:latin typeface="ＭＳ Ｐゴシック"/>
                <a:ea typeface="ＭＳ Ｐゴシック"/>
              </a:rPr>
              <a:t>▲4.0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43984" y="4069079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3F3F3F"/>
                </a:solidFill>
                <a:latin typeface="ＭＳ Ｐゴシック"/>
                <a:ea typeface="ＭＳ Ｐゴシック"/>
              </a:rPr>
              <a:t>▲3.8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78424" y="4069079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31859B"/>
                </a:solidFill>
                <a:latin typeface="ＭＳ Ｐゴシック"/>
                <a:ea typeface="ＭＳ Ｐゴシック"/>
              </a:rPr>
              <a:t>＋0.2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12864" y="4023359"/>
            <a:ext cx="46817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構造赤字。製作投資としての位置づけを別途整理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453128"/>
            <a:ext cx="11183112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471416"/>
            <a:ext cx="2624328" cy="493775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2648" y="459943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262626"/>
                </a:solidFill>
                <a:latin typeface="ＭＳ Ｐゴシック"/>
                <a:ea typeface="ＭＳ Ｐゴシック"/>
              </a:rPr>
              <a:t>管理・共通ほか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9544" y="4599431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3F3F3F"/>
                </a:solidFill>
                <a:latin typeface="ＭＳ Ｐゴシック"/>
                <a:ea typeface="ＭＳ Ｐゴシック"/>
              </a:rPr>
              <a:t>▲15.5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43984" y="4599431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3F3F3F"/>
                </a:solidFill>
                <a:latin typeface="ＭＳ Ｐゴシック"/>
                <a:ea typeface="ＭＳ Ｐゴシック"/>
              </a:rPr>
              <a:t>▲15.5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78424" y="4599431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C00000"/>
                </a:solidFill>
                <a:latin typeface="ＭＳ Ｐゴシック"/>
                <a:ea typeface="ＭＳ Ｐゴシック"/>
              </a:rPr>
              <a:t>▲0.1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12864" y="4553712"/>
            <a:ext cx="46817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販管費超過＋1.0億の主因（総務・法務/人事/財務経理）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4983480"/>
            <a:ext cx="11183112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02920" y="5001768"/>
            <a:ext cx="2624328" cy="493775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983480"/>
            <a:ext cx="11183112" cy="17780"/>
          </a:xfrm>
          <a:prstGeom prst="rect">
            <a:avLst/>
          </a:prstGeom>
          <a:solidFill>
            <a:srgbClr val="3F3F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2648" y="51297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262626"/>
                </a:solidFill>
                <a:latin typeface="ＭＳ Ｐゴシック"/>
                <a:ea typeface="ＭＳ Ｐゴシック"/>
              </a:rPr>
              <a:t>全社合計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09544" y="5129783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3F3F3F"/>
                </a:solidFill>
                <a:latin typeface="ＭＳ Ｐゴシック"/>
                <a:ea typeface="ＭＳ Ｐゴシック"/>
              </a:rPr>
              <a:t>23.7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443984" y="5129783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3F3F3F"/>
                </a:solidFill>
                <a:latin typeface="ＭＳ Ｐゴシック"/>
                <a:ea typeface="ＭＳ Ｐゴシック"/>
              </a:rPr>
              <a:t>19.8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78424" y="5129783"/>
            <a:ext cx="1088136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C00000"/>
                </a:solidFill>
                <a:latin typeface="ＭＳ Ｐゴシック"/>
                <a:ea typeface="ＭＳ Ｐゴシック"/>
              </a:rPr>
              <a:t>▲3.9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12864" y="5084064"/>
            <a:ext cx="4681728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粗利率56%・販管費26.0億（売上比32%）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5513832"/>
            <a:ext cx="11183112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02920" y="5632704"/>
            <a:ext cx="11183112" cy="731520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2920" y="5632704"/>
            <a:ext cx="54864" cy="731520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77240" y="5733288"/>
            <a:ext cx="1060704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1200" b="1">
                <a:solidFill>
                  <a:srgbClr val="C00000"/>
                </a:solidFill>
                <a:latin typeface="ＭＳ Ｐゴシック"/>
                <a:ea typeface="ＭＳ Ｐゴシック"/>
              </a:rPr>
              <a:t>中国を除くと全社は▲2.5億。40億の議論は「中国が計画どおり続く」前提の上にある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3F3F3F"/>
                </a:solidFill>
                <a:latin typeface="ＭＳ Ｐゴシック"/>
                <a:ea typeface="ＭＳ Ｐゴシック"/>
              </a:rPr>
              <a:t>→ 実効取り分率・座組の変化を毎月この場で確認する（変化の兆候があれば月次を待たず報告）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2920" y="64556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62626"/>
                </a:solidFill>
                <a:latin typeface="ＭＳ Ｐゴシック"/>
                <a:ea typeface="ＭＳ Ｐゴシック"/>
              </a:rPr>
              <a:t>円谷プロダクション STO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71800" y="64922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ＭＳ Ｐゴシック"/>
                <a:ea typeface="ＭＳ Ｐゴシック"/>
              </a:rPr>
              <a:t>出所：部門別通期見込サマリー（2026年8月13日時点・財務検証済み）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0" y="6483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spc="150">
                <a:solidFill>
                  <a:srgbClr val="3F3F3F"/>
                </a:solidFill>
                <a:latin typeface="ＭＳ Ｐゴシック"/>
                <a:ea typeface="ＭＳ Ｐゴシック"/>
              </a:rPr>
              <a:t>TSUBURAYA PRODUCTIONS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74320"/>
            <a:ext cx="2148840" cy="292608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546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2. 利益の構造と毀損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spc="300">
                <a:solidFill>
                  <a:srgbClr val="3F3F3F"/>
                </a:solidFill>
                <a:latin typeface="ＭＳ Ｐゴシック"/>
                <a:ea typeface="ＭＳ Ｐゴシック"/>
              </a:rPr>
              <a:t>社 外 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31520"/>
            <a:ext cx="1234440" cy="50292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877824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262626"/>
                </a:solidFill>
                <a:latin typeface="ＭＳ Ｐゴシック"/>
                <a:ea typeface="ＭＳ Ｐゴシック"/>
              </a:rPr>
              <a:t>どこで漏れているか — 目標比▲3.9億の中身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8988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F3F3F"/>
                </a:solidFill>
                <a:latin typeface="ＭＳ Ｐゴシック"/>
                <a:ea typeface="ＭＳ Ｐゴシック"/>
              </a:rPr>
              <a:t>悪化は3カ所に集中。それぞれ挽回オーナーと期限を確定する（単位：百万円）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5943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262626"/>
                </a:solidFill>
                <a:latin typeface="ＭＳ Ｐゴシック"/>
                <a:ea typeface="ＭＳ Ｐゴシック"/>
              </a:rPr>
              <a:t>部門別の目標差（営業利益）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176272"/>
            <a:ext cx="5943600" cy="127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61320" y="1920240"/>
            <a:ext cx="11430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7F7F7F"/>
                </a:solidFill>
                <a:latin typeface="ＭＳ Ｐゴシック"/>
                <a:ea typeface="ＭＳ Ｐゴシック"/>
              </a:rPr>
              <a:t>オーナー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86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62626"/>
                </a:solidFill>
                <a:latin typeface="ＭＳ Ｐゴシック"/>
                <a:ea typeface="ＭＳ Ｐゴシック"/>
              </a:rPr>
              <a:t>ライセンス営業部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360" y="2395728"/>
            <a:ext cx="2743200" cy="2377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37744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00000"/>
                </a:solidFill>
                <a:latin typeface="ＭＳ Ｐゴシック"/>
                <a:ea typeface="ＭＳ Ｐゴシック"/>
              </a:rPr>
              <a:t>-220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377440"/>
            <a:ext cx="37947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3F3F3F"/>
                </a:solidFill>
                <a:latin typeface="ＭＳ Ｐゴシック"/>
                <a:ea typeface="ＭＳ Ｐゴシック"/>
              </a:rPr>
              <a:t>海外ディス▲90（売上見込がマイナス値・正体の特定が必要）／国内MD▲62／中国▲33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1F3864"/>
                </a:solidFill>
                <a:latin typeface="ＭＳ Ｐゴシック"/>
                <a:ea typeface="ＭＳ Ｐゴシック"/>
              </a:rPr>
              <a:t>南谷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80944"/>
            <a:ext cx="11183112" cy="635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081527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62626"/>
                </a:solidFill>
                <a:latin typeface="ＭＳ Ｐゴシック"/>
                <a:ea typeface="ＭＳ Ｐゴシック"/>
              </a:rPr>
              <a:t>ライブイベント部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80360" y="3090672"/>
            <a:ext cx="2281843" cy="2377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3643" y="30723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00000"/>
                </a:solidFill>
                <a:latin typeface="ＭＳ Ｐゴシック"/>
                <a:ea typeface="ＭＳ Ｐゴシック"/>
              </a:rPr>
              <a:t>-183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3072384"/>
            <a:ext cx="37947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3F3F3F"/>
                </a:solidFill>
                <a:latin typeface="ＭＳ Ｐゴシック"/>
                <a:ea typeface="ＭＳ Ｐゴシック"/>
              </a:rPr>
              <a:t>粗利▲185。原価付替＋有料ライブの後ズレ。時期差か実力減かの切り分けを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3081527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1F3864"/>
                </a:solidFill>
                <a:latin typeface="ＭＳ Ｐゴシック"/>
                <a:ea typeface="ＭＳ Ｐゴシック"/>
              </a:rPr>
              <a:t>南谷・菅野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675887"/>
            <a:ext cx="11183112" cy="635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7764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62626"/>
                </a:solidFill>
                <a:latin typeface="ＭＳ Ｐゴシック"/>
                <a:ea typeface="ＭＳ Ｐゴシック"/>
              </a:rPr>
              <a:t>管理部門の販管費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80360" y="3785615"/>
            <a:ext cx="1870363" cy="2377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2163" y="3767327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00000"/>
                </a:solidFill>
                <a:latin typeface="ＭＳ Ｐゴシック"/>
                <a:ea typeface="ＭＳ Ｐゴシック"/>
              </a:rPr>
              <a:t>-150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767327"/>
            <a:ext cx="37947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3F3F3F"/>
                </a:solidFill>
                <a:latin typeface="ＭＳ Ｐゴシック"/>
                <a:ea typeface="ＭＳ Ｐゴシック"/>
              </a:rPr>
              <a:t>総務＋101・法務/人事/財務経理＋106の超過。コスト削減チームの第1案件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37764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1F3864"/>
                </a:solidFill>
                <a:latin typeface="ＭＳ Ｐゴシック"/>
                <a:ea typeface="ＭＳ Ｐゴシック"/>
              </a:rPr>
              <a:t>高橋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370831"/>
            <a:ext cx="11183112" cy="635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4714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62626"/>
                </a:solidFill>
                <a:latin typeface="ＭＳ Ｐゴシック"/>
                <a:ea typeface="ＭＳ Ｐゴシック"/>
              </a:rPr>
              <a:t>商品開発（カード）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4480559"/>
            <a:ext cx="361603" cy="23774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33403" y="4462271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00000"/>
                </a:solidFill>
                <a:latin typeface="ＭＳ Ｐゴシック"/>
                <a:ea typeface="ＭＳ Ｐゴシック"/>
              </a:rPr>
              <a:t>-29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4462271"/>
            <a:ext cx="37947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3F3F3F"/>
                </a:solidFill>
                <a:latin typeface="ＭＳ Ｐゴシック"/>
                <a:ea typeface="ＭＳ Ｐゴシック"/>
              </a:rPr>
              <a:t>9弾受注（8/17確定）が未反映。次回更新で反転見込み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4714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1F3864"/>
                </a:solidFill>
                <a:latin typeface="ＭＳ Ｐゴシック"/>
                <a:ea typeface="ＭＳ Ｐゴシック"/>
              </a:rPr>
              <a:t>山田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065775"/>
            <a:ext cx="11183112" cy="635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6635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62626"/>
                </a:solidFill>
                <a:latin typeface="ＭＳ Ｐゴシック"/>
                <a:ea typeface="ＭＳ Ｐゴシック"/>
              </a:rPr>
              <a:t>プラス側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80360" y="5175503"/>
            <a:ext cx="748145" cy="237744"/>
          </a:xfrm>
          <a:prstGeom prst="rect">
            <a:avLst/>
          </a:prstGeom>
          <a:solidFill>
            <a:srgbClr val="318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19945" y="5157215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31859B"/>
                </a:solidFill>
                <a:latin typeface="ＭＳ Ｐゴシック"/>
                <a:ea typeface="ＭＳ Ｐゴシック"/>
              </a:rPr>
              <a:t>+60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157215"/>
            <a:ext cx="379476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3F3F3F"/>
                </a:solidFill>
                <a:latin typeface="ＭＳ Ｐゴシック"/>
                <a:ea typeface="ＭＳ Ｐゴシック"/>
              </a:rPr>
              <a:t>新規開拓＋23（海外＋33）・映像＋22・流通＋15。全部門が悪いわけではない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07040" y="5166359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1F3864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760719"/>
            <a:ext cx="11183112" cy="635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5925312"/>
            <a:ext cx="11183112" cy="475488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" y="5925312"/>
            <a:ext cx="54864" cy="475488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6025896"/>
            <a:ext cx="1060704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62626"/>
                </a:solidFill>
                <a:latin typeface="ＭＳ Ｐゴシック"/>
                <a:ea typeface="ＭＳ Ｐゴシック"/>
              </a:rPr>
              <a:t>販管費超過＋1.0億の最大要因は事業部門ではなく管理部門。前回会長ご指摘の「コストの緩み」と符合する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556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62626"/>
                </a:solidFill>
                <a:latin typeface="ＭＳ Ｐゴシック"/>
                <a:ea typeface="ＭＳ Ｐゴシック"/>
              </a:rPr>
              <a:t>円谷プロダクション STO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64922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ＭＳ Ｐゴシック"/>
                <a:ea typeface="ＭＳ Ｐゴシック"/>
              </a:rPr>
              <a:t>出所：部門別通期見込サマリー（2026年8月13日時点・財務検証済み）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12480" y="6483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spc="150">
                <a:solidFill>
                  <a:srgbClr val="3F3F3F"/>
                </a:solidFill>
                <a:latin typeface="ＭＳ Ｐゴシック"/>
                <a:ea typeface="ＭＳ Ｐゴシック"/>
              </a:rPr>
              <a:t>TSUBURAYA PRODUCTIONS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74320"/>
            <a:ext cx="2103120" cy="292608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5468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3. アクションと確度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spc="300">
                <a:solidFill>
                  <a:srgbClr val="3F3F3F"/>
                </a:solidFill>
                <a:latin typeface="ＭＳ Ｐゴシック"/>
                <a:ea typeface="ＭＳ Ｐゴシック"/>
              </a:rPr>
              <a:t>社 外 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31520"/>
            <a:ext cx="1234440" cy="50292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877824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262626"/>
                </a:solidFill>
                <a:latin typeface="ＭＳ Ｐゴシック"/>
                <a:ea typeface="ＭＳ Ｐゴシック"/>
              </a:rPr>
              <a:t>アクションと数字での効果 — 誰が・何を・いくら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8988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F3F3F"/>
                </a:solidFill>
                <a:latin typeface="ＭＳ Ｐゴシック"/>
                <a:ea typeface="ＭＳ Ｐゴシック"/>
              </a:rPr>
              <a:t>効果額は現時点の仮置き。本会議で各オーナーがコミット値に確定し、来月から実績で答え合わせする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38528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2139696"/>
            <a:ext cx="841248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185416"/>
            <a:ext cx="8412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ＭＳ Ｐゴシック"/>
                <a:ea typeface="ＭＳ Ｐゴシック"/>
              </a:rPr>
              <a:t>挽回1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2011680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ＭＳ Ｐゴシック"/>
                <a:ea typeface="ＭＳ Ｐゴシック"/>
              </a:rPr>
              <a:t>ライブの後ズレ復元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5648" y="2340864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計上時期の確定と通期での戻り額の確定。戻らない分は代替積み上げ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59168" y="2157984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F3864"/>
                </a:solidFill>
                <a:latin typeface="ＭＳ Ｐゴシック"/>
                <a:ea typeface="ＭＳ Ｐゴシック"/>
              </a:rPr>
              <a:t>南谷・菅野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2121408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ＭＳ Ｐゴシック"/>
                <a:ea typeface="ＭＳ Ｐゴシック"/>
              </a:rPr>
              <a:t>＋1.0〜1.5億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743200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2944368"/>
            <a:ext cx="841248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990088"/>
            <a:ext cx="8412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ＭＳ Ｐゴシック"/>
                <a:ea typeface="ＭＳ Ｐゴシック"/>
              </a:rPr>
              <a:t>挽回2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55648" y="2816352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ＭＳ Ｐゴシック"/>
                <a:ea typeface="ＭＳ Ｐゴシック"/>
              </a:rPr>
              <a:t>海外ディス・国内MDの立て直し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5648" y="3145536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売上マイナス値の正体特定（返品・解約・計上）→復元プラン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9168" y="2962656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F3864"/>
                </a:solidFill>
                <a:latin typeface="ＭＳ Ｐゴシック"/>
                <a:ea typeface="ＭＳ Ｐゴシック"/>
              </a:rPr>
              <a:t>南谷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2926080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ＭＳ Ｐゴシック"/>
                <a:ea typeface="ＭＳ Ｐゴシック"/>
              </a:rPr>
              <a:t>＋0.8〜1.2億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47872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749039"/>
            <a:ext cx="841248" cy="329184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794760"/>
            <a:ext cx="8412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ＭＳ Ｐゴシック"/>
                <a:ea typeface="ＭＳ Ｐゴシック"/>
              </a:rPr>
              <a:t>挽回3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55648" y="3621024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ＭＳ Ｐゴシック"/>
                <a:ea typeface="ＭＳ Ｐゴシック"/>
              </a:rPr>
              <a:t>管理販管費の削減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55648" y="3950208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総務・法務/人事/財務経理の超過分解→削減第1弾（コストチーム）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376732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F3864"/>
                </a:solidFill>
                <a:latin typeface="ＭＳ Ｐゴシック"/>
                <a:ea typeface="ＭＳ Ｐゴシック"/>
              </a:rPr>
              <a:t>高橋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3730752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>
                <a:solidFill>
                  <a:srgbClr val="C00000"/>
                </a:solidFill>
                <a:latin typeface="ＭＳ Ｐゴシック"/>
                <a:ea typeface="ＭＳ Ｐゴシック"/>
              </a:rPr>
              <a:t>＋0.7〜1.0億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352544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13232" y="4553712"/>
            <a:ext cx="841248" cy="329184"/>
          </a:xfrm>
          <a:prstGeom prst="rect">
            <a:avLst/>
          </a:prstGeom>
          <a:solidFill>
            <a:srgbClr val="318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4599431"/>
            <a:ext cx="8412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ＭＳ Ｐゴシック"/>
                <a:ea typeface="ＭＳ Ｐゴシック"/>
              </a:rPr>
              <a:t>転換1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55648" y="4425696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ＭＳ Ｐゴシック"/>
                <a:ea typeface="ＭＳ Ｐゴシック"/>
              </a:rPr>
              <a:t>カード9弾の見込反映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55648" y="4754880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8/17受注確定分を月次更新に反映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59168" y="457200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F3864"/>
                </a:solidFill>
                <a:latin typeface="ＭＳ Ｐゴシック"/>
                <a:ea typeface="ＭＳ Ｐゴシック"/>
              </a:rPr>
              <a:t>山田・柳沼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535424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>
                <a:solidFill>
                  <a:srgbClr val="31859B"/>
                </a:solidFill>
                <a:latin typeface="ＭＳ Ｐゴシック"/>
                <a:ea typeface="ＭＳ Ｐゴシック"/>
              </a:rPr>
              <a:t>＋0.3億（確定）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157216"/>
            <a:ext cx="1118311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5358383"/>
            <a:ext cx="841248" cy="329184"/>
          </a:xfrm>
          <a:prstGeom prst="rect">
            <a:avLst/>
          </a:prstGeom>
          <a:solidFill>
            <a:srgbClr val="318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5404104"/>
            <a:ext cx="84124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ＭＳ Ｐゴシック"/>
                <a:ea typeface="ＭＳ Ｐゴシック"/>
              </a:rPr>
              <a:t>転換2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755648" y="5230368"/>
            <a:ext cx="49377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ＭＳ Ｐゴシック"/>
                <a:ea typeface="ＭＳ Ｐゴシック"/>
              </a:rPr>
              <a:t>アップサイドの赤→青転換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55648" y="5559552"/>
            <a:ext cx="51206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7F7F"/>
                </a:solidFill>
                <a:latin typeface="ＭＳ Ｐゴシック"/>
                <a:ea typeface="ＭＳ Ｐゴシック"/>
              </a:rPr>
              <a:t>トップ外交・上位22社の四半期MTG・MG改定・UM/EC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59168" y="5376672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F3864"/>
                </a:solidFill>
                <a:latin typeface="ＭＳ Ｐゴシック"/>
                <a:ea typeface="ＭＳ Ｐゴシック"/>
              </a:rPr>
              <a:t>南谷・新谷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49640" y="5340096"/>
            <a:ext cx="297180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>
                <a:solidFill>
                  <a:srgbClr val="31859B"/>
                </a:solidFill>
                <a:latin typeface="ＭＳ Ｐゴシック"/>
                <a:ea typeface="ＭＳ Ｐゴシック"/>
              </a:rPr>
              <a:t>15億の確度向上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6016752"/>
            <a:ext cx="11183112" cy="402336"/>
          </a:xfrm>
          <a:prstGeom prst="rect">
            <a:avLst/>
          </a:prstGeom>
          <a:solidFill>
            <a:srgbClr val="F2EC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6016752"/>
            <a:ext cx="54864" cy="402336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6089904"/>
            <a:ext cx="106070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262626"/>
                </a:solidFill>
                <a:latin typeface="ＭＳ Ｐゴシック"/>
                <a:ea typeface="ＭＳ Ｐゴシック"/>
              </a:rPr>
              <a:t>挽回・削減の合計 ＋2.8〜4.0億 ＝ ベース復元（＋3.9億）のめど。アップサイド15億は次頁の確度管理で積み上げる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556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62626"/>
                </a:solidFill>
                <a:latin typeface="ＭＳ Ｐゴシック"/>
                <a:ea typeface="ＭＳ Ｐゴシック"/>
              </a:rPr>
              <a:t>円谷プロダクション STO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64922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ＭＳ Ｐゴシック"/>
                <a:ea typeface="ＭＳ Ｐゴシック"/>
              </a:rPr>
              <a:t>注：効果額は仮置き。本会議で各オーナーがコミット値に確定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12480" y="6483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spc="150">
                <a:solidFill>
                  <a:srgbClr val="3F3F3F"/>
                </a:solidFill>
                <a:latin typeface="ＭＳ Ｐゴシック"/>
                <a:ea typeface="ＭＳ Ｐゴシック"/>
              </a:rPr>
              <a:t>TSUBURAYA PRODUCTIONS   6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21040" y="1865376"/>
            <a:ext cx="3291840" cy="4041648"/>
          </a:xfrm>
          <a:prstGeom prst="rect">
            <a:avLst/>
          </a:prstGeom>
          <a:noFill/>
          <a:ln w="1397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74320"/>
            <a:ext cx="2103120" cy="292608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5468"/>
            <a:ext cx="21031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3. アクションと確度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spc="300">
                <a:solidFill>
                  <a:srgbClr val="3F3F3F"/>
                </a:solidFill>
                <a:latin typeface="ＭＳ Ｐゴシック"/>
                <a:ea typeface="ＭＳ Ｐゴシック"/>
              </a:rPr>
              <a:t>社 外 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31520"/>
            <a:ext cx="1234440" cy="50292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877824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262626"/>
                </a:solidFill>
                <a:latin typeface="ＭＳ Ｐゴシック"/>
                <a:ea typeface="ＭＳ Ｐゴシック"/>
              </a:rPr>
              <a:t>アップサイド15億の中身 — 確度別パイプライン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8988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F3F3F"/>
                </a:solidFill>
                <a:latin typeface="ＭＳ Ｐゴシック"/>
                <a:ea typeface="ＭＳ Ｐゴシック"/>
              </a:rPr>
              <a:t>黒（確定）・青（根拠あり）・赤（構想）で管理し、毎月「赤が青に、青が黒に変わったか」だけを確認する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938528"/>
            <a:ext cx="11183112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938528"/>
            <a:ext cx="11183112" cy="329184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8424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ＭＳ Ｐゴシック"/>
                <a:ea typeface="ＭＳ Ｐゴシック"/>
              </a:rPr>
              <a:t>ライセンス ＋5億（社内7億）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4672" y="2377440"/>
            <a:ext cx="310896" cy="21945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400300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ＭＳ Ｐゴシック"/>
                <a:ea typeface="ＭＳ Ｐゴシック"/>
              </a:rPr>
              <a:t>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3584" y="237286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F3F3F"/>
                </a:solidFill>
                <a:latin typeface="ＭＳ Ｐゴシック"/>
                <a:ea typeface="ＭＳ Ｐゴシック"/>
              </a:rPr>
              <a:t>大型広告の新規・継続（4-7月実績で新規4社94百万の実勢）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4672" y="2660904"/>
            <a:ext cx="310896" cy="21945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683764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ＭＳ Ｐゴシック"/>
                <a:ea typeface="ＭＳ Ｐゴシック"/>
              </a:rPr>
              <a:t>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3584" y="2656332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F3F3F"/>
                </a:solidFill>
                <a:latin typeface="ＭＳ Ｐゴシック"/>
                <a:ea typeface="ＭＳ Ｐゴシック"/>
              </a:rPr>
              <a:t>上位22社（売上の3分の2）のアップセル・四半期戦略MTG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2" y="2944368"/>
            <a:ext cx="310896" cy="21945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2967228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ＭＳ Ｐゴシック"/>
                <a:ea typeface="ＭＳ Ｐゴシック"/>
              </a:rPr>
              <a:t>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43584" y="293979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F3F3F"/>
                </a:solidFill>
                <a:latin typeface="ＭＳ Ｐゴシック"/>
                <a:ea typeface="ＭＳ Ｐゴシック"/>
              </a:rPr>
              <a:t>トップ外交による大型案件（本日ターゲットをご相談）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383280"/>
            <a:ext cx="11183112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383280"/>
            <a:ext cx="11183112" cy="329184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4290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ＭＳ Ｐゴシック"/>
                <a:ea typeface="ＭＳ Ｐゴシック"/>
              </a:rPr>
              <a:t>商品 ＋5億（社内6億）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" y="3822191"/>
            <a:ext cx="310896" cy="219456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845052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ＭＳ Ｐゴシック"/>
                <a:ea typeface="ＭＳ Ｐゴシック"/>
              </a:rPr>
              <a:t>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3584" y="3817620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F3F3F"/>
                </a:solidFill>
                <a:latin typeface="ＭＳ Ｐゴシック"/>
                <a:ea typeface="ＭＳ Ｐゴシック"/>
              </a:rPr>
              <a:t>カード9弾受注確定分（8/17確定・単弾で営業利益＋0.3億水準）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4672" y="4105655"/>
            <a:ext cx="310896" cy="21945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4128515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ＭＳ Ｐゴシック"/>
                <a:ea typeface="ＭＳ Ｐゴシック"/>
              </a:rPr>
              <a:t>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43584" y="4101083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F3F3F"/>
                </a:solidFill>
                <a:latin typeface="ＭＳ Ｐゴシック"/>
                <a:ea typeface="ＭＳ Ｐゴシック"/>
              </a:rPr>
              <a:t>ウルトラマート（日販100万円ライン）・EC受注前年比2倍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2" y="4389119"/>
            <a:ext cx="310896" cy="21945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4411979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ＭＳ Ｐゴシック"/>
                <a:ea typeface="ＭＳ Ｐゴシック"/>
              </a:rPr>
              <a:t>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43584" y="4384547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F3F3F"/>
                </a:solidFill>
                <a:latin typeface="ＭＳ Ｐゴシック"/>
                <a:ea typeface="ＭＳ Ｐゴシック"/>
              </a:rPr>
              <a:t>mofusand型の60周年横展開・フワヌイ追加発注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828032"/>
            <a:ext cx="11183112" cy="1316736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4828032"/>
            <a:ext cx="11183112" cy="329184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8737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ＭＳ Ｐゴシック"/>
                <a:ea typeface="ＭＳ Ｐゴシック"/>
              </a:rPr>
              <a:t>中国 ＋5億（社内7億）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2" y="5266944"/>
            <a:ext cx="310896" cy="21945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5289804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ＭＳ Ｐゴシック"/>
                <a:ea typeface="ＭＳ Ｐゴシック"/>
              </a:rPr>
              <a:t>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43584" y="5262372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F3F3F"/>
                </a:solidFill>
                <a:latin typeface="ＭＳ Ｐゴシック"/>
                <a:ea typeface="ＭＳ Ｐゴシック"/>
              </a:rPr>
              <a:t>MG改定・Blokees（該当部門より詳述）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4672" y="5550407"/>
            <a:ext cx="310896" cy="21945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4672" y="5573268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ＭＳ Ｐゴシック"/>
                <a:ea typeface="ＭＳ Ｐゴシック"/>
              </a:rPr>
              <a:t>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43584" y="554583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F3F3F"/>
                </a:solidFill>
                <a:latin typeface="ＭＳ Ｐゴシック"/>
                <a:ea typeface="ＭＳ Ｐゴシック"/>
              </a:rPr>
              <a:t>越境EC拡大（月商1,000万→3,000万の段階）・新規座組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2" y="5833871"/>
            <a:ext cx="310896" cy="21945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856731"/>
            <a:ext cx="310896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>
                <a:solidFill>
                  <a:srgbClr val="FFFFFF"/>
                </a:solidFill>
                <a:latin typeface="ＭＳ Ｐゴシック"/>
                <a:ea typeface="ＭＳ Ｐゴシック"/>
              </a:rPr>
              <a:t>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243584" y="5829299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3F3F3F"/>
                </a:solidFill>
                <a:latin typeface="ＭＳ Ｐゴシック"/>
                <a:ea typeface="ＭＳ Ｐゴシック"/>
              </a:rPr>
              <a:t>※実効取り分率の変動リスクを毎月監視（過去に原価率悪化の実例）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291072"/>
            <a:ext cx="111556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7F7F7F"/>
                </a:solidFill>
                <a:latin typeface="ＭＳ Ｐゴシック"/>
                <a:ea typeface="ＭＳ Ｐゴシック"/>
              </a:rPr>
              <a:t>※ 見込に未反映：カード9弾／家賃▲26.4・退職▲18.4／出向＋40／海外ディス▲58（要確認）。毎月消し込む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64556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62626"/>
                </a:solidFill>
                <a:latin typeface="ＭＳ Ｐゴシック"/>
                <a:ea typeface="ＭＳ Ｐゴシック"/>
              </a:rPr>
              <a:t>円谷プロダクション STO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971800" y="64922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ＭＳ Ｐゴシック"/>
                <a:ea typeface="ＭＳ Ｐゴシック"/>
              </a:rPr>
              <a:t>出所：部門別通期見込サマリー（2026年8月13日時点・財務検証済み）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412480" y="6483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spc="150">
                <a:solidFill>
                  <a:srgbClr val="3F3F3F"/>
                </a:solidFill>
                <a:latin typeface="ＭＳ Ｐゴシック"/>
                <a:ea typeface="ＭＳ Ｐゴシック"/>
              </a:rPr>
              <a:t>TSUBURAYA PRODUCTIONS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274320"/>
            <a:ext cx="2148840" cy="292608"/>
          </a:xfrm>
          <a:prstGeom prst="rect">
            <a:avLst/>
          </a:prstGeom>
          <a:solidFill>
            <a:srgbClr val="318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5468"/>
            <a:ext cx="21488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ＭＳ Ｐゴシック"/>
                <a:ea typeface="ＭＳ Ｐゴシック"/>
              </a:rPr>
              <a:t>4. 月次トラッキング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332720" y="310896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spc="300">
                <a:solidFill>
                  <a:srgbClr val="3F3F3F"/>
                </a:solidFill>
                <a:latin typeface="ＭＳ Ｐゴシック"/>
                <a:ea typeface="ＭＳ Ｐゴシック"/>
              </a:rPr>
              <a:t>社 外 秘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31520"/>
            <a:ext cx="1234440" cy="50292"/>
          </a:xfrm>
          <a:prstGeom prst="rect">
            <a:avLst/>
          </a:prstGeom>
          <a:solidFill>
            <a:srgbClr val="7B62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877824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100" b="0">
                <a:solidFill>
                  <a:srgbClr val="262626"/>
                </a:solidFill>
                <a:latin typeface="ＭＳ Ｐゴシック"/>
                <a:ea typeface="ＭＳ Ｐゴシック"/>
              </a:rPr>
              <a:t>月次トラッキング — この表を毎月1列ずつ埋める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8988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3F3F3F"/>
                </a:solidFill>
                <a:latin typeface="ＭＳ Ｐゴシック"/>
                <a:ea typeface="ＭＳ Ｐゴシック"/>
              </a:rPr>
              <a:t>単位：億円。「見込が上がる・黒が増える・販管費が超えない」の3つが揃えば40億に着地する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520439" y="2029968"/>
            <a:ext cx="987552" cy="2944368"/>
          </a:xfrm>
          <a:prstGeom prst="rect">
            <a:avLst/>
          </a:prstGeom>
          <a:solidFill>
            <a:srgbClr val="DA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75688"/>
            <a:ext cx="2990088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3F3F3F"/>
                </a:solidFill>
                <a:latin typeface="ＭＳ Ｐゴシック"/>
                <a:ea typeface="ＭＳ Ｐゴシック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3520439" y="2029968"/>
            <a:ext cx="987552" cy="475488"/>
          </a:xfrm>
          <a:prstGeom prst="rect">
            <a:avLst/>
          </a:prstGeom>
          <a:solidFill>
            <a:srgbClr val="3185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39" y="2075688"/>
            <a:ext cx="9875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ＭＳ Ｐゴシック"/>
                <a:ea typeface="ＭＳ Ｐゴシック"/>
              </a:rPr>
              <a:t>8月</a:t>
            </a:r>
          </a:p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ＭＳ Ｐゴシック"/>
                <a:ea typeface="ＭＳ Ｐゴシック"/>
              </a:rPr>
              <a:t>(今回)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35424" y="2029968"/>
            <a:ext cx="987552" cy="475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5424" y="2075688"/>
            <a:ext cx="9875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ＭＳ Ｐゴシック"/>
                <a:ea typeface="ＭＳ Ｐゴシック"/>
              </a:rPr>
              <a:t>9月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0408" y="2029968"/>
            <a:ext cx="987552" cy="475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0408" y="2075688"/>
            <a:ext cx="9875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ＭＳ Ｐゴシック"/>
                <a:ea typeface="ＭＳ Ｐゴシック"/>
              </a:rPr>
              <a:t>10月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65392" y="2029968"/>
            <a:ext cx="987552" cy="475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65392" y="2075688"/>
            <a:ext cx="9875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ＭＳ Ｐゴシック"/>
                <a:ea typeface="ＭＳ Ｐゴシック"/>
              </a:rPr>
              <a:t>11月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0376" y="2029968"/>
            <a:ext cx="987552" cy="475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580376" y="2075688"/>
            <a:ext cx="9875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ＭＳ Ｐゴシック"/>
                <a:ea typeface="ＭＳ Ｐゴシック"/>
              </a:rPr>
              <a:t>12月</a:t>
            </a:r>
          </a:p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ＭＳ Ｐゴシック"/>
                <a:ea typeface="ＭＳ Ｐゴシック"/>
              </a:rPr>
              <a:t>(到達判定)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95360" y="2029968"/>
            <a:ext cx="987552" cy="475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2075688"/>
            <a:ext cx="9875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ＭＳ Ｐゴシック"/>
                <a:ea typeface="ＭＳ Ｐゴシック"/>
              </a:rPr>
              <a:t>1月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10344" y="2029968"/>
            <a:ext cx="987552" cy="475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10344" y="2075688"/>
            <a:ext cx="9875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ＭＳ Ｐゴシック"/>
                <a:ea typeface="ＭＳ Ｐゴシック"/>
              </a:rPr>
              <a:t>2月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25328" y="2029968"/>
            <a:ext cx="987552" cy="47548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25328" y="2075688"/>
            <a:ext cx="987552" cy="4206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ＭＳ Ｐゴシック"/>
                <a:ea typeface="ＭＳ Ｐゴシック"/>
              </a:rPr>
              <a:t>3月</a:t>
            </a:r>
          </a:p>
          <a:p>
            <a:pPr algn="ctr"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ＭＳ Ｐゴシック"/>
                <a:ea typeface="ＭＳ Ｐゴシック"/>
              </a:rPr>
              <a:t>(着地)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505456"/>
            <a:ext cx="2990088" cy="457200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260604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62626"/>
                </a:solidFill>
                <a:latin typeface="ＭＳ Ｐゴシック"/>
                <a:ea typeface="ＭＳ Ｐゴシック"/>
              </a:rPr>
              <a:t>通期見込（営業利益）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39" y="260604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62626"/>
                </a:solidFill>
                <a:latin typeface="ＭＳ Ｐゴシック"/>
                <a:ea typeface="ＭＳ Ｐゴシック"/>
              </a:rPr>
              <a:t>19.8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35424" y="260604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0408" y="260604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65392" y="260604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80376" y="260604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60604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10344" y="260604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25328" y="260604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2962656"/>
            <a:ext cx="11137392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2999232"/>
            <a:ext cx="2990088" cy="457200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2648" y="309981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62626"/>
                </a:solidFill>
                <a:latin typeface="ＭＳ Ｐゴシック"/>
                <a:ea typeface="ＭＳ Ｐゴシック"/>
              </a:rPr>
              <a:t>40億まで（あといくら）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20439" y="30998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62626"/>
                </a:solidFill>
                <a:latin typeface="ＭＳ Ｐゴシック"/>
                <a:ea typeface="ＭＳ Ｐゴシック"/>
              </a:rPr>
              <a:t>20.2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5424" y="30998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50408" y="30998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65392" y="30998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580376" y="30998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30998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10344" y="30998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25328" y="3099816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3456432"/>
            <a:ext cx="11137392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" y="3493008"/>
            <a:ext cx="2990088" cy="457200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" y="359359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62626"/>
                </a:solidFill>
                <a:latin typeface="ＭＳ Ｐゴシック"/>
                <a:ea typeface="ＭＳ Ｐゴシック"/>
              </a:rPr>
              <a:t>アップサイド 黒（確定）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20439" y="35935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62626"/>
                </a:solidFill>
                <a:latin typeface="ＭＳ Ｐゴシック"/>
                <a:ea typeface="ＭＳ Ｐゴシック"/>
              </a:rPr>
              <a:t>0.3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35424" y="35935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50408" y="35935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65392" y="35935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0376" y="35935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595360" y="35935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10344" y="35935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625328" y="35935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3950208"/>
            <a:ext cx="11137392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3986784"/>
            <a:ext cx="2990088" cy="457200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2648" y="4087368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62626"/>
                </a:solidFill>
                <a:latin typeface="ＭＳ Ｐゴシック"/>
                <a:ea typeface="ＭＳ Ｐゴシック"/>
              </a:rPr>
              <a:t>アップサイド 青（根拠あり）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20439" y="40873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62626"/>
                </a:solidFill>
                <a:latin typeface="ＭＳ Ｐゴシック"/>
                <a:ea typeface="ＭＳ Ｐゴシック"/>
              </a:rPr>
              <a:t>集計中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35424" y="40873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550408" y="40873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65392" y="40873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580376" y="40873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95360" y="40873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10344" y="40873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25328" y="4087368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4443984"/>
            <a:ext cx="11137392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02920" y="4480560"/>
            <a:ext cx="2990088" cy="457200"/>
          </a:xfrm>
          <a:prstGeom prst="rect">
            <a:avLst/>
          </a:prstGeom>
          <a:solidFill>
            <a:srgbClr val="E9E1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12648" y="458114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62626"/>
                </a:solidFill>
                <a:latin typeface="ＭＳ Ｐゴシック"/>
                <a:ea typeface="ＭＳ Ｐゴシック"/>
              </a:rPr>
              <a:t>販管費 見込（計画25.0）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20439" y="45811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262626"/>
                </a:solidFill>
                <a:latin typeface="ＭＳ Ｐゴシック"/>
                <a:ea typeface="ＭＳ Ｐゴシック"/>
              </a:rPr>
              <a:t>26.0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35424" y="45811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0408" y="45811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565392" y="45811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80376" y="45811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95360" y="45811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610344" y="45811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25328" y="4581144"/>
            <a:ext cx="960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BFBFBF"/>
                </a:solidFill>
                <a:latin typeface="ＭＳ Ｐゴシック"/>
                <a:ea typeface="ＭＳ Ｐゴシック"/>
              </a:rPr>
              <a:t>－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4937760"/>
            <a:ext cx="11137392" cy="9525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521208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262626"/>
                </a:solidFill>
                <a:latin typeface="ＭＳ Ｐゴシック"/>
                <a:ea typeface="ＭＳ Ｐゴシック"/>
              </a:rPr>
              <a:t>この資料の運用ルール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2920" y="5468112"/>
            <a:ext cx="3657600" cy="1270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66928" y="557784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800" b="0">
                <a:solidFill>
                  <a:srgbClr val="31859B"/>
                </a:solidFill>
                <a:latin typeface="ＭＳ Ｐゴシック"/>
                <a:ea typeface="ＭＳ Ｐゴシック"/>
              </a:rPr>
              <a:t>●  </a:t>
            </a:r>
            <a:r>
              <a:rPr sz="1050" b="0">
                <a:solidFill>
                  <a:srgbClr val="3F3F3F"/>
                </a:solidFill>
                <a:latin typeface="ＭＳ Ｐゴシック"/>
                <a:ea typeface="ＭＳ Ｐゴシック"/>
              </a:rPr>
              <a:t>毎月、同じ7枚の数字だけを更新する（体裁・構成は変えない。作成はSTO・検証は財務）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1859B"/>
                </a:solidFill>
                <a:latin typeface="ＭＳ Ｐゴシック"/>
                <a:ea typeface="ＭＳ Ｐゴシック"/>
              </a:rPr>
              <a:t>●  </a:t>
            </a:r>
            <a:r>
              <a:rPr sz="1050" b="0">
                <a:solidFill>
                  <a:srgbClr val="3F3F3F"/>
                </a:solidFill>
                <a:latin typeface="ＭＳ Ｐゴシック"/>
                <a:ea typeface="ＭＳ Ｐゴシック"/>
              </a:rPr>
              <a:t>議論は「前月からの変化」と「コミット値との差異」のみ。差異には理由と対策を添える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31859B"/>
                </a:solidFill>
                <a:latin typeface="ＭＳ Ｐゴシック"/>
                <a:ea typeface="ＭＳ Ｐゴシック"/>
              </a:rPr>
              <a:t>●  </a:t>
            </a:r>
            <a:r>
              <a:rPr sz="1050" b="0">
                <a:solidFill>
                  <a:srgbClr val="3F3F3F"/>
                </a:solidFill>
                <a:latin typeface="ＭＳ Ｐゴシック"/>
                <a:ea typeface="ＭＳ Ｐゴシック"/>
              </a:rPr>
              <a:t>12月の点検会議で40億到達を判定。届かない場合は緊急レバー（条件改定前倒し・コスト第2弾）を発動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645566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>
                <a:solidFill>
                  <a:srgbClr val="262626"/>
                </a:solidFill>
                <a:latin typeface="ＭＳ Ｐゴシック"/>
                <a:ea typeface="ＭＳ Ｐゴシック"/>
              </a:rPr>
              <a:t>円谷プロダクション STO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971800" y="649224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ＭＳ Ｐゴシック"/>
                <a:ea typeface="ＭＳ Ｐゴシック"/>
              </a:rPr>
              <a:t>出所：部門別通期見込サマリー（2026年8月13日時点・財務検証済み）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412480" y="648309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0" spc="150">
                <a:solidFill>
                  <a:srgbClr val="3F3F3F"/>
                </a:solidFill>
                <a:latin typeface="ＭＳ Ｐゴシック"/>
                <a:ea typeface="ＭＳ Ｐゴシック"/>
              </a:rPr>
              <a:t>TSUBURAYA PRODUCTIONS  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