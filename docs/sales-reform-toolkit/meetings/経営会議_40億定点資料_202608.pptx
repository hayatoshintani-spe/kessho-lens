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3447288" cy="274320"/>
          </a:xfrm>
          <a:prstGeom prst="roundRect">
            <a:avLst>
              <a:gd name="adj" fmla="val 5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経営会議 定点資料｜2026年8月版（8/13正本）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営業利益40億 達成管理 — 今月のサマリー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35024"/>
            <a:ext cx="11183112" cy="1143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この資料は毎月同じ7枚を更新します。見る数字は3つ：通期見込／確定（黒）の額／販管費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3602736" cy="1481328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084832"/>
            <a:ext cx="31455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通期見込（PL・販管費込み）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377440"/>
            <a:ext cx="314553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19.8億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980944"/>
            <a:ext cx="31455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前期5.7億から＋14.2億。部門目標23.7億比▲3.9億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920240"/>
            <a:ext cx="3602736" cy="1481328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2084832"/>
            <a:ext cx="31455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40億まで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377440"/>
            <a:ext cx="314553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あと20.2億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980944"/>
            <a:ext cx="31455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挽回3.9＋アップサイド15＋コスト1.3で到達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920240"/>
            <a:ext cx="3602736" cy="1481328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1" y="2084832"/>
            <a:ext cx="31455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アップサイドの確定（黒）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1" y="2377440"/>
            <a:ext cx="314553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0.3億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2980944"/>
            <a:ext cx="31455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カード9弾（8/17受注確定）。青・赤の転換が毎月の焦点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675887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今月のポイント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00507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・全社共通のPL正本が初めて確定（8/13・柳沼検証済み）。以後この数字だけで議論します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37083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・目標比▲3.9億は3カ所に集中：ライブ▲1.8億／ライセンス（海外ディス・国内MD）▲2.2億／管理販管費＋1.5億。挽回オーナーを本日確定します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3659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・構造リスクの発見：中国単体の利益22.4億が全社19.8億を上回り、中国以外は▲2.5億。中国の契約防衛を常設の確認事項にします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230368"/>
            <a:ext cx="11183112" cy="932688"/>
          </a:xfrm>
          <a:prstGeom prst="roundRect">
            <a:avLst>
              <a:gd name="adj" fmla="val 1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358384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本日決めていただきたいこと（3件）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①挽回3本（ライブ・海外ディス／国内MD・管理販管費）のオーナーと期限　②コスト削減の目標額　③トップ外交のターゲット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8A8F9C"/>
                </a:solidFill>
                <a:latin typeface="Yu Gothic"/>
                <a:ea typeface="Yu Gothic"/>
                <a:cs typeface="Yu Gothic"/>
              </a:rPr>
              <a:t>円谷プロダクション 営業改革｜社外秘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10528"/>
            <a:ext cx="411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3447288" cy="274320"/>
          </a:xfrm>
          <a:prstGeom prst="roundRect">
            <a:avLst>
              <a:gd name="adj" fmla="val 5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経営会議 定点資料｜2026年8月版（8/13正本）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40億まで、あと20.2億 — 現在地からの道筋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35024"/>
            <a:ext cx="11183112" cy="1143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通期見込19.8億から、4つのブロックで積み上げます。このページの形は毎月変わりません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76873"/>
            <a:ext cx="1481328" cy="1792406"/>
          </a:xfrm>
          <a:prstGeom prst="roundRect">
            <a:avLst>
              <a:gd name="adj" fmla="val 6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575121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19.8億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4645060"/>
            <a:ext cx="15910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現在地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3523823"/>
            <a:ext cx="1481328" cy="353049"/>
          </a:xfrm>
          <a:prstGeom prst="roundRect">
            <a:avLst>
              <a:gd name="adj" fmla="val 6000"/>
            </a:avLst>
          </a:prstGeom>
          <a:solidFill>
            <a:srgbClr val="B4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3222071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＋3.9億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34056" y="3572332"/>
            <a:ext cx="15910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ベース挽回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2165939"/>
            <a:ext cx="1481328" cy="1357884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864187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＋15億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91456" y="2716865"/>
            <a:ext cx="15910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アップサイド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2048256"/>
            <a:ext cx="1481328" cy="117683"/>
          </a:xfrm>
          <a:prstGeom prst="roundRect">
            <a:avLst>
              <a:gd name="adj" fmla="val 6000"/>
            </a:avLst>
          </a:prstGeom>
          <a:solidFill>
            <a:srgbClr val="4F7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746504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＋1.3億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2048256"/>
            <a:ext cx="1481328" cy="3621024"/>
          </a:xfrm>
          <a:prstGeom prst="roundRect">
            <a:avLst>
              <a:gd name="adj" fmla="val 6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520" y="1746504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40億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6256" y="3730752"/>
            <a:ext cx="15910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今期目標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12848" y="3876873"/>
            <a:ext cx="576071" cy="1397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0248" y="3523823"/>
            <a:ext cx="576071" cy="1397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27648" y="2165939"/>
            <a:ext cx="576071" cy="1397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85048" y="2048256"/>
            <a:ext cx="576072" cy="1397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68879" y="5797296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95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毀損の復元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ライブ・海外ディス・国内MD（4頁）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5797296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95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確度で管理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黒0.3／青／赤（6頁）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797296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95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コスト削減（第3のレバー）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販管費超過+1.0億の解消を含む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2377440"/>
            <a:ext cx="37947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前期5.7億 → 見込19.8億（＋14.2億の改善）。</a:t>
            </a:r>
          </a:p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ただし部門目標23.7億比では▲3.9億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※カード9弾等は見込に未反映。毎月「あといくら」を更新します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8A8F9C"/>
                </a:solidFill>
                <a:latin typeface="Yu Gothic"/>
                <a:ea typeface="Yu Gothic"/>
                <a:cs typeface="Yu Gothic"/>
              </a:rPr>
              <a:t>円谷プロダクション 営業改革｜社外秘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510528"/>
            <a:ext cx="411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3447288" cy="274320"/>
          </a:xfrm>
          <a:prstGeom prst="roundRect">
            <a:avLst>
              <a:gd name="adj" fmla="val 5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経営会議 定点資料｜2026年8月版（8/13正本）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利益の構造 — どこで稼ぎ、どこで使っているか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35024"/>
            <a:ext cx="11183112" cy="1143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単位：億円（営業利益・共通費配賦後）。この構造理解が全アクションの前提です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2596896" cy="329184"/>
          </a:xfrm>
          <a:prstGeom prst="roundRect">
            <a:avLst>
              <a:gd name="adj" fmla="val 18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96596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部門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920240"/>
            <a:ext cx="1179576" cy="329184"/>
          </a:xfrm>
          <a:prstGeom prst="roundRect">
            <a:avLst>
              <a:gd name="adj" fmla="val 18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64408" y="1965960"/>
            <a:ext cx="960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目標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20240"/>
            <a:ext cx="1179576" cy="329184"/>
          </a:xfrm>
          <a:prstGeom prst="roundRect">
            <a:avLst>
              <a:gd name="adj" fmla="val 18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1965960"/>
            <a:ext cx="960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見込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0" y="1920240"/>
            <a:ext cx="1179576" cy="329184"/>
          </a:xfrm>
          <a:prstGeom prst="roundRect">
            <a:avLst>
              <a:gd name="adj" fmla="val 18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33288" y="1965960"/>
            <a:ext cx="960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1920240"/>
            <a:ext cx="4654296" cy="329184"/>
          </a:xfrm>
          <a:prstGeom prst="roundRect">
            <a:avLst>
              <a:gd name="adj" fmla="val 18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1965960"/>
            <a:ext cx="4434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読み方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240487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営業事業本部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404872"/>
            <a:ext cx="960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42.1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2404872"/>
            <a:ext cx="960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38.4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33288" y="2404872"/>
            <a:ext cx="960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B43C2E"/>
                </a:solidFill>
                <a:latin typeface="Yu Gothic"/>
                <a:ea typeface="Yu Gothic"/>
                <a:cs typeface="Yu Gothic"/>
              </a:rPr>
              <a:t>▲3.7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2404872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うち中国22.4億・国内ライセンス（粗利率86%）が利益の源泉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871216"/>
            <a:ext cx="11064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29718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　うち中国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64408" y="297180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22.7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297180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22.4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33288" y="297180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B43C2E"/>
                </a:solidFill>
                <a:latin typeface="Yu Gothic"/>
                <a:ea typeface="Yu Gothic"/>
                <a:cs typeface="Yu Gothic"/>
              </a:rPr>
              <a:t>▲0.3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8" y="2971800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全社利益19.8億を単体で上回る。契約・取り分率の防衛が生命線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438144"/>
            <a:ext cx="11064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353872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商品開発事業本部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64408" y="3538728"/>
            <a:ext cx="960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1.0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8848" y="3538728"/>
            <a:ext cx="960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0.7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33288" y="3538728"/>
            <a:ext cx="960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B43C2E"/>
                </a:solidFill>
                <a:latin typeface="Yu Gothic"/>
                <a:ea typeface="Yu Gothic"/>
                <a:cs typeface="Yu Gothic"/>
              </a:rPr>
              <a:t>▲0.3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67728" y="3538728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カード9弾（8/17受注）が未反映。反転見込み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005072"/>
            <a:ext cx="11064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" y="410565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映像事業本部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64408" y="4105656"/>
            <a:ext cx="960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▲4.0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98848" y="4105656"/>
            <a:ext cx="960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▲3.8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33288" y="4105656"/>
            <a:ext cx="960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＋0.2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67728" y="4105656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構造赤字。製作投資としての位置づけを別途整理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572000"/>
            <a:ext cx="11064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" y="4672584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管理・共通ほか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64408" y="4672584"/>
            <a:ext cx="960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▲15.5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98848" y="4672584"/>
            <a:ext cx="960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▲15.5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33288" y="4672584"/>
            <a:ext cx="960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B43C2E"/>
                </a:solidFill>
                <a:latin typeface="Yu Gothic"/>
                <a:ea typeface="Yu Gothic"/>
                <a:cs typeface="Yu Gothic"/>
              </a:rPr>
              <a:t>▲0.1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67728" y="4672584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販管費超過＋1.0億の主因（総務・法務/人事/財務経理）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5138928"/>
            <a:ext cx="11064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8" y="523951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全社合計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64408" y="5239512"/>
            <a:ext cx="960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23.7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98848" y="5239512"/>
            <a:ext cx="960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19.8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33288" y="5239512"/>
            <a:ext cx="960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B43C2E"/>
                </a:solidFill>
                <a:latin typeface="Yu Gothic"/>
                <a:ea typeface="Yu Gothic"/>
                <a:cs typeface="Yu Gothic"/>
              </a:rPr>
              <a:t>▲3.9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67728" y="5239512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粗利率56%・販管費26.0億（売上比32%）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5705856"/>
            <a:ext cx="1106424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02920" y="5669280"/>
            <a:ext cx="11183112" cy="786384"/>
          </a:xfrm>
          <a:prstGeom prst="roundRect">
            <a:avLst>
              <a:gd name="adj" fmla="val 1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" y="5797296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中国を除くと全社は▲2.5億。40億の議論は「中国が計画どおり続く」前提の上にあります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→ 実効取り分率・座組の変化を毎月この場で確認します（変化の兆候があれば月次を待たず報告）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8A8F9C"/>
                </a:solidFill>
                <a:latin typeface="Yu Gothic"/>
                <a:ea typeface="Yu Gothic"/>
                <a:cs typeface="Yu Gothic"/>
              </a:rPr>
              <a:t>円谷プロダクション 営業改革｜社外秘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92840" y="6510528"/>
            <a:ext cx="411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3447288" cy="274320"/>
          </a:xfrm>
          <a:prstGeom prst="roundRect">
            <a:avLst>
              <a:gd name="adj" fmla="val 5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経営会議 定点資料｜2026年8月版（8/13正本）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どこで漏れているか — 目標比▲3.9億の中身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35024"/>
            <a:ext cx="11183112" cy="1143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悪化は3カ所に集中。それぞれ挽回オーナーと期限を確定します（単位：百万円）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476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ライセンス営業部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956816"/>
            <a:ext cx="2834640" cy="237744"/>
          </a:xfrm>
          <a:prstGeom prst="roundRect">
            <a:avLst>
              <a:gd name="adj" fmla="val 40000"/>
            </a:avLst>
          </a:prstGeom>
          <a:solidFill>
            <a:srgbClr val="B4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06440" y="19385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B43C2E"/>
                </a:solidFill>
                <a:latin typeface="Yu Gothic"/>
                <a:ea typeface="Yu Gothic"/>
                <a:cs typeface="Yu Gothic"/>
              </a:rPr>
              <a:t>-220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938528"/>
            <a:ext cx="40233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海外ディス▲90（売上見込がマイナス値・正体の特定が必要）／国内MD▲62／中国▲33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194767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南谷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157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ライブイベント部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2724912"/>
            <a:ext cx="2357905" cy="237744"/>
          </a:xfrm>
          <a:prstGeom prst="roundRect">
            <a:avLst>
              <a:gd name="adj" fmla="val 40000"/>
            </a:avLst>
          </a:prstGeom>
          <a:solidFill>
            <a:srgbClr val="B4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29705" y="270662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B43C2E"/>
                </a:solidFill>
                <a:latin typeface="Yu Gothic"/>
                <a:ea typeface="Yu Gothic"/>
                <a:cs typeface="Yu Gothic"/>
              </a:rPr>
              <a:t>-183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706624"/>
            <a:ext cx="40233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粗利▲185。原価付替＋有料ライブの後ズレ。時期差か実力減かの切り分けを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27157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南谷・菅野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483863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管理部門の販管費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80360" y="3493008"/>
            <a:ext cx="1932709" cy="237744"/>
          </a:xfrm>
          <a:prstGeom prst="roundRect">
            <a:avLst>
              <a:gd name="adj" fmla="val 40000"/>
            </a:avLst>
          </a:prstGeom>
          <a:solidFill>
            <a:srgbClr val="B4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04509" y="34747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B43C2E"/>
                </a:solidFill>
                <a:latin typeface="Yu Gothic"/>
                <a:ea typeface="Yu Gothic"/>
                <a:cs typeface="Yu Gothic"/>
              </a:rPr>
              <a:t>-150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474720"/>
            <a:ext cx="40233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総務＋101・法務/人事/財務経理＋106の超過。コスト削減チームの第1案件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3483863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高橋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2519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商品開発（カード）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0360" y="4261104"/>
            <a:ext cx="373657" cy="237744"/>
          </a:xfrm>
          <a:prstGeom prst="roundRect">
            <a:avLst>
              <a:gd name="adj" fmla="val 40000"/>
            </a:avLst>
          </a:prstGeom>
          <a:solidFill>
            <a:srgbClr val="B4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45457" y="424281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B43C2E"/>
                </a:solidFill>
                <a:latin typeface="Yu Gothic"/>
                <a:ea typeface="Yu Gothic"/>
                <a:cs typeface="Yu Gothic"/>
              </a:rPr>
              <a:t>-29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4242816"/>
            <a:ext cx="40233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9弾受注（8/17確定）が未反映。次回更新で反転見込み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4251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山田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02005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プラス側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80360" y="5029200"/>
            <a:ext cx="773083" cy="237744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44883" y="50109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+60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010912"/>
            <a:ext cx="40233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新規開拓＋23（海外＋33）・映像＋22・流通＋15。全部門が悪いわけではない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502005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－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943600"/>
            <a:ext cx="11183112" cy="566928"/>
          </a:xfrm>
          <a:prstGeom prst="roundRect">
            <a:avLst>
              <a:gd name="adj" fmla="val 1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6053328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販管費超過＋1.0億の最大要因は事業部門ではなく管理部門。前回会長ご指摘の「コストの緩み」と符合します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8A8F9C"/>
                </a:solidFill>
                <a:latin typeface="Yu Gothic"/>
                <a:ea typeface="Yu Gothic"/>
                <a:cs typeface="Yu Gothic"/>
              </a:rPr>
              <a:t>円谷プロダクション 営業改革｜社外秘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6510528"/>
            <a:ext cx="411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3447288" cy="274320"/>
          </a:xfrm>
          <a:prstGeom prst="roundRect">
            <a:avLst>
              <a:gd name="adj" fmla="val 5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経営会議 定点資料｜2026年8月版（8/13正本）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アクションと数字での効果 — 誰が・何を・いくら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35024"/>
            <a:ext cx="11183112" cy="1143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効果額は現時点の仮置き。本会議で各オーナーがコミット値に確定し、来月から実績で答え合わせします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01952"/>
            <a:ext cx="11183112" cy="749808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2103120"/>
            <a:ext cx="841248" cy="329184"/>
          </a:xfrm>
          <a:prstGeom prst="roundRect">
            <a:avLst>
              <a:gd name="adj" fmla="val 30000"/>
            </a:avLst>
          </a:prstGeom>
          <a:solidFill>
            <a:srgbClr val="B4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48840"/>
            <a:ext cx="84124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挽回1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975104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ライブの後ズレ復元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304288"/>
            <a:ext cx="51206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計上時期の確定と通期での戻り額の確定。戻らない分は代替積み上げ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029968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南谷・菅野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084832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5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＋1.0〜1.5億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743200"/>
            <a:ext cx="11183112" cy="749808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944368"/>
            <a:ext cx="841248" cy="329184"/>
          </a:xfrm>
          <a:prstGeom prst="roundRect">
            <a:avLst>
              <a:gd name="adj" fmla="val 30000"/>
            </a:avLst>
          </a:prstGeom>
          <a:solidFill>
            <a:srgbClr val="B4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990088"/>
            <a:ext cx="84124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挽回2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2816352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海外ディス・国内MDの立て直し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145536"/>
            <a:ext cx="51206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売上マイナス値の正体特定（返品・解約・計上）→復元プラン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871216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南谷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926080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5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＋0.8〜1.2億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584448"/>
            <a:ext cx="11183112" cy="749808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3232" y="3785615"/>
            <a:ext cx="841248" cy="329184"/>
          </a:xfrm>
          <a:prstGeom prst="roundRect">
            <a:avLst>
              <a:gd name="adj" fmla="val 30000"/>
            </a:avLst>
          </a:prstGeom>
          <a:solidFill>
            <a:srgbClr val="B4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831335"/>
            <a:ext cx="84124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挽回3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3657600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管理販管費の削減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3986784"/>
            <a:ext cx="51206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総務・法務/人事/財務経理の超過分解→削減第1弾（コストチーム）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712463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高橋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3767328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5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＋0.7〜1.0億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425696"/>
            <a:ext cx="11183112" cy="749808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13232" y="4626864"/>
            <a:ext cx="841248" cy="32918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4672583"/>
            <a:ext cx="84124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転換1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4498848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カード9弾の見込反映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4828032"/>
            <a:ext cx="51206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8/17受注確定分を月次更新に反映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55371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山田・柳沼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460857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5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＋0.3億（確定）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266944"/>
            <a:ext cx="11183112" cy="749808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13232" y="5468112"/>
            <a:ext cx="841248" cy="32918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" y="5513831"/>
            <a:ext cx="84124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転換2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37360" y="5340096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アップサイドの赤→青転換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37360" y="5669280"/>
            <a:ext cx="51206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トップ外交・上位22社の四半期MTG・MG改定・UM/EC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5394959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南谷・新谷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9640" y="5449824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5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パイプライン15億の確度向上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6089904"/>
            <a:ext cx="11183112" cy="402336"/>
          </a:xfrm>
          <a:prstGeom prst="roundRect">
            <a:avLst>
              <a:gd name="adj" fmla="val 1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6163056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挽回・削減の合計 ＋2.8〜4.0億 ＝ ベース復元（＋3.9億）のめど。アップサイド15億は次頁の確度管理で積み上げます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8A8F9C"/>
                </a:solidFill>
                <a:latin typeface="Yu Gothic"/>
                <a:ea typeface="Yu Gothic"/>
                <a:cs typeface="Yu Gothic"/>
              </a:rPr>
              <a:t>円谷プロダクション 営業改革｜社外秘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92840" y="6510528"/>
            <a:ext cx="411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3447288" cy="274320"/>
          </a:xfrm>
          <a:prstGeom prst="roundRect">
            <a:avLst>
              <a:gd name="adj" fmla="val 5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経営会議 定点資料｜2026年8月版（8/13正本）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アップサイド15億の中身 — 確度別パイプライン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35024"/>
            <a:ext cx="11183112" cy="1143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黒(確定)・青(根拠あり)・赤(構想)。毎月「赤が青に、青が黒に変わったか」だけを確認します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11183112" cy="137160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29968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ライセンス ＋5億（社内7億）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95728"/>
            <a:ext cx="310896" cy="219456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1858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391156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大型広告の新規・継続（4-7月実績で新規4社94百万の実勢）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79192"/>
            <a:ext cx="310896" cy="219456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02052"/>
            <a:ext cx="31089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2674620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上位22社（売上の3分の2）のアップセル・四半期戦略MTG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962656"/>
            <a:ext cx="310896" cy="219456"/>
          </a:xfrm>
          <a:prstGeom prst="roundRect">
            <a:avLst>
              <a:gd name="adj" fmla="val 30000"/>
            </a:avLst>
          </a:prstGeom>
          <a:solidFill>
            <a:srgbClr val="B4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985516"/>
            <a:ext cx="31089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2958084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トップ外交による大型案件（本日ターゲットをご相談）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419856"/>
            <a:ext cx="11183112" cy="137160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529584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商品 ＋5億（社内6億）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895344"/>
            <a:ext cx="310896" cy="219456"/>
          </a:xfrm>
          <a:prstGeom prst="roundRect">
            <a:avLst>
              <a:gd name="adj" fmla="val 30000"/>
            </a:avLst>
          </a:prstGeom>
          <a:solidFill>
            <a:srgbClr val="1B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918204"/>
            <a:ext cx="31089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3890772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カード9弾受注確定分（8/17確定・単弾で営業利益＋0.3億水準）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178807"/>
            <a:ext cx="310896" cy="219456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20166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4174235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ウルトラマート（日販100万円ライン）・EC受注前年比2倍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462271"/>
            <a:ext cx="310896" cy="219456"/>
          </a:xfrm>
          <a:prstGeom prst="roundRect">
            <a:avLst>
              <a:gd name="adj" fmla="val 30000"/>
            </a:avLst>
          </a:prstGeom>
          <a:solidFill>
            <a:srgbClr val="B4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485131"/>
            <a:ext cx="31089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1872" y="4457699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mofusand型の60周年横展開・フワヌイ追加発注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919472"/>
            <a:ext cx="11183112" cy="137160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029200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中国 ＋5億（社内7億）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394959"/>
            <a:ext cx="310896" cy="219456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417820"/>
            <a:ext cx="31089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61872" y="5390388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MG改定・Blokees（該当部門より詳述）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5678423"/>
            <a:ext cx="310896" cy="219456"/>
          </a:xfrm>
          <a:prstGeom prst="roundRect">
            <a:avLst>
              <a:gd name="adj" fmla="val 30000"/>
            </a:avLst>
          </a:prstGeom>
          <a:solidFill>
            <a:srgbClr val="B4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701283"/>
            <a:ext cx="31089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61872" y="5673851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越境EC拡大（月商1,000万→3,000万の段階）・新規座組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5961887"/>
            <a:ext cx="310896" cy="219456"/>
          </a:xfrm>
          <a:prstGeom prst="roundRect">
            <a:avLst>
              <a:gd name="adj" fmla="val 30000"/>
            </a:avLst>
          </a:prstGeom>
          <a:solidFill>
            <a:srgbClr val="B4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984747"/>
            <a:ext cx="31089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61872" y="5957315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※実効取り分率の変動リスクを毎月監視（過去に原価率悪化の実例）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291072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※ 見込に未反映：カード9弾／家賃▲26.4・退職▲18.4／出向＋40／海外ディス▲58（要確認）。毎月消し込みます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8A8F9C"/>
                </a:solidFill>
                <a:latin typeface="Yu Gothic"/>
                <a:ea typeface="Yu Gothic"/>
                <a:cs typeface="Yu Gothic"/>
              </a:rPr>
              <a:t>円谷プロダクション 営業改革｜社外秘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6510528"/>
            <a:ext cx="411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3447288" cy="274320"/>
          </a:xfrm>
          <a:prstGeom prst="roundRect">
            <a:avLst>
              <a:gd name="adj" fmla="val 5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経営会議 定点資料｜2026年8月版（8/13正本）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月次トラッキング — この表を毎月1行ずつ埋めます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35024"/>
            <a:ext cx="11183112" cy="1143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単位：億円。「見込が上がる・黒が増える・販管費が超えない」の3つが揃えば40億に着地します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11680"/>
            <a:ext cx="2971800" cy="475488"/>
          </a:xfrm>
          <a:prstGeom prst="roundRect">
            <a:avLst>
              <a:gd name="adj" fmla="val 12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2066544"/>
            <a:ext cx="283463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2011680"/>
            <a:ext cx="969264" cy="475488"/>
          </a:xfrm>
          <a:prstGeom prst="roundRect">
            <a:avLst>
              <a:gd name="adj" fmla="val 12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1" y="2066544"/>
            <a:ext cx="8321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8月</a:t>
            </a:r>
          </a:p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(今回)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35424" y="2011680"/>
            <a:ext cx="969264" cy="475488"/>
          </a:xfrm>
          <a:prstGeom prst="roundRect">
            <a:avLst>
              <a:gd name="adj" fmla="val 12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2066544"/>
            <a:ext cx="8321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9月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50408" y="2011680"/>
            <a:ext cx="969264" cy="475488"/>
          </a:xfrm>
          <a:prstGeom prst="roundRect">
            <a:avLst>
              <a:gd name="adj" fmla="val 12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2066544"/>
            <a:ext cx="8321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10月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65392" y="2011680"/>
            <a:ext cx="969264" cy="475488"/>
          </a:xfrm>
          <a:prstGeom prst="roundRect">
            <a:avLst>
              <a:gd name="adj" fmla="val 12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38544" y="2066544"/>
            <a:ext cx="8321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11月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0376" y="2011680"/>
            <a:ext cx="969264" cy="475488"/>
          </a:xfrm>
          <a:prstGeom prst="roundRect">
            <a:avLst>
              <a:gd name="adj" fmla="val 12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53528" y="2066544"/>
            <a:ext cx="8321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12月</a:t>
            </a:r>
          </a:p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(到達判定)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60" y="2011680"/>
            <a:ext cx="969264" cy="475488"/>
          </a:xfrm>
          <a:prstGeom prst="roundRect">
            <a:avLst>
              <a:gd name="adj" fmla="val 12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68512" y="2066544"/>
            <a:ext cx="8321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1月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10344" y="2011680"/>
            <a:ext cx="969264" cy="475488"/>
          </a:xfrm>
          <a:prstGeom prst="roundRect">
            <a:avLst>
              <a:gd name="adj" fmla="val 12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83496" y="2066544"/>
            <a:ext cx="8321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2月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25328" y="2011680"/>
            <a:ext cx="969264" cy="475488"/>
          </a:xfrm>
          <a:prstGeom prst="roundRect">
            <a:avLst>
              <a:gd name="adj" fmla="val 12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0" y="2066544"/>
            <a:ext cx="8321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3月</a:t>
            </a:r>
          </a:p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(着地)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265176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通期見込（営業利益）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39" y="2651760"/>
            <a:ext cx="923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19.8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5424" y="2651760"/>
            <a:ext cx="923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E5E7EB"/>
                </a:solidFill>
                <a:latin typeface="Yu Gothic"/>
                <a:ea typeface="Yu Gothic"/>
                <a:cs typeface="Yu Gothic"/>
              </a:rPr>
              <a:t>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50408" y="2651760"/>
            <a:ext cx="923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E5E7EB"/>
                </a:solidFill>
                <a:latin typeface="Yu Gothic"/>
                <a:ea typeface="Yu Gothic"/>
                <a:cs typeface="Yu Gothic"/>
              </a:rPr>
              <a:t>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2651760"/>
            <a:ext cx="923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E5E7EB"/>
                </a:solidFill>
                <a:latin typeface="Yu Gothic"/>
                <a:ea typeface="Yu Gothic"/>
                <a:cs typeface="Yu Gothic"/>
              </a:rPr>
              <a:t>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0376" y="2651760"/>
            <a:ext cx="923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E5E7EB"/>
                </a:solidFill>
                <a:latin typeface="Yu Gothic"/>
                <a:ea typeface="Yu Gothic"/>
                <a:cs typeface="Yu Gothic"/>
              </a:rPr>
              <a:t>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2651760"/>
            <a:ext cx="923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E5E7EB"/>
                </a:solidFill>
                <a:latin typeface="Yu Gothic"/>
                <a:ea typeface="Yu Gothic"/>
                <a:cs typeface="Yu Gothic"/>
              </a:rPr>
              <a:t>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10344" y="2651760"/>
            <a:ext cx="923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E5E7EB"/>
                </a:solidFill>
                <a:latin typeface="Yu Gothic"/>
                <a:ea typeface="Yu Gothic"/>
                <a:cs typeface="Yu Gothic"/>
              </a:rPr>
              <a:t>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25328" y="2651760"/>
            <a:ext cx="923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E5E7EB"/>
                </a:solidFill>
                <a:latin typeface="Yu Gothic"/>
                <a:ea typeface="Yu Gothic"/>
                <a:cs typeface="Yu Gothic"/>
              </a:rPr>
              <a:t>－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2999232"/>
            <a:ext cx="112014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" y="3145536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40億まで（あといくら）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39" y="3145536"/>
            <a:ext cx="923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20.2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3145536"/>
            <a:ext cx="923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E5E7EB"/>
                </a:solidFill>
                <a:latin typeface="Yu Gothic"/>
                <a:ea typeface="Yu Gothic"/>
                <a:cs typeface="Yu Gothic"/>
              </a:rPr>
              <a:t>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50408" y="3145536"/>
            <a:ext cx="923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E5E7EB"/>
                </a:solidFill>
                <a:latin typeface="Yu Gothic"/>
                <a:ea typeface="Yu Gothic"/>
                <a:cs typeface="Yu Gothic"/>
              </a:rPr>
              <a:t>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65392" y="3145536"/>
            <a:ext cx="923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E5E7EB"/>
                </a:solidFill>
                <a:latin typeface="Yu Gothic"/>
                <a:ea typeface="Yu Gothic"/>
                <a:cs typeface="Yu Gothic"/>
              </a:rPr>
              <a:t>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0376" y="3145536"/>
            <a:ext cx="923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E5E7EB"/>
                </a:solidFill>
                <a:latin typeface="Yu Gothic"/>
                <a:ea typeface="Yu Gothic"/>
                <a:cs typeface="Yu Gothic"/>
              </a:rPr>
              <a:t>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3145536"/>
            <a:ext cx="923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E5E7EB"/>
                </a:solidFill>
                <a:latin typeface="Yu Gothic"/>
                <a:ea typeface="Yu Gothic"/>
                <a:cs typeface="Yu Gothic"/>
              </a:rPr>
              <a:t>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10344" y="3145536"/>
            <a:ext cx="923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E5E7EB"/>
                </a:solidFill>
                <a:latin typeface="Yu Gothic"/>
                <a:ea typeface="Yu Gothic"/>
                <a:cs typeface="Yu Gothic"/>
              </a:rPr>
              <a:t>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25328" y="3145536"/>
            <a:ext cx="923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E5E7EB"/>
                </a:solidFill>
                <a:latin typeface="Yu Gothic"/>
                <a:ea typeface="Yu Gothic"/>
                <a:cs typeface="Yu Gothic"/>
              </a:rPr>
              <a:t>－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3493008"/>
            <a:ext cx="112014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6072" y="363931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アップサイド 黒（確定）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20439" y="3639312"/>
            <a:ext cx="923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0.3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35424" y="3639312"/>
            <a:ext cx="923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E5E7EB"/>
                </a:solidFill>
                <a:latin typeface="Yu Gothic"/>
                <a:ea typeface="Yu Gothic"/>
                <a:cs typeface="Yu Gothic"/>
              </a:rPr>
              <a:t>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50408" y="3639312"/>
            <a:ext cx="923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E5E7EB"/>
                </a:solidFill>
                <a:latin typeface="Yu Gothic"/>
                <a:ea typeface="Yu Gothic"/>
                <a:cs typeface="Yu Gothic"/>
              </a:rPr>
              <a:t>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65392" y="3639312"/>
            <a:ext cx="923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E5E7EB"/>
                </a:solidFill>
                <a:latin typeface="Yu Gothic"/>
                <a:ea typeface="Yu Gothic"/>
                <a:cs typeface="Yu Gothic"/>
              </a:rPr>
              <a:t>－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80376" y="3639312"/>
            <a:ext cx="923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E5E7EB"/>
                </a:solidFill>
                <a:latin typeface="Yu Gothic"/>
                <a:ea typeface="Yu Gothic"/>
                <a:cs typeface="Yu Gothic"/>
              </a:rPr>
              <a:t>－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3639312"/>
            <a:ext cx="923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E5E7EB"/>
                </a:solidFill>
                <a:latin typeface="Yu Gothic"/>
                <a:ea typeface="Yu Gothic"/>
                <a:cs typeface="Yu Gothic"/>
              </a:rPr>
              <a:t>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10344" y="3639312"/>
            <a:ext cx="923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E5E7EB"/>
                </a:solidFill>
                <a:latin typeface="Yu Gothic"/>
                <a:ea typeface="Yu Gothic"/>
                <a:cs typeface="Yu Gothic"/>
              </a:rPr>
              <a:t>－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25328" y="3639312"/>
            <a:ext cx="923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E5E7EB"/>
                </a:solidFill>
                <a:latin typeface="Yu Gothic"/>
                <a:ea typeface="Yu Gothic"/>
                <a:cs typeface="Yu Gothic"/>
              </a:rPr>
              <a:t>－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3986784"/>
            <a:ext cx="112014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6072" y="413308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アップサイド 青（根拠あり）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20439" y="4133088"/>
            <a:ext cx="923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集計中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35424" y="4133088"/>
            <a:ext cx="923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E5E7EB"/>
                </a:solidFill>
                <a:latin typeface="Yu Gothic"/>
                <a:ea typeface="Yu Gothic"/>
                <a:cs typeface="Yu Gothic"/>
              </a:rPr>
              <a:t>－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50408" y="4133088"/>
            <a:ext cx="923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E5E7EB"/>
                </a:solidFill>
                <a:latin typeface="Yu Gothic"/>
                <a:ea typeface="Yu Gothic"/>
                <a:cs typeface="Yu Gothic"/>
              </a:rPr>
              <a:t>－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65392" y="4133088"/>
            <a:ext cx="923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E5E7EB"/>
                </a:solidFill>
                <a:latin typeface="Yu Gothic"/>
                <a:ea typeface="Yu Gothic"/>
                <a:cs typeface="Yu Gothic"/>
              </a:rPr>
              <a:t>－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80376" y="4133088"/>
            <a:ext cx="923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E5E7EB"/>
                </a:solidFill>
                <a:latin typeface="Yu Gothic"/>
                <a:ea typeface="Yu Gothic"/>
                <a:cs typeface="Yu Gothic"/>
              </a:rPr>
              <a:t>－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95360" y="4133088"/>
            <a:ext cx="923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E5E7EB"/>
                </a:solidFill>
                <a:latin typeface="Yu Gothic"/>
                <a:ea typeface="Yu Gothic"/>
                <a:cs typeface="Yu Gothic"/>
              </a:rPr>
              <a:t>－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10344" y="4133088"/>
            <a:ext cx="923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E5E7EB"/>
                </a:solidFill>
                <a:latin typeface="Yu Gothic"/>
                <a:ea typeface="Yu Gothic"/>
                <a:cs typeface="Yu Gothic"/>
              </a:rPr>
              <a:t>－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625328" y="4133088"/>
            <a:ext cx="923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E5E7EB"/>
                </a:solidFill>
                <a:latin typeface="Yu Gothic"/>
                <a:ea typeface="Yu Gothic"/>
                <a:cs typeface="Yu Gothic"/>
              </a:rPr>
              <a:t>－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" y="4480560"/>
            <a:ext cx="112014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76072" y="462686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販管費 見込（計画25.0）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20439" y="4626864"/>
            <a:ext cx="923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26.0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35424" y="4626864"/>
            <a:ext cx="923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E5E7EB"/>
                </a:solidFill>
                <a:latin typeface="Yu Gothic"/>
                <a:ea typeface="Yu Gothic"/>
                <a:cs typeface="Yu Gothic"/>
              </a:rPr>
              <a:t>－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50408" y="4626864"/>
            <a:ext cx="923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E5E7EB"/>
                </a:solidFill>
                <a:latin typeface="Yu Gothic"/>
                <a:ea typeface="Yu Gothic"/>
                <a:cs typeface="Yu Gothic"/>
              </a:rPr>
              <a:t>－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65392" y="4626864"/>
            <a:ext cx="923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E5E7EB"/>
                </a:solidFill>
                <a:latin typeface="Yu Gothic"/>
                <a:ea typeface="Yu Gothic"/>
                <a:cs typeface="Yu Gothic"/>
              </a:rPr>
              <a:t>－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580376" y="4626864"/>
            <a:ext cx="923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E5E7EB"/>
                </a:solidFill>
                <a:latin typeface="Yu Gothic"/>
                <a:ea typeface="Yu Gothic"/>
                <a:cs typeface="Yu Gothic"/>
              </a:rPr>
              <a:t>－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95360" y="4626864"/>
            <a:ext cx="923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E5E7EB"/>
                </a:solidFill>
                <a:latin typeface="Yu Gothic"/>
                <a:ea typeface="Yu Gothic"/>
                <a:cs typeface="Yu Gothic"/>
              </a:rPr>
              <a:t>－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10344" y="4626864"/>
            <a:ext cx="923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E5E7EB"/>
                </a:solidFill>
                <a:latin typeface="Yu Gothic"/>
                <a:ea typeface="Yu Gothic"/>
                <a:cs typeface="Yu Gothic"/>
              </a:rPr>
              <a:t>－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25328" y="4626864"/>
            <a:ext cx="923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E5E7EB"/>
                </a:solidFill>
                <a:latin typeface="Yu Gothic"/>
                <a:ea typeface="Yu Gothic"/>
                <a:cs typeface="Yu Gothic"/>
              </a:rPr>
              <a:t>－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2920" y="4974336"/>
            <a:ext cx="112014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02920" y="5166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この資料の運用ルール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7240" y="5486400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・毎月、同じ7枚の数字だけを更新する（体裁・構成は変えない。作成はSTO・検証は財務）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7240" y="5824728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・議論は「前月からの変化」と「コミット値との差異」のみ。差異には理由と対策を添える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7240" y="6163056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・12月の点検会議で40億到達を判定。届かない場合は緊急レバー（条件改定前倒し・コスト第2弾）を発動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02920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8A8F9C"/>
                </a:solidFill>
                <a:latin typeface="Yu Gothic"/>
                <a:ea typeface="Yu Gothic"/>
                <a:cs typeface="Yu Gothic"/>
              </a:rPr>
              <a:t>円谷プロダクション 営業改革｜社外秘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292840" y="6510528"/>
            <a:ext cx="411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