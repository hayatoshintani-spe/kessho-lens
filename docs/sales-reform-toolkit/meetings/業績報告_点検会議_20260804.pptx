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967227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目標と現在地 — 売上は先行、利益はまだ測れていない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7月末速報（請求ベース）。会計締め後に正確値を報告します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売上 4-7月実績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26.1億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前年比＋5.0億／期初予算比＋6.7億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通期売上目標（上方修正）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112.4億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期初予算83.7億から上方修正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20240"/>
            <a:ext cx="3602736" cy="1517904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営業利益 今期目標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9572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40億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35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ベース25億＋アップサイド15億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3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売上のけん引役（4-7月・前年差）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78224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187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国内ライセンス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＋1.3億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広告・食品・オンライン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4078224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187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国内MD（自社商品）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＋1.0億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カード・mofusand・イベント物販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0056" y="4078224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4187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映像・イベント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＋0.8億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配信・4K放送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4078224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4187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中国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＋1.1億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商品化ロイヤリティ（Q1集中計上）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37192" y="4078224"/>
            <a:ext cx="2148840" cy="1005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01784" y="4187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アジア・その他海外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▲0.8億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大型公演の反動・新弾時期差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9496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22976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ただし、この売上が営業利益40億にどれだけ効いているかは、まだ誰も言えません（利益ベースの進捗計測が未整備）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部門変更により期初予算との比較も困難。次回から「利益への換算」で報告できる形に直します（本日の論点1・2）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967227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セグメント別の中身 — どこが強く、どこに手を打つか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金額は4-7月・請求ベース（百万円）。詳細は別添のデータ集を参照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65376"/>
            <a:ext cx="16367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11095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セグメント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865376"/>
            <a:ext cx="7223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911095"/>
            <a:ext cx="5577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4-7月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65376"/>
            <a:ext cx="72237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911095"/>
            <a:ext cx="5577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前年差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865376"/>
            <a:ext cx="428853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911095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中身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65376"/>
            <a:ext cx="3557016" cy="329184"/>
          </a:xfrm>
          <a:prstGeom prst="roundRect">
            <a:avLst>
              <a:gd name="adj" fmla="val 1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911095"/>
            <a:ext cx="33924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40億に向けた論点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40864"/>
            <a:ext cx="14721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国内ライセンス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34086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34086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340864"/>
            <a:ext cx="412394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広告＋55（HENNGE・新日本空調 等）／食品＋32／オンライン＋18。書籍は▲7で構造的な縮小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340864"/>
            <a:ext cx="33924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単発の広告を継続契約に変える仕組み。書籍は撤退・縮小の基準づくり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72384"/>
            <a:ext cx="111556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63824"/>
            <a:ext cx="14721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国内MD（自社商品）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16382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16382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163824"/>
            <a:ext cx="412394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イベント物販＋44（60周年）／EC＋25（カード・7月受注は前年倍増）／一般流通＋21（販路拡大）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163824"/>
            <a:ext cx="33924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限定商品×店舗×ECの勝ち型（mofusand型）を60周年企画群へ横展開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95344"/>
            <a:ext cx="111556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86783"/>
            <a:ext cx="14721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映像・イベント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986783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3986783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986783"/>
            <a:ext cx="412394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配信＋17（U-NEXT 60周年）／4K放送＋35（NHK）／イマジネーション＋11。フィジカル▲37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986783"/>
            <a:ext cx="33924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ライブの後ズレ管理と、イマジネーション新規入会の目標達成（月2,600人）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718304"/>
            <a:ext cx="111556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09744"/>
            <a:ext cx="14721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中国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0974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1,039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80974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＋113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809744"/>
            <a:ext cx="412394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商品化ロイヤリティがQ1集中計上。Blokees・MG改定は該当部門より詳述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809744"/>
            <a:ext cx="33924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実効取り分率の監視（原価率悪化の再発防止）。MG改定の利益インパクト確認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41264"/>
            <a:ext cx="111556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32704"/>
            <a:ext cx="14721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アジア・その他海外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63270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165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5632704"/>
            <a:ext cx="5577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▲78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632704"/>
            <a:ext cx="412394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前年の大型公演の反動▲60／カード新弾の時期差▲45。通期でシン・ウルトラマン配信＋21.7を見込む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632704"/>
            <a:ext cx="339242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9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時期差なのか実力減なのかの切り分けと、通期挽回プランの提出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364224"/>
            <a:ext cx="111556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967227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40億必達に向けた本日の論点（3つ）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数字の報告で終わらせず、ここから先のアクションを議論します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316736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942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22576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6654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アップサイド15億を、誰の目標にいくらで割り付けるか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96926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部門変更で期初予算との比較が崩れています。ライセンス＋5億・商品＋5億・中国＋5億を、事業本部の月次目標に8月中に落とし込みます（担当：小沢）。本日は割付の考え方をご確認ください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83280"/>
            <a:ext cx="11183112" cy="1316736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71246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2958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売上の好調を「利益」に翻訳して毎月測る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31920"/>
            <a:ext cx="96926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請求ベースの売上では40億への効きが判定できません。粗利・実効取り分率ベースの利益進捗を財務（柳沼さん）と整備し、次回から「40億まであといくら」をこの場で毎月報告します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46320"/>
            <a:ext cx="11183112" cy="1316736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17550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48656"/>
            <a:ext cx="5669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92624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伸びは仕組みに、減速は挽回プランに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394960"/>
            <a:ext cx="96926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好調の中身は単発が多い（広告・限定商品）。継続契約化と60周年横展開で再現性を作ります。減速側（アジア▲1.4億・書籍・フィジカル）は、時期差か実力減かを切り分け、次回までに挽回プランを提出させ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967227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初回点検会議 2026-08-04｜業績の報告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各事業本部への依頼 — 次回（9月）までに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点検会議を「報告の場」でなく「40億必達の進捗を確認する場」にするための宿題です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依頼1　「今月のアクション3つ」を数字つきで提出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32304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各事業本部が40億（自部門のアップサイド＋5億）に向けて今月やることを3つ、見込み金額つきで。分科会経由でSTOへ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55264"/>
            <a:ext cx="1118311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依頼2　減速領域の挽回プラン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アジア・その他海外（▲1.4億）、書籍、フィジカルの3領域。時期差なら計上時期の根拠を、実力減なら代替の積み上げを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90288"/>
            <a:ext cx="11183112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18303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依頼3　好調カテゴリの継続化案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02352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単発広告の継続契約化、カード・mofusand型の60周年横展開。「今の追い風が来期も続く仕組み」を1件以上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88736"/>
            <a:ext cx="11183112" cy="53035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STO側の宿題：利益ベースの進捗計測（柳沼さん連携）と15億の割付を8月中に整備し、次回から「40億まであといくら」を毎月出します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