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847088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初回点検会議 2026-08-04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本日の承認事項（3件）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各件は論点1枚（問い・選択肢・推奨）を添付。7/31のSTO取りまとめで最終確定します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20240"/>
            <a:ext cx="11183112" cy="1389888"/>
          </a:xfrm>
          <a:prstGeom prst="roundRect">
            <a:avLst>
              <a:gd name="adj" fmla="val 10000"/>
            </a:avLst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249424"/>
            <a:ext cx="566928" cy="566928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22576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084832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顧客ランク統合の基本方針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450592"/>
            <a:ext cx="9875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ライセンス営業改革（南谷さん）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7614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決めていただきたいこと：5軸（取引実績・成長性・IP適合・CRM/D2C・海外）の重みと、S/A/B/Cの線引きの考え方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56432"/>
            <a:ext cx="11183112" cy="1389888"/>
          </a:xfrm>
          <a:prstGeom prst="roundRect">
            <a:avLst>
              <a:gd name="adj" fmla="val 10000"/>
            </a:avLst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785616"/>
            <a:ext cx="566928" cy="566928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858768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621024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接点づくりのゴール指標と、データ統合の投資方針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986784"/>
            <a:ext cx="9875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接点づくり（黒澤さん）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29768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決めていただきたいこと：KGI「IDでつながり続けるファン数」の指標体系と、実験→実証→投資の段階案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92624"/>
            <a:ext cx="11183112" cy="1389888"/>
          </a:xfrm>
          <a:prstGeom prst="roundRect">
            <a:avLst>
              <a:gd name="adj" fmla="val 10000"/>
            </a:avLst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5321808"/>
            <a:ext cx="566928" cy="566928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94960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5157216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成果目標＋5億円のスコープと、5億ブリッジの枠組み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5522976"/>
            <a:ext cx="9875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STO（新谷）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583387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決めていただきたいこと：対象範囲（営業事業本部）の確認と、レバー別ブリッジで追う枠組み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47104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円谷プロダクション 営業改革｜社外秘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28832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847088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初回点検会議 2026-08-04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業績の報告 — 予算比と通期見込み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報告：永竹社長／数字は8/1時点に更新（作成：STO・検証：柳沼さん）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20240"/>
            <a:ext cx="3602736" cy="1572768"/>
          </a:xfrm>
          <a:prstGeom prst="roundRect">
            <a:avLst>
              <a:gd name="adj" fmla="val 10000"/>
            </a:avLst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2140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66期 予算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32304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40.2億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90672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営業利益（営業事業本部）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920240"/>
            <a:ext cx="3602736" cy="1572768"/>
          </a:xfrm>
          <a:prstGeom prst="roundRect">
            <a:avLst>
              <a:gd name="adj" fmla="val 10000"/>
            </a:avLst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12140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通期見込み（最新）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32304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▲1.25億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090672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予算比。8/1時点に更新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920240"/>
            <a:ext cx="3602736" cy="1572768"/>
          </a:xfrm>
          <a:prstGeom prst="roundRect">
            <a:avLst>
              <a:gd name="adj" fmla="val 10000"/>
            </a:avLst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212140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成果目標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432304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＋5億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090672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予算比（着地45.2億）。経営限りの取り扱い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749039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通期見込みの確度内訳（黒・青・赤）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133087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黒（実績）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06040" y="4151375"/>
            <a:ext cx="5120640" cy="237744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606040" y="4151375"/>
            <a:ext cx="2560320" cy="23774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4133087"/>
            <a:ext cx="37490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【8/1更新】　確定済みの実績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55371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青（仮申請受領）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06040" y="4571999"/>
            <a:ext cx="5120640" cy="237744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606040" y="4571999"/>
            <a:ext cx="1228953" cy="23774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4553712"/>
            <a:ext cx="37490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【8/1更新】　仮申請を受領済み・実現確度高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97433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赤（営業中）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06040" y="4992623"/>
            <a:ext cx="5120640" cy="237744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606040" y="4992623"/>
            <a:ext cx="1331366" cy="23774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09560" y="4974336"/>
            <a:ext cx="37490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26%・18.6億　転換率がレバー⑥。読み管理の定義とパイプライン統制で取り切る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532120"/>
            <a:ext cx="11183112" cy="71323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66928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中計対比：コンテンツ＆デジタル事業 営業利益計画 FY2026 30億 → FY2027 37億 → FY2028 50億。本プロジェクトの＋5億（予算比）は初年度計画の達成を下支えする位置づけ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47104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円谷プロダクション 営業改革｜社外秘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28832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847088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初回点検会議 2026-08-04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5億ブリッジ（第0版）— ギャップ6.25億をどのレバーで埋めるか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Day30に第1版へ更新：レバー別の責任者と目標額を確定します（担当：小沢さん）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20240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① 低粗利×高工数の見直し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1938528"/>
            <a:ext cx="4023360" cy="23774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0" y="1938528"/>
            <a:ext cx="2682240" cy="23774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90688" y="1920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1.0〜1.5億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920240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条件改定・縮小/撤退。ひも付けが前提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32304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② 監修・契約ボトルネック解消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2450592"/>
            <a:ext cx="4023360" cy="23774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0" y="2450592"/>
            <a:ext cx="2682240" cy="23774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432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1.0〜1.5億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43230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成約前倒し・失注減・回転数増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944368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③ 浮いた工数の再投下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2962656"/>
            <a:ext cx="4023360" cy="23774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0" y="2962656"/>
            <a:ext cx="2682240" cy="23774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294436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1.0〜1.5億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944368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軽量化→高粗利先へ再配分。工数計測が前提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45643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④ 取り分・コスト構造の改善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0" y="3474720"/>
            <a:ext cx="2682240" cy="23774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657600" y="3474720"/>
            <a:ext cx="1341120" cy="23774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9568" y="34564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0.5〜1.0億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3456432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委員会配分の把握・事務削減（守り）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968496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⑤ トップ外交による大型案件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0" y="3986783"/>
            <a:ext cx="2682240" cy="23774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657600" y="3986783"/>
            <a:ext cx="1341120" cy="23774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9568" y="396849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0.5〜1.0億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3968496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本日ターゲットの承認後に具体化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480560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⑥ 見込みの確度転換（挽回）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0" y="4498848"/>
            <a:ext cx="4023360" cy="23774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57600" y="4498848"/>
            <a:ext cx="2682240" cy="23774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8" y="44805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1.0〜1.5億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0" y="4480560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赤26%（18.6億）の転換率向上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193792"/>
            <a:ext cx="11183112" cy="969264"/>
          </a:xfrm>
          <a:prstGeom prst="roundRect">
            <a:avLst>
              <a:gd name="adj" fmla="val 10000"/>
            </a:avLst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340096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合計 5.0〜8.0億 ＞ ギャップ6.25億（見込み比）。到達可能圏だが、①②は財務ひも付け、③は工数計測、⑥は確度定義の整備が前提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濃い青＝下限（固い読み）／薄い青＝上限。数字はレバー・案件の単位で追い、人の単位では追いません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47104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円谷プロダクション 営業改革｜社外秘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28832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847088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初回点検会議 2026-08-04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分科会の報告 — 90日後に達成したい状態と3分類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各リーダー10分。冒頭に「90日後に達成したい状態」→ 決議・報告・承認の順で（下記の状態文は初回分科会で確定）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75104"/>
            <a:ext cx="11183112" cy="1335024"/>
          </a:xfrm>
          <a:prstGeom prst="roundRect">
            <a:avLst>
              <a:gd name="adj" fmla="val 10000"/>
            </a:avLst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ライセンス営業改革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リーダー：南谷さん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2103120"/>
            <a:ext cx="75895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90日後：顧客ランクが全社共通になり、上位顧客のすべてに次のアクションと期限が付いている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3886200" y="2761488"/>
            <a:ext cx="75438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2852928"/>
            <a:ext cx="7589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顧客採点・重点顧客・ランク管理の3様式／確認会・棚卸しの進捗／承認：ランク統合の基本方針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56432"/>
            <a:ext cx="11183112" cy="1335024"/>
          </a:xfrm>
          <a:prstGeom prst="roundRect">
            <a:avLst>
              <a:gd name="adj" fmla="val 10000"/>
            </a:avLst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接点づくり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リーダー：黒澤さん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3584448"/>
            <a:ext cx="75895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90日後：IDでつながり続けるファン数が毎月の定点で出て、接点からの送客実験が1つ回っている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86200" y="4242816"/>
            <a:ext cx="75438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86200" y="4334256"/>
            <a:ext cx="7589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KGI採用・仕掛け数は参考指標へ／接点の定点数値・自社MD統合体制／承認：ゴール指標と投資方針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37760"/>
            <a:ext cx="11183112" cy="1335024"/>
          </a:xfrm>
          <a:prstGeom prst="roundRect">
            <a:avLst>
              <a:gd name="adj" fmla="val 10000"/>
            </a:avLst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65776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経営基盤強化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リーダー：高橋さん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5065776"/>
            <a:ext cx="75895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90日後：工数が毎週見え、軽量化12件が動き、会議の総時間が減り始めている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86200" y="5724144"/>
            <a:ext cx="75438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5815584"/>
            <a:ext cx="7589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工数様式の採用（8/3週開始）・軽量化の着手順／会議統廃合の候補／承認：原則なし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3276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※ 決議・報告・承認の件数と中身は、各分科会の提出（開催翌日）を受けて7/31に記入します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47104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円谷プロダクション 営業改革｜社外秘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28832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847088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初回点検会議 2026-08-04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90日の現在地と、次回までの確認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動くものは3本だけ：確認会 → 財務ひも付け → 採点と力の入れ直し。この順で一直線に進めます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75104"/>
            <a:ext cx="3602736" cy="2286000"/>
          </a:xfrm>
          <a:prstGeom prst="roundRect">
            <a:avLst>
              <a:gd name="adj" fmla="val 10000"/>
            </a:avLst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212848"/>
            <a:ext cx="512064" cy="512064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76856"/>
            <a:ext cx="51206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8" y="2231136"/>
            <a:ext cx="256032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確認会（主担当の確定）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8950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935224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進行中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28416"/>
            <a:ext cx="305409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7/21週から合同組成で開催中。役割別の担当列（営業窓口・監修担当）も整備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975104"/>
            <a:ext cx="3602736" cy="2286000"/>
          </a:xfrm>
          <a:prstGeom prst="roundRect">
            <a:avLst>
              <a:gd name="adj" fmla="val 10000"/>
            </a:avLst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0" y="2212848"/>
            <a:ext cx="512064" cy="512064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276856"/>
            <a:ext cx="51206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2231136"/>
            <a:ext cx="256032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財務ひも付け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288950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2935224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先行着手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328416"/>
            <a:ext cx="305409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営業側データ（140社ランク・6年分の継続判断）の取り込みから先行。柳沼さんの取引先別明細で完成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975104"/>
            <a:ext cx="3602736" cy="2286000"/>
          </a:xfrm>
          <a:prstGeom prst="roundRect">
            <a:avLst>
              <a:gd name="adj" fmla="val 10000"/>
            </a:avLst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366760" y="2212848"/>
            <a:ext cx="512064" cy="512064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2276856"/>
            <a:ext cx="51206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5128" y="2231136"/>
            <a:ext cx="256032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採点と力の入れ直し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66760" y="288950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2935224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様式確定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3328416"/>
            <a:ext cx="305409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顧客採点→ランク確定→重点顧客台帳の3様式が完成。基準（重み・線引き）は分科会で確定へ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626864"/>
            <a:ext cx="11183112" cy="1463040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791456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次回までの確認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・本日の決定は24時間以内に決定ログへ記録し、全関係者へ展開します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・レバー別の責任者と目標額（ブリッジ第1版）をDay30までに確定します（担当：小沢さん）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・次回の点検会議は9月第1週（月次60分・本日と同じ型）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547104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円谷プロダクション 営業改革｜社外秘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28832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