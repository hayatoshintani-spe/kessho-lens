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2683763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点検会議 2026-09-11｜業績の報告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40億まで、あと20.2億 — 現在地からの道筋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通期見込19.8億（PLベース・販管費込み・8/13正本）。ここからの積み上げを4つのブロックで管理します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76873"/>
            <a:ext cx="1481328" cy="1792406"/>
          </a:xfrm>
          <a:prstGeom prst="roundRect">
            <a:avLst>
              <a:gd name="adj" fmla="val 6000"/>
            </a:avLst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575121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19.8億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4645060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現在地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3523823"/>
            <a:ext cx="1481328" cy="353049"/>
          </a:xfrm>
          <a:prstGeom prst="roundRect">
            <a:avLst>
              <a:gd name="adj" fmla="val 6000"/>
            </a:avLst>
          </a:prstGeom>
          <a:solidFill>
            <a:srgbClr val="B43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3222071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＋3.9億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4056" y="3572332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ベース挽回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2165939"/>
            <a:ext cx="1481328" cy="1357884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864187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＋15億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91456" y="2716865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アップサイド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2048256"/>
            <a:ext cx="1481328" cy="117683"/>
          </a:xfrm>
          <a:prstGeom prst="roundRect">
            <a:avLst>
              <a:gd name="adj" fmla="val 6000"/>
            </a:avLst>
          </a:prstGeom>
          <a:solidFill>
            <a:srgbClr val="4F7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746504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＋1.3億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2048256"/>
            <a:ext cx="1481328" cy="3621024"/>
          </a:xfrm>
          <a:prstGeom prst="roundRect">
            <a:avLst>
              <a:gd name="adj" fmla="val 6000"/>
            </a:avLst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1746504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40億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6" y="3730752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今期目標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12848" y="3876873"/>
            <a:ext cx="576071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0248" y="3523823"/>
            <a:ext cx="576071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27648" y="2165939"/>
            <a:ext cx="576071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85048" y="2048256"/>
            <a:ext cx="576072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68879" y="5797296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毀損の復元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ライブ後ズレ・海外ディス・国内MD（次頁）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797296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確度で管理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黒0.3/青/赤のパイプライン（4頁目）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97296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コスト削減（第3のレバー）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販管費超過+1.0億の解消を含む（コストチーム）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237744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前期5.7億 → 見込19.8億（＋14.2億の改善）。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ただし部門目標23.7億比では▲3.9億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※カード9弾（8/17受注）等は見込に未反映。毎月この場で「あといくら」を更新します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1052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営業改革｜社外秘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510528"/>
            <a:ext cx="411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2683763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点検会議 2026-09-11｜業績の報告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どこで漏れているか — 目標比▲3.9億の中身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悪化は3カ所に集中。それぞれ挽回プランのオーナーと期限を決めます（単位：百万円）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476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ライセンス営業部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956816"/>
            <a:ext cx="2834640" cy="237744"/>
          </a:xfrm>
          <a:prstGeom prst="roundRect">
            <a:avLst>
              <a:gd name="adj" fmla="val 40000"/>
            </a:avLst>
          </a:prstGeom>
          <a:solidFill>
            <a:srgbClr val="B43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6440" y="1938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B43C2E"/>
                </a:solidFill>
                <a:latin typeface="Yu Gothic"/>
                <a:ea typeface="Yu Gothic"/>
                <a:cs typeface="Yu Gothic"/>
              </a:rPr>
              <a:t>-220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938528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海外ディス▲90（売上見込がマイナス値・正体の特定が必要）／国内MD▲62／中国▲33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南谷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157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ライブイベント部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724912"/>
            <a:ext cx="2357905" cy="237744"/>
          </a:xfrm>
          <a:prstGeom prst="roundRect">
            <a:avLst>
              <a:gd name="adj" fmla="val 40000"/>
            </a:avLst>
          </a:prstGeom>
          <a:solidFill>
            <a:srgbClr val="B43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9705" y="270662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B43C2E"/>
                </a:solidFill>
                <a:latin typeface="Yu Gothic"/>
                <a:ea typeface="Yu Gothic"/>
                <a:cs typeface="Yu Gothic"/>
              </a:rPr>
              <a:t>-183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706624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粗利▲185。LSS人件費の原価付替＋有料ライブの後ズレ。時期差か実力減かの切り分けを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27157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南谷・菅野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483863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管理部門の販管費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0360" y="3493008"/>
            <a:ext cx="1932709" cy="237744"/>
          </a:xfrm>
          <a:prstGeom prst="roundRect">
            <a:avLst>
              <a:gd name="adj" fmla="val 40000"/>
            </a:avLst>
          </a:prstGeom>
          <a:solidFill>
            <a:srgbClr val="B43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04509" y="34747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B43C2E"/>
                </a:solidFill>
                <a:latin typeface="Yu Gothic"/>
                <a:ea typeface="Yu Gothic"/>
                <a:cs typeface="Yu Gothic"/>
              </a:rPr>
              <a:t>-150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474720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総務＋101・法務/人事/財務経理＋106の超過。コスト削減チームの第1案件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3483863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高橋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251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商品開発（カード）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360" y="4261104"/>
            <a:ext cx="373657" cy="237744"/>
          </a:xfrm>
          <a:prstGeom prst="roundRect">
            <a:avLst>
              <a:gd name="adj" fmla="val 40000"/>
            </a:avLst>
          </a:prstGeom>
          <a:solidFill>
            <a:srgbClr val="B43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45457" y="424281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B43C2E"/>
                </a:solidFill>
                <a:latin typeface="Yu Gothic"/>
                <a:ea typeface="Yu Gothic"/>
                <a:cs typeface="Yu Gothic"/>
              </a:rPr>
              <a:t>-29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242816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9弾受注（8/17確定）が未反映。次回更新で反転見込み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42519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山田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02005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プラス側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0360" y="5029200"/>
            <a:ext cx="773083" cy="237744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4883" y="50109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+60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010912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新規開拓＋23（海外＋33）・映像＋22・流通＋15。全部門が悪いわけではない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50200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43600"/>
            <a:ext cx="11183112" cy="566928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6053328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販管費の超過＋1.0億の最大要因は事業部門ではなく管理部門。前回会長ご指摘の「コストの緩み」と符合します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1052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営業改革｜社外秘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510528"/>
            <a:ext cx="411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2683763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点検会議 2026-09-11｜業績の報告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40億必達のアクション — 誰が・何を・いつまでに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挽回3本＋転換2本。すべて次回（10月）のこの場で結果を答え合わせします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01952"/>
            <a:ext cx="11183112" cy="804672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121408"/>
            <a:ext cx="868680" cy="329184"/>
          </a:xfrm>
          <a:prstGeom prst="roundRect">
            <a:avLst>
              <a:gd name="adj" fmla="val 30000"/>
            </a:avLst>
          </a:prstGeom>
          <a:solidFill>
            <a:srgbClr val="B43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6712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挽回1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9339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ライブの後ズレ復元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322576"/>
            <a:ext cx="6309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計上時期の確定と通期での戻り額を確定。戻らない分は代替積み上げ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204825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南谷・菅野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204825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9月分科会→10月報告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07208"/>
            <a:ext cx="11183112" cy="804672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3026664"/>
            <a:ext cx="868680" cy="329184"/>
          </a:xfrm>
          <a:prstGeom prst="roundRect">
            <a:avLst>
              <a:gd name="adj" fmla="val 30000"/>
            </a:avLst>
          </a:prstGeom>
          <a:solidFill>
            <a:srgbClr val="B43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072384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挽回2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898648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海外ディス・国内MDの立て直し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3227832"/>
            <a:ext cx="6309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売上マイナス値の正体特定（返品・解約・計上）→復元プラン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95351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南谷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295351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9月末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712464"/>
            <a:ext cx="11183112" cy="804672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3931920"/>
            <a:ext cx="868680" cy="329184"/>
          </a:xfrm>
          <a:prstGeom prst="roundRect">
            <a:avLst>
              <a:gd name="adj" fmla="val 30000"/>
            </a:avLst>
          </a:prstGeom>
          <a:solidFill>
            <a:srgbClr val="B43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97764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挽回3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3803904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管理販管費＋1.5億の削減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133088"/>
            <a:ext cx="6309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総務・法務/人事/財務経理の超過分解→削減施策第1弾（本日別掲）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385876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高橋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385876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本日目標承認→10月実行報告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617720"/>
            <a:ext cx="11183112" cy="804672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1520" y="4837176"/>
            <a:ext cx="868680" cy="32918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882896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転換1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4709160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カード9弾の見込反映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038344"/>
            <a:ext cx="6309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8/17受注確定分を月次更新に反映（＋の初弾）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76402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山田・柳沼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4764024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9月月次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522976"/>
            <a:ext cx="11183112" cy="804672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1520" y="5742432"/>
            <a:ext cx="868680" cy="32918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788152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転換2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83080" y="5614416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アップサイドの赤→青転換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3080" y="5943600"/>
            <a:ext cx="6309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トップ外交ターゲット（本日ご相談）・上位22社の四半期MTG開始・MG改定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566928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南谷・新谷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56692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毎月更新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1052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営業改革｜社外秘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92840" y="6510528"/>
            <a:ext cx="411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2683763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点検会議 2026-09-11｜業績の報告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アップサイド15億の中身 — 確度別パイプライン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黒（確定）・青（根拠あり）・赤（構想）。毎月「赤が青に、青が黒に変わったか」だけを確認します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11183112" cy="1371600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299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ライセンス ＋5億（社内7億）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395728"/>
            <a:ext cx="310896" cy="219456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18588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39115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大型広告の新規・継続（4-7月実績で新規4社94百万の実勢）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79192"/>
            <a:ext cx="310896" cy="219456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02052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6746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上位22社（売上の3分の2）のアップセル・四半期戦略MTG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962656"/>
            <a:ext cx="310896" cy="219456"/>
          </a:xfrm>
          <a:prstGeom prst="roundRect">
            <a:avLst>
              <a:gd name="adj" fmla="val 30000"/>
            </a:avLst>
          </a:prstGeom>
          <a:solidFill>
            <a:srgbClr val="B43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85516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295808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トップ外交による大型案件（本日ターゲットをご相談）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19856"/>
            <a:ext cx="11183112" cy="1371600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295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商品 ＋5億（社内6億）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895344"/>
            <a:ext cx="310896" cy="219456"/>
          </a:xfrm>
          <a:prstGeom prst="roundRect">
            <a:avLst>
              <a:gd name="adj" fmla="val 30000"/>
            </a:avLst>
          </a:prstGeom>
          <a:solidFill>
            <a:srgbClr val="1B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918204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3890772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カード9弾受注確定分（8/17確定・単弾で営業利益＋0.3億水準）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178807"/>
            <a:ext cx="310896" cy="219456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201668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4174235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ウルトラマート（日販100万円ライン）・EC受注前年比2倍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462271"/>
            <a:ext cx="310896" cy="219456"/>
          </a:xfrm>
          <a:prstGeom prst="roundRect">
            <a:avLst>
              <a:gd name="adj" fmla="val 30000"/>
            </a:avLst>
          </a:prstGeom>
          <a:solidFill>
            <a:srgbClr val="B43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485131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4457699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mofusand型の60周年横展開・フワヌイ追加発注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0292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中国 ＋5億（社内7億）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394959"/>
            <a:ext cx="310896" cy="219456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417820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61872" y="53903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MG改定・Blokees（該当部門より詳述）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5678423"/>
            <a:ext cx="310896" cy="219456"/>
          </a:xfrm>
          <a:prstGeom prst="roundRect">
            <a:avLst>
              <a:gd name="adj" fmla="val 30000"/>
            </a:avLst>
          </a:prstGeom>
          <a:solidFill>
            <a:srgbClr val="B43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701283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61872" y="5673851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越境EC拡大（月商1,000万→3,000万の段階）・新規座組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961887"/>
            <a:ext cx="310896" cy="219456"/>
          </a:xfrm>
          <a:prstGeom prst="roundRect">
            <a:avLst>
              <a:gd name="adj" fmla="val 30000"/>
            </a:avLst>
          </a:prstGeom>
          <a:solidFill>
            <a:srgbClr val="B43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984747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61872" y="5957315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※実効取り分率の変動リスクを毎月監視（過去に原価率悪化の実例）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291072"/>
            <a:ext cx="11155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※ 見込に未反映の要素：カード9弾／家賃▲26.4・退職▲18.4／出向＋40／海外ディス▲58（要確認）。毎月消し込みます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1052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営業改革｜社外秘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92840" y="6510528"/>
            <a:ext cx="411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