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STO — SALES TRANSFORMATION OFFICE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STO体制 — 専任2名＋兼務2名の最小構成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517904"/>
            <a:ext cx="111556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機能が先、人数は後。改革を実行するのは各部長。STOは「データを回す・会議を回す・意思決定に上げる」の運転席</a:t>
            </a:r>
          </a:p>
        </p:txBody>
      </p:sp>
      <p:sp>
        <p:nvSpPr>
          <p:cNvPr id="6" name="Rectangle 5"/>
          <p:cNvSpPr/>
          <p:nvPr/>
        </p:nvSpPr>
        <p:spPr>
          <a:xfrm>
            <a:off x="3535527" y="1975104"/>
            <a:ext cx="5120640" cy="749808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718407" y="2075688"/>
            <a:ext cx="475488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25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オーナー：新谷（専務執行役員・兼務）</a:t>
            </a:r>
          </a:p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E6DAF7"/>
                </a:solidFill>
                <a:latin typeface="Yu Gothic"/>
                <a:ea typeface="Yu Gothic"/>
                <a:cs typeface="Yu Gothic"/>
              </a:rPr>
              <a:t>意思決定・トップ外交・詰まりの解消</a:t>
            </a:r>
          </a:p>
        </p:txBody>
      </p:sp>
      <p:sp>
        <p:nvSpPr>
          <p:cNvPr id="8" name="Down Arrow 7"/>
          <p:cNvSpPr/>
          <p:nvPr/>
        </p:nvSpPr>
        <p:spPr>
          <a:xfrm>
            <a:off x="5943600" y="2761488"/>
            <a:ext cx="301752" cy="237744"/>
          </a:xfrm>
          <a:prstGeom prst="downArrow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3054096"/>
            <a:ext cx="6903720" cy="1572768"/>
          </a:xfrm>
          <a:prstGeom prst="rect">
            <a:avLst/>
          </a:prstGeom>
          <a:solidFill>
            <a:srgbClr val="F7F7F9"/>
          </a:solidFill>
          <a:ln w="9525">
            <a:solidFill>
              <a:srgbClr val="7823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" y="3127248"/>
            <a:ext cx="664768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STO本体（専任2名）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7512" y="3438144"/>
            <a:ext cx="320040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67512" y="3438144"/>
            <a:ext cx="64008" cy="1060704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" y="3529584"/>
            <a:ext cx="2889504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坪井さん｜STOリード（専任）</a:t>
            </a:r>
          </a:p>
          <a:p>
            <a:pPr algn="l">
              <a:spcAft>
                <a:spcPts val="200"/>
              </a:spcAft>
            </a:pPr>
            <a:r>
              <a:rPr sz="95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データ基盤の総責任者</a:t>
            </a:r>
          </a:p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棚卸しマスター・名寄せ・スコアリング・KPI算出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50792" y="3438144"/>
            <a:ext cx="320040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050792" y="3438144"/>
            <a:ext cx="64008" cy="1060704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33672" y="3529584"/>
            <a:ext cx="2889504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岡田さん｜PMO・会議運営（専任）</a:t>
            </a:r>
          </a:p>
          <a:p>
            <a:pPr algn="l">
              <a:spcAft>
                <a:spcPts val="200"/>
              </a:spcAft>
            </a:pPr>
            <a:r>
              <a:rPr sz="95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会議体の運転</a:t>
            </a:r>
          </a:p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日程・アジェンダ・議事録・宿題管理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18120" y="3310128"/>
            <a:ext cx="3867912" cy="1060704"/>
          </a:xfrm>
          <a:prstGeom prst="rect">
            <a:avLst/>
          </a:prstGeom>
          <a:solidFill>
            <a:srgbClr val="F3EFFB"/>
          </a:solidFill>
          <a:ln w="9525">
            <a:solidFill>
              <a:srgbClr val="5F5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1000" y="3401568"/>
            <a:ext cx="3557016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柳沼さん｜財務リエゾン（兼務・週2〜3h）</a:t>
            </a:r>
          </a:p>
          <a:p>
            <a:pPr algn="l">
              <a:spcAft>
                <a:spcPts val="200"/>
              </a:spcAft>
            </a:pPr>
            <a:r>
              <a:rPr sz="950" b="1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定期供給・ルール検証</a:t>
            </a:r>
          </a:p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財務データ定期供給・粗利算定ルール検証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406640" y="3840480"/>
            <a:ext cx="411480" cy="0"/>
          </a:xfrm>
          <a:prstGeom prst="bentConnector3">
            <a:avLst/>
          </a:prstGeom>
          <a:ln w="19050">
            <a:solidFill>
              <a:srgbClr val="5F5F6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Down Arrow 19"/>
          <p:cNvSpPr/>
          <p:nvPr/>
        </p:nvSpPr>
        <p:spPr>
          <a:xfrm>
            <a:off x="3566160" y="4681728"/>
            <a:ext cx="301752" cy="237744"/>
          </a:xfrm>
          <a:prstGeom prst="downArrow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977639" y="4690872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データ供給・会議運転の対象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5029200"/>
            <a:ext cx="3566160" cy="658368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" y="5102352"/>
            <a:ext cx="329184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05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分科会×3（週次）</a:t>
            </a:r>
          </a:p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D8C8F0"/>
                </a:solidFill>
                <a:latin typeface="Yu Gothic"/>
                <a:ea typeface="Yu Gothic"/>
                <a:cs typeface="Yu Gothic"/>
              </a:rPr>
              <a:t>接点づくり／ライセンス営業改革／経営基盤強化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25112" y="5029200"/>
            <a:ext cx="3566160" cy="658368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71416" y="5102352"/>
            <a:ext cx="329184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05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戦略会議（隔週）</a:t>
            </a:r>
          </a:p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D8C8F0"/>
                </a:solidFill>
                <a:latin typeface="Yu Gothic"/>
                <a:ea typeface="Yu Gothic"/>
                <a:cs typeface="Yu Gothic"/>
              </a:rPr>
              <a:t>分科会からの論点を意思決定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47304" y="5029200"/>
            <a:ext cx="3566160" cy="658368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93608" y="5102352"/>
            <a:ext cx="329184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05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点検会議（月次）</a:t>
            </a:r>
          </a:p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D8C8F0"/>
                </a:solidFill>
                <a:latin typeface="Yu Gothic"/>
                <a:ea typeface="Yu Gothic"/>
                <a:cs typeface="Yu Gothic"/>
              </a:rPr>
              <a:t>会長への進捗点検・キーチャート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5870448"/>
            <a:ext cx="11183112" cy="548640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02920" y="5870448"/>
            <a:ext cx="38100" cy="54864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" y="5934456"/>
            <a:ext cx="1088136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STOがやらないこと：</a:t>
            </a: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案件の実行判断／顧客対応の代行／評価・採点の判断 — 改革の主役は各部長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営業改革推進室（STO） | 社外秘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STO — 週次運用リズム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STOの週次運用リズム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517904"/>
            <a:ext cx="111556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毎週この型で運転する。滞留を機械的に検知し、24時間で解けない詰まりは抱えずに上へ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993392"/>
            <a:ext cx="2176272" cy="45720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2020824"/>
            <a:ext cx="217627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月</a:t>
            </a:r>
            <a:r>
              <a:rPr sz="850" b="0" i="0">
                <a:solidFill>
                  <a:srgbClr val="E0D2F6"/>
                </a:solidFill>
                <a:latin typeface="Yu Gothic"/>
                <a:ea typeface="Yu Gothic"/>
                <a:cs typeface="Yu Gothic"/>
              </a:rPr>
              <a:t>  MON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450592"/>
            <a:ext cx="2176272" cy="25420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" y="2560320"/>
            <a:ext cx="1938528" cy="23408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スケジュール確定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・今週の会議体日程を確定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・アジェンダドラフト配布</a:t>
            </a:r>
          </a:p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マスター週次更新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・キュー処理・データ反映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61487" y="1993392"/>
            <a:ext cx="2176272" cy="45720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61487" y="2020824"/>
            <a:ext cx="217627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火</a:t>
            </a:r>
            <a:r>
              <a:rPr sz="850" b="0" i="0">
                <a:solidFill>
                  <a:srgbClr val="E0D2F6"/>
                </a:solidFill>
                <a:latin typeface="Yu Gothic"/>
                <a:ea typeface="Yu Gothic"/>
                <a:cs typeface="Yu Gothic"/>
              </a:rPr>
              <a:t>  TUE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61487" y="2450592"/>
            <a:ext cx="2176272" cy="25420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89503" y="2560320"/>
            <a:ext cx="1938528" cy="23408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分科会デー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・3分科会を並行/ずらし開催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・データパック供給（坪井）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・議事録・宿題起票（岡田）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0055" y="1993392"/>
            <a:ext cx="2176272" cy="45720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0055" y="2020824"/>
            <a:ext cx="217627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水</a:t>
            </a:r>
            <a:r>
              <a:rPr sz="850" b="0" i="0">
                <a:solidFill>
                  <a:srgbClr val="E0D2F6"/>
                </a:solidFill>
                <a:latin typeface="Yu Gothic"/>
                <a:ea typeface="Yu Gothic"/>
                <a:cs typeface="Yu Gothic"/>
              </a:rPr>
              <a:t>  WED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0055" y="2450592"/>
            <a:ext cx="2176272" cy="25420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48071" y="2560320"/>
            <a:ext cx="1938528" cy="23408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データ処理集中日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・財務流し込み・名寄せ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・スコア集計（坪井）</a:t>
            </a:r>
          </a:p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宿題の中間督促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・停滞の芽を朝10分で点検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278623" y="1993392"/>
            <a:ext cx="2176272" cy="45720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78623" y="2020824"/>
            <a:ext cx="217627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木</a:t>
            </a:r>
            <a:r>
              <a:rPr sz="850" b="0" i="0">
                <a:solidFill>
                  <a:srgbClr val="E0D2F6"/>
                </a:solidFill>
                <a:latin typeface="Yu Gothic"/>
                <a:ea typeface="Yu Gothic"/>
                <a:cs typeface="Yu Gothic"/>
              </a:rPr>
              <a:t>  THU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78623" y="2450592"/>
            <a:ext cx="2176272" cy="25420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06639" y="2560320"/>
            <a:ext cx="1938528" cy="23408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戦略会議（隔週）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・分科会論点を意思決定</a:t>
            </a:r>
          </a:p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前日=水夕に事前確認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・新谷のアジェンダ確認30分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・点検会議キーチャート仕上げ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537192" y="1993392"/>
            <a:ext cx="2176272" cy="45720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37192" y="2020824"/>
            <a:ext cx="217627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金</a:t>
            </a:r>
            <a:r>
              <a:rPr sz="850" b="0" i="0">
                <a:solidFill>
                  <a:srgbClr val="E0D2F6"/>
                </a:solidFill>
                <a:latin typeface="Yu Gothic"/>
                <a:ea typeface="Yu Gothic"/>
                <a:cs typeface="Yu Gothic"/>
              </a:rPr>
              <a:t>  FRI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537192" y="2450592"/>
            <a:ext cx="2176272" cy="25420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65208" y="2560320"/>
            <a:ext cx="1938528" cy="23408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17:00 週次レビュー30分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（新谷・坪井・岡田）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・キュー残／データ鮮度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・宿題消化率／来週の論点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・エスカレーション確認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5230368"/>
            <a:ext cx="5504688" cy="1078992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02920" y="5230368"/>
            <a:ext cx="38100" cy="1078992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5340096"/>
            <a:ext cx="5175504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エスカレーション</a:t>
            </a:r>
          </a:p>
          <a:p>
            <a:pPr algn="l">
              <a:spcAft>
                <a:spcPts val="200"/>
              </a:spcAft>
            </a:pPr>
            <a:r>
              <a:rPr sz="9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24時間で解けないものは抱えずに上へ。滞留こそ失点。</a:t>
            </a:r>
          </a:p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停滞3日で督促 → 5日で新谷へ自動エスカレーション。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81344" y="5230368"/>
            <a:ext cx="5504688" cy="1078992"/>
          </a:xfrm>
          <a:prstGeom prst="rect">
            <a:avLst/>
          </a:prstGeom>
          <a:solidFill>
            <a:srgbClr val="F7F7F9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81344" y="5230368"/>
            <a:ext cx="38100" cy="1078992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64224" y="5340096"/>
            <a:ext cx="5175504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STOの運転計器（金曜レビューで確認）</a:t>
            </a:r>
          </a:p>
          <a:p>
            <a:pPr algn="l">
              <a:spcAft>
                <a:spcPts val="200"/>
              </a:spcAft>
            </a:pPr>
            <a:r>
              <a:rPr sz="9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キュー残件数／宿題消化率／停滞5日超ゼロ</a:t>
            </a:r>
          </a:p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／データ鮮度（週1更新）／会議の定時運転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営業改革推進室（STO） | 社外秘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