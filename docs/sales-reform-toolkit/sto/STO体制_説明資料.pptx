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STO — SALES TRANSFORMATION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STO体制 — 専任1名＋兼務3名の最小構成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機能が先、人数は後。改革を実行するのは各部長。STOは「データを回す・会議を回す・意思決定に上げる」の運転席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975104"/>
            <a:ext cx="5120640" cy="74980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8407" y="2075688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オーナー：新谷（専務執行役員・兼務）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6DAF7"/>
                </a:solidFill>
                <a:latin typeface="Yu Gothic"/>
                <a:ea typeface="Yu Gothic"/>
                <a:cs typeface="Yu Gothic"/>
              </a:rPr>
              <a:t>意思決定・トップ外交・詰まりの解消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761488"/>
            <a:ext cx="301752" cy="237744"/>
          </a:xfrm>
          <a:prstGeom prst="down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054096"/>
            <a:ext cx="6903720" cy="1572768"/>
          </a:xfrm>
          <a:prstGeom prst="rect">
            <a:avLst/>
          </a:prstGeom>
          <a:solidFill>
            <a:srgbClr val="F7F7F9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127248"/>
            <a:ext cx="66476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STO本体（2リード）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3438144"/>
            <a:ext cx="32004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" y="3438144"/>
            <a:ext cx="64008" cy="10607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529584"/>
            <a:ext cx="28895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坪井さん｜実行統制・データリード（兼務）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改革の完遂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計画・KPI・データ品質・決定ログ・エスカレーション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0792" y="3438144"/>
            <a:ext cx="32004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0792" y="3438144"/>
            <a:ext cx="64008" cy="10607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3529584"/>
            <a:ext cx="28895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小沢さん｜変革設計リード（専任）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改革の中身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課題設計・プロセス再設計・意思決定書・パイロット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3072384"/>
            <a:ext cx="3867912" cy="731520"/>
          </a:xfrm>
          <a:prstGeom prst="rect">
            <a:avLst/>
          </a:prstGeom>
          <a:solidFill>
            <a:srgbClr val="F3EFFB"/>
          </a:solidFill>
          <a:ln w="9525">
            <a:solidFill>
              <a:srgbClr val="5F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163824"/>
            <a:ext cx="355701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大塩さん｜戦略サポート（兼務）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HD経営企画｜論点整理・HD経企との接続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3438144"/>
            <a:ext cx="411480" cy="0"/>
          </a:xfrm>
          <a:prstGeom prst="bentConnector3">
            <a:avLst/>
          </a:prstGeom>
          <a:ln w="19050">
            <a:solidFill>
              <a:srgbClr val="5F5F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818120" y="3895344"/>
            <a:ext cx="3867912" cy="731520"/>
          </a:xfrm>
          <a:prstGeom prst="rect">
            <a:avLst/>
          </a:prstGeom>
          <a:solidFill>
            <a:srgbClr val="F3EFFB"/>
          </a:solidFill>
          <a:ln w="9525">
            <a:solidFill>
              <a:srgbClr val="5F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3986784"/>
            <a:ext cx="355701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柳沼さん｜財務リエゾン（兼務・週2〜3h）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財務データ定期供給・粗利算定検証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4261104"/>
            <a:ext cx="411480" cy="0"/>
          </a:xfrm>
          <a:prstGeom prst="bentConnector3">
            <a:avLst/>
          </a:prstGeom>
          <a:ln w="19050">
            <a:solidFill>
              <a:srgbClr val="5F5F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own Arrow 22"/>
          <p:cNvSpPr/>
          <p:nvPr/>
        </p:nvSpPr>
        <p:spPr>
          <a:xfrm>
            <a:off x="3566160" y="4681728"/>
            <a:ext cx="301752" cy="237744"/>
          </a:xfrm>
          <a:prstGeom prst="down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46908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データ供給・会議運転の対象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3566160" cy="65836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102352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分科会×3（週次）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D8C8F0"/>
                </a:solidFill>
                <a:latin typeface="Yu Gothic"/>
                <a:ea typeface="Yu Gothic"/>
                <a:cs typeface="Yu Gothic"/>
              </a:rPr>
              <a:t>接点づくり／ライセンス営業改革／経営基盤強化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5029200"/>
            <a:ext cx="3566160" cy="65836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5102352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戦略会議（隔週）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D8C8F0"/>
                </a:solidFill>
                <a:latin typeface="Yu Gothic"/>
                <a:ea typeface="Yu Gothic"/>
                <a:cs typeface="Yu Gothic"/>
              </a:rPr>
              <a:t>分科会からの論点を意思決定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7304" y="5029200"/>
            <a:ext cx="3566160" cy="65836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5102352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点検会議（月次）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D8C8F0"/>
                </a:solidFill>
                <a:latin typeface="Yu Gothic"/>
                <a:ea typeface="Yu Gothic"/>
                <a:cs typeface="Yu Gothic"/>
              </a:rPr>
              <a:t>会長への進捗点検・キーチャート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11183112" cy="54864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870448"/>
            <a:ext cx="38100" cy="5486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934456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STOがやらないこと：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案件の実行判断／顧客対応の代行／評価・採点の判断 — 改革の主役は各部長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営業改革推進室（STO） | 社外秘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STO — 週次運用リズム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STOの週次運用リズム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毎週この型で運転する。滞留を機械的に検知し、24時間で解けない詰まりは抱えずに上へ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93392"/>
            <a:ext cx="2176272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0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月</a:t>
            </a:r>
            <a:r>
              <a:rPr sz="8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  MON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50592"/>
            <a:ext cx="217627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2560320"/>
            <a:ext cx="1938528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スケジュール確定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・今週の会議体日程を確定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・アジェンダドラフト配布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マスター週次更新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・キュー処理・データ反映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7" y="1993392"/>
            <a:ext cx="2176272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7" y="2020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火</a:t>
            </a:r>
            <a:r>
              <a:rPr sz="8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  TUE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7" y="2450592"/>
            <a:ext cx="217627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3" y="2560320"/>
            <a:ext cx="1938528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分科会デー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・3分科会を並行/ずらし開催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・データパック供給（坪井）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・議事録・宿題起票（坪井）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0055" y="1993392"/>
            <a:ext cx="2176272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0055" y="2020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水</a:t>
            </a:r>
            <a:r>
              <a:rPr sz="8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  WED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5" y="2450592"/>
            <a:ext cx="217627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071" y="2560320"/>
            <a:ext cx="1938528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データ処理集中日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・財務流し込み・名寄せ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・スコア集計（坪井）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宿題の中間督促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・停滞の芽を朝10分で点検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3" y="1993392"/>
            <a:ext cx="2176272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3" y="2020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木</a:t>
            </a:r>
            <a:r>
              <a:rPr sz="8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  THU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8623" y="2450592"/>
            <a:ext cx="217627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39" y="2560320"/>
            <a:ext cx="1938528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戦略会議（隔週）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・分科会論点を意思決定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前日=水夕に事前確認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・新谷のアジェンダ確認30分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・点検会議キーチャート仕上げ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7192" y="1993392"/>
            <a:ext cx="2176272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2020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金</a:t>
            </a:r>
            <a:r>
              <a:rPr sz="85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  FRI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37192" y="2450592"/>
            <a:ext cx="217627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2560320"/>
            <a:ext cx="1938528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17:00 週次レビュー30分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（新谷・小沢・坪井）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・キュー残／データ鮮度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・宿題消化率／来週の論点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・エスカレーション確認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30368"/>
            <a:ext cx="5504688" cy="1078992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30368"/>
            <a:ext cx="38100" cy="107899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40096"/>
            <a:ext cx="51755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エスカレーション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24時間で解けないものは抱えずに上へ。滞留こそ失点。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停滞3日で督促 → 5日で新谷へ自動エスカレーション。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5230368"/>
            <a:ext cx="5504688" cy="1078992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5230368"/>
            <a:ext cx="38100" cy="107899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5340096"/>
            <a:ext cx="517550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STOの運転計器（金曜レビューで確認）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キュー残件数／宿題消化率／停滞5日超ゼロ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／データ鮮度（週1更新）／会議の定時運転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営業改革推進室（STO） | 社外秘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