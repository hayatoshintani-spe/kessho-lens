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部長会・30分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新しい会議の仕組みを</a:t>
            </a:r>
          </a:p>
          <a:p>
            <a:pPr algn="l">
              <a:spcAft>
                <a:spcPts val="1600"/>
              </a:spcAft>
            </a:pPr>
            <a:r>
              <a:rPr sz="3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3つの絵で説明します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① 会議は4つ　　② 2週間で1周する　　③ 決めてほしいことが上がり、決まったことが降りてくる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円谷プロダクション　専務執行役員　新谷 隼人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説明15分＋質疑15分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一言でいうと：「決まらない会議」をなくす仕組みです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改革では、検討することと決めることが大量に発生します。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いまの会議のままだと——</a:t>
            </a:r>
          </a:p>
          <a:p>
            <a:pPr algn="l">
              <a:spcAft>
                <a:spcPts val="1600"/>
              </a:spcAft>
            </a:pPr>
            <a:r>
              <a:rPr sz="17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報告だけで時間が終わる。決められる人まで話が届かない。決まったことを誰も追いかけない。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だから、役割の違う4つの会議を作り、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「検討する場」「決める場」「点検する場」をはっきり分けます。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577840"/>
            <a:ext cx="11183112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577840"/>
            <a:ext cx="38100" cy="64008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先に約束：会議は増やしません。重なる会議は統合します（最後のページで説明）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絵①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会議は4つ——下で検討し、上で決める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783080"/>
            <a:ext cx="6949440" cy="914400"/>
          </a:xfrm>
          <a:prstGeom prst="round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783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点検会議（会長）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会社として大事なことを決める　◇ 2週に1回・60分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880360"/>
            <a:ext cx="6949440" cy="914400"/>
          </a:xfrm>
          <a:prstGeom prst="round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88036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戦略会議（永竹社長）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進み具合を確かめ、人と時間の配分を決める　◇ 2週に1回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977639"/>
            <a:ext cx="6949440" cy="1600200"/>
          </a:xfrm>
          <a:prstGeom prst="round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04164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3つの分科会（部長・現場）　テーマごとに検討し、実行する　◇ 毎週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4526280"/>
            <a:ext cx="213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4526280"/>
            <a:ext cx="213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接点づくり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リーダー：黒澤さん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8160" y="4526280"/>
            <a:ext cx="213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8160" y="4526280"/>
            <a:ext cx="213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ライセンス営業改革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リーダー：南谷さん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8920" y="4526280"/>
            <a:ext cx="213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920" y="4526280"/>
            <a:ext cx="213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経営基盤強化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リーダー：高橋さん</a:t>
            </a:r>
          </a:p>
        </p:txBody>
      </p:sp>
      <p:sp>
        <p:nvSpPr>
          <p:cNvPr id="17" name="Up Arrow 16"/>
          <p:cNvSpPr/>
          <p:nvPr/>
        </p:nvSpPr>
        <p:spPr>
          <a:xfrm>
            <a:off x="777240" y="1920240"/>
            <a:ext cx="685800" cy="3474720"/>
          </a:xfrm>
          <a:prstGeom prst="upArrow">
            <a:avLst/>
          </a:prstGeom>
          <a:solidFill>
            <a:srgbClr val="F7F7F9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4864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決めてほしいこと</a:t>
            </a:r>
          </a:p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が上がる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144000" y="1920240"/>
            <a:ext cx="685800" cy="3474720"/>
          </a:xfrm>
          <a:prstGeom prst="downArrow">
            <a:avLst/>
          </a:prstGeom>
          <a:solidFill>
            <a:srgbClr val="F7F7F9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4864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決まったこと</a:t>
            </a:r>
          </a:p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が降りてくる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783080"/>
            <a:ext cx="1371600" cy="379476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8A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1920240"/>
            <a:ext cx="12801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事務局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（PMO）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毎朝30分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全体を回す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記録・準備は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全部ここ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絵②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2週間で1周する——毎週の分科会と、隔週の「決める会議」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第1週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第2週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1907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71907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1907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71907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1031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1031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21031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21031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37033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37033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37033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40" y="37033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0" y="3703320"/>
            <a:ext cx="1965960" cy="137160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2103120"/>
            <a:ext cx="1965960" cy="1371600"/>
          </a:xfrm>
          <a:prstGeom prst="roundRect">
            <a:avLst/>
          </a:prstGeom>
          <a:solidFill>
            <a:srgbClr val="F3EFFB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10312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 ×3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各60〜90分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703320"/>
            <a:ext cx="1965960" cy="1371600"/>
          </a:xfrm>
          <a:prstGeom prst="roundRect">
            <a:avLst/>
          </a:prstGeom>
          <a:solidFill>
            <a:srgbClr val="F3EFFB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70332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 ×3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各60〜90分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103120"/>
            <a:ext cx="1965960" cy="1371600"/>
          </a:xfrm>
          <a:prstGeom prst="round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10312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戦略会議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703320"/>
            <a:ext cx="1965960" cy="1371600"/>
          </a:xfrm>
          <a:prstGeom prst="round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70332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会長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349240"/>
            <a:ext cx="10012680" cy="50292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10012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毎朝：事務局会議 30分（進捗の確認と、次の会議の準備）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曜日は仮。初回に確定します。皆さんに毎回出ていただくのは「自部門に関係する分科会」だけです（週1回）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絵③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困りごとが上がっていく道——例：「監修の戻りが多くて案件が進まない」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822960" y="2011680"/>
            <a:ext cx="3566160" cy="1371600"/>
          </a:xfrm>
          <a:prstGeom prst="chevron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部門内でできる改善は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ここで決めて、すぐ実行</a:t>
            </a:r>
          </a:p>
        </p:txBody>
      </p:sp>
      <p:sp>
        <p:nvSpPr>
          <p:cNvPr id="7" name="Chevron 6"/>
          <p:cNvSpPr/>
          <p:nvPr/>
        </p:nvSpPr>
        <p:spPr>
          <a:xfrm>
            <a:off x="4617720" y="2011680"/>
            <a:ext cx="3566160" cy="1371600"/>
          </a:xfrm>
          <a:prstGeom prst="chevron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戦略会議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部門をまたぐこと・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人の配分はここで決定</a:t>
            </a:r>
          </a:p>
        </p:txBody>
      </p:sp>
      <p:sp>
        <p:nvSpPr>
          <p:cNvPr id="9" name="Chevron 8"/>
          <p:cNvSpPr/>
          <p:nvPr/>
        </p:nvSpPr>
        <p:spPr>
          <a:xfrm>
            <a:off x="8412480" y="2011680"/>
            <a:ext cx="3566160" cy="1371600"/>
          </a:xfrm>
          <a:prstGeom prst="chevron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01168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会社の方針・お金・体制に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関わることだけ会長が決定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49039"/>
            <a:ext cx="10972800" cy="56692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749039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39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49039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戻りの多い原因を確認。「事前チェックリストを作る」は、その場で決めて翌週から実行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434840"/>
            <a:ext cx="10972800" cy="56692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43484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434840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「監修の人手が足りない」は部門をまたぐ話なので上げる → 応援の配置を社長が決定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20640"/>
            <a:ext cx="10972800" cy="56692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20640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点検会議へ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5120640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「監修の体制を増強する（費用が発生）」は会社の判断なので上げる → 会長が決定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ポイント：現場で決められることは現場で決め切る。上の会議には「そこでしか決められないこと」だけを上げる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運営のルール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ルールは3つだけ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66160" cy="310896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691640"/>
            <a:ext cx="731520" cy="73152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資料を作らない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会議のためのパワポ・報告資料は禁止。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Wordのメモとその場のデータで話す。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（例外は点検会議の要点数枚のみ・事務局が作成）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566160" cy="310896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691640"/>
            <a:ext cx="731520" cy="73152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決めたことは台帳に残す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「誰が・いつまでに・何を」まで決めて記録。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次の会議の冒頭で、やったかを必ず確認。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記録は全部、事務局がやります。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310896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6920" y="1691640"/>
            <a:ext cx="731520" cy="73152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止まったら、上に上がる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期限を2回超えたことは、自動的に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1つ上の会議の議題になる。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人を責めるためではなく、助けを出すため。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狙いはひとつ：会議の時間と準備の時間を減らして、検討と実行に時間を使うこと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お願い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部長の皆さんへのお願いは3つ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66160" cy="3108960"/>
          </a:xfrm>
          <a:prstGeom prst="roundRect">
            <a:avLst/>
          </a:prstGeom>
          <a:solidFill>
            <a:srgbClr val="F3EFFB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691640"/>
            <a:ext cx="731520" cy="73152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人を出してください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自部門から分科会に出るメンバーを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1〜2名選んでください。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負荷は週2〜4時間の想定。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今週中に個別にご相談します。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566160" cy="3108960"/>
          </a:xfrm>
          <a:prstGeom prst="roundRect">
            <a:avLst/>
          </a:prstGeom>
          <a:solidFill>
            <a:srgbClr val="F3EFFB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691640"/>
            <a:ext cx="731520" cy="73152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出てください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自部門に関係する分科会に、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部長ご自身も出席してください。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週1回・60〜90分。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部門の意見を「決定」に反映する場です。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3108960"/>
          </a:xfrm>
          <a:prstGeom prst="roundRect">
            <a:avLst/>
          </a:prstGeom>
          <a:solidFill>
            <a:srgbClr val="F3EFFB"/>
          </a:solidFill>
          <a:ln w="1270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6920" y="1691640"/>
            <a:ext cx="731520" cy="73152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691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伝えてください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461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会議で決まったことを、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部門のメンバーに伝えて動かしてください。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決定の台帳は毎回、全部長に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共有されます。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議事録づくり・資料づくり・進捗の取りまとめは、すべて事務局がやります。皆さんにはお願いしません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最後に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会議は増やしません——重なるものは、この仕組みに統合します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5760720" cy="64008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営業の案件を確認する週次の会議（構想中だったもの）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965960"/>
            <a:ext cx="5120640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→ ライセンス営業改革分科会がその役割を持ちます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760720" cy="64008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経営が出席して案件の続け方を決める月例会議（構想中だったもの）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743200"/>
            <a:ext cx="5120640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→ 戦略会議と点検会議がその役割を持ちます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39"/>
            <a:ext cx="5760720" cy="64008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各部門の定例会議・朝会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520439"/>
            <a:ext cx="5120640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520439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→ 変わりません（改革に関わる話だけ、分科会に持ち込んでください）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ここから15分、質疑の時間です。特に聞かせてください：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・自部門は、どの分科会にどう関わるのか（不明な点）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・「これも統合できるのでは」という既存の会議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・この仕組みで回らなくなりそうなところ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43600"/>
            <a:ext cx="11064240" cy="50292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943600"/>
            <a:ext cx="38100" cy="5029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言いそびれた意見は、今後1週間、新谷まで直接どうぞ（メール・口頭どちらでも）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円谷プロダクション｜新しい会議の仕組み（部長会・社外秘）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