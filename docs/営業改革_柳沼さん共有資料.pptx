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869680" y="-1280160"/>
            <a:ext cx="4754880" cy="4754880"/>
          </a:xfrm>
          <a:prstGeom prst="ellipse">
            <a:avLst/>
          </a:prstGeom>
          <a:solidFill>
            <a:srgbClr val="4F7DE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966960" y="4206240"/>
            <a:ext cx="3291840" cy="3291840"/>
          </a:xfrm>
          <a:prstGeom prst="ellipse">
            <a:avLst/>
          </a:prstGeom>
          <a:noFill/>
          <a:ln w="17780">
            <a:solidFill>
              <a:srgbClr val="FFFFFF">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60" y="4663440"/>
            <a:ext cx="2560320" cy="2560320"/>
          </a:xfrm>
          <a:prstGeom prst="ellipse">
            <a:avLst/>
          </a:prstGeom>
          <a:noFill/>
          <a:ln w="15240">
            <a:solidFill>
              <a:srgbClr val="FFFFFF">
                <a:alpha val="1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rot="1200000">
            <a:off x="10881360" y="1737360"/>
            <a:ext cx="1371600" cy="1371600"/>
          </a:xfrm>
          <a:prstGeom prst="triangle">
            <a:avLst/>
          </a:prstGeom>
          <a:noFill/>
          <a:ln w="15240">
            <a:solidFill>
              <a:srgbClr val="FFFFFF">
                <a:alpha val="1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084831"/>
            <a:ext cx="603504" cy="38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249424"/>
            <a:ext cx="9875520" cy="365760"/>
          </a:xfrm>
          <a:prstGeom prst="rect">
            <a:avLst/>
          </a:prstGeom>
          <a:noFill/>
        </p:spPr>
        <p:txBody>
          <a:bodyPr wrap="square" lIns="0" rIns="0" tIns="0" bIns="0">
            <a:spAutoFit/>
          </a:bodyPr>
          <a:lstStyle/>
          <a:p>
            <a:pPr algn="l">
              <a:spcAft>
                <a:spcPts val="400"/>
              </a:spcAft>
            </a:pPr>
            <a:r>
              <a:rPr sz="1400" b="1" i="0">
                <a:solidFill>
                  <a:srgbClr val="BFD4FE"/>
                </a:solidFill>
                <a:latin typeface="Yu Gothic"/>
                <a:ea typeface="Yu Gothic"/>
                <a:cs typeface="Yu Gothic"/>
              </a:rPr>
              <a:t>柳沼さん共有資料（30分）</a:t>
            </a:r>
          </a:p>
        </p:txBody>
      </p:sp>
      <p:sp>
        <p:nvSpPr>
          <p:cNvPr id="9" name="TextBox 8"/>
          <p:cNvSpPr txBox="1"/>
          <p:nvPr/>
        </p:nvSpPr>
        <p:spPr>
          <a:xfrm>
            <a:off x="822960" y="2788920"/>
            <a:ext cx="10607040" cy="1920240"/>
          </a:xfrm>
          <a:prstGeom prst="rect">
            <a:avLst/>
          </a:prstGeom>
          <a:noFill/>
        </p:spPr>
        <p:txBody>
          <a:bodyPr wrap="square" lIns="0" rIns="0" tIns="0" bIns="0">
            <a:spAutoFit/>
          </a:bodyPr>
          <a:lstStyle/>
          <a:p>
            <a:pPr algn="l">
              <a:spcAft>
                <a:spcPts val="600"/>
              </a:spcAft>
            </a:pPr>
            <a:r>
              <a:rPr sz="3800" b="1" i="0">
                <a:solidFill>
                  <a:srgbClr val="FFFFFF"/>
                </a:solidFill>
                <a:latin typeface="Yu Gothic"/>
                <a:ea typeface="Yu Gothic"/>
                <a:cs typeface="Yu Gothic"/>
              </a:rPr>
              <a:t>営業改革STO — 概要と</a:t>
            </a:r>
          </a:p>
          <a:p>
            <a:pPr algn="l">
              <a:spcAft>
                <a:spcPts val="600"/>
              </a:spcAft>
            </a:pPr>
            <a:r>
              <a:rPr sz="3800" b="1" i="0">
                <a:solidFill>
                  <a:srgbClr val="FFFFFF"/>
                </a:solidFill>
                <a:latin typeface="Yu Gothic"/>
                <a:ea typeface="Yu Gothic"/>
                <a:cs typeface="Yu Gothic"/>
              </a:rPr>
              <a:t>財務チームへのお願い</a:t>
            </a:r>
          </a:p>
        </p:txBody>
      </p:sp>
      <p:sp>
        <p:nvSpPr>
          <p:cNvPr id="10" name="TextBox 9"/>
          <p:cNvSpPr txBox="1"/>
          <p:nvPr/>
        </p:nvSpPr>
        <p:spPr>
          <a:xfrm>
            <a:off x="868680" y="5806440"/>
            <a:ext cx="10424160" cy="822960"/>
          </a:xfrm>
          <a:prstGeom prst="rect">
            <a:avLst/>
          </a:prstGeom>
          <a:noFill/>
        </p:spPr>
        <p:txBody>
          <a:bodyPr wrap="square" lIns="0" rIns="0" tIns="0" bIns="0">
            <a:spAutoFit/>
          </a:bodyPr>
          <a:lstStyle/>
          <a:p>
            <a:pPr algn="l">
              <a:spcAft>
                <a:spcPts val="300"/>
              </a:spcAft>
            </a:pPr>
            <a:r>
              <a:rPr sz="1200" b="1" i="0">
                <a:solidFill>
                  <a:srgbClr val="FFFFFF"/>
                </a:solidFill>
                <a:latin typeface="Yu Gothic"/>
                <a:ea typeface="Yu Gothic"/>
                <a:cs typeface="Yu Gothic"/>
              </a:rPr>
              <a:t>新谷隼人（専務執行役員）</a:t>
            </a:r>
          </a:p>
          <a:p>
            <a:pPr algn="l">
              <a:spcAft>
                <a:spcPts val="0"/>
              </a:spcAft>
            </a:pPr>
            <a:r>
              <a:rPr sz="1000" b="0" i="0">
                <a:solidFill>
                  <a:srgbClr val="BFD4FE"/>
                </a:solidFill>
                <a:latin typeface="Yu Gothic"/>
                <a:ea typeface="Yu Gothic"/>
                <a:cs typeface="Yu Gothic"/>
              </a:rPr>
              <a:t>2026年7月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274320"/>
            <a:ext cx="1030986" cy="274320"/>
          </a:xfrm>
          <a:prstGeom prst="roundRect">
            <a:avLst>
              <a:gd name="adj" fmla="val 50000"/>
            </a:avLst>
          </a:prstGeom>
          <a:solidFill>
            <a:srgbClr val="EA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l">
              <a:spcAft>
                <a:spcPts val="0"/>
              </a:spcAft>
            </a:pPr>
            <a:r>
              <a:rPr sz="900" b="1" i="0">
                <a:solidFill>
                  <a:srgbClr val="2563EB"/>
                </a:solidFill>
                <a:latin typeface="Yu Gothic"/>
                <a:ea typeface="Yu Gothic"/>
                <a:cs typeface="Yu Gothic"/>
              </a:rPr>
              <a:t>1分で全体像</a:t>
            </a:r>
          </a:p>
        </p:txBody>
      </p:sp>
      <p:sp>
        <p:nvSpPr>
          <p:cNvPr id="3" name="TextBox 2"/>
          <p:cNvSpPr txBox="1"/>
          <p:nvPr/>
        </p:nvSpPr>
        <p:spPr>
          <a:xfrm>
            <a:off x="502920" y="566928"/>
            <a:ext cx="11155680" cy="804672"/>
          </a:xfrm>
          <a:prstGeom prst="rect">
            <a:avLst/>
          </a:prstGeom>
          <a:noFill/>
        </p:spPr>
        <p:txBody>
          <a:bodyPr wrap="square" lIns="0" rIns="0" tIns="0" bIns="0">
            <a:spAutoFit/>
          </a:bodyPr>
          <a:lstStyle/>
          <a:p>
            <a:pPr algn="l">
              <a:spcAft>
                <a:spcPts val="0"/>
              </a:spcAft>
            </a:pPr>
            <a:r>
              <a:rPr sz="1800" b="1" i="0">
                <a:solidFill>
                  <a:srgbClr val="1B1B26"/>
                </a:solidFill>
                <a:latin typeface="Yu Gothic"/>
                <a:ea typeface="Yu Gothic"/>
                <a:cs typeface="Yu Gothic"/>
              </a:rPr>
              <a:t>このプロジェクトは何か（3行で）</a:t>
            </a:r>
          </a:p>
        </p:txBody>
      </p:sp>
      <p:sp>
        <p:nvSpPr>
          <p:cNvPr id="4" name="Rectangle 3"/>
          <p:cNvSpPr/>
          <p:nvPr/>
        </p:nvSpPr>
        <p:spPr>
          <a:xfrm>
            <a:off x="502920" y="1335024"/>
            <a:ext cx="11183112" cy="1143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810512"/>
            <a:ext cx="11183112" cy="1389888"/>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10512"/>
            <a:ext cx="64008" cy="13898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22376" y="2276856"/>
            <a:ext cx="457200" cy="4572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Aft>
                <a:spcPts val="0"/>
              </a:spcAft>
            </a:pPr>
            <a:r>
              <a:rPr sz="1800" b="1" i="0">
                <a:solidFill>
                  <a:srgbClr val="FFFFFF"/>
                </a:solidFill>
                <a:latin typeface="Yu Gothic"/>
                <a:ea typeface="Yu Gothic"/>
                <a:cs typeface="Yu Gothic"/>
              </a:rPr>
              <a:t>1</a:t>
            </a:r>
          </a:p>
        </p:txBody>
      </p:sp>
      <p:sp>
        <p:nvSpPr>
          <p:cNvPr id="8" name="TextBox 7"/>
          <p:cNvSpPr txBox="1"/>
          <p:nvPr/>
        </p:nvSpPr>
        <p:spPr>
          <a:xfrm>
            <a:off x="1362456" y="1956816"/>
            <a:ext cx="10122408" cy="1133856"/>
          </a:xfrm>
          <a:prstGeom prst="rect">
            <a:avLst/>
          </a:prstGeom>
          <a:noFill/>
        </p:spPr>
        <p:txBody>
          <a:bodyPr wrap="square" lIns="0" rIns="0" tIns="0" bIns="0" anchor="ctr">
            <a:spAutoFit/>
          </a:bodyPr>
          <a:lstStyle/>
          <a:p>
            <a:pPr algn="l">
              <a:spcAft>
                <a:spcPts val="400"/>
              </a:spcAft>
            </a:pPr>
            <a:r>
              <a:rPr sz="1450" b="1" i="0">
                <a:solidFill>
                  <a:srgbClr val="1E40AF"/>
                </a:solidFill>
                <a:latin typeface="Yu Gothic"/>
                <a:ea typeface="Yu Gothic"/>
                <a:cs typeface="Yu Gothic"/>
              </a:rPr>
              <a:t>営業のデータと財務のデータをつないで、どの顧客・どの案件に力を注ぐかを「数字で選べる会社」になるプロジェクトです</a:t>
            </a:r>
          </a:p>
        </p:txBody>
      </p:sp>
      <p:sp>
        <p:nvSpPr>
          <p:cNvPr id="9" name="Rectangle 8"/>
          <p:cNvSpPr/>
          <p:nvPr/>
        </p:nvSpPr>
        <p:spPr>
          <a:xfrm>
            <a:off x="502920" y="3383280"/>
            <a:ext cx="11183112" cy="1389888"/>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3383280"/>
            <a:ext cx="64008" cy="13898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22376" y="3849624"/>
            <a:ext cx="457200" cy="4572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Aft>
                <a:spcPts val="0"/>
              </a:spcAft>
            </a:pPr>
            <a:r>
              <a:rPr sz="1800" b="1" i="0">
                <a:solidFill>
                  <a:srgbClr val="FFFFFF"/>
                </a:solidFill>
                <a:latin typeface="Yu Gothic"/>
                <a:ea typeface="Yu Gothic"/>
                <a:cs typeface="Yu Gothic"/>
              </a:rPr>
              <a:t>2</a:t>
            </a:r>
          </a:p>
        </p:txBody>
      </p:sp>
      <p:sp>
        <p:nvSpPr>
          <p:cNvPr id="12" name="TextBox 11"/>
          <p:cNvSpPr txBox="1"/>
          <p:nvPr/>
        </p:nvSpPr>
        <p:spPr>
          <a:xfrm>
            <a:off x="1362456" y="3529584"/>
            <a:ext cx="10122408" cy="1133856"/>
          </a:xfrm>
          <a:prstGeom prst="rect">
            <a:avLst/>
          </a:prstGeom>
          <a:noFill/>
        </p:spPr>
        <p:txBody>
          <a:bodyPr wrap="square" lIns="0" rIns="0" tIns="0" bIns="0" anchor="ctr">
            <a:spAutoFit/>
          </a:bodyPr>
          <a:lstStyle/>
          <a:p>
            <a:pPr algn="l">
              <a:spcAft>
                <a:spcPts val="400"/>
              </a:spcAft>
            </a:pPr>
            <a:r>
              <a:rPr sz="1450" b="1" i="0">
                <a:solidFill>
                  <a:srgbClr val="1E40AF"/>
                </a:solidFill>
                <a:latin typeface="Yu Gothic"/>
                <a:ea typeface="Yu Gothic"/>
                <a:cs typeface="Yu Gothic"/>
              </a:rPr>
              <a:t>売上が伸びても利益につながらない構造を変えます</a:t>
            </a:r>
          </a:p>
          <a:p>
            <a:pPr algn="l">
              <a:spcAft>
                <a:spcPts val="0"/>
              </a:spcAft>
            </a:pPr>
            <a:r>
              <a:rPr sz="1150" b="0" i="0">
                <a:solidFill>
                  <a:srgbClr val="1B1B26"/>
                </a:solidFill>
                <a:latin typeface="Yu Gothic"/>
                <a:ea typeface="Yu Gothic"/>
                <a:cs typeface="Yu Gothic"/>
              </a:rPr>
              <a:t>65期：売上▲21%・粗利率▲19pt。今期も売上は予算超過なのに利益は未達見込み</a:t>
            </a:r>
          </a:p>
        </p:txBody>
      </p:sp>
      <p:sp>
        <p:nvSpPr>
          <p:cNvPr id="13" name="Rectangle 12"/>
          <p:cNvSpPr/>
          <p:nvPr/>
        </p:nvSpPr>
        <p:spPr>
          <a:xfrm>
            <a:off x="502920" y="4956048"/>
            <a:ext cx="11183112" cy="1389888"/>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4956048"/>
            <a:ext cx="64008" cy="13898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22376" y="5422392"/>
            <a:ext cx="457200" cy="4572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Aft>
                <a:spcPts val="0"/>
              </a:spcAft>
            </a:pPr>
            <a:r>
              <a:rPr sz="1800" b="1" i="0">
                <a:solidFill>
                  <a:srgbClr val="FFFFFF"/>
                </a:solidFill>
                <a:latin typeface="Yu Gothic"/>
                <a:ea typeface="Yu Gothic"/>
                <a:cs typeface="Yu Gothic"/>
              </a:rPr>
              <a:t>3</a:t>
            </a:r>
          </a:p>
        </p:txBody>
      </p:sp>
      <p:sp>
        <p:nvSpPr>
          <p:cNvPr id="16" name="TextBox 15"/>
          <p:cNvSpPr txBox="1"/>
          <p:nvPr/>
        </p:nvSpPr>
        <p:spPr>
          <a:xfrm>
            <a:off x="1362456" y="5102352"/>
            <a:ext cx="10122408" cy="1133856"/>
          </a:xfrm>
          <a:prstGeom prst="rect">
            <a:avLst/>
          </a:prstGeom>
          <a:noFill/>
        </p:spPr>
        <p:txBody>
          <a:bodyPr wrap="square" lIns="0" rIns="0" tIns="0" bIns="0" anchor="ctr">
            <a:spAutoFit/>
          </a:bodyPr>
          <a:lstStyle/>
          <a:p>
            <a:pPr algn="l">
              <a:spcAft>
                <a:spcPts val="400"/>
              </a:spcAft>
            </a:pPr>
            <a:r>
              <a:rPr sz="1450" b="1" i="0">
                <a:solidFill>
                  <a:srgbClr val="1E40AF"/>
                </a:solidFill>
                <a:latin typeface="Yu Gothic"/>
                <a:ea typeface="Yu Gothic"/>
                <a:cs typeface="Yu Gothic"/>
              </a:rPr>
              <a:t>山本会長・ホールディングスがコミットし、円谷プロ全体を対象にします</a:t>
            </a:r>
          </a:p>
        </p:txBody>
      </p:sp>
      <p:sp>
        <p:nvSpPr>
          <p:cNvPr id="17" name="Rectangle 16"/>
          <p:cNvSpPr/>
          <p:nvPr/>
        </p:nvSpPr>
        <p:spPr>
          <a:xfrm>
            <a:off x="502920" y="6510528"/>
            <a:ext cx="11183112" cy="1524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65392"/>
            <a:ext cx="8686800" cy="274320"/>
          </a:xfrm>
          <a:prstGeom prst="rect">
            <a:avLst/>
          </a:prstGeom>
          <a:noFill/>
        </p:spPr>
        <p:txBody>
          <a:bodyPr wrap="square" lIns="0" rIns="0" tIns="0" bIns="0">
            <a:spAutoFit/>
          </a:bodyPr>
          <a:lstStyle/>
          <a:p>
            <a:pPr algn="l">
              <a:spcAft>
                <a:spcPts val="400"/>
              </a:spcAft>
            </a:pPr>
            <a:r>
              <a:rPr sz="750" b="0" i="0">
                <a:solidFill>
                  <a:srgbClr val="8A8F9C"/>
                </a:solidFill>
                <a:latin typeface="Yu Gothic"/>
                <a:ea typeface="Yu Gothic"/>
                <a:cs typeface="Yu Gothic"/>
              </a:rPr>
              <a:t>円谷プロダクション 営業改革 | 社外秘</a:t>
            </a:r>
          </a:p>
        </p:txBody>
      </p:sp>
      <p:sp>
        <p:nvSpPr>
          <p:cNvPr id="19" name="TextBox 18"/>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6B7280"/>
                </a:solidFill>
                <a:latin typeface="Yu Gothic"/>
                <a:ea typeface="Yu Gothic"/>
                <a:cs typeface="Yu Gothic"/>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274320"/>
            <a:ext cx="2395727" cy="274320"/>
          </a:xfrm>
          <a:prstGeom prst="roundRect">
            <a:avLst>
              <a:gd name="adj" fmla="val 50000"/>
            </a:avLst>
          </a:prstGeom>
          <a:solidFill>
            <a:srgbClr val="EA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l">
              <a:spcAft>
                <a:spcPts val="0"/>
              </a:spcAft>
            </a:pPr>
            <a:r>
              <a:rPr sz="900" b="1" i="0">
                <a:solidFill>
                  <a:srgbClr val="2563EB"/>
                </a:solidFill>
                <a:latin typeface="Yu Gothic"/>
                <a:ea typeface="Yu Gothic"/>
                <a:cs typeface="Yu Gothic"/>
              </a:rPr>
              <a:t>全体像のうち、いま走っているのは</a:t>
            </a:r>
          </a:p>
        </p:txBody>
      </p:sp>
      <p:sp>
        <p:nvSpPr>
          <p:cNvPr id="3" name="TextBox 2"/>
          <p:cNvSpPr txBox="1"/>
          <p:nvPr/>
        </p:nvSpPr>
        <p:spPr>
          <a:xfrm>
            <a:off x="502920" y="566928"/>
            <a:ext cx="11155680" cy="804672"/>
          </a:xfrm>
          <a:prstGeom prst="rect">
            <a:avLst/>
          </a:prstGeom>
          <a:noFill/>
        </p:spPr>
        <p:txBody>
          <a:bodyPr wrap="square" lIns="0" rIns="0" tIns="0" bIns="0">
            <a:spAutoFit/>
          </a:bodyPr>
          <a:lstStyle/>
          <a:p>
            <a:pPr algn="l">
              <a:spcAft>
                <a:spcPts val="0"/>
              </a:spcAft>
            </a:pPr>
            <a:r>
              <a:rPr sz="1800" b="1" i="0">
                <a:solidFill>
                  <a:srgbClr val="1B1B26"/>
                </a:solidFill>
                <a:latin typeface="Yu Gothic"/>
                <a:ea typeface="Yu Gothic"/>
                <a:cs typeface="Yu Gothic"/>
              </a:rPr>
              <a:t>いま動いているのは3本だけ</a:t>
            </a:r>
          </a:p>
        </p:txBody>
      </p:sp>
      <p:sp>
        <p:nvSpPr>
          <p:cNvPr id="4" name="Rectangle 3"/>
          <p:cNvSpPr/>
          <p:nvPr/>
        </p:nvSpPr>
        <p:spPr>
          <a:xfrm>
            <a:off x="502920" y="1335024"/>
            <a:ext cx="11183112" cy="1143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139696"/>
            <a:ext cx="3383280" cy="2889504"/>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2139696"/>
            <a:ext cx="3383280"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901952" y="2450592"/>
            <a:ext cx="585216" cy="58521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Aft>
                <a:spcPts val="0"/>
              </a:spcAft>
            </a:pPr>
            <a:r>
              <a:rPr sz="2200" b="1" i="0">
                <a:solidFill>
                  <a:srgbClr val="FFFFFF"/>
                </a:solidFill>
                <a:latin typeface="Yu Gothic"/>
                <a:ea typeface="Yu Gothic"/>
                <a:cs typeface="Yu Gothic"/>
              </a:rPr>
              <a:t>①</a:t>
            </a:r>
          </a:p>
        </p:txBody>
      </p:sp>
      <p:sp>
        <p:nvSpPr>
          <p:cNvPr id="8" name="TextBox 7"/>
          <p:cNvSpPr txBox="1"/>
          <p:nvPr/>
        </p:nvSpPr>
        <p:spPr>
          <a:xfrm>
            <a:off x="649224" y="3182111"/>
            <a:ext cx="3090672" cy="457200"/>
          </a:xfrm>
          <a:prstGeom prst="rect">
            <a:avLst/>
          </a:prstGeom>
          <a:noFill/>
        </p:spPr>
        <p:txBody>
          <a:bodyPr wrap="square" lIns="0" rIns="0" tIns="0" bIns="0" anchor="ctr">
            <a:spAutoFit/>
          </a:bodyPr>
          <a:lstStyle/>
          <a:p>
            <a:pPr algn="ctr">
              <a:spcAft>
                <a:spcPts val="0"/>
              </a:spcAft>
            </a:pPr>
            <a:r>
              <a:rPr sz="1400" b="1" i="0">
                <a:solidFill>
                  <a:srgbClr val="1E40AF"/>
                </a:solidFill>
                <a:latin typeface="Yu Gothic"/>
                <a:ea typeface="Yu Gothic"/>
                <a:cs typeface="Yu Gothic"/>
              </a:rPr>
              <a:t>確認会</a:t>
            </a:r>
          </a:p>
        </p:txBody>
      </p:sp>
      <p:sp>
        <p:nvSpPr>
          <p:cNvPr id="9" name="TextBox 8"/>
          <p:cNvSpPr txBox="1"/>
          <p:nvPr/>
        </p:nvSpPr>
        <p:spPr>
          <a:xfrm>
            <a:off x="758952" y="3712464"/>
            <a:ext cx="2871216" cy="960120"/>
          </a:xfrm>
          <a:prstGeom prst="rect">
            <a:avLst/>
          </a:prstGeom>
          <a:noFill/>
        </p:spPr>
        <p:txBody>
          <a:bodyPr wrap="square" lIns="0" rIns="0" tIns="0" bIns="0">
            <a:spAutoFit/>
          </a:bodyPr>
          <a:lstStyle/>
          <a:p>
            <a:pPr algn="ctr">
              <a:spcAft>
                <a:spcPts val="0"/>
              </a:spcAft>
            </a:pPr>
            <a:r>
              <a:rPr sz="1050" b="0" i="0">
                <a:solidFill>
                  <a:srgbClr val="1B1B26"/>
                </a:solidFill>
                <a:latin typeface="Yu Gothic"/>
                <a:ea typeface="Yu Gothic"/>
                <a:cs typeface="Yu Gothic"/>
              </a:rPr>
              <a:t>顧客746社・案件299件の「主担当」を各部長と確定</a:t>
            </a:r>
          </a:p>
        </p:txBody>
      </p:sp>
      <p:sp>
        <p:nvSpPr>
          <p:cNvPr id="10" name="Rectangle 9"/>
          <p:cNvSpPr/>
          <p:nvPr/>
        </p:nvSpPr>
        <p:spPr>
          <a:xfrm>
            <a:off x="4402836" y="2139696"/>
            <a:ext cx="3383280" cy="28895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801868" y="2450592"/>
            <a:ext cx="585216" cy="5852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Aft>
                <a:spcPts val="0"/>
              </a:spcAft>
            </a:pPr>
            <a:r>
              <a:rPr sz="2200" b="1" i="0">
                <a:solidFill>
                  <a:srgbClr val="2563EB"/>
                </a:solidFill>
                <a:latin typeface="Yu Gothic"/>
                <a:ea typeface="Yu Gothic"/>
                <a:cs typeface="Yu Gothic"/>
              </a:rPr>
              <a:t>②</a:t>
            </a:r>
          </a:p>
        </p:txBody>
      </p:sp>
      <p:sp>
        <p:nvSpPr>
          <p:cNvPr id="12" name="TextBox 11"/>
          <p:cNvSpPr txBox="1"/>
          <p:nvPr/>
        </p:nvSpPr>
        <p:spPr>
          <a:xfrm>
            <a:off x="4549140" y="3182111"/>
            <a:ext cx="3090672" cy="457200"/>
          </a:xfrm>
          <a:prstGeom prst="rect">
            <a:avLst/>
          </a:prstGeom>
          <a:noFill/>
        </p:spPr>
        <p:txBody>
          <a:bodyPr wrap="square" lIns="0" rIns="0" tIns="0" bIns="0" anchor="ctr">
            <a:spAutoFit/>
          </a:bodyPr>
          <a:lstStyle/>
          <a:p>
            <a:pPr algn="ctr">
              <a:spcAft>
                <a:spcPts val="0"/>
              </a:spcAft>
            </a:pPr>
            <a:r>
              <a:rPr sz="1400" b="1" i="0">
                <a:solidFill>
                  <a:srgbClr val="FFFFFF"/>
                </a:solidFill>
                <a:latin typeface="Yu Gothic"/>
                <a:ea typeface="Yu Gothic"/>
                <a:cs typeface="Yu Gothic"/>
              </a:rPr>
              <a:t>財務ひも付け</a:t>
            </a:r>
          </a:p>
        </p:txBody>
      </p:sp>
      <p:sp>
        <p:nvSpPr>
          <p:cNvPr id="13" name="TextBox 12"/>
          <p:cNvSpPr txBox="1"/>
          <p:nvPr/>
        </p:nvSpPr>
        <p:spPr>
          <a:xfrm>
            <a:off x="4658868" y="3712464"/>
            <a:ext cx="2871216" cy="960120"/>
          </a:xfrm>
          <a:prstGeom prst="rect">
            <a:avLst/>
          </a:prstGeom>
          <a:noFill/>
        </p:spPr>
        <p:txBody>
          <a:bodyPr wrap="square" lIns="0" rIns="0" tIns="0" bIns="0">
            <a:spAutoFit/>
          </a:bodyPr>
          <a:lstStyle/>
          <a:p>
            <a:pPr algn="ctr">
              <a:spcAft>
                <a:spcPts val="0"/>
              </a:spcAft>
            </a:pPr>
            <a:r>
              <a:rPr sz="1050" b="0" i="0">
                <a:solidFill>
                  <a:srgbClr val="FFFFFF"/>
                </a:solidFill>
                <a:latin typeface="Yu Gothic"/>
                <a:ea typeface="Yu Gothic"/>
                <a:cs typeface="Yu Gothic"/>
              </a:rPr>
              <a:t>財務チームのデータで顧客・案件に金額を付ける</a:t>
            </a:r>
          </a:p>
        </p:txBody>
      </p:sp>
      <p:sp>
        <p:nvSpPr>
          <p:cNvPr id="14" name="TextBox 13"/>
          <p:cNvSpPr txBox="1"/>
          <p:nvPr/>
        </p:nvSpPr>
        <p:spPr>
          <a:xfrm>
            <a:off x="4585716" y="4553712"/>
            <a:ext cx="3017520" cy="329184"/>
          </a:xfrm>
          <a:prstGeom prst="rect">
            <a:avLst/>
          </a:prstGeom>
          <a:noFill/>
        </p:spPr>
        <p:txBody>
          <a:bodyPr wrap="square" lIns="0" rIns="0" tIns="0" bIns="0" anchor="ctr">
            <a:spAutoFit/>
          </a:bodyPr>
          <a:lstStyle/>
          <a:p>
            <a:pPr algn="ctr">
              <a:spcAft>
                <a:spcPts val="0"/>
              </a:spcAft>
            </a:pPr>
            <a:r>
              <a:rPr sz="1050" b="1" i="0">
                <a:solidFill>
                  <a:srgbClr val="BFD4FE"/>
                </a:solidFill>
                <a:latin typeface="Yu Gothic"/>
                <a:ea typeface="Yu Gothic"/>
                <a:cs typeface="Yu Gothic"/>
              </a:rPr>
              <a:t>← 柳沼さんにしかできない部分</a:t>
            </a:r>
          </a:p>
        </p:txBody>
      </p:sp>
      <p:sp>
        <p:nvSpPr>
          <p:cNvPr id="15" name="Rectangle 14"/>
          <p:cNvSpPr/>
          <p:nvPr/>
        </p:nvSpPr>
        <p:spPr>
          <a:xfrm>
            <a:off x="8302752" y="2139696"/>
            <a:ext cx="3383280" cy="2889504"/>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02752" y="2139696"/>
            <a:ext cx="3383280"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701784" y="2450592"/>
            <a:ext cx="585216" cy="58521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Aft>
                <a:spcPts val="0"/>
              </a:spcAft>
            </a:pPr>
            <a:r>
              <a:rPr sz="2200" b="1" i="0">
                <a:solidFill>
                  <a:srgbClr val="FFFFFF"/>
                </a:solidFill>
                <a:latin typeface="Yu Gothic"/>
                <a:ea typeface="Yu Gothic"/>
                <a:cs typeface="Yu Gothic"/>
              </a:rPr>
              <a:t>③</a:t>
            </a:r>
          </a:p>
        </p:txBody>
      </p:sp>
      <p:sp>
        <p:nvSpPr>
          <p:cNvPr id="18" name="TextBox 17"/>
          <p:cNvSpPr txBox="1"/>
          <p:nvPr/>
        </p:nvSpPr>
        <p:spPr>
          <a:xfrm>
            <a:off x="8449056" y="3182111"/>
            <a:ext cx="3090672" cy="457200"/>
          </a:xfrm>
          <a:prstGeom prst="rect">
            <a:avLst/>
          </a:prstGeom>
          <a:noFill/>
        </p:spPr>
        <p:txBody>
          <a:bodyPr wrap="square" lIns="0" rIns="0" tIns="0" bIns="0" anchor="ctr">
            <a:spAutoFit/>
          </a:bodyPr>
          <a:lstStyle/>
          <a:p>
            <a:pPr algn="ctr">
              <a:spcAft>
                <a:spcPts val="0"/>
              </a:spcAft>
            </a:pPr>
            <a:r>
              <a:rPr sz="1400" b="1" i="0">
                <a:solidFill>
                  <a:srgbClr val="1E40AF"/>
                </a:solidFill>
                <a:latin typeface="Yu Gothic"/>
                <a:ea typeface="Yu Gothic"/>
                <a:cs typeface="Yu Gothic"/>
              </a:rPr>
              <a:t>採点 → 力の入れ直し</a:t>
            </a:r>
          </a:p>
        </p:txBody>
      </p:sp>
      <p:sp>
        <p:nvSpPr>
          <p:cNvPr id="19" name="TextBox 18"/>
          <p:cNvSpPr txBox="1"/>
          <p:nvPr/>
        </p:nvSpPr>
        <p:spPr>
          <a:xfrm>
            <a:off x="8558784" y="3712464"/>
            <a:ext cx="2871216" cy="960120"/>
          </a:xfrm>
          <a:prstGeom prst="rect">
            <a:avLst/>
          </a:prstGeom>
          <a:noFill/>
        </p:spPr>
        <p:txBody>
          <a:bodyPr wrap="square" lIns="0" rIns="0" tIns="0" bIns="0">
            <a:spAutoFit/>
          </a:bodyPr>
          <a:lstStyle/>
          <a:p>
            <a:pPr algn="ctr">
              <a:spcAft>
                <a:spcPts val="0"/>
              </a:spcAft>
            </a:pPr>
            <a:r>
              <a:rPr sz="1050" b="0" i="0">
                <a:solidFill>
                  <a:srgbClr val="1B1B26"/>
                </a:solidFill>
                <a:latin typeface="Yu Gothic"/>
                <a:ea typeface="Yu Gothic"/>
                <a:cs typeface="Yu Gothic"/>
              </a:rPr>
              <a:t>ランクを決め、力の注ぎ先を変える（①②の完了後）</a:t>
            </a:r>
          </a:p>
        </p:txBody>
      </p:sp>
      <p:sp>
        <p:nvSpPr>
          <p:cNvPr id="20" name="Chevron 19"/>
          <p:cNvSpPr/>
          <p:nvPr/>
        </p:nvSpPr>
        <p:spPr>
          <a:xfrm>
            <a:off x="3913632" y="3346704"/>
            <a:ext cx="438912" cy="475488"/>
          </a:xfrm>
          <a:prstGeom prst="chevron">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hevron 20"/>
          <p:cNvSpPr/>
          <p:nvPr/>
        </p:nvSpPr>
        <p:spPr>
          <a:xfrm>
            <a:off x="7813548" y="3346704"/>
            <a:ext cx="438912" cy="475488"/>
          </a:xfrm>
          <a:prstGeom prst="chevron">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5248656"/>
            <a:ext cx="11183112" cy="859536"/>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5248656"/>
            <a:ext cx="38100" cy="85953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340096"/>
            <a:ext cx="10698480" cy="676656"/>
          </a:xfrm>
          <a:prstGeom prst="rect">
            <a:avLst/>
          </a:prstGeom>
          <a:noFill/>
        </p:spPr>
        <p:txBody>
          <a:bodyPr wrap="square" lIns="0" rIns="0" tIns="0" bIns="0" anchor="ctr">
            <a:spAutoFit/>
          </a:bodyPr>
          <a:lstStyle/>
          <a:p>
            <a:pPr algn="l">
              <a:spcAft>
                <a:spcPts val="0"/>
              </a:spcAft>
            </a:pPr>
            <a:r>
              <a:rPr sz="1200" b="1" i="0">
                <a:solidFill>
                  <a:srgbClr val="BFD4FE"/>
                </a:solidFill>
                <a:latin typeface="Yu Gothic"/>
                <a:ea typeface="Yu Gothic"/>
                <a:cs typeface="Yu Gothic"/>
              </a:rPr>
              <a:t>90日の約束　</a:t>
            </a:r>
            <a:r>
              <a:rPr sz="1200" b="1" i="0">
                <a:solidFill>
                  <a:srgbClr val="FFFFFF"/>
                </a:solidFill>
                <a:latin typeface="Yu Gothic"/>
                <a:ea typeface="Yu Gothic"/>
                <a:cs typeface="Yu Gothic"/>
              </a:rPr>
              <a:t>30日 = 数字がつながる ／ 60日 = ランクが決まる ／ 90日 = 力の入れ直しを実行</a:t>
            </a:r>
          </a:p>
        </p:txBody>
      </p:sp>
      <p:sp>
        <p:nvSpPr>
          <p:cNvPr id="25" name="Rectangle 24"/>
          <p:cNvSpPr/>
          <p:nvPr/>
        </p:nvSpPr>
        <p:spPr>
          <a:xfrm>
            <a:off x="502920" y="6510528"/>
            <a:ext cx="11183112" cy="1524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565392"/>
            <a:ext cx="8686800" cy="274320"/>
          </a:xfrm>
          <a:prstGeom prst="rect">
            <a:avLst/>
          </a:prstGeom>
          <a:noFill/>
        </p:spPr>
        <p:txBody>
          <a:bodyPr wrap="square" lIns="0" rIns="0" tIns="0" bIns="0">
            <a:spAutoFit/>
          </a:bodyPr>
          <a:lstStyle/>
          <a:p>
            <a:pPr algn="l">
              <a:spcAft>
                <a:spcPts val="400"/>
              </a:spcAft>
            </a:pPr>
            <a:r>
              <a:rPr sz="750" b="0" i="0">
                <a:solidFill>
                  <a:srgbClr val="8A8F9C"/>
                </a:solidFill>
                <a:latin typeface="Yu Gothic"/>
                <a:ea typeface="Yu Gothic"/>
                <a:cs typeface="Yu Gothic"/>
              </a:rPr>
              <a:t>円谷プロダクション 営業改革 | 社外秘</a:t>
            </a:r>
          </a:p>
        </p:txBody>
      </p:sp>
      <p:sp>
        <p:nvSpPr>
          <p:cNvPr id="27" name="TextBox 26"/>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6B7280"/>
                </a:solidFill>
                <a:latin typeface="Yu Gothic"/>
                <a:ea typeface="Yu Gothic"/>
                <a:cs typeface="Yu Gothic"/>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274320"/>
            <a:ext cx="2532887" cy="274320"/>
          </a:xfrm>
          <a:prstGeom prst="roundRect">
            <a:avLst>
              <a:gd name="adj" fmla="val 50000"/>
            </a:avLst>
          </a:prstGeom>
          <a:solidFill>
            <a:srgbClr val="EA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l">
              <a:spcAft>
                <a:spcPts val="0"/>
              </a:spcAft>
            </a:pPr>
            <a:r>
              <a:rPr sz="900" b="1" i="0">
                <a:solidFill>
                  <a:srgbClr val="2563EB"/>
                </a:solidFill>
                <a:latin typeface="Yu Gothic"/>
                <a:ea typeface="Yu Gothic"/>
                <a:cs typeface="Yu Gothic"/>
              </a:rPr>
              <a:t>体制（専任1名＋兼務3名＋オーナー）</a:t>
            </a:r>
          </a:p>
        </p:txBody>
      </p:sp>
      <p:sp>
        <p:nvSpPr>
          <p:cNvPr id="3" name="TextBox 2"/>
          <p:cNvSpPr txBox="1"/>
          <p:nvPr/>
        </p:nvSpPr>
        <p:spPr>
          <a:xfrm>
            <a:off x="502920" y="566928"/>
            <a:ext cx="11155680" cy="804672"/>
          </a:xfrm>
          <a:prstGeom prst="rect">
            <a:avLst/>
          </a:prstGeom>
          <a:noFill/>
        </p:spPr>
        <p:txBody>
          <a:bodyPr wrap="square" lIns="0" rIns="0" tIns="0" bIns="0">
            <a:spAutoFit/>
          </a:bodyPr>
          <a:lstStyle/>
          <a:p>
            <a:pPr algn="l">
              <a:spcAft>
                <a:spcPts val="0"/>
              </a:spcAft>
            </a:pPr>
            <a:r>
              <a:rPr sz="1800" b="1" i="0">
                <a:solidFill>
                  <a:srgbClr val="1B1B26"/>
                </a:solidFill>
                <a:latin typeface="Yu Gothic"/>
                <a:ea typeface="Yu Gothic"/>
                <a:cs typeface="Yu Gothic"/>
              </a:rPr>
              <a:t>STOはデータと会議を整える運転席。実行の主役は各部長です</a:t>
            </a:r>
          </a:p>
        </p:txBody>
      </p:sp>
      <p:sp>
        <p:nvSpPr>
          <p:cNvPr id="4" name="Rectangle 3"/>
          <p:cNvSpPr/>
          <p:nvPr/>
        </p:nvSpPr>
        <p:spPr>
          <a:xfrm>
            <a:off x="502920" y="1335024"/>
            <a:ext cx="11183112" cy="1143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2212848"/>
          <a:ext cx="11183110" cy="2523744"/>
        </p:xfrm>
        <a:graphic>
          <a:graphicData uri="http://schemas.openxmlformats.org/drawingml/2006/table">
            <a:tbl>
              <a:tblPr firstRow="0" bandRow="0"/>
              <a:tblGrid>
                <a:gridCol w="2454829"/>
                <a:gridCol w="1454713"/>
                <a:gridCol w="1818392"/>
                <a:gridCol w="5455176"/>
              </a:tblGrid>
              <a:tr h="420624">
                <a:tc>
                  <a:txBody>
                    <a:bodyPr wrap="square"/>
                    <a:lstStyle/>
                    <a:p>
                      <a:pPr algn="l">
                        <a:spcAft>
                          <a:spcPts val="0"/>
                        </a:spcAft>
                      </a:pPr>
                      <a:r>
                        <a:rPr sz="1050" b="1" i="0">
                          <a:solidFill>
                            <a:srgbClr val="1B1B26"/>
                          </a:solidFill>
                          <a:latin typeface="Yu Gothic"/>
                          <a:ea typeface="Yu Gothic"/>
                          <a:cs typeface="Yu Gothic"/>
                        </a:rPr>
                        <a:t>役割</a:t>
                      </a:r>
                    </a:p>
                  </a:txBody>
                  <a:tcPr marL="73152" marR="54864" marT="18288" marB="18288" anchor="ctr">
                    <a:solidFill>
                      <a:srgbClr val="EAF1FE"/>
                    </a:solidFill>
                    <a:lnB w="15240" cap="flat">
                      <a:solidFill>
                        <a:srgbClr val="2563EB"/>
                      </a:solidFill>
                    </a:lnB>
                    <a:lnT w="15240" cap="flat">
                      <a:solidFill>
                        <a:srgbClr val="2563EB"/>
                      </a:solidFill>
                    </a:lnT>
                  </a:tcPr>
                </a:tc>
                <a:tc>
                  <a:txBody>
                    <a:bodyPr wrap="square"/>
                    <a:lstStyle/>
                    <a:p>
                      <a:pPr algn="l">
                        <a:spcAft>
                          <a:spcPts val="0"/>
                        </a:spcAft>
                      </a:pPr>
                      <a:r>
                        <a:rPr sz="1050" b="1" i="0">
                          <a:solidFill>
                            <a:srgbClr val="1B1B26"/>
                          </a:solidFill>
                          <a:latin typeface="Yu Gothic"/>
                          <a:ea typeface="Yu Gothic"/>
                          <a:cs typeface="Yu Gothic"/>
                        </a:rPr>
                        <a:t>担当</a:t>
                      </a:r>
                    </a:p>
                  </a:txBody>
                  <a:tcPr marL="73152" marR="54864" marT="18288" marB="18288" anchor="ctr">
                    <a:solidFill>
                      <a:srgbClr val="EAF1FE"/>
                    </a:solidFill>
                    <a:lnB w="15240" cap="flat">
                      <a:solidFill>
                        <a:srgbClr val="2563EB"/>
                      </a:solidFill>
                    </a:lnB>
                    <a:lnT w="15240" cap="flat">
                      <a:solidFill>
                        <a:srgbClr val="2563EB"/>
                      </a:solidFill>
                    </a:lnT>
                  </a:tcPr>
                </a:tc>
                <a:tc>
                  <a:txBody>
                    <a:bodyPr wrap="square"/>
                    <a:lstStyle/>
                    <a:p>
                      <a:pPr algn="l">
                        <a:spcAft>
                          <a:spcPts val="0"/>
                        </a:spcAft>
                      </a:pPr>
                      <a:r>
                        <a:rPr sz="1050" b="1" i="0">
                          <a:solidFill>
                            <a:srgbClr val="1B1B26"/>
                          </a:solidFill>
                          <a:latin typeface="Yu Gothic"/>
                          <a:ea typeface="Yu Gothic"/>
                          <a:cs typeface="Yu Gothic"/>
                        </a:rPr>
                        <a:t>区分</a:t>
                      </a:r>
                    </a:p>
                  </a:txBody>
                  <a:tcPr marL="73152" marR="54864" marT="18288" marB="18288" anchor="ctr">
                    <a:solidFill>
                      <a:srgbClr val="EAF1FE"/>
                    </a:solidFill>
                    <a:lnB w="15240" cap="flat">
                      <a:solidFill>
                        <a:srgbClr val="2563EB"/>
                      </a:solidFill>
                    </a:lnB>
                    <a:lnT w="15240" cap="flat">
                      <a:solidFill>
                        <a:srgbClr val="2563EB"/>
                      </a:solidFill>
                    </a:lnT>
                  </a:tcPr>
                </a:tc>
                <a:tc>
                  <a:txBody>
                    <a:bodyPr wrap="square"/>
                    <a:lstStyle/>
                    <a:p>
                      <a:pPr algn="l">
                        <a:spcAft>
                          <a:spcPts val="0"/>
                        </a:spcAft>
                      </a:pPr>
                      <a:r>
                        <a:rPr sz="1050" b="1" i="0">
                          <a:solidFill>
                            <a:srgbClr val="1B1B26"/>
                          </a:solidFill>
                          <a:latin typeface="Yu Gothic"/>
                          <a:ea typeface="Yu Gothic"/>
                          <a:cs typeface="Yu Gothic"/>
                        </a:rPr>
                        <a:t>主な責務</a:t>
                      </a:r>
                    </a:p>
                  </a:txBody>
                  <a:tcPr marL="73152" marR="54864" marT="18288" marB="18288" anchor="ctr">
                    <a:solidFill>
                      <a:srgbClr val="EAF1FE"/>
                    </a:solidFill>
                    <a:lnB w="15240" cap="flat">
                      <a:solidFill>
                        <a:srgbClr val="2563EB"/>
                      </a:solidFill>
                    </a:lnB>
                    <a:lnT w="15240" cap="flat">
                      <a:solidFill>
                        <a:srgbClr val="2563EB"/>
                      </a:solidFill>
                    </a:lnT>
                  </a:tcPr>
                </a:tc>
              </a:tr>
              <a:tr h="420624">
                <a:tc>
                  <a:txBody>
                    <a:bodyPr wrap="square"/>
                    <a:lstStyle/>
                    <a:p>
                      <a:pPr algn="l">
                        <a:spcAft>
                          <a:spcPts val="100"/>
                        </a:spcAft>
                      </a:pPr>
                      <a:r>
                        <a:rPr sz="1000" b="1" i="0">
                          <a:solidFill>
                            <a:srgbClr val="2563EB"/>
                          </a:solidFill>
                          <a:latin typeface="Yu Gothic"/>
                          <a:ea typeface="Yu Gothic"/>
                          <a:cs typeface="Yu Gothic"/>
                        </a:rPr>
                        <a:t>オーナー</a:t>
                      </a:r>
                    </a:p>
                  </a:txBody>
                  <a:tcPr marL="73152" marR="54864" marT="18288" marB="18288" anchor="ctr">
                    <a:solidFill>
                      <a:srgbClr val="FFFFFF"/>
                    </a:solidFill>
                    <a:lnB w="9525" cap="flat">
                      <a:solidFill>
                        <a:srgbClr val="E5E7EB"/>
                      </a:solidFill>
                    </a:lnB>
                  </a:tcPr>
                </a:tc>
                <a:tc>
                  <a:txBody>
                    <a:bodyPr wrap="square"/>
                    <a:lstStyle/>
                    <a:p>
                      <a:pPr algn="l">
                        <a:spcAft>
                          <a:spcPts val="100"/>
                        </a:spcAft>
                      </a:pPr>
                      <a:r>
                        <a:rPr sz="1000" b="0" i="0">
                          <a:solidFill>
                            <a:srgbClr val="1B1B26"/>
                          </a:solidFill>
                          <a:latin typeface="Yu Gothic"/>
                          <a:ea typeface="Yu Gothic"/>
                          <a:cs typeface="Yu Gothic"/>
                        </a:rPr>
                        <a:t>新谷</a:t>
                      </a:r>
                    </a:p>
                  </a:txBody>
                  <a:tcPr marL="73152" marR="54864" marT="18288" marB="18288" anchor="ctr">
                    <a:solidFill>
                      <a:srgbClr val="FFFFFF"/>
                    </a:solidFill>
                    <a:lnB w="9525" cap="flat">
                      <a:solidFill>
                        <a:srgbClr val="E5E7EB"/>
                      </a:solidFill>
                    </a:lnB>
                  </a:tcPr>
                </a:tc>
                <a:tc>
                  <a:txBody>
                    <a:bodyPr wrap="square"/>
                    <a:lstStyle/>
                    <a:p>
                      <a:pPr algn="l">
                        <a:spcAft>
                          <a:spcPts val="100"/>
                        </a:spcAft>
                      </a:pPr>
                      <a:r>
                        <a:rPr sz="1000" b="0" i="0">
                          <a:solidFill>
                            <a:srgbClr val="1B1B26"/>
                          </a:solidFill>
                          <a:latin typeface="Yu Gothic"/>
                          <a:ea typeface="Yu Gothic"/>
                          <a:cs typeface="Yu Gothic"/>
                        </a:rPr>
                        <a:t>兼務</a:t>
                      </a:r>
                    </a:p>
                  </a:txBody>
                  <a:tcPr marL="73152" marR="54864" marT="18288" marB="18288" anchor="ctr">
                    <a:solidFill>
                      <a:srgbClr val="FFFFFF"/>
                    </a:solidFill>
                    <a:lnB w="9525" cap="flat">
                      <a:solidFill>
                        <a:srgbClr val="E5E7EB"/>
                      </a:solidFill>
                    </a:lnB>
                  </a:tcPr>
                </a:tc>
                <a:tc>
                  <a:txBody>
                    <a:bodyPr wrap="square"/>
                    <a:lstStyle/>
                    <a:p>
                      <a:pPr algn="l">
                        <a:spcAft>
                          <a:spcPts val="100"/>
                        </a:spcAft>
                      </a:pPr>
                      <a:r>
                        <a:rPr sz="1000" b="0" i="0">
                          <a:solidFill>
                            <a:srgbClr val="1B1B26"/>
                          </a:solidFill>
                          <a:latin typeface="Yu Gothic"/>
                          <a:ea typeface="Yu Gothic"/>
                          <a:cs typeface="Yu Gothic"/>
                        </a:rPr>
                        <a:t>優先順位・重要判断・障害の除去・トップ外交</a:t>
                      </a:r>
                    </a:p>
                  </a:txBody>
                  <a:tcPr marL="73152" marR="54864" marT="18288" marB="18288" anchor="ctr">
                    <a:solidFill>
                      <a:srgbClr val="FFFFFF"/>
                    </a:solidFill>
                    <a:lnB w="9525" cap="flat">
                      <a:solidFill>
                        <a:srgbClr val="E5E7EB"/>
                      </a:solidFill>
                    </a:lnB>
                  </a:tcPr>
                </a:tc>
              </a:tr>
              <a:tr h="420624">
                <a:tc>
                  <a:txBody>
                    <a:bodyPr wrap="square"/>
                    <a:lstStyle/>
                    <a:p>
                      <a:pPr algn="l">
                        <a:spcAft>
                          <a:spcPts val="100"/>
                        </a:spcAft>
                      </a:pPr>
                      <a:r>
                        <a:rPr sz="1000" b="1" i="0">
                          <a:solidFill>
                            <a:srgbClr val="2563EB"/>
                          </a:solidFill>
                          <a:latin typeface="Yu Gothic"/>
                          <a:ea typeface="Yu Gothic"/>
                          <a:cs typeface="Yu Gothic"/>
                        </a:rPr>
                        <a:t>変革設計リード</a:t>
                      </a:r>
                    </a:p>
                  </a:txBody>
                  <a:tcPr marL="73152" marR="54864" marT="18288" marB="18288" anchor="ctr">
                    <a:solidFill>
                      <a:srgbClr val="FFFFFF"/>
                    </a:solidFill>
                    <a:lnB w="9525" cap="flat">
                      <a:solidFill>
                        <a:srgbClr val="E5E7EB"/>
                      </a:solidFill>
                    </a:lnB>
                  </a:tcPr>
                </a:tc>
                <a:tc>
                  <a:txBody>
                    <a:bodyPr wrap="square"/>
                    <a:lstStyle/>
                    <a:p>
                      <a:pPr algn="l">
                        <a:spcAft>
                          <a:spcPts val="100"/>
                        </a:spcAft>
                      </a:pPr>
                      <a:r>
                        <a:rPr sz="1000" b="0" i="0">
                          <a:solidFill>
                            <a:srgbClr val="1B1B26"/>
                          </a:solidFill>
                          <a:latin typeface="Yu Gothic"/>
                          <a:ea typeface="Yu Gothic"/>
                          <a:cs typeface="Yu Gothic"/>
                        </a:rPr>
                        <a:t>小沢</a:t>
                      </a:r>
                    </a:p>
                  </a:txBody>
                  <a:tcPr marL="73152" marR="54864" marT="18288" marB="18288" anchor="ctr">
                    <a:solidFill>
                      <a:srgbClr val="FFFFFF"/>
                    </a:solidFill>
                    <a:lnB w="9525" cap="flat">
                      <a:solidFill>
                        <a:srgbClr val="E5E7EB"/>
                      </a:solidFill>
                    </a:lnB>
                  </a:tcPr>
                </a:tc>
                <a:tc>
                  <a:txBody>
                    <a:bodyPr wrap="square"/>
                    <a:lstStyle/>
                    <a:p>
                      <a:pPr algn="l">
                        <a:spcAft>
                          <a:spcPts val="100"/>
                        </a:spcAft>
                      </a:pPr>
                      <a:r>
                        <a:rPr sz="1000" b="0" i="0">
                          <a:solidFill>
                            <a:srgbClr val="1B1B26"/>
                          </a:solidFill>
                          <a:latin typeface="Yu Gothic"/>
                          <a:ea typeface="Yu Gothic"/>
                          <a:cs typeface="Yu Gothic"/>
                        </a:rPr>
                        <a:t>専任</a:t>
                      </a:r>
                    </a:p>
                  </a:txBody>
                  <a:tcPr marL="73152" marR="54864" marT="18288" marB="18288" anchor="ctr">
                    <a:solidFill>
                      <a:srgbClr val="FFFFFF"/>
                    </a:solidFill>
                    <a:lnB w="9525" cap="flat">
                      <a:solidFill>
                        <a:srgbClr val="E5E7EB"/>
                      </a:solidFill>
                    </a:lnB>
                  </a:tcPr>
                </a:tc>
                <a:tc>
                  <a:txBody>
                    <a:bodyPr wrap="square"/>
                    <a:lstStyle/>
                    <a:p>
                      <a:pPr algn="l">
                        <a:spcAft>
                          <a:spcPts val="100"/>
                        </a:spcAft>
                      </a:pPr>
                      <a:r>
                        <a:rPr sz="1000" b="0" i="0">
                          <a:solidFill>
                            <a:srgbClr val="1B1B26"/>
                          </a:solidFill>
                          <a:latin typeface="Yu Gothic"/>
                          <a:ea typeface="Yu Gothic"/>
                          <a:cs typeface="Yu Gothic"/>
                        </a:rPr>
                        <a:t>改革の中身：課題設計・プロセス／案件評価・契約の再設計</a:t>
                      </a:r>
                    </a:p>
                  </a:txBody>
                  <a:tcPr marL="73152" marR="54864" marT="18288" marB="18288" anchor="ctr">
                    <a:solidFill>
                      <a:srgbClr val="FFFFFF"/>
                    </a:solidFill>
                    <a:lnB w="9525" cap="flat">
                      <a:solidFill>
                        <a:srgbClr val="E5E7EB"/>
                      </a:solidFill>
                    </a:lnB>
                  </a:tcPr>
                </a:tc>
              </a:tr>
              <a:tr h="420624">
                <a:tc>
                  <a:txBody>
                    <a:bodyPr wrap="square"/>
                    <a:lstStyle/>
                    <a:p>
                      <a:pPr algn="l">
                        <a:spcAft>
                          <a:spcPts val="100"/>
                        </a:spcAft>
                      </a:pPr>
                      <a:r>
                        <a:rPr sz="1000" b="1" i="0">
                          <a:solidFill>
                            <a:srgbClr val="2563EB"/>
                          </a:solidFill>
                          <a:latin typeface="Yu Gothic"/>
                          <a:ea typeface="Yu Gothic"/>
                          <a:cs typeface="Yu Gothic"/>
                        </a:rPr>
                        <a:t>実行統制・データリード</a:t>
                      </a:r>
                    </a:p>
                  </a:txBody>
                  <a:tcPr marL="73152" marR="54864" marT="18288" marB="18288" anchor="ctr">
                    <a:solidFill>
                      <a:srgbClr val="FFFFFF"/>
                    </a:solidFill>
                    <a:lnB w="9525" cap="flat">
                      <a:solidFill>
                        <a:srgbClr val="E5E7EB"/>
                      </a:solidFill>
                    </a:lnB>
                  </a:tcPr>
                </a:tc>
                <a:tc>
                  <a:txBody>
                    <a:bodyPr wrap="square"/>
                    <a:lstStyle/>
                    <a:p>
                      <a:pPr algn="l">
                        <a:spcAft>
                          <a:spcPts val="100"/>
                        </a:spcAft>
                      </a:pPr>
                      <a:r>
                        <a:rPr sz="1000" b="0" i="0">
                          <a:solidFill>
                            <a:srgbClr val="1B1B26"/>
                          </a:solidFill>
                          <a:latin typeface="Yu Gothic"/>
                          <a:ea typeface="Yu Gothic"/>
                          <a:cs typeface="Yu Gothic"/>
                        </a:rPr>
                        <a:t>坪井</a:t>
                      </a:r>
                    </a:p>
                  </a:txBody>
                  <a:tcPr marL="73152" marR="54864" marT="18288" marB="18288" anchor="ctr">
                    <a:solidFill>
                      <a:srgbClr val="FFFFFF"/>
                    </a:solidFill>
                    <a:lnB w="9525" cap="flat">
                      <a:solidFill>
                        <a:srgbClr val="E5E7EB"/>
                      </a:solidFill>
                    </a:lnB>
                  </a:tcPr>
                </a:tc>
                <a:tc>
                  <a:txBody>
                    <a:bodyPr wrap="square"/>
                    <a:lstStyle/>
                    <a:p>
                      <a:pPr algn="l">
                        <a:spcAft>
                          <a:spcPts val="100"/>
                        </a:spcAft>
                      </a:pPr>
                      <a:r>
                        <a:rPr sz="1000" b="0" i="0">
                          <a:solidFill>
                            <a:srgbClr val="1B1B26"/>
                          </a:solidFill>
                          <a:latin typeface="Yu Gothic"/>
                          <a:ea typeface="Yu Gothic"/>
                          <a:cs typeface="Yu Gothic"/>
                        </a:rPr>
                        <a:t>兼務</a:t>
                      </a:r>
                    </a:p>
                  </a:txBody>
                  <a:tcPr marL="73152" marR="54864" marT="18288" marB="18288" anchor="ctr">
                    <a:solidFill>
                      <a:srgbClr val="FFFFFF"/>
                    </a:solidFill>
                    <a:lnB w="9525" cap="flat">
                      <a:solidFill>
                        <a:srgbClr val="E5E7EB"/>
                      </a:solidFill>
                    </a:lnB>
                  </a:tcPr>
                </a:tc>
                <a:tc>
                  <a:txBody>
                    <a:bodyPr wrap="square"/>
                    <a:lstStyle/>
                    <a:p>
                      <a:pPr algn="l">
                        <a:spcAft>
                          <a:spcPts val="100"/>
                        </a:spcAft>
                      </a:pPr>
                      <a:r>
                        <a:rPr sz="1000" b="0" i="0">
                          <a:solidFill>
                            <a:srgbClr val="1B1B26"/>
                          </a:solidFill>
                          <a:latin typeface="Yu Gothic"/>
                          <a:ea typeface="Yu Gothic"/>
                          <a:cs typeface="Yu Gothic"/>
                        </a:rPr>
                        <a:t>統合計画・KPI・データ品質統制・停滞検知とエスカレーション</a:t>
                      </a:r>
                    </a:p>
                  </a:txBody>
                  <a:tcPr marL="73152" marR="54864" marT="18288" marB="18288" anchor="ctr">
                    <a:solidFill>
                      <a:srgbClr val="FFFFFF"/>
                    </a:solidFill>
                    <a:lnB w="9525" cap="flat">
                      <a:solidFill>
                        <a:srgbClr val="E5E7EB"/>
                      </a:solidFill>
                    </a:lnB>
                  </a:tcPr>
                </a:tc>
              </a:tr>
              <a:tr h="420624">
                <a:tc>
                  <a:txBody>
                    <a:bodyPr wrap="square"/>
                    <a:lstStyle/>
                    <a:p>
                      <a:pPr algn="l">
                        <a:spcAft>
                          <a:spcPts val="100"/>
                        </a:spcAft>
                      </a:pPr>
                      <a:r>
                        <a:rPr sz="1000" b="1" i="0">
                          <a:solidFill>
                            <a:srgbClr val="2563EB"/>
                          </a:solidFill>
                          <a:latin typeface="Yu Gothic"/>
                          <a:ea typeface="Yu Gothic"/>
                          <a:cs typeface="Yu Gothic"/>
                        </a:rPr>
                        <a:t>戦略サポート</a:t>
                      </a:r>
                    </a:p>
                  </a:txBody>
                  <a:tcPr marL="73152" marR="54864" marT="18288" marB="18288" anchor="ctr">
                    <a:solidFill>
                      <a:srgbClr val="FFFFFF"/>
                    </a:solidFill>
                    <a:lnB w="9525" cap="flat">
                      <a:solidFill>
                        <a:srgbClr val="E5E7EB"/>
                      </a:solidFill>
                    </a:lnB>
                  </a:tcPr>
                </a:tc>
                <a:tc>
                  <a:txBody>
                    <a:bodyPr wrap="square"/>
                    <a:lstStyle/>
                    <a:p>
                      <a:pPr algn="l">
                        <a:spcAft>
                          <a:spcPts val="100"/>
                        </a:spcAft>
                      </a:pPr>
                      <a:r>
                        <a:rPr sz="1000" b="0" i="0">
                          <a:solidFill>
                            <a:srgbClr val="1B1B26"/>
                          </a:solidFill>
                          <a:latin typeface="Yu Gothic"/>
                          <a:ea typeface="Yu Gothic"/>
                          <a:cs typeface="Yu Gothic"/>
                        </a:rPr>
                        <a:t>大塩</a:t>
                      </a:r>
                    </a:p>
                  </a:txBody>
                  <a:tcPr marL="73152" marR="54864" marT="18288" marB="18288" anchor="ctr">
                    <a:solidFill>
                      <a:srgbClr val="FFFFFF"/>
                    </a:solidFill>
                    <a:lnB w="9525" cap="flat">
                      <a:solidFill>
                        <a:srgbClr val="E5E7EB"/>
                      </a:solidFill>
                    </a:lnB>
                  </a:tcPr>
                </a:tc>
                <a:tc>
                  <a:txBody>
                    <a:bodyPr wrap="square"/>
                    <a:lstStyle/>
                    <a:p>
                      <a:pPr algn="l">
                        <a:spcAft>
                          <a:spcPts val="100"/>
                        </a:spcAft>
                      </a:pPr>
                      <a:r>
                        <a:rPr sz="1000" b="0" i="0">
                          <a:solidFill>
                            <a:srgbClr val="1B1B26"/>
                          </a:solidFill>
                          <a:latin typeface="Yu Gothic"/>
                          <a:ea typeface="Yu Gothic"/>
                          <a:cs typeface="Yu Gothic"/>
                        </a:rPr>
                        <a:t>兼務</a:t>
                      </a:r>
                    </a:p>
                  </a:txBody>
                  <a:tcPr marL="73152" marR="54864" marT="18288" marB="18288" anchor="ctr">
                    <a:solidFill>
                      <a:srgbClr val="FFFFFF"/>
                    </a:solidFill>
                    <a:lnB w="9525" cap="flat">
                      <a:solidFill>
                        <a:srgbClr val="E5E7EB"/>
                      </a:solidFill>
                    </a:lnB>
                  </a:tcPr>
                </a:tc>
                <a:tc>
                  <a:txBody>
                    <a:bodyPr wrap="square"/>
                    <a:lstStyle/>
                    <a:p>
                      <a:pPr algn="l">
                        <a:spcAft>
                          <a:spcPts val="100"/>
                        </a:spcAft>
                      </a:pPr>
                      <a:r>
                        <a:rPr sz="1000" b="0" i="0">
                          <a:solidFill>
                            <a:srgbClr val="1B1B26"/>
                          </a:solidFill>
                          <a:latin typeface="Yu Gothic"/>
                          <a:ea typeface="Yu Gothic"/>
                          <a:cs typeface="Yu Gothic"/>
                        </a:rPr>
                        <a:t>経営向け論点整理・HD経営企画との接続</a:t>
                      </a:r>
                    </a:p>
                  </a:txBody>
                  <a:tcPr marL="73152" marR="54864" marT="18288" marB="18288" anchor="ctr">
                    <a:solidFill>
                      <a:srgbClr val="FFFFFF"/>
                    </a:solidFill>
                    <a:lnB w="9525" cap="flat">
                      <a:solidFill>
                        <a:srgbClr val="E5E7EB"/>
                      </a:solidFill>
                    </a:lnB>
                  </a:tcPr>
                </a:tc>
              </a:tr>
              <a:tr h="420624">
                <a:tc>
                  <a:txBody>
                    <a:bodyPr wrap="square"/>
                    <a:lstStyle/>
                    <a:p>
                      <a:pPr algn="l">
                        <a:spcAft>
                          <a:spcPts val="100"/>
                        </a:spcAft>
                      </a:pPr>
                      <a:r>
                        <a:rPr sz="1000" b="1" i="0">
                          <a:solidFill>
                            <a:srgbClr val="1E40AF"/>
                          </a:solidFill>
                          <a:latin typeface="Yu Gothic"/>
                          <a:ea typeface="Yu Gothic"/>
                          <a:cs typeface="Yu Gothic"/>
                        </a:rPr>
                        <a:t>財務リエゾン</a:t>
                      </a:r>
                    </a:p>
                  </a:txBody>
                  <a:tcPr marL="73152" marR="54864" marT="18288" marB="18288" anchor="ctr">
                    <a:solidFill>
                      <a:srgbClr val="EAF1FE"/>
                    </a:solidFill>
                    <a:lnB w="9525" cap="flat">
                      <a:solidFill>
                        <a:srgbClr val="E5E7EB"/>
                      </a:solidFill>
                    </a:lnB>
                  </a:tcPr>
                </a:tc>
                <a:tc>
                  <a:txBody>
                    <a:bodyPr wrap="square"/>
                    <a:lstStyle/>
                    <a:p>
                      <a:pPr algn="l">
                        <a:spcAft>
                          <a:spcPts val="100"/>
                        </a:spcAft>
                      </a:pPr>
                      <a:r>
                        <a:rPr sz="1000" b="1" i="0">
                          <a:solidFill>
                            <a:srgbClr val="1E40AF"/>
                          </a:solidFill>
                          <a:latin typeface="Yu Gothic"/>
                          <a:ea typeface="Yu Gothic"/>
                          <a:cs typeface="Yu Gothic"/>
                        </a:rPr>
                        <a:t>柳沼さん</a:t>
                      </a:r>
                    </a:p>
                  </a:txBody>
                  <a:tcPr marL="73152" marR="54864" marT="18288" marB="18288" anchor="ctr">
                    <a:solidFill>
                      <a:srgbClr val="EAF1FE"/>
                    </a:solidFill>
                    <a:lnB w="9525" cap="flat">
                      <a:solidFill>
                        <a:srgbClr val="E5E7EB"/>
                      </a:solidFill>
                    </a:lnB>
                  </a:tcPr>
                </a:tc>
                <a:tc>
                  <a:txBody>
                    <a:bodyPr wrap="square"/>
                    <a:lstStyle/>
                    <a:p>
                      <a:pPr algn="l">
                        <a:spcAft>
                          <a:spcPts val="100"/>
                        </a:spcAft>
                      </a:pPr>
                      <a:r>
                        <a:rPr sz="1000" b="1" i="0">
                          <a:solidFill>
                            <a:srgbClr val="1E40AF"/>
                          </a:solidFill>
                          <a:latin typeface="Yu Gothic"/>
                          <a:ea typeface="Yu Gothic"/>
                          <a:cs typeface="Yu Gothic"/>
                        </a:rPr>
                        <a:t>兼務・週2〜3h</a:t>
                      </a:r>
                    </a:p>
                  </a:txBody>
                  <a:tcPr marL="73152" marR="54864" marT="18288" marB="18288" anchor="ctr">
                    <a:solidFill>
                      <a:srgbClr val="EAF1FE"/>
                    </a:solidFill>
                    <a:lnB w="9525" cap="flat">
                      <a:solidFill>
                        <a:srgbClr val="E5E7EB"/>
                      </a:solidFill>
                    </a:lnB>
                  </a:tcPr>
                </a:tc>
                <a:tc>
                  <a:txBody>
                    <a:bodyPr wrap="square"/>
                    <a:lstStyle/>
                    <a:p>
                      <a:pPr algn="l">
                        <a:spcAft>
                          <a:spcPts val="100"/>
                        </a:spcAft>
                      </a:pPr>
                      <a:r>
                        <a:rPr sz="1000" b="1" i="0">
                          <a:solidFill>
                            <a:srgbClr val="1E40AF"/>
                          </a:solidFill>
                          <a:latin typeface="Yu Gothic"/>
                          <a:ea typeface="Yu Gothic"/>
                          <a:cs typeface="Yu Gothic"/>
                        </a:rPr>
                        <a:t>財務データの定期供給・粗利算定ルールの検証</a:t>
                      </a:r>
                    </a:p>
                  </a:txBody>
                  <a:tcPr marL="73152" marR="54864" marT="18288" marB="18288" anchor="ctr">
                    <a:solidFill>
                      <a:srgbClr val="EAF1FE"/>
                    </a:solidFill>
                    <a:lnB w="9525" cap="flat">
                      <a:solidFill>
                        <a:srgbClr val="E5E7EB"/>
                      </a:solidFill>
                    </a:lnB>
                  </a:tcPr>
                </a:tc>
              </a:tr>
            </a:tbl>
          </a:graphicData>
        </a:graphic>
      </p:graphicFrame>
      <p:sp>
        <p:nvSpPr>
          <p:cNvPr id="6" name="Rectangle 5"/>
          <p:cNvSpPr/>
          <p:nvPr/>
        </p:nvSpPr>
        <p:spPr>
          <a:xfrm>
            <a:off x="502920" y="5358384"/>
            <a:ext cx="11183112" cy="640080"/>
          </a:xfrm>
          <a:prstGeom prst="rect">
            <a:avLst/>
          </a:prstGeom>
          <a:solidFill>
            <a:srgbClr val="EA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358384"/>
            <a:ext cx="38100" cy="6400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413248"/>
            <a:ext cx="10835640" cy="530352"/>
          </a:xfrm>
          <a:prstGeom prst="rect">
            <a:avLst/>
          </a:prstGeom>
          <a:noFill/>
        </p:spPr>
        <p:txBody>
          <a:bodyPr wrap="square" lIns="0" rIns="0" tIns="0" bIns="0" anchor="ctr">
            <a:spAutoFit/>
          </a:bodyPr>
          <a:lstStyle/>
          <a:p>
            <a:pPr algn="l">
              <a:spcAft>
                <a:spcPts val="0"/>
              </a:spcAft>
            </a:pPr>
            <a:r>
              <a:rPr sz="1050" b="1" i="0">
                <a:solidFill>
                  <a:srgbClr val="1E40AF"/>
                </a:solidFill>
                <a:latin typeface="Yu Gothic"/>
                <a:ea typeface="Yu Gothic"/>
                <a:cs typeface="Yu Gothic"/>
              </a:rPr>
              <a:t>柳沼さんには財務リエゾンをお願いしたく、本日はその中身のご相談です。STOの定例への出席は不要です。</a:t>
            </a:r>
          </a:p>
        </p:txBody>
      </p:sp>
      <p:sp>
        <p:nvSpPr>
          <p:cNvPr id="9" name="Rectangle 8"/>
          <p:cNvSpPr/>
          <p:nvPr/>
        </p:nvSpPr>
        <p:spPr>
          <a:xfrm>
            <a:off x="502920" y="6510528"/>
            <a:ext cx="11183112" cy="1524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65392"/>
            <a:ext cx="8686800" cy="274320"/>
          </a:xfrm>
          <a:prstGeom prst="rect">
            <a:avLst/>
          </a:prstGeom>
          <a:noFill/>
        </p:spPr>
        <p:txBody>
          <a:bodyPr wrap="square" lIns="0" rIns="0" tIns="0" bIns="0">
            <a:spAutoFit/>
          </a:bodyPr>
          <a:lstStyle/>
          <a:p>
            <a:pPr algn="l">
              <a:spcAft>
                <a:spcPts val="400"/>
              </a:spcAft>
            </a:pPr>
            <a:r>
              <a:rPr sz="750" b="0" i="0">
                <a:solidFill>
                  <a:srgbClr val="8A8F9C"/>
                </a:solidFill>
                <a:latin typeface="Yu Gothic"/>
                <a:ea typeface="Yu Gothic"/>
                <a:cs typeface="Yu Gothic"/>
              </a:rPr>
              <a:t>円谷プロダクション 営業改革 | 社外秘</a:t>
            </a:r>
          </a:p>
        </p:txBody>
      </p:sp>
      <p:sp>
        <p:nvSpPr>
          <p:cNvPr id="11" name="TextBox 10"/>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6B7280"/>
                </a:solidFill>
                <a:latin typeface="Yu Gothic"/>
                <a:ea typeface="Yu Gothic"/>
                <a:cs typeface="Yu Gothic"/>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274320"/>
            <a:ext cx="2135123" cy="274320"/>
          </a:xfrm>
          <a:prstGeom prst="roundRect">
            <a:avLst>
              <a:gd name="adj" fmla="val 50000"/>
            </a:avLst>
          </a:prstGeom>
          <a:solidFill>
            <a:srgbClr val="EA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l">
              <a:spcAft>
                <a:spcPts val="0"/>
              </a:spcAft>
            </a:pPr>
            <a:r>
              <a:rPr sz="900" b="1" i="0">
                <a:solidFill>
                  <a:srgbClr val="2563EB"/>
                </a:solidFill>
                <a:latin typeface="Yu Gothic"/>
                <a:ea typeface="Yu Gothic"/>
                <a:cs typeface="Yu Gothic"/>
              </a:rPr>
              <a:t>なぜ財務データが改革の土台か</a:t>
            </a:r>
          </a:p>
        </p:txBody>
      </p:sp>
      <p:sp>
        <p:nvSpPr>
          <p:cNvPr id="3" name="TextBox 2"/>
          <p:cNvSpPr txBox="1"/>
          <p:nvPr/>
        </p:nvSpPr>
        <p:spPr>
          <a:xfrm>
            <a:off x="502920" y="566928"/>
            <a:ext cx="11155680" cy="804672"/>
          </a:xfrm>
          <a:prstGeom prst="rect">
            <a:avLst/>
          </a:prstGeom>
          <a:noFill/>
        </p:spPr>
        <p:txBody>
          <a:bodyPr wrap="square" lIns="0" rIns="0" tIns="0" bIns="0">
            <a:spAutoFit/>
          </a:bodyPr>
          <a:lstStyle/>
          <a:p>
            <a:pPr algn="l">
              <a:spcAft>
                <a:spcPts val="0"/>
              </a:spcAft>
            </a:pPr>
            <a:r>
              <a:rPr sz="1800" b="1" i="0">
                <a:solidFill>
                  <a:srgbClr val="1B1B26"/>
                </a:solidFill>
                <a:latin typeface="Yu Gothic"/>
                <a:ea typeface="Yu Gothic"/>
                <a:cs typeface="Yu Gothic"/>
              </a:rPr>
              <a:t>金額が入って初めて、力の注ぎ先を数字で選べる</a:t>
            </a:r>
          </a:p>
        </p:txBody>
      </p:sp>
      <p:sp>
        <p:nvSpPr>
          <p:cNvPr id="4" name="Rectangle 3"/>
          <p:cNvSpPr/>
          <p:nvPr/>
        </p:nvSpPr>
        <p:spPr>
          <a:xfrm>
            <a:off x="502920" y="1335024"/>
            <a:ext cx="11183112" cy="1143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847088"/>
            <a:ext cx="11183112" cy="1078992"/>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47088"/>
            <a:ext cx="64008" cy="10789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2130552"/>
            <a:ext cx="512064" cy="51206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Aft>
                <a:spcPts val="0"/>
              </a:spcAft>
            </a:pPr>
            <a:r>
              <a:rPr sz="1800" b="1" i="0">
                <a:solidFill>
                  <a:srgbClr val="FFFFFF"/>
                </a:solidFill>
                <a:latin typeface="Yu Gothic"/>
                <a:ea typeface="Yu Gothic"/>
                <a:cs typeface="Yu Gothic"/>
              </a:rPr>
              <a:t>①</a:t>
            </a:r>
          </a:p>
        </p:txBody>
      </p:sp>
      <p:sp>
        <p:nvSpPr>
          <p:cNvPr id="8" name="TextBox 7"/>
          <p:cNvSpPr txBox="1"/>
          <p:nvPr/>
        </p:nvSpPr>
        <p:spPr>
          <a:xfrm>
            <a:off x="1426464" y="1956816"/>
            <a:ext cx="10104120" cy="859536"/>
          </a:xfrm>
          <a:prstGeom prst="rect">
            <a:avLst/>
          </a:prstGeom>
          <a:noFill/>
        </p:spPr>
        <p:txBody>
          <a:bodyPr wrap="square" lIns="0" rIns="0" tIns="0" bIns="0" anchor="ctr">
            <a:spAutoFit/>
          </a:bodyPr>
          <a:lstStyle/>
          <a:p>
            <a:pPr algn="l">
              <a:spcAft>
                <a:spcPts val="300"/>
              </a:spcAft>
            </a:pPr>
            <a:r>
              <a:rPr sz="1250" b="1" i="0">
                <a:solidFill>
                  <a:srgbClr val="1E40AF"/>
                </a:solidFill>
                <a:latin typeface="Yu Gothic"/>
                <a:ea typeface="Yu Gothic"/>
                <a:cs typeface="Yu Gothic"/>
              </a:rPr>
              <a:t>棚卸しは完了。しかし金額列はゼロのまま</a:t>
            </a:r>
          </a:p>
          <a:p>
            <a:pPr algn="l">
              <a:spcAft>
                <a:spcPts val="0"/>
              </a:spcAft>
            </a:pPr>
            <a:r>
              <a:rPr sz="980" b="0" i="0">
                <a:solidFill>
                  <a:srgbClr val="1B1B26"/>
                </a:solidFill>
                <a:latin typeface="Yu Gothic"/>
                <a:ea typeface="Yu Gothic"/>
                <a:cs typeface="Yu Gothic"/>
              </a:rPr>
              <a:t>顧客746社・案件299件の棚卸しが完了。しかし金額列（年間取引額・粗利）はゼロのまま——財務データとつながって初めて「どこに力を注ぐか」を数字で選べる</a:t>
            </a:r>
          </a:p>
        </p:txBody>
      </p:sp>
      <p:sp>
        <p:nvSpPr>
          <p:cNvPr id="9" name="Rectangle 8"/>
          <p:cNvSpPr/>
          <p:nvPr/>
        </p:nvSpPr>
        <p:spPr>
          <a:xfrm>
            <a:off x="502920" y="3054096"/>
            <a:ext cx="11183112" cy="1078992"/>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3054096"/>
            <a:ext cx="64008" cy="10789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1520" y="3337560"/>
            <a:ext cx="512064" cy="51206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Aft>
                <a:spcPts val="0"/>
              </a:spcAft>
            </a:pPr>
            <a:r>
              <a:rPr sz="1800" b="1" i="0">
                <a:solidFill>
                  <a:srgbClr val="FFFFFF"/>
                </a:solidFill>
                <a:latin typeface="Yu Gothic"/>
                <a:ea typeface="Yu Gothic"/>
                <a:cs typeface="Yu Gothic"/>
              </a:rPr>
              <a:t>②</a:t>
            </a:r>
          </a:p>
        </p:txBody>
      </p:sp>
      <p:sp>
        <p:nvSpPr>
          <p:cNvPr id="12" name="TextBox 11"/>
          <p:cNvSpPr txBox="1"/>
          <p:nvPr/>
        </p:nvSpPr>
        <p:spPr>
          <a:xfrm>
            <a:off x="1426464" y="3163824"/>
            <a:ext cx="10104120" cy="859536"/>
          </a:xfrm>
          <a:prstGeom prst="rect">
            <a:avLst/>
          </a:prstGeom>
          <a:noFill/>
        </p:spPr>
        <p:txBody>
          <a:bodyPr wrap="square" lIns="0" rIns="0" tIns="0" bIns="0" anchor="ctr">
            <a:spAutoFit/>
          </a:bodyPr>
          <a:lstStyle/>
          <a:p>
            <a:pPr algn="l">
              <a:spcAft>
                <a:spcPts val="300"/>
              </a:spcAft>
            </a:pPr>
            <a:r>
              <a:rPr sz="1250" b="1" i="0">
                <a:solidFill>
                  <a:srgbClr val="1E40AF"/>
                </a:solidFill>
                <a:latin typeface="Yu Gothic"/>
                <a:ea typeface="Yu Gothic"/>
                <a:cs typeface="Yu Gothic"/>
              </a:rPr>
              <a:t>名寄せの壁：営業の名前と財務の取引先が繋がらない</a:t>
            </a:r>
          </a:p>
          <a:p>
            <a:pPr algn="l">
              <a:spcAft>
                <a:spcPts val="0"/>
              </a:spcAft>
            </a:pPr>
            <a:r>
              <a:rPr sz="980" b="0" i="0">
                <a:solidFill>
                  <a:srgbClr val="1B1B26"/>
                </a:solidFill>
                <a:latin typeface="Yu Gothic"/>
                <a:ea typeface="Yu Gothic"/>
                <a:cs typeface="Yu Gothic"/>
              </a:rPr>
              <a:t>顧客名と財務の取引先が1対1で紐付くのはごく一部。委員会名義・決済サービス等の中間支払先名義が百件単位——財務データの「読み方」を教えていただく必要がある</a:t>
            </a:r>
          </a:p>
        </p:txBody>
      </p:sp>
      <p:sp>
        <p:nvSpPr>
          <p:cNvPr id="13" name="Rectangle 12"/>
          <p:cNvSpPr/>
          <p:nvPr/>
        </p:nvSpPr>
        <p:spPr>
          <a:xfrm>
            <a:off x="502920" y="4261104"/>
            <a:ext cx="11183112" cy="1078992"/>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4261104"/>
            <a:ext cx="64008" cy="10789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31520" y="4544568"/>
            <a:ext cx="512064" cy="51206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Aft>
                <a:spcPts val="0"/>
              </a:spcAft>
            </a:pPr>
            <a:r>
              <a:rPr sz="1800" b="1" i="0">
                <a:solidFill>
                  <a:srgbClr val="FFFFFF"/>
                </a:solidFill>
                <a:latin typeface="Yu Gothic"/>
                <a:ea typeface="Yu Gothic"/>
                <a:cs typeface="Yu Gothic"/>
              </a:rPr>
              <a:t>③</a:t>
            </a:r>
          </a:p>
        </p:txBody>
      </p:sp>
      <p:sp>
        <p:nvSpPr>
          <p:cNvPr id="16" name="TextBox 15"/>
          <p:cNvSpPr txBox="1"/>
          <p:nvPr/>
        </p:nvSpPr>
        <p:spPr>
          <a:xfrm>
            <a:off x="1426464" y="4370832"/>
            <a:ext cx="10104120" cy="859536"/>
          </a:xfrm>
          <a:prstGeom prst="rect">
            <a:avLst/>
          </a:prstGeom>
          <a:noFill/>
        </p:spPr>
        <p:txBody>
          <a:bodyPr wrap="square" lIns="0" rIns="0" tIns="0" bIns="0" anchor="ctr">
            <a:spAutoFit/>
          </a:bodyPr>
          <a:lstStyle/>
          <a:p>
            <a:pPr algn="l">
              <a:spcAft>
                <a:spcPts val="300"/>
              </a:spcAft>
            </a:pPr>
            <a:r>
              <a:rPr sz="1250" b="1" i="0">
                <a:solidFill>
                  <a:srgbClr val="1E40AF"/>
                </a:solidFill>
                <a:latin typeface="Yu Gothic"/>
                <a:ea typeface="Yu Gothic"/>
                <a:cs typeface="Yu Gothic"/>
              </a:rPr>
              <a:t>座組が変わると同じ売上でも取り分が変わる</a:t>
            </a:r>
          </a:p>
          <a:p>
            <a:pPr algn="l">
              <a:spcAft>
                <a:spcPts val="0"/>
              </a:spcAft>
            </a:pPr>
            <a:r>
              <a:rPr sz="980" b="0" i="0">
                <a:solidFill>
                  <a:srgbClr val="1B1B26"/>
                </a:solidFill>
                <a:latin typeface="Yu Gothic"/>
                <a:ea typeface="Yu Gothic"/>
                <a:cs typeface="Yu Gothic"/>
              </a:rPr>
              <a:t>委員会の座組が変わると同じ売上でも円谷の取り分が変わる（今期の中国原価率の例）——作品別の実効取り分率が分からないと案件の粗利評価が期中に狂う</a:t>
            </a:r>
          </a:p>
        </p:txBody>
      </p:sp>
      <p:sp>
        <p:nvSpPr>
          <p:cNvPr id="17" name="Rectangle 16"/>
          <p:cNvSpPr/>
          <p:nvPr/>
        </p:nvSpPr>
        <p:spPr>
          <a:xfrm>
            <a:off x="502920" y="5541264"/>
            <a:ext cx="11183112" cy="859536"/>
          </a:xfrm>
          <a:prstGeom prst="rect">
            <a:avLst/>
          </a:prstGeom>
          <a:solidFill>
            <a:srgbClr val="EA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5541264"/>
            <a:ext cx="38100" cy="859536"/>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5596128"/>
            <a:ext cx="10835640" cy="749808"/>
          </a:xfrm>
          <a:prstGeom prst="rect">
            <a:avLst/>
          </a:prstGeom>
          <a:noFill/>
        </p:spPr>
        <p:txBody>
          <a:bodyPr wrap="square" lIns="0" rIns="0" tIns="0" bIns="0" anchor="ctr">
            <a:spAutoFit/>
          </a:bodyPr>
          <a:lstStyle/>
          <a:p>
            <a:pPr algn="l">
              <a:spcAft>
                <a:spcPts val="0"/>
              </a:spcAft>
            </a:pPr>
            <a:r>
              <a:rPr sz="1050" b="1" i="0">
                <a:solidFill>
                  <a:srgbClr val="2563EB"/>
                </a:solidFill>
                <a:latin typeface="Yu Gothic"/>
                <a:ea typeface="Yu Gothic"/>
                <a:cs typeface="Yu Gothic"/>
              </a:rPr>
              <a:t>感謝　</a:t>
            </a:r>
            <a:r>
              <a:rPr sz="1050" b="0" i="0">
                <a:solidFill>
                  <a:srgbClr val="1B1B26"/>
                </a:solidFill>
                <a:latin typeface="Yu Gothic"/>
                <a:ea typeface="Yu Gothic"/>
                <a:cs typeface="Yu Gothic"/>
              </a:rPr>
              <a:t>先日ご提供いただいた作品利益率一覧5期分で、改革の基準数値（なぜ今か）が確定できました。ありがとうございました。次はこの3つの壁を一緒に越えたいのです。</a:t>
            </a:r>
          </a:p>
        </p:txBody>
      </p:sp>
      <p:sp>
        <p:nvSpPr>
          <p:cNvPr id="20" name="Rectangle 19"/>
          <p:cNvSpPr/>
          <p:nvPr/>
        </p:nvSpPr>
        <p:spPr>
          <a:xfrm>
            <a:off x="502920" y="6510528"/>
            <a:ext cx="11183112" cy="1524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565392"/>
            <a:ext cx="8686800" cy="274320"/>
          </a:xfrm>
          <a:prstGeom prst="rect">
            <a:avLst/>
          </a:prstGeom>
          <a:noFill/>
        </p:spPr>
        <p:txBody>
          <a:bodyPr wrap="square" lIns="0" rIns="0" tIns="0" bIns="0">
            <a:spAutoFit/>
          </a:bodyPr>
          <a:lstStyle/>
          <a:p>
            <a:pPr algn="l">
              <a:spcAft>
                <a:spcPts val="400"/>
              </a:spcAft>
            </a:pPr>
            <a:r>
              <a:rPr sz="750" b="0" i="0">
                <a:solidFill>
                  <a:srgbClr val="8A8F9C"/>
                </a:solidFill>
                <a:latin typeface="Yu Gothic"/>
                <a:ea typeface="Yu Gothic"/>
                <a:cs typeface="Yu Gothic"/>
              </a:rPr>
              <a:t>円谷プロダクション 営業改革 | 社外秘</a:t>
            </a:r>
          </a:p>
        </p:txBody>
      </p:sp>
      <p:sp>
        <p:nvSpPr>
          <p:cNvPr id="22" name="TextBox 2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6B7280"/>
                </a:solidFill>
                <a:latin typeface="Yu Gothic"/>
                <a:ea typeface="Yu Gothic"/>
                <a:cs typeface="Yu Gothic"/>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274320"/>
            <a:ext cx="2793491" cy="274320"/>
          </a:xfrm>
          <a:prstGeom prst="roundRect">
            <a:avLst>
              <a:gd name="adj" fmla="val 50000"/>
            </a:avLst>
          </a:prstGeom>
          <a:solidFill>
            <a:srgbClr val="EA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l">
              <a:spcAft>
                <a:spcPts val="0"/>
              </a:spcAft>
            </a:pPr>
            <a:r>
              <a:rPr sz="900" b="1" i="0">
                <a:solidFill>
                  <a:srgbClr val="2563EB"/>
                </a:solidFill>
                <a:latin typeface="Yu Gothic"/>
                <a:ea typeface="Yu Gothic"/>
                <a:cs typeface="Yu Gothic"/>
              </a:rPr>
              <a:t>お願い① データのご提供（3点・優先順）</a:t>
            </a:r>
          </a:p>
        </p:txBody>
      </p:sp>
      <p:sp>
        <p:nvSpPr>
          <p:cNvPr id="3" name="TextBox 2"/>
          <p:cNvSpPr txBox="1"/>
          <p:nvPr/>
        </p:nvSpPr>
        <p:spPr>
          <a:xfrm>
            <a:off x="502920" y="566928"/>
            <a:ext cx="11155680" cy="804672"/>
          </a:xfrm>
          <a:prstGeom prst="rect">
            <a:avLst/>
          </a:prstGeom>
          <a:noFill/>
        </p:spPr>
        <p:txBody>
          <a:bodyPr wrap="square" lIns="0" rIns="0" tIns="0" bIns="0">
            <a:spAutoFit/>
          </a:bodyPr>
          <a:lstStyle/>
          <a:p>
            <a:pPr algn="l">
              <a:spcAft>
                <a:spcPts val="0"/>
              </a:spcAft>
            </a:pPr>
            <a:r>
              <a:rPr sz="1800" b="1" i="0">
                <a:solidFill>
                  <a:srgbClr val="1B1B26"/>
                </a:solidFill>
                <a:latin typeface="Yu Gothic"/>
                <a:ea typeface="Yu Gothic"/>
                <a:cs typeface="Yu Gothic"/>
              </a:rPr>
              <a:t>完璧な形は求めません。加工・整形はすべてSTOで行います</a:t>
            </a:r>
          </a:p>
        </p:txBody>
      </p:sp>
      <p:sp>
        <p:nvSpPr>
          <p:cNvPr id="4" name="Rectangle 3"/>
          <p:cNvSpPr/>
          <p:nvPr/>
        </p:nvSpPr>
        <p:spPr>
          <a:xfrm>
            <a:off x="502920" y="1335024"/>
            <a:ext cx="11183112" cy="1143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847088"/>
          <a:ext cx="11183109" cy="4169663"/>
        </p:xfrm>
        <a:graphic>
          <a:graphicData uri="http://schemas.openxmlformats.org/drawingml/2006/table">
            <a:tbl>
              <a:tblPr firstRow="0" bandRow="0"/>
              <a:tblGrid>
                <a:gridCol w="1374972"/>
                <a:gridCol w="2749945"/>
                <a:gridCol w="3299934"/>
                <a:gridCol w="3758258"/>
              </a:tblGrid>
              <a:tr h="1042415">
                <a:tc>
                  <a:txBody>
                    <a:bodyPr wrap="square"/>
                    <a:lstStyle/>
                    <a:p>
                      <a:pPr algn="l">
                        <a:spcAft>
                          <a:spcPts val="0"/>
                        </a:spcAft>
                      </a:pPr>
                      <a:r>
                        <a:rPr sz="1000" b="1" i="0">
                          <a:solidFill>
                            <a:srgbClr val="1B1B26"/>
                          </a:solidFill>
                          <a:latin typeface="Yu Gothic"/>
                          <a:ea typeface="Yu Gothic"/>
                          <a:cs typeface="Yu Gothic"/>
                        </a:rPr>
                        <a:t>優先</a:t>
                      </a:r>
                    </a:p>
                  </a:txBody>
                  <a:tcPr marL="73152" marR="54864" marT="18288" marB="18288" anchor="ctr">
                    <a:solidFill>
                      <a:srgbClr val="EAF1FE"/>
                    </a:solidFill>
                    <a:lnB w="15240" cap="flat">
                      <a:solidFill>
                        <a:srgbClr val="2563EB"/>
                      </a:solidFill>
                    </a:lnB>
                    <a:lnT w="15240" cap="flat">
                      <a:solidFill>
                        <a:srgbClr val="2563EB"/>
                      </a:solidFill>
                    </a:lnT>
                  </a:tcPr>
                </a:tc>
                <a:tc>
                  <a:txBody>
                    <a:bodyPr wrap="square"/>
                    <a:lstStyle/>
                    <a:p>
                      <a:pPr algn="l">
                        <a:spcAft>
                          <a:spcPts val="0"/>
                        </a:spcAft>
                      </a:pPr>
                      <a:r>
                        <a:rPr sz="1000" b="1" i="0">
                          <a:solidFill>
                            <a:srgbClr val="1B1B26"/>
                          </a:solidFill>
                          <a:latin typeface="Yu Gothic"/>
                          <a:ea typeface="Yu Gothic"/>
                          <a:cs typeface="Yu Gothic"/>
                        </a:rPr>
                        <a:t>データ</a:t>
                      </a:r>
                    </a:p>
                  </a:txBody>
                  <a:tcPr marL="73152" marR="54864" marT="18288" marB="18288" anchor="ctr">
                    <a:solidFill>
                      <a:srgbClr val="EAF1FE"/>
                    </a:solidFill>
                    <a:lnB w="15240" cap="flat">
                      <a:solidFill>
                        <a:srgbClr val="2563EB"/>
                      </a:solidFill>
                    </a:lnB>
                    <a:lnT w="15240" cap="flat">
                      <a:solidFill>
                        <a:srgbClr val="2563EB"/>
                      </a:solidFill>
                    </a:lnT>
                  </a:tcPr>
                </a:tc>
                <a:tc>
                  <a:txBody>
                    <a:bodyPr wrap="square"/>
                    <a:lstStyle/>
                    <a:p>
                      <a:pPr algn="l">
                        <a:spcAft>
                          <a:spcPts val="0"/>
                        </a:spcAft>
                      </a:pPr>
                      <a:r>
                        <a:rPr sz="1000" b="1" i="0">
                          <a:solidFill>
                            <a:srgbClr val="1B1B26"/>
                          </a:solidFill>
                          <a:latin typeface="Yu Gothic"/>
                          <a:ea typeface="Yu Gothic"/>
                          <a:cs typeface="Yu Gothic"/>
                        </a:rPr>
                        <a:t>使い道</a:t>
                      </a:r>
                    </a:p>
                  </a:txBody>
                  <a:tcPr marL="73152" marR="54864" marT="18288" marB="18288" anchor="ctr">
                    <a:solidFill>
                      <a:srgbClr val="EAF1FE"/>
                    </a:solidFill>
                    <a:lnB w="15240" cap="flat">
                      <a:solidFill>
                        <a:srgbClr val="2563EB"/>
                      </a:solidFill>
                    </a:lnB>
                    <a:lnT w="15240" cap="flat">
                      <a:solidFill>
                        <a:srgbClr val="2563EB"/>
                      </a:solidFill>
                    </a:lnT>
                  </a:tcPr>
                </a:tc>
                <a:tc>
                  <a:txBody>
                    <a:bodyPr wrap="square"/>
                    <a:lstStyle/>
                    <a:p>
                      <a:pPr algn="l">
                        <a:spcAft>
                          <a:spcPts val="0"/>
                        </a:spcAft>
                      </a:pPr>
                      <a:r>
                        <a:rPr sz="1000" b="1" i="0">
                          <a:solidFill>
                            <a:srgbClr val="1B1B26"/>
                          </a:solidFill>
                          <a:latin typeface="Yu Gothic"/>
                          <a:ea typeface="Yu Gothic"/>
                          <a:cs typeface="Yu Gothic"/>
                        </a:rPr>
                        <a:t>お願いしたい形</a:t>
                      </a:r>
                    </a:p>
                  </a:txBody>
                  <a:tcPr marL="73152" marR="54864" marT="18288" marB="18288" anchor="ctr">
                    <a:solidFill>
                      <a:srgbClr val="EAF1FE"/>
                    </a:solidFill>
                    <a:lnB w="15240" cap="flat">
                      <a:solidFill>
                        <a:srgbClr val="2563EB"/>
                      </a:solidFill>
                    </a:lnB>
                    <a:lnT w="15240" cap="flat">
                      <a:solidFill>
                        <a:srgbClr val="2563EB"/>
                      </a:solidFill>
                    </a:lnT>
                  </a:tcPr>
                </a:tc>
              </a:tr>
              <a:tr h="1042415">
                <a:tc>
                  <a:txBody>
                    <a:bodyPr wrap="square"/>
                    <a:lstStyle/>
                    <a:p>
                      <a:pPr algn="l">
                        <a:spcAft>
                          <a:spcPts val="100"/>
                        </a:spcAft>
                      </a:pPr>
                      <a:r>
                        <a:rPr sz="950" b="1" i="0">
                          <a:solidFill>
                            <a:srgbClr val="FFFFFF"/>
                          </a:solidFill>
                          <a:latin typeface="Yu Gothic"/>
                          <a:ea typeface="Yu Gothic"/>
                          <a:cs typeface="Yu Gothic"/>
                        </a:rPr>
                        <a:t>1</a:t>
                      </a:r>
                    </a:p>
                    <a:p>
                      <a:pPr algn="l">
                        <a:spcAft>
                          <a:spcPts val="100"/>
                        </a:spcAft>
                      </a:pPr>
                      <a:r>
                        <a:rPr sz="950" b="1" i="0">
                          <a:solidFill>
                            <a:srgbClr val="FFFFFF"/>
                          </a:solidFill>
                          <a:latin typeface="Yu Gothic"/>
                          <a:ea typeface="Yu Gothic"/>
                          <a:cs typeface="Yu Gothic"/>
                        </a:rPr>
                        <a:t>最優先</a:t>
                      </a:r>
                    </a:p>
                    <a:p>
                      <a:pPr algn="l">
                        <a:spcAft>
                          <a:spcPts val="100"/>
                        </a:spcAft>
                      </a:pPr>
                      <a:r>
                        <a:rPr sz="950" b="1" i="0">
                          <a:solidFill>
                            <a:srgbClr val="FFFFFF"/>
                          </a:solidFill>
                          <a:latin typeface="Yu Gothic"/>
                          <a:ea typeface="Yu Gothic"/>
                          <a:cs typeface="Yu Gothic"/>
                        </a:rPr>
                        <a:t>（先日</a:t>
                      </a:r>
                    </a:p>
                    <a:p>
                      <a:pPr algn="l">
                        <a:spcAft>
                          <a:spcPts val="100"/>
                        </a:spcAft>
                      </a:pPr>
                      <a:r>
                        <a:rPr sz="950" b="1" i="0">
                          <a:solidFill>
                            <a:srgbClr val="FFFFFF"/>
                          </a:solidFill>
                          <a:latin typeface="Yu Gothic"/>
                          <a:ea typeface="Yu Gothic"/>
                          <a:cs typeface="Yu Gothic"/>
                        </a:rPr>
                        <a:t>依頼済み）</a:t>
                      </a:r>
                    </a:p>
                  </a:txBody>
                  <a:tcPr marL="73152" marR="54864" marT="18288" marB="18288" anchor="ctr">
                    <a:solidFill>
                      <a:srgbClr val="2563EB"/>
                    </a:solidFill>
                    <a:lnB w="9525" cap="flat">
                      <a:solidFill>
                        <a:srgbClr val="E5E7EB"/>
                      </a:solidFill>
                    </a:lnB>
                  </a:tcPr>
                </a:tc>
                <a:tc>
                  <a:txBody>
                    <a:bodyPr wrap="square"/>
                    <a:lstStyle/>
                    <a:p>
                      <a:pPr algn="l">
                        <a:spcAft>
                          <a:spcPts val="100"/>
                        </a:spcAft>
                      </a:pPr>
                      <a:r>
                        <a:rPr sz="950" b="0" i="0">
                          <a:solidFill>
                            <a:srgbClr val="1B1B26"/>
                          </a:solidFill>
                          <a:latin typeface="Yu Gothic"/>
                          <a:ea typeface="Yu Gothic"/>
                          <a:cs typeface="Yu Gothic"/>
                        </a:rPr>
                        <a:t>取引先別の</a:t>
                      </a:r>
                    </a:p>
                    <a:p>
                      <a:pPr algn="l">
                        <a:spcAft>
                          <a:spcPts val="100"/>
                        </a:spcAft>
                      </a:pPr>
                      <a:r>
                        <a:rPr sz="950" b="0" i="0">
                          <a:solidFill>
                            <a:srgbClr val="1B1B26"/>
                          </a:solidFill>
                          <a:latin typeface="Yu Gothic"/>
                          <a:ea typeface="Yu Gothic"/>
                          <a:cs typeface="Yu Gothic"/>
                        </a:rPr>
                        <a:t>売上明細</a:t>
                      </a:r>
                    </a:p>
                  </a:txBody>
                  <a:tcPr marL="73152" marR="54864" marT="18288" marB="18288" anchor="ctr">
                    <a:solidFill>
                      <a:srgbClr val="FFFFFF"/>
                    </a:solidFill>
                    <a:lnB w="9525" cap="flat">
                      <a:solidFill>
                        <a:srgbClr val="E5E7EB"/>
                      </a:solidFill>
                    </a:lnB>
                  </a:tcPr>
                </a:tc>
                <a:tc>
                  <a:txBody>
                    <a:bodyPr wrap="square"/>
                    <a:lstStyle/>
                    <a:p>
                      <a:pPr algn="l">
                        <a:spcAft>
                          <a:spcPts val="100"/>
                        </a:spcAft>
                      </a:pPr>
                      <a:r>
                        <a:rPr sz="950" b="0" i="0">
                          <a:solidFill>
                            <a:srgbClr val="1B1B26"/>
                          </a:solidFill>
                          <a:latin typeface="Yu Gothic"/>
                          <a:ea typeface="Yu Gothic"/>
                          <a:cs typeface="Yu Gothic"/>
                        </a:rPr>
                        <a:t>顧客746社への金額反映・取引実績スコアの自動判定</a:t>
                      </a:r>
                    </a:p>
                  </a:txBody>
                  <a:tcPr marL="73152" marR="54864" marT="18288" marB="18288" anchor="ctr">
                    <a:solidFill>
                      <a:srgbClr val="FFFFFF"/>
                    </a:solidFill>
                    <a:lnB w="9525" cap="flat">
                      <a:solidFill>
                        <a:srgbClr val="E5E7EB"/>
                      </a:solidFill>
                    </a:lnB>
                  </a:tcPr>
                </a:tc>
                <a:tc>
                  <a:txBody>
                    <a:bodyPr wrap="square"/>
                    <a:lstStyle/>
                    <a:p>
                      <a:pPr algn="l">
                        <a:spcAft>
                          <a:spcPts val="100"/>
                        </a:spcAft>
                      </a:pPr>
                      <a:r>
                        <a:rPr sz="950" b="0" i="0">
                          <a:solidFill>
                            <a:srgbClr val="1B1B26"/>
                          </a:solidFill>
                          <a:latin typeface="Yu Gothic"/>
                          <a:ea typeface="Yu Gothic"/>
                          <a:cs typeface="Yu Gothic"/>
                        </a:rPr>
                        <a:t>NX出力でも販売管理データでも可。取引先名（またはコード）×期別売上が分かれば加工はこちらで</a:t>
                      </a:r>
                    </a:p>
                  </a:txBody>
                  <a:tcPr marL="73152" marR="54864" marT="18288" marB="18288" anchor="ctr">
                    <a:solidFill>
                      <a:srgbClr val="FFFFFF"/>
                    </a:solidFill>
                    <a:lnB w="9525" cap="flat">
                      <a:solidFill>
                        <a:srgbClr val="E5E7EB"/>
                      </a:solidFill>
                    </a:lnB>
                  </a:tcPr>
                </a:tc>
              </a:tr>
              <a:tr h="1042415">
                <a:tc>
                  <a:txBody>
                    <a:bodyPr wrap="square"/>
                    <a:lstStyle/>
                    <a:p>
                      <a:pPr algn="l">
                        <a:spcAft>
                          <a:spcPts val="100"/>
                        </a:spcAft>
                      </a:pPr>
                      <a:r>
                        <a:rPr sz="950" b="1" i="0">
                          <a:solidFill>
                            <a:srgbClr val="2563EB"/>
                          </a:solidFill>
                          <a:latin typeface="Yu Gothic"/>
                          <a:ea typeface="Yu Gothic"/>
                          <a:cs typeface="Yu Gothic"/>
                        </a:rPr>
                        <a:t>2</a:t>
                      </a:r>
                    </a:p>
                  </a:txBody>
                  <a:tcPr marL="73152" marR="54864" marT="18288" marB="18288" anchor="ctr">
                    <a:solidFill>
                      <a:srgbClr val="FFFFFF"/>
                    </a:solidFill>
                    <a:lnB w="9525" cap="flat">
                      <a:solidFill>
                        <a:srgbClr val="E5E7EB"/>
                      </a:solidFill>
                    </a:lnB>
                  </a:tcPr>
                </a:tc>
                <a:tc>
                  <a:txBody>
                    <a:bodyPr wrap="square"/>
                    <a:lstStyle/>
                    <a:p>
                      <a:pPr algn="l">
                        <a:spcAft>
                          <a:spcPts val="100"/>
                        </a:spcAft>
                      </a:pPr>
                      <a:r>
                        <a:rPr sz="950" b="0" i="0">
                          <a:solidFill>
                            <a:srgbClr val="1B1B26"/>
                          </a:solidFill>
                          <a:latin typeface="Yu Gothic"/>
                          <a:ea typeface="Yu Gothic"/>
                          <a:cs typeface="Yu Gothic"/>
                        </a:rPr>
                        <a:t>作品別グロス収入と委員会別配分率（または委員会契約の一覧）</a:t>
                      </a:r>
                    </a:p>
                  </a:txBody>
                  <a:tcPr marL="73152" marR="54864" marT="18288" marB="18288" anchor="ctr">
                    <a:solidFill>
                      <a:srgbClr val="FFFFFF"/>
                    </a:solidFill>
                    <a:lnB w="9525" cap="flat">
                      <a:solidFill>
                        <a:srgbClr val="E5E7EB"/>
                      </a:solidFill>
                    </a:lnB>
                  </a:tcPr>
                </a:tc>
                <a:tc>
                  <a:txBody>
                    <a:bodyPr wrap="square"/>
                    <a:lstStyle/>
                    <a:p>
                      <a:pPr algn="l">
                        <a:spcAft>
                          <a:spcPts val="100"/>
                        </a:spcAft>
                      </a:pPr>
                      <a:r>
                        <a:rPr sz="950" b="0" i="0">
                          <a:solidFill>
                            <a:srgbClr val="1B1B26"/>
                          </a:solidFill>
                          <a:latin typeface="Yu Gothic"/>
                          <a:ea typeface="Yu Gothic"/>
                          <a:cs typeface="Yu Gothic"/>
                        </a:rPr>
                        <a:t>案件別粗利の推計（グロス×実効取り分率）。座組変更の早期検知</a:t>
                      </a:r>
                    </a:p>
                  </a:txBody>
                  <a:tcPr marL="73152" marR="54864" marT="18288" marB="18288" anchor="ctr">
                    <a:solidFill>
                      <a:srgbClr val="FFFFFF"/>
                    </a:solidFill>
                    <a:lnB w="9525" cap="flat">
                      <a:solidFill>
                        <a:srgbClr val="E5E7EB"/>
                      </a:solidFill>
                    </a:lnB>
                  </a:tcPr>
                </a:tc>
                <a:tc>
                  <a:txBody>
                    <a:bodyPr wrap="square"/>
                    <a:lstStyle/>
                    <a:p>
                      <a:pPr algn="l">
                        <a:spcAft>
                          <a:spcPts val="100"/>
                        </a:spcAft>
                      </a:pPr>
                      <a:r>
                        <a:rPr sz="950" b="0" i="0">
                          <a:solidFill>
                            <a:srgbClr val="1B1B26"/>
                          </a:solidFill>
                          <a:latin typeface="Yu Gothic"/>
                          <a:ea typeface="Yu Gothic"/>
                          <a:cs typeface="Yu Gothic"/>
                        </a:rPr>
                        <a:t>一覧がなければ「どの契約書を見れば分かるか」のご案内でも</a:t>
                      </a:r>
                    </a:p>
                  </a:txBody>
                  <a:tcPr marL="73152" marR="54864" marT="18288" marB="18288" anchor="ctr">
                    <a:solidFill>
                      <a:srgbClr val="FFFFFF"/>
                    </a:solidFill>
                    <a:lnB w="9525" cap="flat">
                      <a:solidFill>
                        <a:srgbClr val="E5E7EB"/>
                      </a:solidFill>
                    </a:lnB>
                  </a:tcPr>
                </a:tc>
              </a:tr>
              <a:tr h="1042418">
                <a:tc>
                  <a:txBody>
                    <a:bodyPr wrap="square"/>
                    <a:lstStyle/>
                    <a:p>
                      <a:pPr algn="l">
                        <a:spcAft>
                          <a:spcPts val="100"/>
                        </a:spcAft>
                      </a:pPr>
                      <a:r>
                        <a:rPr sz="950" b="1" i="0">
                          <a:solidFill>
                            <a:srgbClr val="2563EB"/>
                          </a:solidFill>
                          <a:latin typeface="Yu Gothic"/>
                          <a:ea typeface="Yu Gothic"/>
                          <a:cs typeface="Yu Gothic"/>
                        </a:rPr>
                        <a:t>3</a:t>
                      </a:r>
                    </a:p>
                  </a:txBody>
                  <a:tcPr marL="73152" marR="54864" marT="18288" marB="18288" anchor="ctr">
                    <a:solidFill>
                      <a:srgbClr val="FFFFFF"/>
                    </a:solidFill>
                    <a:lnB w="9525" cap="flat">
                      <a:solidFill>
                        <a:srgbClr val="E5E7EB"/>
                      </a:solidFill>
                    </a:lnB>
                  </a:tcPr>
                </a:tc>
                <a:tc>
                  <a:txBody>
                    <a:bodyPr wrap="square"/>
                    <a:lstStyle/>
                    <a:p>
                      <a:pPr algn="l">
                        <a:spcAft>
                          <a:spcPts val="100"/>
                        </a:spcAft>
                      </a:pPr>
                      <a:r>
                        <a:rPr sz="950" b="0" i="0">
                          <a:solidFill>
                            <a:srgbClr val="1B1B26"/>
                          </a:solidFill>
                          <a:latin typeface="Yu Gothic"/>
                          <a:ea typeface="Yu Gothic"/>
                          <a:cs typeface="Yu Gothic"/>
                        </a:rPr>
                        <a:t>親セグメント名称と作品・部門の対応表</a:t>
                      </a:r>
                    </a:p>
                  </a:txBody>
                  <a:tcPr marL="73152" marR="54864" marT="18288" marB="18288" anchor="ctr">
                    <a:solidFill>
                      <a:srgbClr val="FFFFFF"/>
                    </a:solidFill>
                    <a:lnB w="9525" cap="flat">
                      <a:solidFill>
                        <a:srgbClr val="E5E7EB"/>
                      </a:solidFill>
                    </a:lnB>
                  </a:tcPr>
                </a:tc>
                <a:tc>
                  <a:txBody>
                    <a:bodyPr wrap="square"/>
                    <a:lstStyle/>
                    <a:p>
                      <a:pPr algn="l">
                        <a:spcAft>
                          <a:spcPts val="100"/>
                        </a:spcAft>
                      </a:pPr>
                      <a:r>
                        <a:rPr sz="950" b="0" i="0">
                          <a:solidFill>
                            <a:srgbClr val="1B1B26"/>
                          </a:solidFill>
                          <a:latin typeface="Yu Gothic"/>
                          <a:ea typeface="Yu Gothic"/>
                          <a:cs typeface="Yu Gothic"/>
                        </a:rPr>
                        <a:t>営業領域別の集計</a:t>
                      </a:r>
                    </a:p>
                  </a:txBody>
                  <a:tcPr marL="73152" marR="54864" marT="18288" marB="18288" anchor="ctr">
                    <a:solidFill>
                      <a:srgbClr val="FFFFFF"/>
                    </a:solidFill>
                    <a:lnB w="9525" cap="flat">
                      <a:solidFill>
                        <a:srgbClr val="E5E7EB"/>
                      </a:solidFill>
                    </a:lnB>
                  </a:tcPr>
                </a:tc>
                <a:tc>
                  <a:txBody>
                    <a:bodyPr wrap="square"/>
                    <a:lstStyle/>
                    <a:p>
                      <a:pPr algn="l">
                        <a:spcAft>
                          <a:spcPts val="100"/>
                        </a:spcAft>
                      </a:pPr>
                      <a:r>
                        <a:rPr sz="950" b="0" i="0">
                          <a:solidFill>
                            <a:srgbClr val="1B1B26"/>
                          </a:solidFill>
                          <a:latin typeface="Yu Gothic"/>
                          <a:ea typeface="Yu Gothic"/>
                          <a:cs typeface="Yu Gothic"/>
                        </a:rPr>
                        <a:t>既存の管理資料があればそのままで</a:t>
                      </a:r>
                    </a:p>
                  </a:txBody>
                  <a:tcPr marL="73152" marR="54864" marT="18288" marB="18288" anchor="ctr">
                    <a:solidFill>
                      <a:srgbClr val="FFFFFF"/>
                    </a:solidFill>
                    <a:lnB w="9525" cap="flat">
                      <a:solidFill>
                        <a:srgbClr val="E5E7EB"/>
                      </a:solidFill>
                    </a:lnB>
                  </a:tcPr>
                </a:tc>
              </a:tr>
            </a:tbl>
          </a:graphicData>
        </a:graphic>
      </p:graphicFrame>
      <p:sp>
        <p:nvSpPr>
          <p:cNvPr id="6" name="Rectangle 5"/>
          <p:cNvSpPr/>
          <p:nvPr/>
        </p:nvSpPr>
        <p:spPr>
          <a:xfrm>
            <a:off x="502920" y="5797296"/>
            <a:ext cx="11183112" cy="603504"/>
          </a:xfrm>
          <a:prstGeom prst="rect">
            <a:avLst/>
          </a:prstGeom>
          <a:solidFill>
            <a:srgbClr val="EA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797296"/>
            <a:ext cx="38100" cy="6035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852160"/>
            <a:ext cx="10835640" cy="493776"/>
          </a:xfrm>
          <a:prstGeom prst="rect">
            <a:avLst/>
          </a:prstGeom>
          <a:noFill/>
        </p:spPr>
        <p:txBody>
          <a:bodyPr wrap="square" lIns="0" rIns="0" tIns="0" bIns="0" anchor="ctr">
            <a:spAutoFit/>
          </a:bodyPr>
          <a:lstStyle/>
          <a:p>
            <a:pPr algn="l">
              <a:spcAft>
                <a:spcPts val="0"/>
              </a:spcAft>
            </a:pPr>
            <a:r>
              <a:rPr sz="1050" b="1" i="0">
                <a:solidFill>
                  <a:srgbClr val="1E40AF"/>
                </a:solidFill>
                <a:latin typeface="Yu Gothic"/>
                <a:ea typeface="Yu Gothic"/>
                <a:cs typeface="Yu Gothic"/>
              </a:rPr>
              <a:t>完璧な形は求めません。出しやすい形でいただければ、加工・整形はすべてSTO（坪井）でやります。</a:t>
            </a:r>
          </a:p>
        </p:txBody>
      </p:sp>
      <p:sp>
        <p:nvSpPr>
          <p:cNvPr id="9" name="Rectangle 8"/>
          <p:cNvSpPr/>
          <p:nvPr/>
        </p:nvSpPr>
        <p:spPr>
          <a:xfrm>
            <a:off x="502920" y="6510528"/>
            <a:ext cx="11183112" cy="1524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65392"/>
            <a:ext cx="8686800" cy="274320"/>
          </a:xfrm>
          <a:prstGeom prst="rect">
            <a:avLst/>
          </a:prstGeom>
          <a:noFill/>
        </p:spPr>
        <p:txBody>
          <a:bodyPr wrap="square" lIns="0" rIns="0" tIns="0" bIns="0">
            <a:spAutoFit/>
          </a:bodyPr>
          <a:lstStyle/>
          <a:p>
            <a:pPr algn="l">
              <a:spcAft>
                <a:spcPts val="400"/>
              </a:spcAft>
            </a:pPr>
            <a:r>
              <a:rPr sz="750" b="0" i="0">
                <a:solidFill>
                  <a:srgbClr val="8A8F9C"/>
                </a:solidFill>
                <a:latin typeface="Yu Gothic"/>
                <a:ea typeface="Yu Gothic"/>
                <a:cs typeface="Yu Gothic"/>
              </a:rPr>
              <a:t>円谷プロダクション 営業改革 | 社外秘</a:t>
            </a:r>
          </a:p>
        </p:txBody>
      </p:sp>
      <p:sp>
        <p:nvSpPr>
          <p:cNvPr id="11" name="TextBox 10"/>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6B7280"/>
                </a:solidFill>
                <a:latin typeface="Yu Gothic"/>
                <a:ea typeface="Yu Gothic"/>
                <a:cs typeface="Yu Gothic"/>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274320"/>
            <a:ext cx="2141981" cy="274320"/>
          </a:xfrm>
          <a:prstGeom prst="roundRect">
            <a:avLst>
              <a:gd name="adj" fmla="val 50000"/>
            </a:avLst>
          </a:prstGeom>
          <a:solidFill>
            <a:srgbClr val="EA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l">
              <a:spcAft>
                <a:spcPts val="0"/>
              </a:spcAft>
            </a:pPr>
            <a:r>
              <a:rPr sz="900" b="1" i="0">
                <a:solidFill>
                  <a:srgbClr val="2563EB"/>
                </a:solidFill>
                <a:latin typeface="Yu Gothic"/>
                <a:ea typeface="Yu Gothic"/>
                <a:cs typeface="Yu Gothic"/>
              </a:rPr>
              <a:t>お願い② 知恵のご提供（2点）</a:t>
            </a:r>
          </a:p>
        </p:txBody>
      </p:sp>
      <p:sp>
        <p:nvSpPr>
          <p:cNvPr id="3" name="TextBox 2"/>
          <p:cNvSpPr txBox="1"/>
          <p:nvPr/>
        </p:nvSpPr>
        <p:spPr>
          <a:xfrm>
            <a:off x="502920" y="566928"/>
            <a:ext cx="11155680" cy="804672"/>
          </a:xfrm>
          <a:prstGeom prst="rect">
            <a:avLst/>
          </a:prstGeom>
          <a:noFill/>
        </p:spPr>
        <p:txBody>
          <a:bodyPr wrap="square" lIns="0" rIns="0" tIns="0" bIns="0">
            <a:spAutoFit/>
          </a:bodyPr>
          <a:lstStyle/>
          <a:p>
            <a:pPr algn="l">
              <a:spcAft>
                <a:spcPts val="0"/>
              </a:spcAft>
            </a:pPr>
            <a:r>
              <a:rPr sz="1800" b="1" i="0">
                <a:solidFill>
                  <a:srgbClr val="1B1B26"/>
                </a:solidFill>
                <a:latin typeface="Yu Gothic"/>
                <a:ea typeface="Yu Gothic"/>
                <a:cs typeface="Yu Gothic"/>
              </a:rPr>
              <a:t>データだけでなく、読み方と算定ルールの知恵をお借りしたい</a:t>
            </a:r>
          </a:p>
        </p:txBody>
      </p:sp>
      <p:sp>
        <p:nvSpPr>
          <p:cNvPr id="4" name="Rectangle 3"/>
          <p:cNvSpPr/>
          <p:nvPr/>
        </p:nvSpPr>
        <p:spPr>
          <a:xfrm>
            <a:off x="502920" y="1335024"/>
            <a:ext cx="11183112" cy="1143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920240"/>
            <a:ext cx="5504688" cy="301752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920240"/>
            <a:ext cx="5504688"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31136"/>
            <a:ext cx="566928" cy="56692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Aft>
                <a:spcPts val="0"/>
              </a:spcAft>
            </a:pPr>
            <a:r>
              <a:rPr sz="2200" b="1" i="0">
                <a:solidFill>
                  <a:srgbClr val="FFFFFF"/>
                </a:solidFill>
                <a:latin typeface="Yu Gothic"/>
                <a:ea typeface="Yu Gothic"/>
                <a:cs typeface="Yu Gothic"/>
              </a:rPr>
              <a:t>①</a:t>
            </a:r>
          </a:p>
        </p:txBody>
      </p:sp>
      <p:sp>
        <p:nvSpPr>
          <p:cNvPr id="8" name="TextBox 7"/>
          <p:cNvSpPr txBox="1"/>
          <p:nvPr/>
        </p:nvSpPr>
        <p:spPr>
          <a:xfrm>
            <a:off x="1508760" y="2267712"/>
            <a:ext cx="4261104" cy="566928"/>
          </a:xfrm>
          <a:prstGeom prst="rect">
            <a:avLst/>
          </a:prstGeom>
          <a:noFill/>
        </p:spPr>
        <p:txBody>
          <a:bodyPr wrap="square" lIns="0" rIns="0" tIns="0" bIns="0" anchor="ctr">
            <a:spAutoFit/>
          </a:bodyPr>
          <a:lstStyle/>
          <a:p>
            <a:pPr algn="l">
              <a:spcAft>
                <a:spcPts val="0"/>
              </a:spcAft>
            </a:pPr>
            <a:r>
              <a:rPr sz="1350" b="1" i="0">
                <a:solidFill>
                  <a:srgbClr val="1E40AF"/>
                </a:solidFill>
                <a:latin typeface="Yu Gothic"/>
                <a:ea typeface="Yu Gothic"/>
                <a:cs typeface="Yu Gothic"/>
              </a:rPr>
              <a:t>対応表づくりのヒアリング（1時間×1回）</a:t>
            </a:r>
          </a:p>
        </p:txBody>
      </p:sp>
      <p:sp>
        <p:nvSpPr>
          <p:cNvPr id="9" name="TextBox 8"/>
          <p:cNvSpPr txBox="1"/>
          <p:nvPr/>
        </p:nvSpPr>
        <p:spPr>
          <a:xfrm>
            <a:off x="813816" y="3090672"/>
            <a:ext cx="4882896" cy="1737360"/>
          </a:xfrm>
          <a:prstGeom prst="rect">
            <a:avLst/>
          </a:prstGeom>
          <a:noFill/>
        </p:spPr>
        <p:txBody>
          <a:bodyPr wrap="square" lIns="0" rIns="0" tIns="0" bIns="0">
            <a:spAutoFit/>
          </a:bodyPr>
          <a:lstStyle/>
          <a:p>
            <a:pPr algn="l">
              <a:spcAft>
                <a:spcPts val="700"/>
              </a:spcAft>
            </a:pPr>
            <a:r>
              <a:rPr sz="1100" b="0" i="0">
                <a:solidFill>
                  <a:srgbClr val="1B1B26"/>
                </a:solidFill>
                <a:latin typeface="Yu Gothic"/>
                <a:ea typeface="Yu Gothic"/>
                <a:cs typeface="Yu Gothic"/>
              </a:rPr>
              <a:t>営業の顧客 ⇔ 財務の取引先 ⇔ 委員会・中間支払先 の対応表を設計したい。</a:t>
            </a:r>
          </a:p>
          <a:p>
            <a:pPr algn="l">
              <a:spcAft>
                <a:spcPts val="700"/>
              </a:spcAft>
            </a:pPr>
            <a:r>
              <a:rPr sz="1100" b="0" i="0">
                <a:solidFill>
                  <a:srgbClr val="1B1B26"/>
                </a:solidFill>
                <a:latin typeface="Yu Gothic"/>
                <a:ea typeface="Yu Gothic"/>
                <a:cs typeface="Yu Gothic"/>
              </a:rPr>
              <a:t>財務側データの「この名義は何か」（実取引先か・決済代行か・委員会か）を教えてください。</a:t>
            </a:r>
          </a:p>
          <a:p>
            <a:pPr algn="l">
              <a:spcAft>
                <a:spcPts val="700"/>
              </a:spcAft>
            </a:pPr>
            <a:r>
              <a:rPr sz="1100" b="0" i="0">
                <a:solidFill>
                  <a:srgbClr val="1B1B26"/>
                </a:solidFill>
                <a:latin typeface="Yu Gothic"/>
                <a:ea typeface="Yu Gothic"/>
                <a:cs typeface="Yu Gothic"/>
              </a:rPr>
              <a:t>坪井が設計案を持参し、新谷も同席します。</a:t>
            </a:r>
          </a:p>
        </p:txBody>
      </p:sp>
      <p:sp>
        <p:nvSpPr>
          <p:cNvPr id="10" name="Rectangle 9"/>
          <p:cNvSpPr/>
          <p:nvPr/>
        </p:nvSpPr>
        <p:spPr>
          <a:xfrm>
            <a:off x="6181344" y="1920240"/>
            <a:ext cx="5504688" cy="301752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81344" y="1920240"/>
            <a:ext cx="5504688"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55664" y="2231136"/>
            <a:ext cx="566928" cy="56692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Aft>
                <a:spcPts val="0"/>
              </a:spcAft>
            </a:pPr>
            <a:r>
              <a:rPr sz="2200" b="1" i="0">
                <a:solidFill>
                  <a:srgbClr val="FFFFFF"/>
                </a:solidFill>
                <a:latin typeface="Yu Gothic"/>
                <a:ea typeface="Yu Gothic"/>
                <a:cs typeface="Yu Gothic"/>
              </a:rPr>
              <a:t>②</a:t>
            </a:r>
          </a:p>
        </p:txBody>
      </p:sp>
      <p:sp>
        <p:nvSpPr>
          <p:cNvPr id="13" name="TextBox 12"/>
          <p:cNvSpPr txBox="1"/>
          <p:nvPr/>
        </p:nvSpPr>
        <p:spPr>
          <a:xfrm>
            <a:off x="7187184" y="2267712"/>
            <a:ext cx="4261104" cy="566928"/>
          </a:xfrm>
          <a:prstGeom prst="rect">
            <a:avLst/>
          </a:prstGeom>
          <a:noFill/>
        </p:spPr>
        <p:txBody>
          <a:bodyPr wrap="square" lIns="0" rIns="0" tIns="0" bIns="0" anchor="ctr">
            <a:spAutoFit/>
          </a:bodyPr>
          <a:lstStyle/>
          <a:p>
            <a:pPr algn="l">
              <a:spcAft>
                <a:spcPts val="0"/>
              </a:spcAft>
            </a:pPr>
            <a:r>
              <a:rPr sz="1350" b="1" i="0">
                <a:solidFill>
                  <a:srgbClr val="1E40AF"/>
                </a:solidFill>
                <a:latin typeface="Yu Gothic"/>
                <a:ea typeface="Yu Gothic"/>
                <a:cs typeface="Yu Gothic"/>
              </a:rPr>
              <a:t>粗利算定ルールの検証</a:t>
            </a:r>
          </a:p>
        </p:txBody>
      </p:sp>
      <p:sp>
        <p:nvSpPr>
          <p:cNvPr id="14" name="TextBox 13"/>
          <p:cNvSpPr txBox="1"/>
          <p:nvPr/>
        </p:nvSpPr>
        <p:spPr>
          <a:xfrm>
            <a:off x="6492240" y="3090672"/>
            <a:ext cx="4882896" cy="1737360"/>
          </a:xfrm>
          <a:prstGeom prst="rect">
            <a:avLst/>
          </a:prstGeom>
          <a:noFill/>
        </p:spPr>
        <p:txBody>
          <a:bodyPr wrap="square" lIns="0" rIns="0" tIns="0" bIns="0">
            <a:spAutoFit/>
          </a:bodyPr>
          <a:lstStyle/>
          <a:p>
            <a:pPr algn="l">
              <a:spcAft>
                <a:spcPts val="700"/>
              </a:spcAft>
            </a:pPr>
            <a:r>
              <a:rPr sz="1100" b="0" i="0">
                <a:solidFill>
                  <a:srgbClr val="1B1B26"/>
                </a:solidFill>
                <a:latin typeface="Yu Gothic"/>
                <a:ea typeface="Yu Gothic"/>
                <a:cs typeface="Yu Gothic"/>
              </a:rPr>
              <a:t>「案件別粗利 ≒ グロス収入 × 作品別実効取り分率」という推計方法の妥当性を見てください。</a:t>
            </a:r>
          </a:p>
          <a:p>
            <a:pPr algn="l">
              <a:spcAft>
                <a:spcPts val="700"/>
              </a:spcAft>
            </a:pPr>
            <a:r>
              <a:rPr sz="1100" b="0" i="0">
                <a:solidFill>
                  <a:srgbClr val="1B1B26"/>
                </a:solidFill>
                <a:latin typeface="Yu Gothic"/>
                <a:ea typeface="Yu Gothic"/>
                <a:cs typeface="Yu Gothic"/>
              </a:rPr>
              <a:t>他社分消去のパターンA（純額）／B（総額）の使い分け、</a:t>
            </a:r>
          </a:p>
          <a:p>
            <a:pPr algn="l">
              <a:spcAft>
                <a:spcPts val="700"/>
              </a:spcAft>
            </a:pPr>
            <a:r>
              <a:rPr sz="1100" b="0" i="0">
                <a:solidFill>
                  <a:srgbClr val="1B1B26"/>
                </a:solidFill>
                <a:latin typeface="Yu Gothic"/>
                <a:ea typeface="Yu Gothic"/>
                <a:cs typeface="Yu Gothic"/>
              </a:rPr>
              <a:t>消去とグロスの突合キーの有無なども確認したい。</a:t>
            </a:r>
          </a:p>
        </p:txBody>
      </p:sp>
      <p:sp>
        <p:nvSpPr>
          <p:cNvPr id="15" name="Rectangle 14"/>
          <p:cNvSpPr/>
          <p:nvPr/>
        </p:nvSpPr>
        <p:spPr>
          <a:xfrm>
            <a:off x="502920" y="5175504"/>
            <a:ext cx="11183112" cy="859536"/>
          </a:xfrm>
          <a:prstGeom prst="rect">
            <a:avLst/>
          </a:prstGeom>
          <a:solidFill>
            <a:srgbClr val="EA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5175504"/>
            <a:ext cx="38100" cy="859536"/>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230368"/>
            <a:ext cx="10835640" cy="749808"/>
          </a:xfrm>
          <a:prstGeom prst="rect">
            <a:avLst/>
          </a:prstGeom>
          <a:noFill/>
        </p:spPr>
        <p:txBody>
          <a:bodyPr wrap="square" lIns="0" rIns="0" tIns="0" bIns="0" anchor="ctr">
            <a:spAutoFit/>
          </a:bodyPr>
          <a:lstStyle/>
          <a:p>
            <a:pPr algn="l">
              <a:spcAft>
                <a:spcPts val="0"/>
              </a:spcAft>
            </a:pPr>
            <a:r>
              <a:rPr sz="1050" b="1" i="0">
                <a:solidFill>
                  <a:srgbClr val="2563EB"/>
                </a:solidFill>
                <a:latin typeface="Yu Gothic"/>
                <a:ea typeface="Yu Gothic"/>
                <a:cs typeface="Yu Gothic"/>
              </a:rPr>
              <a:t>出発点　</a:t>
            </a:r>
            <a:r>
              <a:rPr sz="1050" b="0" i="0">
                <a:solidFill>
                  <a:srgbClr val="1B1B26"/>
                </a:solidFill>
                <a:latin typeface="Yu Gothic"/>
                <a:ea typeface="Yu Gothic"/>
                <a:cs typeface="Yu Gothic"/>
              </a:rPr>
              <a:t>青山さんからいただいた他社分消去のご説明が出発点です。『間違ってたらご指摘を』とのことでしたので、まさにそのご指摘をいただく場を作りたいと思っています。</a:t>
            </a:r>
          </a:p>
        </p:txBody>
      </p:sp>
      <p:sp>
        <p:nvSpPr>
          <p:cNvPr id="18" name="Rectangle 17"/>
          <p:cNvSpPr/>
          <p:nvPr/>
        </p:nvSpPr>
        <p:spPr>
          <a:xfrm>
            <a:off x="502920" y="6510528"/>
            <a:ext cx="11183112" cy="1524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6565392"/>
            <a:ext cx="8686800" cy="274320"/>
          </a:xfrm>
          <a:prstGeom prst="rect">
            <a:avLst/>
          </a:prstGeom>
          <a:noFill/>
        </p:spPr>
        <p:txBody>
          <a:bodyPr wrap="square" lIns="0" rIns="0" tIns="0" bIns="0">
            <a:spAutoFit/>
          </a:bodyPr>
          <a:lstStyle/>
          <a:p>
            <a:pPr algn="l">
              <a:spcAft>
                <a:spcPts val="400"/>
              </a:spcAft>
            </a:pPr>
            <a:r>
              <a:rPr sz="750" b="0" i="0">
                <a:solidFill>
                  <a:srgbClr val="8A8F9C"/>
                </a:solidFill>
                <a:latin typeface="Yu Gothic"/>
                <a:ea typeface="Yu Gothic"/>
                <a:cs typeface="Yu Gothic"/>
              </a:rPr>
              <a:t>円谷プロダクション 営業改革 | 社外秘</a:t>
            </a:r>
          </a:p>
        </p:txBody>
      </p:sp>
      <p:sp>
        <p:nvSpPr>
          <p:cNvPr id="20" name="TextBox 19"/>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6B7280"/>
                </a:solidFill>
                <a:latin typeface="Yu Gothic"/>
                <a:ea typeface="Yu Gothic"/>
                <a:cs typeface="Yu Gothic"/>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274320"/>
            <a:ext cx="1874519" cy="274320"/>
          </a:xfrm>
          <a:prstGeom prst="roundRect">
            <a:avLst>
              <a:gd name="adj" fmla="val 50000"/>
            </a:avLst>
          </a:prstGeom>
          <a:solidFill>
            <a:srgbClr val="EA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l">
              <a:spcAft>
                <a:spcPts val="0"/>
              </a:spcAft>
            </a:pPr>
            <a:r>
              <a:rPr sz="900" b="1" i="0">
                <a:solidFill>
                  <a:srgbClr val="2563EB"/>
                </a:solidFill>
                <a:latin typeface="Yu Gothic"/>
                <a:ea typeface="Yu Gothic"/>
                <a:cs typeface="Yu Gothic"/>
              </a:rPr>
              <a:t>進め方と本日決めたいこと</a:t>
            </a:r>
          </a:p>
        </p:txBody>
      </p:sp>
      <p:sp>
        <p:nvSpPr>
          <p:cNvPr id="3" name="TextBox 2"/>
          <p:cNvSpPr txBox="1"/>
          <p:nvPr/>
        </p:nvSpPr>
        <p:spPr>
          <a:xfrm>
            <a:off x="502920" y="566928"/>
            <a:ext cx="11155680" cy="804672"/>
          </a:xfrm>
          <a:prstGeom prst="rect">
            <a:avLst/>
          </a:prstGeom>
          <a:noFill/>
        </p:spPr>
        <p:txBody>
          <a:bodyPr wrap="square" lIns="0" rIns="0" tIns="0" bIns="0">
            <a:spAutoFit/>
          </a:bodyPr>
          <a:lstStyle/>
          <a:p>
            <a:pPr algn="l">
              <a:spcAft>
                <a:spcPts val="0"/>
              </a:spcAft>
            </a:pPr>
            <a:r>
              <a:rPr sz="1800" b="1" i="0">
                <a:solidFill>
                  <a:srgbClr val="1B1B26"/>
                </a:solidFill>
                <a:latin typeface="Yu Gothic"/>
                <a:ea typeface="Yu Gothic"/>
                <a:cs typeface="Yu Gothic"/>
              </a:rPr>
              <a:t>柳沼さんの負荷を最小に。この場で方向だけ合わせられれば十分です</a:t>
            </a:r>
          </a:p>
        </p:txBody>
      </p:sp>
      <p:sp>
        <p:nvSpPr>
          <p:cNvPr id="4" name="Rectangle 3"/>
          <p:cNvSpPr/>
          <p:nvPr/>
        </p:nvSpPr>
        <p:spPr>
          <a:xfrm>
            <a:off x="502920" y="1335024"/>
            <a:ext cx="11183112" cy="1143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975104"/>
            <a:ext cx="5486400" cy="3218688"/>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975104"/>
            <a:ext cx="5486400" cy="47548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975104"/>
            <a:ext cx="5486400" cy="475488"/>
          </a:xfrm>
          <a:prstGeom prst="rect">
            <a:avLst/>
          </a:prstGeom>
          <a:noFill/>
        </p:spPr>
        <p:txBody>
          <a:bodyPr wrap="square" lIns="0" rIns="0" tIns="0" bIns="0" anchor="ctr">
            <a:spAutoFit/>
          </a:bodyPr>
          <a:lstStyle/>
          <a:p>
            <a:pPr algn="ctr">
              <a:spcAft>
                <a:spcPts val="0"/>
              </a:spcAft>
            </a:pPr>
            <a:r>
              <a:rPr sz="1250" b="1" i="0">
                <a:solidFill>
                  <a:srgbClr val="FFFFFF"/>
                </a:solidFill>
                <a:latin typeface="Yu Gothic"/>
                <a:ea typeface="Yu Gothic"/>
                <a:cs typeface="Yu Gothic"/>
              </a:rPr>
              <a:t>進め方（負荷の設計）</a:t>
            </a:r>
          </a:p>
        </p:txBody>
      </p:sp>
      <p:sp>
        <p:nvSpPr>
          <p:cNvPr id="8" name="Rectangle 7"/>
          <p:cNvSpPr/>
          <p:nvPr/>
        </p:nvSpPr>
        <p:spPr>
          <a:xfrm>
            <a:off x="658368" y="2633472"/>
            <a:ext cx="1188720" cy="384048"/>
          </a:xfrm>
          <a:prstGeom prst="rect">
            <a:avLst/>
          </a:prstGeom>
          <a:solidFill>
            <a:srgbClr val="EA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633472"/>
            <a:ext cx="1188720" cy="384048"/>
          </a:xfrm>
          <a:prstGeom prst="rect">
            <a:avLst/>
          </a:prstGeom>
          <a:noFill/>
        </p:spPr>
        <p:txBody>
          <a:bodyPr wrap="square" lIns="0" rIns="0" tIns="0" bIns="0" anchor="ctr">
            <a:spAutoFit/>
          </a:bodyPr>
          <a:lstStyle/>
          <a:p>
            <a:pPr algn="ctr">
              <a:spcAft>
                <a:spcPts val="0"/>
              </a:spcAft>
            </a:pPr>
            <a:r>
              <a:rPr sz="1050" b="1" i="0">
                <a:solidFill>
                  <a:srgbClr val="2563EB"/>
                </a:solidFill>
                <a:latin typeface="Yu Gothic"/>
                <a:ea typeface="Yu Gothic"/>
                <a:cs typeface="Yu Gothic"/>
              </a:rPr>
              <a:t>週2〜3h</a:t>
            </a:r>
          </a:p>
        </p:txBody>
      </p:sp>
      <p:sp>
        <p:nvSpPr>
          <p:cNvPr id="10" name="TextBox 9"/>
          <p:cNvSpPr txBox="1"/>
          <p:nvPr/>
        </p:nvSpPr>
        <p:spPr>
          <a:xfrm>
            <a:off x="1956816" y="2578608"/>
            <a:ext cx="3931920" cy="621792"/>
          </a:xfrm>
          <a:prstGeom prst="rect">
            <a:avLst/>
          </a:prstGeom>
          <a:noFill/>
        </p:spPr>
        <p:txBody>
          <a:bodyPr wrap="square" lIns="0" rIns="0" tIns="0" bIns="0" anchor="ctr">
            <a:spAutoFit/>
          </a:bodyPr>
          <a:lstStyle/>
          <a:p>
            <a:pPr algn="l">
              <a:spcAft>
                <a:spcPts val="0"/>
              </a:spcAft>
            </a:pPr>
            <a:r>
              <a:rPr sz="1000" b="0" i="0">
                <a:solidFill>
                  <a:srgbClr val="1B1B26"/>
                </a:solidFill>
                <a:latin typeface="Yu Gothic"/>
                <a:ea typeface="Yu Gothic"/>
                <a:cs typeface="Yu Gothic"/>
              </a:rPr>
              <a:t>受け渡しと検証のときだけお時間をいただきます（定例出席は不要）</a:t>
            </a:r>
          </a:p>
        </p:txBody>
      </p:sp>
      <p:sp>
        <p:nvSpPr>
          <p:cNvPr id="11" name="Rectangle 10"/>
          <p:cNvSpPr/>
          <p:nvPr/>
        </p:nvSpPr>
        <p:spPr>
          <a:xfrm>
            <a:off x="658368" y="3255264"/>
            <a:ext cx="1188720" cy="384048"/>
          </a:xfrm>
          <a:prstGeom prst="rect">
            <a:avLst/>
          </a:prstGeom>
          <a:solidFill>
            <a:srgbClr val="EA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255264"/>
            <a:ext cx="1188720" cy="384048"/>
          </a:xfrm>
          <a:prstGeom prst="rect">
            <a:avLst/>
          </a:prstGeom>
          <a:noFill/>
        </p:spPr>
        <p:txBody>
          <a:bodyPr wrap="square" lIns="0" rIns="0" tIns="0" bIns="0" anchor="ctr">
            <a:spAutoFit/>
          </a:bodyPr>
          <a:lstStyle/>
          <a:p>
            <a:pPr algn="ctr">
              <a:spcAft>
                <a:spcPts val="0"/>
              </a:spcAft>
            </a:pPr>
            <a:r>
              <a:rPr sz="1050" b="1" i="0">
                <a:solidFill>
                  <a:srgbClr val="2563EB"/>
                </a:solidFill>
                <a:latin typeface="Yu Gothic"/>
                <a:ea typeface="Yu Gothic"/>
                <a:cs typeface="Yu Gothic"/>
              </a:rPr>
              <a:t>窓口一本化</a:t>
            </a:r>
          </a:p>
        </p:txBody>
      </p:sp>
      <p:sp>
        <p:nvSpPr>
          <p:cNvPr id="13" name="TextBox 12"/>
          <p:cNvSpPr txBox="1"/>
          <p:nvPr/>
        </p:nvSpPr>
        <p:spPr>
          <a:xfrm>
            <a:off x="1956816" y="3200400"/>
            <a:ext cx="3931920" cy="621792"/>
          </a:xfrm>
          <a:prstGeom prst="rect">
            <a:avLst/>
          </a:prstGeom>
          <a:noFill/>
        </p:spPr>
        <p:txBody>
          <a:bodyPr wrap="square" lIns="0" rIns="0" tIns="0" bIns="0" anchor="ctr">
            <a:spAutoFit/>
          </a:bodyPr>
          <a:lstStyle/>
          <a:p>
            <a:pPr algn="l">
              <a:spcAft>
                <a:spcPts val="0"/>
              </a:spcAft>
            </a:pPr>
            <a:r>
              <a:rPr sz="1000" b="0" i="0">
                <a:solidFill>
                  <a:srgbClr val="1B1B26"/>
                </a:solidFill>
                <a:latin typeface="Yu Gothic"/>
                <a:ea typeface="Yu Gothic"/>
                <a:cs typeface="Yu Gothic"/>
              </a:rPr>
              <a:t>窓口は坪井さんに一本化。細かなやり取りで時間を奪いません</a:t>
            </a:r>
          </a:p>
        </p:txBody>
      </p:sp>
      <p:sp>
        <p:nvSpPr>
          <p:cNvPr id="14" name="Rectangle 13"/>
          <p:cNvSpPr/>
          <p:nvPr/>
        </p:nvSpPr>
        <p:spPr>
          <a:xfrm>
            <a:off x="658368" y="3877056"/>
            <a:ext cx="1188720" cy="384048"/>
          </a:xfrm>
          <a:prstGeom prst="rect">
            <a:avLst/>
          </a:prstGeom>
          <a:solidFill>
            <a:srgbClr val="EA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3877056"/>
            <a:ext cx="1188720" cy="384048"/>
          </a:xfrm>
          <a:prstGeom prst="rect">
            <a:avLst/>
          </a:prstGeom>
          <a:noFill/>
        </p:spPr>
        <p:txBody>
          <a:bodyPr wrap="square" lIns="0" rIns="0" tIns="0" bIns="0" anchor="ctr">
            <a:spAutoFit/>
          </a:bodyPr>
          <a:lstStyle/>
          <a:p>
            <a:pPr algn="ctr">
              <a:spcAft>
                <a:spcPts val="0"/>
              </a:spcAft>
            </a:pPr>
            <a:r>
              <a:rPr sz="1050" b="1" i="0">
                <a:solidFill>
                  <a:srgbClr val="2563EB"/>
                </a:solidFill>
                <a:latin typeface="Yu Gothic"/>
                <a:ea typeface="Yu Gothic"/>
                <a:cs typeface="Yu Gothic"/>
              </a:rPr>
              <a:t>月次供給</a:t>
            </a:r>
          </a:p>
        </p:txBody>
      </p:sp>
      <p:sp>
        <p:nvSpPr>
          <p:cNvPr id="16" name="TextBox 15"/>
          <p:cNvSpPr txBox="1"/>
          <p:nvPr/>
        </p:nvSpPr>
        <p:spPr>
          <a:xfrm>
            <a:off x="1956816" y="3822192"/>
            <a:ext cx="3931920" cy="621792"/>
          </a:xfrm>
          <a:prstGeom prst="rect">
            <a:avLst/>
          </a:prstGeom>
          <a:noFill/>
        </p:spPr>
        <p:txBody>
          <a:bodyPr wrap="square" lIns="0" rIns="0" tIns="0" bIns="0" anchor="ctr">
            <a:spAutoFit/>
          </a:bodyPr>
          <a:lstStyle/>
          <a:p>
            <a:pPr algn="l">
              <a:spcAft>
                <a:spcPts val="0"/>
              </a:spcAft>
            </a:pPr>
            <a:r>
              <a:rPr sz="1000" b="0" i="0">
                <a:solidFill>
                  <a:srgbClr val="1B1B26"/>
                </a:solidFill>
                <a:latin typeface="Yu Gothic"/>
                <a:ea typeface="Yu Gothic"/>
                <a:cs typeface="Yu Gothic"/>
              </a:rPr>
              <a:t>月次の定期供給にできないかご相談したい</a:t>
            </a:r>
          </a:p>
        </p:txBody>
      </p:sp>
      <p:sp>
        <p:nvSpPr>
          <p:cNvPr id="17" name="Rectangle 16"/>
          <p:cNvSpPr/>
          <p:nvPr/>
        </p:nvSpPr>
        <p:spPr>
          <a:xfrm>
            <a:off x="658368" y="4498848"/>
            <a:ext cx="1188720" cy="384048"/>
          </a:xfrm>
          <a:prstGeom prst="rect">
            <a:avLst/>
          </a:prstGeom>
          <a:solidFill>
            <a:srgbClr val="EA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4498848"/>
            <a:ext cx="1188720" cy="384048"/>
          </a:xfrm>
          <a:prstGeom prst="rect">
            <a:avLst/>
          </a:prstGeom>
          <a:noFill/>
        </p:spPr>
        <p:txBody>
          <a:bodyPr wrap="square" lIns="0" rIns="0" tIns="0" bIns="0" anchor="ctr">
            <a:spAutoFit/>
          </a:bodyPr>
          <a:lstStyle/>
          <a:p>
            <a:pPr algn="ctr">
              <a:spcAft>
                <a:spcPts val="0"/>
              </a:spcAft>
            </a:pPr>
            <a:r>
              <a:rPr sz="1050" b="1" i="0">
                <a:solidFill>
                  <a:srgbClr val="2563EB"/>
                </a:solidFill>
                <a:latin typeface="Yu Gothic"/>
                <a:ea typeface="Yu Gothic"/>
                <a:cs typeface="Yu Gothic"/>
              </a:rPr>
              <a:t>効果測定</a:t>
            </a:r>
          </a:p>
        </p:txBody>
      </p:sp>
      <p:sp>
        <p:nvSpPr>
          <p:cNvPr id="19" name="TextBox 18"/>
          <p:cNvSpPr txBox="1"/>
          <p:nvPr/>
        </p:nvSpPr>
        <p:spPr>
          <a:xfrm>
            <a:off x="1956816" y="4443984"/>
            <a:ext cx="3931920" cy="621792"/>
          </a:xfrm>
          <a:prstGeom prst="rect">
            <a:avLst/>
          </a:prstGeom>
          <a:noFill/>
        </p:spPr>
        <p:txBody>
          <a:bodyPr wrap="square" lIns="0" rIns="0" tIns="0" bIns="0" anchor="ctr">
            <a:spAutoFit/>
          </a:bodyPr>
          <a:lstStyle/>
          <a:p>
            <a:pPr algn="l">
              <a:spcAft>
                <a:spcPts val="0"/>
              </a:spcAft>
            </a:pPr>
            <a:r>
              <a:rPr sz="1000" b="0" i="0">
                <a:solidFill>
                  <a:srgbClr val="1B1B26"/>
                </a:solidFill>
                <a:latin typeface="Yu Gothic"/>
                <a:ea typeface="Yu Gothic"/>
                <a:cs typeface="Yu Gothic"/>
              </a:rPr>
              <a:t>物差し合わせ（何を改革の寄与とするか）はデータが整い次第あらためて</a:t>
            </a:r>
          </a:p>
        </p:txBody>
      </p:sp>
      <p:sp>
        <p:nvSpPr>
          <p:cNvPr id="20" name="Rectangle 19"/>
          <p:cNvSpPr/>
          <p:nvPr/>
        </p:nvSpPr>
        <p:spPr>
          <a:xfrm>
            <a:off x="6199632" y="1975104"/>
            <a:ext cx="5486400" cy="3218688"/>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9632" y="1975104"/>
            <a:ext cx="5486400" cy="4754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99632" y="1975104"/>
            <a:ext cx="5486400" cy="475488"/>
          </a:xfrm>
          <a:prstGeom prst="rect">
            <a:avLst/>
          </a:prstGeom>
          <a:noFill/>
        </p:spPr>
        <p:txBody>
          <a:bodyPr wrap="square" lIns="0" rIns="0" tIns="0" bIns="0" anchor="ctr">
            <a:spAutoFit/>
          </a:bodyPr>
          <a:lstStyle/>
          <a:p>
            <a:pPr algn="ctr">
              <a:spcAft>
                <a:spcPts val="0"/>
              </a:spcAft>
            </a:pPr>
            <a:r>
              <a:rPr sz="1250" b="1" i="0">
                <a:solidFill>
                  <a:srgbClr val="FFFFFF"/>
                </a:solidFill>
                <a:latin typeface="Yu Gothic"/>
                <a:ea typeface="Yu Gothic"/>
                <a:cs typeface="Yu Gothic"/>
              </a:rPr>
              <a:t>本日決めたいこと（3つだけ）</a:t>
            </a:r>
          </a:p>
        </p:txBody>
      </p:sp>
      <p:sp>
        <p:nvSpPr>
          <p:cNvPr id="23" name="Oval 22"/>
          <p:cNvSpPr/>
          <p:nvPr/>
        </p:nvSpPr>
        <p:spPr>
          <a:xfrm>
            <a:off x="6400800" y="2670048"/>
            <a:ext cx="402336" cy="40233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Aft>
                <a:spcPts val="0"/>
              </a:spcAft>
            </a:pPr>
            <a:r>
              <a:rPr sz="1500" b="1" i="0">
                <a:solidFill>
                  <a:srgbClr val="FFFFFF"/>
                </a:solidFill>
                <a:latin typeface="Yu Gothic"/>
                <a:ea typeface="Yu Gothic"/>
                <a:cs typeface="Yu Gothic"/>
              </a:rPr>
              <a:t>1</a:t>
            </a:r>
          </a:p>
        </p:txBody>
      </p:sp>
      <p:sp>
        <p:nvSpPr>
          <p:cNvPr id="24" name="TextBox 23"/>
          <p:cNvSpPr txBox="1"/>
          <p:nvPr/>
        </p:nvSpPr>
        <p:spPr>
          <a:xfrm>
            <a:off x="6949440" y="2615184"/>
            <a:ext cx="4535424" cy="841248"/>
          </a:xfrm>
          <a:prstGeom prst="rect">
            <a:avLst/>
          </a:prstGeom>
          <a:noFill/>
        </p:spPr>
        <p:txBody>
          <a:bodyPr wrap="square" lIns="0" rIns="0" tIns="0" bIns="0" anchor="ctr">
            <a:spAutoFit/>
          </a:bodyPr>
          <a:lstStyle/>
          <a:p>
            <a:pPr algn="l">
              <a:spcAft>
                <a:spcPts val="300"/>
              </a:spcAft>
            </a:pPr>
            <a:r>
              <a:rPr sz="1200" b="1" i="0">
                <a:solidFill>
                  <a:srgbClr val="1E40AF"/>
                </a:solidFill>
                <a:latin typeface="Yu Gothic"/>
                <a:ea typeface="Yu Gothic"/>
                <a:cs typeface="Yu Gothic"/>
              </a:rPr>
              <a:t>明細の受け渡し日と形式</a:t>
            </a:r>
          </a:p>
          <a:p>
            <a:pPr algn="l">
              <a:spcAft>
                <a:spcPts val="0"/>
              </a:spcAft>
            </a:pPr>
            <a:r>
              <a:rPr sz="980" b="0" i="0">
                <a:solidFill>
                  <a:srgbClr val="1B1B26"/>
                </a:solidFill>
                <a:latin typeface="Yu Gothic"/>
                <a:ea typeface="Yu Gothic"/>
                <a:cs typeface="Yu Gothic"/>
              </a:rPr>
              <a:t>取引先別売上明細を、いつ・どの形式でいただくか</a:t>
            </a:r>
          </a:p>
        </p:txBody>
      </p:sp>
      <p:sp>
        <p:nvSpPr>
          <p:cNvPr id="25" name="Oval 24"/>
          <p:cNvSpPr/>
          <p:nvPr/>
        </p:nvSpPr>
        <p:spPr>
          <a:xfrm>
            <a:off x="6400800" y="3511296"/>
            <a:ext cx="402336" cy="40233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Aft>
                <a:spcPts val="0"/>
              </a:spcAft>
            </a:pPr>
            <a:r>
              <a:rPr sz="1500" b="1" i="0">
                <a:solidFill>
                  <a:srgbClr val="FFFFFF"/>
                </a:solidFill>
                <a:latin typeface="Yu Gothic"/>
                <a:ea typeface="Yu Gothic"/>
                <a:cs typeface="Yu Gothic"/>
              </a:rPr>
              <a:t>2</a:t>
            </a:r>
          </a:p>
        </p:txBody>
      </p:sp>
      <p:sp>
        <p:nvSpPr>
          <p:cNvPr id="26" name="TextBox 25"/>
          <p:cNvSpPr txBox="1"/>
          <p:nvPr/>
        </p:nvSpPr>
        <p:spPr>
          <a:xfrm>
            <a:off x="6949440" y="3456432"/>
            <a:ext cx="4535424" cy="841248"/>
          </a:xfrm>
          <a:prstGeom prst="rect">
            <a:avLst/>
          </a:prstGeom>
          <a:noFill/>
        </p:spPr>
        <p:txBody>
          <a:bodyPr wrap="square" lIns="0" rIns="0" tIns="0" bIns="0" anchor="ctr">
            <a:spAutoFit/>
          </a:bodyPr>
          <a:lstStyle/>
          <a:p>
            <a:pPr algn="l">
              <a:spcAft>
                <a:spcPts val="300"/>
              </a:spcAft>
            </a:pPr>
            <a:r>
              <a:rPr sz="1200" b="1" i="0">
                <a:solidFill>
                  <a:srgbClr val="1E40AF"/>
                </a:solidFill>
                <a:latin typeface="Yu Gothic"/>
                <a:ea typeface="Yu Gothic"/>
                <a:cs typeface="Yu Gothic"/>
              </a:rPr>
              <a:t>対応表ヒアリング1時間の日程</a:t>
            </a:r>
          </a:p>
          <a:p>
            <a:pPr algn="l">
              <a:spcAft>
                <a:spcPts val="0"/>
              </a:spcAft>
            </a:pPr>
            <a:r>
              <a:rPr sz="980" b="0" i="0">
                <a:solidFill>
                  <a:srgbClr val="1B1B26"/>
                </a:solidFill>
                <a:latin typeface="Yu Gothic"/>
                <a:ea typeface="Yu Gothic"/>
                <a:cs typeface="Yu Gothic"/>
              </a:rPr>
              <a:t>坪井＋新谷でお伺いします。ご都合のよい枠を</a:t>
            </a:r>
          </a:p>
        </p:txBody>
      </p:sp>
      <p:sp>
        <p:nvSpPr>
          <p:cNvPr id="27" name="Oval 26"/>
          <p:cNvSpPr/>
          <p:nvPr/>
        </p:nvSpPr>
        <p:spPr>
          <a:xfrm>
            <a:off x="6400800" y="4352544"/>
            <a:ext cx="402336" cy="40233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Aft>
                <a:spcPts val="0"/>
              </a:spcAft>
            </a:pPr>
            <a:r>
              <a:rPr sz="1500" b="1" i="0">
                <a:solidFill>
                  <a:srgbClr val="FFFFFF"/>
                </a:solidFill>
                <a:latin typeface="Yu Gothic"/>
                <a:ea typeface="Yu Gothic"/>
                <a:cs typeface="Yu Gothic"/>
              </a:rPr>
              <a:t>3</a:t>
            </a:r>
          </a:p>
        </p:txBody>
      </p:sp>
      <p:sp>
        <p:nvSpPr>
          <p:cNvPr id="28" name="TextBox 27"/>
          <p:cNvSpPr txBox="1"/>
          <p:nvPr/>
        </p:nvSpPr>
        <p:spPr>
          <a:xfrm>
            <a:off x="6949440" y="4297680"/>
            <a:ext cx="4535424" cy="841248"/>
          </a:xfrm>
          <a:prstGeom prst="rect">
            <a:avLst/>
          </a:prstGeom>
          <a:noFill/>
        </p:spPr>
        <p:txBody>
          <a:bodyPr wrap="square" lIns="0" rIns="0" tIns="0" bIns="0" anchor="ctr">
            <a:spAutoFit/>
          </a:bodyPr>
          <a:lstStyle/>
          <a:p>
            <a:pPr algn="l">
              <a:spcAft>
                <a:spcPts val="300"/>
              </a:spcAft>
            </a:pPr>
            <a:r>
              <a:rPr sz="1200" b="1" i="0">
                <a:solidFill>
                  <a:srgbClr val="1E40AF"/>
                </a:solidFill>
                <a:latin typeface="Yu Gothic"/>
                <a:ea typeface="Yu Gothic"/>
                <a:cs typeface="Yu Gothic"/>
              </a:rPr>
              <a:t>月次サイクルの目安</a:t>
            </a:r>
          </a:p>
          <a:p>
            <a:pPr algn="l">
              <a:spcAft>
                <a:spcPts val="0"/>
              </a:spcAft>
            </a:pPr>
            <a:r>
              <a:rPr sz="980" b="0" i="0">
                <a:solidFill>
                  <a:srgbClr val="1B1B26"/>
                </a:solidFill>
                <a:latin typeface="Yu Gothic"/>
                <a:ea typeface="Yu Gothic"/>
                <a:cs typeface="Yu Gothic"/>
              </a:rPr>
              <a:t>無理のない定期供給の頻度をご相談したい</a:t>
            </a:r>
          </a:p>
        </p:txBody>
      </p:sp>
      <p:sp>
        <p:nvSpPr>
          <p:cNvPr id="29" name="Rectangle 28"/>
          <p:cNvSpPr/>
          <p:nvPr/>
        </p:nvSpPr>
        <p:spPr>
          <a:xfrm>
            <a:off x="502920" y="5413248"/>
            <a:ext cx="11183112" cy="987552"/>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2920" y="5413248"/>
            <a:ext cx="38100" cy="98755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541264"/>
            <a:ext cx="10698480" cy="749808"/>
          </a:xfrm>
          <a:prstGeom prst="rect">
            <a:avLst/>
          </a:prstGeom>
          <a:noFill/>
        </p:spPr>
        <p:txBody>
          <a:bodyPr wrap="square" lIns="0" rIns="0" tIns="0" bIns="0" anchor="ctr">
            <a:spAutoFit/>
          </a:bodyPr>
          <a:lstStyle/>
          <a:p>
            <a:pPr algn="l">
              <a:spcAft>
                <a:spcPts val="400"/>
              </a:spcAft>
            </a:pPr>
            <a:r>
              <a:rPr sz="1250" b="1" i="0">
                <a:solidFill>
                  <a:srgbClr val="FFFFFF"/>
                </a:solidFill>
                <a:latin typeface="Yu Gothic"/>
                <a:ea typeface="Yu Gothic"/>
                <a:cs typeface="Yu Gothic"/>
              </a:rPr>
              <a:t>財務の数字と営業の現場がつながれば、この会社は「数字で選べる会社」になります。</a:t>
            </a:r>
          </a:p>
          <a:p>
            <a:pPr algn="l">
              <a:spcAft>
                <a:spcPts val="0"/>
              </a:spcAft>
            </a:pPr>
            <a:r>
              <a:rPr sz="1250" b="1" i="0">
                <a:solidFill>
                  <a:srgbClr val="BFD4FE"/>
                </a:solidFill>
                <a:latin typeface="Yu Gothic"/>
                <a:ea typeface="Yu Gothic"/>
                <a:cs typeface="Yu Gothic"/>
              </a:rPr>
              <a:t>その橋は、柳沼さんにしか架けられません。</a:t>
            </a:r>
          </a:p>
        </p:txBody>
      </p:sp>
      <p:sp>
        <p:nvSpPr>
          <p:cNvPr id="32" name="Rectangle 31"/>
          <p:cNvSpPr/>
          <p:nvPr/>
        </p:nvSpPr>
        <p:spPr>
          <a:xfrm>
            <a:off x="502920" y="6510528"/>
            <a:ext cx="11183112" cy="1524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6565392"/>
            <a:ext cx="8686800" cy="274320"/>
          </a:xfrm>
          <a:prstGeom prst="rect">
            <a:avLst/>
          </a:prstGeom>
          <a:noFill/>
        </p:spPr>
        <p:txBody>
          <a:bodyPr wrap="square" lIns="0" rIns="0" tIns="0" bIns="0">
            <a:spAutoFit/>
          </a:bodyPr>
          <a:lstStyle/>
          <a:p>
            <a:pPr algn="l">
              <a:spcAft>
                <a:spcPts val="400"/>
              </a:spcAft>
            </a:pPr>
            <a:r>
              <a:rPr sz="750" b="0" i="0">
                <a:solidFill>
                  <a:srgbClr val="8A8F9C"/>
                </a:solidFill>
                <a:latin typeface="Yu Gothic"/>
                <a:ea typeface="Yu Gothic"/>
                <a:cs typeface="Yu Gothic"/>
              </a:rPr>
              <a:t>円谷プロダクション 営業改革 | 社外秘</a:t>
            </a:r>
          </a:p>
        </p:txBody>
      </p:sp>
      <p:sp>
        <p:nvSpPr>
          <p:cNvPr id="34" name="TextBox 33"/>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6B7280"/>
                </a:solidFill>
                <a:latin typeface="Yu Gothic"/>
                <a:ea typeface="Yu Gothic"/>
                <a:cs typeface="Yu Gothic"/>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