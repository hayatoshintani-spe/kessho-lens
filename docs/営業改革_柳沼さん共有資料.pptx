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874519"/>
            <a:ext cx="2011680" cy="3810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607040" cy="365760"/>
          </a:xfrm>
          <a:prstGeom prst="rect">
            <a:avLst/>
          </a:prstGeom>
          <a:noFill/>
        </p:spPr>
        <p:txBody>
          <a:bodyPr wrap="square" lIns="0" rIns="0" tIns="0" bIns="0">
            <a:spAutoFit/>
          </a:bodyPr>
          <a:lstStyle/>
          <a:p>
            <a:pPr algn="l">
              <a:spcAft>
                <a:spcPts val="400"/>
              </a:spcAft>
            </a:pPr>
            <a:r>
              <a:rPr sz="1500" b="1" i="0">
                <a:solidFill>
                  <a:srgbClr val="5F5F6E"/>
                </a:solidFill>
                <a:latin typeface="Yu Gothic"/>
                <a:ea typeface="Yu Gothic"/>
                <a:cs typeface="Yu Gothic"/>
              </a:rPr>
              <a:t>柳沼さん共有資料（30分）</a:t>
            </a:r>
          </a:p>
        </p:txBody>
      </p:sp>
      <p:sp>
        <p:nvSpPr>
          <p:cNvPr id="5" name="TextBox 4"/>
          <p:cNvSpPr txBox="1"/>
          <p:nvPr/>
        </p:nvSpPr>
        <p:spPr>
          <a:xfrm>
            <a:off x="822960" y="2697480"/>
            <a:ext cx="10881360" cy="1737360"/>
          </a:xfrm>
          <a:prstGeom prst="rect">
            <a:avLst/>
          </a:prstGeom>
          <a:noFill/>
        </p:spPr>
        <p:txBody>
          <a:bodyPr wrap="square" lIns="0" rIns="0" tIns="0" bIns="0">
            <a:spAutoFit/>
          </a:bodyPr>
          <a:lstStyle/>
          <a:p>
            <a:pPr algn="l">
              <a:spcAft>
                <a:spcPts val="600"/>
              </a:spcAft>
            </a:pPr>
            <a:r>
              <a:rPr sz="3400" b="1" i="0">
                <a:solidFill>
                  <a:srgbClr val="262630"/>
                </a:solidFill>
                <a:latin typeface="Yu Gothic"/>
                <a:ea typeface="Yu Gothic"/>
                <a:cs typeface="Yu Gothic"/>
              </a:rPr>
              <a:t>営業改革STO — 概要と</a:t>
            </a:r>
          </a:p>
          <a:p>
            <a:pPr algn="l">
              <a:spcAft>
                <a:spcPts val="0"/>
              </a:spcAft>
            </a:pPr>
            <a:r>
              <a:rPr sz="3400" b="1" i="0">
                <a:solidFill>
                  <a:srgbClr val="7823DC"/>
                </a:solidFill>
                <a:latin typeface="Yu Gothic"/>
                <a:ea typeface="Yu Gothic"/>
                <a:cs typeface="Yu Gothic"/>
              </a:rPr>
              <a:t>財務チームへのお願い</a:t>
            </a:r>
          </a:p>
        </p:txBody>
      </p:sp>
      <p:sp>
        <p:nvSpPr>
          <p:cNvPr id="6" name="TextBox 5"/>
          <p:cNvSpPr txBox="1"/>
          <p:nvPr/>
        </p:nvSpPr>
        <p:spPr>
          <a:xfrm>
            <a:off x="822960" y="4892040"/>
            <a:ext cx="10515600" cy="914400"/>
          </a:xfrm>
          <a:prstGeom prst="rect">
            <a:avLst/>
          </a:prstGeom>
          <a:noFill/>
        </p:spPr>
        <p:txBody>
          <a:bodyPr wrap="square" lIns="0" rIns="0" tIns="0" bIns="0">
            <a:spAutoFit/>
          </a:bodyPr>
          <a:lstStyle/>
          <a:p>
            <a:pPr algn="l">
              <a:spcAft>
                <a:spcPts val="400"/>
              </a:spcAft>
            </a:pPr>
            <a:r>
              <a:rPr sz="1300" b="1" i="0">
                <a:solidFill>
                  <a:srgbClr val="262630"/>
                </a:solidFill>
                <a:latin typeface="Yu Gothic"/>
                <a:ea typeface="Yu Gothic"/>
                <a:cs typeface="Yu Gothic"/>
              </a:rPr>
              <a:t>新谷隼人（専務執行役員）</a:t>
            </a:r>
          </a:p>
          <a:p>
            <a:pPr algn="l">
              <a:spcAft>
                <a:spcPts val="0"/>
              </a:spcAft>
            </a:pPr>
            <a:r>
              <a:rPr sz="1200" b="0" i="0">
                <a:solidFill>
                  <a:srgbClr val="5F5F6E"/>
                </a:solidFill>
                <a:latin typeface="Yu Gothic"/>
                <a:ea typeface="Yu Gothic"/>
                <a:cs typeface="Yu Gothic"/>
              </a:rPr>
              <a:t>2026年7月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1分で全体像</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このプロジェクトは何か（3行で）</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810512"/>
            <a:ext cx="11183112" cy="1389888"/>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10512"/>
            <a:ext cx="64008" cy="1389888"/>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22376" y="2276856"/>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1</a:t>
            </a:r>
          </a:p>
        </p:txBody>
      </p:sp>
      <p:sp>
        <p:nvSpPr>
          <p:cNvPr id="8" name="TextBox 7"/>
          <p:cNvSpPr txBox="1"/>
          <p:nvPr/>
        </p:nvSpPr>
        <p:spPr>
          <a:xfrm>
            <a:off x="1362456" y="1956816"/>
            <a:ext cx="10122408" cy="1133856"/>
          </a:xfrm>
          <a:prstGeom prst="rect">
            <a:avLst/>
          </a:prstGeom>
          <a:noFill/>
        </p:spPr>
        <p:txBody>
          <a:bodyPr wrap="square" lIns="0" rIns="0" tIns="0" bIns="0" anchor="ctr">
            <a:spAutoFit/>
          </a:bodyPr>
          <a:lstStyle/>
          <a:p>
            <a:pPr algn="l">
              <a:spcAft>
                <a:spcPts val="400"/>
              </a:spcAft>
            </a:pPr>
            <a:r>
              <a:rPr sz="1450" b="1" i="0">
                <a:solidFill>
                  <a:srgbClr val="3A106E"/>
                </a:solidFill>
                <a:latin typeface="Yu Gothic"/>
                <a:ea typeface="Yu Gothic"/>
                <a:cs typeface="Yu Gothic"/>
              </a:rPr>
              <a:t>営業のデータと財務のデータをつないで、どの顧客・どの案件に力を注ぐかを「数字で選べる会社」になるプロジェクトです</a:t>
            </a:r>
          </a:p>
        </p:txBody>
      </p:sp>
      <p:sp>
        <p:nvSpPr>
          <p:cNvPr id="9" name="Rectangle 8"/>
          <p:cNvSpPr/>
          <p:nvPr/>
        </p:nvSpPr>
        <p:spPr>
          <a:xfrm>
            <a:off x="502920" y="3383280"/>
            <a:ext cx="11183112" cy="1389888"/>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383280"/>
            <a:ext cx="64008" cy="1389888"/>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22376" y="3849624"/>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2</a:t>
            </a:r>
          </a:p>
        </p:txBody>
      </p:sp>
      <p:sp>
        <p:nvSpPr>
          <p:cNvPr id="12" name="TextBox 11"/>
          <p:cNvSpPr txBox="1"/>
          <p:nvPr/>
        </p:nvSpPr>
        <p:spPr>
          <a:xfrm>
            <a:off x="1362456" y="3529584"/>
            <a:ext cx="10122408" cy="1133856"/>
          </a:xfrm>
          <a:prstGeom prst="rect">
            <a:avLst/>
          </a:prstGeom>
          <a:noFill/>
        </p:spPr>
        <p:txBody>
          <a:bodyPr wrap="square" lIns="0" rIns="0" tIns="0" bIns="0" anchor="ctr">
            <a:spAutoFit/>
          </a:bodyPr>
          <a:lstStyle/>
          <a:p>
            <a:pPr algn="l">
              <a:spcAft>
                <a:spcPts val="400"/>
              </a:spcAft>
            </a:pPr>
            <a:r>
              <a:rPr sz="1450" b="1" i="0">
                <a:solidFill>
                  <a:srgbClr val="3A106E"/>
                </a:solidFill>
                <a:latin typeface="Yu Gothic"/>
                <a:ea typeface="Yu Gothic"/>
                <a:cs typeface="Yu Gothic"/>
              </a:rPr>
              <a:t>売上が伸びても利益につながらない構造を変えます</a:t>
            </a:r>
          </a:p>
          <a:p>
            <a:pPr algn="l">
              <a:spcAft>
                <a:spcPts val="0"/>
              </a:spcAft>
            </a:pPr>
            <a:r>
              <a:rPr sz="1150" b="0" i="0">
                <a:solidFill>
                  <a:srgbClr val="262630"/>
                </a:solidFill>
                <a:latin typeface="Yu Gothic"/>
                <a:ea typeface="Yu Gothic"/>
                <a:cs typeface="Yu Gothic"/>
              </a:rPr>
              <a:t>65期：売上▲21%・粗利率▲19pt。今期も売上は予算超過なのに利益は未達見込み</a:t>
            </a:r>
          </a:p>
        </p:txBody>
      </p:sp>
      <p:sp>
        <p:nvSpPr>
          <p:cNvPr id="13" name="Rectangle 12"/>
          <p:cNvSpPr/>
          <p:nvPr/>
        </p:nvSpPr>
        <p:spPr>
          <a:xfrm>
            <a:off x="502920" y="4956048"/>
            <a:ext cx="11183112" cy="1389888"/>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956048"/>
            <a:ext cx="64008" cy="1389888"/>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22376" y="5422392"/>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3</a:t>
            </a:r>
          </a:p>
        </p:txBody>
      </p:sp>
      <p:sp>
        <p:nvSpPr>
          <p:cNvPr id="16" name="TextBox 15"/>
          <p:cNvSpPr txBox="1"/>
          <p:nvPr/>
        </p:nvSpPr>
        <p:spPr>
          <a:xfrm>
            <a:off x="1362456" y="5102352"/>
            <a:ext cx="10122408" cy="1133856"/>
          </a:xfrm>
          <a:prstGeom prst="rect">
            <a:avLst/>
          </a:prstGeom>
          <a:noFill/>
        </p:spPr>
        <p:txBody>
          <a:bodyPr wrap="square" lIns="0" rIns="0" tIns="0" bIns="0" anchor="ctr">
            <a:spAutoFit/>
          </a:bodyPr>
          <a:lstStyle/>
          <a:p>
            <a:pPr algn="l">
              <a:spcAft>
                <a:spcPts val="400"/>
              </a:spcAft>
            </a:pPr>
            <a:r>
              <a:rPr sz="1450" b="1" i="0">
                <a:solidFill>
                  <a:srgbClr val="3A106E"/>
                </a:solidFill>
                <a:latin typeface="Yu Gothic"/>
                <a:ea typeface="Yu Gothic"/>
                <a:cs typeface="Yu Gothic"/>
              </a:rPr>
              <a:t>山本会長・ホールディングスがコミットし、円谷プロ全体を対象にします</a:t>
            </a:r>
          </a:p>
        </p:txBody>
      </p:sp>
      <p:sp>
        <p:nvSpPr>
          <p:cNvPr id="17" name="Rectangle 16"/>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19" name="TextBox 18"/>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全体像のうち、いま走っているのは</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いま動いているのは3本だけ</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2139696"/>
            <a:ext cx="3383280" cy="288950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2139696"/>
            <a:ext cx="3383280"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01952" y="2450592"/>
            <a:ext cx="585216" cy="585216"/>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FFFFFF"/>
                </a:solidFill>
                <a:latin typeface="Yu Gothic"/>
                <a:ea typeface="Yu Gothic"/>
                <a:cs typeface="Yu Gothic"/>
              </a:rPr>
              <a:t>①</a:t>
            </a:r>
          </a:p>
        </p:txBody>
      </p:sp>
      <p:sp>
        <p:nvSpPr>
          <p:cNvPr id="8" name="TextBox 7"/>
          <p:cNvSpPr txBox="1"/>
          <p:nvPr/>
        </p:nvSpPr>
        <p:spPr>
          <a:xfrm>
            <a:off x="649224" y="3182111"/>
            <a:ext cx="3090672" cy="457200"/>
          </a:xfrm>
          <a:prstGeom prst="rect">
            <a:avLst/>
          </a:prstGeom>
          <a:noFill/>
        </p:spPr>
        <p:txBody>
          <a:bodyPr wrap="square" lIns="0" rIns="0" tIns="0" bIns="0" anchor="ctr">
            <a:spAutoFit/>
          </a:bodyPr>
          <a:lstStyle/>
          <a:p>
            <a:pPr algn="ctr">
              <a:spcAft>
                <a:spcPts val="0"/>
              </a:spcAft>
            </a:pPr>
            <a:r>
              <a:rPr sz="1400" b="1" i="0">
                <a:solidFill>
                  <a:srgbClr val="3A106E"/>
                </a:solidFill>
                <a:latin typeface="Yu Gothic"/>
                <a:ea typeface="Yu Gothic"/>
                <a:cs typeface="Yu Gothic"/>
              </a:rPr>
              <a:t>確認会</a:t>
            </a:r>
          </a:p>
        </p:txBody>
      </p:sp>
      <p:sp>
        <p:nvSpPr>
          <p:cNvPr id="9" name="TextBox 8"/>
          <p:cNvSpPr txBox="1"/>
          <p:nvPr/>
        </p:nvSpPr>
        <p:spPr>
          <a:xfrm>
            <a:off x="758952" y="3712464"/>
            <a:ext cx="2871216" cy="960120"/>
          </a:xfrm>
          <a:prstGeom prst="rect">
            <a:avLst/>
          </a:prstGeom>
          <a:noFill/>
        </p:spPr>
        <p:txBody>
          <a:bodyPr wrap="square" lIns="0" rIns="0" tIns="0" bIns="0">
            <a:spAutoFit/>
          </a:bodyPr>
          <a:lstStyle/>
          <a:p>
            <a:pPr algn="ctr">
              <a:spcAft>
                <a:spcPts val="0"/>
              </a:spcAft>
            </a:pPr>
            <a:r>
              <a:rPr sz="1050" b="0" i="0">
                <a:solidFill>
                  <a:srgbClr val="262630"/>
                </a:solidFill>
                <a:latin typeface="Yu Gothic"/>
                <a:ea typeface="Yu Gothic"/>
                <a:cs typeface="Yu Gothic"/>
              </a:rPr>
              <a:t>顧客746社・案件299件の「主担当」を各部長と確定</a:t>
            </a:r>
          </a:p>
        </p:txBody>
      </p:sp>
      <p:sp>
        <p:nvSpPr>
          <p:cNvPr id="10" name="Rectangle 9"/>
          <p:cNvSpPr/>
          <p:nvPr/>
        </p:nvSpPr>
        <p:spPr>
          <a:xfrm>
            <a:off x="4402836" y="2139696"/>
            <a:ext cx="3383280" cy="288950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01868" y="2450592"/>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7823DC"/>
                </a:solidFill>
                <a:latin typeface="Yu Gothic"/>
                <a:ea typeface="Yu Gothic"/>
                <a:cs typeface="Yu Gothic"/>
              </a:rPr>
              <a:t>②</a:t>
            </a:r>
          </a:p>
        </p:txBody>
      </p:sp>
      <p:sp>
        <p:nvSpPr>
          <p:cNvPr id="12" name="TextBox 11"/>
          <p:cNvSpPr txBox="1"/>
          <p:nvPr/>
        </p:nvSpPr>
        <p:spPr>
          <a:xfrm>
            <a:off x="4549140" y="3182111"/>
            <a:ext cx="3090672" cy="457200"/>
          </a:xfrm>
          <a:prstGeom prst="rect">
            <a:avLst/>
          </a:prstGeom>
          <a:noFill/>
        </p:spPr>
        <p:txBody>
          <a:bodyPr wrap="square" lIns="0" rIns="0" tIns="0" bIns="0" anchor="ctr">
            <a:spAutoFit/>
          </a:bodyPr>
          <a:lstStyle/>
          <a:p>
            <a:pPr algn="ctr">
              <a:spcAft>
                <a:spcPts val="0"/>
              </a:spcAft>
            </a:pPr>
            <a:r>
              <a:rPr sz="1400" b="1" i="0">
                <a:solidFill>
                  <a:srgbClr val="FFFFFF"/>
                </a:solidFill>
                <a:latin typeface="Yu Gothic"/>
                <a:ea typeface="Yu Gothic"/>
                <a:cs typeface="Yu Gothic"/>
              </a:rPr>
              <a:t>財務ひも付け</a:t>
            </a:r>
          </a:p>
        </p:txBody>
      </p:sp>
      <p:sp>
        <p:nvSpPr>
          <p:cNvPr id="13" name="TextBox 12"/>
          <p:cNvSpPr txBox="1"/>
          <p:nvPr/>
        </p:nvSpPr>
        <p:spPr>
          <a:xfrm>
            <a:off x="4658868" y="3712464"/>
            <a:ext cx="2871216" cy="960120"/>
          </a:xfrm>
          <a:prstGeom prst="rect">
            <a:avLst/>
          </a:prstGeom>
          <a:noFill/>
        </p:spPr>
        <p:txBody>
          <a:bodyPr wrap="square" lIns="0" rIns="0" tIns="0" bIns="0">
            <a:spAutoFit/>
          </a:bodyPr>
          <a:lstStyle/>
          <a:p>
            <a:pPr algn="ctr">
              <a:spcAft>
                <a:spcPts val="0"/>
              </a:spcAft>
            </a:pPr>
            <a:r>
              <a:rPr sz="1050" b="0" i="0">
                <a:solidFill>
                  <a:srgbClr val="FFFFFF"/>
                </a:solidFill>
                <a:latin typeface="Yu Gothic"/>
                <a:ea typeface="Yu Gothic"/>
                <a:cs typeface="Yu Gothic"/>
              </a:rPr>
              <a:t>財務チームのデータで顧客・案件に金額を付ける</a:t>
            </a:r>
          </a:p>
        </p:txBody>
      </p:sp>
      <p:sp>
        <p:nvSpPr>
          <p:cNvPr id="14" name="TextBox 13"/>
          <p:cNvSpPr txBox="1"/>
          <p:nvPr/>
        </p:nvSpPr>
        <p:spPr>
          <a:xfrm>
            <a:off x="4585716" y="4553712"/>
            <a:ext cx="3017520" cy="329184"/>
          </a:xfrm>
          <a:prstGeom prst="rect">
            <a:avLst/>
          </a:prstGeom>
          <a:noFill/>
        </p:spPr>
        <p:txBody>
          <a:bodyPr wrap="square" lIns="0" rIns="0" tIns="0" bIns="0" anchor="ctr">
            <a:spAutoFit/>
          </a:bodyPr>
          <a:lstStyle/>
          <a:p>
            <a:pPr algn="ctr">
              <a:spcAft>
                <a:spcPts val="0"/>
              </a:spcAft>
            </a:pPr>
            <a:r>
              <a:rPr sz="1050" b="1" i="0">
                <a:solidFill>
                  <a:srgbClr val="E0D2F6"/>
                </a:solidFill>
                <a:latin typeface="Yu Gothic"/>
                <a:ea typeface="Yu Gothic"/>
                <a:cs typeface="Yu Gothic"/>
              </a:rPr>
              <a:t>← 柳沼さんにしかできない部分</a:t>
            </a:r>
          </a:p>
        </p:txBody>
      </p:sp>
      <p:sp>
        <p:nvSpPr>
          <p:cNvPr id="15" name="Rectangle 14"/>
          <p:cNvSpPr/>
          <p:nvPr/>
        </p:nvSpPr>
        <p:spPr>
          <a:xfrm>
            <a:off x="8302752" y="2139696"/>
            <a:ext cx="3383280" cy="288950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02752" y="2139696"/>
            <a:ext cx="3383280"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701784" y="2450592"/>
            <a:ext cx="585216" cy="585216"/>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FFFFFF"/>
                </a:solidFill>
                <a:latin typeface="Yu Gothic"/>
                <a:ea typeface="Yu Gothic"/>
                <a:cs typeface="Yu Gothic"/>
              </a:rPr>
              <a:t>③</a:t>
            </a:r>
          </a:p>
        </p:txBody>
      </p:sp>
      <p:sp>
        <p:nvSpPr>
          <p:cNvPr id="18" name="TextBox 17"/>
          <p:cNvSpPr txBox="1"/>
          <p:nvPr/>
        </p:nvSpPr>
        <p:spPr>
          <a:xfrm>
            <a:off x="8449056" y="3182111"/>
            <a:ext cx="3090672" cy="457200"/>
          </a:xfrm>
          <a:prstGeom prst="rect">
            <a:avLst/>
          </a:prstGeom>
          <a:noFill/>
        </p:spPr>
        <p:txBody>
          <a:bodyPr wrap="square" lIns="0" rIns="0" tIns="0" bIns="0" anchor="ctr">
            <a:spAutoFit/>
          </a:bodyPr>
          <a:lstStyle/>
          <a:p>
            <a:pPr algn="ctr">
              <a:spcAft>
                <a:spcPts val="0"/>
              </a:spcAft>
            </a:pPr>
            <a:r>
              <a:rPr sz="1400" b="1" i="0">
                <a:solidFill>
                  <a:srgbClr val="3A106E"/>
                </a:solidFill>
                <a:latin typeface="Yu Gothic"/>
                <a:ea typeface="Yu Gothic"/>
                <a:cs typeface="Yu Gothic"/>
              </a:rPr>
              <a:t>採点 → 力の入れ直し</a:t>
            </a:r>
          </a:p>
        </p:txBody>
      </p:sp>
      <p:sp>
        <p:nvSpPr>
          <p:cNvPr id="19" name="TextBox 18"/>
          <p:cNvSpPr txBox="1"/>
          <p:nvPr/>
        </p:nvSpPr>
        <p:spPr>
          <a:xfrm>
            <a:off x="8558784" y="3712464"/>
            <a:ext cx="2871216" cy="960120"/>
          </a:xfrm>
          <a:prstGeom prst="rect">
            <a:avLst/>
          </a:prstGeom>
          <a:noFill/>
        </p:spPr>
        <p:txBody>
          <a:bodyPr wrap="square" lIns="0" rIns="0" tIns="0" bIns="0">
            <a:spAutoFit/>
          </a:bodyPr>
          <a:lstStyle/>
          <a:p>
            <a:pPr algn="ctr">
              <a:spcAft>
                <a:spcPts val="0"/>
              </a:spcAft>
            </a:pPr>
            <a:r>
              <a:rPr sz="1050" b="0" i="0">
                <a:solidFill>
                  <a:srgbClr val="262630"/>
                </a:solidFill>
                <a:latin typeface="Yu Gothic"/>
                <a:ea typeface="Yu Gothic"/>
                <a:cs typeface="Yu Gothic"/>
              </a:rPr>
              <a:t>ランクを決め、力の注ぎ先を変える（①②の完了後）</a:t>
            </a:r>
          </a:p>
        </p:txBody>
      </p:sp>
      <p:sp>
        <p:nvSpPr>
          <p:cNvPr id="20" name="Chevron 19"/>
          <p:cNvSpPr/>
          <p:nvPr/>
        </p:nvSpPr>
        <p:spPr>
          <a:xfrm>
            <a:off x="3913632" y="3346704"/>
            <a:ext cx="438912" cy="475488"/>
          </a:xfrm>
          <a:prstGeom prst="chevron">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7813548" y="3346704"/>
            <a:ext cx="438912" cy="475488"/>
          </a:xfrm>
          <a:prstGeom prst="chevron">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5248656"/>
            <a:ext cx="11183112" cy="85953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5248656"/>
            <a:ext cx="38100" cy="85953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340096"/>
            <a:ext cx="10698480" cy="676656"/>
          </a:xfrm>
          <a:prstGeom prst="rect">
            <a:avLst/>
          </a:prstGeom>
          <a:noFill/>
        </p:spPr>
        <p:txBody>
          <a:bodyPr wrap="square" lIns="0" rIns="0" tIns="0" bIns="0" anchor="ctr">
            <a:spAutoFit/>
          </a:bodyPr>
          <a:lstStyle/>
          <a:p>
            <a:pPr algn="l">
              <a:spcAft>
                <a:spcPts val="0"/>
              </a:spcAft>
            </a:pPr>
            <a:r>
              <a:rPr sz="1200" b="1" i="0">
                <a:solidFill>
                  <a:srgbClr val="E0D2F6"/>
                </a:solidFill>
                <a:latin typeface="Yu Gothic"/>
                <a:ea typeface="Yu Gothic"/>
                <a:cs typeface="Yu Gothic"/>
              </a:rPr>
              <a:t>90日の約束　</a:t>
            </a:r>
            <a:r>
              <a:rPr sz="1200" b="1" i="0">
                <a:solidFill>
                  <a:srgbClr val="FFFFFF"/>
                </a:solidFill>
                <a:latin typeface="Yu Gothic"/>
                <a:ea typeface="Yu Gothic"/>
                <a:cs typeface="Yu Gothic"/>
              </a:rPr>
              <a:t>30日 = 数字がつながる ／ 60日 = ランクが決まる ／ 90日 = 力の入れ直しを実行</a:t>
            </a:r>
          </a:p>
        </p:txBody>
      </p:sp>
      <p:sp>
        <p:nvSpPr>
          <p:cNvPr id="25" name="Rectangle 24"/>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7" name="TextBox 26"/>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体制（専任1名＋兼務3名＋オーナー）</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STOはデータと会議を整える運転席。実行の主役は各部長です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02920" y="2212848"/>
          <a:ext cx="11183110" cy="2523744"/>
        </p:xfrm>
        <a:graphic>
          <a:graphicData uri="http://schemas.openxmlformats.org/drawingml/2006/table">
            <a:tbl>
              <a:tblPr firstRow="1" bandRow="1">
                <a:tableStyleId>{5C22544A-7EE6-4342-B048-85BDC9FD1C3A}</a:tableStyleId>
              </a:tblPr>
              <a:tblGrid>
                <a:gridCol w="2454829"/>
                <a:gridCol w="1454713"/>
                <a:gridCol w="1818392"/>
                <a:gridCol w="5455176"/>
              </a:tblGrid>
              <a:tr h="420624">
                <a:tc>
                  <a:txBody>
                    <a:bodyPr wrap="square"/>
                    <a:lstStyle/>
                    <a:p>
                      <a:pPr algn="l">
                        <a:spcAft>
                          <a:spcPts val="0"/>
                        </a:spcAft>
                      </a:pPr>
                      <a:r>
                        <a:rPr sz="1050" b="1" i="0">
                          <a:solidFill>
                            <a:srgbClr val="FFFFFF"/>
                          </a:solidFill>
                          <a:latin typeface="Yu Gothic"/>
                          <a:ea typeface="Yu Gothic"/>
                          <a:cs typeface="Yu Gothic"/>
                        </a:rPr>
                        <a:t>役割</a:t>
                      </a:r>
                    </a:p>
                  </a:txBody>
                  <a:tcPr marL="54864" marR="54864" marT="18288" marB="18288" anchor="ctr">
                    <a:solidFill>
                      <a:srgbClr val="3A106E"/>
                    </a:solidFill>
                  </a:tcPr>
                </a:tc>
                <a:tc>
                  <a:txBody>
                    <a:bodyPr wrap="square"/>
                    <a:lstStyle/>
                    <a:p>
                      <a:pPr algn="l">
                        <a:spcAft>
                          <a:spcPts val="0"/>
                        </a:spcAft>
                      </a:pPr>
                      <a:r>
                        <a:rPr sz="1050" b="1" i="0">
                          <a:solidFill>
                            <a:srgbClr val="FFFFFF"/>
                          </a:solidFill>
                          <a:latin typeface="Yu Gothic"/>
                          <a:ea typeface="Yu Gothic"/>
                          <a:cs typeface="Yu Gothic"/>
                        </a:rPr>
                        <a:t>担当</a:t>
                      </a:r>
                    </a:p>
                  </a:txBody>
                  <a:tcPr marL="54864" marR="54864" marT="18288" marB="18288" anchor="ctr">
                    <a:solidFill>
                      <a:srgbClr val="3A106E"/>
                    </a:solidFill>
                  </a:tcPr>
                </a:tc>
                <a:tc>
                  <a:txBody>
                    <a:bodyPr wrap="square"/>
                    <a:lstStyle/>
                    <a:p>
                      <a:pPr algn="l">
                        <a:spcAft>
                          <a:spcPts val="0"/>
                        </a:spcAft>
                      </a:pPr>
                      <a:r>
                        <a:rPr sz="1050" b="1" i="0">
                          <a:solidFill>
                            <a:srgbClr val="FFFFFF"/>
                          </a:solidFill>
                          <a:latin typeface="Yu Gothic"/>
                          <a:ea typeface="Yu Gothic"/>
                          <a:cs typeface="Yu Gothic"/>
                        </a:rPr>
                        <a:t>区分</a:t>
                      </a:r>
                    </a:p>
                  </a:txBody>
                  <a:tcPr marL="54864" marR="54864" marT="18288" marB="18288" anchor="ctr">
                    <a:solidFill>
                      <a:srgbClr val="3A106E"/>
                    </a:solidFill>
                  </a:tcPr>
                </a:tc>
                <a:tc>
                  <a:txBody>
                    <a:bodyPr wrap="square"/>
                    <a:lstStyle/>
                    <a:p>
                      <a:pPr algn="l">
                        <a:spcAft>
                          <a:spcPts val="0"/>
                        </a:spcAft>
                      </a:pPr>
                      <a:r>
                        <a:rPr sz="1050" b="1" i="0">
                          <a:solidFill>
                            <a:srgbClr val="FFFFFF"/>
                          </a:solidFill>
                          <a:latin typeface="Yu Gothic"/>
                          <a:ea typeface="Yu Gothic"/>
                          <a:cs typeface="Yu Gothic"/>
                        </a:rPr>
                        <a:t>主な責務</a:t>
                      </a:r>
                    </a:p>
                  </a:txBody>
                  <a:tcPr marL="54864" marR="54864" marT="18288" marB="18288" anchor="ctr">
                    <a:solidFill>
                      <a:srgbClr val="3A106E"/>
                    </a:solidFill>
                  </a:tcPr>
                </a:tc>
              </a:tr>
              <a:tr h="420624">
                <a:tc>
                  <a:txBody>
                    <a:bodyPr wrap="square"/>
                    <a:lstStyle/>
                    <a:p>
                      <a:pPr algn="l">
                        <a:spcAft>
                          <a:spcPts val="100"/>
                        </a:spcAft>
                      </a:pPr>
                      <a:r>
                        <a:rPr sz="1000" b="1" i="0">
                          <a:solidFill>
                            <a:srgbClr val="3A106E"/>
                          </a:solidFill>
                          <a:latin typeface="Yu Gothic"/>
                          <a:ea typeface="Yu Gothic"/>
                          <a:cs typeface="Yu Gothic"/>
                        </a:rPr>
                        <a:t>オーナー</a:t>
                      </a:r>
                    </a:p>
                  </a:txBody>
                  <a:tcPr marL="54864" marR="54864" marT="18288" marB="18288" anchor="ctr">
                    <a:solidFill>
                      <a:srgbClr val="FFFFFF"/>
                    </a:solidFill>
                  </a:tcPr>
                </a:tc>
                <a:tc>
                  <a:txBody>
                    <a:bodyPr wrap="square"/>
                    <a:lstStyle/>
                    <a:p>
                      <a:pPr algn="l">
                        <a:spcAft>
                          <a:spcPts val="100"/>
                        </a:spcAft>
                      </a:pPr>
                      <a:r>
                        <a:rPr sz="1000" b="0" i="0">
                          <a:solidFill>
                            <a:srgbClr val="262630"/>
                          </a:solidFill>
                          <a:latin typeface="Yu Gothic"/>
                          <a:ea typeface="Yu Gothic"/>
                          <a:cs typeface="Yu Gothic"/>
                        </a:rPr>
                        <a:t>新谷</a:t>
                      </a:r>
                    </a:p>
                  </a:txBody>
                  <a:tcPr marL="54864" marR="54864" marT="18288" marB="18288" anchor="ctr">
                    <a:solidFill>
                      <a:srgbClr val="FFFFFF"/>
                    </a:solidFill>
                  </a:tcPr>
                </a:tc>
                <a:tc>
                  <a:txBody>
                    <a:bodyPr wrap="square"/>
                    <a:lstStyle/>
                    <a:p>
                      <a:pPr algn="l">
                        <a:spcAft>
                          <a:spcPts val="100"/>
                        </a:spcAft>
                      </a:pPr>
                      <a:r>
                        <a:rPr sz="1000" b="0" i="0">
                          <a:solidFill>
                            <a:srgbClr val="262630"/>
                          </a:solidFill>
                          <a:latin typeface="Yu Gothic"/>
                          <a:ea typeface="Yu Gothic"/>
                          <a:cs typeface="Yu Gothic"/>
                        </a:rPr>
                        <a:t>兼務</a:t>
                      </a:r>
                    </a:p>
                  </a:txBody>
                  <a:tcPr marL="54864" marR="54864" marT="18288" marB="18288" anchor="ctr">
                    <a:solidFill>
                      <a:srgbClr val="FFFFFF"/>
                    </a:solidFill>
                  </a:tcPr>
                </a:tc>
                <a:tc>
                  <a:txBody>
                    <a:bodyPr wrap="square"/>
                    <a:lstStyle/>
                    <a:p>
                      <a:pPr algn="l">
                        <a:spcAft>
                          <a:spcPts val="100"/>
                        </a:spcAft>
                      </a:pPr>
                      <a:r>
                        <a:rPr sz="1000" b="0" i="0">
                          <a:solidFill>
                            <a:srgbClr val="262630"/>
                          </a:solidFill>
                          <a:latin typeface="Yu Gothic"/>
                          <a:ea typeface="Yu Gothic"/>
                          <a:cs typeface="Yu Gothic"/>
                        </a:rPr>
                        <a:t>優先順位・重要判断・障害の除去・トップ外交</a:t>
                      </a:r>
                    </a:p>
                  </a:txBody>
                  <a:tcPr marL="54864" marR="54864" marT="18288" marB="18288" anchor="ctr">
                    <a:solidFill>
                      <a:srgbClr val="FFFFFF"/>
                    </a:solidFill>
                  </a:tcPr>
                </a:tc>
              </a:tr>
              <a:tr h="420624">
                <a:tc>
                  <a:txBody>
                    <a:bodyPr wrap="square"/>
                    <a:lstStyle/>
                    <a:p>
                      <a:pPr algn="l">
                        <a:spcAft>
                          <a:spcPts val="100"/>
                        </a:spcAft>
                      </a:pPr>
                      <a:r>
                        <a:rPr sz="1000" b="1" i="0">
                          <a:solidFill>
                            <a:srgbClr val="3A106E"/>
                          </a:solidFill>
                          <a:latin typeface="Yu Gothic"/>
                          <a:ea typeface="Yu Gothic"/>
                          <a:cs typeface="Yu Gothic"/>
                        </a:rPr>
                        <a:t>変革設計リード</a:t>
                      </a:r>
                    </a:p>
                  </a:txBody>
                  <a:tcPr marL="54864" marR="54864" marT="18288" marB="18288" anchor="ctr">
                    <a:solidFill>
                      <a:srgbClr val="F7F7F9"/>
                    </a:solidFill>
                  </a:tcPr>
                </a:tc>
                <a:tc>
                  <a:txBody>
                    <a:bodyPr wrap="square"/>
                    <a:lstStyle/>
                    <a:p>
                      <a:pPr algn="l">
                        <a:spcAft>
                          <a:spcPts val="100"/>
                        </a:spcAft>
                      </a:pPr>
                      <a:r>
                        <a:rPr sz="1000" b="0" i="0">
                          <a:solidFill>
                            <a:srgbClr val="262630"/>
                          </a:solidFill>
                          <a:latin typeface="Yu Gothic"/>
                          <a:ea typeface="Yu Gothic"/>
                          <a:cs typeface="Yu Gothic"/>
                        </a:rPr>
                        <a:t>小沢</a:t>
                      </a:r>
                    </a:p>
                  </a:txBody>
                  <a:tcPr marL="54864" marR="54864" marT="18288" marB="18288" anchor="ctr">
                    <a:solidFill>
                      <a:srgbClr val="F7F7F9"/>
                    </a:solidFill>
                  </a:tcPr>
                </a:tc>
                <a:tc>
                  <a:txBody>
                    <a:bodyPr wrap="square"/>
                    <a:lstStyle/>
                    <a:p>
                      <a:pPr algn="l">
                        <a:spcAft>
                          <a:spcPts val="100"/>
                        </a:spcAft>
                      </a:pPr>
                      <a:r>
                        <a:rPr sz="1000" b="0" i="0">
                          <a:solidFill>
                            <a:srgbClr val="262630"/>
                          </a:solidFill>
                          <a:latin typeface="Yu Gothic"/>
                          <a:ea typeface="Yu Gothic"/>
                          <a:cs typeface="Yu Gothic"/>
                        </a:rPr>
                        <a:t>専任</a:t>
                      </a:r>
                    </a:p>
                  </a:txBody>
                  <a:tcPr marL="54864" marR="54864" marT="18288" marB="18288" anchor="ctr">
                    <a:solidFill>
                      <a:srgbClr val="F7F7F9"/>
                    </a:solidFill>
                  </a:tcPr>
                </a:tc>
                <a:tc>
                  <a:txBody>
                    <a:bodyPr wrap="square"/>
                    <a:lstStyle/>
                    <a:p>
                      <a:pPr algn="l">
                        <a:spcAft>
                          <a:spcPts val="100"/>
                        </a:spcAft>
                      </a:pPr>
                      <a:r>
                        <a:rPr sz="1000" b="0" i="0">
                          <a:solidFill>
                            <a:srgbClr val="262630"/>
                          </a:solidFill>
                          <a:latin typeface="Yu Gothic"/>
                          <a:ea typeface="Yu Gothic"/>
                          <a:cs typeface="Yu Gothic"/>
                        </a:rPr>
                        <a:t>改革の中身：課題設計・プロセス／案件評価・契約の再設計</a:t>
                      </a:r>
                    </a:p>
                  </a:txBody>
                  <a:tcPr marL="54864" marR="54864" marT="18288" marB="18288" anchor="ctr">
                    <a:solidFill>
                      <a:srgbClr val="F7F7F9"/>
                    </a:solidFill>
                  </a:tcPr>
                </a:tc>
              </a:tr>
              <a:tr h="420624">
                <a:tc>
                  <a:txBody>
                    <a:bodyPr wrap="square"/>
                    <a:lstStyle/>
                    <a:p>
                      <a:pPr algn="l">
                        <a:spcAft>
                          <a:spcPts val="100"/>
                        </a:spcAft>
                      </a:pPr>
                      <a:r>
                        <a:rPr sz="1000" b="1" i="0">
                          <a:solidFill>
                            <a:srgbClr val="3A106E"/>
                          </a:solidFill>
                          <a:latin typeface="Yu Gothic"/>
                          <a:ea typeface="Yu Gothic"/>
                          <a:cs typeface="Yu Gothic"/>
                        </a:rPr>
                        <a:t>実行統制・データリード</a:t>
                      </a:r>
                    </a:p>
                  </a:txBody>
                  <a:tcPr marL="54864" marR="54864" marT="18288" marB="18288" anchor="ctr">
                    <a:solidFill>
                      <a:srgbClr val="FFFFFF"/>
                    </a:solidFill>
                  </a:tcPr>
                </a:tc>
                <a:tc>
                  <a:txBody>
                    <a:bodyPr wrap="square"/>
                    <a:lstStyle/>
                    <a:p>
                      <a:pPr algn="l">
                        <a:spcAft>
                          <a:spcPts val="100"/>
                        </a:spcAft>
                      </a:pPr>
                      <a:r>
                        <a:rPr sz="1000" b="0" i="0">
                          <a:solidFill>
                            <a:srgbClr val="262630"/>
                          </a:solidFill>
                          <a:latin typeface="Yu Gothic"/>
                          <a:ea typeface="Yu Gothic"/>
                          <a:cs typeface="Yu Gothic"/>
                        </a:rPr>
                        <a:t>坪井</a:t>
                      </a:r>
                    </a:p>
                  </a:txBody>
                  <a:tcPr marL="54864" marR="54864" marT="18288" marB="18288" anchor="ctr">
                    <a:solidFill>
                      <a:srgbClr val="FFFFFF"/>
                    </a:solidFill>
                  </a:tcPr>
                </a:tc>
                <a:tc>
                  <a:txBody>
                    <a:bodyPr wrap="square"/>
                    <a:lstStyle/>
                    <a:p>
                      <a:pPr algn="l">
                        <a:spcAft>
                          <a:spcPts val="100"/>
                        </a:spcAft>
                      </a:pPr>
                      <a:r>
                        <a:rPr sz="1000" b="0" i="0">
                          <a:solidFill>
                            <a:srgbClr val="262630"/>
                          </a:solidFill>
                          <a:latin typeface="Yu Gothic"/>
                          <a:ea typeface="Yu Gothic"/>
                          <a:cs typeface="Yu Gothic"/>
                        </a:rPr>
                        <a:t>兼務</a:t>
                      </a:r>
                    </a:p>
                  </a:txBody>
                  <a:tcPr marL="54864" marR="54864" marT="18288" marB="18288" anchor="ctr">
                    <a:solidFill>
                      <a:srgbClr val="FFFFFF"/>
                    </a:solidFill>
                  </a:tcPr>
                </a:tc>
                <a:tc>
                  <a:txBody>
                    <a:bodyPr wrap="square"/>
                    <a:lstStyle/>
                    <a:p>
                      <a:pPr algn="l">
                        <a:spcAft>
                          <a:spcPts val="100"/>
                        </a:spcAft>
                      </a:pPr>
                      <a:r>
                        <a:rPr sz="1000" b="0" i="0">
                          <a:solidFill>
                            <a:srgbClr val="262630"/>
                          </a:solidFill>
                          <a:latin typeface="Yu Gothic"/>
                          <a:ea typeface="Yu Gothic"/>
                          <a:cs typeface="Yu Gothic"/>
                        </a:rPr>
                        <a:t>統合計画・KPI・データ品質統制・停滞検知とエスカレーション</a:t>
                      </a:r>
                    </a:p>
                  </a:txBody>
                  <a:tcPr marL="54864" marR="54864" marT="18288" marB="18288" anchor="ctr">
                    <a:solidFill>
                      <a:srgbClr val="FFFFFF"/>
                    </a:solidFill>
                  </a:tcPr>
                </a:tc>
              </a:tr>
              <a:tr h="420624">
                <a:tc>
                  <a:txBody>
                    <a:bodyPr wrap="square"/>
                    <a:lstStyle/>
                    <a:p>
                      <a:pPr algn="l">
                        <a:spcAft>
                          <a:spcPts val="100"/>
                        </a:spcAft>
                      </a:pPr>
                      <a:r>
                        <a:rPr sz="1000" b="1" i="0">
                          <a:solidFill>
                            <a:srgbClr val="3A106E"/>
                          </a:solidFill>
                          <a:latin typeface="Yu Gothic"/>
                          <a:ea typeface="Yu Gothic"/>
                          <a:cs typeface="Yu Gothic"/>
                        </a:rPr>
                        <a:t>戦略サポート</a:t>
                      </a:r>
                    </a:p>
                  </a:txBody>
                  <a:tcPr marL="54864" marR="54864" marT="18288" marB="18288" anchor="ctr">
                    <a:solidFill>
                      <a:srgbClr val="F7F7F9"/>
                    </a:solidFill>
                  </a:tcPr>
                </a:tc>
                <a:tc>
                  <a:txBody>
                    <a:bodyPr wrap="square"/>
                    <a:lstStyle/>
                    <a:p>
                      <a:pPr algn="l">
                        <a:spcAft>
                          <a:spcPts val="100"/>
                        </a:spcAft>
                      </a:pPr>
                      <a:r>
                        <a:rPr sz="1000" b="0" i="0">
                          <a:solidFill>
                            <a:srgbClr val="262630"/>
                          </a:solidFill>
                          <a:latin typeface="Yu Gothic"/>
                          <a:ea typeface="Yu Gothic"/>
                          <a:cs typeface="Yu Gothic"/>
                        </a:rPr>
                        <a:t>大塩</a:t>
                      </a:r>
                    </a:p>
                  </a:txBody>
                  <a:tcPr marL="54864" marR="54864" marT="18288" marB="18288" anchor="ctr">
                    <a:solidFill>
                      <a:srgbClr val="F7F7F9"/>
                    </a:solidFill>
                  </a:tcPr>
                </a:tc>
                <a:tc>
                  <a:txBody>
                    <a:bodyPr wrap="square"/>
                    <a:lstStyle/>
                    <a:p>
                      <a:pPr algn="l">
                        <a:spcAft>
                          <a:spcPts val="100"/>
                        </a:spcAft>
                      </a:pPr>
                      <a:r>
                        <a:rPr sz="1000" b="0" i="0">
                          <a:solidFill>
                            <a:srgbClr val="262630"/>
                          </a:solidFill>
                          <a:latin typeface="Yu Gothic"/>
                          <a:ea typeface="Yu Gothic"/>
                          <a:cs typeface="Yu Gothic"/>
                        </a:rPr>
                        <a:t>兼務</a:t>
                      </a:r>
                    </a:p>
                  </a:txBody>
                  <a:tcPr marL="54864" marR="54864" marT="18288" marB="18288" anchor="ctr">
                    <a:solidFill>
                      <a:srgbClr val="F7F7F9"/>
                    </a:solidFill>
                  </a:tcPr>
                </a:tc>
                <a:tc>
                  <a:txBody>
                    <a:bodyPr wrap="square"/>
                    <a:lstStyle/>
                    <a:p>
                      <a:pPr algn="l">
                        <a:spcAft>
                          <a:spcPts val="100"/>
                        </a:spcAft>
                      </a:pPr>
                      <a:r>
                        <a:rPr sz="1000" b="0" i="0">
                          <a:solidFill>
                            <a:srgbClr val="262630"/>
                          </a:solidFill>
                          <a:latin typeface="Yu Gothic"/>
                          <a:ea typeface="Yu Gothic"/>
                          <a:cs typeface="Yu Gothic"/>
                        </a:rPr>
                        <a:t>経営向け論点整理・HD経営企画との接続</a:t>
                      </a:r>
                    </a:p>
                  </a:txBody>
                  <a:tcPr marL="54864" marR="54864" marT="18288" marB="18288" anchor="ctr">
                    <a:solidFill>
                      <a:srgbClr val="F7F7F9"/>
                    </a:solidFill>
                  </a:tcPr>
                </a:tc>
              </a:tr>
              <a:tr h="420624">
                <a:tc>
                  <a:txBody>
                    <a:bodyPr wrap="square"/>
                    <a:lstStyle/>
                    <a:p>
                      <a:pPr algn="l">
                        <a:spcAft>
                          <a:spcPts val="100"/>
                        </a:spcAft>
                      </a:pPr>
                      <a:r>
                        <a:rPr sz="1000" b="1" i="0">
                          <a:solidFill>
                            <a:srgbClr val="3A106E"/>
                          </a:solidFill>
                          <a:latin typeface="Yu Gothic"/>
                          <a:ea typeface="Yu Gothic"/>
                          <a:cs typeface="Yu Gothic"/>
                        </a:rPr>
                        <a:t>財務リエゾン</a:t>
                      </a:r>
                    </a:p>
                  </a:txBody>
                  <a:tcPr marL="54864" marR="54864" marT="18288" marB="18288" anchor="ctr">
                    <a:solidFill>
                      <a:srgbClr val="F3EFFB"/>
                    </a:solidFill>
                  </a:tcPr>
                </a:tc>
                <a:tc>
                  <a:txBody>
                    <a:bodyPr wrap="square"/>
                    <a:lstStyle/>
                    <a:p>
                      <a:pPr algn="l">
                        <a:spcAft>
                          <a:spcPts val="100"/>
                        </a:spcAft>
                      </a:pPr>
                      <a:r>
                        <a:rPr sz="1000" b="1" i="0">
                          <a:solidFill>
                            <a:srgbClr val="3A106E"/>
                          </a:solidFill>
                          <a:latin typeface="Yu Gothic"/>
                          <a:ea typeface="Yu Gothic"/>
                          <a:cs typeface="Yu Gothic"/>
                        </a:rPr>
                        <a:t>柳沼さん</a:t>
                      </a:r>
                    </a:p>
                  </a:txBody>
                  <a:tcPr marL="54864" marR="54864" marT="18288" marB="18288" anchor="ctr">
                    <a:solidFill>
                      <a:srgbClr val="F3EFFB"/>
                    </a:solidFill>
                  </a:tcPr>
                </a:tc>
                <a:tc>
                  <a:txBody>
                    <a:bodyPr wrap="square"/>
                    <a:lstStyle/>
                    <a:p>
                      <a:pPr algn="l">
                        <a:spcAft>
                          <a:spcPts val="100"/>
                        </a:spcAft>
                      </a:pPr>
                      <a:r>
                        <a:rPr sz="1000" b="1" i="0">
                          <a:solidFill>
                            <a:srgbClr val="3A106E"/>
                          </a:solidFill>
                          <a:latin typeface="Yu Gothic"/>
                          <a:ea typeface="Yu Gothic"/>
                          <a:cs typeface="Yu Gothic"/>
                        </a:rPr>
                        <a:t>兼務・週2〜3h</a:t>
                      </a:r>
                    </a:p>
                  </a:txBody>
                  <a:tcPr marL="54864" marR="54864" marT="18288" marB="18288" anchor="ctr">
                    <a:solidFill>
                      <a:srgbClr val="F3EFFB"/>
                    </a:solidFill>
                  </a:tcPr>
                </a:tc>
                <a:tc>
                  <a:txBody>
                    <a:bodyPr wrap="square"/>
                    <a:lstStyle/>
                    <a:p>
                      <a:pPr algn="l">
                        <a:spcAft>
                          <a:spcPts val="100"/>
                        </a:spcAft>
                      </a:pPr>
                      <a:r>
                        <a:rPr sz="1000" b="1" i="0">
                          <a:solidFill>
                            <a:srgbClr val="3A106E"/>
                          </a:solidFill>
                          <a:latin typeface="Yu Gothic"/>
                          <a:ea typeface="Yu Gothic"/>
                          <a:cs typeface="Yu Gothic"/>
                        </a:rPr>
                        <a:t>財務データの定期供給・粗利算定ルールの検証</a:t>
                      </a:r>
                    </a:p>
                  </a:txBody>
                  <a:tcPr marL="54864" marR="54864" marT="18288" marB="18288" anchor="ctr">
                    <a:solidFill>
                      <a:srgbClr val="F3EFFB"/>
                    </a:solidFill>
                  </a:tcPr>
                </a:tc>
              </a:tr>
            </a:tbl>
          </a:graphicData>
        </a:graphic>
      </p:graphicFrame>
      <p:sp>
        <p:nvSpPr>
          <p:cNvPr id="6" name="Rectangle 5"/>
          <p:cNvSpPr/>
          <p:nvPr/>
        </p:nvSpPr>
        <p:spPr>
          <a:xfrm>
            <a:off x="502920" y="5358384"/>
            <a:ext cx="11183112" cy="640080"/>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358384"/>
            <a:ext cx="38100" cy="64008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413248"/>
            <a:ext cx="10835640" cy="530352"/>
          </a:xfrm>
          <a:prstGeom prst="rect">
            <a:avLst/>
          </a:prstGeom>
          <a:noFill/>
        </p:spPr>
        <p:txBody>
          <a:bodyPr wrap="square" lIns="0" rIns="0" tIns="0" bIns="0" anchor="ctr">
            <a:spAutoFit/>
          </a:bodyPr>
          <a:lstStyle/>
          <a:p>
            <a:pPr algn="l">
              <a:spcAft>
                <a:spcPts val="0"/>
              </a:spcAft>
            </a:pPr>
            <a:r>
              <a:rPr sz="1050" b="1" i="0">
                <a:solidFill>
                  <a:srgbClr val="3A106E"/>
                </a:solidFill>
                <a:latin typeface="Yu Gothic"/>
                <a:ea typeface="Yu Gothic"/>
                <a:cs typeface="Yu Gothic"/>
              </a:rPr>
              <a:t>柳沼さんには財務リエゾンをお願いしたく、本日はその中身のご相談です。STOの定例への出席は不要です。</a:t>
            </a:r>
          </a:p>
        </p:txBody>
      </p:sp>
      <p:sp>
        <p:nvSpPr>
          <p:cNvPr id="9" name="Rectangle 8"/>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11" name="TextBox 10"/>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なぜ財務データが改革の土台か</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金額が入って初めて、力の注ぎ先を数字で選べる</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847088"/>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47088"/>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130552"/>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①</a:t>
            </a:r>
          </a:p>
        </p:txBody>
      </p:sp>
      <p:sp>
        <p:nvSpPr>
          <p:cNvPr id="8" name="TextBox 7"/>
          <p:cNvSpPr txBox="1"/>
          <p:nvPr/>
        </p:nvSpPr>
        <p:spPr>
          <a:xfrm>
            <a:off x="1426464" y="1956816"/>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棚卸しは完了。しかし金額列はゼロのまま</a:t>
            </a:r>
          </a:p>
          <a:p>
            <a:pPr algn="l">
              <a:spcAft>
                <a:spcPts val="0"/>
              </a:spcAft>
            </a:pPr>
            <a:r>
              <a:rPr sz="980" b="0" i="0">
                <a:solidFill>
                  <a:srgbClr val="262630"/>
                </a:solidFill>
                <a:latin typeface="Yu Gothic"/>
                <a:ea typeface="Yu Gothic"/>
                <a:cs typeface="Yu Gothic"/>
              </a:rPr>
              <a:t>顧客746社・案件299件の棚卸しが完了。しかし金額列（年間取引額・粗利）はゼロのまま——財務データとつながって初めて「どこに力を注ぐか」を数字で選べる</a:t>
            </a:r>
          </a:p>
        </p:txBody>
      </p:sp>
      <p:sp>
        <p:nvSpPr>
          <p:cNvPr id="9" name="Rectangle 8"/>
          <p:cNvSpPr/>
          <p:nvPr/>
        </p:nvSpPr>
        <p:spPr>
          <a:xfrm>
            <a:off x="502920" y="3054096"/>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054096"/>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337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②</a:t>
            </a:r>
          </a:p>
        </p:txBody>
      </p:sp>
      <p:sp>
        <p:nvSpPr>
          <p:cNvPr id="12" name="TextBox 11"/>
          <p:cNvSpPr txBox="1"/>
          <p:nvPr/>
        </p:nvSpPr>
        <p:spPr>
          <a:xfrm>
            <a:off x="1426464" y="3163824"/>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名寄せの壁：営業の名前と財務の取引先が繋がらない</a:t>
            </a:r>
          </a:p>
          <a:p>
            <a:pPr algn="l">
              <a:spcAft>
                <a:spcPts val="0"/>
              </a:spcAft>
            </a:pPr>
            <a:r>
              <a:rPr sz="980" b="0" i="0">
                <a:solidFill>
                  <a:srgbClr val="262630"/>
                </a:solidFill>
                <a:latin typeface="Yu Gothic"/>
                <a:ea typeface="Yu Gothic"/>
                <a:cs typeface="Yu Gothic"/>
              </a:rPr>
              <a:t>顧客名と財務の取引先が1対1で紐付くのはごく一部。委員会名義・決済サービス等の中間支払先名義が百件単位——財務データの「読み方」を教えていただく必要がある</a:t>
            </a:r>
          </a:p>
        </p:txBody>
      </p:sp>
      <p:sp>
        <p:nvSpPr>
          <p:cNvPr id="13" name="Rectangle 12"/>
          <p:cNvSpPr/>
          <p:nvPr/>
        </p:nvSpPr>
        <p:spPr>
          <a:xfrm>
            <a:off x="502920" y="4261104"/>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61104"/>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544568"/>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③</a:t>
            </a:r>
          </a:p>
        </p:txBody>
      </p:sp>
      <p:sp>
        <p:nvSpPr>
          <p:cNvPr id="16" name="TextBox 15"/>
          <p:cNvSpPr txBox="1"/>
          <p:nvPr/>
        </p:nvSpPr>
        <p:spPr>
          <a:xfrm>
            <a:off x="1426464" y="4370832"/>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座組が変わると同じ売上でも取り分が変わる</a:t>
            </a:r>
          </a:p>
          <a:p>
            <a:pPr algn="l">
              <a:spcAft>
                <a:spcPts val="0"/>
              </a:spcAft>
            </a:pPr>
            <a:r>
              <a:rPr sz="980" b="0" i="0">
                <a:solidFill>
                  <a:srgbClr val="262630"/>
                </a:solidFill>
                <a:latin typeface="Yu Gothic"/>
                <a:ea typeface="Yu Gothic"/>
                <a:cs typeface="Yu Gothic"/>
              </a:rPr>
              <a:t>委員会の座組が変わると同じ売上でも円谷の取り分が変わる（今期の中国原価率の例）——作品別の実効取り分率が分からないと案件の粗利評価が期中に狂う</a:t>
            </a:r>
          </a:p>
        </p:txBody>
      </p:sp>
      <p:sp>
        <p:nvSpPr>
          <p:cNvPr id="17" name="Rectangle 16"/>
          <p:cNvSpPr/>
          <p:nvPr/>
        </p:nvSpPr>
        <p:spPr>
          <a:xfrm>
            <a:off x="502920" y="5541264"/>
            <a:ext cx="11183112" cy="859536"/>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5541264"/>
            <a:ext cx="38100" cy="85953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5596128"/>
            <a:ext cx="10835640" cy="749808"/>
          </a:xfrm>
          <a:prstGeom prst="rect">
            <a:avLst/>
          </a:prstGeom>
          <a:noFill/>
        </p:spPr>
        <p:txBody>
          <a:bodyPr wrap="square" lIns="0" rIns="0" tIns="0" bIns="0" anchor="ctr">
            <a:spAutoFit/>
          </a:bodyPr>
          <a:lstStyle/>
          <a:p>
            <a:pPr algn="l">
              <a:spcAft>
                <a:spcPts val="0"/>
              </a:spcAft>
            </a:pPr>
            <a:r>
              <a:rPr sz="1050" b="1" i="0">
                <a:solidFill>
                  <a:srgbClr val="7823DC"/>
                </a:solidFill>
                <a:latin typeface="Yu Gothic"/>
                <a:ea typeface="Yu Gothic"/>
                <a:cs typeface="Yu Gothic"/>
              </a:rPr>
              <a:t>感謝　</a:t>
            </a:r>
            <a:r>
              <a:rPr sz="1050" b="0" i="0">
                <a:solidFill>
                  <a:srgbClr val="262630"/>
                </a:solidFill>
                <a:latin typeface="Yu Gothic"/>
                <a:ea typeface="Yu Gothic"/>
                <a:cs typeface="Yu Gothic"/>
              </a:rPr>
              <a:t>先日ご提供いただいた作品利益率一覧5期分で、改革の基準数値（なぜ今か）が確定できました。ありがとうございました。次はこの3つの壁を一緒に越えたいのです。</a:t>
            </a:r>
          </a:p>
        </p:txBody>
      </p:sp>
      <p:sp>
        <p:nvSpPr>
          <p:cNvPr id="20" name="Rectangle 19"/>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2" name="TextBox 21"/>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お願い① データのご提供（3点・優先順）</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完璧な形は求めません。加工・整形はすべてSTOで行います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02920" y="1847088"/>
          <a:ext cx="11183109" cy="4169663"/>
        </p:xfrm>
        <a:graphic>
          <a:graphicData uri="http://schemas.openxmlformats.org/drawingml/2006/table">
            <a:tbl>
              <a:tblPr firstRow="1" bandRow="1">
                <a:tableStyleId>{5C22544A-7EE6-4342-B048-85BDC9FD1C3A}</a:tableStyleId>
              </a:tblPr>
              <a:tblGrid>
                <a:gridCol w="1374972"/>
                <a:gridCol w="2749945"/>
                <a:gridCol w="3299934"/>
                <a:gridCol w="3758258"/>
              </a:tblGrid>
              <a:tr h="1042415">
                <a:tc>
                  <a:txBody>
                    <a:bodyPr wrap="square"/>
                    <a:lstStyle/>
                    <a:p>
                      <a:pPr algn="l">
                        <a:spcAft>
                          <a:spcPts val="0"/>
                        </a:spcAft>
                      </a:pPr>
                      <a:r>
                        <a:rPr sz="1000" b="1" i="0">
                          <a:solidFill>
                            <a:srgbClr val="FFFFFF"/>
                          </a:solidFill>
                          <a:latin typeface="Yu Gothic"/>
                          <a:ea typeface="Yu Gothic"/>
                          <a:cs typeface="Yu Gothic"/>
                        </a:rPr>
                        <a:t>優先</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データ</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使い道</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お願いしたい形</a:t>
                      </a:r>
                    </a:p>
                  </a:txBody>
                  <a:tcPr marL="54864" marR="54864" marT="18288" marB="18288" anchor="ctr">
                    <a:solidFill>
                      <a:srgbClr val="3A106E"/>
                    </a:solidFill>
                  </a:tcPr>
                </a:tc>
              </a:tr>
              <a:tr h="1042415">
                <a:tc>
                  <a:txBody>
                    <a:bodyPr wrap="square"/>
                    <a:lstStyle/>
                    <a:p>
                      <a:pPr algn="l">
                        <a:spcAft>
                          <a:spcPts val="100"/>
                        </a:spcAft>
                      </a:pPr>
                      <a:r>
                        <a:rPr sz="950" b="1" i="0">
                          <a:solidFill>
                            <a:srgbClr val="FFFFFF"/>
                          </a:solidFill>
                          <a:latin typeface="Yu Gothic"/>
                          <a:ea typeface="Yu Gothic"/>
                          <a:cs typeface="Yu Gothic"/>
                        </a:rPr>
                        <a:t>1</a:t>
                      </a:r>
                    </a:p>
                    <a:p>
                      <a:pPr algn="l">
                        <a:spcAft>
                          <a:spcPts val="100"/>
                        </a:spcAft>
                      </a:pPr>
                      <a:r>
                        <a:rPr sz="950" b="1" i="0">
                          <a:solidFill>
                            <a:srgbClr val="FFFFFF"/>
                          </a:solidFill>
                          <a:latin typeface="Yu Gothic"/>
                          <a:ea typeface="Yu Gothic"/>
                          <a:cs typeface="Yu Gothic"/>
                        </a:rPr>
                        <a:t>最優先</a:t>
                      </a:r>
                    </a:p>
                    <a:p>
                      <a:pPr algn="l">
                        <a:spcAft>
                          <a:spcPts val="100"/>
                        </a:spcAft>
                      </a:pPr>
                      <a:r>
                        <a:rPr sz="950" b="1" i="0">
                          <a:solidFill>
                            <a:srgbClr val="FFFFFF"/>
                          </a:solidFill>
                          <a:latin typeface="Yu Gothic"/>
                          <a:ea typeface="Yu Gothic"/>
                          <a:cs typeface="Yu Gothic"/>
                        </a:rPr>
                        <a:t>（先日</a:t>
                      </a:r>
                    </a:p>
                    <a:p>
                      <a:pPr algn="l">
                        <a:spcAft>
                          <a:spcPts val="100"/>
                        </a:spcAft>
                      </a:pPr>
                      <a:r>
                        <a:rPr sz="950" b="1" i="0">
                          <a:solidFill>
                            <a:srgbClr val="FFFFFF"/>
                          </a:solidFill>
                          <a:latin typeface="Yu Gothic"/>
                          <a:ea typeface="Yu Gothic"/>
                          <a:cs typeface="Yu Gothic"/>
                        </a:rPr>
                        <a:t>依頼済み）</a:t>
                      </a:r>
                    </a:p>
                  </a:txBody>
                  <a:tcPr marL="54864" marR="54864" marT="18288" marB="18288" anchor="ctr">
                    <a:solidFill>
                      <a:srgbClr val="7823DC"/>
                    </a:solidFill>
                  </a:tcPr>
                </a:tc>
                <a:tc>
                  <a:txBody>
                    <a:bodyPr wrap="square"/>
                    <a:lstStyle/>
                    <a:p>
                      <a:pPr algn="l">
                        <a:spcAft>
                          <a:spcPts val="100"/>
                        </a:spcAft>
                      </a:pPr>
                      <a:r>
                        <a:rPr sz="950" b="0" i="0">
                          <a:solidFill>
                            <a:srgbClr val="262630"/>
                          </a:solidFill>
                          <a:latin typeface="Yu Gothic"/>
                          <a:ea typeface="Yu Gothic"/>
                          <a:cs typeface="Yu Gothic"/>
                        </a:rPr>
                        <a:t>取引先別の</a:t>
                      </a:r>
                    </a:p>
                    <a:p>
                      <a:pPr algn="l">
                        <a:spcAft>
                          <a:spcPts val="100"/>
                        </a:spcAft>
                      </a:pPr>
                      <a:r>
                        <a:rPr sz="950" b="0" i="0">
                          <a:solidFill>
                            <a:srgbClr val="262630"/>
                          </a:solidFill>
                          <a:latin typeface="Yu Gothic"/>
                          <a:ea typeface="Yu Gothic"/>
                          <a:cs typeface="Yu Gothic"/>
                        </a:rPr>
                        <a:t>売上明細</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顧客746社への金額反映・取引実績スコアの自動判定</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NX出力でも販売管理データでも可。取引先名（またはコード）×期別売上が分かれば加工はこちらで</a:t>
                      </a:r>
                    </a:p>
                  </a:txBody>
                  <a:tcPr marL="54864" marR="54864" marT="18288" marB="18288" anchor="ctr">
                    <a:solidFill>
                      <a:srgbClr val="FFFFFF"/>
                    </a:solidFill>
                  </a:tcPr>
                </a:tc>
              </a:tr>
              <a:tr h="1042415">
                <a:tc>
                  <a:txBody>
                    <a:bodyPr wrap="square"/>
                    <a:lstStyle/>
                    <a:p>
                      <a:pPr algn="l">
                        <a:spcAft>
                          <a:spcPts val="100"/>
                        </a:spcAft>
                      </a:pPr>
                      <a:r>
                        <a:rPr sz="950" b="1" i="0">
                          <a:solidFill>
                            <a:srgbClr val="3A106E"/>
                          </a:solidFill>
                          <a:latin typeface="Yu Gothic"/>
                          <a:ea typeface="Yu Gothic"/>
                          <a:cs typeface="Yu Gothic"/>
                        </a:rPr>
                        <a:t>2</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作品別グロス収入と委員会別配分率（または委員会契約の一覧）</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案件別粗利の推計（グロス×実効取り分率）。座組変更の早期検知</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一覧がなければ「どの契約書を見れば分かるか」のご案内でも</a:t>
                      </a:r>
                    </a:p>
                  </a:txBody>
                  <a:tcPr marL="54864" marR="54864" marT="18288" marB="18288" anchor="ctr">
                    <a:solidFill>
                      <a:srgbClr val="F7F7F9"/>
                    </a:solidFill>
                  </a:tcPr>
                </a:tc>
              </a:tr>
              <a:tr h="1042418">
                <a:tc>
                  <a:txBody>
                    <a:bodyPr wrap="square"/>
                    <a:lstStyle/>
                    <a:p>
                      <a:pPr algn="l">
                        <a:spcAft>
                          <a:spcPts val="100"/>
                        </a:spcAft>
                      </a:pPr>
                      <a:r>
                        <a:rPr sz="950" b="1" i="0">
                          <a:solidFill>
                            <a:srgbClr val="3A106E"/>
                          </a:solidFill>
                          <a:latin typeface="Yu Gothic"/>
                          <a:ea typeface="Yu Gothic"/>
                          <a:cs typeface="Yu Gothic"/>
                        </a:rPr>
                        <a:t>3</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親セグメント名称と作品・部門の対応表</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営業領域別の集計</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既存の管理資料があればそのままで</a:t>
                      </a:r>
                    </a:p>
                  </a:txBody>
                  <a:tcPr marL="54864" marR="54864" marT="18288" marB="18288" anchor="ctr">
                    <a:solidFill>
                      <a:srgbClr val="FFFFFF"/>
                    </a:solidFill>
                  </a:tcPr>
                </a:tc>
              </a:tr>
            </a:tbl>
          </a:graphicData>
        </a:graphic>
      </p:graphicFrame>
      <p:sp>
        <p:nvSpPr>
          <p:cNvPr id="6" name="Rectangle 5"/>
          <p:cNvSpPr/>
          <p:nvPr/>
        </p:nvSpPr>
        <p:spPr>
          <a:xfrm>
            <a:off x="502920" y="5797296"/>
            <a:ext cx="11183112" cy="603504"/>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797296"/>
            <a:ext cx="38100" cy="60350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852160"/>
            <a:ext cx="10835640" cy="493776"/>
          </a:xfrm>
          <a:prstGeom prst="rect">
            <a:avLst/>
          </a:prstGeom>
          <a:noFill/>
        </p:spPr>
        <p:txBody>
          <a:bodyPr wrap="square" lIns="0" rIns="0" tIns="0" bIns="0" anchor="ctr">
            <a:spAutoFit/>
          </a:bodyPr>
          <a:lstStyle/>
          <a:p>
            <a:pPr algn="l">
              <a:spcAft>
                <a:spcPts val="0"/>
              </a:spcAft>
            </a:pPr>
            <a:r>
              <a:rPr sz="1050" b="1" i="0">
                <a:solidFill>
                  <a:srgbClr val="3A106E"/>
                </a:solidFill>
                <a:latin typeface="Yu Gothic"/>
                <a:ea typeface="Yu Gothic"/>
                <a:cs typeface="Yu Gothic"/>
              </a:rPr>
              <a:t>完璧な形は求めません。出しやすい形でいただければ、加工・整形はすべてSTO（坪井）でやります。</a:t>
            </a:r>
          </a:p>
        </p:txBody>
      </p:sp>
      <p:sp>
        <p:nvSpPr>
          <p:cNvPr id="9" name="Rectangle 8"/>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11" name="TextBox 10"/>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お願い② 知恵のご提供（2点）</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データだけでなく、読み方と算定ルールの知恵をお借りしたい</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920240"/>
            <a:ext cx="5504688" cy="301752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920240"/>
            <a:ext cx="550468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31136"/>
            <a:ext cx="566928" cy="566928"/>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FFFFFF"/>
                </a:solidFill>
                <a:latin typeface="Yu Gothic"/>
                <a:ea typeface="Yu Gothic"/>
                <a:cs typeface="Yu Gothic"/>
              </a:rPr>
              <a:t>①</a:t>
            </a:r>
          </a:p>
        </p:txBody>
      </p:sp>
      <p:sp>
        <p:nvSpPr>
          <p:cNvPr id="8" name="TextBox 7"/>
          <p:cNvSpPr txBox="1"/>
          <p:nvPr/>
        </p:nvSpPr>
        <p:spPr>
          <a:xfrm>
            <a:off x="1508760" y="2267712"/>
            <a:ext cx="4261104" cy="566928"/>
          </a:xfrm>
          <a:prstGeom prst="rect">
            <a:avLst/>
          </a:prstGeom>
          <a:noFill/>
        </p:spPr>
        <p:txBody>
          <a:bodyPr wrap="square" lIns="0" rIns="0" tIns="0" bIns="0" anchor="ctr">
            <a:spAutoFit/>
          </a:bodyPr>
          <a:lstStyle/>
          <a:p>
            <a:pPr algn="l">
              <a:spcAft>
                <a:spcPts val="0"/>
              </a:spcAft>
            </a:pPr>
            <a:r>
              <a:rPr sz="1350" b="1" i="0">
                <a:solidFill>
                  <a:srgbClr val="3A106E"/>
                </a:solidFill>
                <a:latin typeface="Yu Gothic"/>
                <a:ea typeface="Yu Gothic"/>
                <a:cs typeface="Yu Gothic"/>
              </a:rPr>
              <a:t>対応表づくりのヒアリング（1時間×1回）</a:t>
            </a:r>
          </a:p>
        </p:txBody>
      </p:sp>
      <p:sp>
        <p:nvSpPr>
          <p:cNvPr id="9" name="TextBox 8"/>
          <p:cNvSpPr txBox="1"/>
          <p:nvPr/>
        </p:nvSpPr>
        <p:spPr>
          <a:xfrm>
            <a:off x="813816" y="3090672"/>
            <a:ext cx="4882896" cy="1737360"/>
          </a:xfrm>
          <a:prstGeom prst="rect">
            <a:avLst/>
          </a:prstGeom>
          <a:noFill/>
        </p:spPr>
        <p:txBody>
          <a:bodyPr wrap="square" lIns="0" rIns="0" tIns="0" bIns="0">
            <a:spAutoFit/>
          </a:bodyPr>
          <a:lstStyle/>
          <a:p>
            <a:pPr algn="l">
              <a:spcAft>
                <a:spcPts val="700"/>
              </a:spcAft>
            </a:pPr>
            <a:r>
              <a:rPr sz="1100" b="0" i="0">
                <a:solidFill>
                  <a:srgbClr val="262630"/>
                </a:solidFill>
                <a:latin typeface="Yu Gothic"/>
                <a:ea typeface="Yu Gothic"/>
                <a:cs typeface="Yu Gothic"/>
              </a:rPr>
              <a:t>営業の顧客 ⇔ 財務の取引先 ⇔ 委員会・中間支払先 の対応表を設計したい。</a:t>
            </a:r>
          </a:p>
          <a:p>
            <a:pPr algn="l">
              <a:spcAft>
                <a:spcPts val="700"/>
              </a:spcAft>
            </a:pPr>
            <a:r>
              <a:rPr sz="1100" b="0" i="0">
                <a:solidFill>
                  <a:srgbClr val="262630"/>
                </a:solidFill>
                <a:latin typeface="Yu Gothic"/>
                <a:ea typeface="Yu Gothic"/>
                <a:cs typeface="Yu Gothic"/>
              </a:rPr>
              <a:t>財務側データの「この名義は何か」（実取引先か・決済代行か・委員会か）を教えてください。</a:t>
            </a:r>
          </a:p>
          <a:p>
            <a:pPr algn="l">
              <a:spcAft>
                <a:spcPts val="700"/>
              </a:spcAft>
            </a:pPr>
            <a:r>
              <a:rPr sz="1100" b="0" i="0">
                <a:solidFill>
                  <a:srgbClr val="262630"/>
                </a:solidFill>
                <a:latin typeface="Yu Gothic"/>
                <a:ea typeface="Yu Gothic"/>
                <a:cs typeface="Yu Gothic"/>
              </a:rPr>
              <a:t>坪井が設計案を持参し、新谷も同席します。</a:t>
            </a:r>
          </a:p>
        </p:txBody>
      </p:sp>
      <p:sp>
        <p:nvSpPr>
          <p:cNvPr id="10" name="Rectangle 9"/>
          <p:cNvSpPr/>
          <p:nvPr/>
        </p:nvSpPr>
        <p:spPr>
          <a:xfrm>
            <a:off x="6181344" y="1920240"/>
            <a:ext cx="5504688" cy="301752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920240"/>
            <a:ext cx="550468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55664" y="2231136"/>
            <a:ext cx="566928" cy="566928"/>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FFFFFF"/>
                </a:solidFill>
                <a:latin typeface="Yu Gothic"/>
                <a:ea typeface="Yu Gothic"/>
                <a:cs typeface="Yu Gothic"/>
              </a:rPr>
              <a:t>②</a:t>
            </a:r>
          </a:p>
        </p:txBody>
      </p:sp>
      <p:sp>
        <p:nvSpPr>
          <p:cNvPr id="13" name="TextBox 12"/>
          <p:cNvSpPr txBox="1"/>
          <p:nvPr/>
        </p:nvSpPr>
        <p:spPr>
          <a:xfrm>
            <a:off x="7187184" y="2267712"/>
            <a:ext cx="4261104" cy="566928"/>
          </a:xfrm>
          <a:prstGeom prst="rect">
            <a:avLst/>
          </a:prstGeom>
          <a:noFill/>
        </p:spPr>
        <p:txBody>
          <a:bodyPr wrap="square" lIns="0" rIns="0" tIns="0" bIns="0" anchor="ctr">
            <a:spAutoFit/>
          </a:bodyPr>
          <a:lstStyle/>
          <a:p>
            <a:pPr algn="l">
              <a:spcAft>
                <a:spcPts val="0"/>
              </a:spcAft>
            </a:pPr>
            <a:r>
              <a:rPr sz="1350" b="1" i="0">
                <a:solidFill>
                  <a:srgbClr val="3A106E"/>
                </a:solidFill>
                <a:latin typeface="Yu Gothic"/>
                <a:ea typeface="Yu Gothic"/>
                <a:cs typeface="Yu Gothic"/>
              </a:rPr>
              <a:t>粗利算定ルールの検証</a:t>
            </a:r>
          </a:p>
        </p:txBody>
      </p:sp>
      <p:sp>
        <p:nvSpPr>
          <p:cNvPr id="14" name="TextBox 13"/>
          <p:cNvSpPr txBox="1"/>
          <p:nvPr/>
        </p:nvSpPr>
        <p:spPr>
          <a:xfrm>
            <a:off x="6492240" y="3090672"/>
            <a:ext cx="4882896" cy="1737360"/>
          </a:xfrm>
          <a:prstGeom prst="rect">
            <a:avLst/>
          </a:prstGeom>
          <a:noFill/>
        </p:spPr>
        <p:txBody>
          <a:bodyPr wrap="square" lIns="0" rIns="0" tIns="0" bIns="0">
            <a:spAutoFit/>
          </a:bodyPr>
          <a:lstStyle/>
          <a:p>
            <a:pPr algn="l">
              <a:spcAft>
                <a:spcPts val="700"/>
              </a:spcAft>
            </a:pPr>
            <a:r>
              <a:rPr sz="1100" b="0" i="0">
                <a:solidFill>
                  <a:srgbClr val="262630"/>
                </a:solidFill>
                <a:latin typeface="Yu Gothic"/>
                <a:ea typeface="Yu Gothic"/>
                <a:cs typeface="Yu Gothic"/>
              </a:rPr>
              <a:t>「案件別粗利 ≒ グロス収入 × 作品別実効取り分率」という推計方法の妥当性を見てください。</a:t>
            </a:r>
          </a:p>
          <a:p>
            <a:pPr algn="l">
              <a:spcAft>
                <a:spcPts val="700"/>
              </a:spcAft>
            </a:pPr>
            <a:r>
              <a:rPr sz="1100" b="0" i="0">
                <a:solidFill>
                  <a:srgbClr val="262630"/>
                </a:solidFill>
                <a:latin typeface="Yu Gothic"/>
                <a:ea typeface="Yu Gothic"/>
                <a:cs typeface="Yu Gothic"/>
              </a:rPr>
              <a:t>他社分消去のパターンA（純額）／B（総額）の使い分け、</a:t>
            </a:r>
          </a:p>
          <a:p>
            <a:pPr algn="l">
              <a:spcAft>
                <a:spcPts val="700"/>
              </a:spcAft>
            </a:pPr>
            <a:r>
              <a:rPr sz="1100" b="0" i="0">
                <a:solidFill>
                  <a:srgbClr val="262630"/>
                </a:solidFill>
                <a:latin typeface="Yu Gothic"/>
                <a:ea typeface="Yu Gothic"/>
                <a:cs typeface="Yu Gothic"/>
              </a:rPr>
              <a:t>消去とグロスの突合キーの有無なども確認したい。</a:t>
            </a:r>
          </a:p>
        </p:txBody>
      </p:sp>
      <p:sp>
        <p:nvSpPr>
          <p:cNvPr id="15" name="Rectangle 14"/>
          <p:cNvSpPr/>
          <p:nvPr/>
        </p:nvSpPr>
        <p:spPr>
          <a:xfrm>
            <a:off x="502920" y="5175504"/>
            <a:ext cx="11183112" cy="859536"/>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5175504"/>
            <a:ext cx="38100" cy="85953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5230368"/>
            <a:ext cx="10835640" cy="749808"/>
          </a:xfrm>
          <a:prstGeom prst="rect">
            <a:avLst/>
          </a:prstGeom>
          <a:noFill/>
        </p:spPr>
        <p:txBody>
          <a:bodyPr wrap="square" lIns="0" rIns="0" tIns="0" bIns="0" anchor="ctr">
            <a:spAutoFit/>
          </a:bodyPr>
          <a:lstStyle/>
          <a:p>
            <a:pPr algn="l">
              <a:spcAft>
                <a:spcPts val="0"/>
              </a:spcAft>
            </a:pPr>
            <a:r>
              <a:rPr sz="1050" b="1" i="0">
                <a:solidFill>
                  <a:srgbClr val="7823DC"/>
                </a:solidFill>
                <a:latin typeface="Yu Gothic"/>
                <a:ea typeface="Yu Gothic"/>
                <a:cs typeface="Yu Gothic"/>
              </a:rPr>
              <a:t>出発点　</a:t>
            </a:r>
            <a:r>
              <a:rPr sz="1050" b="0" i="0">
                <a:solidFill>
                  <a:srgbClr val="262630"/>
                </a:solidFill>
                <a:latin typeface="Yu Gothic"/>
                <a:ea typeface="Yu Gothic"/>
                <a:cs typeface="Yu Gothic"/>
              </a:rPr>
              <a:t>青山さんからいただいた他社分消去のご説明が出発点です。『間違ってたらご指摘を』とのことでしたので、まさにそのご指摘をいただく場を作りたいと思っています。</a:t>
            </a:r>
          </a:p>
        </p:txBody>
      </p:sp>
      <p:sp>
        <p:nvSpPr>
          <p:cNvPr id="18" name="Rectangle 17"/>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0" name="TextBox 19"/>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進め方と本日決めたいこと</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柳沼さんの負荷を最小に。この場で方向だけ合わせられれば十分です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975104"/>
            <a:ext cx="5486400" cy="3218688"/>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975104"/>
            <a:ext cx="5486400" cy="475488"/>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975104"/>
            <a:ext cx="5486400" cy="475488"/>
          </a:xfrm>
          <a:prstGeom prst="rect">
            <a:avLst/>
          </a:prstGeom>
          <a:noFill/>
        </p:spPr>
        <p:txBody>
          <a:bodyPr wrap="square" lIns="0" rIns="0" tIns="0" bIns="0" anchor="ctr">
            <a:spAutoFit/>
          </a:bodyPr>
          <a:lstStyle/>
          <a:p>
            <a:pPr algn="ctr">
              <a:spcAft>
                <a:spcPts val="0"/>
              </a:spcAft>
            </a:pPr>
            <a:r>
              <a:rPr sz="1250" b="1" i="0">
                <a:solidFill>
                  <a:srgbClr val="FFFFFF"/>
                </a:solidFill>
                <a:latin typeface="Yu Gothic"/>
                <a:ea typeface="Yu Gothic"/>
                <a:cs typeface="Yu Gothic"/>
              </a:rPr>
              <a:t>進め方（負荷の設計）</a:t>
            </a:r>
          </a:p>
        </p:txBody>
      </p:sp>
      <p:sp>
        <p:nvSpPr>
          <p:cNvPr id="8" name="Rectangle 7"/>
          <p:cNvSpPr/>
          <p:nvPr/>
        </p:nvSpPr>
        <p:spPr>
          <a:xfrm>
            <a:off x="658368" y="2633472"/>
            <a:ext cx="1188720" cy="384048"/>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33472"/>
            <a:ext cx="1188720" cy="384048"/>
          </a:xfrm>
          <a:prstGeom prst="rect">
            <a:avLst/>
          </a:prstGeom>
          <a:noFill/>
        </p:spPr>
        <p:txBody>
          <a:bodyPr wrap="square" lIns="0" rIns="0" tIns="0" bIns="0" anchor="ctr">
            <a:spAutoFit/>
          </a:bodyPr>
          <a:lstStyle/>
          <a:p>
            <a:pPr algn="ctr">
              <a:spcAft>
                <a:spcPts val="0"/>
              </a:spcAft>
            </a:pPr>
            <a:r>
              <a:rPr sz="1050" b="1" i="0">
                <a:solidFill>
                  <a:srgbClr val="7823DC"/>
                </a:solidFill>
                <a:latin typeface="Yu Gothic"/>
                <a:ea typeface="Yu Gothic"/>
                <a:cs typeface="Yu Gothic"/>
              </a:rPr>
              <a:t>週2〜3h</a:t>
            </a:r>
          </a:p>
        </p:txBody>
      </p:sp>
      <p:sp>
        <p:nvSpPr>
          <p:cNvPr id="10" name="TextBox 9"/>
          <p:cNvSpPr txBox="1"/>
          <p:nvPr/>
        </p:nvSpPr>
        <p:spPr>
          <a:xfrm>
            <a:off x="1956816" y="2578608"/>
            <a:ext cx="3931920" cy="621792"/>
          </a:xfrm>
          <a:prstGeom prst="rect">
            <a:avLst/>
          </a:prstGeom>
          <a:noFill/>
        </p:spPr>
        <p:txBody>
          <a:bodyPr wrap="square" lIns="0" rIns="0" tIns="0" bIns="0" anchor="ctr">
            <a:spAutoFit/>
          </a:bodyPr>
          <a:lstStyle/>
          <a:p>
            <a:pPr algn="l">
              <a:spcAft>
                <a:spcPts val="0"/>
              </a:spcAft>
            </a:pPr>
            <a:r>
              <a:rPr sz="1000" b="0" i="0">
                <a:solidFill>
                  <a:srgbClr val="262630"/>
                </a:solidFill>
                <a:latin typeface="Yu Gothic"/>
                <a:ea typeface="Yu Gothic"/>
                <a:cs typeface="Yu Gothic"/>
              </a:rPr>
              <a:t>受け渡しと検証のときだけお時間をいただきます（定例出席は不要）</a:t>
            </a:r>
          </a:p>
        </p:txBody>
      </p:sp>
      <p:sp>
        <p:nvSpPr>
          <p:cNvPr id="11" name="Rectangle 10"/>
          <p:cNvSpPr/>
          <p:nvPr/>
        </p:nvSpPr>
        <p:spPr>
          <a:xfrm>
            <a:off x="658368" y="3255264"/>
            <a:ext cx="1188720" cy="384048"/>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55264"/>
            <a:ext cx="1188720" cy="384048"/>
          </a:xfrm>
          <a:prstGeom prst="rect">
            <a:avLst/>
          </a:prstGeom>
          <a:noFill/>
        </p:spPr>
        <p:txBody>
          <a:bodyPr wrap="square" lIns="0" rIns="0" tIns="0" bIns="0" anchor="ctr">
            <a:spAutoFit/>
          </a:bodyPr>
          <a:lstStyle/>
          <a:p>
            <a:pPr algn="ctr">
              <a:spcAft>
                <a:spcPts val="0"/>
              </a:spcAft>
            </a:pPr>
            <a:r>
              <a:rPr sz="1050" b="1" i="0">
                <a:solidFill>
                  <a:srgbClr val="7823DC"/>
                </a:solidFill>
                <a:latin typeface="Yu Gothic"/>
                <a:ea typeface="Yu Gothic"/>
                <a:cs typeface="Yu Gothic"/>
              </a:rPr>
              <a:t>窓口一本化</a:t>
            </a:r>
          </a:p>
        </p:txBody>
      </p:sp>
      <p:sp>
        <p:nvSpPr>
          <p:cNvPr id="13" name="TextBox 12"/>
          <p:cNvSpPr txBox="1"/>
          <p:nvPr/>
        </p:nvSpPr>
        <p:spPr>
          <a:xfrm>
            <a:off x="1956816" y="3200400"/>
            <a:ext cx="3931920" cy="621792"/>
          </a:xfrm>
          <a:prstGeom prst="rect">
            <a:avLst/>
          </a:prstGeom>
          <a:noFill/>
        </p:spPr>
        <p:txBody>
          <a:bodyPr wrap="square" lIns="0" rIns="0" tIns="0" bIns="0" anchor="ctr">
            <a:spAutoFit/>
          </a:bodyPr>
          <a:lstStyle/>
          <a:p>
            <a:pPr algn="l">
              <a:spcAft>
                <a:spcPts val="0"/>
              </a:spcAft>
            </a:pPr>
            <a:r>
              <a:rPr sz="1000" b="0" i="0">
                <a:solidFill>
                  <a:srgbClr val="262630"/>
                </a:solidFill>
                <a:latin typeface="Yu Gothic"/>
                <a:ea typeface="Yu Gothic"/>
                <a:cs typeface="Yu Gothic"/>
              </a:rPr>
              <a:t>窓口は坪井さんに一本化。細かなやり取りで時間を奪いません</a:t>
            </a:r>
          </a:p>
        </p:txBody>
      </p:sp>
      <p:sp>
        <p:nvSpPr>
          <p:cNvPr id="14" name="Rectangle 13"/>
          <p:cNvSpPr/>
          <p:nvPr/>
        </p:nvSpPr>
        <p:spPr>
          <a:xfrm>
            <a:off x="658368" y="3877056"/>
            <a:ext cx="1188720" cy="384048"/>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877056"/>
            <a:ext cx="1188720" cy="384048"/>
          </a:xfrm>
          <a:prstGeom prst="rect">
            <a:avLst/>
          </a:prstGeom>
          <a:noFill/>
        </p:spPr>
        <p:txBody>
          <a:bodyPr wrap="square" lIns="0" rIns="0" tIns="0" bIns="0" anchor="ctr">
            <a:spAutoFit/>
          </a:bodyPr>
          <a:lstStyle/>
          <a:p>
            <a:pPr algn="ctr">
              <a:spcAft>
                <a:spcPts val="0"/>
              </a:spcAft>
            </a:pPr>
            <a:r>
              <a:rPr sz="1050" b="1" i="0">
                <a:solidFill>
                  <a:srgbClr val="7823DC"/>
                </a:solidFill>
                <a:latin typeface="Yu Gothic"/>
                <a:ea typeface="Yu Gothic"/>
                <a:cs typeface="Yu Gothic"/>
              </a:rPr>
              <a:t>月次供給</a:t>
            </a:r>
          </a:p>
        </p:txBody>
      </p:sp>
      <p:sp>
        <p:nvSpPr>
          <p:cNvPr id="16" name="TextBox 15"/>
          <p:cNvSpPr txBox="1"/>
          <p:nvPr/>
        </p:nvSpPr>
        <p:spPr>
          <a:xfrm>
            <a:off x="1956816" y="3822192"/>
            <a:ext cx="3931920" cy="621792"/>
          </a:xfrm>
          <a:prstGeom prst="rect">
            <a:avLst/>
          </a:prstGeom>
          <a:noFill/>
        </p:spPr>
        <p:txBody>
          <a:bodyPr wrap="square" lIns="0" rIns="0" tIns="0" bIns="0" anchor="ctr">
            <a:spAutoFit/>
          </a:bodyPr>
          <a:lstStyle/>
          <a:p>
            <a:pPr algn="l">
              <a:spcAft>
                <a:spcPts val="0"/>
              </a:spcAft>
            </a:pPr>
            <a:r>
              <a:rPr sz="1000" b="0" i="0">
                <a:solidFill>
                  <a:srgbClr val="262630"/>
                </a:solidFill>
                <a:latin typeface="Yu Gothic"/>
                <a:ea typeface="Yu Gothic"/>
                <a:cs typeface="Yu Gothic"/>
              </a:rPr>
              <a:t>月次の定期供給にできないかご相談したい</a:t>
            </a:r>
          </a:p>
        </p:txBody>
      </p:sp>
      <p:sp>
        <p:nvSpPr>
          <p:cNvPr id="17" name="Rectangle 16"/>
          <p:cNvSpPr/>
          <p:nvPr/>
        </p:nvSpPr>
        <p:spPr>
          <a:xfrm>
            <a:off x="658368" y="4498848"/>
            <a:ext cx="1188720" cy="384048"/>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4498848"/>
            <a:ext cx="1188720" cy="384048"/>
          </a:xfrm>
          <a:prstGeom prst="rect">
            <a:avLst/>
          </a:prstGeom>
          <a:noFill/>
        </p:spPr>
        <p:txBody>
          <a:bodyPr wrap="square" lIns="0" rIns="0" tIns="0" bIns="0" anchor="ctr">
            <a:spAutoFit/>
          </a:bodyPr>
          <a:lstStyle/>
          <a:p>
            <a:pPr algn="ctr">
              <a:spcAft>
                <a:spcPts val="0"/>
              </a:spcAft>
            </a:pPr>
            <a:r>
              <a:rPr sz="1050" b="1" i="0">
                <a:solidFill>
                  <a:srgbClr val="7823DC"/>
                </a:solidFill>
                <a:latin typeface="Yu Gothic"/>
                <a:ea typeface="Yu Gothic"/>
                <a:cs typeface="Yu Gothic"/>
              </a:rPr>
              <a:t>効果測定</a:t>
            </a:r>
          </a:p>
        </p:txBody>
      </p:sp>
      <p:sp>
        <p:nvSpPr>
          <p:cNvPr id="19" name="TextBox 18"/>
          <p:cNvSpPr txBox="1"/>
          <p:nvPr/>
        </p:nvSpPr>
        <p:spPr>
          <a:xfrm>
            <a:off x="1956816" y="4443984"/>
            <a:ext cx="3931920" cy="621792"/>
          </a:xfrm>
          <a:prstGeom prst="rect">
            <a:avLst/>
          </a:prstGeom>
          <a:noFill/>
        </p:spPr>
        <p:txBody>
          <a:bodyPr wrap="square" lIns="0" rIns="0" tIns="0" bIns="0" anchor="ctr">
            <a:spAutoFit/>
          </a:bodyPr>
          <a:lstStyle/>
          <a:p>
            <a:pPr algn="l">
              <a:spcAft>
                <a:spcPts val="0"/>
              </a:spcAft>
            </a:pPr>
            <a:r>
              <a:rPr sz="1000" b="0" i="0">
                <a:solidFill>
                  <a:srgbClr val="262630"/>
                </a:solidFill>
                <a:latin typeface="Yu Gothic"/>
                <a:ea typeface="Yu Gothic"/>
                <a:cs typeface="Yu Gothic"/>
              </a:rPr>
              <a:t>物差し合わせ（何を改革の寄与とするか）はデータが整い次第あらためて</a:t>
            </a:r>
          </a:p>
        </p:txBody>
      </p:sp>
      <p:sp>
        <p:nvSpPr>
          <p:cNvPr id="20" name="Rectangle 19"/>
          <p:cNvSpPr/>
          <p:nvPr/>
        </p:nvSpPr>
        <p:spPr>
          <a:xfrm>
            <a:off x="6199632" y="1975104"/>
            <a:ext cx="5486400" cy="3218688"/>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1975104"/>
            <a:ext cx="5486400" cy="475488"/>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99632" y="1975104"/>
            <a:ext cx="5486400" cy="475488"/>
          </a:xfrm>
          <a:prstGeom prst="rect">
            <a:avLst/>
          </a:prstGeom>
          <a:noFill/>
        </p:spPr>
        <p:txBody>
          <a:bodyPr wrap="square" lIns="0" rIns="0" tIns="0" bIns="0" anchor="ctr">
            <a:spAutoFit/>
          </a:bodyPr>
          <a:lstStyle/>
          <a:p>
            <a:pPr algn="ctr">
              <a:spcAft>
                <a:spcPts val="0"/>
              </a:spcAft>
            </a:pPr>
            <a:r>
              <a:rPr sz="1250" b="1" i="0">
                <a:solidFill>
                  <a:srgbClr val="FFFFFF"/>
                </a:solidFill>
                <a:latin typeface="Yu Gothic"/>
                <a:ea typeface="Yu Gothic"/>
                <a:cs typeface="Yu Gothic"/>
              </a:rPr>
              <a:t>本日決めたいこと（3つだけ）</a:t>
            </a:r>
          </a:p>
        </p:txBody>
      </p:sp>
      <p:sp>
        <p:nvSpPr>
          <p:cNvPr id="23" name="Oval 22"/>
          <p:cNvSpPr/>
          <p:nvPr/>
        </p:nvSpPr>
        <p:spPr>
          <a:xfrm>
            <a:off x="6400800" y="2670048"/>
            <a:ext cx="402336" cy="402336"/>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500" b="1" i="0">
                <a:solidFill>
                  <a:srgbClr val="FFFFFF"/>
                </a:solidFill>
                <a:latin typeface="Yu Gothic"/>
                <a:ea typeface="Yu Gothic"/>
                <a:cs typeface="Yu Gothic"/>
              </a:rPr>
              <a:t>1</a:t>
            </a:r>
          </a:p>
        </p:txBody>
      </p:sp>
      <p:sp>
        <p:nvSpPr>
          <p:cNvPr id="24" name="TextBox 23"/>
          <p:cNvSpPr txBox="1"/>
          <p:nvPr/>
        </p:nvSpPr>
        <p:spPr>
          <a:xfrm>
            <a:off x="6949440" y="2615184"/>
            <a:ext cx="4535424" cy="841248"/>
          </a:xfrm>
          <a:prstGeom prst="rect">
            <a:avLst/>
          </a:prstGeom>
          <a:noFill/>
        </p:spPr>
        <p:txBody>
          <a:bodyPr wrap="square" lIns="0" rIns="0" tIns="0" bIns="0" anchor="ctr">
            <a:spAutoFit/>
          </a:bodyPr>
          <a:lstStyle/>
          <a:p>
            <a:pPr algn="l">
              <a:spcAft>
                <a:spcPts val="300"/>
              </a:spcAft>
            </a:pPr>
            <a:r>
              <a:rPr sz="1200" b="1" i="0">
                <a:solidFill>
                  <a:srgbClr val="3A106E"/>
                </a:solidFill>
                <a:latin typeface="Yu Gothic"/>
                <a:ea typeface="Yu Gothic"/>
                <a:cs typeface="Yu Gothic"/>
              </a:rPr>
              <a:t>明細の受け渡し日と形式</a:t>
            </a:r>
          </a:p>
          <a:p>
            <a:pPr algn="l">
              <a:spcAft>
                <a:spcPts val="0"/>
              </a:spcAft>
            </a:pPr>
            <a:r>
              <a:rPr sz="980" b="0" i="0">
                <a:solidFill>
                  <a:srgbClr val="262630"/>
                </a:solidFill>
                <a:latin typeface="Yu Gothic"/>
                <a:ea typeface="Yu Gothic"/>
                <a:cs typeface="Yu Gothic"/>
              </a:rPr>
              <a:t>取引先別売上明細を、いつ・どの形式でいただくか</a:t>
            </a:r>
          </a:p>
        </p:txBody>
      </p:sp>
      <p:sp>
        <p:nvSpPr>
          <p:cNvPr id="25" name="Oval 24"/>
          <p:cNvSpPr/>
          <p:nvPr/>
        </p:nvSpPr>
        <p:spPr>
          <a:xfrm>
            <a:off x="6400800" y="3511296"/>
            <a:ext cx="402336" cy="402336"/>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500" b="1" i="0">
                <a:solidFill>
                  <a:srgbClr val="FFFFFF"/>
                </a:solidFill>
                <a:latin typeface="Yu Gothic"/>
                <a:ea typeface="Yu Gothic"/>
                <a:cs typeface="Yu Gothic"/>
              </a:rPr>
              <a:t>2</a:t>
            </a:r>
          </a:p>
        </p:txBody>
      </p:sp>
      <p:sp>
        <p:nvSpPr>
          <p:cNvPr id="26" name="TextBox 25"/>
          <p:cNvSpPr txBox="1"/>
          <p:nvPr/>
        </p:nvSpPr>
        <p:spPr>
          <a:xfrm>
            <a:off x="6949440" y="3456432"/>
            <a:ext cx="4535424" cy="841248"/>
          </a:xfrm>
          <a:prstGeom prst="rect">
            <a:avLst/>
          </a:prstGeom>
          <a:noFill/>
        </p:spPr>
        <p:txBody>
          <a:bodyPr wrap="square" lIns="0" rIns="0" tIns="0" bIns="0" anchor="ctr">
            <a:spAutoFit/>
          </a:bodyPr>
          <a:lstStyle/>
          <a:p>
            <a:pPr algn="l">
              <a:spcAft>
                <a:spcPts val="300"/>
              </a:spcAft>
            </a:pPr>
            <a:r>
              <a:rPr sz="1200" b="1" i="0">
                <a:solidFill>
                  <a:srgbClr val="3A106E"/>
                </a:solidFill>
                <a:latin typeface="Yu Gothic"/>
                <a:ea typeface="Yu Gothic"/>
                <a:cs typeface="Yu Gothic"/>
              </a:rPr>
              <a:t>対応表ヒアリング1時間の日程</a:t>
            </a:r>
          </a:p>
          <a:p>
            <a:pPr algn="l">
              <a:spcAft>
                <a:spcPts val="0"/>
              </a:spcAft>
            </a:pPr>
            <a:r>
              <a:rPr sz="980" b="0" i="0">
                <a:solidFill>
                  <a:srgbClr val="262630"/>
                </a:solidFill>
                <a:latin typeface="Yu Gothic"/>
                <a:ea typeface="Yu Gothic"/>
                <a:cs typeface="Yu Gothic"/>
              </a:rPr>
              <a:t>坪井＋新谷でお伺いします。ご都合のよい枠を</a:t>
            </a:r>
          </a:p>
        </p:txBody>
      </p:sp>
      <p:sp>
        <p:nvSpPr>
          <p:cNvPr id="27" name="Oval 26"/>
          <p:cNvSpPr/>
          <p:nvPr/>
        </p:nvSpPr>
        <p:spPr>
          <a:xfrm>
            <a:off x="6400800" y="4352544"/>
            <a:ext cx="402336" cy="402336"/>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500" b="1" i="0">
                <a:solidFill>
                  <a:srgbClr val="FFFFFF"/>
                </a:solidFill>
                <a:latin typeface="Yu Gothic"/>
                <a:ea typeface="Yu Gothic"/>
                <a:cs typeface="Yu Gothic"/>
              </a:rPr>
              <a:t>3</a:t>
            </a:r>
          </a:p>
        </p:txBody>
      </p:sp>
      <p:sp>
        <p:nvSpPr>
          <p:cNvPr id="28" name="TextBox 27"/>
          <p:cNvSpPr txBox="1"/>
          <p:nvPr/>
        </p:nvSpPr>
        <p:spPr>
          <a:xfrm>
            <a:off x="6949440" y="4297680"/>
            <a:ext cx="4535424" cy="841248"/>
          </a:xfrm>
          <a:prstGeom prst="rect">
            <a:avLst/>
          </a:prstGeom>
          <a:noFill/>
        </p:spPr>
        <p:txBody>
          <a:bodyPr wrap="square" lIns="0" rIns="0" tIns="0" bIns="0" anchor="ctr">
            <a:spAutoFit/>
          </a:bodyPr>
          <a:lstStyle/>
          <a:p>
            <a:pPr algn="l">
              <a:spcAft>
                <a:spcPts val="300"/>
              </a:spcAft>
            </a:pPr>
            <a:r>
              <a:rPr sz="1200" b="1" i="0">
                <a:solidFill>
                  <a:srgbClr val="3A106E"/>
                </a:solidFill>
                <a:latin typeface="Yu Gothic"/>
                <a:ea typeface="Yu Gothic"/>
                <a:cs typeface="Yu Gothic"/>
              </a:rPr>
              <a:t>月次サイクルの目安</a:t>
            </a:r>
          </a:p>
          <a:p>
            <a:pPr algn="l">
              <a:spcAft>
                <a:spcPts val="0"/>
              </a:spcAft>
            </a:pPr>
            <a:r>
              <a:rPr sz="980" b="0" i="0">
                <a:solidFill>
                  <a:srgbClr val="262630"/>
                </a:solidFill>
                <a:latin typeface="Yu Gothic"/>
                <a:ea typeface="Yu Gothic"/>
                <a:cs typeface="Yu Gothic"/>
              </a:rPr>
              <a:t>無理のない定期供給の頻度をご相談したい</a:t>
            </a:r>
          </a:p>
        </p:txBody>
      </p:sp>
      <p:sp>
        <p:nvSpPr>
          <p:cNvPr id="29" name="Rectangle 28"/>
          <p:cNvSpPr/>
          <p:nvPr/>
        </p:nvSpPr>
        <p:spPr>
          <a:xfrm>
            <a:off x="502920" y="5413248"/>
            <a:ext cx="11183112" cy="987552"/>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5413248"/>
            <a:ext cx="38100" cy="98755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541264"/>
            <a:ext cx="10698480" cy="749808"/>
          </a:xfrm>
          <a:prstGeom prst="rect">
            <a:avLst/>
          </a:prstGeom>
          <a:noFill/>
        </p:spPr>
        <p:txBody>
          <a:bodyPr wrap="square" lIns="0" rIns="0" tIns="0" bIns="0" anchor="ctr">
            <a:spAutoFit/>
          </a:bodyPr>
          <a:lstStyle/>
          <a:p>
            <a:pPr algn="l">
              <a:spcAft>
                <a:spcPts val="400"/>
              </a:spcAft>
            </a:pPr>
            <a:r>
              <a:rPr sz="1250" b="1" i="0">
                <a:solidFill>
                  <a:srgbClr val="FFFFFF"/>
                </a:solidFill>
                <a:latin typeface="Yu Gothic"/>
                <a:ea typeface="Yu Gothic"/>
                <a:cs typeface="Yu Gothic"/>
              </a:rPr>
              <a:t>財務の数字と営業の現場がつながれば、この会社は「数字で選べる会社」になります。</a:t>
            </a:r>
          </a:p>
          <a:p>
            <a:pPr algn="l">
              <a:spcAft>
                <a:spcPts val="0"/>
              </a:spcAft>
            </a:pPr>
            <a:r>
              <a:rPr sz="1250" b="1" i="0">
                <a:solidFill>
                  <a:srgbClr val="E0D2F6"/>
                </a:solidFill>
                <a:latin typeface="Yu Gothic"/>
                <a:ea typeface="Yu Gothic"/>
                <a:cs typeface="Yu Gothic"/>
              </a:rPr>
              <a:t>その橋は、柳沼さんにしか架けられません。</a:t>
            </a:r>
          </a:p>
        </p:txBody>
      </p:sp>
      <p:sp>
        <p:nvSpPr>
          <p:cNvPr id="32" name="Rectangle 31"/>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34" name="TextBox 33"/>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