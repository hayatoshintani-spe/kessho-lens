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3" r:id="rId43"/>
    <p:sldId id="294" r:id="rId44"/>
    <p:sldId id="295" r:id="rId45"/>
    <p:sldId id="296" r:id="rId46"/>
    <p:sldId id="297" r:id="rId47"/>
    <p:sldId id="298" r:id="rId48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8" d="100"/>
          <a:sy n="98" d="100"/>
        </p:scale>
        <p:origin x="68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2011680" cy="381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 dirty="0" err="1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経営</a:t>
            </a:r>
            <a:r>
              <a:rPr lang="ja-JP" altLang="en-US" sz="1300" b="1" i="0" dirty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幹部</a:t>
            </a:r>
            <a:r>
              <a:rPr sz="1300" b="1" i="0" dirty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・</a:t>
            </a:r>
            <a:r>
              <a:rPr sz="1300" b="1" i="0" dirty="0" err="1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関連部門の皆さんへ</a:t>
            </a:r>
            <a:endParaRPr sz="1300" b="1" i="0" dirty="0">
              <a:solidFill>
                <a:srgbClr val="5F5F6E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7899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 i="0" dirty="0" err="1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営業改革グランドデザイン</a:t>
            </a:r>
            <a:endParaRPr sz="4000" b="1" i="0" dirty="0">
              <a:solidFill>
                <a:srgbClr val="262630"/>
              </a:solidFill>
              <a:latin typeface="Yu Gothic"/>
              <a:ea typeface="Yu Gothic"/>
              <a:cs typeface="Yu Gothic"/>
            </a:endParaRPr>
          </a:p>
          <a:p>
            <a:pPr algn="l">
              <a:spcAft>
                <a:spcPts val="400"/>
              </a:spcAft>
            </a:pPr>
            <a:r>
              <a:rPr sz="2000" b="1" i="0" dirty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「</a:t>
            </a:r>
            <a:r>
              <a:rPr sz="2000" b="1" i="0" dirty="0" err="1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許諾対応窓口」から「IP収益化プロデューサ</a:t>
            </a:r>
            <a:r>
              <a:rPr sz="2000" b="1" i="0" dirty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ー」へ</a:t>
            </a:r>
          </a:p>
          <a:p>
            <a:pPr algn="l">
              <a:spcAft>
                <a:spcPts val="400"/>
              </a:spcAft>
            </a:pPr>
            <a:r>
              <a:rPr sz="1600" b="1" i="0" dirty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— </a:t>
            </a:r>
            <a:r>
              <a:rPr sz="1600" b="1" i="0" dirty="0" err="1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円谷IPの収益化能力を再設計する全社改革</a:t>
            </a:r>
            <a:r>
              <a:rPr sz="1600" b="1" i="0" dirty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円谷プロダクション　専務執行役員　新谷 隼人（本改革スポンサー）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経営会議付議・全社共有資料（ドラフト・社外秘）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本資料は、私が営業改革のスポンサーとして経営会議に付議し、関係者全員と共有するものである。社内実態に関する記述は初期ヒアリングに基づく「課題仮説」であり、Day 1〜30の初期診断で検証する。市場・業績に関する記述は公表IR資料・公式情報を前提とし、出所が確認できない数値は「仮説」「要確認」と明記する。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営業改革とは、円谷IPの収益化能力を再設計する全社改革である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ゴール：すべての営業案件・顧客・パートナー・工数・意思決定を可視化し、限られた営業資源を、売上・粗利・IP価値・CRM価値が最大化する案件へ再配分する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47088"/>
            <a:ext cx="54406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なぜ今か</a:t>
            </a:r>
          </a:p>
          <a:p>
            <a:pPr algn="l">
              <a:spcAft>
                <a:spcPts val="80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ウルトラマンIPは、海外・カードゲーム・映像・イベント・D2C/CRM・教育・AIと多面的な成長局面にある（公表IR参照）。一方、収益機会の多面化は営業の複雑性を増大させ、IPの成長スピードに営業のオペレーティングモデルが追いついていない可能性がある。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構造課題の仮説（現場ではなく、仕組みの問題）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案件・顧客・トップ外交・休眠顧客の全量が経営から見えない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売上偏重の評価軸——粗利・工数・IP価値・CRM価値が評価に乗らない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低収益・高工数案件が現場を圧迫し、提案・商談の時間が失われている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監修・契約・社内調整が構造的ボトルネック化している可能性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営業会議が報告会にとどまり、撤退・経営支援の意思決定に至らない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トップ外交の機会が案件化・契約化まで追跡されていない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47088"/>
            <a:ext cx="54406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基本思想（誤解を防ぐために冒頭で宣言）</a:t>
            </a:r>
          </a:p>
          <a:p>
            <a:pPr algn="l">
              <a:spcAft>
                <a:spcPts val="800"/>
              </a:spcAft>
            </a:pPr>
            <a:r>
              <a:rPr sz="10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本改革は営業部門の管理強化ではない。工数把握は監視のためではなく、営業の時間を顧客に返すために行う。最も重要なのは、やる案件を増やすことではなく、やらない案件・省力化する案件・経営支援を入れる案件を決めることである。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90日で「見えない状態」を終わらせる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Day 1〜30：全量棚卸し（顧客・案件・パートナー・トップ外交・休眠）＋工数計測開始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Day 31〜60：案件スコアリング・顧客ランク・高工数低収益案件抽出・ダッシュボードMVP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Day 61〜90：意思決定会議の実運用——撤退・省力化・経営支援の初回判断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投資対効果の考え方（仮説・初期診断で検証）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営業総工数の20〜30%が低付加価値業務・低収益案件に費やされているとすれば、その半分の再配分で増員なしに営業能力を1〜2割拡張することに相当。監修・契約リードタイム短縮、休眠顧客・トップ外交の案件化が上乗せされ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本資料をもって経営会議に9つの意思決定（STO設置／棚卸し／工数把握／スコアリング／撤退ルール／経営支援／プロセス改革／AI PoC／ダッシュボードMVP）を付議する。実行の責任は私（新谷）が持つ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本日の議論の流れ——課題仮説への合意から、9つの意思決定へ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11183112" cy="749808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38100" cy="74980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901952"/>
            <a:ext cx="10058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第1章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883664"/>
            <a:ext cx="85953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なぜ今か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営業改革はIP収益化能力の再設計である／成長がもたらす複雑性の代償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1901952"/>
            <a:ext cx="10972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Slide 1〜3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697480"/>
            <a:ext cx="11183112" cy="749808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697480"/>
            <a:ext cx="38100" cy="74980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770632"/>
            <a:ext cx="10058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第2章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752344"/>
            <a:ext cx="85953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何が起きているか：構造課題の仮説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見えない6つの全量／売上偏重評価／監修・契約ボトルネック／トップ外交の未回収／決めない会議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69880" y="2770632"/>
            <a:ext cx="10972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Slide 4〜8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566160"/>
            <a:ext cx="11183112" cy="749808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3566160"/>
            <a:ext cx="38100" cy="74980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639312"/>
            <a:ext cx="10058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第3章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3621024"/>
            <a:ext cx="85953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どう変えるか：グランドデザイン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全量棚卸し／工数可視化／スコアリング・顧客ランク／トリアージ／プロセス標準化／会議改革／トップ外交管理／3層ダッシュボード・AI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69880" y="3639312"/>
            <a:ext cx="10972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Slide 9〜18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434840"/>
            <a:ext cx="11183112" cy="749808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4434840"/>
            <a:ext cx="38100" cy="74980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507992"/>
            <a:ext cx="10058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第4章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489704"/>
            <a:ext cx="85953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どう実行するか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STO設置／90日実行計画／12か月ロードマップ／KPI体系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69880" y="4507992"/>
            <a:ext cx="10972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Slide 19〜22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303520"/>
            <a:ext cx="11183112" cy="749808"/>
          </a:xfrm>
          <a:prstGeom prst="rect">
            <a:avLst/>
          </a:prstGeom>
          <a:solidFill>
            <a:srgbClr val="F7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2920" y="5303520"/>
            <a:ext cx="38100" cy="74980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5376672"/>
            <a:ext cx="10058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第5章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5358384"/>
            <a:ext cx="85953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経営陣への要請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9つの意思決定／初期診断で検証すべき論点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69880" y="5376672"/>
            <a:ext cx="10972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Slide 23〜24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1｜第1章 なぜ今か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営業改革は、営業部門の話ではない——円谷IPの収益化能力を再設計する全社改革である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本提案は営業部門の改善稟議ではなく、円谷グループの成長戦略そのものに関わる経営アジェンダである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65376"/>
            <a:ext cx="111556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改革の定義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「すべての営業案件・顧客・パートナー・工数・意思決定を可視化し、限られた営業資源を、売上・粗利・IP価値・CRM価値が最大化する案件へ再配分する」全社改革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対象範囲＝12の営業領域すべて＋トップ外交案件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ライセンス／自社MD／リテール／イベント／海外／カードゲーム関連／広告・タイアップ／D2C・CRM連動／新規事業／教育・須賀川関連／AI協業／トップ外交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冒頭で宣言する「3つの誤解の否定」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①管理強化ではない　②現場批判ではない　③システム導入プロジェクトではない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本日の到達点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課題仮説と改革全体像への合意、および9つの意思決定事項の承認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※ 改革成否の半分は、私を含む経営陣がこの改革を「営業部門の宿題」にしないことで決まる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この改革を「全社改革」として位置づけることに合意いただきたい。経営スポンサーは私（新谷）が務める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円谷フィールズホールディングス｜営業改革グランドデザイン（ドラフト・社外秘）｜第1章 なぜ今か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2｜第1章 なぜ今か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ウルトラマンIPは多面的な成長局面にある——機会の数だけ、営業の複雑性が増している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成長は良いニュースである。ただし、成長は営業オペレーションに「複雑性の代償」を要求する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65376"/>
            <a:ext cx="111556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多面的な成長テーマ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映像（劇場・配信）／ライセンス（国内・海外、特に中国・アジア）／自社MD／イベント／D2C／CRM・会員基盤／カードゲーム／教育・須賀川（円谷英二監督の故郷としての聖地化・地域連携）／AI活用構想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公表IR資料の通り、ライセンス事業を中心とした成長局面にある（個別数値は最新IR資料参照）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営業領域が増えるほど同時進行する「複雑性の3つの増大」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案件の型の多様化：許諾型／共同開発型／協業型／直販型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評価軸の多様化：売上だけでは案件を比較できなくなる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部門間連携の増加：監修・法務・海外・CRMとの調整量が拡大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課題仮説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この複雑性増大に対し、営業のオペレーティングモデル（プロセス・評価軸・会議体・情報基盤）が従来型のまま留まっている可能性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12営業領域の全体像として過不足はないか——本日の経営会議で改革対象範囲を確定したい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円谷フィールズホールディングス｜営業改革グランドデザイン（ドラフト・社外秘）｜第1章 なぜ今か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3｜第1章 なぜ今か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IPの成長スピードに、営業のオペレーティングモデルが追いついていない可能性がある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放置した場合のリスクは、機会損失・現場疲弊・意思決定の遅れの3つに現れる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65376"/>
            <a:ext cx="111556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初期インタビューに基づく課題仮説の総括（Day 30初期診断で検証）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案件・顧客・トップ外交の全量が可視化されていない／売上偏重の評価軸／監修・契約・社内調整のボトルネック／資源再配分につながらない営業会議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放置した場合の3リスク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① 機会損失：トップ外交・休眠顧客・新規領域の機会が案件化されずに消える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② 現場疲弊：低収益・高工数案件が現場を圧迫し、優秀な人材ほど消耗する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③ 意思決定の遅れ：経営が全体像を見られず、資源再配分の判断が後手に回る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裏返せば——増員なしで営業能力を拡張できる余地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仮説：営業総工数の20〜30%が低付加価値業務に費やされている可能性（初期診断で計測）。追いついていないのは人の能力ではなく、プロセス・評価軸・情報基盤という構造である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この課題仮説群を「初期診断で検証すべき論点」として扱うことの承認を求める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円谷フィールズホールディングス｜営業改革グランドデザイン（ドラフト・社外秘）｜第1章 なぜ今か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4｜第2章 構造課題の仮説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最大の構造課題は「見えないこと」——案件・顧客・トップ外交の全量を、経営は把握できていない可能性がある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見えないものは、経営できない。可視性の欠如が、他のすべての課題の根因である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65376"/>
            <a:ext cx="111556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課題仮説：営業情報が「担当者の頭の中」「個別のExcel・メール・提案資料」に分散し、組織の資産になっていない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経営から見えていない可能性のある「6つの全量」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①顧客の全量　②案件の全量（ステージ・金額・確度）　③商談の全量（誰が誰と何を）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④トップ外交の全量（経営面談から生まれた機会のその後）　⑤休眠顧客の全量　⑥停滞案件の全量（30日以上次アクションなし）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この状態が引き起こす二次課題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担当者異動時の関係資産の喪失／部門間での重複アプローチ／経営が「点の報告」でしか判断できない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重要な前提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これは記録を怠っている現場の問題ではなく、記録する仕組み・記録が報われる仕組みがなかった構造の問題。属人的な関係構築力はむしろ円谷の強みであり、それを組織資産に変換するのが目的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「6つの全量」を経営として毎月見る——これを棚卸しとダッシュボードの要件として確定したい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円谷フィールズホールディングス｜営業改革グランドデザイン（ドラフト・社外秘）｜第2章 構造課題の仮説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5｜第2章 構造課題の仮説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売上規模だけで案件を見ると、IPの価値を損なう案件に資源が流れる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「良い売上」と「消耗する売上」を区別する物差しがなければ、現場は目の前の案件をすべて背負うしかない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65376"/>
            <a:ext cx="111556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課題仮説：優先順位が「売上規模」と「依頼された順」で決まり、以下が評価に乗っていない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粗利（MG・料率・原価・値引後の実質利益）／工数（監修往復・契約交渉・社内調整を含む総投入時間）／戦略価値（新市場・新カテゴリ・大型展開への布石）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CRM価値（会員・ファンデータ獲得、D2C送客）／IP・ブランド価値（世界観の毀損リスクまたは強化効果）／海外展開価値（他市場への横展開可能性）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帰結の仮説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①高工数低収益案件が現場時間を圧迫　②CRM・D2C・海外に効く戦略案件が「売上が小さい」理由で劣後　③監修部門の負荷が収益に見合わない案件に消費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円谷固有の論点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IPビジネスでは「安売り許諾」が短期売上と引き換えにブランド価値・将来の許諾単価を毀損しうる。評価軸の設計は、事実上のブランド戦略である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※ 現場は「断る権限も基準もない」からすべて受けている——構造の問題として捉える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7つの評価軸（売上・粗利・工数・戦略・CRM・IP/ブランド・海外）に加除したい軸はあるか——経営会議で議論いただきたい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円谷フィールズホールディングス｜営業改革グランドデザイン（ドラフト・社外秘）｜第2章 構造課題の仮説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6｜第2章 構造課題の仮説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監修・契約・社内調整が、営業のスループットを規定している可能性がある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営業改革の半分は、営業部門の外にある。IP品質を守る監修と、事業速度は両立できる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65376"/>
            <a:ext cx="111556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課題仮説：案件リードタイムの過半が商談ではなく後工程で費やされている可能性（要計測）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想定されるボトルネックの構造（初期診断で検証）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監修：規模・リスクに関わらず同一プロセス／差し戻し基準の暗黙知化／繁忙期の滞留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契約：案件ごとのゼロベース契約書作成／法務レビューの往復／過去契約の検索性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素材・社内調整：素材の所在分散／関係部門の合意形成が個人の調整力に依存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重要な原則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監修はコストではなく、円谷IPの品質保証機能であり競争力の源泉。改革の方向は「監修を緩める」ではなく「監修リソースをリスクと価値に応じて配分する」（リスクベース・ファストトラック化）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リードタイム長期化の帰結仮説：商品投入時期・季節商戦・話題性のタイミング逸失、担当者の「調整業務化」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監修・契約プロセスの実態計測（リードタイム・差し戻し回数）の実施への承認を求める。監修・法務・関係部門の皆さんには協力をお願いしたい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円谷フィールズホールディングス｜営業改革グランドデザイン（ドラフト・社外秘）｜第2章 構造課題の仮説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7｜第2章 構造課題の仮説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トップ外交は最強の営業資産だが、案件化への「接続」が仕組み化されていない可能性がある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経営陣の時間という最も高価な営業資源が、組織として回収されていない可能性がある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65376"/>
            <a:ext cx="111556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大型ライセンス・海外展開・異業種協業（AI・教育・金融・自治体等）では、トップ同士の関係構築が案件の起点になることが多い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仕組み化されていない可能性のある4つの機能（課題仮説）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機会の登録（誰と会い、何が示唆されたか）／担当アサイン（誰がボールを持つか）／期限付きフォロー（30日以内の初回アクション）／経営への還流（案件化状況の報告と「次に会うべき相手」の逆提案）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帰結仮説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①機会が時間切れで消滅　②「話したのに動かない会社」というレピュテーション低下リスク　③外交成果が実感できず外交活動が縮小する悪循環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あるべき姿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トップ外交を独立した案件タイプとしてパイプライン管理（面談→機会→案件登録→提案→契約のファネル）し、「トップ外交案件化率」をKPI化する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面談後48時間以内にSTOへ機会を登録する運用に、私を含む経営陣自身がコミットすることを提案する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円谷フィールズホールディングス｜営業改革グランドデザイン（ドラフト・社外秘）｜第2章 構造課題の仮説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8｜第2章 構造課題の仮説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営業会議が「報告の場」にとどまり、「資源再配分の意思決定」が行われていない可能性がある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会議を変えることは、資源配分を変えることである。決めない会議は、現状維持を決めている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65376"/>
            <a:ext cx="111556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構造的に行われていない可能性のある4つの意思決定（課題仮説）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① 重点化：どの案件・顧客に資源を寄せるか　　② 停滞打開：30日以上動かない案件を誰がどう動かすか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③ 撤退・省力化：どの案件をやめるか、省力対応に切り替えるか　　④ 経営支援：どの案件にトップ外交・経営リソースを投入するか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併発する課題仮説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D2C・CRM・自社MD・海外・AI・教育・新カテゴリ等の新規成長領域が、既存大型案件の報告に埋もれ、会議のアジェンダに乗らない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根因とあるべき姿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全量データとスコアリングがないため「報告を聞かないと状況がわからない」→報告で時間が尽きる構造。報告はダッシュボードで事前共有し、会議は例外案件（重点・停滞・撤退候補・経営判断要）のみを扱う意思決定の場にする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※ 会議改革はシステム完成を待たず開始できる——経営の本気度が最も見えやすい場所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月次の営業ポートフォリオ会議に経営陣が出席し、撤退・経営支援の判断を行う運営への合意を求める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円谷フィールズホールディングス｜営業改革グランドデザイン（ドラフト・社外秘）｜第2章 構造課題の仮説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9｜第3章 グランドデザイン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改革のゴールは「可視化」ではなく「再配分」——見える化は手段、資源シフトが目的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3層アーキテクチャ（見える化 → 評価 → 意思決定）で、営業資源の再配分を仕組みとして回す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65376"/>
            <a:ext cx="111556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7つの基本思想（改革の「憲法」として全社アナウンスに使用）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①営業改革は管理強化ではない　②円谷IPの収益化能力を再設計する全社改革である　③工数把握は監視のためではなく、営業の時間を提案・商談・顧客開拓に戻すために行う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④営業を「許諾対応窓口」から「IP収益化プロデューサー」へ進化させる　⑤重要なのは、やらない案件・省力化する案件・経営支援を入れる案件を決めること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⑥売上だけでなく、粗利・工数・戦略価値・CRM価値・海外展開価値・ブランド価値で評価する　⑦90日で完璧なシステムを作るのではなく、まず「見えない状態」を終わらせる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全体アーキテクチャ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第1層 見える化：5つの棚卸し＋工数把握＋3層ダッシュボード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第2層 評価：案件スコアリング＋顧客ランク＋高工数低収益案件の抽出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第3層 意思決定：意思決定型会議体＋トリアージルール＋トップ外交管理＋経営支援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横串：STO（推進）／標準プロセス（基盤）／AI（加速装置）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7つの基本思想を、経営陣連名の全社メッセージとして発信することを提案する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円谷フィールズホールディングス｜営業改革グランドデザイン（ドラフト・社外秘）｜第3章 グランドデザイン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10｜第3章 グランドデザイン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第一手は「全量棚卸し」——顧客・案件・パートナー・トップ外交・休眠顧客の全量を30日でリスト化する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完璧なCRM導入ではなく、30日の全量リスト化から始める。入力項目は最小限、既存資料からの吸い上げを基本とする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01952"/>
          <a:ext cx="1118311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2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51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棚卸し対象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主な項目（最小セット）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完了基準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① 顧客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顧客名／領域／担当／直近取引年／取引額・粗利（概算可）／関係状態（活発・維持・休眠）／キーパーソン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全営業領域の顧客が1つのリストに載る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② 案件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案件名／顧客／ステージ／金額・粗利見込／確度／次アクションと期限／リスク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進行中案件の全量登録、次アクション設定率80%以上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③ パートナー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代理店・エージェント・共同事業者／役割／契約形態／依存度／評価（仮）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主要パートナーの全量と依存関係の可視化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④ トップ外交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過去12か月の経営面談／相手／示唆された機会／状態（案件化・未着手・消滅）／担当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過去12か月分の外交機会の生死判定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⑤ 休眠顧客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過去5年内取引×直近12か月取引なし／休眠理由仮説／再活性化ポテンシャル（S〜C仮評価）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休眠全量リスト＋再活性化候補トップ20の特定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07492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実施原則：①現場の入力負荷を最小化——請求・契約データ・既存資料からSTOが下書きを8割作成し、現場は確認・修正の2割のみ　②Day 31以降のスコアリング・トリアージの入力データとして設計（棚卸しのための棚卸しにしない）　③停滞案件（30日ルール）はこの時点で自動抽出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5つの棚卸しの30日以内実施と、請求・契約データへのSTOアクセス権付与の承認を求める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円谷フィールズホールディングス｜営業改革グランドデザイン（ドラフト・社外秘）｜第3章 グランドデザイン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11｜第3章 グランドデザイン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工数把握は監視ではない——営業の時間を、提案・商談・顧客開拓に取り戻すために行う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週15分の簡易申告で「案件別・顧客別・工程別」の時間の使途を可視化し、営業から奪われている時間を特定する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65376"/>
            <a:ext cx="111556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目的の宣言（経営メッセージとして全社発信・人事評価には使わない）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①高工数低収益案件の特定　②監修・契約・社内調整など営業以外の負荷の定量化　③営業時間を顧客に返すための改善投資の根拠づくり——この3点のみ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設計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粒度：0.5時間単位・週次申告（1人あたり15分以内で完了）／期間：まず90日間の時限計測（継続可否はDay 90に判断）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活動工程10分類：①商談・顧客面談 ②提案・企画書作成 ③監修対応 ④契約・法務対応 ⑤社内調整・会議 ⑥素材確認・手配 ⑦問い合わせ・許諾事務 ⑧移動 ⑨新規開拓・情報収集 ⑩その他管理業務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分析アウトプット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営業時間の使途構成（仮説：顧客対面時間は総工数の2〜3割に留まる可能性・要計測）／案件別総工数／「粗利/工数」案件ランキング／工程別ボトルネックの定量化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※ 工数データは営業を守る武器にもなる——「この案件は年間XX時間かかっている」と数字で語れるようになる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工数把握の目的（評価に使わない・時間を取り戻すため）を経営陣名義で宣言した上で、90日間の時限計測を開始したい——承認を求める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円谷フィールズホールディングス｜営業改革グランドデザイン（ドラフト・社外秘）｜第3章 グランドデザイン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12｜第3章 グランドデザイン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すべての案件を、売上・粗利・工数・戦略価値・CRM価値・海外展開価値・ブランド価値で採点する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案件スコアリングは管理ツールではなく、経営の価値観を現場の日々の判断に埋め込む装置である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01952"/>
          <a:ext cx="6766559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55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6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評価軸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評価の観点（例）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初期ウェイト案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売上規模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年間売上・MG・期待ロイヤリティ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15%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粗利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実質粗利率・粗利額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20%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工数効率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想定総工数に対する粗利（粗利/工数）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15%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戦略価値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新市場・新カテゴリ・将来大型化の布石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15%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CRM価値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会員獲得・ファンデータ・D2C送客・エンゲージメント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10%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海外展開価値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他市場への横展開・現地パートナー獲得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10%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IP/ブランド価値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世界観適合・ブランド強化（毀損リスクは減点）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15%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43800" y="1901952"/>
            <a:ext cx="411480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スコアに基づく案件区分</a:t>
            </a:r>
          </a:p>
          <a:p>
            <a:pPr algn="l">
              <a:spcAft>
                <a:spcPts val="800"/>
              </a:spcAft>
            </a:pPr>
            <a:r>
              <a:rPr sz="9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S：経営支援投入／A：重点推進／B：標準対応／C：省力化・撤退検討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高工数低収益案件の抽出ロジック</a:t>
            </a:r>
          </a:p>
          <a:p>
            <a:pPr algn="l">
              <a:spcAft>
                <a:spcPts val="800"/>
              </a:spcAft>
            </a:pPr>
            <a:r>
              <a:rPr sz="9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粗利額が下位1/3 かつ 総工数が上位1/3 の案件を自動抽出し、月次ポートフォリオ会議のトリアージ対象とする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運用原則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①スコアは会議の共通言語であり機械的な自動判定はしない（最終判断は人）　②新規領域案件（D2C・AI・教育等）は戦略・CRM価値で正当に評価され、売上が小さくても埋もれない　③ブランド毀損リスク案件はスコアに関わらずエスカレーション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892040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※ ウェイト設定は経営の価値観の表明。初期案は叩き台であり、経営ワークショップ（Day 31〜45）で確定する。スコアリングの目的は現場の判断を奪うことではなく、「断る理由」「省力化する理由」を組織として現場に与えること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7軸モデルの導入と、ウェイト確定のための経営ワークショップ（半日）の開催承認を求める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円谷フィールズホールディングス｜営業改革グランドデザイン（ドラフト・社外秘）｜第3章 グランドデザイン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13｜第3章 グランドデザイン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顧客を「取引額」ではなく「関係の将来価値」でランク付けする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S/Aランク顧客に営業時間の過半を配分する。休眠顧客の中に、最も費用対効果の高い成長余地がある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65376"/>
            <a:ext cx="111556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顧客ランク基準（5要素の総合評価）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①直近3年の取引額・粗利　②成長性（相手企業の事業成長・拡張意向）　③IP適合性（世界観との親和性・ブランドリスク）　④CRM/D2C価値　⑤海外展開価値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ランク別の標準対応レベル（資源配分の原則）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S：経営スポンサー任命・四半期トップ面談・専任担当・共同事業計画（JBP）策定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A：重点担当・月次接点・年間アカウントプラン策定　／　B：標準対応・テンプレート活用による効率化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C：省力化対応（標準条件・パッケージ許諾中心）または関係の丁寧な整理——「切り捨て」ではなく少ない工数でも良い関係を保つ設計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目標配分：S/Aランク顧客への営業工数配分を50%以上へ（現状値は工数計測で把握）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休眠顧客の再活性化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ポテンシャル上位20社に対し、新商材（カードゲーム・D2C連動・新作映像タイミング等）を持った再アプローチプログラムをDay 61〜90に実施。休眠顧客は獲得コストゼロの見込み客リスト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Sランク顧客への経営スポンサー制（経営陣が担当顧客を持つ）を導入したい。私自身も担当顧客を持つ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円谷フィールズホールディングス｜営業改革グランドデザイン（ドラフト・社外秘）｜第3章 グランドデザイン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14｜第3章 グランドデザイン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最も重要な意思決定は「やらないこと」を決めること——撤退・省力化・経営支援の3分類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撤退判断を現場の個人に背負わせない。ルールと経営が引き受けることで、現場は初めて重点案件に集中できる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65376"/>
            <a:ext cx="111556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トリアージの3分類と判断ルール（初期案）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① 撤退候補：粗利がマイナスまたは僅少×高工数×戦略・CRM・ブランド価値が低い → 契約満了時の非更新または条件再交渉。判断は月次ポートフォリオ会議で経営が行う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② 省力化・標準化：収益は一定あるが工数過多 → 標準条件パッケージ化・監修ファストトラック適用・共通機能への移管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③ 継続・重点化/経営支援：スコア上位案件 → 追加リソース・トップ外交投入・部門横断チーム組成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撤退時の関係維持プロトコル（円谷固有の重要論点）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IPビジネスは業界が狭く、長期の信頼関係が資産。①理由の誠実な説明　②代替提案（規模縮小・標準パッケージ移行）　③将来の再開可能性の明示——をセットにした「別れ方の標準」を定める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運用原則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①撤退起案はスコアとデータに基づきSTOが行う（現場担当者が「言い出しっぺ」にならない構造）　②年2回のポートフォリオ入れ替え　③撤退で解放された工数の再配分先を必ず同時に決める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撤退・省力化の判断ルール（初期案）と、判断の最終責任を月次ポートフォリオ会議（経営出席）が持つことの承認を求める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円谷フィールズホールディングス｜営業改革グランドデザイン（ドラフト・社外秘）｜第3章 グランドデザイン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15｜第3章 グランドデザイン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営業プロセスを標準化し、監修・契約・提案作成のボトルネックを解消する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属人的な調整力への依存から、標準プロセスとテンプレートへ。IP品質を守る監修と事業速度は両立できる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65376"/>
            <a:ext cx="111556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標準営業プロセス（6ステージ）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リード → 商談 → 提案 → 条件合意 → 監修・契約 → 立ち上げ・運用。各ステージの完了条件（Exit Criteria）と標準リードタイムを定義し、全案件を統一言語化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① 監修改革（監修部門と共同設計）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リスクベースの3トラック制：新規大型＝フル監修／既存定番の色替え・再販＝ファストトラック／実績ライセンシーの定型案件＝事後サンプリング型。差し戻し理由のナレッジDB化、リードタイムの計測と公開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② 契約改革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案件タイプ別の標準契約雛形（国内MD/海外/イベント/コラボ/D2C等）／条件の標準メニュー化（料率・MG・期間のレンジ）／過去契約の検索可能化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③ 提案改革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IP資産・実績・データを組み込んだ提案テンプレートライブラリ／AIによる提案初稿生成／成功提案の横展開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目標（初期仮説値・実測後に確定）：監修リードタイム▲30%／契約リードタイム▲30%／提案作成時間▲50%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監修・契約プロセス改革のワーキンググループ（営業＋監修＋法務＋STO）設置の承認を求める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円谷フィールズホールディングス｜営業改革グランドデザイン（ドラフト・社外秘）｜第3章 グランドデザイン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16｜第3章 グランドデザイン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営業会議を「報告会」から「資源再配分の意思決定会議」へ転換する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報告はダッシュボードで済ませ、会議では決定だけを行う。決定事項・期限・責任者を必ず記録する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01952"/>
          <a:ext cx="11183109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11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81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04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09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会議体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頻度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出席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アジェンダ（これ以外は扱わない）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アウトプット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週次パイプライン会議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週1・30分/領域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営業マネージャー＋担当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今週の重点商談／停滞案件の次アクション／支援要請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次アクションと期限の更新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月次ポートフォリオ会議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月1・90分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経営陣＋営業部門長＋STO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S/A案件レビュー／停滞打開／撤退・省力化判断／経営支援決定／新規成長領域枠（必須）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資源再配分の決定リスト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四半期経営レビュー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四半期・半日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経営陣＋全部門長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ポートフォリオ全体／KPI／顧客ランク見直し／翌四半期の重点方針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四半期資源配分方針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977639"/>
            <a:ext cx="111556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運営原則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資料作成禁止——ダッシュボードを直接投影し、会議のための資料作成工数をゼロへ（現場への最初の目に見える返礼）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「新規成長領域枠」を月次会議の固定アジェンダ化——D2C・CRM・海外・AI・教育・新カテゴリが大型案件に埋もれない構造的担保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全決定事項をログ化し翌回冒頭で実行確認　■ 停滞案件（30日ルール）は自動的にアジェンダへ　■ トップ外交案件は月次会議の冒頭で状況確認</a:t>
            </a:r>
          </a:p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※ 会議改革はシステム完成を待たずDay 61から開始可能——棚卸しリストとスコア初版があれば運営できる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月次ポートフォリオ会議への定例出席（90分/月）を、私を含む経営陣でコミットしたい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円谷フィールズホールディングス｜営業改革グランドデザイン（ドラフト・社外秘）｜第3章 グランドデザイン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17｜第3章 グランドデザイン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トップ外交を「機会創出」から「契約」までEnd-to-Endで管理する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経営陣の外交を、組織の営業力に変換する。登録・アサイン・30日フォロー・還流のサイクルを定着させる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65376"/>
            <a:ext cx="111556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トップ外交マネジメントの標準サイクル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① 登録（面談後48時間以内）：機会をSTOへ登録——経営陣は口頭・音声メモで可、記録化はSTOが担う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② アサイン（72時間以内）：機会ごとに担当営業とスポンサー役員を指名　　③ 初動（30日以内）：初回フォローアクションの実行を原則化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④ 追跡：トップ外交由来案件としてタグ付きでパイプラインに乗せ、月次会議冒頭でレビュー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⑤ 還流：案件化状況を経営陣へフィードバックし、STOから「次に会うべき相手・テーマ」を逆提案（外交の戦略化）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KPIと過去分の回収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KPI＝トップ外交案件化率（示唆された機会のうち30日以内に初動・案件登録された比率）、外交由来案件の契約金額・粗利。棚卸しで過去12か月の機会を洗い出し、「まだ生きている機会」をDay 31〜60で再起動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円谷固有の文脈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海外パートナー・大手流通・異業種（AI・教育・金融・自治体・須賀川関連の地域連携等）はトップ関係が案件の生命線。取りこぼし削減は最も投資対効果の高い改善の一つ（仮説）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トップ外交の48時間登録ルールと、STOからの外交逆提案を受ける運用の承認を求める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円谷フィールズホールディングス｜営業改革グランドデザイン（ドラフト・社外秘）｜第3章 グランドデザイン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18｜第3章 グランドデザイン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3層ダッシュボードとAIで、営業の「見える化」と「支援」を実装する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完璧なシステムではなく、90日で動くMVPから始める。AIは管理のためではなく、現場の時間を生み出すために使う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65376"/>
            <a:ext cx="111556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3層ダッシュボード（詳細はAppendix）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経営：ポートフォリオ全体・KPI・撤退/経営支援の判断材料　／　マネージャー：パイプライン・停滞・工数配分・ボトルネック　／　担当者：自分の案件・今週のアクション・AI支援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実装方針：既存ツール（スプレッドシート/BI/社内データ基盤）でMVPをDay 60までに構築。大規模SFA/CRM刷新はMVP運用実績を踏まえMonth 6に判断（ツール先行ではなく運用先行）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AI営業支援の4ユースケース（PoC）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① 提案初稿生成：IP実績・過去提案・顧客情報からドラフト自動生成（提案作成時間▲50%目標）　　② 監修ナレッジ検索:過去の監修指摘・ガイドラインを検索可能にし差し戻しを事前回避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③ 案件リスク検知：停滞・失注予兆（次アクション未設定・接触間隔・工数急増）の自動アラート　　④ 商談記録の自動化：議事メモの自動要約・案件情報への自動反映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円谷のAI活用構想との接続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営業支援AIのデータ基盤・知見は、対外的なAI協業営業（AI接客協業等）の自社実証事例（ショーケース）としても価値を持つ。棚卸し・工数把握はAI活用の前提投資でもある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ダッシュボードMVP構築とAI営業支援PoC（2ユースケースから開始）の予算・体制の承認を求める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円谷フィールズホールディングス｜営業改革グランドデザイン（ドラフト・社外秘）｜第3章 グランドデザイン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19｜第4章 実行計画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Sales Transformation Office（STO）が改革を推進する——現場兼任ではなく、専任と経営スポンサーを置く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兼任・片手間の改革は必ず失速する。小さくても専任のコアチームと、経営の定例関与が成功条件である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65376"/>
            <a:ext cx="111556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STOの7つの役割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①棚卸しの設計・実行支援（下書き作成を含む実務の巻き取り）　②スコアリング・顧客ランク運営　③工数データの集計・分析　④会議体の事務局　⑤トップ外交の登録・追跡・逆提案　⑥ダッシュボード・AI PoC推進　⑦撤退・省力化案件の起案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体制（初期案）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経営スポンサー：私（新谷）が務める（月次会議議長を兼務）／STOリード：専任1名（現場からの信頼×データリテラシー×部門横断調整力——社内エースの投入をお願いしたい）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コアメンバー：専任または高稼働2〜3名（データ分析・プロセス設計・PMO）／領域アンバサダー：12営業領域＋監修・法務・経営企画から兼任各1名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外部専門家の活用は方法論・分析支援に限定し、12か月で完全内製化する（外部依存の恒久化はしない）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現場との協働原則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①STOは現場に指示しない——現場の時間を生み出す（下書き・分析・資料レスの提供者）　②改革KPIに「現場の入力負荷時間」を含め、負荷が閾値を超えたら仕組み側を直す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STO設置と専任リード＋コア2〜3名のアサインの承認を求める。経営スポンサーは私（新谷）が務める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円谷フィールズホールディングス｜営業改革グランドデザイン（ドラフト・社外秘）｜第4章 実行計画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20｜第4章 実行計画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90日で「見えない状態」を終わらせる——Day 30/60/90の到達点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Day 30「全量が見える」、Day 60「価値と工数で評価できる」、Day 90「経営が再配分を決定している」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01952"/>
          <a:ext cx="1118311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76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0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51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フェーズ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到達点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主な成果物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Day 1〜30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全量を見える化する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5つの棚卸し完了（顧客・案件・パートナー・トップ外交・休眠）／工数計測開始／初期診断（課題仮説の検証）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全量リスト5種／工数初回データ／初期診断報告書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Day 31〜60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価値と工数で評価する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案件スコアリング・顧客ランク初版／高工数低収益案件リスト／ダッシュボードMVP稼働／監修・契約リードタイム実測／標準プロセス初版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スコア済みポートフォリオ／顧客ランク表／トリアージ候補リスト／KPIベースライン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Day 61〜90</a:t>
                      </a:r>
                    </a:p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経営が再配分を決定する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月次ポートフォリオ会議の実運用（撤退・省力化・経営支援の初回意思決定）／休眠顧客再アプローチ着手／監修ファストトラック試行／AI PoC 2件開始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月次会議の決定ログ／休眠再アプローチ結果／90日総括＋6か月計画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892040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90日の成果は「システム」ではなく、「経営が初めて全量を見て、初めて再配分を決定した」という事実。Day 30の初期診断報告で仮説を事実に置き換え、以降の打ち手を補正する（仮説駆動の進め方）。詳細はAppendix「90日実行計画」参照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Day 30・60・90の経営報告会（各60〜90分）の日程を本日確定したい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円谷フィールズホールディングス｜営業改革グランドデザイン（ドラフト・社外秘）｜第4章 実行計画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21｜第4章 実行計画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6か月で「標準化」、12か月で「高度化と定着」へ——4段階ロードマップ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90日は始まりに過ぎない。見える化 → 標準化 → 高度化 → 定着化の4段階で、組織能力として根づかせる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01952"/>
          <a:ext cx="1118311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2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63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195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48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段階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期間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主要施策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到達基準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① 見える化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Month 0〜3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5つの棚卸し／工数計測／スコアリング初版／ダッシュボードMVP／会議体転換／初回トリアージ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経営が全量を見て月次で再配分判断をしている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② 標準化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Month 4〜6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標準プロセス全領域展開／契約雛形・提案テンプレート完備／監修3トラック制本格運用／ポートフォリオ入れ替え第1回／SFA・CRM投資判断ゲート（M6）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リードタイムKPIが改善に転じ、S/A顧客への工数配分が上昇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③ 高度化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Month 7〜9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AI支援の本格展開／SFA・CRM導入着手／海外・D2C等の領域別営業モデル確立／トップ外交・休眠案件の成果刈り取り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粗利/工数が改善トレンド、AI支援の現場利用率50%以上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④ 定着化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Month 10〜12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STO内製化完了（外部支援終了）／「IP収益化プロデューサー」人材要件・育成・キャリアパス定義／年間ポートフォリオサイクル制度化／KPIの予算プロセス組み込み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改革施策が「特別なこと」ではなく通常業務として自走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074920"/>
            <a:ext cx="111556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※ 評価・育成制度との接続は第4段階まで着手しない——「工数把握＝評価」という誤解を防ぐため、順序を厳密に管理する。大規模システム投資は運用が固まった後（Month 6ゲート）で判断し、手戻りを防ぐ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12か月ロードマップの大枠と、Month 6のシステム投資判断ゲートの設定への合意を求める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円谷フィールズホールディングス｜営業改革グランドデザイン（ドラフト・社外秘）｜第4章 実行計画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22｜第4章 実行計画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改革の成否は15のKPIで測る——「粗利/営業工数」を中核指標に据える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売上ではなく、営業資源の生産性で改革を評価する。先行指標（行動）と遅行指標（成果）を分けて運用する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65376"/>
            <a:ext cx="111556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北極星指標：粗利 / 営業工数（営業1時間あたりが生む粗利）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「限られた営業資源の再配分」という改革ゴールを一つの数字で表す指標。12か月で+20%を仮説目標とする（ベースライン確定後に確定）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15KPIの構成（詳細定義はAppendix）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成果（遅行）：売上／粗利／粗利・営業工数比／CRM価値（会員・データ獲得）／海外展開価値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資源配分：営業工数の使途構成／S/Aランク顧客への工数配分比率／高工数低収益案件数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行動（先行）：案件登録率／次アクション設定率／停滞案件数／トップ外交案件化率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スループット：監修リードタイム／契約リードタイム／提案作成リードタイム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運用原則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①ベースライン計測を最優先——多くの指標は初回計測自体が初の試み。目標値はDay 60以降に設定　②先行指標で改革をドライブし、成果指標の改善に先行して確認　③KPIは個人評価に直結させない（初年度はチーム・組織単位のみ）　④KPIは15で固定し、追加時は既存を廃止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5934456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「粗利/営業工数」を営業改革の中核指標とすることへの合意を求める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円谷フィールズホールディングス｜営業改革グランドデザイン（ドラフト・社外秘）｜第4章 実行計画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23｜第5章 経営陣への要請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本日、経営会議に9つの意思決定を付議する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承認の先送りは、「見えない状態」の継続を意味する。9項目のうち7項目は追加投資ほぼゼロで開始できる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828800"/>
          <a:ext cx="1118311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5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3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914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28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02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意思決定事項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承認いただく内容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投資規模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経営の関与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STO設置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経営スポンサー1名／専任リード＋コア2〜3名／領域アンバサダー任命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人員再配置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スポンサー就任・人選承認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営業全量棚卸し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5つの棚卸しの30日以内実施／データアクセス権付与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ほぼゼロ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実施指示の発信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工数把握の開始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90日間の時限計測／「評価に使わない」の経営陣名義での全社宣言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ほぼゼロ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目的宣言（最重要）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スコアリング・顧客ランク導入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7軸モデル導入／ウェイト確定ワークショップへの経営参加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ほぼゼロ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価値観の決定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撤退・省力化判断ルール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トリアージ3分類ルール／判断責任は月次会議（経営）／初回2〜3件の撤退判断を経営が実施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ほぼゼロ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撤退判断の実行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重点顧客・案件への経営支援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Sランク顧客の経営スポンサー制／トップ外交48時間登録／月次会議出席（90分/月）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経営の時間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時間のコミット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監修・契約プロセス改革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プロセス改革WG設置／リードタイム実測／3トラック制・契約雛形の設計着手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ほぼゼロ〜小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WG設置・協力指示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AI営業支援PoC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提案初稿生成・監修ナレッジ検索の2件でPoC開始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小規模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予算承認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ダッシュボードMVP構築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既存ツールベースで3層をDay 60〜90に構築／大規模投資はM6ゲートで判断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小規模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予算承認・M6判断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943600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943600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6007608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9項目それぞれについて、本日の経営会議で承認・条件付き承認・追加検討の判定をいただきたい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円谷フィールズホールディングス｜営業改革グランドデザイン（ドラフト・社外秘）｜第5章 経営陣への要請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23（続）｜第5章 経営陣への要請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承認にあたって、我々経営陣で共有したい「3つの覚悟」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必要なのは大規模投資ではなく、我々経営陣の時間と判断のコミットメントである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65376"/>
            <a:ext cx="111556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① 「見える化の結果」を受け止める覚悟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棚卸しと工数計測は、想定以上の停滞案件・消滅したトップ外交機会・低収益案件を明るみに出す可能性がある。それを誰かの責任追及ではなく、構造改善の起点として扱う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② 「やめる」決断を引き受ける覚悟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撤退・省力化の判断を現場に委ねず、経営がルールと実行の責任を持つ。最初の2〜3件の判断が、改革の本気度として全社に伝わる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③ 「継続関与」の覚悟</a:t>
            </a:r>
          </a:p>
          <a:p>
            <a:pPr algn="l">
              <a:spcAft>
                <a:spcPts val="500"/>
              </a:spcAft>
            </a:pPr>
            <a:r>
              <a:rPr sz="11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■ 本改革は90日で終わらない。月次90分の会議出席、トップ外交の48時間登録、四半期レビューという経営の時間投資が、12か月の定着まで続く</a:t>
            </a:r>
          </a:p>
          <a:p>
            <a:pPr algn="l">
              <a:spcAft>
                <a:spcPts val="300"/>
              </a:spcAft>
            </a:pPr>
            <a:endParaRPr sz="1100" b="0" i="0">
              <a:solidFill>
                <a:srgbClr val="262630"/>
              </a:solidFill>
              <a:latin typeface="Yu Gothic"/>
              <a:ea typeface="Yu Gothic"/>
              <a:cs typeface="Yu Gothic"/>
            </a:endParaRP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本日9項目が承認されれば、Day 1として直ちにキックオフし、30日後に「円谷の営業の全量」を初めて経営会議にお見せする。実行の責任は私が持つ。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円谷フィールズホールディングス｜営業改革グランドデザイン（ドラフト・社外秘）｜第5章 経営陣への要請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SLIDE 24｜第5章 経営陣への要請（Appendix）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初期診断で検証すべき論点一覧——我々は仮説を仮説として扱い、30日で事実に変える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17904"/>
            <a:ext cx="111556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本資料の課題認識はすべて検証可能な仮説として設計されている。Day 30に検証結果を報告する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828800"/>
          <a:ext cx="11183111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34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967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0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2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課題仮説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検証方法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時期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H1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案件・顧客・トップ外交の全量が可視化されていない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棚卸し時の「新たに発見された案件・顧客・機会」の件数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Day 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H2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営業総工数の20〜30%が低付加価値業務・低収益案件に費やされている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工数計測データの活動別・案件別分析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Day 45〜60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H3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高工数低収益案件が現場を圧迫している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案件別「粗利/工数」分布の実測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Day 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H4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監修・契約が主要なリードタイムボトルネックである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直近20〜30案件の工程別リードタイム実測・差し戻し回数分析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Day 45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H5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トップ外交機会の相当数が案件化されずに消滅している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過去12か月のトップ外交棚卸しにおける機会の生死判定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Day 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H6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営業会議が意思決定に使われていない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直近3か月の会議アジェンダ・決定事項ログ分析、出席者ヒアリング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Day 30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H7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休眠顧客に相当規模の再活性化余地がある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休眠顧客棚卸しとポテンシャル評価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Day 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H8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新規成長領域が既存営業活動に埋もれている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領域別の工数配分・会議アジェンダ露出の実測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Day 45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H9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売上偏重評価が案件選別を歪めている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直近1年の受注案件への7軸スコアリング遡及適用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Day 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48640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※ 検証の結果、仮説が棄却された領域は打ち手を縮小・変更する（改革のための改革はしない）。H9は過去を責めるためではなく、物差しの効果を実感するために行う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897880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5897880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5961888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経営会議での意思決定・お願い事項　</a:t>
            </a:r>
            <a:r>
              <a:rPr sz="10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Day 30 初期診断報告会で仮説検証結果を私から報告する——経営会議でのレビューをお願いしたい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円谷フィールズホールディングス｜営業改革グランドデザイン（ドラフト・社外秘）｜第5章 経営陣への要請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30632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Appendix　実行計画・KPI・ダッシュボード詳細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976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A1〜A3：90日実行計画詳細　／　A4：KPI定義（15指標）　／　A5〜A7：3層ダッシュボード設計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円谷フィールズホールディングス｜営業改革グランドデザイン（ドラフト・社外秘）｜Appendix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A1｜Appendix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90日実行計画①　Day 1〜30：全量を見える化する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40"/>
          <a:ext cx="11183111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49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08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項目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内容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具体アクション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①キックオフ：経営陣名義で改革の目的・7つの基本思想を全社発信（「工数把握は評価に使わない」を明言）　②STO立ち上げ：スポンサー・リード・コア任命、週次定例開始　③5つの棚卸し：STOが請求・契約・既存資料から下書き作成→現場は確認・修正（1人あたり2〜3時間以内）　④工数計測開始（10分類×案件別・週15分以内）　⑤トップ外交棚卸し（過去12か月の機会の生死判定）　⑥停滞案件の自動抽出　⑦初期診断：仮説H1〜H7の検証（会議ログ分析・インタビュー20〜30名・リードタイムサンプル計測）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成果物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顧客・案件・パートナー・トップ外交・休眠顧客の全量リスト（再活性化候補トップ20付き）／工数計測の初回4週データ／初期診断報告書（仮説検証結果）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責任者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全体：経営スポンサー／実行：STOリード／棚卸し品質：各領域アンバサダー／データアクセス：経営企画・経理連携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会議体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STO週次定例（60分）／Day 30経営報告会（60分：棚卸し結果と初期診断）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KPI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案件登録率90%以上／次アクション設定率60%以上（初期値）／工数申告提出率80%以上／インタビュー完了25名以上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円谷フィールズホールディングス｜営業改革グランドデザイン（ドラフト・社外秘）｜Appendix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A2｜Appendix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90日実行計画②　Day 31〜60：価値と工数で評価できるようにする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40"/>
          <a:ext cx="11183111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49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08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項目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内容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具体アクション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①経営ワークショップ：7軸ウェイト・顧客ランク基準の確定　②全案件スコアリング初版・全顧客ランク初版　③高工数低収益案件の抽出（粗利下位1/3×工数上位1/3）　④監修・契約リードタイムの実測完了（直近20〜30案件の工程分解）　⑤標準営業プロセス初版（6ステージ・Exit Criteria）　⑥契約雛形・提案テンプレート整備着手　⑦ダッシュボードMVP構築（経営・マネージャー版優先）　⑧トップ外交の「生きている機会」再起動　⑨AI PoC要件定義（提案初稿生成・監修ナレッジ検索）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成果物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スコアリング済み案件ポートフォリオ／顧客ランク表／高工数低収益案件リスト（トリアージ候補）／リードタイム実測レポート／標準プロセス定義書v1／ダッシュボードMVP／KPIベースライン値一覧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責任者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スコアリング：STOリード＋経営（ウェイト決定）／プロセス：プロセス改革WG（営業＋監修＋法務＋STO）／ダッシュボード：STOデータ担当／AI PoC：STO＋IT・AI推進担当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会議体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経営ワークショップ（半日×1回）／プロセス改革WG隔週／Day 60経営報告会（60分）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KPI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スコアリング完了率100%／顧客ランク付与率100%／次アクション設定率80%以上／ダッシュボードMVP稼働／リードタイム実測20案件以上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円谷フィールズホールディングス｜営業改革グランドデザイン（ドラフト・社外秘）｜Appendix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A3｜Appendix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90日実行計画③　Day 61〜90：経営が再配分を決定する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40"/>
          <a:ext cx="11183111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49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08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項目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内容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具体アクション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①月次ポートフォリオ会議の実運用開始（第1回・第2回）：撤退候補から2〜3件の判断を経営が実際に下す　②週次パイプライン会議の新形式移行（ダッシュボード投影・資料作成禁止）　③休眠顧客トップ20への再アプローチ開始（新商材・新作タイミングと連動）　④Sランク顧客への経営スポンサー任命・初回トップ面談　⑤監修ファストトラック（3トラック制）パイロット運用　⑥担当者ダッシュボード稼働　⑦AI PoC 2件開始　⑧90日総括：工数データ90日分の分析（H2・H3最終検証）、6か月計画確定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成果物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月次会議の決定ログ（撤退・省力化・経営支援の初回判断記録）／休眠再アプローチ結果／監修ファストトラック運用基準／3層ダッシュボード完全版MVP／90日総括報告書＋6か月実行計画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責任者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月次会議：経営スポンサー（議長）／休眠プログラム：各領域マネージャー＋STO／監修パイロット：監修部門＋プロセス改革WG／AI PoC：STO＋IT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会議体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月次ポートフォリオ会議（90分×2回）／週次パイプライン会議（新形式）／Day 90経営報告会（90分：総括と6か月計画承認）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KPI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撤退・省力化の意思決定3件以上／経営支援案件の指定5件以上／休眠顧客初回接触15社以上／次アクション設定率90%以上／停滞案件数Day 30比▲30%／工数申告提出率90%以上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円谷フィールズホールディングス｜営業改革グランドデザイン（ドラフト・社外秘）｜Appendix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A4｜Appendix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KPI定義（1/2）——北極星指標は「粗利/営業工数」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40"/>
          <a:ext cx="1118311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9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2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10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31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KPI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定義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計測方法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目標設定方針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売上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営業領域別・顧客別・案件別売上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会計データ＋案件データの紐付け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経営計画に準拠（改革単独目標にしない）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粗利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MG・料率・原価・値引を反映した実質粗利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案件別粗利の算定ルールをDay 60までに統一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可視化自体が初年度成果。2年目から目標値運用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営業工数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案件別・顧客別・工程別の投入時間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週次工数申告（0.5h単位・10分類）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総量削減ではなく「使途構成の改善」を目標化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粗利/営業工数（北極星）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営業1時間あたり粗利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粗利÷営業工数（案件別・領域別・全社）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12か月で+20%（仮説目標。ベースライン後に確定）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案件登録率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実在する案件のうちパイプライン登録済みの比率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棚卸し・監査サンプリングで推計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90%以上を維持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次アクション設定率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登録案件のうち次アクションと期限が設定済みの比率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ダッシュボード自動集計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Day 90に90%、以降95%維持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停滞案件数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30日以上次アクション未実行の案件数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ダッシュボード自動集計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Day 90にDay 30比▲30%、以降低位安定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監修リードタイム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監修申請〜承認の日数（トラック別）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監修プロセスのログ計測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6か月で▲30%（仮説目標）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※ 運用原則①：ベースライン優先——多くの指標は「初めて計測される」。目標値はベースライン確定（Day 60〜90）後に設定し、上表の目標は仮説値として扱う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円谷フィールズホールディングス｜営業改革グランドデザイン（ドラフト・社外秘）｜Appendix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A5｜Appendix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KPI定義（2/2）——先行指標（行動）で改革をドライブする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40"/>
          <a:ext cx="1118311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9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2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10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31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KPI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定義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計測方法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目標設定方針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契約リードタイム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条件合意〜契約締結の日数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契約管理データ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6か月で▲30%（仮説目標）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提案作成リードタイム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提案着手〜顧客提出の日数・作成工数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工数申告＋案件ログ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AI・テンプレートで作成工数▲50%（仮説目標）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高工数低収益案件数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粗利下位1/3×工数上位1/3の案件数・工数総量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スコアリング＋工数データ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半期トリアージで漸減。解放工数の再配分先を記録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12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S/Aランク顧客への工数配分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総営業工数のうちS/Aランク顧客向け比率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工数申告×顧客ランクの掛け合わせ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12か月で50%以上（仮説目標）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13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トップ外交案件化率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経営面談の機会のうち30日以内に初動・案件登録された比率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トップ外交管理ボード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80%以上（運用でコントロール可能なため高水準）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14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CRM価値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営業案件経由の会員獲得・ファンデータ・D2C送客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案件登録時にCRM価値項目を設定しCRM基盤と連携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初年度は計測基盤の確立。2年目から増加目標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15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海外展開価値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海外横展開案件数・海外パートナー新規獲得・多市場展開率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案件データの海外展開タグ＋海外営業レビュー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初年度は計測基盤の確立。2年目から増加目標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※ 運用原則②：先行指標（#5〜7・13）は運用で即改善可能で、成果指標に先行して動く　③個人評価に不使用（初年度はチーム・領域単位のみ）　④KPIは15で固定し、追加時は既存指標を廃止する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円谷フィールズホールディングス｜営業改革グランドデザイン（ドラフト・社外秘）｜Appendix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A6｜Appendix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経営ダッシュボード——月次更新・月次ポートフォリオ会議で投影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40"/>
          <a:ext cx="11183111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83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セクション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表示項目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ポートフォリオ全景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案件総数・総額・総粗利見込／S/A/B/C案件の分布（件数・金額・工数）／2軸バブルマップ（経済価値×戦略価値×工数）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北極星・主要KPI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粗利/営業工数のトレンド／売上・粗利の領域別実績／15KPIサマリー（信号色）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資源配分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営業工数の使途構成（顧客対面vs社内業務）／S/Aランク顧客への工数配分比率／12領域別の工数×粗利マトリクス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意思決定キュー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撤退・省力化の判断待ち案件／経営支援要請案件／停滞S・A案件／ブランドリスク・エスカレーション案件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トップ外交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外交パイプライン（面談→機会→案件→契約）／案件化率／経営への逆提案（次に会うべき相手・テーマ）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新規成長領域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D2C・CRM・海外・AI・教育・カードゲーム・新カテゴリの案件動向（専用枠として常設表示）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ボトルネック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監修・契約・提案リードタイムのトレンド／滞留案件数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760720"/>
            <a:ext cx="111556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※ 設計原則：3層とも「見る人が下す意思決定」に直結する項目のみ表示（網羅ではなく判断特化）。経営→マネージャー→担当者の順に同一データを粒度違いで見る（数字の不一致を構造的に排除）。MVPは既存ツール（スプレッドシート＋BI）で構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円谷フィールズホールディングス｜営業改革グランドデザイン（ドラフト・社外秘）｜Appendix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A7｜Appendix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営業マネージャーダッシュボード——週次更新・週次パイプライン会議で投影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40"/>
          <a:ext cx="11183111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83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セクション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表示項目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パイプライン管理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担当領域の案件一覧（ステージ×金額×確度×スコア）／今月・来月・四半期の着地見込／ステージ滞留日数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停滞・リスク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停滞案件リスト（30日ルール該当）／次アクション未設定案件／失注予兆アラート（AI検知：接触間隔・工数急増等）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チーム資源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メンバー別の工数配分（案件別・工程別）／高工数案件の負荷状況／S/A顧客への配分比率（チーム単位）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ボトルネック処理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監修待ち・契約待ち・法務待ちの案件と経過日数／差し戻し発生案件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支援判断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経営支援・部門横断支援を要請すべき案件候補／若手案件の同行・レビュー要否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顧客カバレッジ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担当領域のS/A顧客の接触状況（最終接触日）／休眠顧客再アプローチの進捗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円谷フィールズホールディングス｜営業改革グランドデザイン（ドラフト・社外秘）｜Appendix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A8｜Appendix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営業担当者ダッシュボード——日次〜週次更新・個人の作業画面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463040" cy="3302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40"/>
          <a:ext cx="11183111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83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セクション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表示項目</a:t>
                      </a:r>
                    </a:p>
                  </a:txBody>
                  <a:tcPr marL="54864" marR="54864" marT="18288" marB="18288" anchor="ctr">
                    <a:solidFill>
                      <a:srgbClr val="3A1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今週のフォーカス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自分の案件の今週アクション（期限順）／期限超過アラート／今週の商談予定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自分のポートフォリオ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担当案件一覧（ステージ・スコア・次アクション）／担当顧客のランクと最終接触日／自分の粗利見込サマリー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待ち状態の見える化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自分が待っているもの（監修・契約・法務・素材・社内承認）と経過日数　※「待ち」を担当者の責任から切り離して可視化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AI支援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提案初稿生成／監修ナレッジ検索（過去指摘・ガイドライン）／商談メモの自動要約・案件反映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自分の時間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自分の工数の使途構成（先週・4週平均）／顧客対面時間の比率　※本人のみ閲覧。上長には集計値のみ共有（監視感の排除）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3A106E"/>
                          </a:solidFill>
                          <a:latin typeface="Yu Gothic"/>
                          <a:ea typeface="Yu Gothic"/>
                          <a:cs typeface="Yu Gothic"/>
                        </a:rPr>
                        <a:t>週次申告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62630"/>
                          </a:solidFill>
                          <a:latin typeface="Yu Gothic"/>
                          <a:ea typeface="Yu Gothic"/>
                          <a:cs typeface="Yu Gothic"/>
                        </a:rPr>
                        <a:t>工数申告（15分以内で完了する簡易フォーム）／次アクション更新</a:t>
                      </a:r>
                    </a:p>
                  </a:txBody>
                  <a:tcPr marL="54864" marR="54864" marT="18288" marB="18288" anchor="ctr"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円谷フィールズホールディングス｜営業改革グランドデザイン（ドラフト・社外秘）｜Appendix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653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はじめに｜自己紹介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改めまして、新谷です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645920" cy="381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0" y="1828800"/>
            <a:ext cx="3200400" cy="3657600"/>
          </a:xfrm>
          <a:prstGeom prst="roundRect">
            <a:avLst/>
          </a:prstGeom>
          <a:solidFill>
            <a:srgbClr val="F7F7F9"/>
          </a:solidFill>
          <a:ln w="15240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1828800"/>
            <a:ext cx="3200400" cy="365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写真</a:t>
            </a:r>
          </a:p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（自己紹介スライドの画像に</a:t>
            </a:r>
          </a:p>
          <a:p>
            <a:pPr algn="ctr">
              <a:spcAft>
                <a:spcPts val="300"/>
              </a:spcAft>
            </a:pPr>
            <a:r>
              <a:rPr sz="9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差し替えてください）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72237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これまで</a:t>
            </a:r>
          </a:p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前職：株式会社プラザクリエイト　代表取締役社長</a:t>
            </a:r>
          </a:p>
          <a:p>
            <a:pPr algn="l">
              <a:spcAft>
                <a:spcPts val="800"/>
              </a:spcAft>
            </a:pPr>
            <a:r>
              <a:rPr sz="125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社長として、事業改革・組織改革に向き合ってきました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現在：円谷プロダクション　専務執行役員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11880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仕事で大切にしていること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023360"/>
            <a:ext cx="2240280" cy="777240"/>
          </a:xfrm>
          <a:prstGeom prst="roundRect">
            <a:avLst/>
          </a:prstGeom>
          <a:solidFill>
            <a:srgbClr val="F3EFFB"/>
          </a:solidFill>
          <a:ln w="15240">
            <a:solidFill>
              <a:srgbClr val="782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22402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挑戦と変革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4023360"/>
            <a:ext cx="2240280" cy="777240"/>
          </a:xfrm>
          <a:prstGeom prst="roundRect">
            <a:avLst/>
          </a:prstGeom>
          <a:solidFill>
            <a:srgbClr val="F3EFFB"/>
          </a:solidFill>
          <a:ln w="15240">
            <a:solidFill>
              <a:srgbClr val="782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4023360"/>
            <a:ext cx="22402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お客様起点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4023360"/>
            <a:ext cx="2240280" cy="777240"/>
          </a:xfrm>
          <a:prstGeom prst="roundRect">
            <a:avLst/>
          </a:prstGeom>
          <a:solidFill>
            <a:srgbClr val="F3EFFB"/>
          </a:solidFill>
          <a:ln w="15240">
            <a:solidFill>
              <a:srgbClr val="782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4023360"/>
            <a:ext cx="22402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チームの力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029200"/>
            <a:ext cx="7223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前職で強く感じていたのは「このままでは会社は変わらない」という危機感。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ただし危機感は、ネガティブなものではなく、会社を前に進めるエネルギーだと思っています。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806440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5806440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806440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これは、円谷でもまったく同じだと思っています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円谷フィールズホールディングス｜営業改革グランドデザイン（ドラフト・社外秘）｜はじめに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はじめに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前職で社長になった時に感じていた危機感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645920" cy="381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会社を変えるには、戦略だけでは不十分だった。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組織全体の「温度」を上げる必要があった。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全員が「自分ごと」として動く状態を、つくらなければならなかった。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2920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——その感覚を、いま円谷でも感じています。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円谷フィールズホールディングス｜営業改革グランドデザイン（ドラフト・社外秘）｜はじめに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はじめに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円谷にも、変化のタイミングが来ている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645920" cy="381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2606040" cy="2377440"/>
          </a:xfrm>
          <a:prstGeom prst="roundRect">
            <a:avLst/>
          </a:prstGeom>
          <a:solidFill>
            <a:srgbClr val="F3EFFB"/>
          </a:solidFill>
          <a:ln w="15240">
            <a:solidFill>
              <a:srgbClr val="782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2331720" cy="2377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ウルトラマンという</a:t>
            </a:r>
          </a:p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圧倒的なIPがある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286000"/>
            <a:ext cx="2606040" cy="2377440"/>
          </a:xfrm>
          <a:prstGeom prst="roundRect">
            <a:avLst/>
          </a:prstGeom>
          <a:solidFill>
            <a:srgbClr val="F3EFFB"/>
          </a:solidFill>
          <a:ln w="15240">
            <a:solidFill>
              <a:srgbClr val="782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2286000"/>
            <a:ext cx="2331720" cy="2377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国内外に、大きな</a:t>
            </a:r>
          </a:p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成長余地がある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286000"/>
            <a:ext cx="2606040" cy="2377440"/>
          </a:xfrm>
          <a:prstGeom prst="roundRect">
            <a:avLst/>
          </a:prstGeom>
          <a:solidFill>
            <a:srgbClr val="F7F7F9"/>
          </a:solidFill>
          <a:ln w="15240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286000"/>
            <a:ext cx="2331720" cy="2377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一方で、営業・企画・監修・</a:t>
            </a:r>
          </a:p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商品化・社内連携には</a:t>
            </a:r>
          </a:p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伸びしろがある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2286000"/>
            <a:ext cx="2606040" cy="2377440"/>
          </a:xfrm>
          <a:prstGeom prst="roundRect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81160" y="2286000"/>
            <a:ext cx="2331720" cy="2377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今、変われば——</a:t>
            </a:r>
          </a:p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もっと大きな価値を</a:t>
            </a:r>
          </a:p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世の中に届けられる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212080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5212080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212080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これは「悪い状態だから直す」話ではなく、「もっと大きくなれるのに、もったいない」という話です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円谷フィールズホールディングス｜営業改革グランドデザイン（ドラフト・社外秘）｜はじめに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はじめに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組織の温度を、42度に上げたい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645920" cy="381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743200"/>
            <a:ext cx="3383280" cy="2194560"/>
          </a:xfrm>
          <a:prstGeom prst="roundRect">
            <a:avLst/>
          </a:prstGeom>
          <a:solidFill>
            <a:srgbClr val="F7F7F9"/>
          </a:solidFill>
          <a:ln w="15240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8803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〜38度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83280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ぬるいお風呂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97764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人は動かない。</a:t>
            </a:r>
          </a:p>
          <a:p>
            <a:pPr algn="ctr">
              <a:spcAft>
                <a:spcPts val="300"/>
              </a:spcAft>
            </a:pPr>
            <a:r>
              <a:rPr sz="115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変化は起きない。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194560"/>
            <a:ext cx="3383280" cy="2743200"/>
          </a:xfrm>
          <a:prstGeom prst="round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33172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42度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834640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少し熱いお風呂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42900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少し熱い。少し前のめり。</a:t>
            </a:r>
          </a:p>
          <a:p>
            <a:pPr algn="ctr"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組織が前に進む温度。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743200"/>
            <a:ext cx="3383280" cy="2194560"/>
          </a:xfrm>
          <a:prstGeom prst="roundRect">
            <a:avLst/>
          </a:prstGeom>
          <a:solidFill>
            <a:srgbClr val="F7F7F9"/>
          </a:solidFill>
          <a:ln w="15240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28803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45度〜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383280"/>
            <a:ext cx="3383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熱すぎるお風呂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977640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15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疲弊する。</a:t>
            </a:r>
          </a:p>
          <a:p>
            <a:pPr algn="ctr">
              <a:spcAft>
                <a:spcPts val="300"/>
              </a:spcAft>
            </a:pPr>
            <a:r>
              <a:rPr sz="1150" b="0" i="0">
                <a:solidFill>
                  <a:srgbClr val="5F5F6E"/>
                </a:solidFill>
                <a:latin typeface="Yu Gothic"/>
                <a:ea typeface="Yu Gothic"/>
                <a:cs typeface="Yu Gothic"/>
              </a:rPr>
              <a:t>長くは続かない。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486400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5486400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486400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少し熱い、少し前のめり、少し自分ごと——その温度感を、全員でつくりたい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円谷フィールズホールディングス｜営業改革グランドデザイン（ドラフト・社外秘）｜はじめに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はじめに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営業改革の本質は、役割ではなくマインド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645920" cy="381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営業とは、「営業職」だけの仕事ではありません。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企画も、制作も、監修も、管理も、商品も、経営も——全員が価値提供に関わっています。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だから、営業改革とは組織全体のマインド改革です。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166359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全員が「どうすれば円谷の価値を、相手に届け切れるか」を考える会社にしたい。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円谷フィールズホールディングス｜営業改革グランドデザイン（ドラフト・社外秘）｜はじめに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7823DC"/>
                </a:solidFill>
                <a:latin typeface="Yu Gothic"/>
                <a:ea typeface="Yu Gothic"/>
                <a:cs typeface="Yu Gothic"/>
              </a:rPr>
              <a:t>はじめに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1556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全員が「営業マインド」を持つ——5つの心がけ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89888"/>
            <a:ext cx="1645920" cy="38100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10515600" cy="594360"/>
          </a:xfrm>
          <a:prstGeom prst="roundRect">
            <a:avLst/>
          </a:prstGeom>
          <a:solidFill>
            <a:srgbClr val="F7F7F9"/>
          </a:solidFill>
          <a:ln w="15240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2103120"/>
            <a:ext cx="411480" cy="411480"/>
          </a:xfrm>
          <a:prstGeom prst="ellipse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011680"/>
            <a:ext cx="9418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相手の課題を想像する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724912"/>
            <a:ext cx="10515600" cy="594360"/>
          </a:xfrm>
          <a:prstGeom prst="roundRect">
            <a:avLst/>
          </a:prstGeom>
          <a:solidFill>
            <a:srgbClr val="F7F7F9"/>
          </a:solidFill>
          <a:ln w="15240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2816352"/>
            <a:ext cx="411480" cy="411480"/>
          </a:xfrm>
          <a:prstGeom prst="ellipse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81635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724912"/>
            <a:ext cx="9418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円谷の価値を言語化する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438144"/>
            <a:ext cx="10515600" cy="594360"/>
          </a:xfrm>
          <a:prstGeom prst="roundRect">
            <a:avLst/>
          </a:prstGeom>
          <a:solidFill>
            <a:srgbClr val="F7F7F9"/>
          </a:solidFill>
          <a:ln w="15240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3529584"/>
            <a:ext cx="411480" cy="411480"/>
          </a:xfrm>
          <a:prstGeom prst="ellipse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529584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438144"/>
            <a:ext cx="9418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できない理由ではなく、実現する方法を考える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151376"/>
            <a:ext cx="10515600" cy="594360"/>
          </a:xfrm>
          <a:prstGeom prst="roundRect">
            <a:avLst/>
          </a:prstGeom>
          <a:solidFill>
            <a:srgbClr val="F7F7F9"/>
          </a:solidFill>
          <a:ln w="15240">
            <a:solidFill>
              <a:srgbClr val="D9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" y="4242816"/>
            <a:ext cx="411480" cy="411480"/>
          </a:xfrm>
          <a:prstGeom prst="ellipse">
            <a:avLst/>
          </a:prstGeom>
          <a:solidFill>
            <a:srgbClr val="3A1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242816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151376"/>
            <a:ext cx="9418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社内都合ではなく、顧客・ファン・パートナー起点で考える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864608"/>
            <a:ext cx="10515600" cy="594360"/>
          </a:xfrm>
          <a:prstGeom prst="roundRect">
            <a:avLst/>
          </a:prstGeom>
          <a:solidFill>
            <a:srgbClr val="F3EFFB"/>
          </a:solidFill>
          <a:ln w="15240">
            <a:solidFill>
              <a:srgbClr val="782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" y="4956048"/>
            <a:ext cx="411480" cy="411480"/>
          </a:xfrm>
          <a:prstGeom prst="ellipse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956048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864608"/>
            <a:ext cx="9418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3A106E"/>
                </a:solidFill>
                <a:latin typeface="Yu Gothic"/>
                <a:ea typeface="Yu Gothic"/>
                <a:cs typeface="Yu Gothic"/>
              </a:rPr>
              <a:t>円谷のIP価値を、世の中に届け切る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806440"/>
            <a:ext cx="11183112" cy="566928"/>
          </a:xfrm>
          <a:prstGeom prst="rect">
            <a:avLst/>
          </a:prstGeom>
          <a:solidFill>
            <a:srgbClr val="F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5806440"/>
            <a:ext cx="38100" cy="566928"/>
          </a:xfrm>
          <a:prstGeom prst="rect">
            <a:avLst/>
          </a:prstGeom>
          <a:solidFill>
            <a:srgbClr val="782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806440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62630"/>
                </a:solidFill>
                <a:latin typeface="Yu Gothic"/>
                <a:ea typeface="Yu Gothic"/>
                <a:cs typeface="Yu Gothic"/>
              </a:rPr>
              <a:t>今日はそのための「営業改革」についてお話しします——ここから本編です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510528"/>
            <a:ext cx="11183112" cy="15240"/>
          </a:xfrm>
          <a:prstGeom prst="rect">
            <a:avLst/>
          </a:prstGeom>
          <a:solidFill>
            <a:srgbClr val="D9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656539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>
                <a:solidFill>
                  <a:srgbClr val="8A8A99"/>
                </a:solidFill>
                <a:latin typeface="Yu Gothic"/>
                <a:ea typeface="Yu Gothic"/>
                <a:cs typeface="Yu Gothic"/>
              </a:rPr>
              <a:t>円谷プロダクション / 円谷フィールズホールディングス｜営業改革グランドデザイン（ドラフト・社外秘）｜はじめに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5772</Words>
  <Application>Microsoft Office PowerPoint</Application>
  <PresentationFormat>ワイド画面</PresentationFormat>
  <Paragraphs>760</Paragraphs>
  <Slides>37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37</vt:i4>
      </vt:variant>
    </vt:vector>
  </HeadingPairs>
  <TitlesOfParts>
    <vt:vector size="41" baseType="lpstr">
      <vt:lpstr>Yu Gothic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新谷 隼人</dc:creator>
  <cp:keywords/>
  <dc:description>generated using python-pptx</dc:description>
  <cp:lastModifiedBy>新谷 隼人</cp:lastModifiedBy>
  <cp:revision>3</cp:revision>
  <dcterms:created xsi:type="dcterms:W3CDTF">2013-01-27T09:14:16Z</dcterms:created>
  <dcterms:modified xsi:type="dcterms:W3CDTF">2026-07-08T00:10:47Z</dcterms:modified>
  <cp:category/>
</cp:coreProperties>
</file>