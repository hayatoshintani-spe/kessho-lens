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201168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2996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STO ｜ 現場オンボーディング説明資料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78608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 運用指南書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現場で回すための実務マニュアル — 説明資料版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新谷隼人（専務執行役員）／営業改革推進室（STO）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2026年7月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この資料の使い方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自分の役割の章だけ読めば、動けます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全部を読む必要はありません。下の対応表で、自分が読む章だけ押さえてください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011680"/>
          <a:ext cx="11183111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9750"/>
                <a:gridCol w="6603361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あなたは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読む章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坪井さん（実行統制・データリード）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1章 ＋ 5章 ＋ 6章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小澤さん（変革設計リード）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2章 ＋ 5章 ＋ 6章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新谷（オーナー）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3章 ＋ 6章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部長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4章 ＋ 6章のうち自分に関わる場面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分科会リーダー（黒澤・南谷・高橋）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4章の後半 ＋ 会議体別アジェンダ詳細設計の自分の分科会の節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577840"/>
            <a:ext cx="11183112" cy="65836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38100" cy="65836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5632704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この指南書は「今日なにをするか」を書いた実務マニュアルです。設計の理由や背景は各設計書へ、手の動かし方は本書へ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全員共通の大原則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この3つだけは、役割に関係なく全員が守る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084831"/>
            <a:ext cx="1118311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84831"/>
            <a:ext cx="64008" cy="128016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2496311"/>
            <a:ext cx="457200" cy="45720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44" y="2194559"/>
            <a:ext cx="10104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工数データは、評価に使わない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工数データは資源配分の設計のためのもの。個人の評価には一切使いません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84447"/>
            <a:ext cx="1118311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584447"/>
            <a:ext cx="64008" cy="128016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2376" y="3995927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694175"/>
            <a:ext cx="10104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宿題は「誰が・何を・いつまでに」の3点セット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主語が組織名の宿題は存在しません。必ず個人名まで落とします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084063"/>
            <a:ext cx="1118311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084063"/>
            <a:ext cx="64008" cy="128016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" y="5495543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5193791"/>
            <a:ext cx="10104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24時間で解けないものは、抱えずに上げる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上げるのは失点ではありません。滞留こそが失点です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坪井さん（実行統制・データリード）①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週次ルーティン — 曜日ごとに、やることが決まっている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83664"/>
          <a:ext cx="1118311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842"/>
                <a:gridCol w="8001709"/>
                <a:gridCol w="2506559"/>
              </a:tblGrid>
              <a:tr h="64007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曜日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やること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使う資料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マスターの週次更新：先週分の反映・要確認キューの処理（自分で判断できるものは即断、部長判断が要るものは領域別リストへ）。処理後に「再加工日時」を更新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棚卸しマスター（共有版）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火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分科会用データパックの供給：パイプライン定点4点をマスターから抽出しライセンス分科会へ。会議用に別資料は作らない（該当ビューを見せるだけ）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同上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データ処理集中日：財務データの流し込み・名寄せ・スコア集計。割り込みはこの日に寄せない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同上 ＋ 財務データ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木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（隔週）戦略会議に出す数字の最終確認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KPIシート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64008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17:00 週次レビューで運転計器を報告（キュー残・データ鮮度・宿題消化率・停滞）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STO週次運用管理.xlsx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742432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742432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797296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火曜のポイント：会議のために別資料を作らない。マスターの該当ビューをそのまま見せる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坪井さん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データ処理の標準手順 — 3つのルーティンを、決まった順で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83664"/>
            <a:ext cx="36118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3611880" cy="47548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883664"/>
            <a:ext cx="331927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① 要確認キューの処理（月曜）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87168"/>
            <a:ext cx="324612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1.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003_要確認キューを開き、処理パターンでソート</a:t>
            </a:r>
          </a:p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2.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「担当候補一意」→ そのまま確定。迷えば確定せずコメントを付け部長行きへ</a:t>
            </a:r>
          </a:p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3.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「担当候補なし」「組織名」→ 営業領域別に分割し部長確認用の一覧へ転記</a:t>
            </a:r>
          </a:p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4.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行は消さない。理由コードを残しステータスだけ変更（後から監査できるように）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1883664"/>
            <a:ext cx="36118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1883664"/>
            <a:ext cx="3611880" cy="47548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83664"/>
            <a:ext cx="331927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② 財務データが届いたら（5ステップ）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487168"/>
            <a:ext cx="324612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1.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受領ファイルは原本のまま保存（加工はコピーで）</a:t>
            </a:r>
          </a:p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2.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顧客名寄せキーで746社と突合 → 未マッチはキューへ</a:t>
            </a:r>
          </a:p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3.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年間取引額・年間粗利・直近取引年を一括転記</a:t>
            </a:r>
          </a:p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4.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直近取引年が入れば 05_休眠顧客を自動抽出</a:t>
            </a:r>
          </a:p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5.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マッチ率・未マッチ件数を金曜レビューで報告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4152" y="1883664"/>
            <a:ext cx="36118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4152" y="1883664"/>
            <a:ext cx="3611880" cy="475488"/>
          </a:xfrm>
          <a:prstGeom prst="rect">
            <a:avLst/>
          </a:prstGeom>
          <a:solidFill>
            <a:srgbClr val="6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883664"/>
            <a:ext cx="331927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 スコアリング運用（財務列充填後）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87168"/>
            <a:ext cx="324612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1.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「取引実績」列は金額閾値から自動判定</a:t>
            </a:r>
          </a:p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2.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他4軸は部長・分科会の判断待ち。自分で採点しない（空欄のまま確認会へ）</a:t>
            </a:r>
          </a:p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3. </a:t>
            </a: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採点が入ればS/A/B/C自動判定を確認し、分布を分科会へ報告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99632"/>
            <a:ext cx="11183112" cy="27432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199632"/>
            <a:ext cx="38100" cy="2743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254496"/>
            <a:ext cx="108356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原本は加工しない・行は消さない・自分で採点しない。この3つが統制の肝です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坪井さん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統制の毎日業務 — 毎朝10分と、会議後24時間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83664"/>
            <a:ext cx="544068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64008" cy="1481328"/>
          </a:xfrm>
          <a:prstGeom prst="rect">
            <a:avLst/>
          </a:prstGeom>
          <a:solidFill>
            <a:srgbClr val="C78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11680"/>
            <a:ext cx="498348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毎朝10分：宿題の停滞色を確認</a:t>
            </a:r>
          </a:p>
          <a:p>
            <a:pPr algn="l">
              <a:spcAft>
                <a:spcPts val="4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黄（3日）→ 担当本人へチャットで一言督促（部長経由にしない・詰問しない）</a:t>
            </a:r>
          </a:p>
          <a:p>
            <a:pPr algn="l">
              <a:spcAft>
                <a:spcPts val="200"/>
              </a:spcAft>
              <a:buFont typeface="Arial"/>
              <a:buChar char="■"/>
            </a:pPr>
            <a:r>
              <a:rPr sz="105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赤（5日）→ 新谷へエスカレーション</a:t>
            </a:r>
          </a:p>
          <a:p>
            <a:pPr algn="l" lvl="1">
              <a:spcAft>
                <a:spcPts val="0"/>
              </a:spcAft>
              <a:buFont typeface="Arial"/>
              <a:buChar char="−"/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型：①何が止まっている ②誰の判断が要る ③放置すると何が遅れる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29584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529584"/>
            <a:ext cx="64008" cy="11887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675888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会議後24時間以内：決定ログのみ</a:t>
            </a:r>
          </a:p>
          <a:p>
            <a:pPr algn="l">
              <a:spcAft>
                <a:spcPts val="3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決定・責任者・期限「のみ」を決定ログへ記録し関係者へ展開</a:t>
            </a:r>
          </a:p>
          <a:p>
            <a:pPr algn="l">
              <a:spcAft>
                <a:spcPts val="0"/>
              </a:spcAft>
              <a:buFont typeface="Arial"/>
              <a:buChar char="■"/>
            </a:pPr>
            <a:r>
              <a:rPr sz="105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議事録は作らない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883664"/>
            <a:ext cx="54864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883664"/>
            <a:ext cx="5486400" cy="402336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883664"/>
            <a:ext cx="5157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差し戻しの基準（機械的に）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5084064" cy="2231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宿題の主語が組織名 → 個人名に直させる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会議資料がWord1枚超・点検会議以外のPPT → 差し戻し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「検討する」で終わる決定 → 決定ログに載せず未決として翌回冒頭へ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STOへの依頼で受付5条件が揃わない → 依頼側へ差し戻し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956048"/>
            <a:ext cx="11183112" cy="786384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956048"/>
            <a:ext cx="38100" cy="78638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010912"/>
            <a:ext cx="108356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やらないこと： 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議事録と日程調整（決定ログのみ／日程は各会議の議長側で）。部門のデータ入力・名寄せの代行（部門が元データを更新し、坪井さんは品質と期限を統制する）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小澤さん（変革設計リード）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改革の中身を設計する — 週の使い方と、道具の型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83664"/>
            <a:ext cx="5486400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5486400" cy="40233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83664"/>
            <a:ext cx="5157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週の使い方（配分の目安）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77440"/>
            <a:ext cx="5084064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課題分析・改革設計 40% ／ パイロット・部門実装支援 25%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経営判断資料 15% ／ 会議 15% ／ 余白 5%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会議は週8時間以内・坪井さんとの同席は週4時間以内（分科会は原則どちらか1名）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883664"/>
            <a:ext cx="5486400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883664"/>
            <a:ext cx="5486400" cy="402336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883664"/>
            <a:ext cx="5157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1ページ意思決定書の型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084064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論点（一文の問い）→ 背景3行 → 選択肢2案以上（各メリット・リスク1行）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→ 推奨と理由 → 決めてほしいこと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一人が作り、もう一人がレビューする（設計＝小澤／数字検証＝坪井）。共同編集は常態化させない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75887"/>
            <a:ext cx="5486400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75887"/>
            <a:ext cx="5486400" cy="402336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675887"/>
            <a:ext cx="5157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パイロットの原則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169663"/>
            <a:ext cx="5084064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小さく試す（1部門・2〜4週）→ 数字で前後比較 → 効いたら標準化して部門へ移管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移管が完了して初めて「成果」と数える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「資料を作った」は成果ではない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675887"/>
            <a:ext cx="5486400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3675887"/>
            <a:ext cx="5486400" cy="402336"/>
          </a:xfrm>
          <a:prstGeom prst="rect">
            <a:avLst/>
          </a:prstGeom>
          <a:solidFill>
            <a:srgbClr val="6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3675887"/>
            <a:ext cx="5157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やらないこと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69663"/>
            <a:ext cx="5084064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データ加工・名寄せ（坪井さんの領域）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資料の装飾（1ページを超える資料を作り始めたら赤信号）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部門長に代わる進捗説明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新谷（オーナー）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優先順位と重要判断に集中する — 固定枠と登板ポイント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週の固定枠（この4つはカレンダーから動かさない）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57984"/>
            <a:ext cx="5486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57984"/>
            <a:ext cx="64008" cy="78638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" y="2322576"/>
            <a:ext cx="457200" cy="45720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2267712"/>
            <a:ext cx="44074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金17:00-17:30 週次レビュー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エスカレを裁く。その場で決める／当てる。持ち帰らない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35808"/>
            <a:ext cx="5486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35808"/>
            <a:ext cx="64008" cy="78638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3200400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3145536"/>
            <a:ext cx="44074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戦略会議の前日30分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見るのは「問いの質」だけ。社長が決められる形か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13632"/>
            <a:ext cx="5486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913632"/>
            <a:ext cx="64008" cy="78638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" y="4078224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0744" y="4023360"/>
            <a:ext cx="44074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点検会議の前日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キーチャート5枚。1ページ目が「本日決めること」か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791456"/>
            <a:ext cx="5486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791456"/>
            <a:ext cx="64008" cy="78638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" y="4956048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744" y="4901184"/>
            <a:ext cx="44074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トップ外交の実施後48時間以内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面談メモを登録（48時間登録メモの様式）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157984"/>
            <a:ext cx="548640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157984"/>
            <a:ext cx="5486400" cy="40233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157984"/>
            <a:ext cx="5157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登板ポイント（自分が前に出る場面）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51760"/>
            <a:ext cx="5084064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専任化・応援など人の調整（部長への直接依頼）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Day30の4象限閾値の承認、Day60の見直し本丸（撤退・条件改定）の審議 — 部長に嫌われ役を押し付けない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未記入部門・温度の低い部長との個別対話（事務局経由にしない）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05856"/>
            <a:ext cx="11183112" cy="603504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705856"/>
            <a:ext cx="38100" cy="60350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760720"/>
            <a:ext cx="108356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03030"/>
                </a:solidFill>
                <a:latin typeface="Yu Gothic"/>
                <a:ea typeface="Yu Gothic"/>
                <a:cs typeface="Yu Gothic"/>
              </a:rPr>
              <a:t>やらないこと： 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やらないこと：進捗の細かい追いかけ（坪井さんの統制の領域）。会議で細部の議論に入りそうになったら「それは分科会で」と自分で切る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部長の運用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現場の判断は、会議を待たずに自分で決める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部長の週次（合計1〜2時間想定）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57984"/>
            <a:ext cx="5486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57984"/>
            <a:ext cx="64008" cy="78638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" y="2322576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2267712"/>
            <a:ext cx="44074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自領域の棚卸しシートの事実確認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実態と合っているか。違えば直接修正かキューへ（週30分）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35808"/>
            <a:ext cx="5486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35808"/>
            <a:ext cx="64008" cy="78638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3200400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3145536"/>
            <a:ext cx="44074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L1の後押し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担当者の「時間の使い方の変更」は承認不要。事後報告でよい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13632"/>
            <a:ext cx="5486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913632"/>
            <a:ext cx="64008" cy="78638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" y="4078224"/>
            <a:ext cx="457200" cy="45720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0744" y="4023360"/>
            <a:ext cx="44074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L2の判断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担当替え・部門内省力化は自分で決めて動かす。戦略会議を待たない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791456"/>
            <a:ext cx="54864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791456"/>
            <a:ext cx="64008" cy="78638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" y="4956048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744" y="4901184"/>
            <a:ext cx="44074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工数申告の見届け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提出率が下がったら本人に一言。内容には踏み込まない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2157984"/>
            <a:ext cx="548640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157984"/>
            <a:ext cx="5486400" cy="40233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157984"/>
            <a:ext cx="51572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確認会（初回・2〜3時間）での役割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51760"/>
            <a:ext cx="5084064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冒頭15分：担当未確定リストの確定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自領域の顧客関係・案件ステータスの事実確認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パートナー候補・トップ外交先の口頭ヒアリングに答える（記入は事務局）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60720"/>
            <a:ext cx="11183112" cy="54864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760720"/>
            <a:ext cx="38100" cy="54864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815584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確認会では、評価や採点はしません。事実だけを確認します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分科会リーダーの運用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75分の会議を仕切る4原則と、全体の定常カレンダー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83664"/>
            <a:ext cx="52578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5257800" cy="402336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83664"/>
            <a:ext cx="49286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75分の仕切り 4原則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77440"/>
            <a:ext cx="4855464" cy="3328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冒頭5分の宿題消し込みと最後5分の宿題読み上げは省略しない（省くと2週で会議が崩れる）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論点は1回2件まで・1件20分で切る。個別案件は5分で「担当と部長で個別に」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戦略会議へ上げる論点は最後に文言まで確定。半枚は自分で起草しSTOに書かせない（論点の当事者はリーダー自身）</a:t>
            </a:r>
          </a:p>
          <a:p>
            <a:pPr algn="l">
              <a:spcAft>
                <a:spcPts val="500"/>
              </a:spcAft>
              <a:buFont typeface="Arial"/>
              <a:buChar char="■"/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全部「共有」で終わった回は、次回の論点を閉会前にその場で決めてから解散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定常カレンダー（全体像）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89320" y="2157984"/>
          <a:ext cx="5696712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/>
                <a:gridCol w="4069080"/>
              </a:tblGrid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タイミング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毎営業日 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STO日次15分（小澤・坪井）／宿題チェック10分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毎週 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坪井：マスター週次更新／小澤：論点の質の確認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毎週 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分科会×3（75分）※STOから原則1名参加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毎週 水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坪井：データ処理集中日・宿題の中間督促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隔週 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戦略会議90分 ※前日夕方に新谷の事前確認30分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毎週 金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17:00 STO週次レビュー（30分）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点検会議60分 ※2営業日前にキーチャート送付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四半期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4象限マップ更新・ランク見直し（Day90以降）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場面別の手順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こうなったら、こうする — よくある8場面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83664"/>
            <a:ext cx="550468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64008" cy="9144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975104"/>
            <a:ext cx="508406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新しい案件・顧客が発生した</a:t>
            </a:r>
          </a:p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担当が棚卸しマスターに1行起票 → 坪井さんが月曜の週次更新で名寄せ・整合。起票漏れは部長の事実確認で拾う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883664"/>
            <a:ext cx="550468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1883664"/>
            <a:ext cx="64008" cy="9144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75104"/>
            <a:ext cx="508406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財務データが届いた</a:t>
            </a:r>
          </a:p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坪井さんが標準手順で流し込み。未マッチはキューへ。反映率を金曜報告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35224"/>
            <a:ext cx="550468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935224"/>
            <a:ext cx="64008" cy="9144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3026664"/>
            <a:ext cx="508406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宿題が停滞した</a:t>
            </a:r>
          </a:p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3日=坪井さんが本人へ督促 → 5日=新谷へエスカレ → 期限超過2回=上位会議へ自動上程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2935224"/>
            <a:ext cx="550468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2935224"/>
            <a:ext cx="64008" cy="9144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026664"/>
            <a:ext cx="508406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会議で決まらなかった</a:t>
            </a:r>
          </a:p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「宿題化して次回」か「論点として上位会議へ」を議長がその場で選ぶ。放置は禁止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86784"/>
            <a:ext cx="550468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986784"/>
            <a:ext cx="64008" cy="9144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078224"/>
            <a:ext cx="508406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ルールを変えたい</a:t>
            </a:r>
          </a:p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分科会で起草 → 戦略会議（重要なら点検会議）で承認。運用しながら勝手に変えない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3986784"/>
            <a:ext cx="550468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3986784"/>
            <a:ext cx="64008" cy="9144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078224"/>
            <a:ext cx="508406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工数が評価に使われるのでは、と不安の声</a:t>
            </a:r>
          </a:p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その場で否定し全社説明会資料の該当ページを示す。繰り返すなら週次レビューで新谷へ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38344"/>
            <a:ext cx="550468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038344"/>
            <a:ext cx="64008" cy="9144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5129784"/>
            <a:ext cx="508406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部長から「この顧客は特別だ」と例外要求</a:t>
            </a:r>
          </a:p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理由の明文化（CRM価値・ブランド価値・歴史的経緯のどれか）とセットでのみ受け、リスト化して点検会議の視界に入れる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344" y="5038344"/>
            <a:ext cx="550468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344" y="5038344"/>
            <a:ext cx="64008" cy="9144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5129784"/>
            <a:ext cx="508406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STOに実行業務の依頼が来た</a:t>
            </a:r>
          </a:p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坪井さんが「スコープ外」または「受付5条件不足」で差し戻す。断りにくければ新谷へ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金曜チェックリスト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金曜17:00、これだけ見れば締まる（8項目）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01952"/>
            <a:ext cx="111831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01952"/>
            <a:ext cx="64008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2020824"/>
            <a:ext cx="274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025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19385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要確認キュー残：先週比で減っているか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82596"/>
            <a:ext cx="111831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82596"/>
            <a:ext cx="64008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2601468"/>
            <a:ext cx="274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5831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519172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マスター再加工日時：今週の日付か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63240"/>
            <a:ext cx="111831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063240"/>
            <a:ext cx="64008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" y="3182112"/>
            <a:ext cx="274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1638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3099816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財務データ：予定どおり受領したか（遅延なら催促の担当を決める）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43884"/>
            <a:ext cx="111831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643884"/>
            <a:ext cx="64008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" y="3762756"/>
            <a:ext cx="274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7444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3680460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宿題消化率80%以上か ／ 停滞5日超はゼロか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24528"/>
            <a:ext cx="111831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224528"/>
            <a:ext cx="64008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" y="4343400"/>
            <a:ext cx="274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3251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4261104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今週の会議で「全部共有」の回はなかったか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05172"/>
            <a:ext cx="111831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805172"/>
            <a:ext cx="64008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384" y="4924044"/>
            <a:ext cx="274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49057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3584" y="484174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来週の戦略会議／点検会議の論点は「決められる形」になっているか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385816"/>
            <a:ext cx="111831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385816"/>
            <a:ext cx="64008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" y="5504688"/>
            <a:ext cx="274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5486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3584" y="5422392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エスカレーションは全件その場で裁いたか（持ち帰りゼロ）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966460"/>
            <a:ext cx="111831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966460"/>
            <a:ext cx="64008" cy="5120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6384" y="6085332"/>
            <a:ext cx="274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60670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43584" y="6003036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専任2名の負荷は限界に近づいていないか ／ 増員トリガー3条件に接近していないか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迷ったらどこを見るか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本書と設計書の対応 — 知りたいことから、資料を引く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1118311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9268"/>
                <a:gridCol w="6283843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知りたいこと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見る資料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なぜこの改革をやるのか・全体像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グランドデザイン本文／経営幹部説明版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プロジェクト全体の順序と各STEPの資料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00_プロジェクト進行プレイブック.md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STOの権限・体制・増員の考え方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sto/STO設計書_体制と運用.md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各会議の分単位アジェンダ・論点の型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meetings/会議体別アジェンダ詳細設計.md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会議体系の全体ルール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meetings/会議運用設計書.md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工数データの使い道・提案の行き先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工数活用設計_提案と実行レベル.md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採点の基準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棚卸しマスターの採点定義シート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粗利の考え方（委員会配分）／NXの流れ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粗利算定_他社分消去メモ.md／NXワークフロー理解メモ.md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どれが最新資料か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資料一覧_最新版.md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797296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797296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52160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手順が実態と変わったら、指南書を直してから運用を変える。運用しながら勝手に変えない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