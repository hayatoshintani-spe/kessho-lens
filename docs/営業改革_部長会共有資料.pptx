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部長会（経営会議付議前のご相談・30分）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営業改革構想について、皆さんの意見を聞かせてください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——円谷IPの収益化能力を再設計する全社改革（案）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本日の内容はまだ「起案」です。皆さんの現場感で修正した上で、経営会議に付議します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円谷プロダクション　専務執行役員　新谷 隼人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本日30分：構想の説明 18分 ／ 討議 10分 ／ 今後の進め方 2分　※詳細資料は会議後に共有します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本日の位置づけ（2分）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本日は「決定事項の伝達」ではありません——付議前に、皆さんの知見で構想を鍛えたい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経営会議への付議は本日と会議後1週間の意見を反映してから行います。本日決めることはありません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お願いは2つだけ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課題仮説の検証：これから示す課題は「仮説」です。現場実感とのズレを教えてください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実行上の障害の予見：「この設計ではここで詰まる」を、いま指摘してください。始まってから直すより10倍安く済みます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先に一つだけ約束します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この改革は営業部門の管理強化ではありません。工数の記録は人事評価に一切使いません。目的は、現場の時間を提案・商談・顧客開拓に返すことです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実施可否・予算・人事は経営会議マター。本日は構想の中身を良くすることに集中します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皆さんに伺いたいこと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30分で収めるため説明は要点のみ。詳細は会議後に共有する資料一式で確認いただけます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部長会共有資料（経営会議付議前ドラフト・社外秘）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課題認識（5分）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IPの機会が広がるほど営業の複雑性が増す——4つの構造課題の仮説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海外・カードゲーム・D2C・AI・教育と機会が多面化する一方、営業の仕組みが追いついていない可能性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仮説①　全量が見えない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案件・顧客・商談・トップ外交・休眠顧客・停滞案件が、担当者の頭の中と個人Excelに分散し、組織として把握できていない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仮説②　売上偏重の物差し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粗利・工数・戦略価値・ブランド価値が評価に乗らず、「断る基準」がないため、消耗する案件も全部背負っている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仮説③　ボトルネックは営業の外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監修・契約・社内調整がリードタイムの過半を占めている可能性（※監修はIP品質保証の要。緩めるのではなく、リスクに応じた配分に変える）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仮説④　決めない会議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報告で時間が尽き、重点化・停滞打開・撤退・経営支援の判断が行われず、新規領域の案件が大型案件の影に埋もれる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これは現場の問題ではなく仕組みの問題。仕組みを直せば増員なしで営業能力を1〜2割拡張できる余地（仮説・90日で実測検証）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皆さんに伺いたいこと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皆さんの現場実感とのズレ・追加すべき課題を討議で伺います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部長会共有資料（経営会議付議前ドラフト・社外秘）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改革構想（3分）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ゴール：すべてを可視化し、営業資源を価値が最大化する案件へ再配分する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見える化は手段、再配分が目的。営業を「許諾対応窓口」から「IP収益化プロデューサー」へ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基本思想（抜粋・改革の憲法として全社発信予定）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管理強化ではない／工数把握は監視ではなく時間を取り戻すため／最重要は「やらない案件・省力化する案件・経営支援を入れる案件」を決めること／90日でまず「見えない状態」を終わらせる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全体構造は3層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第1層 見える化：5つの棚卸し（顧客・案件・パートナー・トップ外交・休眠）＋工数把握＋ダッシュボード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第2層 評価：案件7軸スコアリング（売上・粗利・工数効率・戦略・CRM・海外・ブランド）＋顧客S/A/B/Cランク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第3層 意思決定：資料レスの意思決定会議＋撤退・省力化ルール＋トップ外交管理＋経営支援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推進：専任STO（下書き・分析・事務局を巻き取る）／道具はExcelから始めてNotion→SFA/CRMは運用実績を見て判断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皆さんに伺いたいこと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7軸の評価軸に、領域特有の観点で加えるべき・直すべき点はありますか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部長会共有資料（経営会議付議前ドラフト・社外秘）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現場を守る設計（3分）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皆さんが最も心配な点に、先に答えます——現場負荷と「詰められ文化」への歯止め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この改革は現場が楽になる順番で設計しています。守られない場合は仕組み側を直します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負荷は最小化：棚卸しの下書き8割はSTOが作る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現場は確認・修正の2〜3時間のみ。工数メモは週15分・0.5時間単位・精度7割でOK・90日間の時限計測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評価に使わない：経営陣名義で全社宣言してから開始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個人明細は本人とSTOのみ閲覧。マネジメントに共有されるのはチーム集計のみ。「なぜこの時間配分だ」と詰めない運用をマネジメント側の約束にする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撤退の「言い出しっぺ」を現場にさせない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低収益・高工数案件の撤退・省力化は、データに基づきSTOが起案し、経営が決定の責任を持つ。顧客への伝え方（誠実な説明・代替提案・再開可能性）も会社の標準を用意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見返りは先に：資料作成禁止・AI提案ドラフト・監修ナレッジ検索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報告資料づくりの廃止が現場への最初の返礼。AI・テンプレートで提案作成時間の半減を目指す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皆さんに伺いたいこと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「これでも現場が構える」と思うポイントがあれば教えてください——発信前に直します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部長会共有資料（経営会議付議前ドラフト・社外秘）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スケジュール（3分）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承認後90日で「見えない状態」を終わらせる——部門への影響はこの範囲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Day 30「全量が見える」→ Day 60「価値と工数で評価できる」→ Day 90「経営が再配分を決定」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1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637"/>
                <a:gridCol w="5408226"/>
                <a:gridCol w="4308248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フェーズ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主な動き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部門への影響（お願いの範囲）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1〜30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STO立ち上げ／全社告知・領域別説明会（15分）／5つの棚卸し／工数計測開始／関係者インタビュー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アンバサダー人選／棚卸し確認2〜3時間／週15分の工数メモ開始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31〜60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経営WSで評価軸確定／全案件スコアリング／監修・契約リードタイム実測／ダッシュボードMVP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領域知見の提供／実測への協力（監修・法務）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61〜90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月次ポートフォリオ会議の実運用（初回撤退判断）／週次会議の資料レス化／休眠顧客再アプローチ／AI PoC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週次会議の運営変更（主役は部長）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20624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承認された場合、部長の皆さんへの依頼は5つ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① 領域アンバサダー人選（各領域1名・週2〜3時間想定）　② 自領域の棚卸し品質担保　③ 週次会議の新形式運営　④ メンバー説明会への同席（資料・FAQはSTO準備済み）　⑤ 監修・法務・経営企画：プロセス改革WGへの参画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本日この場でのコミットは求めません。「引き受ける場合の懸念」を先に聞かせてください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皆さんに伺いたいこと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5つの依頼のうち「これは難しい・設計を変えてほしい」ものはどれですか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部長会共有資料（経営会議付議前ドラフト・社外秘）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討議（10分）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2つの論点に絞って伺います——言いそびれた意見は会議後1週間受け付けます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批判・懸念ほど価値があります。ここと会議後1週間で出なかった論点は「合意」とみなして付議します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8436"/>
                <a:gridCol w="6555617"/>
                <a:gridCol w="2892184"/>
                <a:gridCol w="1156873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特に聞きたい方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課題仮説（4つ）は現場実感と合っているか。ズレ・追加はあるか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全部長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実行上の障害はどこか（評価軸／撤退ルール／工数計測／会議の資料レス化／人選）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全部長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429000"/>
            <a:ext cx="11155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会議後の受付（〜1週間）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宛先：新谷まで直接（メール・口頭可）。監修・契約プロセスの実態、撤退ルールへの懸念、STOリード・アンバサダー人選の推薦は、個別にじっくり伺いたいテーマです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いただいた意見は「意見 → 構想への反映結果」の一覧にして、付議前に全部長へ共有します。反映しない意見にも理由を返します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進行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残り時間で、まず論点1（課題仮説のズレ）からお願いします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部長会共有資料（経営会議付議前ドラフト・社外秘）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今後の進め方（2分）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本日と1週間の意見を反映し、経営会議に付議します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承認後はすぐ動ける状態です（実行ツール・現場向け資料は準備済み）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ここからの流れ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Step 1（本日〜1週間）：意見の受付と反映。「意見→反映結果」を全部長へ共有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Step 2（〜2週間目安）：経営会議に付議（9つの意思決定。参考スライド参照）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Step 3（承認後Day 1〜）：キックオフ。全社告知→領域別説明会→棚卸し開始。皆さんへの正式依頼はこの時点で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会議後に共有する資料一式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経営会議付議資料（全37枚）／現場向け説明会資料（FAQ11問つき）／実行ツール（棚卸しExcel・工数テンプレ・会議運営ツール）／プロジェクト進行プレイブック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この改革は、部長の皆さんが「自分の改革」と思えなければ成功しません。率直な意見をお願いします。——新谷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部長会共有資料（経営会議付議前ドラフト・社外秘）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（参考・時間があれば）経営会議に付議する9つの意思決定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7項目は追加投資ほぼゼロで開始できます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8311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10"/>
                <a:gridCol w="2867464"/>
                <a:gridCol w="6308422"/>
                <a:gridCol w="1529314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意思決定事項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投資規模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STO設置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経営スポンサー（新谷）＋専任リード＋コア2〜3名＋領域アンバサダー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人員再配置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営業全量棚卸し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5つの棚卸しの30日以内実施／データアクセス権付与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工数把握の開始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90日間の時限計測＋「評価に使わない」の経営宣言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スコアリング・顧客ランク導入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7軸モデル＋経営ワークショップでウェイト確定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撤退・省力化判断ルール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トリアージ3分類／判断責任は月次会議（経営）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重点顧客・案件への経営支援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Sランク顧客の経営スポンサー制／トップ外交48時間登録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経営の時間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監修・契約プロセス改革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WG設置（営業＋監修＋法務＋STO）／リードタイム実測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ほぼゼロ〜小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AI営業支援PoC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提案初稿生成・監修ナレッジ検索の2件から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小規模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ダッシュボードMVP構築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既存ツールで構築／大規模投資はMonth 6に判断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小規模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部長会共有資料（経営会議付議前ドラフト・社外秘）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