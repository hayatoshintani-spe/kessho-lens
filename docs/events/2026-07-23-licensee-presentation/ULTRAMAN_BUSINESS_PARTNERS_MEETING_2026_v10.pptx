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714"/>
    <a:srgbClr val="00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95" d="100"/>
          <a:sy n="95" d="100"/>
        </p:scale>
        <p:origin x="9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3C6BB-776A-4753-AB41-4207CE347F81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A3BBA-E0A1-437E-A0C7-205A02F81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68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皆さま、本日はお集まりいただきありがとうございます。最初に申し上げます。本日は、作品の発表会ではありません。2027年度以降のウルトラマンの商機を、皆さまと一緒につくり始める1時間です。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日の目的は3つです。2027年度以降の展開を共有すること。皆さまの商品化・販促・売場展開の可能性をご提示すること。そして、本日から個別商談と企画相談を開始することです。ぜひ「自社なら何ができるか」という目線でお聞き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いまご覧いただいた熱量が、ウルトラマンの原点です。ファンは会場に来て、写真を撮り、商品を手に取り、誰かに共有します。この「人が動く力」を、皆さまの商品・売場・キャンペーンに接続するのが、本日のテー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周年は、すでに動き出しています。イベント、商品化、コラボ、流通、広告、海外。ご覧いただきたいのは商品そのものではなく、そこに集まっている「人」です。この勢いは実績として証明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ライセンシーの皆さまが一番知りたいのは「いつ仕込めばいいか」だと思います。答えはこのカレンダーです。2027年夏の映画・イベント・大型キャンペーンが最大の山です。商品開発のリードタイムから逆算すると——2026年冬には企画と監修が始まっている必要があります。つまり、商談開始は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からは、本日お越しの皆さま一人ひとりに関わる話です。7つのカテゴリーで、具体的な企画をご提案します。ご自身のカテゴリーが出てきたら、「この枠にうちが入れるか」という目線でご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まず、最大のカテゴリーであるMD・グッズの皆さまへ。2027年の新展開に向けて、5つの商品化パッケージをご用意しました。キッズMDから、大人向けプレミアム、女性ライト層向けまで。新作の初速商品は、発売日から逆算すると今日から仕込みが始まります。</a:t>
            </a:r>
          </a:p>
          <a:p>
            <a:r>
              <a:t>【必要素材】Tシャツ/スウェット/キャップ/アクスタ/フィギュア/カード/文具/雑貨/プレミアムフィギュア/怪獣柄パターン/ゼロ関連素材/スタイルガイド抜粋/売場イメージ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食品・飲料・外食の皆さまには、親子キャンペーンパッケージをご提案します。映画やイベントの山に合わせて、限定パッケージ、半券キャンペーン、コラボメニュー。ウルトラマンの親子熱量を、購入・来店・応募という行動に変える企画です。</a:t>
            </a:r>
          </a:p>
          <a:p>
            <a:r>
              <a:t>【必要素材】菓子・飲料・アイス・ゼリー・パンのパッケージモック/キッズプレート/コラボドリンク/ノベルティ/親子写真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通・EC・商業施設の皆さまには、「商品を置く」のではなく「売場を作る」提案です。映画棚、ウルサマ棚、怪獣棚、IPコラボ棚。期間限定の売場ジャックからPOPUP、EC限定まで、売場そのものを一緒に設計させてください。</a:t>
            </a:r>
          </a:p>
          <a:p>
            <a:r>
              <a:t>【必要素材】棚モック/POPUPイメージ/ECページモック/店頭POP/棚帯/購入特典告知/館内装飾/スタンプラリー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広告代理店・SPの皆さまには、クライアント提案にそのまま使えるパッケージをご用意します。親子集客、防災、交通安全、地域創生。ウルトラマンは「正義」「勇気」「未来」という文脈を持っているので、企業課題と接続しやすいIPです。</a:t>
            </a:r>
          </a:p>
          <a:p>
            <a:r>
              <a:t>【必要素材】店頭キャンペーン事例/交通広告モック/SNS投稿施策/ヒーローグリーティング写真/スタンプラリー台紙/企業タイアップ動画イメージ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デジタル・ゲームの皆さまへ。ウルトラマンはリアルだけのIPではありません。ゲーム内コラボ、限定アバター、配信連動。歴代ヒーローと怪獣というキャラクター資産は、デジタル施策と非常に相性が良い領域です。</a:t>
            </a:r>
          </a:p>
          <a:p>
            <a:r>
              <a:t>【必要素材】ゲーム画面風モック/ガチャ画面/限定キャラクター/デジタルアイテム/SNS投稿テンプレート/YouTubeサムネイル風/ライブ配信画面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イベント・施設・観光の皆さまへ。ウルトラマンの最大の特長は「会いに来てもらえる」ことです。ヒーローショー、グリーティング、スタンプラリー。来場理由を作り、そのまま館内の回遊と購買につなげる集客パッケージをご提案します。</a:t>
            </a:r>
          </a:p>
          <a:p>
            <a:r>
              <a:t>【必要素材】ヒーローショー写真/親子観覧写真/決めポーズ写真/グリーティング写真/館内マップ/スタンプラリー台紙/地域イベント写真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Pコラボは、ウルトラマンの入口を広げる装置です。かわいい文脈で女性・ライト層へ。ホビー文脈でコレクターへ。すでにモフサンド、ベイブレードで実証されています。コラボを起点に、新しい売場と新しいファン層を一緒に開拓しません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現在も、多様なスタイルガイド、アートガイドをご用意しています。今後はさらに一歩進め、完成されたビジュアルを選んでいただくだけではなく、キャラクター、ポーズ、背景、パターン、カラー、ロゴなどを組み合わせ、企業ごとの顧客、商品、価格帯、販路に適した提案を一緒に作れる形へ進化させていきます。</a:t>
            </a:r>
          </a:p>
          <a:p>
            <a:r>
              <a:t>同じ水筒でも、幼児向け、小学生向け、大人向けでは、必要なウルトラマン表現は全く異なります。皆さまの顧客に最適なウルトラマンを、一緒に設計していきます。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今後、円谷が強化していくもう一つの価値が、商品化後のマーケティング支援です。</a:t>
            </a:r>
          </a:p>
          <a:p>
            <a:r>
              <a:t>商品を作っていただき、監修して終わりではありません。円谷公式SNS、ULTRA MART、イベント、インフルエンサー、EC、店頭施策を組み合わせながら、発売前の期待形成、発売時の話題化、発売後の購買促進まで一緒に設計していきます。</a:t>
            </a:r>
          </a:p>
          <a:p>
            <a:r>
              <a:t>ULTRA MARTも、すべての商品を大量に販売するための場所ではなく、新しい商品、新しいターゲット、新しいデザインを試し、原宿で話題を作り、全国の売場へ広げていく発信拠点として活用していきます。</a:t>
            </a:r>
          </a:p>
          <a:p>
            <a:r>
              <a:t>商品化だけでなく、ファンと出会い、話題になり、売れるところまで、皆さまと一緒に作っていきます。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進め方はシンプルです。個別相談から始まり、素材共有、企画提出、監修、商品化。各ステップの標準期間も明示します。「作りたい」で終わらせず、「作れる」状態まで私たちが伴走します。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で、本日一番大事なご案内です。いまこの瞬間から、個別商談の受付を開始します。お手元のスマートフォンで、このQRからご登録ください。相談カテゴリを選ぶだけ。登録いただいた企業様には、担当者から順にご連絡し、個別商談、素材共有、企画検討へ進みます。この後のコンテンツ紹介の間も、QRは画面の隅に残しておきます。【運営】QRは最低60秒表示。以降のスライドでも画面隅に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最後に5分だけ、この商機を支えるコンテンツの話をします。ここまでの提案が「続けられる」理由です。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接点は3つ。TVシリーズが継続接点を作り、映画が大型の話題化を作り、配信・YouTubeがコアファン接点を広げます。この3つが年間を通じて連動するので、商品もキャンペーンも単発で終わ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この表が、本日のまとめです。コンテンツごとに、皆さまのカテゴリーの商品化機会が対応しています。作品の話をしているようで、実はずっと、皆さまの事業機会の話をしてきました。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ウルトラマンの売場は、今日ここから始まります。映像の話題、イベントの熱量、流通の売場——そこに皆さまの商品とキャンペーンがつながることで、次の市場が生まれます。個別相談は、本日より受付開始です。会場を出る前に、ぜひQRのご登録を。皆さまと一緒に、次のウルトラマン市場をつくれることを楽しみ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A88040-3D56-0319-3E49-E2AD544E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68D-C5BF-45DD-851C-FBEBD38DB990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E1B172-E5A6-5D5C-C7DF-A84A024B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6C759-57A2-57C4-D6A7-544E770E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81D69-007A-237B-750B-0A473596BA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71EBCE23-8037-95B1-60B4-73FF3E45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78118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82CC15-16FC-FE1F-E1BB-BCD70144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FA19-B876-4F47-836D-513A4E46A43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583F08-1E4F-F903-F594-62624DED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159CDC-3107-2611-16C9-BF044A62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145" y="6356349"/>
            <a:ext cx="2743200" cy="365125"/>
          </a:xfrm>
        </p:spPr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AEA3FD5-8022-A185-7F53-7D7A68C8B9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F4A4C081-EDC6-5327-77E6-66B8AA44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269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A9D1F7-1E06-79AE-EA50-B75E4118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4872D1-02C4-C326-C190-9B7ADEDD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AE9C44-C4A4-6252-2251-FDCB8CBB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E9C70-1A3E-49C1-A044-1C6676BB53B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921656-851B-403A-A197-556EC932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D3239-48CF-90D0-853E-13CA1E4D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71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5AAE97-5132-B468-595B-7C9A7BB4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DFB7E-D09D-4D0C-59BD-E36A03FC0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7D015B-C7D4-7B04-E0B6-FA4647F9B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4ACC0F-8BBC-9466-DE64-20A3C828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0AA8-6DB5-4460-B397-38EEE2200ECD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8CDF31-2D1A-3F90-92CD-FEF8A26D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0A1D6-1506-427D-107A-E87BD3E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3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E58EC-9552-6123-9290-C2239105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CC0727-9DF6-E369-D0EB-1EF91D7B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116897-BE23-8736-B31D-A59AE8AAB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A11FE7-1F98-39FD-F353-68FEC5433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DDCDFA-239F-238A-BCF7-361FCFB29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CDB914-51AB-5567-9933-A47398E3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9FE9-4F1C-4734-A29B-089FACD6841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F42598-BC38-651A-19F8-3216094E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7D8B99-BF53-6C74-9830-281DE830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13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C7D8E8-B424-A032-C170-E0231AC8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EF4763-8C6D-E3D3-F72B-CF444AA6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4F19-B036-4317-84BC-8A54E2A158DA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D0D4A9-7315-4348-9DF3-C521FB97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93128B-3334-9BFD-5025-985490A0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01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A16075-0E32-79D7-0ED0-6F34C0C7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E50B-730A-41A7-8F08-E1E4D3A30FF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BD3DC1F-921F-EE41-147A-E52CDA28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E1BC41-4A69-6488-8F7F-FE9D3B15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101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6B841-7F8C-8C65-F8E8-A279A6E1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E969EB-29A5-C9D8-21A8-6D6DDAD22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430D94-6B48-4E73-5B9D-A54B2435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E4D129-AE65-2CB9-B0D0-C7BBF7A9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D7904-FA14-48B9-9595-3F9ADF9D1C3B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77590C-9B7C-7FAD-6362-103E8064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4031BC-4E50-9B0F-93B2-3D1751BA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34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E8752-FEC2-6CB1-7009-C7843937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230D219-7FF8-7B29-4F00-E47EDB42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C6CDCA-6C3B-35C5-D2C5-6CD03FB8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408EA7-A534-F7C7-3200-95A952C6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B6A1-A75C-41EA-97FA-948EF5D4FE9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2E0C83-658F-4EEB-B1DE-A12294A9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5F171D-0E20-82B3-E27B-D1C1BBEC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2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18B47-5DDC-700B-70C9-391560F1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5F8199-7978-69FC-C299-D510FEB19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60500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F9797A-6559-53E7-34A5-B3E2864D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1845-7E58-4720-B139-BFFA9BCB3CAE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101F7A-F85D-8950-7B29-5EE28E4E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450583-245C-F945-76F8-0C80944F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13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F210AF-F868-AD1C-B3D3-1033414A4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D0CD1A-9244-4BA7-0495-CEC5C78F5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9F925-0775-20D2-F35D-55C648BA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AD85-0112-45C3-9244-ADAD48346B32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96036D-484D-FEA5-8D44-4AFA1CFB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0EA7D8-AFD3-023E-1020-4BBA6234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5775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06A34B-174E-D2EB-ACDE-C5412952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F2AC66-AC87-BA1E-809C-D7B5F0201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357D0-1E63-4326-AD96-F9B068DDA01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E780B-2F9C-43F7-9B9F-42C14057F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A58368-9120-411E-0FE6-AC6A3329C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11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6FEA0-CE2F-2F12-D362-EE5FB983DC9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96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36" y="173736"/>
            <a:ext cx="248716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3716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300" b="1" spc="300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 BUSINESS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PARTNERS MEETING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2027年度以降の商機を、いま一緒につくる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2026年7月23日(木)16:00-17:00|ウルサマ イベントステージ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2027年度以降の売場は、今日ここから始まる。</a:t>
            </a:r>
          </a:p>
        </p:txBody>
      </p:sp>
      <p:pic>
        <p:nvPicPr>
          <p:cNvPr id="13" name="Picture 12" descr="s01_kv_with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143000"/>
            <a:ext cx="29260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02|PURPOSE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本日は、2027年度以降の商機を共有する場です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「作品を聞く」のではなく、「自社の商談機会」として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展開を共有する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2027年度以降のウルトラマン展開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可能性を提示する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商品化・販促・売場展開の具体案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商談を開始する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本日から個別商談・企画相談を受付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作品を聞く1時間ではなく、商談が始まる1時間です。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03|WHY ULTRAMAN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ウルトラマンは、“人を動かすIP”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ファンの行動が、そのまま売上への動線になる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会場に来る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写真を撮る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3016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商品を手に取る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5944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1704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この熱量を、商品・売場・キャンペーンへ。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会場に来る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5844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写真を撮る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1396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商品を手に取る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500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グリーティング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04|MOMENTUM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60周年は、もう動き出している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勢いは、証明済み。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9846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772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ウルトラマート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9846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流通展開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6772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3698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海外展開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この勢いは、2027年度以降につながっていく。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ウルサマ客席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09433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8972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ウルトラマート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35485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流通展開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1998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48511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海外展開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33" name="Picture 32" descr="s04_products_sofu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946" y="3886200"/>
            <a:ext cx="1296785" cy="1783080"/>
          </a:xfrm>
          <a:prstGeom prst="rect">
            <a:avLst/>
          </a:prstGeom>
        </p:spPr>
      </p:pic>
      <p:pic>
        <p:nvPicPr>
          <p:cNvPr id="34" name="Picture 33" descr="s04_collab_plu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459" y="3886200"/>
            <a:ext cx="1296785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05|BUSINESS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2027年の売場は、今日から仕込む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2026-2027 ULTRAMAN 商機カレンダー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時期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ウルサマ・イベント連動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2026秋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IPコラボ・年末商戦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2026冬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2027商品の企画・監修開始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2027春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新生活・文具・雑貨・アパレル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映画・イベント・大型キャンペーン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2027秋冬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ホビー・EC・プレミアム・年末商戦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“発売タイミング”から逆算すると、商談開始は今です。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06|FOR ALL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本日ご参加の皆さまと、作りたいこと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7つのカテゴリーで、企画を募集します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3063240"/>
            <a:ext cx="2286000" cy="1234440"/>
          </a:xfrm>
          <a:prstGeom prst="roundRect">
            <a:avLst>
              <a:gd name="adj" fmla="val 2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7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</a:t>
            </a:r>
          </a:p>
          <a:p>
            <a:pPr algn="ctr"/>
            <a:r>
              <a:rPr lang="ja-JP" sz="105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201168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この中に、貴社の席があります。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07|FOR MD・グッズ・玩具・アパレル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MD・グッズ・玩具・アパレル向け|2027新展開 商品化パッケージ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2027年の初速を、一緒に作る5つの企画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新作連動キッズMD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映画・ゼロ関連商品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歴代ヒーロー/怪獣コレクション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大人ファン向けプレミアム商品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女性ライト層向け雑貨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2027年の初速商品は、今日から仕込みが始まります。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5334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売場イメージ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7" name="Picture 26" descr="s07_apparel_ki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28" name="Picture 27" descr="s07_goods_itab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29" name="Picture 28" descr="s07_premium_wat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08|FOR 食品・飲料・外食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食品・飲料・外食向け|親子キャンペーンパッケージ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親子需要 × 映画・イベントの山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限定パッケージ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映画半券キャンペーン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親子ペア応募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外食コラボメニュー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12064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ウルサマ来場者特典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親子の熱量を、購入・来店・応募につなげる。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限定パッケージ+コラボメニュー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半券キャンペーン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5334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親子購入シーン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09|FOR 流通・EC・商業施設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流通・EC・商業施設向け|ULTRA MART / 売場連動パッケージ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「商品を置く」ではなく「売場を作る」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映画公開記念棚/ウルサマ連動棚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ゼロ特集棚/怪獣特集棚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IPコラボ棚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POPUP/EC限定販売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商品を作るだけでなく、売場まで一緒に設計する。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映画公開記念棚+EC特集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POPUP売場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スタンプラリー台紙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10|FOR 広告代理店・SP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広告代理店・SP向け|企業キャンペーン活用パッケージ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クライアント提案に、そのまま使える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親子集客/夏休み販促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防災/交通安全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地域創生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未来・テクノロジー/CSR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商業施設回遊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ウルトラマンは、企業課題を解決するキャンペーン装置になる。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交通広告 駅貼りB0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SNS投稿画面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グリーティング集客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11|FOR デジタル・ゲーム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デジタル・ゲーム向け|デジタル・ゲーム連動パッケージ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リアルIPの熱量を、デジタルへ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ゲーム内コラボ/限定アバター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デジタルスタンプ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配信連動/EC限定デジタル特典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ファンコミュニティ施策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リアル商品だけでなく、デジタル接点でもファンを広げる。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ゲーム内コラボ画面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ガチャ・アバター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YouTubeサムネ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5334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ライブ配信画面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12|FOR イベント・施設・観光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イベント・施設・観光向け|会いに来るIP 集客パッケージ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ウルトラマンは、来場理由になる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ヒーローショー/グリーティング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撮影会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館内スタンプラリー/地域回遊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商業施設イベント/観光地コラボ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物販連動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来場理由を作り、購買理由につなげる。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103120"/>
            <a:ext cx="2542032" cy="1705356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ヒーローショー+観客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103120"/>
            <a:ext cx="2542032" cy="1705356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グリーティング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918204"/>
            <a:ext cx="2542032" cy="1705356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スタンプラリー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3918204"/>
            <a:ext cx="2542032" cy="1705356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商業施設イベント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13|FOR IP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IPコラボで、新しいファン層へ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ウルトラマンは、男性・キッズ向けだけではない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方向性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狙う層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かわいい文脈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女性・ライト層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雑貨・文具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キッズ・コレクター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玩具・カード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キャラクター文脈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ファミリー・ギフト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流通棚・雑貨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ヒーロー文脈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プレミアム・アパレル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ウルトラマンの入口を、もっと広げる。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9036" y="4572000"/>
            <a:ext cx="1097280" cy="1097280"/>
          </a:xfrm>
          <a:prstGeom prst="roundRect">
            <a:avLst>
              <a:gd name="adj" fmla="val 96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コラボ棚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0" name="Picture 19" descr="s13_kawaii_pl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636" y="4572000"/>
            <a:ext cx="1097280" cy="1097280"/>
          </a:xfrm>
          <a:prstGeom prst="rect">
            <a:avLst/>
          </a:prstGeom>
        </p:spPr>
      </p:pic>
      <p:pic>
        <p:nvPicPr>
          <p:cNvPr id="21" name="Picture 20" descr="s13_hobby_sofu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236" y="4572000"/>
            <a:ext cx="1097280" cy="1097280"/>
          </a:xfrm>
          <a:prstGeom prst="rect">
            <a:avLst/>
          </a:prstGeom>
        </p:spPr>
      </p:pic>
      <p:pic>
        <p:nvPicPr>
          <p:cNvPr id="22" name="Picture 21" descr="s13_chara_gurihir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836" y="4572000"/>
            <a:ext cx="1097280" cy="1097280"/>
          </a:xfrm>
          <a:prstGeom prst="rect">
            <a:avLst/>
          </a:prstGeom>
        </p:spPr>
      </p:pic>
      <p:pic>
        <p:nvPicPr>
          <p:cNvPr id="23" name="Picture 22" descr="s13_hero_co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5720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14|STYLE GUIDE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スタイルガイドを、企業ごとの提案プラットフォームへ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素材を選ぶのではなく、売れる表現を一緒に組み立てる。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2" y="2103120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7712" y="2103120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キッズ・親子・女性・若者・大人ファン・コレクター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46603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61487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7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CATEGORY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84832" y="2761487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67712" y="2761487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食品・文具・アパレル・雑貨・ホビー・流通・広告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04971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19855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19855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STYLE PARTS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84832" y="3419855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7712" y="3419855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ヒーロー・怪獣・ポーズ・背景・パターン・ロゴ・カラー・コピー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7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79391"/>
            <a:ext cx="6720840" cy="640080"/>
          </a:xfrm>
          <a:prstGeom prst="roundRect">
            <a:avLst>
              <a:gd name="adj" fmla="val 12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79391"/>
            <a:ext cx="6263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企業別提案パッケージ</a:t>
            </a:r>
            <a:r>
              <a:rPr sz="110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  商品モック / 売場 / キャンペーン / デジタル施策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20639"/>
            <a:ext cx="658368" cy="310896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A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120639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現在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5120639"/>
            <a:ext cx="5916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完成アートを見せ、合うものを選んでもらう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22975"/>
            <a:ext cx="658368" cy="310896"/>
          </a:xfrm>
          <a:prstGeom prst="roundRect">
            <a:avLst>
              <a:gd name="adj" fmla="val 25000"/>
            </a:avLst>
          </a:prstGeom>
          <a:noFill/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522975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今後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" y="5522975"/>
            <a:ext cx="5916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市場・顧客・価格・販路から逆算し、最適なアートパーツを組み合わせる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084831"/>
            <a:ext cx="4233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同じ「ボトル・水筒」でも、ここまで変わる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2487168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16952" y="2651760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6952" y="2651760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幼児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6216" y="2615184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明るい・親しみ・デフォルメ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水筒・ランチボックス・園児向け売場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2360" y="3566160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16952" y="3730752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16952" y="3730752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小学生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3694176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アクション・強さ・メカ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水筒・リュック・映画連動棚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2360" y="4645152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16952" y="4809744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16952" y="4809744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86216" y="4773168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ミニマル・上質・シルエット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ボトル・革ケース・限定箱・EC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同じウルトラマンでも、顧客・商品・売場によって、最適な表現は変わる。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15|LAUNCH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商品化した後も、円谷が一緒に市場へ届ける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商品を発売するだけでなく、“売れる瞬間”を一緒に作る。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発売前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期待を作る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・ティザー投稿・先行告知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・商品開発ストーリー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・インフルエンサー先行体験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・予約・抽選受付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・ファン投票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9232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発売時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話題を最大化する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・円谷公式SNS × ULTRA MART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・店頭大型モニター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・インフルエンサー投稿・ライブ配信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・店頭イベント・ヒーロー登場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・限定・先行販売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95544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95544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発売後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拡散と購買を伸ばす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・購入者投稿・UGC活用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・EC誘導・再入荷告知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・使用シーン投稿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・二次展開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・既存流通への波及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103120"/>
            <a:ext cx="3593592" cy="1572768"/>
          </a:xfrm>
          <a:prstGeom prst="roundRect">
            <a:avLst>
              <a:gd name="adj" fmla="val 7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249424"/>
            <a:ext cx="3191256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円谷が持つ発信・販売接点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公式SNS / ULTRA MART / ウルトラマンストア / ウルサマ・イベント / EC / POPUP / インフルエンサー / メディアPR / 店頭施策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822191"/>
            <a:ext cx="3593592" cy="1682496"/>
          </a:xfrm>
          <a:prstGeom prst="roundRect">
            <a:avLst>
              <a:gd name="adj" fmla="val 7000"/>
            </a:avLst>
          </a:prstGeom>
          <a:solidFill>
            <a:srgbClr val="0C1730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968496"/>
            <a:ext cx="3191256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 MART = </a:t>
            </a: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発信・実験拠点</a:t>
            </a:r>
          </a:p>
          <a:p>
            <a:pPr algn="l">
              <a:lnSpc>
                <a:spcPct val="135000"/>
              </a:lnSpc>
              <a:spcBef>
                <a:spcPts val="40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① 女性・若年・ライト層の開拓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② 限定・先行販売による話題化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③ 商品・デザインのテストマーケ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④ 量販店・専門店・ECへの波及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原宿で話題を作り、全国の売場へ広げる。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16|PROCESS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監修・素材提供フロー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相談から商品化まで、5ステップ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8803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4686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00569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6452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各ステップの標準期間・提出物チェックリスト・開示区分(当日/配布/NDA後)を個別商談時にご提示します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作りたい、で終わらせず、作れる状態まで伴走する。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QR登録から1週間以内にご連絡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NDA後 3営業日以内【仮】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0056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パートナー様側リードタイム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8624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初稿10営業日/修正 各5営業日【仮】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A81C18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量産前見本の確認 5営業日以内【仮】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17|START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本日から受付開始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個別商談・企画相談、いま登録できます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3200400" cy="320040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3949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個別商談・企画相談|登録は約3分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相談カテゴリ(複数選択可)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2176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食品・外食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8112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流通・売場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2176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78112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2176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スタイルガイド請求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8112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NDA後説明会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52628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登録後の流れ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892040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QR登録 → 担当者連絡(1週間以内)→ 個別商談 → 素材共有 → 企画検討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早期にご相談いただいた企業様から、具体的な企画検討を進めます。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103120"/>
            <a:ext cx="3200400" cy="32004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18|CONTENT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最後に、商機を支えるコンテンツ展開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だから、商機は続く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コンテンツが、商品化・販促・売場展開の理由を作る。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TVシリーズ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継続接点/開示可能ビジュアル差し替え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5274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大型話題化/開示可能ビジュアル差し替え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7628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配信・YouTube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コアファン接点/開示可能ビジュアル差し替え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9982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熱量づくり/開示可能ビジュアル差し替え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19|CONTENT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2027年度以降の、3つのコンテンツ接点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継続 × 話題化 × コアファン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TVシリーズ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継続接点
ファンが追い続けたくなる世界観・キャラクター展開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映画・大型映像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大型話題化
商品化・販促・流通施策を集中させる最大の山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配信・YouTube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コアファン接点
歴代ヒーロー・怪獣を横断活用できる領域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接点が続くから、商品もキャンペーンも続けられる。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TVシリーズ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7795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2670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配信・YouTube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20|CONTENT ×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コンテンツが、商品化の理由を作る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コンテンツ × 商機マトリクス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コンテンツ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TVシリーズ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キッズ、文具、玩具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大型話題化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食品、流通、広告、ホビー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配信・YouTube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コレクション、EC、プレミアム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イベント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熱量化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物販、限定商品、施設集客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購買接点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売場、POPUP、EC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作品の話ではなく、皆さまの事業機会の話です。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21|CLOSING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6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7589520" cy="925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</a:t>
            </a:r>
            <a:r>
              <a:rPr lang="ja-JP" altLang="en-US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を活用し、</a:t>
            </a:r>
            <a:br>
              <a:rPr lang="en-US" alt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</a:b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皆さまと</a:t>
            </a:r>
            <a:r>
              <a:rPr lang="ja-JP" altLang="en-US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共に、</a:t>
            </a:r>
            <a:r>
              <a:rPr lang="ja-JP" alt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市場を</a:t>
            </a: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つくりたい</a:t>
            </a: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737360"/>
            <a:ext cx="3017520" cy="301752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484632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会場を出る前にご登録を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相談カテゴリ:商品化/食品・外食/流通・売場/広告/イベント・施設/IPコラボ/デジタル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個別相談は、本日より受付開始。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737360"/>
            <a:ext cx="3017520" cy="301752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  <p:pic>
        <p:nvPicPr>
          <p:cNvPr id="15" name="Picture 14" descr="s21_closing_with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758952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2308</Words>
  <Application>Microsoft Office PowerPoint</Application>
  <PresentationFormat>ワイド画面</PresentationFormat>
  <Paragraphs>419</Paragraphs>
  <Slides>21</Slides>
  <Notes>21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メイリオ</vt:lpstr>
      <vt:lpstr>Yu Gothic</vt:lpstr>
      <vt:lpstr>Yu Gothic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穴井 葉子</dc:creator>
  <cp:lastModifiedBy>新谷 隼人</cp:lastModifiedBy>
  <cp:revision>2</cp:revision>
  <dcterms:created xsi:type="dcterms:W3CDTF">2026-06-29T08:42:52Z</dcterms:created>
  <dcterms:modified xsi:type="dcterms:W3CDTF">2026-07-10T05:06:16Z</dcterms:modified>
</cp:coreProperties>
</file>