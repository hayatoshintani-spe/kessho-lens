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8"/>
  </p:notesMasterIdLst>
  <p:sldIdLst>
    <p:sldId id="256" r:id="rId2"/>
    <p:sldId id="258" r:id="rId3"/>
    <p:sldId id="257" r:id="rId4"/>
    <p:sldId id="259" r:id="rId5"/>
    <p:sldId id="260" r:id="rId6"/>
    <p:sldId id="262" r:id="rId7"/>
    <p:sldId id="264" r:id="rId8"/>
    <p:sldId id="266" r:id="rId9"/>
    <p:sldId id="267" r:id="rId10"/>
    <p:sldId id="269" r:id="rId11"/>
    <p:sldId id="271" r:id="rId12"/>
    <p:sldId id="273" r:id="rId13"/>
    <p:sldId id="274" r:id="rId14"/>
    <p:sldId id="276" r:id="rId15"/>
    <p:sldId id="278" r:id="rId16"/>
    <p:sldId id="280" r:id="rId17"/>
    <p:sldId id="282" r:id="rId18"/>
    <p:sldId id="284" r:id="rId19"/>
    <p:sldId id="286" r:id="rId20"/>
    <p:sldId id="288" r:id="rId21"/>
    <p:sldId id="290" r:id="rId22"/>
    <p:sldId id="293" r:id="rId23"/>
    <p:sldId id="294" r:id="rId24"/>
    <p:sldId id="295" r:id="rId25"/>
    <p:sldId id="299" r:id="rId26"/>
    <p:sldId id="300" r:id="rId27"/>
    <p:sldId id="304" r:id="rId28"/>
    <p:sldId id="307" r:id="rId29"/>
    <p:sldId id="308" r:id="rId30"/>
    <p:sldId id="309" r:id="rId31"/>
    <p:sldId id="310" r:id="rId32"/>
    <p:sldId id="311" r:id="rId33"/>
    <p:sldId id="312" r:id="rId34"/>
    <p:sldId id="313" r:id="rId35"/>
    <p:sldId id="314" r:id="rId36"/>
    <p:sldId id="315"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34" r:id="rId55"/>
    <p:sldId id="335" r:id="rId56"/>
    <p:sldId id="340" r:id="rId5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4" roundtripDataSignature="AMtx7mgckM6ZWBljCPqivlGNmWSMFZJT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C54DC3-C7D6-4BEA-B6AD-80E51AB05D85}">
  <a:tblStyle styleId="{60C54DC3-C7D6-4BEA-B6AD-80E51AB05D85}"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b="off" i="off"/>
      <a:tcStyle>
        <a:tcBdr/>
        <a:fill>
          <a:solidFill>
            <a:srgbClr val="CAD1D8"/>
          </a:solidFill>
        </a:fill>
      </a:tcStyle>
    </a:band1H>
    <a:band2H>
      <a:tcTxStyle b="off" i="off"/>
      <a:tcStyle>
        <a:tcBdr/>
      </a:tcStyle>
    </a:band2H>
    <a:band1V>
      <a:tcTxStyle b="off" i="off"/>
      <a:tcStyle>
        <a:tcBdr/>
        <a:fill>
          <a:solidFill>
            <a:srgbClr val="CAD1D8"/>
          </a:solidFill>
        </a:fill>
      </a:tcStyle>
    </a:band1V>
    <a:band2V>
      <a:tcTxStyle b="off" i="off"/>
      <a:tcStyle>
        <a:tcBdr/>
      </a:tcStyle>
    </a:band2V>
    <a:lastCol>
      <a:tcTxStyle b="on" i="off">
        <a:font>
          <a:latin typeface="游ゴシック"/>
          <a:ea typeface="游ゴシック"/>
          <a:cs typeface="游ゴシック"/>
        </a:font>
        <a:schemeClr val="lt1"/>
      </a:tcTxStyle>
      <a:tcStyle>
        <a:tcBdr/>
        <a:fill>
          <a:solidFill>
            <a:schemeClr val="accent1"/>
          </a:solidFill>
        </a:fill>
      </a:tcStyle>
    </a:lastCol>
    <a:firstCol>
      <a:tcTxStyle b="on" i="off">
        <a:font>
          <a:latin typeface="游ゴシック"/>
          <a:ea typeface="游ゴシック"/>
          <a:cs typeface="游ゴシック"/>
        </a:font>
        <a:schemeClr val="lt1"/>
      </a:tcTxStyle>
      <a:tcStyle>
        <a:tcBdr/>
        <a:fill>
          <a:solidFill>
            <a:schemeClr val="accent1"/>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692" autoAdjust="0"/>
  </p:normalViewPr>
  <p:slideViewPr>
    <p:cSldViewPr snapToGrid="0">
      <p:cViewPr varScale="1">
        <p:scale>
          <a:sx n="84" d="100"/>
          <a:sy n="84" d="100"/>
        </p:scale>
        <p:origin x="629" y="82"/>
      </p:cViewPr>
      <p:guideLst/>
    </p:cSldViewPr>
  </p:slideViewPr>
  <p:notesTextViewPr>
    <p:cViewPr>
      <p:scale>
        <a:sx n="125" d="100"/>
        <a:sy n="125" d="100"/>
      </p:scale>
      <p:origin x="0" y="0"/>
    </p:cViewPr>
  </p:notesTextViewPr>
  <p:sorterViewPr>
    <p:cViewPr>
      <p:scale>
        <a:sx n="100" d="100"/>
        <a:sy n="100" d="100"/>
      </p:scale>
      <p:origin x="0" y="-1315"/>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94" Type="http://customschemas.google.com/relationships/presentationmetadata" Target="metadata"/><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ja-JP"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f82b020a6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g3f82b020a6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just" rtl="0">
              <a:lnSpc>
                <a:spcPct val="140000"/>
              </a:lnSpc>
              <a:spcBef>
                <a:spcPts val="0"/>
              </a:spcBef>
              <a:spcAft>
                <a:spcPts val="0"/>
              </a:spcAft>
              <a:buClr>
                <a:schemeClr val="dk1"/>
              </a:buClr>
              <a:buSzPts val="1100"/>
              <a:buFont typeface="Arial"/>
              <a:buNone/>
            </a:pPr>
            <a:r>
              <a:rPr lang="ja-JP" sz="1000" dirty="0"/>
              <a:t>影ナレ</a:t>
            </a:r>
            <a:br>
              <a:rPr lang="ja-JP" sz="1000" dirty="0"/>
            </a:br>
            <a:r>
              <a:rPr lang="ja-JP" sz="1000" dirty="0"/>
              <a:t>本日はTSUBURAYA PARTNERS MEETING 2026にご来場いただき、誠にありがとうございます。</a:t>
            </a:r>
            <a:endParaRPr sz="1000" dirty="0"/>
          </a:p>
          <a:p>
            <a:pPr marL="0" lvl="0" indent="0" algn="just" rtl="0">
              <a:lnSpc>
                <a:spcPct val="140000"/>
              </a:lnSpc>
              <a:spcBef>
                <a:spcPts val="0"/>
              </a:spcBef>
              <a:spcAft>
                <a:spcPts val="0"/>
              </a:spcAft>
              <a:buClr>
                <a:schemeClr val="dk1"/>
              </a:buClr>
              <a:buSzPts val="1100"/>
              <a:buFont typeface="Arial"/>
              <a:buNone/>
            </a:pPr>
            <a:r>
              <a:rPr lang="ja-JP" sz="1000" dirty="0"/>
              <a:t>まもなく開演となりますが、その前に皆様へ重要なお願いとご案内を申し上げます。</a:t>
            </a:r>
            <a:endParaRPr sz="1000" dirty="0"/>
          </a:p>
          <a:p>
            <a:pPr marL="0" lvl="0" indent="0" algn="just" rtl="0">
              <a:lnSpc>
                <a:spcPct val="140000"/>
              </a:lnSpc>
              <a:spcBef>
                <a:spcPts val="0"/>
              </a:spcBef>
              <a:spcAft>
                <a:spcPts val="0"/>
              </a:spcAft>
              <a:buClr>
                <a:schemeClr val="dk1"/>
              </a:buClr>
              <a:buSzPts val="1100"/>
              <a:buFont typeface="Arial"/>
              <a:buNone/>
            </a:pPr>
            <a:r>
              <a:rPr lang="ja-JP" sz="1000" dirty="0"/>
              <a:t>本日は、2027年度以降のプロジェクトや未公開映像など、円谷プロダクションの高度な機密情報を含む特別なプレゼンテーションとなります。お申込みの際にご同意いただきました「秘密保持契約」に基づき、以下の事項を固くお守りいただきますようお願い申し上げます。</a:t>
            </a:r>
            <a:endParaRPr sz="1000" dirty="0"/>
          </a:p>
          <a:p>
            <a:pPr marL="0" lvl="0" indent="0" algn="just" rtl="0">
              <a:lnSpc>
                <a:spcPct val="140000"/>
              </a:lnSpc>
              <a:spcBef>
                <a:spcPts val="0"/>
              </a:spcBef>
              <a:spcAft>
                <a:spcPts val="0"/>
              </a:spcAft>
              <a:buClr>
                <a:schemeClr val="dk1"/>
              </a:buClr>
              <a:buSzPts val="1100"/>
              <a:buFont typeface="Arial"/>
              <a:buNone/>
            </a:pPr>
            <a:r>
              <a:rPr lang="ja-JP" sz="1000" dirty="0"/>
              <a:t>第一に、会場内での録画・録音・撮影の禁止です。</a:t>
            </a:r>
            <a:endParaRPr sz="1000" dirty="0"/>
          </a:p>
          <a:p>
            <a:pPr marL="0" lvl="0" indent="0" algn="just" rtl="0">
              <a:lnSpc>
                <a:spcPct val="140000"/>
              </a:lnSpc>
              <a:spcBef>
                <a:spcPts val="0"/>
              </a:spcBef>
              <a:spcAft>
                <a:spcPts val="0"/>
              </a:spcAft>
              <a:buClr>
                <a:schemeClr val="dk1"/>
              </a:buClr>
              <a:buSzPts val="1100"/>
              <a:buFont typeface="Arial"/>
              <a:buNone/>
            </a:pPr>
            <a:r>
              <a:rPr lang="ja-JP" sz="1000" dirty="0"/>
              <a:t>上演中は、お手持ちの電子機器による一切の撮影・録画・録音を固く禁じます。機器は必ず電源をお切りいただくか、お荷物の中におしまいください。</a:t>
            </a:r>
            <a:endParaRPr sz="1000" dirty="0"/>
          </a:p>
          <a:p>
            <a:pPr marL="0" lvl="0" indent="0" algn="just" rtl="0">
              <a:lnSpc>
                <a:spcPct val="140000"/>
              </a:lnSpc>
              <a:spcBef>
                <a:spcPts val="0"/>
              </a:spcBef>
              <a:spcAft>
                <a:spcPts val="0"/>
              </a:spcAft>
              <a:buClr>
                <a:schemeClr val="dk1"/>
              </a:buClr>
              <a:buSzPts val="1100"/>
              <a:buFont typeface="Arial"/>
              <a:buNone/>
            </a:pPr>
            <a:r>
              <a:rPr lang="ja-JP" sz="1000" dirty="0"/>
              <a:t>第二に、情報の第三者への開示・漏洩の禁止についてです。</a:t>
            </a:r>
            <a:endParaRPr sz="1000" dirty="0"/>
          </a:p>
          <a:p>
            <a:pPr marL="0" lvl="0" indent="0" algn="just" rtl="0">
              <a:lnSpc>
                <a:spcPct val="140000"/>
              </a:lnSpc>
              <a:spcBef>
                <a:spcPts val="0"/>
              </a:spcBef>
              <a:spcAft>
                <a:spcPts val="0"/>
              </a:spcAft>
              <a:buClr>
                <a:schemeClr val="dk1"/>
              </a:buClr>
              <a:buSzPts val="1100"/>
              <a:buFont typeface="Arial"/>
              <a:buNone/>
            </a:pPr>
            <a:r>
              <a:rPr lang="ja-JP" sz="1000" dirty="0"/>
              <a:t>本日の未公開情報を、ご参加されていない第三者へお伝えされることはお控えください。また、SNS、ウェブサイト等への投稿や書き込みも一切禁止とさせていただきます。</a:t>
            </a:r>
            <a:endParaRPr sz="1000" dirty="0"/>
          </a:p>
          <a:p>
            <a:pPr marL="0" lvl="0" indent="0" algn="just" rtl="0">
              <a:lnSpc>
                <a:spcPct val="140000"/>
              </a:lnSpc>
              <a:spcBef>
                <a:spcPts val="0"/>
              </a:spcBef>
              <a:spcAft>
                <a:spcPts val="0"/>
              </a:spcAft>
              <a:buClr>
                <a:schemeClr val="dk1"/>
              </a:buClr>
              <a:buSzPts val="1100"/>
              <a:buFont typeface="Arial"/>
              <a:buNone/>
            </a:pPr>
            <a:r>
              <a:rPr lang="ja-JP" sz="1000" dirty="0"/>
              <a:t>また、お席はすべて自由席となります。本日は多くのお客様がお越しになりますので、お席は間を空けずにお詰めになりましてお座りいただきますよう、ご協力をお願いいたします。</a:t>
            </a:r>
            <a:endParaRPr sz="1000" dirty="0"/>
          </a:p>
          <a:p>
            <a:pPr marL="0" lvl="0" indent="0" algn="just" rtl="0">
              <a:lnSpc>
                <a:spcPct val="140000"/>
              </a:lnSpc>
              <a:spcBef>
                <a:spcPts val="0"/>
              </a:spcBef>
              <a:spcAft>
                <a:spcPts val="0"/>
              </a:spcAft>
              <a:buClr>
                <a:schemeClr val="dk1"/>
              </a:buClr>
              <a:buSzPts val="1100"/>
              <a:buFont typeface="Arial"/>
              <a:buNone/>
            </a:pPr>
            <a:r>
              <a:rPr lang="ja-JP" sz="1000" dirty="0"/>
              <a:t>それでは、開演まで今しばらくお待ちください。</a:t>
            </a:r>
            <a:endParaRPr sz="1000" dirty="0"/>
          </a:p>
          <a:p>
            <a:pPr marL="0" lvl="0" indent="0" algn="l" rtl="0">
              <a:lnSpc>
                <a:spcPct val="100000"/>
              </a:lnSpc>
              <a:spcBef>
                <a:spcPts val="0"/>
              </a:spcBef>
              <a:spcAft>
                <a:spcPts val="0"/>
              </a:spcAft>
              <a:buSzPts val="1400"/>
              <a:buNone/>
            </a:pPr>
            <a:endParaRPr dirty="0"/>
          </a:p>
        </p:txBody>
      </p:sp>
      <p:sp>
        <p:nvSpPr>
          <p:cNvPr id="97" name="Google Shape;97;g3f82b020a6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f82b020a63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dirty="0"/>
              <a:t>60周年PVを流す</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119" name="Google Shape;119;g3f82b020a63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f82b020a63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ヒーロー稼働スタート</a:t>
            </a:r>
            <a:endParaRPr lang="en-US" altLang="ja-JP" dirty="0"/>
          </a:p>
          <a:p>
            <a:pPr marL="0" lvl="0" indent="0" algn="l" rtl="0">
              <a:lnSpc>
                <a:spcPct val="100000"/>
              </a:lnSpc>
              <a:spcBef>
                <a:spcPts val="0"/>
              </a:spcBef>
              <a:spcAft>
                <a:spcPts val="0"/>
              </a:spcAft>
              <a:buSzPts val="1400"/>
              <a:buNone/>
            </a:pPr>
            <a:endParaRPr lang="en-US" altLang="ja-JP" dirty="0"/>
          </a:p>
          <a:p>
            <a:pPr marL="0" lvl="0" indent="0" algn="l" rtl="0">
              <a:lnSpc>
                <a:spcPct val="100000"/>
              </a:lnSpc>
              <a:spcBef>
                <a:spcPts val="0"/>
              </a:spcBef>
              <a:spcAft>
                <a:spcPts val="0"/>
              </a:spcAft>
              <a:buSzPts val="1400"/>
              <a:buNone/>
            </a:pPr>
            <a:r>
              <a:rPr lang="ja-JP" dirty="0"/>
              <a:t>　</a:t>
            </a:r>
            <a:endParaRPr dirty="0"/>
          </a:p>
        </p:txBody>
      </p:sp>
      <p:sp>
        <p:nvSpPr>
          <p:cNvPr id="113" name="Google Shape;113;g3f82b020a63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f54859c7f8_1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g3f54859c7f8_1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just" rtl="0">
              <a:lnSpc>
                <a:spcPct val="140000"/>
              </a:lnSpc>
              <a:spcBef>
                <a:spcPts val="0"/>
              </a:spcBef>
              <a:spcAft>
                <a:spcPts val="0"/>
              </a:spcAft>
              <a:buSzPts val="1100"/>
              <a:buNone/>
            </a:pPr>
            <a:endParaRPr sz="1000"/>
          </a:p>
          <a:p>
            <a:pPr marL="0" lvl="0" indent="0" algn="just" rtl="0">
              <a:lnSpc>
                <a:spcPct val="140000"/>
              </a:lnSpc>
              <a:spcBef>
                <a:spcPts val="0"/>
              </a:spcBef>
              <a:spcAft>
                <a:spcPts val="0"/>
              </a:spcAft>
              <a:buClr>
                <a:schemeClr val="dk1"/>
              </a:buClr>
              <a:buSzPts val="1100"/>
              <a:buFont typeface="Arial"/>
              <a:buNone/>
            </a:pPr>
            <a:r>
              <a:rPr lang="ja-JP" sz="1000"/>
              <a:t>MC登場＞</a:t>
            </a:r>
            <a:endParaRPr sz="1000"/>
          </a:p>
          <a:p>
            <a:pPr marL="0" lvl="0" indent="0" algn="just" rtl="0">
              <a:lnSpc>
                <a:spcPct val="140000"/>
              </a:lnSpc>
              <a:spcBef>
                <a:spcPts val="0"/>
              </a:spcBef>
              <a:spcAft>
                <a:spcPts val="0"/>
              </a:spcAft>
              <a:buClr>
                <a:schemeClr val="dk1"/>
              </a:buClr>
              <a:buSzPts val="1100"/>
              <a:buFont typeface="Arial"/>
              <a:buNone/>
            </a:pPr>
            <a:r>
              <a:rPr lang="ja-JP" sz="1000"/>
              <a:t>皆様、こんにちは。</a:t>
            </a:r>
            <a:endParaRPr sz="1000"/>
          </a:p>
          <a:p>
            <a:pPr marL="0" lvl="0" indent="0" algn="just" rtl="0">
              <a:lnSpc>
                <a:spcPct val="140000"/>
              </a:lnSpc>
              <a:spcBef>
                <a:spcPts val="0"/>
              </a:spcBef>
              <a:spcAft>
                <a:spcPts val="0"/>
              </a:spcAft>
              <a:buClr>
                <a:schemeClr val="dk1"/>
              </a:buClr>
              <a:buSzPts val="1100"/>
              <a:buFont typeface="Arial"/>
              <a:buNone/>
            </a:pPr>
            <a:r>
              <a:rPr lang="ja-JP" sz="1000"/>
              <a:t>本日は「TSUBURAYA PARTNERS MEETING 2026」にお越しいただき、誠にありがとうございます。</a:t>
            </a:r>
            <a:endParaRPr sz="1000"/>
          </a:p>
          <a:p>
            <a:pPr marL="0" lvl="0" indent="0" algn="just" rtl="0">
              <a:lnSpc>
                <a:spcPct val="140000"/>
              </a:lnSpc>
              <a:spcBef>
                <a:spcPts val="0"/>
              </a:spcBef>
              <a:spcAft>
                <a:spcPts val="0"/>
              </a:spcAft>
              <a:buClr>
                <a:schemeClr val="dk1"/>
              </a:buClr>
              <a:buSzPts val="1100"/>
              <a:buFont typeface="Arial"/>
              <a:buNone/>
            </a:pPr>
            <a:r>
              <a:rPr lang="ja-JP" sz="1000"/>
              <a:t>本日司会を務めさせていただきます、[</a:t>
            </a:r>
            <a:r>
              <a:rPr lang="ja-JP" sz="1000">
                <a:solidFill>
                  <a:srgbClr val="FF0000"/>
                </a:solidFill>
              </a:rPr>
              <a:t>MC氏名</a:t>
            </a:r>
            <a:r>
              <a:rPr lang="ja-JP" sz="1000"/>
              <a:t>]と申します。よろしくお願いいたします。本日は、2027年度以降の当社ビジネス展開や、作品に関してご紹介してまいります。</a:t>
            </a:r>
            <a:endParaRPr sz="1000"/>
          </a:p>
          <a:p>
            <a:pPr marL="0" lvl="0" indent="0" algn="just" rtl="0">
              <a:lnSpc>
                <a:spcPct val="140000"/>
              </a:lnSpc>
              <a:spcBef>
                <a:spcPts val="0"/>
              </a:spcBef>
              <a:spcAft>
                <a:spcPts val="0"/>
              </a:spcAft>
              <a:buClr>
                <a:schemeClr val="dk1"/>
              </a:buClr>
              <a:buSzPts val="1100"/>
              <a:buFont typeface="Arial"/>
              <a:buNone/>
            </a:pPr>
            <a:endParaRPr sz="1000"/>
          </a:p>
          <a:p>
            <a:pPr marL="0" lvl="0" indent="0" algn="just" rtl="0">
              <a:lnSpc>
                <a:spcPct val="140000"/>
              </a:lnSpc>
              <a:spcBef>
                <a:spcPts val="0"/>
              </a:spcBef>
              <a:spcAft>
                <a:spcPts val="0"/>
              </a:spcAft>
              <a:buSzPts val="1100"/>
              <a:buNone/>
            </a:pPr>
            <a:r>
              <a:rPr lang="ja-JP" sz="1000"/>
              <a:t>開演に先立ちまして、株式会社円谷プロダクション 事業統括本部 統括本部長　兼 映像事業本部 本部長 黒澤よりご挨拶申し上げます</a:t>
            </a:r>
            <a:r>
              <a:rPr lang="ja-JP" sz="1100"/>
              <a:t> </a:t>
            </a:r>
            <a:endParaRPr sz="1100"/>
          </a:p>
          <a:p>
            <a:pPr marL="0" lvl="0" indent="0" algn="just" rtl="0">
              <a:lnSpc>
                <a:spcPct val="140000"/>
              </a:lnSpc>
              <a:spcBef>
                <a:spcPts val="0"/>
              </a:spcBef>
              <a:spcAft>
                <a:spcPts val="0"/>
              </a:spcAft>
              <a:buSzPts val="1100"/>
              <a:buNone/>
            </a:pPr>
            <a:endParaRPr sz="1100"/>
          </a:p>
          <a:p>
            <a:pPr marL="0" lvl="0" indent="0" algn="just" rtl="0">
              <a:lnSpc>
                <a:spcPct val="140000"/>
              </a:lnSpc>
              <a:spcBef>
                <a:spcPts val="0"/>
              </a:spcBef>
              <a:spcAft>
                <a:spcPts val="0"/>
              </a:spcAft>
              <a:buClr>
                <a:schemeClr val="dk1"/>
              </a:buClr>
              <a:buSzPts val="1100"/>
              <a:buFont typeface="Arial"/>
              <a:buNone/>
            </a:pPr>
            <a:r>
              <a:rPr lang="ja-JP" sz="1100"/>
              <a:t>黒澤さん挨拶</a:t>
            </a:r>
            <a:endParaRPr sz="1100"/>
          </a:p>
          <a:p>
            <a:pPr marL="0" lvl="0" indent="0" algn="l" rtl="0">
              <a:lnSpc>
                <a:spcPct val="100000"/>
              </a:lnSpc>
              <a:spcBef>
                <a:spcPts val="0"/>
              </a:spcBef>
              <a:spcAft>
                <a:spcPts val="0"/>
              </a:spcAft>
              <a:buSzPts val="1400"/>
              <a:buNone/>
            </a:pPr>
            <a:endParaRPr sz="1000"/>
          </a:p>
        </p:txBody>
      </p:sp>
      <p:sp>
        <p:nvSpPr>
          <p:cNvPr id="127" name="Google Shape;127;g3f54859c7f8_1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f54859c7f8_1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3f54859c7f8_1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ja-JP" sz="1000"/>
              <a:t>続きまして、ビジネス展開とコンテンツ戦略につきましてご説明をさせていただきます。</a:t>
            </a:r>
            <a:endParaRPr sz="1000"/>
          </a:p>
          <a:p>
            <a:pPr marL="0" lvl="0" indent="0" algn="l" rtl="0">
              <a:spcBef>
                <a:spcPts val="0"/>
              </a:spcBef>
              <a:spcAft>
                <a:spcPts val="0"/>
              </a:spcAft>
              <a:buSzPts val="1400"/>
              <a:buNone/>
            </a:pPr>
            <a:endParaRPr/>
          </a:p>
          <a:p>
            <a:pPr marL="0" lvl="0" indent="0" algn="just" rtl="0">
              <a:lnSpc>
                <a:spcPct val="140000"/>
              </a:lnSpc>
              <a:spcBef>
                <a:spcPts val="0"/>
              </a:spcBef>
              <a:spcAft>
                <a:spcPts val="0"/>
              </a:spcAft>
              <a:buSzPts val="1100"/>
              <a:buNone/>
            </a:pPr>
            <a:endParaRPr/>
          </a:p>
          <a:p>
            <a:pPr marL="0" lvl="0" indent="0" algn="just" rtl="0">
              <a:lnSpc>
                <a:spcPct val="140000"/>
              </a:lnSpc>
              <a:spcBef>
                <a:spcPts val="0"/>
              </a:spcBef>
              <a:spcAft>
                <a:spcPts val="0"/>
              </a:spcAft>
              <a:buSzPts val="1100"/>
              <a:buNone/>
            </a:pPr>
            <a:r>
              <a:rPr lang="ja-JP" sz="1000"/>
              <a:t>皆様へ重ねてお願いがございます。 </a:t>
            </a:r>
            <a:endParaRPr sz="1000"/>
          </a:p>
          <a:p>
            <a:pPr marL="0" lvl="0" indent="0" algn="just" rtl="0">
              <a:lnSpc>
                <a:spcPct val="140000"/>
              </a:lnSpc>
              <a:spcBef>
                <a:spcPts val="0"/>
              </a:spcBef>
              <a:spcAft>
                <a:spcPts val="0"/>
              </a:spcAft>
              <a:buClr>
                <a:schemeClr val="dk1"/>
              </a:buClr>
              <a:buSzPts val="1100"/>
              <a:buFont typeface="Arial"/>
              <a:buNone/>
            </a:pPr>
            <a:r>
              <a:rPr lang="ja-JP" sz="1000"/>
              <a:t>なお、2027年度以降のプロジェクトや未公開映像など、円谷プロダクションの機密情報を含む特別なプレゼンテーションとなります。</a:t>
            </a:r>
            <a:endParaRPr sz="1000"/>
          </a:p>
          <a:p>
            <a:pPr marL="0" lvl="0" indent="0" algn="just" rtl="0">
              <a:lnSpc>
                <a:spcPct val="140000"/>
              </a:lnSpc>
              <a:spcBef>
                <a:spcPts val="0"/>
              </a:spcBef>
              <a:spcAft>
                <a:spcPts val="0"/>
              </a:spcAft>
              <a:buClr>
                <a:schemeClr val="dk1"/>
              </a:buClr>
              <a:buSzPts val="1100"/>
              <a:buFont typeface="Arial"/>
              <a:buNone/>
            </a:pPr>
            <a:r>
              <a:rPr lang="ja-JP" sz="1000"/>
              <a:t>ご入場の際にご同意いただきました「秘密保持契約」に基づき、以下の事項を固くお守りいただきますようお願い申し上げます。</a:t>
            </a:r>
            <a:endParaRPr sz="1000"/>
          </a:p>
          <a:p>
            <a:pPr marL="0" lvl="0" indent="0" algn="just" rtl="0">
              <a:lnSpc>
                <a:spcPct val="140000"/>
              </a:lnSpc>
              <a:spcBef>
                <a:spcPts val="0"/>
              </a:spcBef>
              <a:spcAft>
                <a:spcPts val="0"/>
              </a:spcAft>
              <a:buClr>
                <a:schemeClr val="dk1"/>
              </a:buClr>
              <a:buSzPts val="1100"/>
              <a:buFont typeface="Arial"/>
              <a:buNone/>
            </a:pPr>
            <a:r>
              <a:rPr lang="ja-JP" sz="1000"/>
              <a:t>第一に、会場内での録画・録音・撮影の禁止です。</a:t>
            </a:r>
            <a:endParaRPr sz="1000"/>
          </a:p>
          <a:p>
            <a:pPr marL="0" lvl="0" indent="0" algn="just" rtl="0">
              <a:lnSpc>
                <a:spcPct val="140000"/>
              </a:lnSpc>
              <a:spcBef>
                <a:spcPts val="0"/>
              </a:spcBef>
              <a:spcAft>
                <a:spcPts val="0"/>
              </a:spcAft>
              <a:buClr>
                <a:schemeClr val="dk1"/>
              </a:buClr>
              <a:buSzPts val="1100"/>
              <a:buFont typeface="Arial"/>
              <a:buNone/>
            </a:pPr>
            <a:r>
              <a:rPr lang="ja-JP" sz="1000"/>
              <a:t>上演中は、お手持ちの電子機器による一切の撮影・録画・録音を固く禁じます。機器は必ず電源をお切りいただくか、お荷物の中におしまいください。</a:t>
            </a:r>
            <a:endParaRPr sz="1000"/>
          </a:p>
          <a:p>
            <a:pPr marL="0" lvl="0" indent="0" algn="just" rtl="0">
              <a:lnSpc>
                <a:spcPct val="140000"/>
              </a:lnSpc>
              <a:spcBef>
                <a:spcPts val="0"/>
              </a:spcBef>
              <a:spcAft>
                <a:spcPts val="0"/>
              </a:spcAft>
              <a:buClr>
                <a:schemeClr val="dk1"/>
              </a:buClr>
              <a:buSzPts val="1100"/>
              <a:buFont typeface="Arial"/>
              <a:buNone/>
            </a:pPr>
            <a:r>
              <a:rPr lang="ja-JP" sz="1000"/>
              <a:t>第二に、情報の第三者への開示・漏洩の禁止についてです。</a:t>
            </a:r>
            <a:endParaRPr sz="1000"/>
          </a:p>
          <a:p>
            <a:pPr marL="0" lvl="0" indent="0" algn="just" rtl="0">
              <a:lnSpc>
                <a:spcPct val="140000"/>
              </a:lnSpc>
              <a:spcBef>
                <a:spcPts val="0"/>
              </a:spcBef>
              <a:spcAft>
                <a:spcPts val="0"/>
              </a:spcAft>
              <a:buClr>
                <a:schemeClr val="dk1"/>
              </a:buClr>
              <a:buSzPts val="1100"/>
              <a:buFont typeface="Arial"/>
              <a:buNone/>
            </a:pPr>
            <a:r>
              <a:rPr lang="ja-JP" sz="1000"/>
              <a:t>本日の未公開情報を、ご参加されていない第三者へお伝えされることはお控えください。また、SNS、ウェブサイト等への投稿や書き込みも一切禁止とさせていただきます。</a:t>
            </a:r>
            <a:endParaRPr sz="1000"/>
          </a:p>
          <a:p>
            <a:pPr marL="0" lvl="0" indent="0" algn="l" rtl="0">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SzPts val="1100"/>
              <a:buNone/>
            </a:pPr>
            <a:r>
              <a:rPr lang="ja-JP" sz="1000"/>
              <a:t>それでは、株式会社円谷プロダクション 事業統括本部 営業事業本部 本部長　南谷より、ビジネス展開とコンテンツ戦略につきましてご説明をさせていただきます。</a:t>
            </a:r>
            <a:endParaRPr sz="1000"/>
          </a:p>
          <a:p>
            <a:pPr marL="0" lvl="0" indent="0" algn="l" rtl="0">
              <a:lnSpc>
                <a:spcPct val="115000"/>
              </a:lnSpc>
              <a:spcBef>
                <a:spcPts val="0"/>
              </a:spcBef>
              <a:spcAft>
                <a:spcPts val="0"/>
              </a:spcAft>
              <a:buClr>
                <a:schemeClr val="dk1"/>
              </a:buClr>
              <a:buSzPts val="1100"/>
              <a:buFont typeface="Arial"/>
              <a:buNone/>
            </a:pPr>
            <a:endParaRPr sz="1000"/>
          </a:p>
        </p:txBody>
      </p:sp>
      <p:sp>
        <p:nvSpPr>
          <p:cNvPr id="145" name="Google Shape;145;g3f54859c7f8_1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f82b020a63_0_15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f82b020a63_0_15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dirty="0"/>
              <a:t>本日の目的は3つです。2027年度以降の展開を共有すること。皆さまの商品化・販促・売場展開の可能性をご提示すること。そして、本日から個別商談と企画相談を開始することです。ぜひ「</a:t>
            </a:r>
            <a:r>
              <a:rPr lang="ja-JP" altLang="en-US" dirty="0"/>
              <a:t>御社</a:t>
            </a:r>
            <a:r>
              <a:rPr lang="ja-JP" dirty="0"/>
              <a:t>なら何ができるか」という目線でお聞きください。</a:t>
            </a:r>
            <a:endParaRPr dirty="0"/>
          </a:p>
        </p:txBody>
      </p:sp>
      <p:sp>
        <p:nvSpPr>
          <p:cNvPr id="178" name="Google Shape;178;g3f82b020a63_0_15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f82b020a63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g3f82b020a63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sz="1200" dirty="0">
                <a:solidFill>
                  <a:schemeClr val="dk1"/>
                </a:solidFill>
                <a:latin typeface="Arial"/>
                <a:ea typeface="Arial"/>
                <a:cs typeface="Arial"/>
                <a:sym typeface="Arial"/>
              </a:rPr>
              <a:t>ウルトラマンは人を動かす</a:t>
            </a:r>
            <a:r>
              <a:rPr lang="en-US" altLang="ja-JP" sz="1200" dirty="0">
                <a:solidFill>
                  <a:schemeClr val="dk1"/>
                </a:solidFill>
                <a:latin typeface="Arial"/>
                <a:ea typeface="Arial"/>
                <a:cs typeface="Arial"/>
                <a:sym typeface="Arial"/>
              </a:rPr>
              <a:t>IP</a:t>
            </a:r>
            <a:r>
              <a:rPr lang="ja-JP" altLang="en-US" sz="1200" dirty="0">
                <a:solidFill>
                  <a:schemeClr val="dk1"/>
                </a:solidFill>
                <a:latin typeface="Arial"/>
                <a:ea typeface="Arial"/>
                <a:cs typeface="Arial"/>
                <a:sym typeface="Arial"/>
              </a:rPr>
              <a:t>です。ファンの行動が、売り上げへの導線になります。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ファンは会場に来て、写真を撮り、商品を手に取り、誰かに共有します。この「人が動く力」を、皆さまの商品・売場・キャンペーンに接続するのが、本日のテーマです。</a:t>
            </a:r>
            <a:endParaRPr dirty="0"/>
          </a:p>
        </p:txBody>
      </p:sp>
      <p:sp>
        <p:nvSpPr>
          <p:cNvPr id="218" name="Google Shape;218;g3f82b020a63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近年のファンベースの広がりについてご説明をします。</a:t>
            </a:r>
            <a:endParaRPr lang="en-US" altLang="ja-JP" dirty="0"/>
          </a:p>
          <a:p>
            <a:pPr marL="0" lvl="0" indent="0" algn="l" rtl="0">
              <a:lnSpc>
                <a:spcPct val="100000"/>
              </a:lnSpc>
              <a:spcBef>
                <a:spcPts val="0"/>
              </a:spcBef>
              <a:spcAft>
                <a:spcPts val="0"/>
              </a:spcAft>
              <a:buSzPts val="1400"/>
              <a:buNone/>
            </a:pPr>
            <a:r>
              <a:rPr lang="ja-JP" altLang="en-US" dirty="0"/>
              <a:t>認知率は全世代で</a:t>
            </a:r>
            <a:r>
              <a:rPr lang="en-US" altLang="ja-JP" dirty="0"/>
              <a:t>90</a:t>
            </a:r>
            <a:r>
              <a:rPr lang="ja-JP" altLang="en-US" dirty="0"/>
              <a:t>％を超えております。</a:t>
            </a:r>
            <a:endParaRPr lang="en-US" altLang="ja-JP" dirty="0"/>
          </a:p>
          <a:p>
            <a:pPr marL="0" lvl="0" indent="0" algn="l" rtl="0">
              <a:lnSpc>
                <a:spcPct val="100000"/>
              </a:lnSpc>
              <a:spcBef>
                <a:spcPts val="0"/>
              </a:spcBef>
              <a:spcAft>
                <a:spcPts val="0"/>
              </a:spcAft>
              <a:buSzPts val="1400"/>
              <a:buNone/>
            </a:pPr>
            <a:endParaRPr lang="en-US" altLang="ja-JP" dirty="0"/>
          </a:p>
          <a:p>
            <a:pPr marL="0" lvl="0" indent="0" algn="l" rtl="0">
              <a:lnSpc>
                <a:spcPct val="100000"/>
              </a:lnSpc>
              <a:spcBef>
                <a:spcPts val="0"/>
              </a:spcBef>
              <a:spcAft>
                <a:spcPts val="0"/>
              </a:spcAft>
              <a:buSzPts val="1400"/>
              <a:buNone/>
            </a:pPr>
            <a:r>
              <a:rPr lang="ja-JP" altLang="en-US" dirty="0"/>
              <a:t>また、「推し活」としてウルトラマンを楽しんでいる女性ファンが増えている</a:t>
            </a:r>
            <a:endParaRPr lang="en-US" altLang="ja-JP" dirty="0"/>
          </a:p>
          <a:p>
            <a:pPr marL="0" lvl="0" indent="0" algn="l" rtl="0">
              <a:lnSpc>
                <a:spcPct val="100000"/>
              </a:lnSpc>
              <a:spcBef>
                <a:spcPts val="0"/>
              </a:spcBef>
              <a:spcAft>
                <a:spcPts val="0"/>
              </a:spcAft>
              <a:buSzPts val="1400"/>
              <a:buNone/>
            </a:pPr>
            <a:r>
              <a:rPr lang="ja-JP" altLang="en-US" dirty="0"/>
              <a:t>イベント来場者の</a:t>
            </a:r>
            <a:r>
              <a:rPr lang="en-US" altLang="ja-JP" dirty="0"/>
              <a:t>6</a:t>
            </a:r>
            <a:r>
              <a:rPr lang="ja-JP" altLang="en-US" dirty="0"/>
              <a:t>割が女性となっており、</a:t>
            </a:r>
            <a:endParaRPr lang="en-US" altLang="ja-JP" dirty="0"/>
          </a:p>
          <a:p>
            <a:pPr marL="0" lvl="0" indent="0" algn="l" rtl="0">
              <a:lnSpc>
                <a:spcPct val="100000"/>
              </a:lnSpc>
              <a:spcBef>
                <a:spcPts val="0"/>
              </a:spcBef>
              <a:spcAft>
                <a:spcPts val="0"/>
              </a:spcAft>
              <a:buSzPts val="1400"/>
              <a:buNone/>
            </a:pPr>
            <a:r>
              <a:rPr lang="ja-JP" altLang="en-US" dirty="0"/>
              <a:t>この女性ファンの高まりをウルトラマートにてさらに拡大</a:t>
            </a:r>
            <a:endParaRPr lang="en-US" altLang="ja-JP" dirty="0"/>
          </a:p>
        </p:txBody>
      </p:sp>
      <p:sp>
        <p:nvSpPr>
          <p:cNvPr id="250" name="Google Shape;250;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f82b020a63_2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3f82b020a63_2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f82b020a63_1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f82b020a63_1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60周年は、すでに動き出しています。イベント、商品化、コラボ、流通、広告、海外。ご覧いただきたいのは商品そのものではなく、そこに集まっている「人」です。この勢いは実績として証明されています。</a:t>
            </a:r>
            <a:endParaRPr dirty="0"/>
          </a:p>
        </p:txBody>
      </p:sp>
      <p:sp>
        <p:nvSpPr>
          <p:cNvPr id="324" name="Google Shape;324;g3f82b020a63_1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f82b020a63_1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g3f82b020a63_1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ライセンシーの皆さまが一番知りたいのは「いつ仕込めばいいか」だと思います。答えはこのカレンダーです。2027年夏の映画・イベント・大型キャンペーンが最大の山です。商品開発のリードタイムから逆算すると——2026年冬には企画と監修が始まっている必要があります。つまり、商談開始は今です。</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※ファクトチェック注記:「2027夏 映画」は素材35(開示確認中)に依存。確定まで対外的に断定しないこと。</a:t>
            </a:r>
            <a:endParaRPr dirty="0"/>
          </a:p>
        </p:txBody>
      </p:sp>
      <p:sp>
        <p:nvSpPr>
          <p:cNvPr id="368" name="Google Shape;368;g3f82b020a63_1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f82b020a63_1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g3f82b020a63_1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ここからは、本日お越しの皆さま一人ひとりに関わる話です。7つのカテゴリーで、具体的な企画をご提案します。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ご自身のカテゴリーが出てきたら、「この枠にうちが入れるか」という目線でご覧ください。</a:t>
            </a:r>
            <a:endParaRPr dirty="0"/>
          </a:p>
        </p:txBody>
      </p:sp>
      <p:sp>
        <p:nvSpPr>
          <p:cNvPr id="419" name="Google Shape;419;g3f82b020a63_1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f82b020a63_0_1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７つのカテゴリーはこちらになります。</a:t>
            </a:r>
            <a:endParaRPr lang="en-US" altLang="ja-JP" dirty="0"/>
          </a:p>
          <a:p>
            <a:pPr marL="0" lvl="0" indent="0" algn="l" rtl="0">
              <a:lnSpc>
                <a:spcPct val="100000"/>
              </a:lnSpc>
              <a:spcBef>
                <a:spcPts val="0"/>
              </a:spcBef>
              <a:spcAft>
                <a:spcPts val="0"/>
              </a:spcAft>
              <a:buSzPts val="1400"/>
              <a:buNone/>
            </a:pPr>
            <a:endParaRPr dirty="0"/>
          </a:p>
        </p:txBody>
      </p:sp>
      <p:sp>
        <p:nvSpPr>
          <p:cNvPr id="438" name="Google Shape;438;g3f82b020a63_0_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f82b020a63_1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g3f82b020a63_1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まず、MD</a:t>
            </a:r>
            <a:r>
              <a:rPr lang="ja-JP" altLang="en-US" sz="1200" dirty="0">
                <a:solidFill>
                  <a:schemeClr val="dk1"/>
                </a:solidFill>
                <a:latin typeface="Arial"/>
                <a:ea typeface="Arial"/>
                <a:cs typeface="Arial"/>
                <a:sym typeface="Arial"/>
              </a:rPr>
              <a:t>の展開についてです。</a:t>
            </a:r>
            <a:r>
              <a:rPr lang="ja-JP" sz="1200" dirty="0">
                <a:solidFill>
                  <a:schemeClr val="dk1"/>
                </a:solidFill>
                <a:latin typeface="Arial"/>
                <a:ea typeface="Arial"/>
                <a:cs typeface="Arial"/>
                <a:sym typeface="Arial"/>
              </a:rPr>
              <a:t>2027年の新展開に向けて、</a:t>
            </a:r>
            <a:r>
              <a:rPr lang="en-US" altLang="ja-JP" sz="1200" dirty="0">
                <a:solidFill>
                  <a:schemeClr val="dk1"/>
                </a:solidFill>
                <a:latin typeface="Arial"/>
                <a:ea typeface="Arial"/>
                <a:cs typeface="Arial"/>
                <a:sym typeface="Arial"/>
              </a:rPr>
              <a:t>5</a:t>
            </a:r>
            <a:r>
              <a:rPr lang="ja-JP" altLang="en-US" sz="1200" dirty="0">
                <a:solidFill>
                  <a:schemeClr val="dk1"/>
                </a:solidFill>
                <a:latin typeface="Arial"/>
                <a:ea typeface="Arial"/>
                <a:cs typeface="Arial"/>
                <a:sym typeface="Arial"/>
              </a:rPr>
              <a:t>つの方向性での展開をご提案いたします。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キッズMDから、大人向けプレミアム、女性ライト層向けまで。</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新作の初速商品は、発売日から逆算すると今日から仕込みが始まります。</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※ファクトチェック注記:「2027年新シリーズ」「映画・ゼロ関連」は素材34・35(黒澤さん確認中)。確定前は「新展開」等の表現に留めて話す。</a:t>
            </a:r>
            <a:endParaRPr dirty="0"/>
          </a:p>
        </p:txBody>
      </p:sp>
      <p:sp>
        <p:nvSpPr>
          <p:cNvPr id="501" name="Google Shape;501;g3f82b020a63_1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f82b020a63_1_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g3f82b020a63_1_1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食品・飲料・外食の皆さまには、</a:t>
            </a:r>
            <a:r>
              <a:rPr lang="ja-JP" altLang="en-US" sz="1200" dirty="0">
                <a:solidFill>
                  <a:schemeClr val="dk1"/>
                </a:solidFill>
                <a:latin typeface="Arial"/>
                <a:ea typeface="Arial"/>
                <a:cs typeface="Arial"/>
                <a:sym typeface="Arial"/>
              </a:rPr>
              <a:t>ファミリー層を軸とした</a:t>
            </a:r>
            <a:r>
              <a:rPr lang="ja-JP" sz="1200" dirty="0">
                <a:solidFill>
                  <a:schemeClr val="dk1"/>
                </a:solidFill>
                <a:latin typeface="Arial"/>
                <a:ea typeface="Arial"/>
                <a:cs typeface="Arial"/>
                <a:sym typeface="Arial"/>
              </a:rPr>
              <a:t>キャンペーンをご提案します。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映画やイベントの山に合わせて、限定パッケージ、半券キャンペーン、コラボメニュー。</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ウルトラマンの親子熱量を、購入・来店・応募という行動に変える企画です。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※ファクトチェック注記:「2027夏の映画半券」は映画の開示確認(素材35)が前提。確定まで口頭では「大型企画」と言い換え可。</a:t>
            </a:r>
            <a:endParaRPr dirty="0"/>
          </a:p>
        </p:txBody>
      </p:sp>
      <p:sp>
        <p:nvSpPr>
          <p:cNvPr id="567" name="Google Shape;567;g3f82b020a63_1_1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3f82b020a63_1_2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0" name="Google Shape;630;g3f82b020a63_1_2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流通・EC・商業施設の皆さまには、「商品を置く」のではなく「売場を作る」提案です。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映画</a:t>
            </a:r>
            <a:r>
              <a:rPr lang="ja-JP" altLang="en-US" sz="1200" dirty="0">
                <a:solidFill>
                  <a:schemeClr val="dk1"/>
                </a:solidFill>
                <a:latin typeface="Arial"/>
                <a:ea typeface="Arial"/>
                <a:cs typeface="Arial"/>
                <a:sym typeface="Arial"/>
              </a:rPr>
              <a:t>公開記念</a:t>
            </a:r>
            <a:r>
              <a:rPr lang="ja-JP" sz="1200" dirty="0">
                <a:solidFill>
                  <a:schemeClr val="dk1"/>
                </a:solidFill>
                <a:latin typeface="Arial"/>
                <a:ea typeface="Arial"/>
                <a:cs typeface="Arial"/>
                <a:sym typeface="Arial"/>
              </a:rPr>
              <a:t>棚、ウルサマ</a:t>
            </a:r>
            <a:r>
              <a:rPr lang="ja-JP" altLang="en-US" sz="1200" dirty="0">
                <a:solidFill>
                  <a:schemeClr val="dk1"/>
                </a:solidFill>
                <a:latin typeface="Arial"/>
                <a:ea typeface="Arial"/>
                <a:cs typeface="Arial"/>
                <a:sym typeface="Arial"/>
              </a:rPr>
              <a:t>連動</a:t>
            </a:r>
            <a:r>
              <a:rPr lang="ja-JP" sz="1200" dirty="0">
                <a:solidFill>
                  <a:schemeClr val="dk1"/>
                </a:solidFill>
                <a:latin typeface="Arial"/>
                <a:ea typeface="Arial"/>
                <a:cs typeface="Arial"/>
                <a:sym typeface="Arial"/>
              </a:rPr>
              <a:t>棚、怪獣棚、IPコラボ棚。</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期間限定の売場ジャックからPOPUP、EC限定まで、売場そのものを一緒に設計させてください。</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lang="en-US" sz="1200" dirty="0">
              <a:solidFill>
                <a:schemeClr val="dk1"/>
              </a:solidFill>
              <a:latin typeface="Arial"/>
              <a:cs typeface="Arial"/>
              <a:sym typeface="Arial"/>
            </a:endParaRPr>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【必要素材】棚モック/POPUPイメージ/ECページモック/店頭POP/棚帯/購入特典告知/館内装飾/スタンプラリー</a:t>
            </a:r>
            <a:endParaRPr dirty="0"/>
          </a:p>
        </p:txBody>
      </p:sp>
      <p:sp>
        <p:nvSpPr>
          <p:cNvPr id="631" name="Google Shape;631;g3f82b020a63_1_2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3f82b020a63_1_2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3f82b020a63_1_2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広告代理店・SPの皆さまには、クライアント提案にそのまま使える</a:t>
            </a:r>
            <a:r>
              <a:rPr lang="en-US" altLang="ja-JP" sz="1200" dirty="0">
                <a:solidFill>
                  <a:schemeClr val="dk1"/>
                </a:solidFill>
                <a:latin typeface="Arial"/>
                <a:ea typeface="Arial"/>
                <a:cs typeface="Arial"/>
                <a:sym typeface="Arial"/>
              </a:rPr>
              <a:t>5</a:t>
            </a:r>
            <a:r>
              <a:rPr lang="ja-JP" altLang="en-US" sz="1200" dirty="0">
                <a:solidFill>
                  <a:schemeClr val="dk1"/>
                </a:solidFill>
                <a:latin typeface="Arial"/>
                <a:ea typeface="Arial"/>
                <a:cs typeface="Arial"/>
                <a:sym typeface="Arial"/>
              </a:rPr>
              <a:t>つの方向性をご案内します</a:t>
            </a:r>
            <a:r>
              <a:rPr lang="ja-JP" sz="1200" dirty="0">
                <a:solidFill>
                  <a:schemeClr val="dk1"/>
                </a:solidFill>
                <a:latin typeface="Arial"/>
                <a:ea typeface="Arial"/>
                <a:cs typeface="Arial"/>
                <a:sym typeface="Arial"/>
              </a:rPr>
              <a:t>。</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親子集客、防災、交通安全、地域創生。</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ウルトラマン</a:t>
            </a:r>
            <a:r>
              <a:rPr lang="ja-JP" altLang="en-US" sz="1200" dirty="0">
                <a:solidFill>
                  <a:schemeClr val="dk1"/>
                </a:solidFill>
                <a:latin typeface="Arial"/>
                <a:ea typeface="Arial"/>
                <a:cs typeface="Arial"/>
                <a:sym typeface="Arial"/>
              </a:rPr>
              <a:t>の持つ</a:t>
            </a:r>
            <a:r>
              <a:rPr lang="ja-JP" sz="1200" dirty="0">
                <a:solidFill>
                  <a:schemeClr val="dk1"/>
                </a:solidFill>
                <a:latin typeface="Arial"/>
                <a:ea typeface="Arial"/>
                <a:cs typeface="Arial"/>
                <a:sym typeface="Arial"/>
              </a:rPr>
              <a:t>「勇気」「</a:t>
            </a:r>
            <a:r>
              <a:rPr lang="ja-JP" altLang="en-US" sz="1200" dirty="0">
                <a:solidFill>
                  <a:schemeClr val="dk1"/>
                </a:solidFill>
                <a:latin typeface="Arial"/>
                <a:ea typeface="Arial"/>
                <a:cs typeface="Arial"/>
                <a:sym typeface="Arial"/>
              </a:rPr>
              <a:t>希望」</a:t>
            </a:r>
            <a:r>
              <a:rPr lang="ja-JP" sz="1200" dirty="0">
                <a:solidFill>
                  <a:schemeClr val="dk1"/>
                </a:solidFill>
                <a:latin typeface="Arial"/>
                <a:ea typeface="Arial"/>
                <a:cs typeface="Arial"/>
                <a:sym typeface="Arial"/>
              </a:rPr>
              <a:t>という</a:t>
            </a:r>
            <a:r>
              <a:rPr lang="ja-JP" altLang="en-US" sz="1200" dirty="0">
                <a:solidFill>
                  <a:schemeClr val="dk1"/>
                </a:solidFill>
                <a:latin typeface="Arial"/>
                <a:ea typeface="Arial"/>
                <a:cs typeface="Arial"/>
                <a:sym typeface="Arial"/>
              </a:rPr>
              <a:t>メッセージ性が</a:t>
            </a:r>
            <a:r>
              <a:rPr lang="ja-JP" sz="1200" dirty="0">
                <a:solidFill>
                  <a:schemeClr val="dk1"/>
                </a:solidFill>
                <a:latin typeface="Arial"/>
                <a:ea typeface="Arial"/>
                <a:cs typeface="Arial"/>
                <a:sym typeface="Arial"/>
              </a:rPr>
              <a:t>企業課題</a:t>
            </a:r>
            <a:r>
              <a:rPr lang="ja-JP" altLang="en-US" sz="1200" dirty="0">
                <a:solidFill>
                  <a:schemeClr val="dk1"/>
                </a:solidFill>
                <a:latin typeface="Arial"/>
                <a:ea typeface="Arial"/>
                <a:cs typeface="Arial"/>
                <a:sym typeface="Arial"/>
              </a:rPr>
              <a:t>を解決します。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【必要素材】店頭キャンペーン事例/交通広告モック/SNS投稿施策/ヒーローグリーティング写真/スタンプラリー台紙/企業タイアップ動画イメージ</a:t>
            </a:r>
            <a:endParaRPr dirty="0"/>
          </a:p>
        </p:txBody>
      </p:sp>
      <p:sp>
        <p:nvSpPr>
          <p:cNvPr id="696" name="Google Shape;696;g3f82b020a63_1_2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f82b020a63_1_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3f82b020a63_1_3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デジタル・ゲームの皆さまへ。</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ウルトラマンはリアルだけのIPではありません。ゲーム内コラボ、限定アバター、配信連動。歴代ヒーローと怪獣というキャラクター資産は、デジタル施策と非常に相性が良い領域です。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p:txBody>
      </p:sp>
      <p:sp>
        <p:nvSpPr>
          <p:cNvPr id="758" name="Google Shape;758;g3f82b020a63_1_3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3f82b020a63_1_3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g3f82b020a63_1_3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イベント・施設・観光の皆さまへ。ウルトラマンの最大の特長は「会いに来てもらえる」ことです。ヒーローショー、グリーティング、スタンプラリー。</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来場理由を作り、そのまま館内の回遊と購買につなげる集客パッケージをご提案します。</a:t>
            </a:r>
            <a:endParaRPr lang="en-US" altLang="ja-JP"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p:txBody>
      </p:sp>
      <p:sp>
        <p:nvSpPr>
          <p:cNvPr id="824" name="Google Shape;824;g3f82b020a63_1_3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3f82b020a63_1_3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3f82b020a63_1_3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IPコラボは、</a:t>
            </a:r>
            <a:r>
              <a:rPr lang="ja-JP" altLang="en-US" sz="1200" dirty="0">
                <a:solidFill>
                  <a:schemeClr val="dk1"/>
                </a:solidFill>
                <a:latin typeface="Arial"/>
                <a:ea typeface="Arial"/>
                <a:cs typeface="Arial"/>
                <a:sym typeface="Arial"/>
              </a:rPr>
              <a:t>それぞれの</a:t>
            </a:r>
            <a:r>
              <a:rPr lang="en-US" altLang="ja-JP" sz="1200" dirty="0">
                <a:solidFill>
                  <a:schemeClr val="dk1"/>
                </a:solidFill>
                <a:latin typeface="Arial"/>
                <a:ea typeface="Arial"/>
                <a:cs typeface="Arial"/>
                <a:sym typeface="Arial"/>
              </a:rPr>
              <a:t>IP</a:t>
            </a:r>
            <a:r>
              <a:rPr lang="ja-JP" altLang="en-US" sz="1200" dirty="0">
                <a:solidFill>
                  <a:schemeClr val="dk1"/>
                </a:solidFill>
                <a:latin typeface="Arial"/>
                <a:ea typeface="Arial"/>
                <a:cs typeface="Arial"/>
                <a:sym typeface="Arial"/>
              </a:rPr>
              <a:t>の</a:t>
            </a:r>
            <a:r>
              <a:rPr lang="ja-JP" sz="1200" dirty="0">
                <a:solidFill>
                  <a:schemeClr val="dk1"/>
                </a:solidFill>
                <a:latin typeface="Arial"/>
                <a:ea typeface="Arial"/>
                <a:cs typeface="Arial"/>
                <a:sym typeface="Arial"/>
              </a:rPr>
              <a:t>入口を広げる装置です。かわいい文脈で女性・ライト層へ。ホビー文脈でコレクターへ。</a:t>
            </a:r>
            <a:r>
              <a:rPr lang="ja-JP" altLang="en-US" sz="1200" dirty="0">
                <a:solidFill>
                  <a:schemeClr val="dk1"/>
                </a:solidFill>
                <a:latin typeface="Arial"/>
                <a:ea typeface="Arial"/>
                <a:cs typeface="Arial"/>
                <a:sym typeface="Arial"/>
              </a:rPr>
              <a:t>ウルトラマンが</a:t>
            </a:r>
            <a:r>
              <a:rPr lang="ja-JP" sz="1200" dirty="0">
                <a:solidFill>
                  <a:schemeClr val="dk1"/>
                </a:solidFill>
                <a:latin typeface="Arial"/>
                <a:ea typeface="Arial"/>
                <a:cs typeface="Arial"/>
                <a:sym typeface="Arial"/>
              </a:rPr>
              <a:t>モフサンド、ベイブレード</a:t>
            </a:r>
            <a:r>
              <a:rPr lang="ja-JP" altLang="en-US" sz="1200" dirty="0">
                <a:solidFill>
                  <a:schemeClr val="dk1"/>
                </a:solidFill>
                <a:latin typeface="Arial"/>
                <a:ea typeface="Arial"/>
                <a:cs typeface="Arial"/>
                <a:sym typeface="Arial"/>
              </a:rPr>
              <a:t>とのコラボ</a:t>
            </a:r>
            <a:r>
              <a:rPr lang="ja-JP" sz="1200" dirty="0">
                <a:solidFill>
                  <a:schemeClr val="dk1"/>
                </a:solidFill>
                <a:latin typeface="Arial"/>
                <a:ea typeface="Arial"/>
                <a:cs typeface="Arial"/>
                <a:sym typeface="Arial"/>
              </a:rPr>
              <a:t>で実証されています。コラボを起点に、新しい売場と新しいファン層を一緒に開拓しませんか。</a:t>
            </a:r>
            <a:endParaRPr dirty="0"/>
          </a:p>
        </p:txBody>
      </p:sp>
      <p:sp>
        <p:nvSpPr>
          <p:cNvPr id="868" name="Google Shape;868;g3f82b020a63_1_3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3f82b020a63_0_2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※内部メモ(画面外配置を退避):サンリオさん会場にいらしています。</a:t>
            </a:r>
          </a:p>
          <a:p>
            <a:r>
              <a:t>ここで企業キャラクターコラボの可能性と×解禁をうたって後半のスライドをなくすのはいかがでしょう</a:t>
            </a:r>
          </a:p>
        </p:txBody>
      </p:sp>
      <p:sp>
        <p:nvSpPr>
          <p:cNvPr id="893" name="Google Shape;893;g3f82b020a63_0_2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3f82b020a63_33_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3f82b020a63_33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dirty="0"/>
              <a:t>現在も、多様なスタイルガイド、アートガイドをご用意しています。今後はさらに一歩進め、完成されたビジュアルを選んでいただくだけではなく、キャラクター、ポーズ、背景、パターン、カラー、ロゴなどを組み合わせ、企業ごとの顧客、商品、価格帯、販路に適した提案を一緒に作れる形へ進化させていきます。</a:t>
            </a:r>
            <a:endParaRPr dirty="0"/>
          </a:p>
          <a:p>
            <a:pPr marL="0" lvl="0" indent="0" algn="l" rtl="0">
              <a:lnSpc>
                <a:spcPct val="100000"/>
              </a:lnSpc>
              <a:spcBef>
                <a:spcPts val="0"/>
              </a:spcBef>
              <a:spcAft>
                <a:spcPts val="0"/>
              </a:spcAft>
              <a:buSzPts val="1400"/>
              <a:buNone/>
            </a:pPr>
            <a:endParaRPr dirty="0"/>
          </a:p>
        </p:txBody>
      </p:sp>
      <p:sp>
        <p:nvSpPr>
          <p:cNvPr id="983" name="Google Shape;983;g3f82b020a63_33_1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f82b020a63_1_4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3f82b020a63_1_4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同じ雑貨でも、幼児向け、小学生向け、大人向けでは、必要なウルトラマン表現は全く異なります。皆さまの顧客に最適なウルトラマンを、一緒に設計していきます。</a:t>
            </a:r>
            <a:endParaRPr/>
          </a:p>
        </p:txBody>
      </p:sp>
      <p:sp>
        <p:nvSpPr>
          <p:cNvPr id="1006" name="Google Shape;1006;g3f82b020a63_1_4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3f54859c7f8_2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3f54859c7f8_2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25000"/>
              </a:lnSpc>
              <a:spcBef>
                <a:spcPts val="0"/>
              </a:spcBef>
              <a:spcAft>
                <a:spcPts val="0"/>
              </a:spcAft>
              <a:buClr>
                <a:srgbClr val="000000"/>
              </a:buClr>
              <a:buSzPts val="2800"/>
              <a:buFont typeface="Arial"/>
              <a:buNone/>
            </a:pPr>
            <a:r>
              <a:rPr lang="ja-JP" altLang="en-US" sz="1200" b="0" dirty="0">
                <a:solidFill>
                  <a:srgbClr val="7FA8E0"/>
                </a:solidFill>
              </a:rPr>
              <a:t>多様なターゲットニーズに対応した</a:t>
            </a:r>
            <a:r>
              <a:rPr lang="ja-JP" altLang="ja-JP" sz="1100" b="0" dirty="0">
                <a:solidFill>
                  <a:srgbClr val="F4F7FD"/>
                </a:solidFill>
              </a:rPr>
              <a:t>スタイルガイドバリエーション</a:t>
            </a:r>
            <a:r>
              <a:rPr lang="ja-JP" altLang="en-US" sz="1100" b="0" dirty="0">
                <a:solidFill>
                  <a:srgbClr val="F4F7FD"/>
                </a:solidFill>
              </a:rPr>
              <a:t>を拡充させていきます。</a:t>
            </a:r>
            <a:endParaRPr lang="ja-JP" altLang="en-US" sz="1100" b="0" i="0" u="none" strike="noStrike" cap="none" dirty="0">
              <a:solidFill>
                <a:srgbClr val="000000"/>
              </a:solidFill>
              <a:latin typeface="Arial"/>
              <a:ea typeface="Arial"/>
              <a:cs typeface="Arial"/>
              <a:sym typeface="Arial"/>
            </a:endParaRPr>
          </a:p>
        </p:txBody>
      </p:sp>
      <p:sp>
        <p:nvSpPr>
          <p:cNvPr id="1029" name="Google Shape;1029;g3f54859c7f8_2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3f82b020a63_33_3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3f82b020a63_33_3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今後、円谷が強化していくもう一つの価値が、商品化後のマーケティング支援です。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商品を作っていただき、監修して終わりではありません。円谷公式SNS、ULTRA MART、イベント、インフルエンサー、EC、店頭施策を組み合わせながら、発売前の期待形成、発売時の話題化、発売後の購買促進まで一緒に設計していきます。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ULTRA MARTも、すべての商品を大量に販売するための場所ではなく、新しい商品、新しいターゲット、新しいデザインを試し、原宿で話題を作り、全国の売場へ広げていく発信拠点として活用していきます。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商品化だけでなく、ファンと出会い、話題になり、売れるところまで、皆さまと一緒に作っていきます。</a:t>
            </a:r>
            <a:endParaRPr dirty="0"/>
          </a:p>
        </p:txBody>
      </p:sp>
      <p:sp>
        <p:nvSpPr>
          <p:cNvPr id="1104" name="Google Shape;1104;g3f82b020a63_33_3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g3f82b020a63_33_3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5" name="Google Shape;1115;g3f82b020a63_33_3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今後、円谷が強化していくもう一つの価値が、商品化後のマーケティング支援です。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商品を作っていただき、監修して終わりではありません。円谷公式SNS、ULTRA MART、イベント、インフルエンサー、EC、店頭施策を組み合わせながら、発売前の期待形成、発売時の話題化、発売後の購買促進まで一緒に設計していきます。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ULTRA MARTも、すべての商品を大量に販売するための場所ではなく、新しい商品、新しいターゲット、新しいデザインを試し、原宿で話題を作り、全国の売場へ広げていく発信拠点として活用していきます。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商品化だけでなく、ファンと出会い、話題になり、売れるところまで、皆さまと一緒に作っていきます。</a:t>
            </a:r>
            <a:endParaRPr/>
          </a:p>
        </p:txBody>
      </p:sp>
      <p:sp>
        <p:nvSpPr>
          <p:cNvPr id="1116" name="Google Shape;1116;g3f82b020a63_33_3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f82b020a63_33_1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5" name="Google Shape;1205;g3f82b020a63_33_1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最後に、この商機を支える作品の話をします。ここまでの提案が「続けられる」理由です。</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ja-JP"/>
              <a:t>2027年度以降の接点は3つ。TVシリーズが継続接点を作り、映画が大型の話題化を作り、配信・YouTubeがコアファン接点を広げます。</a:t>
            </a:r>
            <a:endParaRPr/>
          </a:p>
          <a:p>
            <a:pPr marL="0" lvl="0" indent="0" algn="l" rtl="0">
              <a:lnSpc>
                <a:spcPct val="100000"/>
              </a:lnSpc>
              <a:spcBef>
                <a:spcPts val="0"/>
              </a:spcBef>
              <a:spcAft>
                <a:spcPts val="0"/>
              </a:spcAft>
              <a:buClr>
                <a:schemeClr val="dk1"/>
              </a:buClr>
              <a:buSzPts val="1400"/>
              <a:buFont typeface="Arial"/>
              <a:buNone/>
            </a:pPr>
            <a:r>
              <a:rPr lang="ja-JP"/>
              <a:t>この3つが年間を通じて連動するので、商品もキャンペーンも単発で終わりません。</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ja-JP"/>
              <a:t>※ファクトチェック注記:RISINGビジュアルは確認用(for_confirmation)データ。投影可否[1]と確定版データを先方に要確認。</a:t>
            </a:r>
            <a:endParaRPr/>
          </a:p>
          <a:p>
            <a:pPr marL="0" lvl="0" indent="0" algn="l" rtl="0">
              <a:lnSpc>
                <a:spcPct val="100000"/>
              </a:lnSpc>
              <a:spcBef>
                <a:spcPts val="0"/>
              </a:spcBef>
              <a:spcAft>
                <a:spcPts val="0"/>
              </a:spcAft>
              <a:buSzPts val="1400"/>
              <a:buNone/>
            </a:pPr>
            <a:r>
              <a:rPr lang="ja-JP"/>
              <a:t>※冒頭に情報公開前の秘匿性の高い情報であることを、台本にも反映する</a:t>
            </a:r>
            <a:endParaRPr/>
          </a:p>
        </p:txBody>
      </p:sp>
      <p:sp>
        <p:nvSpPr>
          <p:cNvPr id="1206" name="Google Shape;1206;g3f82b020a63_33_1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3f82b020a63_0_10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8" name="Google Shape;1258;g3f82b020a63_0_10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9" name="Google Shape;1259;g3f82b020a63_0_10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g3f82b020a63_0_10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5" name="Google Shape;1265;g3f82b020a63_0_10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ウルトラマンシリーズ60周年の大きなモメンタムを受け、市場全体が大変な活気に満ちております。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その牽引役として現在放送中のTVシリーズ『ウルトラマンテオ』も、各視聴プラットフォームにおいて高い支持を獲得し、好調なスタートを切っております。</a:t>
            </a:r>
            <a:endParaRPr/>
          </a:p>
        </p:txBody>
      </p:sp>
      <p:sp>
        <p:nvSpPr>
          <p:cNvPr id="1266" name="Google Shape;1266;g3f82b020a63_0_10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g3f82b020a63_0_10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2" name="Google Shape;1272;g3f82b020a63_0_10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b="0"/>
              <a:t>既存の放送中spot15秒</a:t>
            </a:r>
            <a:endParaRPr/>
          </a:p>
        </p:txBody>
      </p:sp>
      <p:sp>
        <p:nvSpPr>
          <p:cNvPr id="1273" name="Google Shape;1273;g3f82b020a63_0_10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g3f82b020a63_0_10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9" name="Google Shape;1279;g3f82b020a63_0_10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本作の強みは、「故郷を失った独りぼっちのウルトラマン」という人間味あふれるドラマ性にあります。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主人公の苦悩や成長を丁寧に描いたドラマパートが、兄弟や親目線で応援したくなると共感を呼び、ファミリー層の「共感型・応援型消費」を強力に後押ししています。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ja-JP" sz="1200">
                <a:solidFill>
                  <a:schemeClr val="dk1"/>
                </a:solidFill>
                <a:latin typeface="Arial"/>
                <a:ea typeface="Arial"/>
                <a:cs typeface="Arial"/>
                <a:sym typeface="Arial"/>
              </a:rPr>
              <a:t>また、相棒怪獣「プッチー」は、その愛らしいビジュアルからぬいぐるみや雑貨等のMD性が高く、従来のキッズ層に加え、女性層・ライトユーザーの新規獲得にも効果を発揮しております。</a:t>
            </a:r>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p:txBody>
      </p:sp>
      <p:sp>
        <p:nvSpPr>
          <p:cNvPr id="1280" name="Google Shape;1280;g3f82b020a63_0_10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3f82b020a63_0_10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7" name="Google Shape;1287;g3f82b020a63_0_10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この熱量をさらなるビジネスチャンスへと昇華させるべく、来年2027年2月には全国150館規模での劇場版公開が決定いたしました。 </a:t>
            </a:r>
            <a:br>
              <a:rPr lang="ja-JP" sz="1200">
                <a:solidFill>
                  <a:schemeClr val="dk1"/>
                </a:solidFill>
                <a:latin typeface="Arial"/>
                <a:ea typeface="Arial"/>
                <a:cs typeface="Arial"/>
                <a:sym typeface="Arial"/>
              </a:rPr>
            </a:b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全国150館規模で公開する劇場版では、第1話でも登場した黒いウルトラマンが最大のライバルとなり、この人間態には、実力派俳優・笠松将（かさまつ しょう）さんを起用。</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さらに、ニュージェネレーションの人気を牽引するウルトラマンゼロもゲスト登場。</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集客力、そして強力な商品化・タイアップ商機を創出してまいります。ご期待ください。</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sp>
        <p:nvSpPr>
          <p:cNvPr id="1288" name="Google Shape;1288;g3f82b020a63_0_10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3f82b020a63_0_10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6" name="Google Shape;1296;g3f82b020a63_0_10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そして、シリーズ60周年の熱気は、来期2027年に「さらなる飛躍のフェーズ」を迎えます。 </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市場規模を飛躍的に拡大させる起爆剤として、シリーズ屈指の圧倒的な人気と認知度を誇る『ウルトラマンゼロ』を、2027年夏、「一般向け大型エンターテインメント映画」として全国展開いたします。</a:t>
            </a:r>
            <a:endParaRPr/>
          </a:p>
        </p:txBody>
      </p:sp>
      <p:sp>
        <p:nvSpPr>
          <p:cNvPr id="1297" name="Google Shape;1297;g3f82b020a63_0_10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g3f82b020a63_0_10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3" name="Google Shape;1303;g3f82b020a63_0_10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ウルトラマンゼロの最大の強みは、その「圧倒的な顧客基盤の広さ」にあります。</a:t>
            </a:r>
          </a:p>
          <a:p>
            <a:r>
              <a:t>2009年の映画での初登場から約15年。当時小学生としてゼロを応援していたキッズ層は、現在、消費と情報発信の中心を担う20代へと成長しています。</a:t>
            </a:r>
          </a:p>
          <a:p>
            <a:r>
              <a:t>※内部メモ(スライドから退避):銀河伝説の良い画像あればそちらを入れてください</a:t>
            </a:r>
          </a:p>
        </p:txBody>
      </p:sp>
      <p:sp>
        <p:nvSpPr>
          <p:cNvPr id="1304" name="Google Shape;1304;g3f82b020a63_0_10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g3f82b020a63_0_10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3" name="Google Shape;1313;g3f82b020a63_0_10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さらに、先ほどの『テオ』劇場版への客演も含め、現在に至るまで15年間絶え間なく市場に立ち続けたことで、</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現在のキッズ・ファミリー層はもちろんのこと、20代〜30代の女性層、さらには大人ファンまで、世代と性別を超えた強力なファンコミュニティを構築しております。</a:t>
            </a:r>
            <a:endParaRPr/>
          </a:p>
        </p:txBody>
      </p:sp>
      <p:sp>
        <p:nvSpPr>
          <p:cNvPr id="1314" name="Google Shape;1314;g3f82b020a63_0_10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3f82b020a63_0_10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2" name="Google Shape;1322;g3f82b020a63_0_10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また、ゼロのポテンシャルは日本国内にとどまりません。</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中国・アジア圏をはじめとするグローバル市場においても、ウルトラマン人気の牽引役となっており、アジア展開やインバウンド、グローバルMDを推進されるパートナー様にとっても、極めて優位性の高いIPとなっております。</a:t>
            </a:r>
            <a:endParaRPr dirty="0"/>
          </a:p>
        </p:txBody>
      </p:sp>
      <p:sp>
        <p:nvSpPr>
          <p:cNvPr id="1323" name="Google Shape;1323;g3f82b020a63_0_10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3f82b020a63_0_10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9" name="Google Shape;1329;g3f82b020a63_0_10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この全世代型・グローバルIPであるゼロが、来年2027年8月27日、全国250館規模の大型スクリーン数で、全国の皆様に興奮と感動をお届けいたします。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本作をかつてない規模のビジネスイベントとするため、現在鋭意制作を進めております。ここでは、最新の映像を一部ご覧いただきます。</a:t>
            </a:r>
            <a:endParaRPr/>
          </a:p>
        </p:txBody>
      </p:sp>
      <p:sp>
        <p:nvSpPr>
          <p:cNvPr id="1330" name="Google Shape;1330;g3f82b020a63_0_10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3f82b020a63_0_10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7" name="Google Shape;1337;g3f82b020a63_0_10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いかがでしたでしょうか。</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2027年以降、当社は従来のファミリー向け作品という枠組みを大きく超え、一般エンターテインメント市場全体へと、ウルトラマンブランドのターゲット層を拡張してまいります。</a:t>
            </a:r>
            <a:endParaRPr/>
          </a:p>
          <a:p>
            <a:pPr marL="0" lvl="0" indent="0" algn="l" rtl="0">
              <a:lnSpc>
                <a:spcPct val="100000"/>
              </a:lnSpc>
              <a:spcBef>
                <a:spcPts val="0"/>
              </a:spcBef>
              <a:spcAft>
                <a:spcPts val="0"/>
              </a:spcAft>
              <a:buSzPts val="1400"/>
              <a:buNone/>
            </a:pPr>
            <a:br>
              <a:rPr lang="ja-JP" b="0"/>
            </a:br>
            <a:br>
              <a:rPr lang="ja-JP" b="0"/>
            </a:br>
            <a:endParaRPr/>
          </a:p>
        </p:txBody>
      </p:sp>
      <p:sp>
        <p:nvSpPr>
          <p:cNvPr id="1338" name="Google Shape;1338;g3f82b020a63_0_10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2"/>
        <p:cNvGrpSpPr/>
        <p:nvPr/>
      </p:nvGrpSpPr>
      <p:grpSpPr>
        <a:xfrm>
          <a:off x="0" y="0"/>
          <a:ext cx="0" cy="0"/>
          <a:chOff x="0" y="0"/>
          <a:chExt cx="0" cy="0"/>
        </a:xfrm>
      </p:grpSpPr>
      <p:sp>
        <p:nvSpPr>
          <p:cNvPr id="1343" name="Google Shape;1343;g3f82b020a63_0_10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4" name="Google Shape;1344;g3f82b020a63_0_10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本作を一般映画大作として成功させるべく、第一線で活躍する豪華キャスト陣を結集いたしました。</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15年以上にわたりゼロの声優を務め、自身もトップアーティスト・俳優として絶大な集客力を誇る宮野真守さんが、本作で満を持して、主人公である変身者「モロボシ・シン」を俳優として演じます。</a:t>
            </a:r>
            <a:endParaRPr/>
          </a:p>
        </p:txBody>
      </p:sp>
      <p:sp>
        <p:nvSpPr>
          <p:cNvPr id="1345" name="Google Shape;1345;g3f82b020a63_0_10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g3f82b020a63_0_1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3" name="Google Shape;1353;g3f82b020a63_0_1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さらに、ヒロインには女優・剛力彩芽さんをお迎えいたしました。</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圧倒的な知名度と発信力を誇るキャスト陣の起用により、マスメディアやSNSにおける露出を最大化し、普段特撮作品に触れない一般層・女性層をも劇場へ強力に送客する宣伝戦略を展開いたします。</a:t>
            </a:r>
            <a:endParaRPr/>
          </a:p>
        </p:txBody>
      </p:sp>
      <p:sp>
        <p:nvSpPr>
          <p:cNvPr id="1354" name="Google Shape;1354;g3f82b020a63_0_11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g3f82b020a63_0_1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2" name="Google Shape;1362;g3f82b020a63_0_1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また、ケイン・コスギさん、関口メンディーさんをはじめとするトップクラスの肉体派俳優も多数出演いたします。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ハリウッドで培われた坂本浩一監督の演出とハイレベルなアクションにより、</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一般層に届ける極上のエンターテインメント作品へと仕上げてまいります。</a:t>
            </a:r>
            <a:endParaRPr/>
          </a:p>
        </p:txBody>
      </p:sp>
      <p:sp>
        <p:nvSpPr>
          <p:cNvPr id="1363" name="Google Shape;1363;g3f82b020a63_0_1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9"/>
        <p:cNvGrpSpPr/>
        <p:nvPr/>
      </p:nvGrpSpPr>
      <p:grpSpPr>
        <a:xfrm>
          <a:off x="0" y="0"/>
          <a:ext cx="0" cy="0"/>
          <a:chOff x="0" y="0"/>
          <a:chExt cx="0" cy="0"/>
        </a:xfrm>
      </p:grpSpPr>
      <p:sp>
        <p:nvSpPr>
          <p:cNvPr id="1370" name="Google Shape;1370;g3f82b020a63_0_1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1" name="Google Shape;1371;g3f82b020a63_0_1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もちろん、コアファンやMD市場が最も期待する要素も欠かしません。</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シリーズ最凶にして最高の人気を誇る宿敵『ウルトラマンベリアル』との壮絶な死闘を、最新の映像技術と大迫力のアクションで描きます。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玩具・フィギュアからアパレル、広告タイアップまで、あらゆる協業領域で最高のビジネス効果をお約束します。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ぜひご期待ください。</a:t>
            </a:r>
            <a:endParaRPr/>
          </a:p>
        </p:txBody>
      </p:sp>
      <p:sp>
        <p:nvSpPr>
          <p:cNvPr id="1372" name="Google Shape;1372;g3f82b020a63_0_11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p:cNvGrpSpPr/>
        <p:nvPr/>
      </p:nvGrpSpPr>
      <p:grpSpPr>
        <a:xfrm>
          <a:off x="0" y="0"/>
          <a:ext cx="0" cy="0"/>
          <a:chOff x="0" y="0"/>
          <a:chExt cx="0" cy="0"/>
        </a:xfrm>
      </p:grpSpPr>
      <p:sp>
        <p:nvSpPr>
          <p:cNvPr id="1377" name="Google Shape;1377;g3f82b020a63_0_1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8" name="Google Shape;1378;g3f82b020a63_0_11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次に、2027年放送の新テレビシリーズのご紹介です。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まずはこちらの映像をご覧ください。</a:t>
            </a:r>
            <a:endParaRPr dirty="0"/>
          </a:p>
          <a:p>
            <a:pPr marL="0" lvl="0" indent="0" algn="l" rtl="0">
              <a:lnSpc>
                <a:spcPct val="100000"/>
              </a:lnSpc>
              <a:spcBef>
                <a:spcPts val="0"/>
              </a:spcBef>
              <a:spcAft>
                <a:spcPts val="0"/>
              </a:spcAft>
              <a:buSzPts val="1400"/>
              <a:buNone/>
            </a:pPr>
            <a:endParaRPr dirty="0"/>
          </a:p>
        </p:txBody>
      </p:sp>
      <p:sp>
        <p:nvSpPr>
          <p:cNvPr id="1379" name="Google Shape;1379;g3f82b020a63_0_11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3f82b020a63_0_1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5" name="Google Shape;1385;g3f82b020a63_0_11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いかがでしたでしょうか。</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今回、従来の企画方針をゼロベースで見直し、いま世の中に何が求められているのか、どうすれば私たちのビジネスをさらに成長させることができるのかについて議論し、抜本的な改革を行いました。</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1つ目の改革は、放送サイクルの見直しです。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これまで7月から12月までの2クールでテレビ放送を行って来ましたが、どうしても放送のない年前半の事業展開は、大人しくなる傾向にありました。</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ここを改善し、年間を通して切れ目のない事業展開を実現したいと考えています。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2つ目の改革は、肝心要とも言える企画づくりです。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私たちには、2013年の『ウルトラマンギンガ』以来、20作品を超えるテレビシリーズを製作してきました。どの作品も、誠心誠意、作り上げてきたものではありますが、事業的には、凸凹があるのも事実です。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どんなエピソードがより多く視聴されたのか、どんな商品がより多く売れたのか、これまでの実績を分析し、「勝てる要素」を抽出し、本作の企画に盛り込んでいます。</a:t>
            </a:r>
            <a:endParaRPr/>
          </a:p>
        </p:txBody>
      </p:sp>
      <p:sp>
        <p:nvSpPr>
          <p:cNvPr id="1386" name="Google Shape;1386;g3f82b020a63_0_11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0"/>
        <p:cNvGrpSpPr/>
        <p:nvPr/>
      </p:nvGrpSpPr>
      <p:grpSpPr>
        <a:xfrm>
          <a:off x="0" y="0"/>
          <a:ext cx="0" cy="0"/>
          <a:chOff x="0" y="0"/>
          <a:chExt cx="0" cy="0"/>
        </a:xfrm>
      </p:grpSpPr>
      <p:sp>
        <p:nvSpPr>
          <p:cNvPr id="1391" name="Google Shape;1391;g3f82b020a63_0_1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2" name="Google Shape;1392;g3f82b020a63_0_11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私たちが成し遂げたいテーマ、それはビジネスパートナーの皆様と共に「全力で勝ちに行く」こと。</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このために、従来のTVシリーズを見直し、「①放送サイクルの刷新」と、</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過去のヒット実績を分析した「②勝てる企画づくり」の2つの戦略で展開いたします。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 </a:t>
            </a:r>
            <a:endParaRPr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dirty="0"/>
          </a:p>
        </p:txBody>
      </p:sp>
      <p:sp>
        <p:nvSpPr>
          <p:cNvPr id="1393" name="Google Shape;1393;g3f82b020a63_0_11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g3f82b020a63_0_1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0" name="Google Shape;1400;g3f82b020a63_0_11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新たな放送サイクルについて、ご説明します。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2027年の「E1」から放送開始は10月となります。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前半1クール目の放送が、10月から12月まで。後半2クール目の放送が、4月から6月まで。</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分割2クール放送の間を、ニューイヤーEXPO、特別編上映、派生番組の放送でつなぎます。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さらに放送終了後の7月以降は、メインキャストが出演する大型催事を全国で展開することで、年間を通して切れ目のなく盛り上げます。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このサイクルを、2028年・2029年と継続することで市場に定着させ、皆様のビジネスの成長に貢献したいと考えています。</a:t>
            </a:r>
            <a:endParaRPr/>
          </a:p>
          <a:p>
            <a:pPr marL="0" lvl="0" indent="0" algn="l" rtl="0">
              <a:lnSpc>
                <a:spcPct val="100000"/>
              </a:lnSpc>
              <a:spcBef>
                <a:spcPts val="0"/>
              </a:spcBef>
              <a:spcAft>
                <a:spcPts val="0"/>
              </a:spcAft>
              <a:buSzPts val="1400"/>
              <a:buNone/>
            </a:pPr>
            <a:endParaRPr/>
          </a:p>
        </p:txBody>
      </p:sp>
      <p:sp>
        <p:nvSpPr>
          <p:cNvPr id="1401" name="Google Shape;1401;g3f82b020a63_0_11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7"/>
        <p:cNvGrpSpPr/>
        <p:nvPr/>
      </p:nvGrpSpPr>
      <p:grpSpPr>
        <a:xfrm>
          <a:off x="0" y="0"/>
          <a:ext cx="0" cy="0"/>
          <a:chOff x="0" y="0"/>
          <a:chExt cx="0" cy="0"/>
        </a:xfrm>
      </p:grpSpPr>
      <p:sp>
        <p:nvSpPr>
          <p:cNvPr id="1438" name="Google Shape;1438;g3f82b020a63_0_1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9" name="Google Shape;1439;g3f82b020a63_0_11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次に企画づくりです。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本作の主役は、「ウルトラマンゼット」以来、7年ぶりとなるフュージョンヒーローです。</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歴代ヒーローの力をかりるフュージョンヒーローは、</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「オーブ」「ジード」「ゼット」と、いずれも高い人気があり、商業的にも大きく成功してきたという実績があります。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ティガとギンガ、パワードとグレート、ゼロとゼット。いまの20代後半から40代の親世代が子供の頃熱狂したヒーローたちの力をかりて、パワーアップしていきます。</a:t>
            </a:r>
            <a:endParaRPr/>
          </a:p>
          <a:p>
            <a:pPr marL="0" lvl="0" indent="0" algn="l" rtl="0">
              <a:lnSpc>
                <a:spcPct val="100000"/>
              </a:lnSpc>
              <a:spcBef>
                <a:spcPts val="0"/>
              </a:spcBef>
              <a:spcAft>
                <a:spcPts val="0"/>
              </a:spcAft>
              <a:buSzPts val="1400"/>
              <a:buNone/>
            </a:pPr>
            <a:endParaRPr/>
          </a:p>
        </p:txBody>
      </p:sp>
      <p:sp>
        <p:nvSpPr>
          <p:cNvPr id="1440" name="Google Shape;1440;g3f82b020a63_0_11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3"/>
        <p:cNvGrpSpPr/>
        <p:nvPr/>
      </p:nvGrpSpPr>
      <p:grpSpPr>
        <a:xfrm>
          <a:off x="0" y="0"/>
          <a:ext cx="0" cy="0"/>
          <a:chOff x="0" y="0"/>
          <a:chExt cx="0" cy="0"/>
        </a:xfrm>
      </p:grpSpPr>
      <p:sp>
        <p:nvSpPr>
          <p:cNvPr id="1474" name="Google Shape;1474;g3f82b020a63_0_1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5" name="Google Shape;1475;g3f82b020a63_0_12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さらに、ギンガ、ゼット、ブレーザー、アーク、オメガなど、歴代ヒーローが次々に客演し、常に、視聴者を盛り上げます。ヒーローに変身する歴代主演キャストの出演も、複数、検討しております。</a:t>
            </a:r>
            <a:endParaRPr/>
          </a:p>
        </p:txBody>
      </p:sp>
      <p:sp>
        <p:nvSpPr>
          <p:cNvPr id="1476" name="Google Shape;1476;g3f82b020a63_0_12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p:cNvGrpSpPr/>
        <p:nvPr/>
      </p:nvGrpSpPr>
      <p:grpSpPr>
        <a:xfrm>
          <a:off x="0" y="0"/>
          <a:ext cx="0" cy="0"/>
          <a:chOff x="0" y="0"/>
          <a:chExt cx="0" cy="0"/>
        </a:xfrm>
      </p:grpSpPr>
      <p:sp>
        <p:nvSpPr>
          <p:cNvPr id="1489" name="Google Shape;1489;g3f82b020a63_0_1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0" name="Google Shape;1490;g3f82b020a63_0_12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ja-JP" sz="1200">
                <a:solidFill>
                  <a:schemeClr val="dk1"/>
                </a:solidFill>
                <a:latin typeface="Arial"/>
                <a:ea typeface="Arial"/>
                <a:cs typeface="Arial"/>
                <a:sym typeface="Arial"/>
              </a:rPr>
              <a:t>4年ぶりとなる防衛隊も登場します。怪獣によじ登って戦う破天荒な防衛チーム、そしてセブンガ―、アースガロンなど商業的な実績も高い味方ロボットの活躍を描きます。</a:t>
            </a:r>
            <a:endParaRPr/>
          </a:p>
          <a:p>
            <a:pPr marL="0" lvl="0" indent="0" algn="l" rtl="0">
              <a:lnSpc>
                <a:spcPct val="100000"/>
              </a:lnSpc>
              <a:spcBef>
                <a:spcPts val="0"/>
              </a:spcBef>
              <a:spcAft>
                <a:spcPts val="0"/>
              </a:spcAft>
              <a:buSzPts val="1400"/>
              <a:buNone/>
            </a:pPr>
            <a:endParaRPr/>
          </a:p>
        </p:txBody>
      </p:sp>
      <p:sp>
        <p:nvSpPr>
          <p:cNvPr id="1491" name="Google Shape;1491;g3f82b020a63_0_12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g3f82b020a63_0_1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3" name="Google Shape;1503;g3f82b020a63_0_12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タイトルは、『ウルトラマンデルタ』。危険を顧みず巨大怪獣に挑む物語を、登山家に見立て、ロゴの背景には大きな三角マークがそびえています。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本作は今年秋からの撮影開始を予定しています。これからの続報にどうぞご期待ください。</a:t>
            </a:r>
            <a:endParaRPr/>
          </a:p>
          <a:p>
            <a:pPr marL="0" lvl="0" indent="0" algn="l" rtl="0">
              <a:lnSpc>
                <a:spcPct val="100000"/>
              </a:lnSpc>
              <a:spcBef>
                <a:spcPts val="0"/>
              </a:spcBef>
              <a:spcAft>
                <a:spcPts val="0"/>
              </a:spcAft>
              <a:buSzPts val="1400"/>
              <a:buNone/>
            </a:pPr>
            <a:endParaRPr/>
          </a:p>
        </p:txBody>
      </p:sp>
      <p:sp>
        <p:nvSpPr>
          <p:cNvPr id="1504" name="Google Shape;1504;g3f82b020a63_0_12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g3f82b020a63_0_1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2" name="Google Shape;1512;g3f82b020a63_0_12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最後に、当社独自の強みである「配信シリーズ」の戦略についてご紹介します。</a:t>
            </a: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ウルトラマンシリーズ最大の優位性は、単一の作品にとどまらず、壮大なユニバースを共有する「オールウルトラマン・群像劇」を展開できる点にあります。</a:t>
            </a:r>
            <a:endParaRPr/>
          </a:p>
          <a:p>
            <a:pPr marL="0" lvl="0" indent="0" algn="l" rtl="0">
              <a:lnSpc>
                <a:spcPct val="100000"/>
              </a:lnSpc>
              <a:spcBef>
                <a:spcPts val="0"/>
              </a:spcBef>
              <a:spcAft>
                <a:spcPts val="0"/>
              </a:spcAft>
              <a:buSzPts val="1400"/>
              <a:buNone/>
            </a:pPr>
            <a:endParaRPr/>
          </a:p>
        </p:txBody>
      </p:sp>
      <p:sp>
        <p:nvSpPr>
          <p:cNvPr id="1513" name="Google Shape;1513;g3f82b020a63_0_12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3f82b020a63_0_1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9" name="Google Shape;1519;g3f82b020a63_0_12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今後制作を予定している配信シリーズでは、新旧100体以上のキャラクターが次々と登場いたします。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これにより、現行TVシリーズ作品だけではカバーしきれない「多彩なキャラクターMD商機の創出」、「過去作IPの周年事業化」、</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また全国で開催される「ライブ・イベント事業との強い連動」、</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そして「デジタル顧客接点のアクティブ化」を実現してまいります。</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 </a:t>
            </a:r>
            <a:endParaRPr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パートナーの皆様が保有する多様なターゲットや商品カテゴリーに最適化できる、強力なビジネスプラットフォームとしてもご活用ください。</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 </a:t>
            </a:r>
            <a:endParaRPr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（〜映像投影〜）</a:t>
            </a:r>
            <a:endParaRPr dirty="0"/>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 </a:t>
            </a:r>
            <a:endParaRPr sz="120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r>
              <a:rPr lang="ja-JP" sz="1200" dirty="0">
                <a:solidFill>
                  <a:schemeClr val="dk1"/>
                </a:solidFill>
                <a:latin typeface="Arial"/>
                <a:ea typeface="Arial"/>
                <a:cs typeface="Arial"/>
                <a:sym typeface="Arial"/>
              </a:rPr>
              <a:t>ご清聴ありがとうございました。</a:t>
            </a:r>
            <a:endParaRPr dirty="0"/>
          </a:p>
          <a:p>
            <a:pPr marL="0" marR="0" lvl="0" indent="0" algn="l" rtl="0">
              <a:lnSpc>
                <a:spcPct val="100000"/>
              </a:lnSpc>
              <a:spcBef>
                <a:spcPts val="0"/>
              </a:spcBef>
              <a:spcAft>
                <a:spcPts val="0"/>
              </a:spcAft>
              <a:buClr>
                <a:schemeClr val="dk1"/>
              </a:buClr>
              <a:buSzPts val="1200"/>
              <a:buFont typeface="Arial"/>
              <a:buNone/>
            </a:pPr>
            <a:endParaRPr dirty="0"/>
          </a:p>
        </p:txBody>
      </p:sp>
      <p:sp>
        <p:nvSpPr>
          <p:cNvPr id="1520" name="Google Shape;1520;g3f82b020a63_0_12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8"/>
        <p:cNvGrpSpPr/>
        <p:nvPr/>
      </p:nvGrpSpPr>
      <p:grpSpPr>
        <a:xfrm>
          <a:off x="0" y="0"/>
          <a:ext cx="0" cy="0"/>
          <a:chOff x="0" y="0"/>
          <a:chExt cx="0" cy="0"/>
        </a:xfrm>
      </p:grpSpPr>
      <p:sp>
        <p:nvSpPr>
          <p:cNvPr id="1529" name="Google Shape;1529;g3f82b020a63_0_12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0" name="Google Shape;1530;g3f82b020a63_0_1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7"/>
        <p:cNvGrpSpPr/>
        <p:nvPr/>
      </p:nvGrpSpPr>
      <p:grpSpPr>
        <a:xfrm>
          <a:off x="0" y="0"/>
          <a:ext cx="0" cy="0"/>
          <a:chOff x="0" y="0"/>
          <a:chExt cx="0" cy="0"/>
        </a:xfrm>
      </p:grpSpPr>
      <p:sp>
        <p:nvSpPr>
          <p:cNvPr id="1548" name="Google Shape;1548;g3f82b020a63_33_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9" name="Google Shape;1549;g3f82b020a63_33_2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この表が、本日のまとめです。コンテンツごとに、皆さまのカテゴリーの商品化機会が対応しています。作品の話をしているようで、実はずっと、皆さまの事業機会の話をしてきました。</a:t>
            </a:r>
            <a:endParaRPr/>
          </a:p>
        </p:txBody>
      </p:sp>
      <p:sp>
        <p:nvSpPr>
          <p:cNvPr id="1550" name="Google Shape;1550;g3f82b020a63_33_2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0"/>
        <p:cNvGrpSpPr/>
        <p:nvPr/>
      </p:nvGrpSpPr>
      <p:grpSpPr>
        <a:xfrm>
          <a:off x="0" y="0"/>
          <a:ext cx="0" cy="0"/>
          <a:chOff x="0" y="0"/>
          <a:chExt cx="0" cy="0"/>
        </a:xfrm>
      </p:grpSpPr>
      <p:sp>
        <p:nvSpPr>
          <p:cNvPr id="1561" name="Google Shape;1561;g3f82b020a63_0_12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2" name="Google Shape;1562;g3f82b020a63_0_12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3" name="Google Shape;1563;g3f82b020a63_0_12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1"/>
        <p:cNvGrpSpPr/>
        <p:nvPr/>
      </p:nvGrpSpPr>
      <p:grpSpPr>
        <a:xfrm>
          <a:off x="0" y="0"/>
          <a:ext cx="0" cy="0"/>
          <a:chOff x="0" y="0"/>
          <a:chExt cx="0" cy="0"/>
        </a:xfrm>
      </p:grpSpPr>
      <p:sp>
        <p:nvSpPr>
          <p:cNvPr id="1682" name="Google Shape;1682;g3f82b020a63_33_3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3" name="Google Shape;1683;g3f82b020a63_33_3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ここで、本日一番大事なご案内です。いまこの瞬間から、個別商談の受付を開始します。お手元のスマートフォンで、このQRからご登録ください。相談カテゴリを選ぶだけ。登録いただいた企業様には、担当者から順にご連絡し、個別商談、素材共有、企画検討へ進みます。この後のコンテンツ紹介の間も、QRは画面の隅に残しておきます。【運営】QRは最低60秒表示。以降のスライドでも画面隅に残す。</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ja-JP" sz="1200">
                <a:solidFill>
                  <a:schemeClr val="dk1"/>
                </a:solidFill>
                <a:latin typeface="Arial"/>
                <a:ea typeface="Arial"/>
                <a:cs typeface="Arial"/>
                <a:sym typeface="Arial"/>
              </a:rPr>
              <a:t>※ファクトチェック注記:「登録は約3分」「担当者連絡1週間以内」はフォーム・運用の確定前。7/18のQR発行までに確定させ、できない場合は表現を調整。</a:t>
            </a:r>
            <a:endParaRPr/>
          </a:p>
        </p:txBody>
      </p:sp>
      <p:sp>
        <p:nvSpPr>
          <p:cNvPr id="1684" name="Google Shape;1684;g3f82b020a63_33_3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5"/>
        <p:cNvGrpSpPr/>
        <p:nvPr/>
      </p:nvGrpSpPr>
      <p:grpSpPr>
        <a:xfrm>
          <a:off x="0" y="0"/>
          <a:ext cx="0" cy="0"/>
          <a:chOff x="0" y="0"/>
          <a:chExt cx="0" cy="0"/>
        </a:xfrm>
      </p:grpSpPr>
      <p:sp>
        <p:nvSpPr>
          <p:cNvPr id="16" name="Google Shape;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3"/>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25"/>
        <p:cNvGrpSpPr/>
        <p:nvPr/>
      </p:nvGrpSpPr>
      <p:grpSpPr>
        <a:xfrm>
          <a:off x="0" y="0"/>
          <a:ext cx="0" cy="0"/>
          <a:chOff x="0" y="0"/>
          <a:chExt cx="0" cy="0"/>
        </a:xfrm>
      </p:grpSpPr>
      <p:sp>
        <p:nvSpPr>
          <p:cNvPr id="26" name="Google Shape;2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sldNum" idx="12"/>
          </p:nvPr>
        </p:nvSpPr>
        <p:spPr>
          <a:xfrm>
            <a:off x="9291145"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pic>
        <p:nvPicPr>
          <p:cNvPr id="29" name="Google Shape;29;p25"/>
          <p:cNvPicPr preferRelativeResize="0"/>
          <p:nvPr/>
        </p:nvPicPr>
        <p:blipFill rotWithShape="1">
          <a:blip r:embed="rId2">
            <a:alphaModFix/>
          </a:blip>
          <a:srcRect/>
          <a:stretch/>
        </p:blipFill>
        <p:spPr>
          <a:xfrm>
            <a:off x="9546790" y="176529"/>
            <a:ext cx="2487555" cy="751242"/>
          </a:xfrm>
          <a:prstGeom prst="rect">
            <a:avLst/>
          </a:prstGeom>
          <a:noFill/>
          <a:ln>
            <a:noFill/>
          </a:ln>
        </p:spPr>
      </p:pic>
      <p:sp>
        <p:nvSpPr>
          <p:cNvPr id="30" name="Google Shape;30;p25"/>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31"/>
        <p:cNvGrpSpPr/>
        <p:nvPr/>
      </p:nvGrpSpPr>
      <p:grpSpPr>
        <a:xfrm>
          <a:off x="0" y="0"/>
          <a:ext cx="0" cy="0"/>
          <a:chOff x="0" y="0"/>
          <a:chExt cx="0" cy="0"/>
        </a:xfrm>
      </p:grpSpPr>
      <p:sp>
        <p:nvSpPr>
          <p:cNvPr id="32" name="Google Shape;32;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eiryo"/>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34" name="Google Shape;3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37"/>
        <p:cNvGrpSpPr/>
        <p:nvPr/>
      </p:nvGrpSpPr>
      <p:grpSpPr>
        <a:xfrm>
          <a:off x="0" y="0"/>
          <a:ext cx="0" cy="0"/>
          <a:chOff x="0" y="0"/>
          <a:chExt cx="0" cy="0"/>
        </a:xfrm>
      </p:grpSpPr>
      <p:sp>
        <p:nvSpPr>
          <p:cNvPr id="38" name="Google Shape;38;p27"/>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40" name="Google Shape;40;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4"/>
        <p:cNvGrpSpPr/>
        <p:nvPr/>
      </p:nvGrpSpPr>
      <p:grpSpPr>
        <a:xfrm>
          <a:off x="0" y="0"/>
          <a:ext cx="0" cy="0"/>
          <a:chOff x="0" y="0"/>
          <a:chExt cx="0" cy="0"/>
        </a:xfrm>
      </p:grpSpPr>
      <p:sp>
        <p:nvSpPr>
          <p:cNvPr id="45" name="Google Shape;45;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9pPr>
          </a:lstStyle>
          <a:p>
            <a:endParaRPr/>
          </a:p>
        </p:txBody>
      </p:sp>
      <p:sp>
        <p:nvSpPr>
          <p:cNvPr id="47" name="Google Shape;47;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48" name="Google Shape;48;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9pPr>
          </a:lstStyle>
          <a:p>
            <a:endParaRPr/>
          </a:p>
        </p:txBody>
      </p:sp>
      <p:sp>
        <p:nvSpPr>
          <p:cNvPr id="49" name="Google Shape;49;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50" name="Google Shape;5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8"/>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53"/>
        <p:cNvGrpSpPr/>
        <p:nvPr/>
      </p:nvGrpSpPr>
      <p:grpSpPr>
        <a:xfrm>
          <a:off x="0" y="0"/>
          <a:ext cx="0" cy="0"/>
          <a:chOff x="0" y="0"/>
          <a:chExt cx="0" cy="0"/>
        </a:xfrm>
      </p:grpSpPr>
      <p:sp>
        <p:nvSpPr>
          <p:cNvPr id="54" name="Google Shape;54;p29"/>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9"/>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8"/>
        <p:cNvGrpSpPr/>
        <p:nvPr/>
      </p:nvGrpSpPr>
      <p:grpSpPr>
        <a:xfrm>
          <a:off x="0" y="0"/>
          <a:ext cx="0" cy="0"/>
          <a:chOff x="0" y="0"/>
          <a:chExt cx="0" cy="0"/>
        </a:xfrm>
      </p:grpSpPr>
      <p:sp>
        <p:nvSpPr>
          <p:cNvPr id="59" name="Google Shape;59;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Meiry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lt1"/>
              </a:buClr>
              <a:buSzPts val="3200"/>
              <a:buFont typeface="Arial"/>
              <a:buChar char="•"/>
              <a:defRPr sz="3200" b="0" i="0" u="none" strike="noStrike" cap="none">
                <a:solidFill>
                  <a:schemeClr val="lt1"/>
                </a:solidFill>
                <a:latin typeface="Arial"/>
                <a:ea typeface="Arial"/>
                <a:cs typeface="Arial"/>
                <a:sym typeface="Arial"/>
              </a:defRPr>
            </a:lvl1pPr>
            <a:lvl2pPr marL="914400" marR="0" lvl="1" indent="-406400" algn="l" rtl="0">
              <a:lnSpc>
                <a:spcPct val="90000"/>
              </a:lnSpc>
              <a:spcBef>
                <a:spcPts val="5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2pPr>
            <a:lvl3pPr marL="1371600" marR="0" lvl="2"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3pPr>
            <a:lvl4pPr marL="1828800" marR="0" lvl="3"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4pPr>
            <a:lvl5pPr marL="2286000" marR="0" lvl="4"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5pPr>
            <a:lvl6pPr marL="2743200" marR="0" lvl="5"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6pPr>
            <a:lvl7pPr marL="3200400" marR="0" lvl="6"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7pPr>
            <a:lvl8pPr marL="3657600" marR="0" lvl="7"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8pPr>
            <a:lvl9pPr marL="4114800" marR="0" lvl="8"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9pPr>
          </a:lstStyle>
          <a:p>
            <a:endParaRPr/>
          </a:p>
        </p:txBody>
      </p:sp>
      <p:sp>
        <p:nvSpPr>
          <p:cNvPr id="61" name="Google Shape;61;p3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endParaRPr/>
          </a:p>
        </p:txBody>
      </p:sp>
      <p:sp>
        <p:nvSpPr>
          <p:cNvPr id="62" name="Google Shape;6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0"/>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5"/>
        <p:cNvGrpSpPr/>
        <p:nvPr/>
      </p:nvGrpSpPr>
      <p:grpSpPr>
        <a:xfrm>
          <a:off x="0" y="0"/>
          <a:ext cx="0" cy="0"/>
          <a:chOff x="0" y="0"/>
          <a:chExt cx="0" cy="0"/>
        </a:xfrm>
      </p:grpSpPr>
      <p:sp>
        <p:nvSpPr>
          <p:cNvPr id="66" name="Google Shape;66;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Meiry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a:spLocks noGrp="1"/>
          </p:cNvSpPr>
          <p:nvPr>
            <p:ph type="pic" idx="2"/>
          </p:nvPr>
        </p:nvSpPr>
        <p:spPr>
          <a:xfrm>
            <a:off x="5183188" y="987425"/>
            <a:ext cx="6172200" cy="4873625"/>
          </a:xfrm>
          <a:prstGeom prst="rect">
            <a:avLst/>
          </a:prstGeom>
          <a:noFill/>
          <a:ln>
            <a:noFill/>
          </a:ln>
        </p:spPr>
      </p:sp>
      <p:sp>
        <p:nvSpPr>
          <p:cNvPr id="68" name="Google Shape;68;p3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2743200" marR="0" lvl="5"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3200400" marR="0" lvl="6"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3657600" marR="0" lvl="7"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4114800" marR="0" lvl="8" indent="-228600" algn="l" rtl="0">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endParaRPr/>
          </a:p>
        </p:txBody>
      </p:sp>
      <p:sp>
        <p:nvSpPr>
          <p:cNvPr id="69" name="Google Shape;69;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1"/>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2"/>
        <p:cNvGrpSpPr/>
        <p:nvPr/>
      </p:nvGrpSpPr>
      <p:grpSpPr>
        <a:xfrm>
          <a:off x="0" y="0"/>
          <a:ext cx="0" cy="0"/>
          <a:chOff x="0" y="0"/>
          <a:chExt cx="0" cy="0"/>
        </a:xfrm>
      </p:grpSpPr>
      <p:sp>
        <p:nvSpPr>
          <p:cNvPr id="73" name="Google Shape;73;p32"/>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2"/>
          <p:cNvSpPr txBox="1">
            <a:spLocks noGrp="1"/>
          </p:cNvSpPr>
          <p:nvPr>
            <p:ph type="body" idx="1"/>
          </p:nvPr>
        </p:nvSpPr>
        <p:spPr>
          <a:xfrm rot="5400000">
            <a:off x="3920331" y="-1621631"/>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75" name="Google Shape;7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8"/>
        <p:cNvGrpSpPr/>
        <p:nvPr/>
      </p:nvGrpSpPr>
      <p:grpSpPr>
        <a:xfrm>
          <a:off x="0" y="0"/>
          <a:ext cx="0" cy="0"/>
          <a:chOff x="0" y="0"/>
          <a:chExt cx="0" cy="0"/>
        </a:xfrm>
      </p:grpSpPr>
      <p:sp>
        <p:nvSpPr>
          <p:cNvPr id="79" name="Google Shape;79;p3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81" name="Google Shape;8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3"/>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4"/>
        <p:cNvGrpSpPr/>
        <p:nvPr/>
      </p:nvGrpSpPr>
      <p:grpSpPr>
        <a:xfrm>
          <a:off x="0" y="0"/>
          <a:ext cx="0" cy="0"/>
          <a:chOff x="0" y="0"/>
          <a:chExt cx="0" cy="0"/>
        </a:xfrm>
      </p:grpSpPr>
      <p:sp>
        <p:nvSpPr>
          <p:cNvPr id="85" name="Google Shape;85;g3f54859c7f8_0_97"/>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86" name="Google Shape;86;g3f54859c7f8_0_97"/>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87" name="Google Shape;87;g3f54859c7f8_0_9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タイトルとコンテンツ" type="obj">
  <p:cSld name="OBJECT">
    <p:spTree>
      <p:nvGrpSpPr>
        <p:cNvPr id="1" name="Shape 88"/>
        <p:cNvGrpSpPr/>
        <p:nvPr/>
      </p:nvGrpSpPr>
      <p:grpSpPr>
        <a:xfrm>
          <a:off x="0" y="0"/>
          <a:ext cx="0" cy="0"/>
          <a:chOff x="0" y="0"/>
          <a:chExt cx="0" cy="0"/>
        </a:xfrm>
      </p:grpSpPr>
      <p:sp>
        <p:nvSpPr>
          <p:cNvPr id="89" name="Google Shape;89;g3f54859c7f8_1_24"/>
          <p:cNvSpPr txBox="1">
            <a:spLocks noGrp="1"/>
          </p:cNvSpPr>
          <p:nvPr>
            <p:ph type="title"/>
          </p:nvPr>
        </p:nvSpPr>
        <p:spPr>
          <a:xfrm>
            <a:off x="299546" y="365125"/>
            <a:ext cx="8876100" cy="75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g3f54859c7f8_1_24"/>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91" name="Google Shape;91;g3f54859c7f8_1_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f54859c7f8_1_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3f54859c7f8_1_24"/>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299546" y="365125"/>
            <a:ext cx="8875986" cy="75124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Meiryo"/>
              <a:buNone/>
              <a:defRPr sz="4400" b="0" i="0" u="none" strike="noStrike" cap="none">
                <a:solidFill>
                  <a:schemeClr val="lt1"/>
                </a:solidFill>
                <a:latin typeface="Meiryo"/>
                <a:ea typeface="Meiryo"/>
                <a:cs typeface="Meiryo"/>
                <a:sym typeface="Meiry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2" name="Google Shape;1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3" name="Google Shape;13;p22"/>
          <p:cNvSpPr txBox="1">
            <a:spLocks noGrp="1"/>
          </p:cNvSpPr>
          <p:nvPr>
            <p:ph type="sldNum" idx="12"/>
          </p:nvPr>
        </p:nvSpPr>
        <p:spPr>
          <a:xfrm>
            <a:off x="9291145"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pic>
        <p:nvPicPr>
          <p:cNvPr id="14" name="Google Shape;14;p22"/>
          <p:cNvPicPr preferRelativeResize="0"/>
          <p:nvPr/>
        </p:nvPicPr>
        <p:blipFill rotWithShape="1">
          <a:blip r:embed="rId14">
            <a:alphaModFix/>
          </a:blip>
          <a:srcRect/>
          <a:stretch/>
        </p:blipFill>
        <p:spPr>
          <a:xfrm>
            <a:off x="9546790" y="176529"/>
            <a:ext cx="2487555" cy="75124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png"/><Relationship Id="rId7"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 Id="rId8" Type="http://schemas.openxmlformats.org/officeDocument/2006/relationships/image" Target="../media/image17.jpg"/><Relationship Id="rId9" Type="http://schemas.openxmlformats.org/officeDocument/2006/relationships/image" Target="../media/image18.jpg"/><Relationship Id="rId10"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jpg"/><Relationship Id="rId4" Type="http://schemas.openxmlformats.org/officeDocument/2006/relationships/image" Target="../media/image29.jp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png"/><Relationship Id="rId6"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2.jpg"/><Relationship Id="rId4" Type="http://schemas.openxmlformats.org/officeDocument/2006/relationships/image" Target="../media/image43.jpg"/><Relationship Id="rId5" Type="http://schemas.openxmlformats.org/officeDocument/2006/relationships/image" Target="../media/image44.jpg"/><Relationship Id="rId6" Type="http://schemas.openxmlformats.org/officeDocument/2006/relationships/image" Target="../media/image4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6.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2.jpg"/><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4.jpg"/><Relationship Id="rId4" Type="http://schemas.openxmlformats.org/officeDocument/2006/relationships/image" Target="../media/image65.png"/><Relationship Id="rId5" Type="http://schemas.openxmlformats.org/officeDocument/2006/relationships/image" Target="../media/image6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7.jp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9.jpg"/><Relationship Id="rId4" Type="http://schemas.openxmlformats.org/officeDocument/2006/relationships/image" Target="../media/image7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1.jpg"/><Relationship Id="rId4" Type="http://schemas.openxmlformats.org/officeDocument/2006/relationships/image" Target="../media/image72.jpeg"/><Relationship Id="rId5" Type="http://schemas.openxmlformats.org/officeDocument/2006/relationships/image" Target="../media/image73.png"/><Relationship Id="rId6" Type="http://schemas.openxmlformats.org/officeDocument/2006/relationships/image" Target="../media/image7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78.jpg"/><Relationship Id="rId4" Type="http://schemas.openxmlformats.org/officeDocument/2006/relationships/image" Target="../media/image7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81.jpg"/><Relationship Id="rId4" Type="http://schemas.openxmlformats.org/officeDocument/2006/relationships/image" Target="../media/image82.jpg"/><Relationship Id="rId5" Type="http://schemas.openxmlformats.org/officeDocument/2006/relationships/image" Target="../media/image8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84.jpg"/><Relationship Id="rId4" Type="http://schemas.openxmlformats.org/officeDocument/2006/relationships/image" Target="../media/image85.jpg"/><Relationship Id="rId5" Type="http://schemas.openxmlformats.org/officeDocument/2006/relationships/image" Target="../media/image86.jpg"/><Relationship Id="rId6" Type="http://schemas.openxmlformats.org/officeDocument/2006/relationships/image" Target="../media/image87.jp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jpg"/><Relationship Id="rId10" Type="http://schemas.openxmlformats.org/officeDocument/2006/relationships/image" Target="../media/image91.jpg"/><Relationship Id="rId11" Type="http://schemas.openxmlformats.org/officeDocument/2006/relationships/image" Target="../media/image92.jpg"/><Relationship Id="rId12" Type="http://schemas.openxmlformats.org/officeDocument/2006/relationships/image" Target="../media/image9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99.jpg"/><Relationship Id="rId4" Type="http://schemas.openxmlformats.org/officeDocument/2006/relationships/image" Target="../media/image10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0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8.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image" Target="../media/image109.png"/><Relationship Id="rId8" Type="http://schemas.openxmlformats.org/officeDocument/2006/relationships/image" Target="../media/image110.png"/><Relationship Id="rId9" Type="http://schemas.openxmlformats.org/officeDocument/2006/relationships/image" Target="../media/image111.jpg"/><Relationship Id="rId10" Type="http://schemas.openxmlformats.org/officeDocument/2006/relationships/image" Target="../media/image112.png"/><Relationship Id="rId11" Type="http://schemas.openxmlformats.org/officeDocument/2006/relationships/image" Target="../media/image113.png"/><Relationship Id="rId12" Type="http://schemas.openxmlformats.org/officeDocument/2006/relationships/image" Target="../media/image114.png"/><Relationship Id="rId13" Type="http://schemas.openxmlformats.org/officeDocument/2006/relationships/image" Target="../media/image115.png"/><Relationship Id="rId14" Type="http://schemas.openxmlformats.org/officeDocument/2006/relationships/image" Target="../media/image116.png"/><Relationship Id="rId15" Type="http://schemas.openxmlformats.org/officeDocument/2006/relationships/image" Target="../media/image117.png"/><Relationship Id="rId16" Type="http://schemas.openxmlformats.org/officeDocument/2006/relationships/image" Target="../media/image118.png"/><Relationship Id="rId17" Type="http://schemas.openxmlformats.org/officeDocument/2006/relationships/image" Target="../media/image119.jpg"/><Relationship Id="rId18" Type="http://schemas.openxmlformats.org/officeDocument/2006/relationships/image" Target="../media/image120.png"/><Relationship Id="rId19" Type="http://schemas.openxmlformats.org/officeDocument/2006/relationships/image" Target="../media/image121.png"/><Relationship Id="rId20" Type="http://schemas.openxmlformats.org/officeDocument/2006/relationships/image" Target="../media/image122.jpg"/><Relationship Id="rId21" Type="http://schemas.openxmlformats.org/officeDocument/2006/relationships/image" Target="../media/image123.jpg"/><Relationship Id="rId22" Type="http://schemas.openxmlformats.org/officeDocument/2006/relationships/image" Target="../media/image1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98"/>
        <p:cNvGrpSpPr/>
        <p:nvPr/>
      </p:nvGrpSpPr>
      <p:grpSpPr>
        <a:xfrm>
          <a:off x="0" y="0"/>
          <a:ext cx="0" cy="0"/>
          <a:chOff x="0" y="0"/>
          <a:chExt cx="0" cy="0"/>
        </a:xfrm>
      </p:grpSpPr>
      <p:sp>
        <p:nvSpPr>
          <p:cNvPr id="99" name="Google Shape;99;g3f82b020a63_0_0"/>
          <p:cNvSpPr/>
          <p:nvPr/>
        </p:nvSpPr>
        <p:spPr>
          <a:xfrm>
            <a:off x="0" y="0"/>
            <a:ext cx="255900" cy="68580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00" name="Google Shape;100;g3f82b020a63_0_0" descr="image.png"/>
          <p:cNvPicPr preferRelativeResize="0"/>
          <p:nvPr/>
        </p:nvPicPr>
        <p:blipFill rotWithShape="1">
          <a:blip r:embed="rId3">
            <a:alphaModFix/>
          </a:blip>
          <a:srcRect/>
          <a:stretch/>
        </p:blipFill>
        <p:spPr>
          <a:xfrm>
            <a:off x="9546336" y="173736"/>
            <a:ext cx="2487168" cy="749808"/>
          </a:xfrm>
          <a:prstGeom prst="rect">
            <a:avLst/>
          </a:prstGeom>
          <a:noFill/>
          <a:ln>
            <a:noFill/>
          </a:ln>
        </p:spPr>
      </p:pic>
      <p:sp>
        <p:nvSpPr>
          <p:cNvPr id="101" name="Google Shape;101;g3f82b020a63_0_0"/>
          <p:cNvSpPr txBox="1"/>
          <p:nvPr/>
        </p:nvSpPr>
        <p:spPr>
          <a:xfrm>
            <a:off x="747735" y="1745975"/>
            <a:ext cx="10332600" cy="3849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000"/>
              <a:buFont typeface="Arial"/>
              <a:buNone/>
            </a:pPr>
            <a:r>
              <a:rPr lang="ja-JP" sz="2500" b="1" i="0" u="none" strike="noStrike" cap="none">
                <a:solidFill>
                  <a:srgbClr val="7FA8E0"/>
                </a:solidFill>
                <a:latin typeface="Arial"/>
                <a:ea typeface="Arial"/>
                <a:cs typeface="Arial"/>
                <a:sym typeface="Arial"/>
              </a:rPr>
              <a:t>TSUBURAYA PRODUCTIONS</a:t>
            </a:r>
            <a:endParaRPr sz="2900" b="0" i="0" u="none" strike="noStrike" cap="none">
              <a:solidFill>
                <a:srgbClr val="000000"/>
              </a:solidFill>
              <a:latin typeface="Arial"/>
              <a:ea typeface="Arial"/>
              <a:cs typeface="Arial"/>
              <a:sym typeface="Arial"/>
            </a:endParaRPr>
          </a:p>
        </p:txBody>
      </p:sp>
      <p:sp>
        <p:nvSpPr>
          <p:cNvPr id="102" name="Google Shape;102;g3f82b020a63_0_0"/>
          <p:cNvSpPr txBox="1"/>
          <p:nvPr/>
        </p:nvSpPr>
        <p:spPr>
          <a:xfrm>
            <a:off x="747735" y="2243044"/>
            <a:ext cx="10607100" cy="6465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4200"/>
              <a:buFont typeface="Arial"/>
              <a:buNone/>
            </a:pPr>
            <a:r>
              <a:rPr lang="ja-JP" sz="4200" b="1" i="0" u="none" strike="noStrike" cap="none">
                <a:solidFill>
                  <a:srgbClr val="F4F7FD"/>
                </a:solidFill>
                <a:latin typeface="Arial"/>
                <a:ea typeface="Arial"/>
                <a:cs typeface="Arial"/>
                <a:sym typeface="Arial"/>
              </a:rPr>
              <a:t>PARTNERS MEETING 2026</a:t>
            </a:r>
            <a:endParaRPr sz="1400" b="0" i="0" u="none" strike="noStrike" cap="none">
              <a:solidFill>
                <a:srgbClr val="000000"/>
              </a:solidFill>
              <a:latin typeface="Arial"/>
              <a:ea typeface="Arial"/>
              <a:cs typeface="Arial"/>
              <a:sym typeface="Arial"/>
            </a:endParaRPr>
          </a:p>
        </p:txBody>
      </p:sp>
      <p:sp>
        <p:nvSpPr>
          <p:cNvPr id="103" name="Google Shape;103;g3f82b020a63_0_0"/>
          <p:cNvSpPr txBox="1"/>
          <p:nvPr/>
        </p:nvSpPr>
        <p:spPr>
          <a:xfrm>
            <a:off x="816285" y="3264065"/>
            <a:ext cx="10607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E8382F"/>
                </a:solidFill>
                <a:latin typeface="Arial"/>
                <a:ea typeface="Arial"/>
                <a:cs typeface="Arial"/>
                <a:sym typeface="Arial"/>
              </a:rPr>
              <a:t>2027年度以降の商機を、いま一緒につくる</a:t>
            </a:r>
            <a:endParaRPr sz="1800" b="0" i="0" u="none" strike="noStrike" cap="none">
              <a:solidFill>
                <a:srgbClr val="000000"/>
              </a:solidFill>
              <a:latin typeface="Arial"/>
              <a:ea typeface="Arial"/>
              <a:cs typeface="Arial"/>
              <a:sym typeface="Arial"/>
            </a:endParaRPr>
          </a:p>
        </p:txBody>
      </p:sp>
      <p:sp>
        <p:nvSpPr>
          <p:cNvPr id="104" name="Google Shape;104;g3f82b020a63_0_0"/>
          <p:cNvSpPr txBox="1"/>
          <p:nvPr/>
        </p:nvSpPr>
        <p:spPr>
          <a:xfrm>
            <a:off x="822960" y="4892040"/>
            <a:ext cx="10332600" cy="34624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800"/>
              <a:buFont typeface="Arial"/>
              <a:buNone/>
            </a:pPr>
            <a:r>
              <a:rPr lang="ja-JP" sz="1800" b="1" i="0" u="none" strike="noStrike" cap="none">
                <a:solidFill>
                  <a:srgbClr val="A9B6D2"/>
                </a:solidFill>
                <a:latin typeface="Arial"/>
                <a:ea typeface="Arial"/>
                <a:cs typeface="Arial"/>
                <a:sym typeface="Arial"/>
              </a:rPr>
              <a:t>2026年7月23日(木)16:00-17:00|ウルサマ イベントステージ</a:t>
            </a:r>
            <a:endParaRPr sz="2000" b="1" i="0" u="none" strike="noStrike" cap="none">
              <a:solidFill>
                <a:srgbClr val="000000"/>
              </a:solidFill>
              <a:latin typeface="Arial"/>
              <a:ea typeface="Arial"/>
              <a:cs typeface="Arial"/>
              <a:sym typeface="Arial"/>
            </a:endParaRPr>
          </a:p>
        </p:txBody>
      </p:sp>
      <p:sp>
        <p:nvSpPr>
          <p:cNvPr id="105" name="Google Shape;105;g3f82b020a63_0_0"/>
          <p:cNvSpPr txBox="1"/>
          <p:nvPr/>
        </p:nvSpPr>
        <p:spPr>
          <a:xfrm>
            <a:off x="822960" y="5212080"/>
            <a:ext cx="10332600" cy="34624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800"/>
              <a:buFont typeface="Arial"/>
              <a:buNone/>
            </a:pPr>
            <a:r>
              <a:rPr lang="ja-JP" sz="1800" b="1" i="0" u="none" strike="noStrike" cap="none">
                <a:solidFill>
                  <a:srgbClr val="A9B6D2"/>
                </a:solidFill>
                <a:latin typeface="Arial"/>
                <a:ea typeface="Arial"/>
                <a:cs typeface="Arial"/>
                <a:sym typeface="Arial"/>
              </a:rPr>
              <a:t>円谷プロダクション</a:t>
            </a:r>
            <a:endParaRPr sz="2000" b="0" i="0" u="none" strike="noStrike" cap="none">
              <a:solidFill>
                <a:srgbClr val="000000"/>
              </a:solidFill>
              <a:latin typeface="Arial"/>
              <a:ea typeface="Arial"/>
              <a:cs typeface="Arial"/>
              <a:sym typeface="Arial"/>
            </a:endParaRPr>
          </a:p>
        </p:txBody>
      </p:sp>
      <p:sp>
        <p:nvSpPr>
          <p:cNvPr id="106" name="Google Shape;106;g3f82b020a63_0_0"/>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7" name="Google Shape;107;g3f82b020a63_0_0"/>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8" name="Google Shape;108;g3f82b020a63_0_0"/>
          <p:cNvSpPr txBox="1"/>
          <p:nvPr/>
        </p:nvSpPr>
        <p:spPr>
          <a:xfrm>
            <a:off x="747720" y="5878369"/>
            <a:ext cx="10744200" cy="52318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2027年度以降の売場は、今日ここから始まる。</a:t>
            </a:r>
            <a:endParaRPr sz="2800" b="0" i="0" u="none" strike="noStrike" cap="none">
              <a:solidFill>
                <a:srgbClr val="000000"/>
              </a:solidFill>
              <a:latin typeface="Arial"/>
              <a:ea typeface="Arial"/>
              <a:cs typeface="Arial"/>
              <a:sym typeface="Arial"/>
            </a:endParaRPr>
          </a:p>
        </p:txBody>
      </p:sp>
      <p:pic>
        <p:nvPicPr>
          <p:cNvPr id="109" name="Google Shape;109;g3f82b020a63_0_0" descr="s01_33_kv.png"/>
          <p:cNvPicPr preferRelativeResize="0"/>
          <p:nvPr/>
        </p:nvPicPr>
        <p:blipFill rotWithShape="1">
          <a:blip r:embed="rId4">
            <a:alphaModFix/>
          </a:blip>
          <a:srcRect/>
          <a:stretch/>
        </p:blipFill>
        <p:spPr>
          <a:xfrm>
            <a:off x="8540496" y="1281844"/>
            <a:ext cx="2926080" cy="4206240"/>
          </a:xfrm>
          <a:prstGeom prst="rect">
            <a:avLst/>
          </a:prstGeom>
          <a:noFill/>
          <a:ln>
            <a:noFill/>
          </a:ln>
        </p:spPr>
      </p:pic>
      <p:sp>
        <p:nvSpPr>
          <p:cNvPr id="110" name="Google Shape;110;g3f82b020a63_0_0"/>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0"/>
        <p:cNvGrpSpPr/>
        <p:nvPr/>
      </p:nvGrpSpPr>
      <p:grpSpPr>
        <a:xfrm>
          <a:off x="0" y="0"/>
          <a:ext cx="0" cy="0"/>
          <a:chOff x="0" y="0"/>
          <a:chExt cx="0" cy="0"/>
        </a:xfrm>
      </p:grpSpPr>
      <p:sp>
        <p:nvSpPr>
          <p:cNvPr id="121" name="Google Shape;121;g3f82b020a63_0_21"/>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2</a:t>
            </a:fld>
            <a:endParaRPr/>
          </a:p>
        </p:txBody>
      </p:sp>
      <p:pic>
        <p:nvPicPr>
          <p:cNvPr id="122" name="Google Shape;122;g3f82b020a63_0_21"/>
          <p:cNvPicPr preferRelativeResize="0"/>
          <p:nvPr/>
        </p:nvPicPr>
        <p:blipFill>
          <a:blip r:embed="rId3">
            <a:alphaModFix/>
          </a:blip>
          <a:stretch>
            <a:fillRect/>
          </a:stretch>
        </p:blipFill>
        <p:spPr>
          <a:xfrm>
            <a:off x="60663" y="35175"/>
            <a:ext cx="12070674" cy="6787651"/>
          </a:xfrm>
          <a:prstGeom prst="rect">
            <a:avLst/>
          </a:prstGeom>
          <a:noFill/>
          <a:ln>
            <a:noFill/>
          </a:ln>
        </p:spPr>
      </p:pic>
      <p:sp>
        <p:nvSpPr>
          <p:cNvPr id="124" name="Rounded Rectangle 123"/>
          <p:cNvSpPr/>
          <p:nvPr/>
        </p:nvSpPr>
        <p:spPr>
          <a:xfrm>
            <a:off x="411480" y="320040"/>
            <a:ext cx="2926080" cy="457200"/>
          </a:xfrm>
          <a:prstGeom prst="roundRect">
            <a:avLst>
              <a:gd name="adj" fmla="val 30000"/>
            </a:avLst>
          </a:prstGeom>
          <a:solidFill>
            <a:srgbClr val="0509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Google Shape;123;g3f82b020a63_0_21"/>
          <p:cNvSpPr txBox="1"/>
          <p:nvPr/>
        </p:nvSpPr>
        <p:spPr>
          <a:xfrm>
            <a:off x="594360" y="365760"/>
            <a:ext cx="2743200" cy="3657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300" b="0" i="0" u="none" strike="noStrike" cap="none">
                <a:solidFill>
                  <a:srgbClr val="A9B6D2"/>
                </a:solidFill>
                <a:latin typeface="Arial"/>
                <a:ea typeface="Arial"/>
                <a:cs typeface="Arial"/>
                <a:sym typeface="Arial"/>
              </a:rPr>
              <a:t>60周年PV</a:t>
            </a:r>
            <a:r>
              <a:rPr lang="ja-JP" sz="1300">
                <a:solidFill>
                  <a:srgbClr val="A9B6D2"/>
                </a:solidFill>
              </a:rPr>
              <a:t>　2分24秒</a:t>
            </a: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14"/>
        <p:cNvGrpSpPr/>
        <p:nvPr/>
      </p:nvGrpSpPr>
      <p:grpSpPr>
        <a:xfrm>
          <a:off x="0" y="0"/>
          <a:ext cx="0" cy="0"/>
          <a:chOff x="0" y="0"/>
          <a:chExt cx="0" cy="0"/>
        </a:xfrm>
      </p:grpSpPr>
      <p:sp>
        <p:nvSpPr>
          <p:cNvPr id="115" name="Google Shape;115;g3f82b020a63_0_16"/>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3</a:t>
            </a:fld>
            <a:endParaRPr/>
          </a:p>
        </p:txBody>
      </p:sp>
      <p:sp>
        <p:nvSpPr>
          <p:cNvPr id="116" name="Google Shape;116;g3f82b020a63_0_16"/>
          <p:cNvSpPr txBox="1"/>
          <p:nvPr/>
        </p:nvSpPr>
        <p:spPr>
          <a:xfrm>
            <a:off x="1527048" y="3246120"/>
            <a:ext cx="9144000" cy="640080"/>
          </a:xfrm>
          <a:prstGeom prst="rect">
            <a:avLst/>
          </a:prstGeom>
          <a:noFill/>
          <a:ln>
            <a:noFill/>
          </a:ln>
        </p:spPr>
        <p:txBody>
          <a:bodyPr spcFirstLastPara="1" wrap="square" lIns="91425" tIns="45700" rIns="91425" bIns="45700" anchor="t" anchorCtr="0"/>
          <a:lstStyle/>
          <a:p>
            <a:pPr marL="0" marR="0" lvl="0" indent="0" algn="ctr" rtl="0">
              <a:lnSpc>
                <a:spcPct val="100000"/>
              </a:lnSpc>
              <a:spcBef>
                <a:spcPts val="0"/>
              </a:spcBef>
              <a:spcAft>
                <a:spcPts val="0"/>
              </a:spcAft>
              <a:buClr>
                <a:srgbClr val="000000"/>
              </a:buClr>
              <a:buSzPts val="3200"/>
              <a:buFont typeface="Arial"/>
              <a:buNone/>
            </a:pPr>
            <a:r>
              <a:rPr lang="ja-JP" sz="2000" b="0" i="0" u="none" strike="noStrike" cap="none">
                <a:solidFill>
                  <a:srgbClr val="A9B6D2"/>
                </a:solidFill>
                <a:latin typeface="Arial"/>
                <a:ea typeface="Arial"/>
                <a:cs typeface="Arial"/>
                <a:sym typeface="Arial"/>
              </a:rPr>
              <a:t>ヒーロー稼働</a:t>
            </a:r>
            <a:endParaRPr sz="32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a:solidFill>
                <a:schemeClr val="lt1"/>
              </a:solidFill>
              <a:latin typeface="Arial"/>
              <a:ea typeface="Arial"/>
              <a:cs typeface="Arial"/>
              <a:sym typeface="Arial"/>
            </a:endParaRPr>
          </a:p>
        </p:txBody>
      </p:sp>
      <p:sp>
        <p:nvSpPr>
          <p:cNvPr id="117" name="Isosceles Triangle 116"/>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8"/>
        <p:cNvGrpSpPr/>
        <p:nvPr/>
      </p:nvGrpSpPr>
      <p:grpSpPr>
        <a:xfrm>
          <a:off x="0" y="0"/>
          <a:ext cx="0" cy="0"/>
          <a:chOff x="0" y="0"/>
          <a:chExt cx="0" cy="0"/>
        </a:xfrm>
      </p:grpSpPr>
      <p:sp>
        <p:nvSpPr>
          <p:cNvPr id="129" name="Google Shape;129;g3f54859c7f8_1_47"/>
          <p:cNvSpPr/>
          <p:nvPr/>
        </p:nvSpPr>
        <p:spPr>
          <a:xfrm>
            <a:off x="0" y="0"/>
            <a:ext cx="255900" cy="68580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30" name="Google Shape;130;g3f54859c7f8_1_47" descr="image.png"/>
          <p:cNvPicPr preferRelativeResize="0"/>
          <p:nvPr/>
        </p:nvPicPr>
        <p:blipFill rotWithShape="1">
          <a:blip r:embed="rId3">
            <a:alphaModFix/>
          </a:blip>
          <a:srcRect/>
          <a:stretch/>
        </p:blipFill>
        <p:spPr>
          <a:xfrm>
            <a:off x="9546336" y="173736"/>
            <a:ext cx="2487168" cy="749808"/>
          </a:xfrm>
          <a:prstGeom prst="rect">
            <a:avLst/>
          </a:prstGeom>
          <a:noFill/>
          <a:ln>
            <a:noFill/>
          </a:ln>
        </p:spPr>
      </p:pic>
      <p:sp>
        <p:nvSpPr>
          <p:cNvPr id="131" name="Google Shape;131;g3f54859c7f8_1_47"/>
          <p:cNvSpPr txBox="1"/>
          <p:nvPr/>
        </p:nvSpPr>
        <p:spPr>
          <a:xfrm>
            <a:off x="747735" y="1745975"/>
            <a:ext cx="10332600" cy="3849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000"/>
              <a:buFont typeface="Arial"/>
              <a:buNone/>
            </a:pPr>
            <a:r>
              <a:rPr lang="ja-JP" sz="2500" b="1" i="0" u="none" strike="noStrike" cap="none">
                <a:solidFill>
                  <a:srgbClr val="7FA8E0"/>
                </a:solidFill>
                <a:latin typeface="Arial"/>
                <a:ea typeface="Arial"/>
                <a:cs typeface="Arial"/>
                <a:sym typeface="Arial"/>
              </a:rPr>
              <a:t>TSUBURAYA PRODUCTIONS</a:t>
            </a:r>
            <a:endParaRPr sz="2900" b="0" i="0" u="none" strike="noStrike" cap="none">
              <a:solidFill>
                <a:srgbClr val="000000"/>
              </a:solidFill>
              <a:latin typeface="Arial"/>
              <a:ea typeface="Arial"/>
              <a:cs typeface="Arial"/>
              <a:sym typeface="Arial"/>
            </a:endParaRPr>
          </a:p>
        </p:txBody>
      </p:sp>
      <p:sp>
        <p:nvSpPr>
          <p:cNvPr id="132" name="Google Shape;132;g3f54859c7f8_1_47"/>
          <p:cNvSpPr txBox="1"/>
          <p:nvPr/>
        </p:nvSpPr>
        <p:spPr>
          <a:xfrm>
            <a:off x="747735" y="2243044"/>
            <a:ext cx="10607100" cy="6465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4200"/>
              <a:buFont typeface="Arial"/>
              <a:buNone/>
            </a:pPr>
            <a:r>
              <a:rPr lang="ja-JP" sz="4200" b="1" i="0" u="none" strike="noStrike" cap="none">
                <a:solidFill>
                  <a:srgbClr val="F4F7FD"/>
                </a:solidFill>
                <a:latin typeface="Arial"/>
                <a:ea typeface="Arial"/>
                <a:cs typeface="Arial"/>
                <a:sym typeface="Arial"/>
              </a:rPr>
              <a:t>PARTNERS MEETING 2026</a:t>
            </a:r>
            <a:endParaRPr sz="1400" b="0" i="0" u="none" strike="noStrike" cap="none">
              <a:solidFill>
                <a:srgbClr val="000000"/>
              </a:solidFill>
              <a:latin typeface="Arial"/>
              <a:ea typeface="Arial"/>
              <a:cs typeface="Arial"/>
              <a:sym typeface="Arial"/>
            </a:endParaRPr>
          </a:p>
        </p:txBody>
      </p:sp>
      <p:sp>
        <p:nvSpPr>
          <p:cNvPr id="133" name="Google Shape;133;g3f54859c7f8_1_47"/>
          <p:cNvSpPr txBox="1"/>
          <p:nvPr/>
        </p:nvSpPr>
        <p:spPr>
          <a:xfrm>
            <a:off x="816285" y="3264065"/>
            <a:ext cx="10607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E8382F"/>
                </a:solidFill>
                <a:latin typeface="Arial"/>
                <a:ea typeface="Arial"/>
                <a:cs typeface="Arial"/>
                <a:sym typeface="Arial"/>
              </a:rPr>
              <a:t>2027年度以降の商機を、いま一緒につくる</a:t>
            </a:r>
            <a:endParaRPr sz="1800" b="0" i="0" u="none" strike="noStrike" cap="none">
              <a:solidFill>
                <a:srgbClr val="000000"/>
              </a:solidFill>
              <a:latin typeface="Arial"/>
              <a:ea typeface="Arial"/>
              <a:cs typeface="Arial"/>
              <a:sym typeface="Arial"/>
            </a:endParaRPr>
          </a:p>
        </p:txBody>
      </p:sp>
      <p:sp>
        <p:nvSpPr>
          <p:cNvPr id="134" name="Google Shape;134;g3f54859c7f8_1_47"/>
          <p:cNvSpPr txBox="1"/>
          <p:nvPr/>
        </p:nvSpPr>
        <p:spPr>
          <a:xfrm>
            <a:off x="822960" y="4892040"/>
            <a:ext cx="10332600" cy="277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800"/>
              <a:buFont typeface="Arial"/>
              <a:buNone/>
            </a:pPr>
            <a:r>
              <a:rPr lang="ja-JP" sz="1800" b="1" i="0" u="none" strike="noStrike" cap="none">
                <a:solidFill>
                  <a:srgbClr val="A9B6D2"/>
                </a:solidFill>
                <a:latin typeface="Arial"/>
                <a:ea typeface="Arial"/>
                <a:cs typeface="Arial"/>
                <a:sym typeface="Arial"/>
              </a:rPr>
              <a:t>2026年7月23日(木)16:00-17:00|ウルサマ イベントステージ</a:t>
            </a:r>
            <a:endParaRPr sz="2000" b="1" i="0" u="none" strike="noStrike" cap="none">
              <a:solidFill>
                <a:srgbClr val="000000"/>
              </a:solidFill>
              <a:latin typeface="Arial"/>
              <a:ea typeface="Arial"/>
              <a:cs typeface="Arial"/>
              <a:sym typeface="Arial"/>
            </a:endParaRPr>
          </a:p>
        </p:txBody>
      </p:sp>
      <p:sp>
        <p:nvSpPr>
          <p:cNvPr id="135" name="Google Shape;135;g3f54859c7f8_1_47"/>
          <p:cNvSpPr txBox="1"/>
          <p:nvPr/>
        </p:nvSpPr>
        <p:spPr>
          <a:xfrm>
            <a:off x="822960" y="5212080"/>
            <a:ext cx="10332600" cy="277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800"/>
              <a:buFont typeface="Arial"/>
              <a:buNone/>
            </a:pPr>
            <a:r>
              <a:rPr lang="ja-JP" sz="1800" b="1" i="0" u="none" strike="noStrike" cap="none">
                <a:solidFill>
                  <a:srgbClr val="A9B6D2"/>
                </a:solidFill>
                <a:latin typeface="Arial"/>
                <a:ea typeface="Arial"/>
                <a:cs typeface="Arial"/>
                <a:sym typeface="Arial"/>
              </a:rPr>
              <a:t>円谷プロダクション</a:t>
            </a:r>
            <a:endParaRPr sz="2000" b="0" i="0" u="none" strike="noStrike" cap="none">
              <a:solidFill>
                <a:srgbClr val="000000"/>
              </a:solidFill>
              <a:latin typeface="Arial"/>
              <a:ea typeface="Arial"/>
              <a:cs typeface="Arial"/>
              <a:sym typeface="Arial"/>
            </a:endParaRPr>
          </a:p>
        </p:txBody>
      </p:sp>
      <p:sp>
        <p:nvSpPr>
          <p:cNvPr id="136" name="Google Shape;136;g3f54859c7f8_1_47"/>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7" name="Google Shape;137;g3f54859c7f8_1_47"/>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8" name="Google Shape;138;g3f54859c7f8_1_47"/>
          <p:cNvSpPr txBox="1"/>
          <p:nvPr/>
        </p:nvSpPr>
        <p:spPr>
          <a:xfrm>
            <a:off x="747720" y="5878369"/>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2027年度以降の売場は、今日ここから始まる。</a:t>
            </a:r>
            <a:endParaRPr sz="2800" b="0" i="0" u="none" strike="noStrike" cap="none">
              <a:solidFill>
                <a:srgbClr val="000000"/>
              </a:solidFill>
              <a:latin typeface="Arial"/>
              <a:ea typeface="Arial"/>
              <a:cs typeface="Arial"/>
              <a:sym typeface="Arial"/>
            </a:endParaRPr>
          </a:p>
        </p:txBody>
      </p:sp>
      <p:pic>
        <p:nvPicPr>
          <p:cNvPr id="139" name="Google Shape;139;g3f54859c7f8_1_47" descr="s01_33_kv.png"/>
          <p:cNvPicPr preferRelativeResize="0"/>
          <p:nvPr/>
        </p:nvPicPr>
        <p:blipFill rotWithShape="1">
          <a:blip r:embed="rId4">
            <a:alphaModFix/>
          </a:blip>
          <a:srcRect/>
          <a:stretch/>
        </p:blipFill>
        <p:spPr>
          <a:xfrm>
            <a:off x="8540496" y="1281844"/>
            <a:ext cx="2926080" cy="4206240"/>
          </a:xfrm>
          <a:prstGeom prst="rect">
            <a:avLst/>
          </a:prstGeom>
          <a:noFill/>
          <a:ln>
            <a:noFill/>
          </a:ln>
        </p:spPr>
      </p:pic>
      <p:sp>
        <p:nvSpPr>
          <p:cNvPr id="140" name="Google Shape;140;g3f54859c7f8_1_47"/>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4</a:t>
            </a:fld>
            <a:endParaRPr/>
          </a:p>
        </p:txBody>
      </p:sp>
      <p:sp>
        <p:nvSpPr>
          <p:cNvPr id="141" name="Google Shape;141;g3f54859c7f8_1_47"/>
          <p:cNvSpPr txBox="1"/>
          <p:nvPr/>
        </p:nvSpPr>
        <p:spPr>
          <a:xfrm>
            <a:off x="502920" y="137160"/>
            <a:ext cx="5943600" cy="274320"/>
          </a:xfrm>
          <a:prstGeom prst="rect">
            <a:avLst/>
          </a:prstGeom>
          <a:noFill/>
          <a:ln>
            <a:noFill/>
          </a:ln>
        </p:spPr>
        <p:txBody>
          <a:bodyPr spcFirstLastPara="1" wrap="square" lIns="91425" tIns="45700" rIns="91425" bIns="45700" anchor="t" anchorCtr="0"/>
          <a:lstStyle/>
          <a:p>
            <a:pPr marL="0" marR="0" lvl="0" indent="0" algn="ctr" rtl="0">
              <a:lnSpc>
                <a:spcPct val="100000"/>
              </a:lnSpc>
              <a:spcBef>
                <a:spcPts val="0"/>
              </a:spcBef>
              <a:spcAft>
                <a:spcPts val="0"/>
              </a:spcAft>
              <a:buClr>
                <a:srgbClr val="000000"/>
              </a:buClr>
              <a:buSzPts val="3200"/>
              <a:buFont typeface="Arial"/>
              <a:buNone/>
            </a:pPr>
            <a:r>
              <a:rPr lang="ja-JP" sz="1100" b="0">
                <a:solidFill>
                  <a:srgbClr val="6A7794"/>
                </a:solidFill>
              </a:rPr>
              <a:t>MC登壇・黒澤さん挨拶</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6"/>
        <p:cNvGrpSpPr/>
        <p:nvPr/>
      </p:nvGrpSpPr>
      <p:grpSpPr>
        <a:xfrm>
          <a:off x="0" y="0"/>
          <a:ext cx="0" cy="0"/>
          <a:chOff x="0" y="0"/>
          <a:chExt cx="0" cy="0"/>
        </a:xfrm>
      </p:grpSpPr>
      <p:sp>
        <p:nvSpPr>
          <p:cNvPr id="147" name="Google Shape;147;g3f54859c7f8_1_8"/>
          <p:cNvSpPr/>
          <p:nvPr/>
        </p:nvSpPr>
        <p:spPr>
          <a:xfrm>
            <a:off x="0" y="0"/>
            <a:ext cx="255900" cy="68580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48" name="Google Shape;148;g3f54859c7f8_1_8" descr="image.png"/>
          <p:cNvPicPr preferRelativeResize="0"/>
          <p:nvPr/>
        </p:nvPicPr>
        <p:blipFill rotWithShape="1">
          <a:blip r:embed="rId3">
            <a:alphaModFix/>
          </a:blip>
          <a:srcRect/>
          <a:stretch/>
        </p:blipFill>
        <p:spPr>
          <a:xfrm>
            <a:off x="9546336" y="173736"/>
            <a:ext cx="2487168" cy="749808"/>
          </a:xfrm>
          <a:prstGeom prst="rect">
            <a:avLst/>
          </a:prstGeom>
          <a:noFill/>
          <a:ln>
            <a:noFill/>
          </a:ln>
        </p:spPr>
      </p:pic>
      <p:sp>
        <p:nvSpPr>
          <p:cNvPr id="149" name="Google Shape;149;g3f54859c7f8_1_8"/>
          <p:cNvSpPr txBox="1"/>
          <p:nvPr/>
        </p:nvSpPr>
        <p:spPr>
          <a:xfrm>
            <a:off x="747735" y="1745975"/>
            <a:ext cx="10332600" cy="3849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000"/>
              <a:buFont typeface="Arial"/>
              <a:buNone/>
            </a:pPr>
            <a:r>
              <a:rPr lang="ja-JP" sz="2500" b="1" i="0" u="none" strike="noStrike" cap="none">
                <a:solidFill>
                  <a:srgbClr val="7FA8E0"/>
                </a:solidFill>
                <a:latin typeface="Arial"/>
                <a:ea typeface="Arial"/>
                <a:cs typeface="Arial"/>
                <a:sym typeface="Arial"/>
              </a:rPr>
              <a:t>TSUBURAYA PRODUCTIONS</a:t>
            </a:r>
            <a:endParaRPr sz="2900" b="0" i="0" u="none" strike="noStrike" cap="none">
              <a:solidFill>
                <a:srgbClr val="000000"/>
              </a:solidFill>
              <a:latin typeface="Arial"/>
              <a:ea typeface="Arial"/>
              <a:cs typeface="Arial"/>
              <a:sym typeface="Arial"/>
            </a:endParaRPr>
          </a:p>
        </p:txBody>
      </p:sp>
      <p:sp>
        <p:nvSpPr>
          <p:cNvPr id="150" name="Google Shape;150;g3f54859c7f8_1_8"/>
          <p:cNvSpPr txBox="1"/>
          <p:nvPr/>
        </p:nvSpPr>
        <p:spPr>
          <a:xfrm>
            <a:off x="747735" y="2243044"/>
            <a:ext cx="10607100" cy="6465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4200"/>
              <a:buFont typeface="Arial"/>
              <a:buNone/>
            </a:pPr>
            <a:r>
              <a:rPr lang="ja-JP" sz="4200" b="1" i="0" u="none" strike="noStrike" cap="none">
                <a:solidFill>
                  <a:srgbClr val="F4F7FD"/>
                </a:solidFill>
                <a:latin typeface="Arial"/>
                <a:ea typeface="Arial"/>
                <a:cs typeface="Arial"/>
                <a:sym typeface="Arial"/>
              </a:rPr>
              <a:t>PARTNERS MEETING 2026</a:t>
            </a:r>
            <a:endParaRPr sz="1400" b="0" i="0" u="none" strike="noStrike" cap="none">
              <a:solidFill>
                <a:srgbClr val="000000"/>
              </a:solidFill>
              <a:latin typeface="Arial"/>
              <a:ea typeface="Arial"/>
              <a:cs typeface="Arial"/>
              <a:sym typeface="Arial"/>
            </a:endParaRPr>
          </a:p>
        </p:txBody>
      </p:sp>
      <p:sp>
        <p:nvSpPr>
          <p:cNvPr id="151" name="Google Shape;151;g3f54859c7f8_1_8"/>
          <p:cNvSpPr txBox="1"/>
          <p:nvPr/>
        </p:nvSpPr>
        <p:spPr>
          <a:xfrm>
            <a:off x="816285" y="3264065"/>
            <a:ext cx="10607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E8382F"/>
                </a:solidFill>
                <a:latin typeface="Arial"/>
                <a:ea typeface="Arial"/>
                <a:cs typeface="Arial"/>
                <a:sym typeface="Arial"/>
              </a:rPr>
              <a:t>2027年度以降の商機を、いま一緒につくる</a:t>
            </a:r>
            <a:endParaRPr sz="1800" b="0" i="0" u="none" strike="noStrike" cap="none">
              <a:solidFill>
                <a:srgbClr val="000000"/>
              </a:solidFill>
              <a:latin typeface="Arial"/>
              <a:ea typeface="Arial"/>
              <a:cs typeface="Arial"/>
              <a:sym typeface="Arial"/>
            </a:endParaRPr>
          </a:p>
        </p:txBody>
      </p:sp>
      <p:sp>
        <p:nvSpPr>
          <p:cNvPr id="152" name="Google Shape;152;g3f54859c7f8_1_8"/>
          <p:cNvSpPr txBox="1"/>
          <p:nvPr/>
        </p:nvSpPr>
        <p:spPr>
          <a:xfrm>
            <a:off x="822960" y="4892040"/>
            <a:ext cx="10332600" cy="277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800"/>
              <a:buFont typeface="Arial"/>
              <a:buNone/>
            </a:pPr>
            <a:r>
              <a:rPr lang="ja-JP" sz="1800" b="1" i="0" u="none" strike="noStrike" cap="none">
                <a:solidFill>
                  <a:srgbClr val="A9B6D2"/>
                </a:solidFill>
                <a:latin typeface="Arial"/>
                <a:ea typeface="Arial"/>
                <a:cs typeface="Arial"/>
                <a:sym typeface="Arial"/>
              </a:rPr>
              <a:t>2026年7月23日(木)16:00-17:00|ウルサマ イベントステージ</a:t>
            </a:r>
            <a:endParaRPr sz="2000" b="1" i="0" u="none" strike="noStrike" cap="none">
              <a:solidFill>
                <a:srgbClr val="000000"/>
              </a:solidFill>
              <a:latin typeface="Arial"/>
              <a:ea typeface="Arial"/>
              <a:cs typeface="Arial"/>
              <a:sym typeface="Arial"/>
            </a:endParaRPr>
          </a:p>
        </p:txBody>
      </p:sp>
      <p:sp>
        <p:nvSpPr>
          <p:cNvPr id="153" name="Google Shape;153;g3f54859c7f8_1_8"/>
          <p:cNvSpPr txBox="1"/>
          <p:nvPr/>
        </p:nvSpPr>
        <p:spPr>
          <a:xfrm>
            <a:off x="822960" y="5212080"/>
            <a:ext cx="10332600" cy="277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800"/>
              <a:buFont typeface="Arial"/>
              <a:buNone/>
            </a:pPr>
            <a:r>
              <a:rPr lang="ja-JP" sz="1800" b="1" i="0" u="none" strike="noStrike" cap="none">
                <a:solidFill>
                  <a:srgbClr val="A9B6D2"/>
                </a:solidFill>
                <a:latin typeface="Arial"/>
                <a:ea typeface="Arial"/>
                <a:cs typeface="Arial"/>
                <a:sym typeface="Arial"/>
              </a:rPr>
              <a:t>円谷プロダクション</a:t>
            </a:r>
            <a:endParaRPr sz="2000" b="0" i="0" u="none" strike="noStrike" cap="none">
              <a:solidFill>
                <a:srgbClr val="000000"/>
              </a:solidFill>
              <a:latin typeface="Arial"/>
              <a:ea typeface="Arial"/>
              <a:cs typeface="Arial"/>
              <a:sym typeface="Arial"/>
            </a:endParaRPr>
          </a:p>
        </p:txBody>
      </p:sp>
      <p:sp>
        <p:nvSpPr>
          <p:cNvPr id="154" name="Google Shape;154;g3f54859c7f8_1_8"/>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5" name="Google Shape;155;g3f54859c7f8_1_8"/>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6" name="Google Shape;156;g3f54859c7f8_1_8"/>
          <p:cNvSpPr txBox="1"/>
          <p:nvPr/>
        </p:nvSpPr>
        <p:spPr>
          <a:xfrm>
            <a:off x="747720" y="5878369"/>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2027年度以降の売場は、今日ここから始まる。</a:t>
            </a:r>
            <a:endParaRPr sz="2800" b="0" i="0" u="none" strike="noStrike" cap="none">
              <a:solidFill>
                <a:srgbClr val="000000"/>
              </a:solidFill>
              <a:latin typeface="Arial"/>
              <a:ea typeface="Arial"/>
              <a:cs typeface="Arial"/>
              <a:sym typeface="Arial"/>
            </a:endParaRPr>
          </a:p>
        </p:txBody>
      </p:sp>
      <p:pic>
        <p:nvPicPr>
          <p:cNvPr id="157" name="Google Shape;157;g3f54859c7f8_1_8" descr="s01_33_kv.png"/>
          <p:cNvPicPr preferRelativeResize="0"/>
          <p:nvPr/>
        </p:nvPicPr>
        <p:blipFill rotWithShape="1">
          <a:blip r:embed="rId4">
            <a:alphaModFix/>
          </a:blip>
          <a:srcRect/>
          <a:stretch/>
        </p:blipFill>
        <p:spPr>
          <a:xfrm>
            <a:off x="8540496" y="1281844"/>
            <a:ext cx="2926080" cy="4206240"/>
          </a:xfrm>
          <a:prstGeom prst="rect">
            <a:avLst/>
          </a:prstGeom>
          <a:noFill/>
          <a:ln>
            <a:noFill/>
          </a:ln>
        </p:spPr>
      </p:pic>
      <p:sp>
        <p:nvSpPr>
          <p:cNvPr id="158" name="Google Shape;158;g3f54859c7f8_1_8"/>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5</a:t>
            </a:fld>
            <a:endParaRPr/>
          </a:p>
        </p:txBody>
      </p:sp>
      <p:sp>
        <p:nvSpPr>
          <p:cNvPr id="159" name="Google Shape;159;g3f54859c7f8_1_8"/>
          <p:cNvSpPr txBox="1"/>
          <p:nvPr/>
        </p:nvSpPr>
        <p:spPr>
          <a:xfrm>
            <a:off x="502920" y="137160"/>
            <a:ext cx="5943600" cy="274320"/>
          </a:xfrm>
          <a:prstGeom prst="rect">
            <a:avLst/>
          </a:prstGeom>
          <a:noFill/>
          <a:ln>
            <a:noFill/>
          </a:ln>
        </p:spPr>
        <p:txBody>
          <a:bodyPr spcFirstLastPara="1" wrap="square" lIns="91425" tIns="45700" rIns="91425" bIns="45700" anchor="t" anchorCtr="0"/>
          <a:lstStyle/>
          <a:p>
            <a:pPr marL="0" marR="0" lvl="0" indent="0" algn="ctr" rtl="0">
              <a:lnSpc>
                <a:spcPct val="100000"/>
              </a:lnSpc>
              <a:spcBef>
                <a:spcPts val="0"/>
              </a:spcBef>
              <a:spcAft>
                <a:spcPts val="0"/>
              </a:spcAft>
              <a:buClr>
                <a:srgbClr val="000000"/>
              </a:buClr>
              <a:buSzPts val="3200"/>
              <a:buFont typeface="Arial"/>
              <a:buNone/>
            </a:pPr>
            <a:r>
              <a:rPr lang="ja-JP" sz="1100" b="0" i="0" u="none" strike="noStrike" cap="none">
                <a:solidFill>
                  <a:srgbClr val="6A7794"/>
                </a:solidFill>
                <a:latin typeface="Arial"/>
                <a:ea typeface="Arial"/>
                <a:cs typeface="Arial"/>
                <a:sym typeface="Arial"/>
              </a:rPr>
              <a:t>MC登壇</a:t>
            </a:r>
            <a:endParaRPr sz="32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ja-JP" sz="1100" b="0" i="0" u="none" strike="noStrike" cap="none">
                <a:solidFill>
                  <a:srgbClr val="6A7794"/>
                </a:solidFill>
                <a:latin typeface="Arial"/>
                <a:ea typeface="Arial"/>
                <a:cs typeface="Arial"/>
                <a:sym typeface="Arial"/>
              </a:rPr>
              <a:t>南谷さん呼び込み</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79"/>
        <p:cNvGrpSpPr/>
        <p:nvPr/>
      </p:nvGrpSpPr>
      <p:grpSpPr>
        <a:xfrm>
          <a:off x="0" y="0"/>
          <a:ext cx="0" cy="0"/>
          <a:chOff x="0" y="0"/>
          <a:chExt cx="0" cy="0"/>
        </a:xfrm>
      </p:grpSpPr>
      <p:sp>
        <p:nvSpPr>
          <p:cNvPr id="180" name="Google Shape;180;g3f82b020a63_0_1537"/>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02|PURPOSE</a:t>
            </a:r>
            <a:endParaRPr sz="1400" b="0" i="0" u="none" strike="noStrike" cap="none">
              <a:solidFill>
                <a:srgbClr val="000000"/>
              </a:solidFill>
              <a:latin typeface="Arial"/>
              <a:ea typeface="Arial"/>
              <a:cs typeface="Arial"/>
              <a:sym typeface="Arial"/>
            </a:endParaRPr>
          </a:p>
        </p:txBody>
      </p:sp>
      <p:sp>
        <p:nvSpPr>
          <p:cNvPr id="181" name="Google Shape;181;g3f82b020a63_0_1537"/>
          <p:cNvSpPr txBox="1"/>
          <p:nvPr/>
        </p:nvSpPr>
        <p:spPr>
          <a:xfrm>
            <a:off x="502920" y="566928"/>
            <a:ext cx="11430000" cy="54864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3200"/>
              <a:buFont typeface="Arial"/>
              <a:buNone/>
            </a:pPr>
            <a:r>
              <a:rPr lang="ja-JP" sz="2400" b="1" i="0" u="none" strike="noStrike" cap="none">
                <a:solidFill>
                  <a:srgbClr val="F4F7FD"/>
                </a:solidFill>
                <a:latin typeface="Arial"/>
                <a:ea typeface="Arial"/>
                <a:cs typeface="Arial"/>
                <a:sym typeface="Arial"/>
              </a:rPr>
              <a:t>本日は、2027年度以降の商機を共有する場です</a:t>
            </a:r>
            <a:endParaRPr sz="1800" b="0" i="0" u="none" strike="noStrike" cap="none">
              <a:solidFill>
                <a:srgbClr val="000000"/>
              </a:solidFill>
              <a:latin typeface="Arial"/>
              <a:ea typeface="Arial"/>
              <a:cs typeface="Arial"/>
              <a:sym typeface="Arial"/>
            </a:endParaRPr>
          </a:p>
        </p:txBody>
      </p:sp>
      <p:sp>
        <p:nvSpPr>
          <p:cNvPr id="182" name="Google Shape;182;g3f82b020a63_0_1537"/>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3" name="Google Shape;183;g3f82b020a63_0_1537"/>
          <p:cNvSpPr/>
          <p:nvPr/>
        </p:nvSpPr>
        <p:spPr>
          <a:xfrm>
            <a:off x="353432" y="2445041"/>
            <a:ext cx="3668700" cy="29262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①展開を共有</a:t>
            </a:r>
            <a:endParaRPr sz="3600" b="0" i="0" u="none" strike="noStrike" cap="none">
              <a:solidFill>
                <a:schemeClr val="lt1"/>
              </a:solidFill>
              <a:latin typeface="Arial"/>
              <a:ea typeface="Arial"/>
              <a:cs typeface="Arial"/>
              <a:sym typeface="Arial"/>
            </a:endParaRPr>
          </a:p>
        </p:txBody>
      </p:sp>
      <p:sp>
        <p:nvSpPr>
          <p:cNvPr id="184" name="Google Shape;184;g3f82b020a63_0_1537"/>
          <p:cNvSpPr/>
          <p:nvPr/>
        </p:nvSpPr>
        <p:spPr>
          <a:xfrm>
            <a:off x="4229964" y="2445041"/>
            <a:ext cx="3668700" cy="29262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dirty="0">
                <a:solidFill>
                  <a:srgbClr val="F4F7FD"/>
                </a:solidFill>
                <a:latin typeface="Arial"/>
                <a:ea typeface="Arial"/>
                <a:cs typeface="Arial"/>
                <a:sym typeface="Arial"/>
              </a:rPr>
              <a:t>②可能性を</a:t>
            </a:r>
            <a:endParaRPr lang="en-US" altLang="ja-JP" sz="3600" b="1" i="0" u="none" strike="noStrike" cap="none" dirty="0">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dirty="0">
                <a:solidFill>
                  <a:srgbClr val="F4F7FD"/>
                </a:solidFill>
                <a:latin typeface="Arial"/>
                <a:ea typeface="Arial"/>
                <a:cs typeface="Arial"/>
                <a:sym typeface="Arial"/>
              </a:rPr>
              <a:t>提示</a:t>
            </a:r>
            <a:endParaRPr sz="3600" b="0" i="0" u="none" strike="noStrike" cap="none" dirty="0">
              <a:solidFill>
                <a:schemeClr val="lt1"/>
              </a:solidFill>
              <a:latin typeface="Arial"/>
              <a:ea typeface="Arial"/>
              <a:cs typeface="Arial"/>
              <a:sym typeface="Arial"/>
            </a:endParaRPr>
          </a:p>
        </p:txBody>
      </p:sp>
      <p:sp>
        <p:nvSpPr>
          <p:cNvPr id="185" name="Google Shape;185;g3f82b020a63_0_1537"/>
          <p:cNvSpPr/>
          <p:nvPr/>
        </p:nvSpPr>
        <p:spPr>
          <a:xfrm>
            <a:off x="8106520" y="2445041"/>
            <a:ext cx="3668700" cy="2926200"/>
          </a:xfrm>
          <a:prstGeom prst="roundRect">
            <a:avLst>
              <a:gd name="adj" fmla="val 10000"/>
            </a:avLst>
          </a:prstGeom>
          <a:solidFill>
            <a:srgbClr val="A81C18"/>
          </a:solidFill>
          <a:ln>
            <a:noFill/>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③ 商談を開始</a:t>
            </a:r>
            <a:endParaRPr sz="3600" b="0" i="0" u="none" strike="noStrike" cap="none">
              <a:solidFill>
                <a:schemeClr val="lt1"/>
              </a:solidFill>
              <a:latin typeface="Arial"/>
              <a:ea typeface="Arial"/>
              <a:cs typeface="Arial"/>
              <a:sym typeface="Arial"/>
            </a:endParaRPr>
          </a:p>
        </p:txBody>
      </p:sp>
      <p:sp>
        <p:nvSpPr>
          <p:cNvPr id="186" name="Google Shape;186;g3f82b020a63_0_1537"/>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7" name="Google Shape;187;g3f82b020a63_0_1537"/>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8" name="Google Shape;188;g3f82b020a63_0_1537"/>
          <p:cNvSpPr txBox="1"/>
          <p:nvPr/>
        </p:nvSpPr>
        <p:spPr>
          <a:xfrm>
            <a:off x="723901" y="5870439"/>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作品を聞く1時間ではなく、商談が始まる1時間です。</a:t>
            </a:r>
            <a:endParaRPr sz="2800" b="0" i="0" u="none" strike="noStrike" cap="none">
              <a:solidFill>
                <a:schemeClr val="lt1"/>
              </a:solidFill>
              <a:latin typeface="Arial"/>
              <a:ea typeface="Arial"/>
              <a:cs typeface="Arial"/>
              <a:sym typeface="Arial"/>
            </a:endParaRPr>
          </a:p>
        </p:txBody>
      </p:sp>
      <p:sp>
        <p:nvSpPr>
          <p:cNvPr id="189" name="Google Shape;189;g3f82b020a63_0_1537"/>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6</a:t>
            </a:fld>
            <a:endParaRPr/>
          </a:p>
        </p:txBody>
      </p:sp>
      <p:sp>
        <p:nvSpPr>
          <p:cNvPr id="190" name="Google Shape;190;g3f82b020a63_0_1537"/>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dirty="0">
                <a:solidFill>
                  <a:srgbClr val="7FA8E0"/>
                </a:solidFill>
                <a:latin typeface="Arial"/>
                <a:ea typeface="Arial"/>
                <a:cs typeface="Arial"/>
                <a:sym typeface="Arial"/>
              </a:rPr>
              <a:t>「作品を聞く」のではなく、「</a:t>
            </a:r>
            <a:r>
              <a:rPr lang="ja-JP" altLang="en-US" sz="2800" b="1" i="0" u="none" strike="noStrike" cap="none" dirty="0">
                <a:solidFill>
                  <a:srgbClr val="7FA8E0"/>
                </a:solidFill>
                <a:latin typeface="Arial"/>
                <a:ea typeface="Arial"/>
                <a:cs typeface="Arial"/>
                <a:sym typeface="Arial"/>
              </a:rPr>
              <a:t>御社</a:t>
            </a:r>
            <a:r>
              <a:rPr lang="ja-JP" sz="2800" b="1" i="0" u="none" strike="noStrike" cap="none" dirty="0">
                <a:solidFill>
                  <a:srgbClr val="7FA8E0"/>
                </a:solidFill>
                <a:latin typeface="Arial"/>
                <a:ea typeface="Arial"/>
                <a:cs typeface="Arial"/>
                <a:sym typeface="Arial"/>
              </a:rPr>
              <a:t>の商談機会」として</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219"/>
        <p:cNvGrpSpPr/>
        <p:nvPr/>
      </p:nvGrpSpPr>
      <p:grpSpPr>
        <a:xfrm>
          <a:off x="0" y="0"/>
          <a:ext cx="0" cy="0"/>
          <a:chOff x="0" y="0"/>
          <a:chExt cx="0" cy="0"/>
        </a:xfrm>
      </p:grpSpPr>
      <p:sp>
        <p:nvSpPr>
          <p:cNvPr id="220" name="Google Shape;220;g3f82b020a63_1_0"/>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03|WHY ULTRAMAN</a:t>
            </a:r>
            <a:endParaRPr sz="1400" b="0" i="0" u="none" strike="noStrike" cap="none">
              <a:solidFill>
                <a:srgbClr val="000000"/>
              </a:solidFill>
              <a:latin typeface="Arial"/>
              <a:ea typeface="Arial"/>
              <a:cs typeface="Arial"/>
              <a:sym typeface="Arial"/>
            </a:endParaRPr>
          </a:p>
        </p:txBody>
      </p:sp>
      <p:sp>
        <p:nvSpPr>
          <p:cNvPr id="221" name="Google Shape;221;g3f82b020a63_1_0"/>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ウルトラマンは、“人を動かすIP”</a:t>
            </a:r>
            <a:endParaRPr sz="2200" b="0" i="0" u="none" strike="noStrike" cap="none">
              <a:solidFill>
                <a:srgbClr val="000000"/>
              </a:solidFill>
              <a:latin typeface="Arial"/>
              <a:ea typeface="Arial"/>
              <a:cs typeface="Arial"/>
              <a:sym typeface="Arial"/>
            </a:endParaRPr>
          </a:p>
        </p:txBody>
      </p:sp>
      <p:sp>
        <p:nvSpPr>
          <p:cNvPr id="222" name="Google Shape;222;g3f82b020a63_1_0"/>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23" name="Google Shape;223;g3f82b020a63_1_0"/>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ファンの行動が、そのまま売上への動線になる</a:t>
            </a:r>
            <a:endParaRPr sz="2800" b="0" i="0" u="none" strike="noStrike" cap="none">
              <a:solidFill>
                <a:srgbClr val="000000"/>
              </a:solidFill>
              <a:latin typeface="Arial"/>
              <a:ea typeface="Arial"/>
              <a:cs typeface="Arial"/>
              <a:sym typeface="Arial"/>
            </a:endParaRPr>
          </a:p>
        </p:txBody>
      </p:sp>
      <p:sp>
        <p:nvSpPr>
          <p:cNvPr id="224" name="Google Shape;224;g3f82b020a63_1_0"/>
          <p:cNvSpPr/>
          <p:nvPr/>
        </p:nvSpPr>
        <p:spPr>
          <a:xfrm>
            <a:off x="502920" y="2286000"/>
            <a:ext cx="2469000" cy="960000"/>
          </a:xfrm>
          <a:prstGeom prst="roundRect">
            <a:avLst>
              <a:gd name="adj" fmla="val 14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会場に来る</a:t>
            </a:r>
            <a:endParaRPr sz="2300" b="0" i="0" u="none" strike="noStrike" cap="none">
              <a:solidFill>
                <a:srgbClr val="000000"/>
              </a:solidFill>
              <a:latin typeface="Arial"/>
              <a:ea typeface="Arial"/>
              <a:cs typeface="Arial"/>
              <a:sym typeface="Arial"/>
            </a:endParaRPr>
          </a:p>
        </p:txBody>
      </p:sp>
      <p:sp>
        <p:nvSpPr>
          <p:cNvPr id="225" name="Google Shape;225;g3f82b020a63_1_0"/>
          <p:cNvSpPr txBox="1"/>
          <p:nvPr/>
        </p:nvSpPr>
        <p:spPr>
          <a:xfrm>
            <a:off x="2990088" y="2647398"/>
            <a:ext cx="365700" cy="3078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2000"/>
              <a:buFont typeface="Arial"/>
              <a:buNone/>
            </a:pPr>
            <a:r>
              <a:rPr lang="ja-JP" sz="20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26" name="Google Shape;226;g3f82b020a63_1_0"/>
          <p:cNvSpPr/>
          <p:nvPr/>
        </p:nvSpPr>
        <p:spPr>
          <a:xfrm>
            <a:off x="3355848" y="2286000"/>
            <a:ext cx="2469000" cy="960000"/>
          </a:xfrm>
          <a:prstGeom prst="roundRect">
            <a:avLst>
              <a:gd name="adj" fmla="val 14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写真を撮る</a:t>
            </a:r>
            <a:endParaRPr sz="2300" b="0" i="0" u="none" strike="noStrike" cap="none">
              <a:solidFill>
                <a:srgbClr val="000000"/>
              </a:solidFill>
              <a:latin typeface="Arial"/>
              <a:ea typeface="Arial"/>
              <a:cs typeface="Arial"/>
              <a:sym typeface="Arial"/>
            </a:endParaRPr>
          </a:p>
        </p:txBody>
      </p:sp>
      <p:sp>
        <p:nvSpPr>
          <p:cNvPr id="227" name="Google Shape;227;g3f82b020a63_1_0"/>
          <p:cNvSpPr txBox="1"/>
          <p:nvPr/>
        </p:nvSpPr>
        <p:spPr>
          <a:xfrm>
            <a:off x="5843016" y="2647398"/>
            <a:ext cx="365700" cy="3078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2000"/>
              <a:buFont typeface="Arial"/>
              <a:buNone/>
            </a:pPr>
            <a:r>
              <a:rPr lang="ja-JP" sz="20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28" name="Google Shape;228;g3f82b020a63_1_0"/>
          <p:cNvSpPr/>
          <p:nvPr/>
        </p:nvSpPr>
        <p:spPr>
          <a:xfrm>
            <a:off x="6208776" y="2286000"/>
            <a:ext cx="2469000" cy="960000"/>
          </a:xfrm>
          <a:prstGeom prst="roundRect">
            <a:avLst>
              <a:gd name="adj" fmla="val 14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商品を手に取る</a:t>
            </a:r>
            <a:endParaRPr sz="2300" b="0" i="0" u="none" strike="noStrike" cap="none">
              <a:solidFill>
                <a:srgbClr val="000000"/>
              </a:solidFill>
              <a:latin typeface="Arial"/>
              <a:ea typeface="Arial"/>
              <a:cs typeface="Arial"/>
              <a:sym typeface="Arial"/>
            </a:endParaRPr>
          </a:p>
        </p:txBody>
      </p:sp>
      <p:sp>
        <p:nvSpPr>
          <p:cNvPr id="229" name="Google Shape;229;g3f82b020a63_1_0"/>
          <p:cNvSpPr txBox="1"/>
          <p:nvPr/>
        </p:nvSpPr>
        <p:spPr>
          <a:xfrm>
            <a:off x="8695944" y="2647398"/>
            <a:ext cx="365700" cy="3078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2000"/>
              <a:buFont typeface="Arial"/>
              <a:buNone/>
            </a:pPr>
            <a:r>
              <a:rPr lang="ja-JP" sz="20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30" name="Google Shape;230;g3f82b020a63_1_0"/>
          <p:cNvSpPr/>
          <p:nvPr/>
        </p:nvSpPr>
        <p:spPr>
          <a:xfrm>
            <a:off x="9061704" y="2286000"/>
            <a:ext cx="2469000" cy="960000"/>
          </a:xfrm>
          <a:prstGeom prst="roundRect">
            <a:avLst>
              <a:gd name="adj" fmla="val 14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誰かに共有する</a:t>
            </a:r>
            <a:endParaRPr sz="2300" b="0" i="0" u="none" strike="noStrike" cap="none">
              <a:solidFill>
                <a:srgbClr val="000000"/>
              </a:solidFill>
              <a:latin typeface="Arial"/>
              <a:ea typeface="Arial"/>
              <a:cs typeface="Arial"/>
              <a:sym typeface="Arial"/>
            </a:endParaRPr>
          </a:p>
        </p:txBody>
      </p:sp>
      <p:sp>
        <p:nvSpPr>
          <p:cNvPr id="231" name="Google Shape;231;g3f82b020a63_1_0"/>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2" name="Google Shape;232;g3f82b020a63_1_0"/>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3" name="Google Shape;233;g3f82b020a63_1_0"/>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この熱量を、商品・売場・キャンペーンへ。</a:t>
            </a:r>
            <a:endParaRPr sz="2800" b="0" i="0" u="none" strike="noStrike" cap="none">
              <a:solidFill>
                <a:srgbClr val="000000"/>
              </a:solidFill>
              <a:latin typeface="Arial"/>
              <a:ea typeface="Arial"/>
              <a:cs typeface="Arial"/>
              <a:sym typeface="Arial"/>
            </a:endParaRPr>
          </a:p>
        </p:txBody>
      </p:sp>
      <p:sp>
        <p:nvSpPr>
          <p:cNvPr id="234" name="Google Shape;234;g3f82b020a63_1_0"/>
          <p:cNvSpPr/>
          <p:nvPr/>
        </p:nvSpPr>
        <p:spPr>
          <a:xfrm>
            <a:off x="7269480" y="3611880"/>
            <a:ext cx="2145900" cy="2011800"/>
          </a:xfrm>
          <a:prstGeom prst="roundRect">
            <a:avLst>
              <a:gd name="adj" fmla="val 1200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誰かに共有する</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pic>
        <p:nvPicPr>
          <p:cNvPr id="235" name="Google Shape;235;g3f82b020a63_1_0" descr="s03_02_shoot.png"/>
          <p:cNvPicPr preferRelativeResize="0"/>
          <p:nvPr/>
        </p:nvPicPr>
        <p:blipFill rotWithShape="1">
          <a:blip r:embed="rId3">
            <a:alphaModFix/>
          </a:blip>
          <a:srcRect/>
          <a:stretch/>
        </p:blipFill>
        <p:spPr>
          <a:xfrm>
            <a:off x="2758440" y="3611880"/>
            <a:ext cx="2145791" cy="2011680"/>
          </a:xfrm>
          <a:prstGeom prst="rect">
            <a:avLst/>
          </a:prstGeom>
          <a:noFill/>
          <a:ln>
            <a:noFill/>
          </a:ln>
        </p:spPr>
      </p:pic>
      <p:pic>
        <p:nvPicPr>
          <p:cNvPr id="236" name="Google Shape;236;g3f82b020a63_1_0" descr="s03_03_pickup.png"/>
          <p:cNvPicPr preferRelativeResize="0"/>
          <p:nvPr/>
        </p:nvPicPr>
        <p:blipFill rotWithShape="1">
          <a:blip r:embed="rId4">
            <a:alphaModFix/>
          </a:blip>
          <a:srcRect/>
          <a:stretch/>
        </p:blipFill>
        <p:spPr>
          <a:xfrm>
            <a:off x="5013960" y="3611880"/>
            <a:ext cx="2145791" cy="2011680"/>
          </a:xfrm>
          <a:prstGeom prst="rect">
            <a:avLst/>
          </a:prstGeom>
          <a:noFill/>
          <a:ln>
            <a:noFill/>
          </a:ln>
        </p:spPr>
      </p:pic>
      <p:pic>
        <p:nvPicPr>
          <p:cNvPr id="237" name="Google Shape;237;g3f82b020a63_1_0" descr="s03_05_greeting.png"/>
          <p:cNvPicPr preferRelativeResize="0"/>
          <p:nvPr/>
        </p:nvPicPr>
        <p:blipFill rotWithShape="1">
          <a:blip r:embed="rId5">
            <a:alphaModFix/>
          </a:blip>
          <a:srcRect/>
          <a:stretch/>
        </p:blipFill>
        <p:spPr>
          <a:xfrm>
            <a:off x="9525000" y="3611880"/>
            <a:ext cx="2145791" cy="2011680"/>
          </a:xfrm>
          <a:prstGeom prst="rect">
            <a:avLst/>
          </a:prstGeom>
          <a:noFill/>
          <a:ln>
            <a:noFill/>
          </a:ln>
        </p:spPr>
      </p:pic>
      <p:pic>
        <p:nvPicPr>
          <p:cNvPr id="238" name="Google Shape;238;g3f82b020a63_1_0"/>
          <p:cNvPicPr preferRelativeResize="0"/>
          <p:nvPr/>
        </p:nvPicPr>
        <p:blipFill rotWithShape="1">
          <a:blip r:embed="rId6">
            <a:alphaModFix/>
          </a:blip>
          <a:srcRect l="21082" r="23142"/>
          <a:stretch/>
        </p:blipFill>
        <p:spPr>
          <a:xfrm>
            <a:off x="7263921" y="3528947"/>
            <a:ext cx="2145791" cy="2100163"/>
          </a:xfrm>
          <a:prstGeom prst="rect">
            <a:avLst/>
          </a:prstGeom>
          <a:noFill/>
          <a:ln>
            <a:noFill/>
          </a:ln>
        </p:spPr>
      </p:pic>
      <p:pic>
        <p:nvPicPr>
          <p:cNvPr id="239" name="Google Shape;239;g3f82b020a63_1_0"/>
          <p:cNvPicPr preferRelativeResize="0"/>
          <p:nvPr/>
        </p:nvPicPr>
        <p:blipFill rotWithShape="1">
          <a:blip r:embed="rId7">
            <a:alphaModFix/>
          </a:blip>
          <a:srcRect l="18571" t="1681" r="26223" b="1681"/>
          <a:stretch/>
        </p:blipFill>
        <p:spPr>
          <a:xfrm>
            <a:off x="722371" y="3567700"/>
            <a:ext cx="1800131" cy="21001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000714"/>
        </a:solidFill>
        <a:effectLst/>
      </p:bgPr>
    </p:bg>
    <p:spTree>
      <p:nvGrpSpPr>
        <p:cNvPr id="1" name="Shape 251"/>
        <p:cNvGrpSpPr/>
        <p:nvPr/>
      </p:nvGrpSpPr>
      <p:grpSpPr>
        <a:xfrm>
          <a:off x="0" y="0"/>
          <a:ext cx="0" cy="0"/>
          <a:chOff x="0" y="0"/>
          <a:chExt cx="0" cy="0"/>
        </a:xfrm>
      </p:grpSpPr>
      <p:sp>
        <p:nvSpPr>
          <p:cNvPr id="252" name="Google Shape;252;p1"/>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03|WHY ULTRAMAN</a:t>
            </a:r>
            <a:endParaRPr sz="1400" b="0" i="0" u="none" strike="noStrike" cap="none">
              <a:solidFill>
                <a:srgbClr val="000000"/>
              </a:solidFill>
              <a:latin typeface="Arial"/>
              <a:ea typeface="Arial"/>
              <a:cs typeface="Arial"/>
              <a:sym typeface="Arial"/>
            </a:endParaRPr>
          </a:p>
        </p:txBody>
      </p:sp>
      <p:sp>
        <p:nvSpPr>
          <p:cNvPr id="253" name="Google Shape;253;p1"/>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近年のファンベースの広がり</a:t>
            </a:r>
            <a:endParaRPr sz="2200" b="0" i="0" u="none" strike="noStrike" cap="none">
              <a:solidFill>
                <a:srgbClr val="000000"/>
              </a:solidFill>
              <a:latin typeface="Arial"/>
              <a:ea typeface="Arial"/>
              <a:cs typeface="Arial"/>
              <a:sym typeface="Arial"/>
            </a:endParaRPr>
          </a:p>
        </p:txBody>
      </p:sp>
      <p:sp>
        <p:nvSpPr>
          <p:cNvPr id="254" name="Google Shape;254;p1"/>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5" name="Google Shape;255;p1"/>
          <p:cNvSpPr txBox="1"/>
          <p:nvPr/>
        </p:nvSpPr>
        <p:spPr>
          <a:xfrm>
            <a:off x="504450" y="15798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極地的な男児・コアファンのみに支持されているIPではない</a:t>
            </a:r>
            <a:endParaRPr sz="2800" b="0" i="0" u="none" strike="noStrike" cap="none">
              <a:solidFill>
                <a:srgbClr val="7FA8E0"/>
              </a:solidFill>
              <a:latin typeface="Arial"/>
              <a:ea typeface="Arial"/>
              <a:cs typeface="Arial"/>
              <a:sym typeface="Arial"/>
            </a:endParaRPr>
          </a:p>
        </p:txBody>
      </p:sp>
      <p:sp>
        <p:nvSpPr>
          <p:cNvPr id="256" name="Google Shape;256;p1"/>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7" name="Google Shape;257;p1"/>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8" name="Google Shape;258;p1"/>
          <p:cNvSpPr txBox="1"/>
          <p:nvPr/>
        </p:nvSpPr>
        <p:spPr>
          <a:xfrm>
            <a:off x="682332" y="5882012"/>
            <a:ext cx="10744200" cy="52318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親子三世代、男女を狙える日本発グローバルヒーロー</a:t>
            </a:r>
            <a:endParaRPr sz="2800" b="0" i="0" u="none" strike="noStrike" cap="none">
              <a:solidFill>
                <a:srgbClr val="000000"/>
              </a:solidFill>
              <a:latin typeface="Arial"/>
              <a:ea typeface="Arial"/>
              <a:cs typeface="Arial"/>
              <a:sym typeface="Arial"/>
            </a:endParaRPr>
          </a:p>
        </p:txBody>
      </p:sp>
      <p:pic>
        <p:nvPicPr>
          <p:cNvPr id="259" name="Google Shape;259;p1" descr="image.png"/>
          <p:cNvPicPr preferRelativeResize="0"/>
          <p:nvPr/>
        </p:nvPicPr>
        <p:blipFill rotWithShape="1">
          <a:blip r:embed="rId3">
            <a:alphaModFix/>
          </a:blip>
          <a:srcRect/>
          <a:stretch/>
        </p:blipFill>
        <p:spPr>
          <a:xfrm>
            <a:off x="502920" y="2610913"/>
            <a:ext cx="3587650" cy="2945393"/>
          </a:xfrm>
          <a:prstGeom prst="rect">
            <a:avLst/>
          </a:prstGeom>
          <a:noFill/>
          <a:ln>
            <a:noFill/>
          </a:ln>
        </p:spPr>
      </p:pic>
      <p:pic>
        <p:nvPicPr>
          <p:cNvPr id="260" name="Google Shape;260;p1" descr="image.png"/>
          <p:cNvPicPr preferRelativeResize="0"/>
          <p:nvPr/>
        </p:nvPicPr>
        <p:blipFill rotWithShape="1">
          <a:blip r:embed="rId4">
            <a:alphaModFix/>
          </a:blip>
          <a:srcRect/>
          <a:stretch/>
        </p:blipFill>
        <p:spPr>
          <a:xfrm>
            <a:off x="4290744" y="2651414"/>
            <a:ext cx="3587799" cy="2904892"/>
          </a:xfrm>
          <a:prstGeom prst="rect">
            <a:avLst/>
          </a:prstGeom>
          <a:noFill/>
          <a:ln>
            <a:noFill/>
          </a:ln>
        </p:spPr>
      </p:pic>
      <p:pic>
        <p:nvPicPr>
          <p:cNvPr id="261" name="Google Shape;261;p1" descr="image.png"/>
          <p:cNvPicPr preferRelativeResize="0"/>
          <p:nvPr/>
        </p:nvPicPr>
        <p:blipFill rotWithShape="1">
          <a:blip r:embed="rId3">
            <a:alphaModFix/>
          </a:blip>
          <a:srcRect/>
          <a:stretch/>
        </p:blipFill>
        <p:spPr>
          <a:xfrm>
            <a:off x="8069044" y="2651413"/>
            <a:ext cx="3587650" cy="2904892"/>
          </a:xfrm>
          <a:prstGeom prst="rect">
            <a:avLst/>
          </a:prstGeom>
          <a:noFill/>
          <a:ln>
            <a:noFill/>
          </a:ln>
        </p:spPr>
      </p:pic>
      <p:sp>
        <p:nvSpPr>
          <p:cNvPr id="262" name="Google Shape;262;p1"/>
          <p:cNvSpPr/>
          <p:nvPr/>
        </p:nvSpPr>
        <p:spPr>
          <a:xfrm>
            <a:off x="731636" y="5799010"/>
            <a:ext cx="3187600" cy="9525"/>
          </a:xfrm>
          <a:prstGeom prst="rect">
            <a:avLst/>
          </a:prstGeom>
          <a:solidFill>
            <a:srgbClr val="1118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3" name="Google Shape;263;p1"/>
          <p:cNvSpPr/>
          <p:nvPr/>
        </p:nvSpPr>
        <p:spPr>
          <a:xfrm>
            <a:off x="4481095" y="5480562"/>
            <a:ext cx="3187749" cy="9525"/>
          </a:xfrm>
          <a:prstGeom prst="rect">
            <a:avLst/>
          </a:prstGeom>
          <a:solidFill>
            <a:srgbClr val="1118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1"/>
          <p:cNvSpPr/>
          <p:nvPr/>
        </p:nvSpPr>
        <p:spPr>
          <a:xfrm>
            <a:off x="8259395" y="5480562"/>
            <a:ext cx="3187600" cy="9525"/>
          </a:xfrm>
          <a:prstGeom prst="rect">
            <a:avLst/>
          </a:prstGeom>
          <a:solidFill>
            <a:srgbClr val="1118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5" name="Google Shape;265;p1"/>
          <p:cNvSpPr txBox="1"/>
          <p:nvPr/>
        </p:nvSpPr>
        <p:spPr>
          <a:xfrm>
            <a:off x="575635" y="2843285"/>
            <a:ext cx="3587650"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FFFFFF"/>
                </a:solidFill>
                <a:latin typeface="Noto Sans JP"/>
                <a:ea typeface="Noto Sans JP"/>
                <a:cs typeface="Noto Sans JP"/>
                <a:sym typeface="Noto Sans JP"/>
              </a:rPr>
              <a:t>認知率全世代平均 90%超</a:t>
            </a:r>
            <a:endParaRPr sz="2400" b="0" i="0" u="none" strike="noStrike" cap="none">
              <a:solidFill>
                <a:srgbClr val="000000"/>
              </a:solidFill>
              <a:latin typeface="Arial"/>
              <a:ea typeface="Arial"/>
              <a:cs typeface="Arial"/>
              <a:sym typeface="Arial"/>
            </a:endParaRPr>
          </a:p>
        </p:txBody>
      </p:sp>
      <p:sp>
        <p:nvSpPr>
          <p:cNvPr id="266" name="Google Shape;266;p1"/>
          <p:cNvSpPr txBox="1"/>
          <p:nvPr/>
        </p:nvSpPr>
        <p:spPr>
          <a:xfrm>
            <a:off x="4372984" y="2793700"/>
            <a:ext cx="3486888"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altLang="en-US" sz="2400" b="1" dirty="0">
                <a:solidFill>
                  <a:srgbClr val="FFFFFF"/>
                </a:solidFill>
                <a:latin typeface="Noto Sans JP"/>
                <a:ea typeface="Noto Sans JP"/>
                <a:sym typeface="Noto Sans JP"/>
              </a:rPr>
              <a:t>女性ファンの広がり</a:t>
            </a:r>
            <a:endParaRPr dirty="0"/>
          </a:p>
        </p:txBody>
      </p:sp>
      <p:sp>
        <p:nvSpPr>
          <p:cNvPr id="267" name="Google Shape;267;p1"/>
          <p:cNvSpPr txBox="1"/>
          <p:nvPr/>
        </p:nvSpPr>
        <p:spPr>
          <a:xfrm>
            <a:off x="720697" y="3806651"/>
            <a:ext cx="3598737"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D1D5DB"/>
                </a:solidFill>
                <a:latin typeface="Arial"/>
                <a:ea typeface="Arial"/>
                <a:cs typeface="Arial"/>
                <a:sym typeface="Arial"/>
              </a:rPr>
              <a:t>男性平均（11-60代） 90.6%</a:t>
            </a:r>
            <a:endParaRPr sz="4000" b="0" i="0" u="none" strike="noStrike" cap="none">
              <a:solidFill>
                <a:srgbClr val="000000"/>
              </a:solidFill>
              <a:latin typeface="Arial"/>
              <a:ea typeface="Arial"/>
              <a:cs typeface="Arial"/>
              <a:sym typeface="Arial"/>
            </a:endParaRPr>
          </a:p>
        </p:txBody>
      </p:sp>
      <p:sp>
        <p:nvSpPr>
          <p:cNvPr id="268" name="Google Shape;268;p1"/>
          <p:cNvSpPr/>
          <p:nvPr/>
        </p:nvSpPr>
        <p:spPr>
          <a:xfrm>
            <a:off x="741310" y="4220945"/>
            <a:ext cx="3241116" cy="316097"/>
          </a:xfrm>
          <a:prstGeom prst="rect">
            <a:avLst/>
          </a:prstGeom>
          <a:solidFill>
            <a:srgbClr val="7FA8E0">
              <a:alpha val="2705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69" name="Google Shape;269;p1"/>
          <p:cNvSpPr/>
          <p:nvPr/>
        </p:nvSpPr>
        <p:spPr>
          <a:xfrm>
            <a:off x="760810" y="4222443"/>
            <a:ext cx="2851096" cy="316097"/>
          </a:xfrm>
          <a:prstGeom prst="rect">
            <a:avLst/>
          </a:prstGeom>
          <a:solidFill>
            <a:srgbClr val="7FA8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0" name="Google Shape;270;p1"/>
          <p:cNvSpPr txBox="1"/>
          <p:nvPr/>
        </p:nvSpPr>
        <p:spPr>
          <a:xfrm>
            <a:off x="710392" y="4750331"/>
            <a:ext cx="3598737"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D1D5DB"/>
                </a:solidFill>
                <a:latin typeface="Arial"/>
                <a:ea typeface="Arial"/>
                <a:cs typeface="Arial"/>
                <a:sym typeface="Arial"/>
              </a:rPr>
              <a:t>女性平均（11-60代） 89.6%</a:t>
            </a:r>
            <a:endParaRPr sz="4000" b="0" i="0" u="none" strike="noStrike" cap="none">
              <a:solidFill>
                <a:srgbClr val="000000"/>
              </a:solidFill>
              <a:latin typeface="Arial"/>
              <a:ea typeface="Arial"/>
              <a:cs typeface="Arial"/>
              <a:sym typeface="Arial"/>
            </a:endParaRPr>
          </a:p>
        </p:txBody>
      </p:sp>
      <p:sp>
        <p:nvSpPr>
          <p:cNvPr id="271" name="Google Shape;271;p1"/>
          <p:cNvSpPr/>
          <p:nvPr/>
        </p:nvSpPr>
        <p:spPr>
          <a:xfrm>
            <a:off x="760741" y="5064132"/>
            <a:ext cx="3241116" cy="316097"/>
          </a:xfrm>
          <a:prstGeom prst="rect">
            <a:avLst/>
          </a:prstGeom>
          <a:solidFill>
            <a:srgbClr val="7FA8E0">
              <a:alpha val="2705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2" name="Google Shape;272;p1"/>
          <p:cNvSpPr/>
          <p:nvPr/>
        </p:nvSpPr>
        <p:spPr>
          <a:xfrm>
            <a:off x="780241" y="5065630"/>
            <a:ext cx="2738743" cy="316097"/>
          </a:xfrm>
          <a:prstGeom prst="rect">
            <a:avLst/>
          </a:prstGeom>
          <a:solidFill>
            <a:srgbClr val="E6001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3" name="Google Shape;273;p1"/>
          <p:cNvSpPr txBox="1"/>
          <p:nvPr/>
        </p:nvSpPr>
        <p:spPr>
          <a:xfrm>
            <a:off x="8109751" y="2781334"/>
            <a:ext cx="3486888"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FFFFFF"/>
                </a:solidFill>
                <a:latin typeface="Noto Sans JP"/>
                <a:ea typeface="Noto Sans JP"/>
                <a:cs typeface="Noto Sans JP"/>
                <a:sym typeface="Noto Sans JP"/>
              </a:rPr>
              <a:t>グローバル人気の拡大</a:t>
            </a:r>
            <a:endParaRPr sz="2400" b="0" i="0" u="none" strike="noStrike" cap="none">
              <a:solidFill>
                <a:srgbClr val="000000"/>
              </a:solidFill>
              <a:latin typeface="Arial"/>
              <a:ea typeface="Arial"/>
              <a:cs typeface="Arial"/>
              <a:sym typeface="Arial"/>
            </a:endParaRPr>
          </a:p>
        </p:txBody>
      </p:sp>
      <p:pic>
        <p:nvPicPr>
          <p:cNvPr id="274" name="Google Shape;274;p1"/>
          <p:cNvPicPr preferRelativeResize="0"/>
          <p:nvPr/>
        </p:nvPicPr>
        <p:blipFill>
          <a:blip r:embed="rId5">
            <a:alphaModFix/>
          </a:blip>
          <a:stretch>
            <a:fillRect/>
          </a:stretch>
        </p:blipFill>
        <p:spPr>
          <a:xfrm>
            <a:off x="8242325" y="3679588"/>
            <a:ext cx="3241100" cy="1555246"/>
          </a:xfrm>
          <a:prstGeom prst="rect">
            <a:avLst/>
          </a:prstGeom>
          <a:noFill/>
          <a:ln>
            <a:noFill/>
          </a:ln>
        </p:spPr>
      </p:pic>
      <p:sp>
        <p:nvSpPr>
          <p:cNvPr id="275" name="Google Shape;275;p1"/>
          <p:cNvSpPr/>
          <p:nvPr/>
        </p:nvSpPr>
        <p:spPr>
          <a:xfrm>
            <a:off x="4449500" y="4207575"/>
            <a:ext cx="2074500" cy="316200"/>
          </a:xfrm>
          <a:prstGeom prst="rect">
            <a:avLst/>
          </a:prstGeom>
          <a:solidFill>
            <a:srgbClr val="7FA8E0">
              <a:alpha val="270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6" name="Google Shape;276;p1"/>
          <p:cNvSpPr/>
          <p:nvPr/>
        </p:nvSpPr>
        <p:spPr>
          <a:xfrm>
            <a:off x="4469000" y="4209075"/>
            <a:ext cx="1692000" cy="316200"/>
          </a:xfrm>
          <a:prstGeom prst="rect">
            <a:avLst/>
          </a:prstGeom>
          <a:solidFill>
            <a:srgbClr val="7FA8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7" name="Google Shape;277;p1"/>
          <p:cNvSpPr/>
          <p:nvPr/>
        </p:nvSpPr>
        <p:spPr>
          <a:xfrm>
            <a:off x="4468929" y="5050757"/>
            <a:ext cx="3241200" cy="316200"/>
          </a:xfrm>
          <a:prstGeom prst="rect">
            <a:avLst/>
          </a:prstGeom>
          <a:solidFill>
            <a:srgbClr val="7FA8E0">
              <a:alpha val="270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8" name="Google Shape;278;p1"/>
          <p:cNvSpPr/>
          <p:nvPr/>
        </p:nvSpPr>
        <p:spPr>
          <a:xfrm>
            <a:off x="6466300" y="5056455"/>
            <a:ext cx="1243800" cy="316200"/>
          </a:xfrm>
          <a:prstGeom prst="rect">
            <a:avLst/>
          </a:prstGeom>
          <a:solidFill>
            <a:srgbClr val="E6001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9" name="Google Shape;279;p1"/>
          <p:cNvSpPr/>
          <p:nvPr/>
        </p:nvSpPr>
        <p:spPr>
          <a:xfrm>
            <a:off x="6160975" y="4208444"/>
            <a:ext cx="363000" cy="316200"/>
          </a:xfrm>
          <a:prstGeom prst="rect">
            <a:avLst/>
          </a:prstGeom>
          <a:solidFill>
            <a:srgbClr val="E6001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0" name="Google Shape;280;p1"/>
          <p:cNvSpPr/>
          <p:nvPr/>
        </p:nvSpPr>
        <p:spPr>
          <a:xfrm>
            <a:off x="4469000" y="5056200"/>
            <a:ext cx="1997400" cy="316200"/>
          </a:xfrm>
          <a:prstGeom prst="rect">
            <a:avLst/>
          </a:prstGeom>
          <a:solidFill>
            <a:srgbClr val="7FA8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281" name="Google Shape;281;p1"/>
          <p:cNvCxnSpPr/>
          <p:nvPr/>
        </p:nvCxnSpPr>
        <p:spPr>
          <a:xfrm>
            <a:off x="6162275" y="4521525"/>
            <a:ext cx="304200" cy="532800"/>
          </a:xfrm>
          <a:prstGeom prst="straightConnector1">
            <a:avLst/>
          </a:prstGeom>
          <a:noFill/>
          <a:ln w="9525" cap="flat" cmpd="sng">
            <a:solidFill>
              <a:schemeClr val="lt1"/>
            </a:solidFill>
            <a:prstDash val="solid"/>
            <a:round/>
            <a:headEnd type="none" w="med" len="med"/>
            <a:tailEnd type="none" w="med" len="med"/>
          </a:ln>
        </p:spPr>
      </p:cxnSp>
      <p:cxnSp>
        <p:nvCxnSpPr>
          <p:cNvPr id="282" name="Google Shape;282;p1"/>
          <p:cNvCxnSpPr/>
          <p:nvPr/>
        </p:nvCxnSpPr>
        <p:spPr>
          <a:xfrm>
            <a:off x="6521075" y="4518250"/>
            <a:ext cx="1188600" cy="538200"/>
          </a:xfrm>
          <a:prstGeom prst="straightConnector1">
            <a:avLst/>
          </a:prstGeom>
          <a:noFill/>
          <a:ln w="9525" cap="flat" cmpd="sng">
            <a:solidFill>
              <a:schemeClr val="lt1"/>
            </a:solidFill>
            <a:prstDash val="solid"/>
            <a:round/>
            <a:headEnd type="none" w="med" len="med"/>
            <a:tailEnd type="none" w="med" len="med"/>
          </a:ln>
        </p:spPr>
      </p:cxnSp>
      <p:sp>
        <p:nvSpPr>
          <p:cNvPr id="283" name="Google Shape;283;p1"/>
          <p:cNvSpPr txBox="1"/>
          <p:nvPr/>
        </p:nvSpPr>
        <p:spPr>
          <a:xfrm>
            <a:off x="6093525" y="4147050"/>
            <a:ext cx="10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b="1">
                <a:solidFill>
                  <a:srgbClr val="FFFFFF"/>
                </a:solidFill>
                <a:latin typeface="Meiryo"/>
                <a:ea typeface="Meiryo"/>
                <a:cs typeface="Meiryo"/>
                <a:sym typeface="Meiryo"/>
              </a:rPr>
              <a:t>女性16%</a:t>
            </a:r>
            <a:endParaRPr/>
          </a:p>
        </p:txBody>
      </p:sp>
      <p:sp>
        <p:nvSpPr>
          <p:cNvPr id="284" name="Google Shape;284;p1"/>
          <p:cNvSpPr txBox="1"/>
          <p:nvPr/>
        </p:nvSpPr>
        <p:spPr>
          <a:xfrm>
            <a:off x="4839075" y="4147050"/>
            <a:ext cx="10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b="1">
                <a:solidFill>
                  <a:srgbClr val="FFFFFF"/>
                </a:solidFill>
                <a:latin typeface="Meiryo"/>
                <a:ea typeface="Meiryo"/>
                <a:cs typeface="Meiryo"/>
                <a:sym typeface="Meiryo"/>
              </a:rPr>
              <a:t>男性84%</a:t>
            </a:r>
            <a:endParaRPr/>
          </a:p>
        </p:txBody>
      </p:sp>
      <p:sp>
        <p:nvSpPr>
          <p:cNvPr id="285" name="Google Shape;285;p1"/>
          <p:cNvSpPr txBox="1"/>
          <p:nvPr/>
        </p:nvSpPr>
        <p:spPr>
          <a:xfrm>
            <a:off x="4947725" y="5014525"/>
            <a:ext cx="10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b="1">
                <a:solidFill>
                  <a:srgbClr val="FFFFFF"/>
                </a:solidFill>
                <a:latin typeface="Meiryo"/>
                <a:ea typeface="Meiryo"/>
                <a:cs typeface="Meiryo"/>
                <a:sym typeface="Meiryo"/>
              </a:rPr>
              <a:t>男性57%</a:t>
            </a:r>
            <a:endParaRPr/>
          </a:p>
        </p:txBody>
      </p:sp>
      <p:sp>
        <p:nvSpPr>
          <p:cNvPr id="286" name="Google Shape;286;p1"/>
          <p:cNvSpPr txBox="1"/>
          <p:nvPr/>
        </p:nvSpPr>
        <p:spPr>
          <a:xfrm>
            <a:off x="6595025" y="5008750"/>
            <a:ext cx="104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b="1">
                <a:solidFill>
                  <a:srgbClr val="FFFFFF"/>
                </a:solidFill>
                <a:latin typeface="Meiryo"/>
                <a:ea typeface="Meiryo"/>
                <a:cs typeface="Meiryo"/>
                <a:sym typeface="Meiryo"/>
              </a:rPr>
              <a:t>女性43%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290"/>
        <p:cNvGrpSpPr/>
        <p:nvPr/>
      </p:nvGrpSpPr>
      <p:grpSpPr>
        <a:xfrm>
          <a:off x="0" y="0"/>
          <a:ext cx="0" cy="0"/>
          <a:chOff x="0" y="0"/>
          <a:chExt cx="0" cy="0"/>
        </a:xfrm>
      </p:grpSpPr>
      <p:sp>
        <p:nvSpPr>
          <p:cNvPr id="291" name="Google Shape;291;g3f82b020a63_2_87"/>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9</a:t>
            </a:fld>
            <a:endParaRPr/>
          </a:p>
        </p:txBody>
      </p:sp>
      <p:sp>
        <p:nvSpPr>
          <p:cNvPr id="292" name="Google Shape;292;g3f82b020a63_2_87"/>
          <p:cNvSpPr txBox="1"/>
          <p:nvPr/>
        </p:nvSpPr>
        <p:spPr>
          <a:xfrm>
            <a:off x="1527048" y="3246120"/>
            <a:ext cx="9144000" cy="640080"/>
          </a:xfrm>
          <a:prstGeom prst="rect">
            <a:avLst/>
          </a:prstGeom>
          <a:noFill/>
          <a:ln>
            <a:noFill/>
          </a:ln>
        </p:spPr>
        <p:txBody>
          <a:bodyPr spcFirstLastPara="1" wrap="square" lIns="91425" tIns="45700" rIns="91425" bIns="45700" anchor="t" anchorCtr="0"/>
          <a:lstStyle/>
          <a:p>
            <a:pPr marL="0" marR="0" lvl="0" indent="0" algn="ctr" rtl="0">
              <a:lnSpc>
                <a:spcPct val="100000"/>
              </a:lnSpc>
              <a:spcBef>
                <a:spcPts val="0"/>
              </a:spcBef>
              <a:spcAft>
                <a:spcPts val="0"/>
              </a:spcAft>
              <a:buClr>
                <a:srgbClr val="000000"/>
              </a:buClr>
              <a:buSzPts val="3200"/>
              <a:buFont typeface="Arial"/>
              <a:buNone/>
            </a:pPr>
            <a:r>
              <a:rPr lang="ja-JP" sz="2000" b="0" i="0" u="none" strike="noStrike" cap="none">
                <a:solidFill>
                  <a:srgbClr val="A9B6D2"/>
                </a:solidFill>
                <a:latin typeface="Arial"/>
                <a:ea typeface="Arial"/>
                <a:cs typeface="Arial"/>
                <a:sym typeface="Arial"/>
              </a:rPr>
              <a:t>60周年振り返りPV</a:t>
            </a:r>
            <a:endParaRPr sz="1400" b="0" i="0" u="none" strike="noStrike" cap="none">
              <a:solidFill>
                <a:srgbClr val="000000"/>
              </a:solidFill>
              <a:latin typeface="Arial"/>
              <a:ea typeface="Arial"/>
              <a:cs typeface="Arial"/>
              <a:sym typeface="Arial"/>
            </a:endParaRPr>
          </a:p>
        </p:txBody>
      </p:sp>
      <p:sp>
        <p:nvSpPr>
          <p:cNvPr id="293" name="Isosceles Triangle 292"/>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325"/>
        <p:cNvGrpSpPr/>
        <p:nvPr/>
      </p:nvGrpSpPr>
      <p:grpSpPr>
        <a:xfrm>
          <a:off x="0" y="0"/>
          <a:ext cx="0" cy="0"/>
          <a:chOff x="0" y="0"/>
          <a:chExt cx="0" cy="0"/>
        </a:xfrm>
      </p:grpSpPr>
      <p:sp>
        <p:nvSpPr>
          <p:cNvPr id="326" name="Google Shape;326;g3f82b020a63_1_23"/>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04|MOMENTUM</a:t>
            </a:r>
            <a:endParaRPr sz="1400" b="0" i="0" u="none" strike="noStrike" cap="none">
              <a:solidFill>
                <a:srgbClr val="000000"/>
              </a:solidFill>
              <a:latin typeface="Arial"/>
              <a:ea typeface="Arial"/>
              <a:cs typeface="Arial"/>
              <a:sym typeface="Arial"/>
            </a:endParaRPr>
          </a:p>
        </p:txBody>
      </p:sp>
      <p:sp>
        <p:nvSpPr>
          <p:cNvPr id="327" name="Google Shape;327;g3f82b020a63_1_23"/>
          <p:cNvSpPr txBox="1"/>
          <p:nvPr/>
        </p:nvSpPr>
        <p:spPr>
          <a:xfrm>
            <a:off x="502920" y="566928"/>
            <a:ext cx="8732400" cy="562911"/>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100"/>
              <a:buFont typeface="Arial"/>
              <a:buNone/>
            </a:pPr>
            <a:r>
              <a:rPr lang="ja-JP" sz="3100" b="1" i="0" u="none" strike="noStrike" cap="none">
                <a:solidFill>
                  <a:srgbClr val="F4F7FD"/>
                </a:solidFill>
                <a:latin typeface="Arial"/>
                <a:ea typeface="Arial"/>
                <a:cs typeface="Arial"/>
                <a:sym typeface="Arial"/>
              </a:rPr>
              <a:t>60周年は、もう動き出している</a:t>
            </a:r>
            <a:endParaRPr sz="2100" b="0" i="0" u="none" strike="noStrike" cap="none">
              <a:solidFill>
                <a:srgbClr val="000000"/>
              </a:solidFill>
              <a:latin typeface="Arial"/>
              <a:ea typeface="Arial"/>
              <a:cs typeface="Arial"/>
              <a:sym typeface="Arial"/>
            </a:endParaRPr>
          </a:p>
        </p:txBody>
      </p:sp>
      <p:sp>
        <p:nvSpPr>
          <p:cNvPr id="328" name="Google Shape;328;g3f82b020a63_1_23"/>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9" name="Google Shape;329;g3f82b020a63_1_23"/>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勢いは、証明済み。</a:t>
            </a:r>
            <a:endParaRPr sz="2800" b="0" i="0" u="none" strike="noStrike" cap="none">
              <a:solidFill>
                <a:srgbClr val="000000"/>
              </a:solidFill>
              <a:latin typeface="Arial"/>
              <a:ea typeface="Arial"/>
              <a:cs typeface="Arial"/>
              <a:sym typeface="Arial"/>
            </a:endParaRPr>
          </a:p>
        </p:txBody>
      </p:sp>
      <p:sp>
        <p:nvSpPr>
          <p:cNvPr id="330" name="Google Shape;330;g3f82b020a63_1_23"/>
          <p:cNvSpPr/>
          <p:nvPr/>
        </p:nvSpPr>
        <p:spPr>
          <a:xfrm>
            <a:off x="502920" y="214884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ウルサマ</a:t>
            </a:r>
            <a:endParaRPr sz="2700" b="0" i="0" u="none" strike="noStrike" cap="none">
              <a:solidFill>
                <a:srgbClr val="000000"/>
              </a:solidFill>
              <a:latin typeface="Arial"/>
              <a:ea typeface="Arial"/>
              <a:cs typeface="Arial"/>
              <a:sym typeface="Arial"/>
            </a:endParaRPr>
          </a:p>
        </p:txBody>
      </p:sp>
      <p:sp>
        <p:nvSpPr>
          <p:cNvPr id="331" name="Google Shape;331;g3f82b020a63_1_23"/>
          <p:cNvSpPr/>
          <p:nvPr/>
        </p:nvSpPr>
        <p:spPr>
          <a:xfrm>
            <a:off x="3339846" y="214884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ヒーローショー</a:t>
            </a:r>
            <a:endParaRPr sz="2700" b="0" i="0" u="none" strike="noStrike" cap="none">
              <a:solidFill>
                <a:srgbClr val="000000"/>
              </a:solidFill>
              <a:latin typeface="Arial"/>
              <a:ea typeface="Arial"/>
              <a:cs typeface="Arial"/>
              <a:sym typeface="Arial"/>
            </a:endParaRPr>
          </a:p>
        </p:txBody>
      </p:sp>
      <p:sp>
        <p:nvSpPr>
          <p:cNvPr id="332" name="Google Shape;332;g3f82b020a63_1_23"/>
          <p:cNvSpPr/>
          <p:nvPr/>
        </p:nvSpPr>
        <p:spPr>
          <a:xfrm>
            <a:off x="6176772" y="214884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商品化</a:t>
            </a:r>
            <a:endParaRPr sz="2700" b="0" i="0" u="none" strike="noStrike" cap="none">
              <a:solidFill>
                <a:srgbClr val="000000"/>
              </a:solidFill>
              <a:latin typeface="Arial"/>
              <a:ea typeface="Arial"/>
              <a:cs typeface="Arial"/>
              <a:sym typeface="Arial"/>
            </a:endParaRPr>
          </a:p>
        </p:txBody>
      </p:sp>
      <p:sp>
        <p:nvSpPr>
          <p:cNvPr id="333" name="Google Shape;333;g3f82b020a63_1_23"/>
          <p:cNvSpPr/>
          <p:nvPr/>
        </p:nvSpPr>
        <p:spPr>
          <a:xfrm>
            <a:off x="9013698" y="214884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IPコラボ</a:t>
            </a:r>
            <a:endParaRPr sz="2700" b="0" i="0" u="none" strike="noStrike" cap="none">
              <a:solidFill>
                <a:srgbClr val="000000"/>
              </a:solidFill>
              <a:latin typeface="Arial"/>
              <a:ea typeface="Arial"/>
              <a:cs typeface="Arial"/>
              <a:sym typeface="Arial"/>
            </a:endParaRPr>
          </a:p>
        </p:txBody>
      </p:sp>
      <p:sp>
        <p:nvSpPr>
          <p:cNvPr id="334" name="Google Shape;334;g3f82b020a63_1_23"/>
          <p:cNvSpPr/>
          <p:nvPr/>
        </p:nvSpPr>
        <p:spPr>
          <a:xfrm>
            <a:off x="502920" y="297180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ウルトラマート</a:t>
            </a:r>
            <a:endParaRPr sz="2700" b="0" i="0" u="none" strike="noStrike" cap="none">
              <a:solidFill>
                <a:srgbClr val="000000"/>
              </a:solidFill>
              <a:latin typeface="Arial"/>
              <a:ea typeface="Arial"/>
              <a:cs typeface="Arial"/>
              <a:sym typeface="Arial"/>
            </a:endParaRPr>
          </a:p>
        </p:txBody>
      </p:sp>
      <p:sp>
        <p:nvSpPr>
          <p:cNvPr id="335" name="Google Shape;335;g3f82b020a63_1_23"/>
          <p:cNvSpPr/>
          <p:nvPr/>
        </p:nvSpPr>
        <p:spPr>
          <a:xfrm>
            <a:off x="3339846" y="297180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流通展開</a:t>
            </a:r>
            <a:endParaRPr sz="2700" b="0" i="0" u="none" strike="noStrike" cap="none">
              <a:solidFill>
                <a:srgbClr val="000000"/>
              </a:solidFill>
              <a:latin typeface="Arial"/>
              <a:ea typeface="Arial"/>
              <a:cs typeface="Arial"/>
              <a:sym typeface="Arial"/>
            </a:endParaRPr>
          </a:p>
        </p:txBody>
      </p:sp>
      <p:sp>
        <p:nvSpPr>
          <p:cNvPr id="336" name="Google Shape;336;g3f82b020a63_1_23"/>
          <p:cNvSpPr/>
          <p:nvPr/>
        </p:nvSpPr>
        <p:spPr>
          <a:xfrm>
            <a:off x="6176772" y="297180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広告タイアップ</a:t>
            </a:r>
            <a:endParaRPr sz="2700" b="0" i="0" u="none" strike="noStrike" cap="none">
              <a:solidFill>
                <a:srgbClr val="000000"/>
              </a:solidFill>
              <a:latin typeface="Arial"/>
              <a:ea typeface="Arial"/>
              <a:cs typeface="Arial"/>
              <a:sym typeface="Arial"/>
            </a:endParaRPr>
          </a:p>
        </p:txBody>
      </p:sp>
      <p:sp>
        <p:nvSpPr>
          <p:cNvPr id="337" name="Google Shape;337;g3f82b020a63_1_23"/>
          <p:cNvSpPr/>
          <p:nvPr/>
        </p:nvSpPr>
        <p:spPr>
          <a:xfrm>
            <a:off x="9013698" y="2971800"/>
            <a:ext cx="2672400" cy="658500"/>
          </a:xfrm>
          <a:prstGeom prst="roundRect">
            <a:avLst>
              <a:gd name="adj" fmla="val 10000"/>
            </a:avLst>
          </a:prstGeom>
          <a:solidFill>
            <a:srgbClr val="111F3E"/>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海外展開</a:t>
            </a:r>
            <a:endParaRPr sz="2700" b="0" i="0" u="none" strike="noStrike" cap="none">
              <a:solidFill>
                <a:srgbClr val="000000"/>
              </a:solidFill>
              <a:latin typeface="Arial"/>
              <a:ea typeface="Arial"/>
              <a:cs typeface="Arial"/>
              <a:sym typeface="Arial"/>
            </a:endParaRPr>
          </a:p>
        </p:txBody>
      </p:sp>
      <p:sp>
        <p:nvSpPr>
          <p:cNvPr id="338" name="Google Shape;338;g3f82b020a63_1_23"/>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9" name="Google Shape;339;g3f82b020a63_1_23"/>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0" name="Google Shape;340;g3f82b020a63_1_23"/>
          <p:cNvSpPr txBox="1"/>
          <p:nvPr/>
        </p:nvSpPr>
        <p:spPr>
          <a:xfrm>
            <a:off x="722376" y="5870448"/>
            <a:ext cx="10744200" cy="5079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700"/>
              <a:buFont typeface="Arial"/>
              <a:buNone/>
            </a:pPr>
            <a:r>
              <a:rPr lang="ja-JP" sz="2700" b="1" i="0" u="none" strike="noStrike" cap="none">
                <a:solidFill>
                  <a:srgbClr val="F4F7FD"/>
                </a:solidFill>
                <a:latin typeface="Arial"/>
                <a:ea typeface="Arial"/>
                <a:cs typeface="Arial"/>
                <a:sym typeface="Arial"/>
              </a:rPr>
              <a:t>この勢いは、2027年度以降につながっていく。</a:t>
            </a:r>
            <a:endParaRPr sz="2700" b="0" i="0" u="none" strike="noStrike" cap="none">
              <a:solidFill>
                <a:srgbClr val="000000"/>
              </a:solidFill>
              <a:latin typeface="Arial"/>
              <a:ea typeface="Arial"/>
              <a:cs typeface="Arial"/>
              <a:sym typeface="Arial"/>
            </a:endParaRPr>
          </a:p>
        </p:txBody>
      </p:sp>
      <p:pic>
        <p:nvPicPr>
          <p:cNvPr id="341" name="Google Shape;341;g3f82b020a63_1_23" descr="s04_products_sofubi.png"/>
          <p:cNvPicPr preferRelativeResize="0"/>
          <p:nvPr/>
        </p:nvPicPr>
        <p:blipFill rotWithShape="1">
          <a:blip r:embed="rId3">
            <a:alphaModFix/>
          </a:blip>
          <a:srcRect l="90" r="100"/>
          <a:stretch/>
        </p:blipFill>
        <p:spPr>
          <a:xfrm>
            <a:off x="3315948" y="3886200"/>
            <a:ext cx="1296900" cy="1783200"/>
          </a:xfrm>
          <a:prstGeom prst="roundRect">
            <a:avLst>
              <a:gd name="adj" fmla="val 5876"/>
            </a:avLst>
          </a:prstGeom>
          <a:noFill/>
          <a:ln>
            <a:noFill/>
          </a:ln>
        </p:spPr>
      </p:pic>
      <p:pic>
        <p:nvPicPr>
          <p:cNvPr id="342" name="Google Shape;342;g3f82b020a63_1_23" descr="s04_06_seats.png"/>
          <p:cNvPicPr preferRelativeResize="0"/>
          <p:nvPr/>
        </p:nvPicPr>
        <p:blipFill rotWithShape="1">
          <a:blip r:embed="rId4">
            <a:alphaModFix/>
          </a:blip>
          <a:srcRect l="90" r="90"/>
          <a:stretch/>
        </p:blipFill>
        <p:spPr>
          <a:xfrm>
            <a:off x="502920" y="3886200"/>
            <a:ext cx="1296900" cy="1783200"/>
          </a:xfrm>
          <a:prstGeom prst="roundRect">
            <a:avLst>
              <a:gd name="adj" fmla="val 5876"/>
            </a:avLst>
          </a:prstGeom>
          <a:noFill/>
          <a:ln>
            <a:noFill/>
          </a:ln>
        </p:spPr>
      </p:pic>
      <p:pic>
        <p:nvPicPr>
          <p:cNvPr id="343" name="Google Shape;343;g3f82b020a63_1_23" descr="s04_07_show.png"/>
          <p:cNvPicPr preferRelativeResize="0"/>
          <p:nvPr/>
        </p:nvPicPr>
        <p:blipFill rotWithShape="1">
          <a:blip r:embed="rId5">
            <a:alphaModFix/>
          </a:blip>
          <a:srcRect l="90" r="90"/>
          <a:stretch/>
        </p:blipFill>
        <p:spPr>
          <a:xfrm>
            <a:off x="1909429" y="3886200"/>
            <a:ext cx="1296900" cy="1783200"/>
          </a:xfrm>
          <a:prstGeom prst="roundRect">
            <a:avLst>
              <a:gd name="adj" fmla="val 5876"/>
            </a:avLst>
          </a:prstGeom>
          <a:noFill/>
          <a:ln>
            <a:noFill/>
          </a:ln>
        </p:spPr>
      </p:pic>
      <p:pic>
        <p:nvPicPr>
          <p:cNvPr id="344" name="Google Shape;344;g3f82b020a63_1_23" descr="s04_20_ad.png"/>
          <p:cNvPicPr preferRelativeResize="0"/>
          <p:nvPr/>
        </p:nvPicPr>
        <p:blipFill rotWithShape="1">
          <a:blip r:embed="rId6">
            <a:alphaModFix/>
          </a:blip>
          <a:srcRect l="90" r="90"/>
          <a:stretch/>
        </p:blipFill>
        <p:spPr>
          <a:xfrm>
            <a:off x="8941994" y="3886200"/>
            <a:ext cx="1296900" cy="1783200"/>
          </a:xfrm>
          <a:prstGeom prst="roundRect">
            <a:avLst>
              <a:gd name="adj" fmla="val 5876"/>
            </a:avLst>
          </a:prstGeom>
          <a:noFill/>
          <a:ln>
            <a:noFill/>
          </a:ln>
        </p:spPr>
      </p:pic>
      <p:pic>
        <p:nvPicPr>
          <p:cNvPr id="345" name="Google Shape;345;g3f82b020a63_1_23" descr="s04_21_global.png"/>
          <p:cNvPicPr preferRelativeResize="0"/>
          <p:nvPr/>
        </p:nvPicPr>
        <p:blipFill rotWithShape="1">
          <a:blip r:embed="rId7">
            <a:alphaModFix/>
          </a:blip>
          <a:srcRect l="90" r="90"/>
          <a:stretch/>
        </p:blipFill>
        <p:spPr>
          <a:xfrm>
            <a:off x="10348532" y="3886200"/>
            <a:ext cx="1296900" cy="1783200"/>
          </a:xfrm>
          <a:prstGeom prst="roundRect">
            <a:avLst>
              <a:gd name="adj" fmla="val 5876"/>
            </a:avLst>
          </a:prstGeom>
          <a:noFill/>
          <a:ln>
            <a:noFill/>
          </a:ln>
        </p:spPr>
      </p:pic>
      <p:pic>
        <p:nvPicPr>
          <p:cNvPr id="346" name="Google Shape;346;g3f82b020a63_1_23" descr="s04_23_mart.png"/>
          <p:cNvPicPr preferRelativeResize="0"/>
          <p:nvPr/>
        </p:nvPicPr>
        <p:blipFill rotWithShape="1">
          <a:blip r:embed="rId8">
            <a:alphaModFix/>
          </a:blip>
          <a:srcRect l="90" r="90"/>
          <a:stretch/>
        </p:blipFill>
        <p:spPr>
          <a:xfrm>
            <a:off x="6128976" y="3886200"/>
            <a:ext cx="1296900" cy="1783200"/>
          </a:xfrm>
          <a:prstGeom prst="roundRect">
            <a:avLst>
              <a:gd name="adj" fmla="val 5876"/>
            </a:avLst>
          </a:prstGeom>
          <a:noFill/>
          <a:ln>
            <a:noFill/>
          </a:ln>
        </p:spPr>
      </p:pic>
      <p:pic>
        <p:nvPicPr>
          <p:cNvPr id="347" name="Google Shape;347;g3f82b020a63_1_23" descr="s04_24_collab.png"/>
          <p:cNvPicPr preferRelativeResize="0"/>
          <p:nvPr/>
        </p:nvPicPr>
        <p:blipFill rotWithShape="1">
          <a:blip r:embed="rId9">
            <a:alphaModFix/>
          </a:blip>
          <a:srcRect l="90" r="90"/>
          <a:stretch/>
        </p:blipFill>
        <p:spPr>
          <a:xfrm>
            <a:off x="4722457" y="3886200"/>
            <a:ext cx="1296900" cy="1783200"/>
          </a:xfrm>
          <a:prstGeom prst="roundRect">
            <a:avLst>
              <a:gd name="adj" fmla="val 5876"/>
            </a:avLst>
          </a:prstGeom>
          <a:noFill/>
          <a:ln>
            <a:noFill/>
          </a:ln>
        </p:spPr>
      </p:pic>
      <p:pic>
        <p:nvPicPr>
          <p:cNvPr id="348" name="Google Shape;348;g3f82b020a63_1_23"/>
          <p:cNvPicPr preferRelativeResize="0"/>
          <p:nvPr/>
        </p:nvPicPr>
        <p:blipFill rotWithShape="1">
          <a:blip r:embed="rId10">
            <a:alphaModFix/>
          </a:blip>
          <a:srcRect l="150" r="150"/>
          <a:stretch/>
        </p:blipFill>
        <p:spPr>
          <a:xfrm>
            <a:off x="7535475" y="3886200"/>
            <a:ext cx="1296900" cy="1783200"/>
          </a:xfrm>
          <a:prstGeom prst="roundRect">
            <a:avLst>
              <a:gd name="adj" fmla="val 5876"/>
            </a:avLst>
          </a:prstGeom>
          <a:noFill/>
          <a:ln>
            <a:noFill/>
          </a:ln>
        </p:spPr>
      </p:pic>
      <p:grpSp>
        <p:nvGrpSpPr>
          <p:cNvPr id="349" name="Google Shape;349;g3f82b020a63_1_23"/>
          <p:cNvGrpSpPr/>
          <p:nvPr/>
        </p:nvGrpSpPr>
        <p:grpSpPr>
          <a:xfrm>
            <a:off x="7535488" y="5440804"/>
            <a:ext cx="1296900" cy="228600"/>
            <a:chOff x="0" y="0"/>
            <a:chExt cx="1296900" cy="228600"/>
          </a:xfrm>
        </p:grpSpPr>
        <p:sp>
          <p:nvSpPr>
            <p:cNvPr id="350" name="Google Shape;350;g3f82b020a63_1_23"/>
            <p:cNvSpPr/>
            <p:nvPr/>
          </p:nvSpPr>
          <p:spPr>
            <a:xfrm>
              <a:off x="0" y="0"/>
              <a:ext cx="1296900" cy="228600"/>
            </a:xfrm>
            <a:prstGeom prst="roundRect">
              <a:avLst>
                <a:gd name="adj" fmla="val 0"/>
              </a:avLst>
            </a:prstGeom>
            <a:solidFill>
              <a:srgbClr val="050B14">
                <a:alpha val="8000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g3f82b020a63_1_23"/>
            <p:cNvSpPr txBox="1"/>
            <p:nvPr/>
          </p:nvSpPr>
          <p:spPr>
            <a:xfrm>
              <a:off x="0" y="0"/>
              <a:ext cx="1296900" cy="228600"/>
            </a:xfrm>
            <a:prstGeom prst="rect">
              <a:avLst/>
            </a:prstGeom>
            <a:noFill/>
            <a:ln>
              <a:noFill/>
            </a:ln>
          </p:spPr>
          <p:txBody>
            <a:bodyPr spcFirstLastPara="1" wrap="square" lIns="57150" tIns="0" rIns="0"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JP" sz="800" b="1" i="0" u="none" strike="noStrike" cap="none">
                  <a:solidFill>
                    <a:srgbClr val="CBD5E1"/>
                  </a:solidFill>
                  <a:latin typeface="Arial"/>
                  <a:ea typeface="Arial"/>
                  <a:cs typeface="Arial"/>
                  <a:sym typeface="Arial"/>
                </a:rPr>
                <a:t>流通展開</a:t>
              </a:r>
              <a:endParaRPr sz="800" b="1" i="0" u="none" strike="noStrike" cap="none">
                <a:solidFill>
                  <a:srgbClr val="CBD5E1"/>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369"/>
        <p:cNvGrpSpPr/>
        <p:nvPr/>
      </p:nvGrpSpPr>
      <p:grpSpPr>
        <a:xfrm>
          <a:off x="0" y="0"/>
          <a:ext cx="0" cy="0"/>
          <a:chOff x="0" y="0"/>
          <a:chExt cx="0" cy="0"/>
        </a:xfrm>
      </p:grpSpPr>
      <p:sp>
        <p:nvSpPr>
          <p:cNvPr id="370" name="Google Shape;370;g3f82b020a63_1_6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05|BUSINESS CALENDAR</a:t>
            </a:r>
            <a:endParaRPr sz="1400" b="0" i="0" u="none" strike="noStrike" cap="none">
              <a:solidFill>
                <a:srgbClr val="000000"/>
              </a:solidFill>
              <a:latin typeface="Arial"/>
              <a:ea typeface="Arial"/>
              <a:cs typeface="Arial"/>
              <a:sym typeface="Arial"/>
            </a:endParaRPr>
          </a:p>
        </p:txBody>
      </p:sp>
      <p:sp>
        <p:nvSpPr>
          <p:cNvPr id="371" name="Google Shape;371;g3f82b020a63_1_62"/>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2027年の売場は、今日から仕込む</a:t>
            </a:r>
            <a:endParaRPr sz="2200" b="0" i="0" u="none" strike="noStrike" cap="none">
              <a:solidFill>
                <a:srgbClr val="000000"/>
              </a:solidFill>
              <a:latin typeface="Arial"/>
              <a:ea typeface="Arial"/>
              <a:cs typeface="Arial"/>
              <a:sym typeface="Arial"/>
            </a:endParaRPr>
          </a:p>
        </p:txBody>
      </p:sp>
      <p:sp>
        <p:nvSpPr>
          <p:cNvPr id="372" name="Google Shape;372;g3f82b020a63_1_6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3" name="Google Shape;373;g3f82b020a63_1_62"/>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2026-2027 ULTRAMAN 商機カレンダー</a:t>
            </a:r>
            <a:endParaRPr sz="2800" b="0" i="0" u="none" strike="noStrike" cap="none">
              <a:solidFill>
                <a:srgbClr val="000000"/>
              </a:solidFill>
              <a:latin typeface="Arial"/>
              <a:ea typeface="Arial"/>
              <a:cs typeface="Arial"/>
              <a:sym typeface="Arial"/>
            </a:endParaRPr>
          </a:p>
        </p:txBody>
      </p:sp>
      <p:graphicFrame>
        <p:nvGraphicFramePr>
          <p:cNvPr id="374" name="Google Shape;374;g3f82b020a63_1_62"/>
          <p:cNvGraphicFramePr/>
          <p:nvPr>
            <p:extLst>
              <p:ext uri="{D42A27DB-BD31-4B8C-83A1-F6EECF244321}">
                <p14:modId xmlns:p14="http://schemas.microsoft.com/office/powerpoint/2010/main" val="3960825899"/>
              </p:ext>
            </p:extLst>
          </p:nvPr>
        </p:nvGraphicFramePr>
        <p:xfrm>
          <a:off x="502920" y="2103120"/>
          <a:ext cx="11155675" cy="3458217"/>
        </p:xfrm>
        <a:graphic>
          <a:graphicData uri="http://schemas.openxmlformats.org/drawingml/2006/table">
            <a:tbl>
              <a:tblPr>
                <a:noFill/>
                <a:tableStyleId>{60C54DC3-C7D6-4BEA-B6AD-80E51AB05D85}</a:tableStyleId>
              </a:tblPr>
              <a:tblGrid>
                <a:gridCol w="2011675">
                  <a:extLst>
                    <a:ext uri="{9D8B030D-6E8A-4147-A177-3AD203B41FA5}">
                      <a16:colId xmlns:a16="http://schemas.microsoft.com/office/drawing/2014/main" val="20000"/>
                    </a:ext>
                  </a:extLst>
                </a:gridCol>
                <a:gridCol w="9144000">
                  <a:extLst>
                    <a:ext uri="{9D8B030D-6E8A-4147-A177-3AD203B41FA5}">
                      <a16:colId xmlns:a16="http://schemas.microsoft.com/office/drawing/2014/main" val="20001"/>
                    </a:ext>
                  </a:extLst>
                </a:gridCol>
              </a:tblGrid>
              <a:tr h="475500">
                <a:tc>
                  <a:txBody>
                    <a:bodyPr/>
                    <a:lstStyle/>
                    <a:p>
                      <a:pPr marL="0" marR="0" lvl="0" indent="0" algn="l" rtl="0">
                        <a:lnSpc>
                          <a:spcPct val="100000"/>
                        </a:lnSpc>
                        <a:spcBef>
                          <a:spcPts val="0"/>
                        </a:spcBef>
                        <a:spcAft>
                          <a:spcPts val="0"/>
                        </a:spcAft>
                        <a:buClr>
                          <a:srgbClr val="000000"/>
                        </a:buClr>
                        <a:buSzPts val="2600"/>
                        <a:buFont typeface="Arial"/>
                        <a:buNone/>
                      </a:pPr>
                      <a:r>
                        <a:rPr lang="ja-JP" sz="2600" b="1" u="none" strike="noStrike" cap="none">
                          <a:solidFill>
                            <a:srgbClr val="F4F7FD"/>
                          </a:solidFill>
                          <a:latin typeface="Arial"/>
                          <a:ea typeface="Arial"/>
                          <a:cs typeface="Arial"/>
                          <a:sym typeface="Arial"/>
                        </a:rPr>
                        <a:t>時期</a:t>
                      </a:r>
                      <a:endParaRPr sz="2800" b="1" u="none" strike="noStrike" cap="none">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A81C18"/>
                    </a:solidFill>
                  </a:tcPr>
                </a:tc>
                <a:tc>
                  <a:txBody>
                    <a:bodyPr/>
                    <a:lstStyle/>
                    <a:p>
                      <a:pPr marL="0" marR="0" lvl="0" indent="0" algn="l" rtl="0">
                        <a:lnSpc>
                          <a:spcPct val="100000"/>
                        </a:lnSpc>
                        <a:spcBef>
                          <a:spcPts val="0"/>
                        </a:spcBef>
                        <a:spcAft>
                          <a:spcPts val="0"/>
                        </a:spcAft>
                        <a:buClr>
                          <a:srgbClr val="000000"/>
                        </a:buClr>
                        <a:buSzPts val="2600"/>
                        <a:buFont typeface="Arial"/>
                        <a:buNone/>
                      </a:pPr>
                      <a:r>
                        <a:rPr lang="ja-JP" sz="2600" b="1" u="none" strike="noStrike" cap="none">
                          <a:solidFill>
                            <a:srgbClr val="F4F7FD"/>
                          </a:solidFill>
                          <a:latin typeface="Arial"/>
                          <a:ea typeface="Arial"/>
                          <a:cs typeface="Arial"/>
                          <a:sym typeface="Arial"/>
                        </a:rPr>
                        <a:t>商機</a:t>
                      </a:r>
                      <a:endParaRPr sz="2800" b="1" u="none" strike="noStrike" cap="none">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A81C18"/>
                    </a:solidFill>
                  </a:tcPr>
                </a:tc>
                <a:extLst>
                  <a:ext uri="{0D108BD9-81ED-4DB2-BD59-A6C34878D82A}">
                    <a16:rowId xmlns:a16="http://schemas.microsoft.com/office/drawing/2014/main" val="10000"/>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2026夏</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chemeClr val="lt1"/>
                          </a:solidFill>
                          <a:latin typeface="Arial"/>
                          <a:ea typeface="Arial"/>
                          <a:cs typeface="Arial"/>
                          <a:sym typeface="Arial"/>
                        </a:rPr>
                        <a:t>夏イベント連動</a:t>
                      </a:r>
                      <a:endParaRPr sz="280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1"/>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2026秋</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chemeClr val="lt1"/>
                          </a:solidFill>
                          <a:latin typeface="Arial"/>
                          <a:ea typeface="Arial"/>
                          <a:cs typeface="Arial"/>
                          <a:sym typeface="Arial"/>
                        </a:rPr>
                        <a:t>IPコラボ・年末商戦</a:t>
                      </a:r>
                      <a:endParaRPr sz="280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extLst>
                  <a:ext uri="{0D108BD9-81ED-4DB2-BD59-A6C34878D82A}">
                    <a16:rowId xmlns:a16="http://schemas.microsoft.com/office/drawing/2014/main" val="10002"/>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800" b="0" u="none" strike="noStrike" cap="none" dirty="0">
                          <a:solidFill>
                            <a:srgbClr val="FF0000"/>
                          </a:solidFill>
                          <a:latin typeface="Arial"/>
                          <a:ea typeface="Arial"/>
                          <a:cs typeface="Arial"/>
                          <a:sym typeface="Arial"/>
                        </a:rPr>
                        <a:t>2026冬</a:t>
                      </a:r>
                      <a:endParaRPr sz="3200" b="0" u="none" strike="noStrike" cap="none" dirty="0">
                        <a:solidFill>
                          <a:srgbClr val="FF0000"/>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800" b="0" u="none" strike="noStrike" cap="none" dirty="0">
                          <a:solidFill>
                            <a:srgbClr val="FF0000"/>
                          </a:solidFill>
                          <a:latin typeface="Arial"/>
                          <a:ea typeface="Arial"/>
                          <a:cs typeface="Arial"/>
                          <a:sym typeface="Arial"/>
                        </a:rPr>
                        <a:t>2027商品の企画・監修開始</a:t>
                      </a:r>
                      <a:endParaRPr sz="3200" b="0" u="none" strike="noStrike" cap="none" dirty="0">
                        <a:solidFill>
                          <a:srgbClr val="FF0000"/>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3"/>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2027春</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dirty="0">
                          <a:solidFill>
                            <a:schemeClr val="lt1"/>
                          </a:solidFill>
                          <a:latin typeface="Arial"/>
                          <a:ea typeface="Arial"/>
                          <a:cs typeface="Arial"/>
                          <a:sym typeface="Arial"/>
                        </a:rPr>
                        <a:t>新生活・文具・雑貨・アパレル</a:t>
                      </a:r>
                      <a:endParaRPr sz="2800" u="none" strike="noStrike" cap="none" dirty="0">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extLst>
                  <a:ext uri="{0D108BD9-81ED-4DB2-BD59-A6C34878D82A}">
                    <a16:rowId xmlns:a16="http://schemas.microsoft.com/office/drawing/2014/main" val="10004"/>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2027夏</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chemeClr val="lt1"/>
                          </a:solidFill>
                          <a:latin typeface="Arial"/>
                          <a:ea typeface="Arial"/>
                          <a:cs typeface="Arial"/>
                          <a:sym typeface="Arial"/>
                        </a:rPr>
                        <a:t>映画・イベント・大型キャンペーン</a:t>
                      </a:r>
                      <a:endParaRPr sz="280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5"/>
                  </a:ext>
                </a:extLst>
              </a:tr>
              <a:tr h="475500">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a:solidFill>
                            <a:srgbClr val="F4F7FD"/>
                          </a:solidFill>
                          <a:latin typeface="Arial"/>
                          <a:ea typeface="Arial"/>
                          <a:cs typeface="Arial"/>
                          <a:sym typeface="Arial"/>
                        </a:rPr>
                        <a:t>2027秋冬</a:t>
                      </a:r>
                      <a:endParaRPr sz="2800" u="none" strike="noStrike" cap="none">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tc>
                  <a:txBody>
                    <a:bodyPr/>
                    <a:lstStyle/>
                    <a:p>
                      <a:pPr marL="0" marR="0" lvl="0" indent="0" algn="l" rtl="0">
                        <a:lnSpc>
                          <a:spcPct val="110000"/>
                        </a:lnSpc>
                        <a:spcBef>
                          <a:spcPts val="0"/>
                        </a:spcBef>
                        <a:spcAft>
                          <a:spcPts val="0"/>
                        </a:spcAft>
                        <a:buClr>
                          <a:srgbClr val="000000"/>
                        </a:buClr>
                        <a:buSzPts val="2600"/>
                        <a:buFont typeface="Arial"/>
                        <a:buNone/>
                      </a:pPr>
                      <a:r>
                        <a:rPr lang="ja-JP" sz="2600" u="none" strike="noStrike" cap="none" dirty="0">
                          <a:solidFill>
                            <a:schemeClr val="lt1"/>
                          </a:solidFill>
                          <a:latin typeface="Arial"/>
                          <a:ea typeface="Arial"/>
                          <a:cs typeface="Arial"/>
                          <a:sym typeface="Arial"/>
                        </a:rPr>
                        <a:t>ホビー・EC・プレミアム・年末商戦</a:t>
                      </a:r>
                      <a:endParaRPr sz="2800" u="none" strike="noStrike" cap="none" dirty="0">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111F3E"/>
                    </a:solidFill>
                  </a:tcPr>
                </a:tc>
                <a:extLst>
                  <a:ext uri="{0D108BD9-81ED-4DB2-BD59-A6C34878D82A}">
                    <a16:rowId xmlns:a16="http://schemas.microsoft.com/office/drawing/2014/main" val="10006"/>
                  </a:ext>
                </a:extLst>
              </a:tr>
            </a:tbl>
          </a:graphicData>
        </a:graphic>
      </p:graphicFrame>
      <p:sp>
        <p:nvSpPr>
          <p:cNvPr id="375" name="Google Shape;375;g3f82b020a63_1_6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6" name="Google Shape;376;g3f82b020a63_1_6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7" name="Google Shape;377;g3f82b020a63_1_62"/>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“発売タイミング”から逆算すると、商談開始は今です。</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420"/>
        <p:cNvGrpSpPr/>
        <p:nvPr/>
      </p:nvGrpSpPr>
      <p:grpSpPr>
        <a:xfrm>
          <a:off x="0" y="0"/>
          <a:ext cx="0" cy="0"/>
          <a:chOff x="0" y="0"/>
          <a:chExt cx="0" cy="0"/>
        </a:xfrm>
      </p:grpSpPr>
      <p:sp>
        <p:nvSpPr>
          <p:cNvPr id="421" name="Google Shape;421;g3f82b020a63_1_74"/>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06|FOR ALL PARTNERS</a:t>
            </a:r>
            <a:endParaRPr sz="1400" b="0" i="0" u="none" strike="noStrike" cap="none">
              <a:solidFill>
                <a:srgbClr val="000000"/>
              </a:solidFill>
              <a:latin typeface="Arial"/>
              <a:ea typeface="Arial"/>
              <a:cs typeface="Arial"/>
              <a:sym typeface="Arial"/>
            </a:endParaRPr>
          </a:p>
        </p:txBody>
      </p:sp>
      <p:sp>
        <p:nvSpPr>
          <p:cNvPr id="422" name="Google Shape;422;g3f82b020a63_1_74"/>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本日ご参加の皆さまと、作りたいこと</a:t>
            </a:r>
            <a:endParaRPr sz="2200" b="0" i="0" u="none" strike="noStrike" cap="none">
              <a:solidFill>
                <a:srgbClr val="000000"/>
              </a:solidFill>
              <a:latin typeface="Arial"/>
              <a:ea typeface="Arial"/>
              <a:cs typeface="Arial"/>
              <a:sym typeface="Arial"/>
            </a:endParaRPr>
          </a:p>
        </p:txBody>
      </p:sp>
      <p:sp>
        <p:nvSpPr>
          <p:cNvPr id="423" name="Google Shape;423;g3f82b020a63_1_74"/>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4" name="Google Shape;424;g3f82b020a63_1_74"/>
          <p:cNvSpPr txBox="1"/>
          <p:nvPr/>
        </p:nvSpPr>
        <p:spPr>
          <a:xfrm>
            <a:off x="502920" y="1418159"/>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7つのカテゴリーで、企画をご一緒できればと思います</a:t>
            </a:r>
            <a:endParaRPr sz="2800" b="0" i="0" u="none" strike="noStrike" cap="none">
              <a:solidFill>
                <a:srgbClr val="000000"/>
              </a:solidFill>
              <a:latin typeface="Arial"/>
              <a:ea typeface="Arial"/>
              <a:cs typeface="Arial"/>
              <a:sym typeface="Arial"/>
            </a:endParaRPr>
          </a:p>
        </p:txBody>
      </p:sp>
      <p:sp>
        <p:nvSpPr>
          <p:cNvPr id="425" name="Google Shape;425;g3f82b020a63_1_74"/>
          <p:cNvSpPr/>
          <p:nvPr/>
        </p:nvSpPr>
        <p:spPr>
          <a:xfrm>
            <a:off x="502905" y="2760027"/>
            <a:ext cx="4937700" cy="993600"/>
          </a:xfrm>
          <a:prstGeom prst="roundRect">
            <a:avLst>
              <a:gd name="adj" fmla="val 6000"/>
            </a:avLst>
          </a:prstGeom>
          <a:solidFill>
            <a:srgbClr val="0C1730"/>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6" name="Google Shape;426;g3f82b020a63_1_74"/>
          <p:cNvSpPr/>
          <p:nvPr/>
        </p:nvSpPr>
        <p:spPr>
          <a:xfrm>
            <a:off x="502900" y="2760031"/>
            <a:ext cx="4937700" cy="38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7" name="Google Shape;427;g3f82b020a63_1_74"/>
          <p:cNvSpPr txBox="1"/>
          <p:nvPr/>
        </p:nvSpPr>
        <p:spPr>
          <a:xfrm>
            <a:off x="707307" y="3010536"/>
            <a:ext cx="4425600" cy="4926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円谷プロダクション</a:t>
            </a:r>
            <a:r>
              <a:rPr lang="ja-JP" sz="2950" b="1" i="0" u="none" strike="noStrike" cap="none">
                <a:solidFill>
                  <a:srgbClr val="7FA8E0"/>
                </a:solidFill>
                <a:latin typeface="Arial"/>
                <a:ea typeface="Arial"/>
                <a:cs typeface="Arial"/>
                <a:sym typeface="Arial"/>
              </a:rPr>
              <a:t>  </a:t>
            </a:r>
            <a:endParaRPr sz="2950" b="0" i="0" u="none" strike="noStrike" cap="none">
              <a:solidFill>
                <a:srgbClr val="A9B6D2"/>
              </a:solidFill>
              <a:latin typeface="Arial"/>
              <a:ea typeface="Arial"/>
              <a:cs typeface="Arial"/>
              <a:sym typeface="Arial"/>
            </a:endParaRPr>
          </a:p>
        </p:txBody>
      </p:sp>
      <p:sp>
        <p:nvSpPr>
          <p:cNvPr id="428" name="Google Shape;428;g3f82b020a63_1_74"/>
          <p:cNvSpPr/>
          <p:nvPr/>
        </p:nvSpPr>
        <p:spPr>
          <a:xfrm>
            <a:off x="5737887" y="2914294"/>
            <a:ext cx="713100" cy="713100"/>
          </a:xfrm>
          <a:prstGeom prst="ellipse">
            <a:avLst/>
          </a:prstGeom>
          <a:noFill/>
          <a:ln w="20300"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9" name="Google Shape;429;g3f82b020a63_1_74"/>
          <p:cNvSpPr txBox="1"/>
          <p:nvPr/>
        </p:nvSpPr>
        <p:spPr>
          <a:xfrm>
            <a:off x="5737887" y="2984478"/>
            <a:ext cx="713100" cy="5694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3700"/>
              <a:buFont typeface="Arial"/>
              <a:buNone/>
            </a:pPr>
            <a:r>
              <a:rPr lang="ja-JP" sz="3700" b="1" i="0" u="none" strike="noStrike" cap="none">
                <a:solidFill>
                  <a:srgbClr val="E8382F"/>
                </a:solidFill>
                <a:latin typeface="Arial"/>
                <a:ea typeface="Arial"/>
                <a:cs typeface="Arial"/>
                <a:sym typeface="Arial"/>
              </a:rPr>
              <a:t>×</a:t>
            </a:r>
            <a:endParaRPr sz="3100" b="0" i="0" u="none" strike="noStrike" cap="none">
              <a:solidFill>
                <a:srgbClr val="000000"/>
              </a:solidFill>
              <a:latin typeface="Arial"/>
              <a:ea typeface="Arial"/>
              <a:cs typeface="Arial"/>
              <a:sym typeface="Arial"/>
            </a:endParaRPr>
          </a:p>
        </p:txBody>
      </p:sp>
      <p:sp>
        <p:nvSpPr>
          <p:cNvPr id="430" name="Google Shape;430;g3f82b020a63_1_74"/>
          <p:cNvSpPr/>
          <p:nvPr/>
        </p:nvSpPr>
        <p:spPr>
          <a:xfrm>
            <a:off x="6748255" y="2781001"/>
            <a:ext cx="4937700" cy="972600"/>
          </a:xfrm>
          <a:prstGeom prst="roundRect">
            <a:avLst>
              <a:gd name="adj" fmla="val 6000"/>
            </a:avLst>
          </a:prstGeom>
          <a:solidFill>
            <a:srgbClr val="0C1730"/>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1" name="Google Shape;431;g3f82b020a63_1_74"/>
          <p:cNvSpPr/>
          <p:nvPr/>
        </p:nvSpPr>
        <p:spPr>
          <a:xfrm>
            <a:off x="6748252" y="2760031"/>
            <a:ext cx="4937700" cy="38100"/>
          </a:xfrm>
          <a:prstGeom prst="rect">
            <a:avLst/>
          </a:prstGeom>
          <a:solidFill>
            <a:srgbClr val="7FA8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2" name="Google Shape;432;g3f82b020a63_1_74"/>
          <p:cNvSpPr txBox="1"/>
          <p:nvPr/>
        </p:nvSpPr>
        <p:spPr>
          <a:xfrm>
            <a:off x="6878757" y="3029476"/>
            <a:ext cx="4681800" cy="49260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パートナー企業の皆さま</a:t>
            </a:r>
            <a:r>
              <a:rPr lang="ja-JP" sz="2950" b="1" i="0" u="none" strike="noStrike" cap="none">
                <a:solidFill>
                  <a:srgbClr val="7FA8E0"/>
                </a:solidFill>
                <a:latin typeface="Arial"/>
                <a:ea typeface="Arial"/>
                <a:cs typeface="Arial"/>
                <a:sym typeface="Arial"/>
              </a:rPr>
              <a:t>  </a:t>
            </a:r>
            <a:endParaRPr sz="2950" b="0" i="0" u="none" strike="noStrike" cap="none">
              <a:solidFill>
                <a:srgbClr val="A9B6D2"/>
              </a:solidFill>
              <a:latin typeface="Arial"/>
              <a:ea typeface="Arial"/>
              <a:cs typeface="Arial"/>
              <a:sym typeface="Arial"/>
            </a:endParaRPr>
          </a:p>
        </p:txBody>
      </p:sp>
      <p:sp>
        <p:nvSpPr>
          <p:cNvPr id="433" name="Google Shape;433;g3f82b020a63_1_74"/>
          <p:cNvSpPr txBox="1"/>
          <p:nvPr/>
        </p:nvSpPr>
        <p:spPr>
          <a:xfrm>
            <a:off x="507420" y="3970917"/>
            <a:ext cx="11183100" cy="477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3100"/>
              <a:buFont typeface="Arial"/>
              <a:buNone/>
            </a:pPr>
            <a:r>
              <a:rPr lang="ja-JP" sz="3100" b="1" i="0" u="none" strike="noStrike" cap="none">
                <a:solidFill>
                  <a:srgbClr val="E8382F"/>
                </a:solidFill>
                <a:latin typeface="Arial"/>
                <a:ea typeface="Arial"/>
                <a:cs typeface="Arial"/>
                <a:sym typeface="Arial"/>
              </a:rPr>
              <a:t>▼</a:t>
            </a:r>
            <a:endParaRPr sz="3400" b="0" i="0" u="none" strike="noStrike" cap="none">
              <a:solidFill>
                <a:srgbClr val="000000"/>
              </a:solidFill>
              <a:latin typeface="Arial"/>
              <a:ea typeface="Arial"/>
              <a:cs typeface="Arial"/>
              <a:sym typeface="Arial"/>
            </a:endParaRPr>
          </a:p>
        </p:txBody>
      </p:sp>
      <p:sp>
        <p:nvSpPr>
          <p:cNvPr id="434" name="Google Shape;434;g3f82b020a63_1_74"/>
          <p:cNvSpPr/>
          <p:nvPr/>
        </p:nvSpPr>
        <p:spPr>
          <a:xfrm>
            <a:off x="502900" y="4861850"/>
            <a:ext cx="11183100" cy="993600"/>
          </a:xfrm>
          <a:prstGeom prst="roundRect">
            <a:avLst>
              <a:gd name="adj" fmla="val 14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435" name="Google Shape;435;g3f82b020a63_1_74"/>
          <p:cNvSpPr txBox="1"/>
          <p:nvPr/>
        </p:nvSpPr>
        <p:spPr>
          <a:xfrm>
            <a:off x="502900" y="5025148"/>
            <a:ext cx="11183100" cy="711733"/>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3700"/>
              <a:buFont typeface="Arial"/>
              <a:buNone/>
            </a:pPr>
            <a:r>
              <a:rPr lang="ja-JP" sz="3700" b="1" i="0" u="none" strike="noStrike" cap="none">
                <a:solidFill>
                  <a:srgbClr val="F4F7FD"/>
                </a:solidFill>
                <a:latin typeface="Arial"/>
                <a:ea typeface="Arial"/>
                <a:cs typeface="Arial"/>
                <a:sym typeface="Arial"/>
              </a:rPr>
              <a:t>2027年の商機を、一緒につくる</a:t>
            </a:r>
            <a:r>
              <a:rPr lang="ja-JP" sz="3300" b="0" i="0" u="none" strike="noStrike" cap="none">
                <a:solidFill>
                  <a:srgbClr val="F4F7FD"/>
                </a:solidFill>
                <a:latin typeface="Arial"/>
                <a:ea typeface="Arial"/>
                <a:cs typeface="Arial"/>
                <a:sym typeface="Arial"/>
              </a:rPr>
              <a:t> </a:t>
            </a:r>
            <a:endParaRPr sz="36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439"/>
        <p:cNvGrpSpPr/>
        <p:nvPr/>
      </p:nvGrpSpPr>
      <p:grpSpPr>
        <a:xfrm>
          <a:off x="0" y="0"/>
          <a:ext cx="0" cy="0"/>
          <a:chOff x="0" y="0"/>
          <a:chExt cx="0" cy="0"/>
        </a:xfrm>
      </p:grpSpPr>
      <p:sp>
        <p:nvSpPr>
          <p:cNvPr id="440" name="Google Shape;440;g3f82b020a63_0_128"/>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13</a:t>
            </a:fld>
            <a:endParaRPr/>
          </a:p>
        </p:txBody>
      </p:sp>
      <p:sp>
        <p:nvSpPr>
          <p:cNvPr id="441" name="Google Shape;441;g3f82b020a63_0_128"/>
          <p:cNvSpPr/>
          <p:nvPr/>
        </p:nvSpPr>
        <p:spPr>
          <a:xfrm>
            <a:off x="644225" y="2498600"/>
            <a:ext cx="2561100" cy="1199700"/>
          </a:xfrm>
          <a:prstGeom prst="roundRect">
            <a:avLst>
              <a:gd name="adj" fmla="val 20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442" name="Google Shape;442;g3f82b020a63_0_128"/>
          <p:cNvSpPr txBox="1"/>
          <p:nvPr/>
        </p:nvSpPr>
        <p:spPr>
          <a:xfrm>
            <a:off x="616537" y="2876519"/>
            <a:ext cx="2561100" cy="500137"/>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600"/>
              <a:buFont typeface="Arial"/>
              <a:buNone/>
            </a:pPr>
            <a:r>
              <a:rPr lang="en-US" altLang="ja-JP" sz="2600" b="1" i="0" u="none" strike="noStrike" cap="none" dirty="0">
                <a:solidFill>
                  <a:srgbClr val="F4F7FD"/>
                </a:solidFill>
                <a:latin typeface="Arial"/>
                <a:ea typeface="Arial"/>
                <a:cs typeface="Arial"/>
                <a:sym typeface="Arial"/>
              </a:rPr>
              <a:t>MD</a:t>
            </a:r>
            <a:endParaRPr sz="1700" b="1" i="0" u="none" strike="noStrike" cap="none" dirty="0">
              <a:solidFill>
                <a:srgbClr val="F4F7FD"/>
              </a:solidFill>
              <a:latin typeface="Arial"/>
              <a:ea typeface="Arial"/>
              <a:cs typeface="Arial"/>
              <a:sym typeface="Arial"/>
            </a:endParaRPr>
          </a:p>
        </p:txBody>
      </p:sp>
      <p:sp>
        <p:nvSpPr>
          <p:cNvPr id="443" name="Google Shape;443;g3f82b020a63_0_128"/>
          <p:cNvSpPr/>
          <p:nvPr/>
        </p:nvSpPr>
        <p:spPr>
          <a:xfrm>
            <a:off x="3442125" y="2498600"/>
            <a:ext cx="2561100" cy="1199700"/>
          </a:xfrm>
          <a:prstGeom prst="roundRect">
            <a:avLst>
              <a:gd name="adj" fmla="val 20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600"/>
              <a:buFont typeface="Arial"/>
              <a:buNone/>
            </a:pPr>
            <a:endParaRPr sz="4600" b="0" i="0" u="none" strike="noStrike" cap="none">
              <a:solidFill>
                <a:schemeClr val="lt1"/>
              </a:solidFill>
              <a:latin typeface="Arial"/>
              <a:ea typeface="Arial"/>
              <a:cs typeface="Arial"/>
              <a:sym typeface="Arial"/>
            </a:endParaRPr>
          </a:p>
        </p:txBody>
      </p:sp>
      <p:sp>
        <p:nvSpPr>
          <p:cNvPr id="444" name="Google Shape;444;g3f82b020a63_0_128"/>
          <p:cNvSpPr txBox="1"/>
          <p:nvPr/>
        </p:nvSpPr>
        <p:spPr>
          <a:xfrm>
            <a:off x="3442122" y="2868624"/>
            <a:ext cx="2561100" cy="557845"/>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900"/>
              <a:buFont typeface="Arial"/>
              <a:buNone/>
            </a:pPr>
            <a:r>
              <a:rPr lang="ja-JP" sz="2900" b="1" i="0" u="none" strike="noStrike" cap="none" dirty="0">
                <a:solidFill>
                  <a:srgbClr val="F4F7FD"/>
                </a:solidFill>
                <a:latin typeface="Arial"/>
                <a:ea typeface="Arial"/>
                <a:cs typeface="Arial"/>
                <a:sym typeface="Arial"/>
              </a:rPr>
              <a:t>食品・外食</a:t>
            </a:r>
            <a:endParaRPr sz="2300" b="0" i="0" u="none" strike="noStrike" cap="none" dirty="0">
              <a:solidFill>
                <a:srgbClr val="000000"/>
              </a:solidFill>
              <a:latin typeface="Arial"/>
              <a:ea typeface="Arial"/>
              <a:cs typeface="Arial"/>
              <a:sym typeface="Arial"/>
            </a:endParaRPr>
          </a:p>
        </p:txBody>
      </p:sp>
      <p:sp>
        <p:nvSpPr>
          <p:cNvPr id="445" name="Google Shape;445;g3f82b020a63_0_128"/>
          <p:cNvSpPr/>
          <p:nvPr/>
        </p:nvSpPr>
        <p:spPr>
          <a:xfrm>
            <a:off x="6267725" y="2498600"/>
            <a:ext cx="2561100" cy="1199700"/>
          </a:xfrm>
          <a:prstGeom prst="roundRect">
            <a:avLst>
              <a:gd name="adj" fmla="val 20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446" name="Google Shape;446;g3f82b020a63_0_128"/>
          <p:cNvSpPr txBox="1"/>
          <p:nvPr/>
        </p:nvSpPr>
        <p:spPr>
          <a:xfrm>
            <a:off x="6291955" y="2874378"/>
            <a:ext cx="2561100" cy="500137"/>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流通・EC</a:t>
            </a:r>
            <a:endParaRPr sz="2000" b="0" i="0" u="none" strike="noStrike" cap="none">
              <a:solidFill>
                <a:srgbClr val="000000"/>
              </a:solidFill>
              <a:latin typeface="Arial"/>
              <a:ea typeface="Arial"/>
              <a:cs typeface="Arial"/>
              <a:sym typeface="Arial"/>
            </a:endParaRPr>
          </a:p>
        </p:txBody>
      </p:sp>
      <p:sp>
        <p:nvSpPr>
          <p:cNvPr id="447" name="Google Shape;447;g3f82b020a63_0_128"/>
          <p:cNvSpPr/>
          <p:nvPr/>
        </p:nvSpPr>
        <p:spPr>
          <a:xfrm>
            <a:off x="9141800" y="2498598"/>
            <a:ext cx="2561100" cy="1199700"/>
          </a:xfrm>
          <a:prstGeom prst="roundRect">
            <a:avLst>
              <a:gd name="adj" fmla="val 20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448" name="Google Shape;448;g3f82b020a63_0_128"/>
          <p:cNvSpPr txBox="1"/>
          <p:nvPr/>
        </p:nvSpPr>
        <p:spPr>
          <a:xfrm>
            <a:off x="9141776" y="2874378"/>
            <a:ext cx="2561100" cy="500137"/>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600"/>
              <a:buFont typeface="Arial"/>
              <a:buNone/>
            </a:pPr>
            <a:r>
              <a:rPr lang="ja-JP" sz="2600" b="1" i="0" u="none" strike="noStrike" cap="none" dirty="0">
                <a:solidFill>
                  <a:srgbClr val="F4F7FD"/>
                </a:solidFill>
                <a:latin typeface="Arial"/>
                <a:ea typeface="Arial"/>
                <a:cs typeface="Arial"/>
                <a:sym typeface="Arial"/>
              </a:rPr>
              <a:t>広告・SP</a:t>
            </a:r>
            <a:endParaRPr sz="2000" b="0" i="0" u="none" strike="noStrike" cap="none" dirty="0">
              <a:solidFill>
                <a:srgbClr val="000000"/>
              </a:solidFill>
              <a:latin typeface="Arial"/>
              <a:ea typeface="Arial"/>
              <a:cs typeface="Arial"/>
              <a:sym typeface="Arial"/>
            </a:endParaRPr>
          </a:p>
        </p:txBody>
      </p:sp>
      <p:sp>
        <p:nvSpPr>
          <p:cNvPr id="449" name="Google Shape;449;g3f82b020a63_0_128"/>
          <p:cNvSpPr/>
          <p:nvPr/>
        </p:nvSpPr>
        <p:spPr>
          <a:xfrm>
            <a:off x="1855259" y="4036946"/>
            <a:ext cx="2561100" cy="1199700"/>
          </a:xfrm>
          <a:prstGeom prst="roundRect">
            <a:avLst>
              <a:gd name="adj" fmla="val 20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450" name="Google Shape;450;g3f82b020a63_0_128"/>
          <p:cNvSpPr txBox="1"/>
          <p:nvPr/>
        </p:nvSpPr>
        <p:spPr>
          <a:xfrm>
            <a:off x="1855246" y="4422455"/>
            <a:ext cx="2561100" cy="500137"/>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デジタル</a:t>
            </a:r>
            <a:endParaRPr sz="2000" b="0" i="0" u="none" strike="noStrike" cap="none">
              <a:solidFill>
                <a:srgbClr val="000000"/>
              </a:solidFill>
              <a:latin typeface="Arial"/>
              <a:ea typeface="Arial"/>
              <a:cs typeface="Arial"/>
              <a:sym typeface="Arial"/>
            </a:endParaRPr>
          </a:p>
        </p:txBody>
      </p:sp>
      <p:sp>
        <p:nvSpPr>
          <p:cNvPr id="451" name="Google Shape;451;g3f82b020a63_0_128"/>
          <p:cNvSpPr/>
          <p:nvPr/>
        </p:nvSpPr>
        <p:spPr>
          <a:xfrm>
            <a:off x="4594975" y="4015973"/>
            <a:ext cx="2561100" cy="1220700"/>
          </a:xfrm>
          <a:prstGeom prst="roundRect">
            <a:avLst>
              <a:gd name="adj" fmla="val 20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452" name="Google Shape;452;g3f82b020a63_0_128"/>
          <p:cNvSpPr txBox="1"/>
          <p:nvPr/>
        </p:nvSpPr>
        <p:spPr>
          <a:xfrm>
            <a:off x="4610707" y="4422464"/>
            <a:ext cx="2561100" cy="500137"/>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イベント・観光</a:t>
            </a:r>
            <a:endParaRPr sz="2000" b="0" i="0" u="none" strike="noStrike" cap="none">
              <a:solidFill>
                <a:srgbClr val="000000"/>
              </a:solidFill>
              <a:latin typeface="Arial"/>
              <a:ea typeface="Arial"/>
              <a:cs typeface="Arial"/>
              <a:sym typeface="Arial"/>
            </a:endParaRPr>
          </a:p>
        </p:txBody>
      </p:sp>
      <p:sp>
        <p:nvSpPr>
          <p:cNvPr id="453" name="Google Shape;453;g3f82b020a63_0_128"/>
          <p:cNvSpPr/>
          <p:nvPr/>
        </p:nvSpPr>
        <p:spPr>
          <a:xfrm>
            <a:off x="7366150" y="4015973"/>
            <a:ext cx="2561100" cy="1220700"/>
          </a:xfrm>
          <a:prstGeom prst="roundRect">
            <a:avLst>
              <a:gd name="adj" fmla="val 20000"/>
            </a:avLst>
          </a:prstGeom>
          <a:solidFill>
            <a:srgbClr val="111F3E"/>
          </a:solidFill>
          <a:ln w="12700" cap="flat" cmpd="sng">
            <a:solidFill>
              <a:srgbClr val="25365E"/>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chemeClr val="lt1"/>
              </a:solidFill>
              <a:latin typeface="Arial"/>
              <a:ea typeface="Arial"/>
              <a:cs typeface="Arial"/>
              <a:sym typeface="Arial"/>
            </a:endParaRPr>
          </a:p>
        </p:txBody>
      </p:sp>
      <p:sp>
        <p:nvSpPr>
          <p:cNvPr id="454" name="Google Shape;454;g3f82b020a63_0_128"/>
          <p:cNvSpPr txBox="1"/>
          <p:nvPr/>
        </p:nvSpPr>
        <p:spPr>
          <a:xfrm>
            <a:off x="7366159" y="4422455"/>
            <a:ext cx="2561100" cy="500137"/>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IPコラボ</a:t>
            </a:r>
            <a:endParaRPr sz="2000" b="0" i="0" u="none" strike="noStrike" cap="none">
              <a:solidFill>
                <a:srgbClr val="000000"/>
              </a:solidFill>
              <a:latin typeface="Arial"/>
              <a:ea typeface="Arial"/>
              <a:cs typeface="Arial"/>
              <a:sym typeface="Arial"/>
            </a:endParaRPr>
          </a:p>
        </p:txBody>
      </p:sp>
      <p:sp>
        <p:nvSpPr>
          <p:cNvPr id="455" name="Google Shape;455;g3f82b020a63_0_128"/>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06|FOR ALL PARTNERS</a:t>
            </a:r>
            <a:endParaRPr sz="1400" b="0" i="0" u="none" strike="noStrike" cap="none">
              <a:solidFill>
                <a:srgbClr val="000000"/>
              </a:solidFill>
              <a:latin typeface="Arial"/>
              <a:ea typeface="Arial"/>
              <a:cs typeface="Arial"/>
              <a:sym typeface="Arial"/>
            </a:endParaRPr>
          </a:p>
        </p:txBody>
      </p:sp>
      <p:sp>
        <p:nvSpPr>
          <p:cNvPr id="456" name="Google Shape;456;g3f82b020a63_0_128"/>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本日ご参加の皆さまと、作りたいこと</a:t>
            </a:r>
            <a:endParaRPr sz="2200" b="0" i="0" u="none" strike="noStrike" cap="none">
              <a:solidFill>
                <a:srgbClr val="000000"/>
              </a:solidFill>
              <a:latin typeface="Arial"/>
              <a:ea typeface="Arial"/>
              <a:cs typeface="Arial"/>
              <a:sym typeface="Arial"/>
            </a:endParaRPr>
          </a:p>
        </p:txBody>
      </p:sp>
      <p:sp>
        <p:nvSpPr>
          <p:cNvPr id="457" name="Google Shape;457;g3f82b020a63_0_128"/>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8" name="Google Shape;458;g3f82b020a63_0_128"/>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7つのカテゴリーで、企画をご提案</a:t>
            </a:r>
            <a:endParaRPr sz="2800" b="1" i="0" u="none" strike="noStrike" cap="none">
              <a:solidFill>
                <a:srgbClr val="7FA8E0"/>
              </a:solidFill>
              <a:latin typeface="Arial"/>
              <a:ea typeface="Arial"/>
              <a:cs typeface="Arial"/>
              <a:sym typeface="Arial"/>
            </a:endParaRPr>
          </a:p>
        </p:txBody>
      </p:sp>
      <p:sp>
        <p:nvSpPr>
          <p:cNvPr id="459" name="Google Shape;459;g3f82b020a63_0_128"/>
          <p:cNvSpPr/>
          <p:nvPr/>
        </p:nvSpPr>
        <p:spPr>
          <a:xfrm>
            <a:off x="58681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0" name="Google Shape;460;g3f82b020a63_0_128"/>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1" name="Google Shape;461;g3f82b020a63_0_128"/>
          <p:cNvSpPr txBox="1"/>
          <p:nvPr/>
        </p:nvSpPr>
        <p:spPr>
          <a:xfrm>
            <a:off x="617514" y="5921556"/>
            <a:ext cx="10744200" cy="538609"/>
          </a:xfrm>
          <a:prstGeom prst="rect">
            <a:avLst/>
          </a:prstGeom>
          <a:noFill/>
          <a:ln>
            <a:noFill/>
          </a:ln>
        </p:spPr>
        <p:txBody>
          <a:bodyPr spcFirstLastPara="1" wrap="square" lIns="0" tIns="0" rIns="0" bIns="0" anchor="ctr"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主役は皆さまの事業。円谷はIPと発信力で伴走します。</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502"/>
        <p:cNvGrpSpPr/>
        <p:nvPr/>
      </p:nvGrpSpPr>
      <p:grpSpPr>
        <a:xfrm>
          <a:off x="0" y="0"/>
          <a:ext cx="0" cy="0"/>
          <a:chOff x="0" y="0"/>
          <a:chExt cx="0" cy="0"/>
        </a:xfrm>
      </p:grpSpPr>
      <p:sp>
        <p:nvSpPr>
          <p:cNvPr id="503" name="Google Shape;503;g3f82b020a63_1_114"/>
          <p:cNvSpPr txBox="1"/>
          <p:nvPr/>
        </p:nvSpPr>
        <p:spPr>
          <a:xfrm>
            <a:off x="502920" y="292608"/>
            <a:ext cx="8732400" cy="211596"/>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dirty="0">
                <a:solidFill>
                  <a:srgbClr val="E8382F"/>
                </a:solidFill>
                <a:latin typeface="Arial"/>
                <a:ea typeface="Arial"/>
                <a:cs typeface="Arial"/>
                <a:sym typeface="Arial"/>
              </a:rPr>
              <a:t>07|FOR</a:t>
            </a:r>
            <a:r>
              <a:rPr lang="en-US" altLang="ja-JP" sz="1100" b="1" i="0" u="none" strike="noStrike" cap="none" dirty="0">
                <a:solidFill>
                  <a:srgbClr val="E8382F"/>
                </a:solidFill>
                <a:latin typeface="Arial"/>
                <a:ea typeface="Arial"/>
                <a:cs typeface="Arial"/>
                <a:sym typeface="Arial"/>
              </a:rPr>
              <a:t> MD</a:t>
            </a:r>
            <a:endParaRPr sz="1400" b="0" i="0" u="none" strike="noStrike" cap="none" dirty="0">
              <a:solidFill>
                <a:srgbClr val="000000"/>
              </a:solidFill>
              <a:latin typeface="Arial"/>
              <a:ea typeface="Arial"/>
              <a:cs typeface="Arial"/>
              <a:sym typeface="Arial"/>
            </a:endParaRPr>
          </a:p>
        </p:txBody>
      </p:sp>
      <p:sp>
        <p:nvSpPr>
          <p:cNvPr id="504" name="Google Shape;504;g3f82b020a63_1_114"/>
          <p:cNvSpPr txBox="1"/>
          <p:nvPr/>
        </p:nvSpPr>
        <p:spPr>
          <a:xfrm>
            <a:off x="502926" y="566925"/>
            <a:ext cx="9815400" cy="562911"/>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100"/>
              <a:buFont typeface="Arial"/>
              <a:buNone/>
            </a:pPr>
            <a:r>
              <a:rPr lang="en-US" altLang="ja-JP" sz="3100" b="1" dirty="0">
                <a:solidFill>
                  <a:srgbClr val="F4F7FD"/>
                </a:solidFill>
              </a:rPr>
              <a:t>MD</a:t>
            </a:r>
            <a:r>
              <a:rPr lang="ja-JP" sz="3100" b="1" i="0" u="none" strike="noStrike" cap="none" dirty="0">
                <a:solidFill>
                  <a:srgbClr val="F4F7FD"/>
                </a:solidFill>
                <a:latin typeface="Arial"/>
                <a:ea typeface="Arial"/>
                <a:cs typeface="Arial"/>
                <a:sym typeface="Arial"/>
              </a:rPr>
              <a:t>|2027新展開 商品化案</a:t>
            </a:r>
            <a:endParaRPr sz="2300" b="0" i="0" u="none" strike="noStrike" cap="none" dirty="0">
              <a:solidFill>
                <a:srgbClr val="000000"/>
              </a:solidFill>
              <a:latin typeface="Arial"/>
              <a:ea typeface="Arial"/>
              <a:cs typeface="Arial"/>
              <a:sym typeface="Arial"/>
            </a:endParaRPr>
          </a:p>
        </p:txBody>
      </p:sp>
      <p:sp>
        <p:nvSpPr>
          <p:cNvPr id="505" name="Google Shape;505;g3f82b020a63_1_114"/>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6" name="Google Shape;506;g3f82b020a63_1_114"/>
          <p:cNvSpPr txBox="1"/>
          <p:nvPr/>
        </p:nvSpPr>
        <p:spPr>
          <a:xfrm>
            <a:off x="502920" y="1418159"/>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dirty="0">
                <a:solidFill>
                  <a:srgbClr val="7FA8E0"/>
                </a:solidFill>
                <a:latin typeface="Arial"/>
                <a:ea typeface="Arial"/>
                <a:cs typeface="Arial"/>
                <a:sym typeface="Arial"/>
              </a:rPr>
              <a:t>2027年の初速を、一緒に作る5つの</a:t>
            </a:r>
            <a:r>
              <a:rPr lang="ja-JP" altLang="en-US" sz="2800" b="1" dirty="0">
                <a:solidFill>
                  <a:srgbClr val="7FA8E0"/>
                </a:solidFill>
              </a:rPr>
              <a:t>方向性</a:t>
            </a:r>
            <a:endParaRPr sz="2800" b="1" i="0" u="none" strike="noStrike" cap="none" dirty="0">
              <a:solidFill>
                <a:srgbClr val="000000"/>
              </a:solidFill>
              <a:latin typeface="Arial"/>
              <a:ea typeface="Arial"/>
              <a:cs typeface="Arial"/>
              <a:sym typeface="Arial"/>
            </a:endParaRPr>
          </a:p>
        </p:txBody>
      </p:sp>
      <p:sp>
        <p:nvSpPr>
          <p:cNvPr id="507" name="Google Shape;507;g3f82b020a63_1_114"/>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8" name="Google Shape;508;g3f82b020a63_1_114"/>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9" name="Google Shape;509;g3f82b020a63_1_114"/>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2027年の初速商品は、今日から仕込みが始まります。</a:t>
            </a:r>
            <a:endParaRPr sz="2800" b="0" i="0" u="none" strike="noStrike" cap="none">
              <a:solidFill>
                <a:srgbClr val="000000"/>
              </a:solidFill>
              <a:latin typeface="Arial"/>
              <a:ea typeface="Arial"/>
              <a:cs typeface="Arial"/>
              <a:sym typeface="Arial"/>
            </a:endParaRPr>
          </a:p>
        </p:txBody>
      </p:sp>
      <p:pic>
        <p:nvPicPr>
          <p:cNvPr id="510" name="Google Shape;510;g3f82b020a63_1_114" descr="s07_17_apparel.png"/>
          <p:cNvPicPr preferRelativeResize="0"/>
          <p:nvPr/>
        </p:nvPicPr>
        <p:blipFill rotWithShape="1">
          <a:blip r:embed="rId3">
            <a:alphaModFix/>
          </a:blip>
          <a:srcRect/>
          <a:stretch/>
        </p:blipFill>
        <p:spPr>
          <a:xfrm>
            <a:off x="6492240" y="2103120"/>
            <a:ext cx="5193792" cy="2286001"/>
          </a:xfrm>
          <a:prstGeom prst="rect">
            <a:avLst/>
          </a:prstGeom>
          <a:noFill/>
          <a:ln>
            <a:noFill/>
          </a:ln>
        </p:spPr>
      </p:pic>
      <p:pic>
        <p:nvPicPr>
          <p:cNvPr id="511" name="Google Shape;511;g3f82b020a63_1_114" descr="s07_19_premium.png"/>
          <p:cNvPicPr preferRelativeResize="0"/>
          <p:nvPr/>
        </p:nvPicPr>
        <p:blipFill rotWithShape="1">
          <a:blip r:embed="rId4">
            <a:alphaModFix/>
          </a:blip>
          <a:srcRect/>
          <a:stretch/>
        </p:blipFill>
        <p:spPr>
          <a:xfrm>
            <a:off x="8253787" y="4498848"/>
            <a:ext cx="1651819" cy="1088136"/>
          </a:xfrm>
          <a:prstGeom prst="rect">
            <a:avLst/>
          </a:prstGeom>
          <a:noFill/>
          <a:ln>
            <a:noFill/>
          </a:ln>
        </p:spPr>
      </p:pic>
      <p:pic>
        <p:nvPicPr>
          <p:cNvPr id="512" name="Google Shape;512;g3f82b020a63_1_114" descr="s07_17_baiba.png"/>
          <p:cNvPicPr preferRelativeResize="0"/>
          <p:nvPr/>
        </p:nvPicPr>
        <p:blipFill rotWithShape="1">
          <a:blip r:embed="rId5">
            <a:alphaModFix/>
          </a:blip>
          <a:srcRect/>
          <a:stretch/>
        </p:blipFill>
        <p:spPr>
          <a:xfrm>
            <a:off x="10015334" y="4498848"/>
            <a:ext cx="1651819" cy="1088136"/>
          </a:xfrm>
          <a:prstGeom prst="rect">
            <a:avLst/>
          </a:prstGeom>
          <a:noFill/>
          <a:ln>
            <a:noFill/>
          </a:ln>
        </p:spPr>
      </p:pic>
      <p:sp>
        <p:nvSpPr>
          <p:cNvPr id="514" name="Google Shape;514;g3f82b020a63_1_114"/>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新作連動MD</a:t>
            </a:r>
            <a:endParaRPr sz="2900" b="0" i="0" u="none" strike="noStrike" cap="none" dirty="0">
              <a:solidFill>
                <a:srgbClr val="000000"/>
              </a:solidFill>
              <a:latin typeface="Arial"/>
              <a:ea typeface="Arial"/>
              <a:cs typeface="Arial"/>
              <a:sym typeface="Arial"/>
            </a:endParaRPr>
          </a:p>
        </p:txBody>
      </p:sp>
      <p:sp>
        <p:nvSpPr>
          <p:cNvPr id="516" name="Google Shape;516;g3f82b020a63_1_114"/>
          <p:cNvSpPr txBox="1"/>
          <p:nvPr/>
        </p:nvSpPr>
        <p:spPr>
          <a:xfrm>
            <a:off x="896112" y="35295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怪獣コレクション</a:t>
            </a:r>
            <a:endParaRPr sz="2900" b="0" i="0" u="none" strike="noStrike" cap="none" dirty="0">
              <a:solidFill>
                <a:srgbClr val="000000"/>
              </a:solidFill>
              <a:latin typeface="Arial"/>
              <a:ea typeface="Arial"/>
              <a:cs typeface="Arial"/>
              <a:sym typeface="Arial"/>
            </a:endParaRPr>
          </a:p>
        </p:txBody>
      </p:sp>
      <p:sp>
        <p:nvSpPr>
          <p:cNvPr id="517" name="Google Shape;517;g3f82b020a63_1_114"/>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大人ファン向けプレミアム商品</a:t>
            </a:r>
            <a:endParaRPr sz="2900" b="0" i="0" u="none" strike="noStrike" cap="none" dirty="0">
              <a:solidFill>
                <a:srgbClr val="000000"/>
              </a:solidFill>
              <a:latin typeface="Arial"/>
              <a:ea typeface="Arial"/>
              <a:cs typeface="Arial"/>
              <a:sym typeface="Arial"/>
            </a:endParaRPr>
          </a:p>
        </p:txBody>
      </p:sp>
      <p:sp>
        <p:nvSpPr>
          <p:cNvPr id="518" name="Google Shape;518;g3f82b020a63_1_114"/>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女性ライト層向け雑貨</a:t>
            </a:r>
            <a:endParaRPr sz="2900" b="0" i="0" u="none" strike="noStrike" cap="none">
              <a:solidFill>
                <a:srgbClr val="000000"/>
              </a:solidFill>
              <a:latin typeface="Arial"/>
              <a:ea typeface="Arial"/>
              <a:cs typeface="Arial"/>
              <a:sym typeface="Arial"/>
            </a:endParaRPr>
          </a:p>
        </p:txBody>
      </p:sp>
      <p:sp>
        <p:nvSpPr>
          <p:cNvPr id="519" name="Google Shape;519;g3f82b020a63_1_114"/>
          <p:cNvSpPr/>
          <p:nvPr/>
        </p:nvSpPr>
        <p:spPr>
          <a:xfrm>
            <a:off x="228650" y="2071675"/>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520" name="Google Shape;520;g3f82b020a63_1_114"/>
          <p:cNvSpPr/>
          <p:nvPr/>
        </p:nvSpPr>
        <p:spPr>
          <a:xfrm>
            <a:off x="228650" y="2827900"/>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521" name="Google Shape;521;g3f82b020a63_1_114"/>
          <p:cNvSpPr/>
          <p:nvPr/>
        </p:nvSpPr>
        <p:spPr>
          <a:xfrm>
            <a:off x="228650" y="3541138"/>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522" name="Google Shape;522;g3f82b020a63_1_114"/>
          <p:cNvSpPr/>
          <p:nvPr/>
        </p:nvSpPr>
        <p:spPr>
          <a:xfrm>
            <a:off x="228650" y="4254375"/>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523" name="Google Shape;523;g3f82b020a63_1_114"/>
          <p:cNvSpPr/>
          <p:nvPr/>
        </p:nvSpPr>
        <p:spPr>
          <a:xfrm>
            <a:off x="228650" y="4967600"/>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sp>
        <p:nvSpPr>
          <p:cNvPr id="2" name="Google Shape;516;g3f82b020a63_1_114">
            <a:extLst>
              <a:ext uri="{FF2B5EF4-FFF2-40B4-BE49-F238E27FC236}">
                <a16:creationId xmlns:a16="http://schemas.microsoft.com/office/drawing/2014/main" id="{1211DC26-6000-875D-7DB6-AECF8C78D905}"/>
              </a:ext>
            </a:extLst>
          </p:cNvPr>
          <p:cNvSpPr txBox="1"/>
          <p:nvPr/>
        </p:nvSpPr>
        <p:spPr>
          <a:xfrm>
            <a:off x="896112" y="28591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歴代ヒーローコレクション</a:t>
            </a:r>
            <a:endParaRPr sz="29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568"/>
        <p:cNvGrpSpPr/>
        <p:nvPr/>
      </p:nvGrpSpPr>
      <p:grpSpPr>
        <a:xfrm>
          <a:off x="0" y="0"/>
          <a:ext cx="0" cy="0"/>
          <a:chOff x="0" y="0"/>
          <a:chExt cx="0" cy="0"/>
        </a:xfrm>
      </p:grpSpPr>
      <p:sp>
        <p:nvSpPr>
          <p:cNvPr id="569" name="Google Shape;569;g3f82b020a63_1_189"/>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08|FOR 食品・飲料・外食</a:t>
            </a:r>
            <a:endParaRPr sz="1400" b="0" i="0" u="none" strike="noStrike" cap="none">
              <a:solidFill>
                <a:srgbClr val="000000"/>
              </a:solidFill>
              <a:latin typeface="Arial"/>
              <a:ea typeface="Arial"/>
              <a:cs typeface="Arial"/>
              <a:sym typeface="Arial"/>
            </a:endParaRPr>
          </a:p>
        </p:txBody>
      </p:sp>
      <p:sp>
        <p:nvSpPr>
          <p:cNvPr id="570" name="Google Shape;570;g3f82b020a63_1_189"/>
          <p:cNvSpPr txBox="1"/>
          <p:nvPr/>
        </p:nvSpPr>
        <p:spPr>
          <a:xfrm>
            <a:off x="502919" y="566928"/>
            <a:ext cx="10918231"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dirty="0">
                <a:solidFill>
                  <a:srgbClr val="F4F7FD"/>
                </a:solidFill>
                <a:latin typeface="Arial"/>
                <a:ea typeface="Arial"/>
                <a:cs typeface="Arial"/>
                <a:sym typeface="Arial"/>
              </a:rPr>
              <a:t>食品・飲料・外食向け|</a:t>
            </a:r>
            <a:r>
              <a:rPr lang="ja-JP" altLang="en-US" sz="3200" b="1" dirty="0">
                <a:solidFill>
                  <a:srgbClr val="F4F7FD"/>
                </a:solidFill>
              </a:rPr>
              <a:t>ファミリー</a:t>
            </a:r>
            <a:r>
              <a:rPr lang="ja-JP" sz="3200" b="1" i="0" u="none" strike="noStrike" cap="none" dirty="0">
                <a:solidFill>
                  <a:srgbClr val="F4F7FD"/>
                </a:solidFill>
                <a:latin typeface="Arial"/>
                <a:ea typeface="Arial"/>
                <a:cs typeface="Arial"/>
                <a:sym typeface="Arial"/>
              </a:rPr>
              <a:t>キャンペーン案</a:t>
            </a:r>
            <a:endParaRPr sz="2400" b="0" i="0" u="none" strike="noStrike" cap="none" dirty="0">
              <a:solidFill>
                <a:srgbClr val="000000"/>
              </a:solidFill>
              <a:latin typeface="Arial"/>
              <a:ea typeface="Arial"/>
              <a:cs typeface="Arial"/>
              <a:sym typeface="Arial"/>
            </a:endParaRPr>
          </a:p>
        </p:txBody>
      </p:sp>
      <p:sp>
        <p:nvSpPr>
          <p:cNvPr id="571" name="Google Shape;571;g3f82b020a63_1_189"/>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2" name="Google Shape;572;g3f82b020a63_1_189"/>
          <p:cNvSpPr txBox="1"/>
          <p:nvPr/>
        </p:nvSpPr>
        <p:spPr>
          <a:xfrm>
            <a:off x="502920" y="1439131"/>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altLang="en-US" sz="2800" b="1" i="0" u="none" strike="noStrike" cap="none" dirty="0">
                <a:solidFill>
                  <a:srgbClr val="7FA8E0"/>
                </a:solidFill>
                <a:latin typeface="Arial"/>
                <a:ea typeface="Arial"/>
                <a:cs typeface="Arial"/>
                <a:sym typeface="Arial"/>
              </a:rPr>
              <a:t>ファミリー</a:t>
            </a:r>
            <a:r>
              <a:rPr lang="ja-JP" sz="2800" b="1" i="0" u="none" strike="noStrike" cap="none" dirty="0">
                <a:solidFill>
                  <a:srgbClr val="7FA8E0"/>
                </a:solidFill>
                <a:latin typeface="Arial"/>
                <a:ea typeface="Arial"/>
                <a:cs typeface="Arial"/>
                <a:sym typeface="Arial"/>
              </a:rPr>
              <a:t>需要 × 映画・イベントの山</a:t>
            </a:r>
            <a:endParaRPr sz="2800" b="0" i="0" u="none" strike="noStrike" cap="none" dirty="0">
              <a:solidFill>
                <a:srgbClr val="000000"/>
              </a:solidFill>
              <a:latin typeface="Arial"/>
              <a:ea typeface="Arial"/>
              <a:cs typeface="Arial"/>
              <a:sym typeface="Arial"/>
            </a:endParaRPr>
          </a:p>
        </p:txBody>
      </p:sp>
      <p:sp>
        <p:nvSpPr>
          <p:cNvPr id="573" name="Google Shape;573;g3f82b020a63_1_189"/>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4" name="Google Shape;574;g3f82b020a63_1_189"/>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5" name="Google Shape;575;g3f82b020a63_1_189"/>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親子の熱量を、購入・来店・応募につなげる。</a:t>
            </a:r>
            <a:endParaRPr sz="2800" b="0" i="0" u="none" strike="noStrike" cap="none">
              <a:solidFill>
                <a:srgbClr val="000000"/>
              </a:solidFill>
              <a:latin typeface="Arial"/>
              <a:ea typeface="Arial"/>
              <a:cs typeface="Arial"/>
              <a:sym typeface="Arial"/>
            </a:endParaRPr>
          </a:p>
        </p:txBody>
      </p:sp>
      <p:sp>
        <p:nvSpPr>
          <p:cNvPr id="576" name="Google Shape;576;g3f82b020a63_1_189"/>
          <p:cNvSpPr/>
          <p:nvPr/>
        </p:nvSpPr>
        <p:spPr>
          <a:xfrm>
            <a:off x="6492240"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購入特典カード</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sp>
        <p:nvSpPr>
          <p:cNvPr id="577" name="Google Shape;577;g3f82b020a63_1_189"/>
          <p:cNvSpPr/>
          <p:nvPr/>
        </p:nvSpPr>
        <p:spPr>
          <a:xfrm>
            <a:off x="8253787"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半券キャンペーン</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pic>
        <p:nvPicPr>
          <p:cNvPr id="578" name="Google Shape;578;g3f82b020a63_1_189" descr="s08_20_menu.png"/>
          <p:cNvPicPr preferRelativeResize="0"/>
          <p:nvPr/>
        </p:nvPicPr>
        <p:blipFill rotWithShape="1">
          <a:blip r:embed="rId3">
            <a:alphaModFix/>
          </a:blip>
          <a:srcRect/>
          <a:stretch/>
        </p:blipFill>
        <p:spPr>
          <a:xfrm>
            <a:off x="6492240" y="2103120"/>
            <a:ext cx="5193792" cy="2286001"/>
          </a:xfrm>
          <a:prstGeom prst="rect">
            <a:avLst/>
          </a:prstGeom>
          <a:noFill/>
          <a:ln>
            <a:noFill/>
          </a:ln>
        </p:spPr>
      </p:pic>
      <p:sp>
        <p:nvSpPr>
          <p:cNvPr id="580" name="Google Shape;580;g3f82b020a63_1_189"/>
          <p:cNvSpPr txBox="1"/>
          <p:nvPr/>
        </p:nvSpPr>
        <p:spPr>
          <a:xfrm>
            <a:off x="896112" y="2064203"/>
            <a:ext cx="5440800" cy="500137"/>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00"/>
              <a:buFont typeface="Arial"/>
              <a:buNone/>
            </a:pPr>
            <a:r>
              <a:rPr lang="ja-JP" sz="2600" b="0" i="0" u="none" strike="noStrike" cap="none" dirty="0">
                <a:solidFill>
                  <a:srgbClr val="F4F7FD"/>
                </a:solidFill>
                <a:latin typeface="Arial"/>
                <a:ea typeface="Arial"/>
                <a:cs typeface="Arial"/>
                <a:sym typeface="Arial"/>
              </a:rPr>
              <a:t>限定パッケージ</a:t>
            </a:r>
            <a:endParaRPr sz="2900" b="0" i="0" u="none" strike="noStrike" cap="none" dirty="0">
              <a:solidFill>
                <a:srgbClr val="000000"/>
              </a:solidFill>
              <a:latin typeface="Arial"/>
              <a:ea typeface="Arial"/>
              <a:cs typeface="Arial"/>
              <a:sym typeface="Arial"/>
            </a:endParaRPr>
          </a:p>
        </p:txBody>
      </p:sp>
      <p:sp>
        <p:nvSpPr>
          <p:cNvPr id="581" name="Google Shape;581;g3f82b020a63_1_189"/>
          <p:cNvSpPr txBox="1"/>
          <p:nvPr/>
        </p:nvSpPr>
        <p:spPr>
          <a:xfrm>
            <a:off x="896112" y="2792091"/>
            <a:ext cx="5440800" cy="500137"/>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00"/>
              <a:buFont typeface="Arial"/>
              <a:buNone/>
            </a:pPr>
            <a:r>
              <a:rPr lang="ja-JP" sz="2600" b="0" i="0" u="none" strike="noStrike" cap="none" dirty="0">
                <a:solidFill>
                  <a:srgbClr val="F4F7FD"/>
                </a:solidFill>
                <a:latin typeface="Arial"/>
                <a:ea typeface="Arial"/>
                <a:cs typeface="Arial"/>
                <a:sym typeface="Arial"/>
              </a:rPr>
              <a:t>購入特典</a:t>
            </a:r>
            <a:endParaRPr sz="2900" b="0" i="0" u="none" strike="noStrike" cap="none" dirty="0">
              <a:solidFill>
                <a:srgbClr val="000000"/>
              </a:solidFill>
              <a:latin typeface="Arial"/>
              <a:ea typeface="Arial"/>
              <a:cs typeface="Arial"/>
              <a:sym typeface="Arial"/>
            </a:endParaRPr>
          </a:p>
        </p:txBody>
      </p:sp>
      <p:sp>
        <p:nvSpPr>
          <p:cNvPr id="582" name="Google Shape;582;g3f82b020a63_1_189"/>
          <p:cNvSpPr txBox="1"/>
          <p:nvPr/>
        </p:nvSpPr>
        <p:spPr>
          <a:xfrm>
            <a:off x="896112" y="3547270"/>
            <a:ext cx="5440800" cy="500137"/>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00"/>
              <a:buFont typeface="Arial"/>
              <a:buNone/>
            </a:pPr>
            <a:r>
              <a:rPr lang="ja-JP" sz="2600" b="0" i="0" u="none" strike="noStrike" cap="none" dirty="0">
                <a:solidFill>
                  <a:srgbClr val="F4F7FD"/>
                </a:solidFill>
                <a:latin typeface="Arial"/>
                <a:ea typeface="Arial"/>
                <a:cs typeface="Arial"/>
                <a:sym typeface="Arial"/>
              </a:rPr>
              <a:t>映画半券キャンペーン</a:t>
            </a:r>
            <a:endParaRPr sz="2900" b="0" i="0" u="none" strike="noStrike" cap="none" dirty="0">
              <a:solidFill>
                <a:srgbClr val="000000"/>
              </a:solidFill>
              <a:latin typeface="Arial"/>
              <a:ea typeface="Arial"/>
              <a:cs typeface="Arial"/>
              <a:sym typeface="Arial"/>
            </a:endParaRPr>
          </a:p>
        </p:txBody>
      </p:sp>
      <p:sp>
        <p:nvSpPr>
          <p:cNvPr id="583" name="Google Shape;583;g3f82b020a63_1_189"/>
          <p:cNvSpPr txBox="1"/>
          <p:nvPr/>
        </p:nvSpPr>
        <p:spPr>
          <a:xfrm>
            <a:off x="896112" y="4351531"/>
            <a:ext cx="5440800" cy="480901"/>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500"/>
              <a:buFont typeface="Arial"/>
              <a:buNone/>
            </a:pPr>
            <a:r>
              <a:rPr lang="ja-JP" sz="2500" b="0" i="0" u="none" strike="noStrike" cap="none" dirty="0">
                <a:solidFill>
                  <a:srgbClr val="F4F7FD"/>
                </a:solidFill>
                <a:latin typeface="Arial"/>
                <a:ea typeface="Arial"/>
                <a:cs typeface="Arial"/>
                <a:sym typeface="Arial"/>
              </a:rPr>
              <a:t>ペア応募</a:t>
            </a:r>
            <a:endParaRPr sz="2800" b="0" i="0" u="none" strike="noStrike" cap="none" dirty="0">
              <a:solidFill>
                <a:srgbClr val="000000"/>
              </a:solidFill>
              <a:latin typeface="Arial"/>
              <a:ea typeface="Arial"/>
              <a:cs typeface="Arial"/>
              <a:sym typeface="Arial"/>
            </a:endParaRPr>
          </a:p>
        </p:txBody>
      </p:sp>
      <p:sp>
        <p:nvSpPr>
          <p:cNvPr id="584" name="Google Shape;584;g3f82b020a63_1_189"/>
          <p:cNvSpPr txBox="1"/>
          <p:nvPr/>
        </p:nvSpPr>
        <p:spPr>
          <a:xfrm>
            <a:off x="896112" y="5073661"/>
            <a:ext cx="5440800" cy="500137"/>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00"/>
              <a:buFont typeface="Arial"/>
              <a:buNone/>
            </a:pPr>
            <a:r>
              <a:rPr lang="ja-JP" sz="2600" b="0" i="0" u="none" strike="noStrike" cap="none">
                <a:solidFill>
                  <a:srgbClr val="F4F7FD"/>
                </a:solidFill>
                <a:latin typeface="Arial"/>
                <a:ea typeface="Arial"/>
                <a:cs typeface="Arial"/>
                <a:sym typeface="Arial"/>
              </a:rPr>
              <a:t>外食コラボメニュー</a:t>
            </a:r>
            <a:endParaRPr sz="2900" b="0" i="0" u="none" strike="noStrike" cap="none">
              <a:solidFill>
                <a:srgbClr val="000000"/>
              </a:solidFill>
              <a:latin typeface="Arial"/>
              <a:ea typeface="Arial"/>
              <a:cs typeface="Arial"/>
              <a:sym typeface="Arial"/>
            </a:endParaRPr>
          </a:p>
        </p:txBody>
      </p:sp>
      <p:sp>
        <p:nvSpPr>
          <p:cNvPr id="585" name="Google Shape;585;g3f82b020a63_1_189"/>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586" name="Google Shape;586;g3f82b020a63_1_189"/>
          <p:cNvSpPr/>
          <p:nvPr/>
        </p:nvSpPr>
        <p:spPr>
          <a:xfrm>
            <a:off x="228650" y="278405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587" name="Google Shape;587;g3f82b020a63_1_189"/>
          <p:cNvSpPr/>
          <p:nvPr/>
        </p:nvSpPr>
        <p:spPr>
          <a:xfrm>
            <a:off x="228650" y="3527700"/>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588" name="Google Shape;588;g3f82b020a63_1_189"/>
          <p:cNvSpPr/>
          <p:nvPr/>
        </p:nvSpPr>
        <p:spPr>
          <a:xfrm>
            <a:off x="228650" y="4320432"/>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589" name="Google Shape;589;g3f82b020a63_1_189"/>
          <p:cNvSpPr/>
          <p:nvPr/>
        </p:nvSpPr>
        <p:spPr>
          <a:xfrm>
            <a:off x="228650" y="5051992"/>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pic>
        <p:nvPicPr>
          <p:cNvPr id="590" name="Google Shape;590;g3f82b020a63_1_189"/>
          <p:cNvPicPr preferRelativeResize="0"/>
          <p:nvPr/>
        </p:nvPicPr>
        <p:blipFill rotWithShape="1">
          <a:blip r:embed="rId4">
            <a:alphaModFix/>
          </a:blip>
          <a:srcRect t="14139" b="14125"/>
          <a:stretch/>
        </p:blipFill>
        <p:spPr>
          <a:xfrm>
            <a:off x="6492225" y="2097552"/>
            <a:ext cx="5174901" cy="2286000"/>
          </a:xfrm>
          <a:prstGeom prst="rect">
            <a:avLst/>
          </a:prstGeom>
          <a:noFill/>
          <a:ln>
            <a:noFill/>
          </a:ln>
        </p:spPr>
      </p:pic>
      <p:pic>
        <p:nvPicPr>
          <p:cNvPr id="591" name="Google Shape;591;g3f82b020a63_1_189"/>
          <p:cNvPicPr preferRelativeResize="0"/>
          <p:nvPr/>
        </p:nvPicPr>
        <p:blipFill rotWithShape="1">
          <a:blip r:embed="rId5">
            <a:alphaModFix/>
          </a:blip>
          <a:srcRect l="12663" r="12849" b="-3381"/>
          <a:stretch/>
        </p:blipFill>
        <p:spPr>
          <a:xfrm>
            <a:off x="8308654" y="4510949"/>
            <a:ext cx="1651801" cy="1150426"/>
          </a:xfrm>
          <a:prstGeom prst="rect">
            <a:avLst/>
          </a:prstGeom>
          <a:noFill/>
          <a:ln>
            <a:noFill/>
          </a:ln>
        </p:spPr>
      </p:pic>
      <p:pic>
        <p:nvPicPr>
          <p:cNvPr id="592" name="Google Shape;592;g3f82b020a63_1_189"/>
          <p:cNvPicPr preferRelativeResize="0"/>
          <p:nvPr/>
        </p:nvPicPr>
        <p:blipFill rotWithShape="1">
          <a:blip r:embed="rId6">
            <a:alphaModFix/>
          </a:blip>
          <a:srcRect t="6252" b="-12218"/>
          <a:stretch/>
        </p:blipFill>
        <p:spPr>
          <a:xfrm>
            <a:off x="10015323" y="4510782"/>
            <a:ext cx="1651800" cy="1292343"/>
          </a:xfrm>
          <a:prstGeom prst="rect">
            <a:avLst/>
          </a:prstGeom>
          <a:noFill/>
          <a:ln>
            <a:noFill/>
          </a:ln>
        </p:spPr>
      </p:pic>
      <p:pic>
        <p:nvPicPr>
          <p:cNvPr id="3" name="図 2">
            <a:extLst>
              <a:ext uri="{FF2B5EF4-FFF2-40B4-BE49-F238E27FC236}">
                <a16:creationId xmlns:a16="http://schemas.microsoft.com/office/drawing/2014/main" id="{3E92D369-075A-F366-5CDB-450365787E39}"/>
              </a:ext>
            </a:extLst>
          </p:cNvPr>
          <p:cNvPicPr>
            <a:picLocks noChangeAspect="1"/>
          </p:cNvPicPr>
          <p:nvPr/>
        </p:nvPicPr>
        <p:blipFill>
          <a:blip r:embed="rId7"/>
          <a:stretch>
            <a:fillRect/>
          </a:stretch>
        </p:blipFill>
        <p:spPr>
          <a:xfrm>
            <a:off x="6422514" y="4525302"/>
            <a:ext cx="1858706" cy="10528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632"/>
        <p:cNvGrpSpPr/>
        <p:nvPr/>
      </p:nvGrpSpPr>
      <p:grpSpPr>
        <a:xfrm>
          <a:off x="0" y="0"/>
          <a:ext cx="0" cy="0"/>
          <a:chOff x="0" y="0"/>
          <a:chExt cx="0" cy="0"/>
        </a:xfrm>
      </p:grpSpPr>
      <p:sp>
        <p:nvSpPr>
          <p:cNvPr id="633" name="Google Shape;633;g3f82b020a63_1_234"/>
          <p:cNvSpPr/>
          <p:nvPr/>
        </p:nvSpPr>
        <p:spPr>
          <a:xfrm>
            <a:off x="10210800" y="4572000"/>
            <a:ext cx="1465800" cy="1014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g3f82b020a63_1_234"/>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09|FOR 流通・EC・商業施設</a:t>
            </a:r>
            <a:endParaRPr sz="1400" b="0" i="0" u="none" strike="noStrike" cap="none">
              <a:solidFill>
                <a:srgbClr val="000000"/>
              </a:solidFill>
              <a:latin typeface="Arial"/>
              <a:ea typeface="Arial"/>
              <a:cs typeface="Arial"/>
              <a:sym typeface="Arial"/>
            </a:endParaRPr>
          </a:p>
        </p:txBody>
      </p:sp>
      <p:sp>
        <p:nvSpPr>
          <p:cNvPr id="635" name="Google Shape;635;g3f82b020a63_1_234"/>
          <p:cNvSpPr txBox="1"/>
          <p:nvPr/>
        </p:nvSpPr>
        <p:spPr>
          <a:xfrm>
            <a:off x="502919" y="566928"/>
            <a:ext cx="11430000" cy="54864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2800"/>
              <a:buFont typeface="Arial"/>
              <a:buNone/>
            </a:pPr>
            <a:r>
              <a:rPr lang="ja-JP" sz="2400" b="1" i="0" u="none" strike="noStrike" cap="none" dirty="0">
                <a:solidFill>
                  <a:srgbClr val="F4F7FD"/>
                </a:solidFill>
                <a:latin typeface="Arial"/>
                <a:ea typeface="Arial"/>
                <a:cs typeface="Arial"/>
                <a:sym typeface="Arial"/>
              </a:rPr>
              <a:t>流通・EC・商業施設向け|</a:t>
            </a:r>
            <a:r>
              <a:rPr lang="en-US" altLang="ja-JP" sz="2400" b="1" i="0" u="none" strike="noStrike" cap="none" dirty="0">
                <a:solidFill>
                  <a:srgbClr val="F4F7FD"/>
                </a:solidFill>
                <a:latin typeface="Arial"/>
                <a:ea typeface="Arial"/>
                <a:cs typeface="Arial"/>
                <a:sym typeface="Arial"/>
              </a:rPr>
              <a:t> </a:t>
            </a:r>
            <a:r>
              <a:rPr lang="ja-JP" sz="2400" b="1" i="0" u="none" strike="noStrike" cap="none" dirty="0">
                <a:solidFill>
                  <a:srgbClr val="F4F7FD"/>
                </a:solidFill>
                <a:latin typeface="Arial"/>
                <a:ea typeface="Arial"/>
                <a:cs typeface="Arial"/>
                <a:sym typeface="Arial"/>
              </a:rPr>
              <a:t>売場連動案</a:t>
            </a:r>
            <a:endParaRPr sz="2000" b="0" i="0" u="none" strike="noStrike" cap="none" dirty="0">
              <a:solidFill>
                <a:srgbClr val="000000"/>
              </a:solidFill>
              <a:latin typeface="Arial"/>
              <a:ea typeface="Arial"/>
              <a:cs typeface="Arial"/>
              <a:sym typeface="Arial"/>
            </a:endParaRPr>
          </a:p>
        </p:txBody>
      </p:sp>
      <p:sp>
        <p:nvSpPr>
          <p:cNvPr id="636" name="Google Shape;636;g3f82b020a63_1_234"/>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7" name="Google Shape;637;g3f82b020a63_1_234"/>
          <p:cNvSpPr txBox="1"/>
          <p:nvPr/>
        </p:nvSpPr>
        <p:spPr>
          <a:xfrm>
            <a:off x="502920" y="1407673"/>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「商品を置く」ではなく「売場を作る」</a:t>
            </a:r>
            <a:endParaRPr sz="2800" b="0" i="0" u="none" strike="noStrike" cap="none">
              <a:solidFill>
                <a:srgbClr val="000000"/>
              </a:solidFill>
              <a:latin typeface="Arial"/>
              <a:ea typeface="Arial"/>
              <a:cs typeface="Arial"/>
              <a:sym typeface="Arial"/>
            </a:endParaRPr>
          </a:p>
        </p:txBody>
      </p:sp>
      <p:sp>
        <p:nvSpPr>
          <p:cNvPr id="638" name="Google Shape;638;g3f82b020a63_1_234"/>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9" name="Google Shape;639;g3f82b020a63_1_234"/>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40" name="Google Shape;640;g3f82b020a63_1_234"/>
          <p:cNvSpPr txBox="1"/>
          <p:nvPr/>
        </p:nvSpPr>
        <p:spPr>
          <a:xfrm>
            <a:off x="722370" y="5870448"/>
            <a:ext cx="10744200" cy="52318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商品を作るだけでなく、売場まで一緒に設計する。</a:t>
            </a:r>
            <a:endParaRPr sz="2800" b="0" i="0" u="none" strike="noStrike" cap="none">
              <a:solidFill>
                <a:srgbClr val="000000"/>
              </a:solidFill>
              <a:latin typeface="Arial"/>
              <a:ea typeface="Arial"/>
              <a:cs typeface="Arial"/>
              <a:sym typeface="Arial"/>
            </a:endParaRPr>
          </a:p>
        </p:txBody>
      </p:sp>
      <p:sp>
        <p:nvSpPr>
          <p:cNvPr id="641" name="Google Shape;641;g3f82b020a63_1_234"/>
          <p:cNvSpPr/>
          <p:nvPr/>
        </p:nvSpPr>
        <p:spPr>
          <a:xfrm>
            <a:off x="8253787"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スタンプラリー台紙</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pic>
        <p:nvPicPr>
          <p:cNvPr id="642" name="Google Shape;642;g3f82b020a63_1_234" descr="s09_26_popup.png"/>
          <p:cNvPicPr preferRelativeResize="0"/>
          <p:nvPr/>
        </p:nvPicPr>
        <p:blipFill rotWithShape="1">
          <a:blip r:embed="rId3">
            <a:alphaModFix/>
          </a:blip>
          <a:srcRect/>
          <a:stretch/>
        </p:blipFill>
        <p:spPr>
          <a:xfrm>
            <a:off x="6492240" y="4498848"/>
            <a:ext cx="1651819" cy="1088136"/>
          </a:xfrm>
          <a:prstGeom prst="rect">
            <a:avLst/>
          </a:prstGeom>
          <a:noFill/>
          <a:ln>
            <a:noFill/>
          </a:ln>
        </p:spPr>
      </p:pic>
      <p:pic>
        <p:nvPicPr>
          <p:cNvPr id="643" name="Google Shape;643;g3f82b020a63_1_234" descr="s09_27_ec.png"/>
          <p:cNvPicPr preferRelativeResize="0"/>
          <p:nvPr/>
        </p:nvPicPr>
        <p:blipFill rotWithShape="1">
          <a:blip r:embed="rId4">
            <a:alphaModFix/>
          </a:blip>
          <a:srcRect/>
          <a:stretch/>
        </p:blipFill>
        <p:spPr>
          <a:xfrm>
            <a:off x="6492240" y="2103120"/>
            <a:ext cx="5193792" cy="2286001"/>
          </a:xfrm>
          <a:prstGeom prst="rect">
            <a:avLst/>
          </a:prstGeom>
          <a:noFill/>
          <a:ln>
            <a:noFill/>
          </a:ln>
        </p:spPr>
      </p:pic>
      <p:sp>
        <p:nvSpPr>
          <p:cNvPr id="644" name="Google Shape;644;g3f82b020a63_1_234"/>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映画公開記念棚/ウルサマ連動棚</a:t>
            </a:r>
            <a:endParaRPr sz="2900" b="0" i="0" u="none" strike="noStrike" cap="none">
              <a:solidFill>
                <a:srgbClr val="000000"/>
              </a:solidFill>
              <a:latin typeface="Arial"/>
              <a:ea typeface="Arial"/>
              <a:cs typeface="Arial"/>
              <a:sym typeface="Arial"/>
            </a:endParaRPr>
          </a:p>
        </p:txBody>
      </p:sp>
      <p:sp>
        <p:nvSpPr>
          <p:cNvPr id="645" name="Google Shape;645;g3f82b020a63_1_234"/>
          <p:cNvSpPr txBox="1"/>
          <p:nvPr/>
        </p:nvSpPr>
        <p:spPr>
          <a:xfrm>
            <a:off x="896112" y="2816351"/>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ゼロ特集棚/怪獣特集棚</a:t>
            </a:r>
            <a:endParaRPr sz="2900" b="0" i="0" u="none" strike="noStrike" cap="none">
              <a:solidFill>
                <a:srgbClr val="000000"/>
              </a:solidFill>
              <a:latin typeface="Arial"/>
              <a:ea typeface="Arial"/>
              <a:cs typeface="Arial"/>
              <a:sym typeface="Arial"/>
            </a:endParaRPr>
          </a:p>
        </p:txBody>
      </p:sp>
      <p:sp>
        <p:nvSpPr>
          <p:cNvPr id="646" name="Google Shape;646;g3f82b020a63_1_234"/>
          <p:cNvSpPr txBox="1"/>
          <p:nvPr/>
        </p:nvSpPr>
        <p:spPr>
          <a:xfrm>
            <a:off x="896112" y="3529584"/>
            <a:ext cx="5440800" cy="47128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450"/>
              <a:buFont typeface="Arial"/>
              <a:buNone/>
            </a:pPr>
            <a:r>
              <a:rPr lang="ja-JP" sz="2450" b="0" i="0" u="none" strike="noStrike" cap="none">
                <a:solidFill>
                  <a:srgbClr val="F4F7FD"/>
                </a:solidFill>
                <a:latin typeface="Arial"/>
                <a:ea typeface="Arial"/>
                <a:cs typeface="Arial"/>
                <a:sym typeface="Arial"/>
              </a:rPr>
              <a:t>IPコラボ棚</a:t>
            </a:r>
            <a:endParaRPr sz="2700" b="0" i="0" u="none" strike="noStrike" cap="none">
              <a:solidFill>
                <a:srgbClr val="000000"/>
              </a:solidFill>
              <a:latin typeface="Arial"/>
              <a:ea typeface="Arial"/>
              <a:cs typeface="Arial"/>
              <a:sym typeface="Arial"/>
            </a:endParaRPr>
          </a:p>
        </p:txBody>
      </p:sp>
      <p:sp>
        <p:nvSpPr>
          <p:cNvPr id="647" name="Google Shape;647;g3f82b020a63_1_234"/>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POPUP/EC限定販売</a:t>
            </a:r>
            <a:endParaRPr sz="2900" b="0" i="0" u="none" strike="noStrike" cap="none">
              <a:solidFill>
                <a:srgbClr val="000000"/>
              </a:solidFill>
              <a:latin typeface="Arial"/>
              <a:ea typeface="Arial"/>
              <a:cs typeface="Arial"/>
              <a:sym typeface="Arial"/>
            </a:endParaRPr>
          </a:p>
        </p:txBody>
      </p:sp>
      <p:sp>
        <p:nvSpPr>
          <p:cNvPr id="648" name="Google Shape;648;g3f82b020a63_1_234"/>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購入特典</a:t>
            </a:r>
            <a:endParaRPr sz="2900" b="0" i="0" u="none" strike="noStrike" cap="none">
              <a:solidFill>
                <a:srgbClr val="000000"/>
              </a:solidFill>
              <a:latin typeface="Arial"/>
              <a:ea typeface="Arial"/>
              <a:cs typeface="Arial"/>
              <a:sym typeface="Arial"/>
            </a:endParaRPr>
          </a:p>
        </p:txBody>
      </p:sp>
      <p:sp>
        <p:nvSpPr>
          <p:cNvPr id="649" name="Google Shape;649;g3f82b020a63_1_234"/>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650" name="Google Shape;650;g3f82b020a63_1_234"/>
          <p:cNvSpPr/>
          <p:nvPr/>
        </p:nvSpPr>
        <p:spPr>
          <a:xfrm>
            <a:off x="228650" y="2775469"/>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651" name="Google Shape;651;g3f82b020a63_1_234"/>
          <p:cNvSpPr/>
          <p:nvPr/>
        </p:nvSpPr>
        <p:spPr>
          <a:xfrm>
            <a:off x="228650" y="348870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652" name="Google Shape;652;g3f82b020a63_1_234"/>
          <p:cNvSpPr/>
          <p:nvPr/>
        </p:nvSpPr>
        <p:spPr>
          <a:xfrm>
            <a:off x="228650" y="42229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653" name="Google Shape;653;g3f82b020a63_1_234"/>
          <p:cNvSpPr/>
          <p:nvPr/>
        </p:nvSpPr>
        <p:spPr>
          <a:xfrm>
            <a:off x="228650" y="493614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pic>
        <p:nvPicPr>
          <p:cNvPr id="654" name="Google Shape;654;g3f82b020a63_1_234"/>
          <p:cNvPicPr preferRelativeResize="0"/>
          <p:nvPr/>
        </p:nvPicPr>
        <p:blipFill rotWithShape="1">
          <a:blip r:embed="rId5">
            <a:alphaModFix/>
          </a:blip>
          <a:srcRect t="27975" b="11383"/>
          <a:stretch/>
        </p:blipFill>
        <p:spPr>
          <a:xfrm>
            <a:off x="6482788" y="1987700"/>
            <a:ext cx="5193775" cy="2362200"/>
          </a:xfrm>
          <a:prstGeom prst="rect">
            <a:avLst/>
          </a:prstGeom>
          <a:noFill/>
          <a:ln>
            <a:noFill/>
          </a:ln>
        </p:spPr>
      </p:pic>
      <p:pic>
        <p:nvPicPr>
          <p:cNvPr id="655" name="Google Shape;655;g3f82b020a63_1_234"/>
          <p:cNvPicPr preferRelativeResize="0"/>
          <p:nvPr/>
        </p:nvPicPr>
        <p:blipFill rotWithShape="1">
          <a:blip r:embed="rId6">
            <a:alphaModFix/>
          </a:blip>
          <a:srcRect/>
          <a:stretch/>
        </p:blipFill>
        <p:spPr>
          <a:xfrm>
            <a:off x="8253775" y="4498850"/>
            <a:ext cx="1896001" cy="1088126"/>
          </a:xfrm>
          <a:prstGeom prst="rect">
            <a:avLst/>
          </a:prstGeom>
          <a:noFill/>
          <a:ln>
            <a:noFill/>
          </a:ln>
        </p:spPr>
      </p:pic>
      <p:pic>
        <p:nvPicPr>
          <p:cNvPr id="656" name="Google Shape;656;g3f82b020a63_1_234"/>
          <p:cNvPicPr preferRelativeResize="0"/>
          <p:nvPr/>
        </p:nvPicPr>
        <p:blipFill rotWithShape="1">
          <a:blip r:embed="rId7">
            <a:alphaModFix/>
          </a:blip>
          <a:srcRect t="15968" b="5563"/>
          <a:stretch/>
        </p:blipFill>
        <p:spPr>
          <a:xfrm>
            <a:off x="6478075" y="1975951"/>
            <a:ext cx="5203201" cy="2385725"/>
          </a:xfrm>
          <a:prstGeom prst="rect">
            <a:avLst/>
          </a:prstGeom>
          <a:noFill/>
          <a:ln>
            <a:noFill/>
          </a:ln>
        </p:spPr>
      </p:pic>
      <p:pic>
        <p:nvPicPr>
          <p:cNvPr id="657" name="Google Shape;657;g3f82b020a63_1_234"/>
          <p:cNvPicPr preferRelativeResize="0"/>
          <p:nvPr/>
        </p:nvPicPr>
        <p:blipFill rotWithShape="1">
          <a:blip r:embed="rId8">
            <a:alphaModFix/>
          </a:blip>
          <a:srcRect/>
          <a:stretch/>
        </p:blipFill>
        <p:spPr>
          <a:xfrm>
            <a:off x="10246755" y="4678878"/>
            <a:ext cx="1426571" cy="74657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697"/>
        <p:cNvGrpSpPr/>
        <p:nvPr/>
      </p:nvGrpSpPr>
      <p:grpSpPr>
        <a:xfrm>
          <a:off x="0" y="0"/>
          <a:ext cx="0" cy="0"/>
          <a:chOff x="0" y="0"/>
          <a:chExt cx="0" cy="0"/>
        </a:xfrm>
      </p:grpSpPr>
      <p:sp>
        <p:nvSpPr>
          <p:cNvPr id="698" name="Google Shape;698;g3f82b020a63_1_273"/>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10|FOR 広告代理店・SP</a:t>
            </a:r>
            <a:endParaRPr sz="1400" b="0" i="0" u="none" strike="noStrike" cap="none">
              <a:solidFill>
                <a:srgbClr val="000000"/>
              </a:solidFill>
              <a:latin typeface="Arial"/>
              <a:ea typeface="Arial"/>
              <a:cs typeface="Arial"/>
              <a:sym typeface="Arial"/>
            </a:endParaRPr>
          </a:p>
        </p:txBody>
      </p:sp>
      <p:sp>
        <p:nvSpPr>
          <p:cNvPr id="699" name="Google Shape;699;g3f82b020a63_1_273"/>
          <p:cNvSpPr txBox="1"/>
          <p:nvPr/>
        </p:nvSpPr>
        <p:spPr>
          <a:xfrm>
            <a:off x="502920" y="566928"/>
            <a:ext cx="11430000" cy="54864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3200"/>
              <a:buFont typeface="Arial"/>
              <a:buNone/>
            </a:pPr>
            <a:r>
              <a:rPr lang="ja-JP" sz="2400" b="1" i="0" u="none" strike="noStrike" cap="none">
                <a:solidFill>
                  <a:srgbClr val="F4F7FD"/>
                </a:solidFill>
                <a:latin typeface="Arial"/>
                <a:ea typeface="Arial"/>
                <a:cs typeface="Arial"/>
                <a:sym typeface="Arial"/>
              </a:rPr>
              <a:t>広告代理店・SP向け|企業キャンペーン活用案</a:t>
            </a:r>
            <a:endParaRPr sz="2400" b="0" i="0" u="none" strike="noStrike" cap="none">
              <a:solidFill>
                <a:srgbClr val="000000"/>
              </a:solidFill>
              <a:latin typeface="Arial"/>
              <a:ea typeface="Arial"/>
              <a:cs typeface="Arial"/>
              <a:sym typeface="Arial"/>
            </a:endParaRPr>
          </a:p>
        </p:txBody>
      </p:sp>
      <p:sp>
        <p:nvSpPr>
          <p:cNvPr id="700" name="Google Shape;700;g3f82b020a63_1_273"/>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01" name="Google Shape;701;g3f82b020a63_1_273"/>
          <p:cNvSpPr txBox="1"/>
          <p:nvPr/>
        </p:nvSpPr>
        <p:spPr>
          <a:xfrm>
            <a:off x="502920" y="1431282"/>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クライアント提案に、そのまま使える</a:t>
            </a:r>
            <a:endParaRPr sz="2800" b="0" i="0" u="none" strike="noStrike" cap="none">
              <a:solidFill>
                <a:srgbClr val="000000"/>
              </a:solidFill>
              <a:latin typeface="Arial"/>
              <a:ea typeface="Arial"/>
              <a:cs typeface="Arial"/>
              <a:sym typeface="Arial"/>
            </a:endParaRPr>
          </a:p>
        </p:txBody>
      </p:sp>
      <p:sp>
        <p:nvSpPr>
          <p:cNvPr id="702" name="Google Shape;702;g3f82b020a63_1_273"/>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03" name="Google Shape;703;g3f82b020a63_1_273"/>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04" name="Google Shape;704;g3f82b020a63_1_273"/>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ウルトラマンは、企業課題を解決するキャンペーン装置になる。</a:t>
            </a:r>
            <a:endParaRPr sz="2800" b="0" i="0" u="none" strike="noStrike" cap="none">
              <a:solidFill>
                <a:srgbClr val="000000"/>
              </a:solidFill>
              <a:latin typeface="Arial"/>
              <a:ea typeface="Arial"/>
              <a:cs typeface="Arial"/>
              <a:sym typeface="Arial"/>
            </a:endParaRPr>
          </a:p>
        </p:txBody>
      </p:sp>
      <p:pic>
        <p:nvPicPr>
          <p:cNvPr id="705" name="Google Shape;705;g3f82b020a63_1_273" descr="s10_20_transit.png"/>
          <p:cNvPicPr preferRelativeResize="0"/>
          <p:nvPr/>
        </p:nvPicPr>
        <p:blipFill rotWithShape="1">
          <a:blip r:embed="rId3">
            <a:alphaModFix/>
          </a:blip>
          <a:srcRect/>
          <a:stretch/>
        </p:blipFill>
        <p:spPr>
          <a:xfrm>
            <a:off x="6492240" y="2103120"/>
            <a:ext cx="5193792" cy="2286000"/>
          </a:xfrm>
          <a:prstGeom prst="rect">
            <a:avLst/>
          </a:prstGeom>
          <a:noFill/>
          <a:ln>
            <a:noFill/>
          </a:ln>
        </p:spPr>
      </p:pic>
      <p:sp>
        <p:nvSpPr>
          <p:cNvPr id="706" name="Google Shape;706;g3f82b020a63_1_273"/>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親子集客/夏休み販促</a:t>
            </a:r>
            <a:endParaRPr sz="2900" b="0" i="0" u="none" strike="noStrike" cap="none">
              <a:solidFill>
                <a:srgbClr val="000000"/>
              </a:solidFill>
              <a:latin typeface="Arial"/>
              <a:ea typeface="Arial"/>
              <a:cs typeface="Arial"/>
              <a:sym typeface="Arial"/>
            </a:endParaRPr>
          </a:p>
        </p:txBody>
      </p:sp>
      <p:sp>
        <p:nvSpPr>
          <p:cNvPr id="707" name="Google Shape;707;g3f82b020a63_1_273"/>
          <p:cNvSpPr txBox="1"/>
          <p:nvPr/>
        </p:nvSpPr>
        <p:spPr>
          <a:xfrm>
            <a:off x="896112" y="2816351"/>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防災/交通安全</a:t>
            </a:r>
            <a:endParaRPr sz="2900" b="0" i="0" u="none" strike="noStrike" cap="none">
              <a:solidFill>
                <a:srgbClr val="000000"/>
              </a:solidFill>
              <a:latin typeface="Arial"/>
              <a:ea typeface="Arial"/>
              <a:cs typeface="Arial"/>
              <a:sym typeface="Arial"/>
            </a:endParaRPr>
          </a:p>
        </p:txBody>
      </p:sp>
      <p:sp>
        <p:nvSpPr>
          <p:cNvPr id="708" name="Google Shape;708;g3f82b020a63_1_273"/>
          <p:cNvSpPr txBox="1"/>
          <p:nvPr/>
        </p:nvSpPr>
        <p:spPr>
          <a:xfrm>
            <a:off x="896112" y="35295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地域創生</a:t>
            </a:r>
            <a:endParaRPr sz="2900" b="0" i="0" u="none" strike="noStrike" cap="none">
              <a:solidFill>
                <a:srgbClr val="000000"/>
              </a:solidFill>
              <a:latin typeface="Arial"/>
              <a:ea typeface="Arial"/>
              <a:cs typeface="Arial"/>
              <a:sym typeface="Arial"/>
            </a:endParaRPr>
          </a:p>
        </p:txBody>
      </p:sp>
      <p:sp>
        <p:nvSpPr>
          <p:cNvPr id="709" name="Google Shape;709;g3f82b020a63_1_273"/>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未来・テクノロジー/CSR</a:t>
            </a:r>
            <a:endParaRPr sz="2900" b="0" i="0" u="none" strike="noStrike" cap="none">
              <a:solidFill>
                <a:srgbClr val="000000"/>
              </a:solidFill>
              <a:latin typeface="Arial"/>
              <a:ea typeface="Arial"/>
              <a:cs typeface="Arial"/>
              <a:sym typeface="Arial"/>
            </a:endParaRPr>
          </a:p>
        </p:txBody>
      </p:sp>
      <p:sp>
        <p:nvSpPr>
          <p:cNvPr id="710" name="Google Shape;710;g3f82b020a63_1_273"/>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商業施設回遊</a:t>
            </a:r>
            <a:endParaRPr sz="2900" b="0" i="0" u="none" strike="noStrike" cap="none">
              <a:solidFill>
                <a:srgbClr val="000000"/>
              </a:solidFill>
              <a:latin typeface="Arial"/>
              <a:ea typeface="Arial"/>
              <a:cs typeface="Arial"/>
              <a:sym typeface="Arial"/>
            </a:endParaRPr>
          </a:p>
        </p:txBody>
      </p:sp>
      <p:sp>
        <p:nvSpPr>
          <p:cNvPr id="711" name="Google Shape;711;g3f82b020a63_1_273"/>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712" name="Google Shape;712;g3f82b020a63_1_273"/>
          <p:cNvSpPr/>
          <p:nvPr/>
        </p:nvSpPr>
        <p:spPr>
          <a:xfrm>
            <a:off x="228650" y="2775469"/>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713" name="Google Shape;713;g3f82b020a63_1_273"/>
          <p:cNvSpPr/>
          <p:nvPr/>
        </p:nvSpPr>
        <p:spPr>
          <a:xfrm>
            <a:off x="228650" y="348870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714" name="Google Shape;714;g3f82b020a63_1_273"/>
          <p:cNvSpPr/>
          <p:nvPr/>
        </p:nvSpPr>
        <p:spPr>
          <a:xfrm>
            <a:off x="228650" y="42229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715" name="Google Shape;715;g3f82b020a63_1_273"/>
          <p:cNvSpPr/>
          <p:nvPr/>
        </p:nvSpPr>
        <p:spPr>
          <a:xfrm>
            <a:off x="228650" y="493614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pic>
        <p:nvPicPr>
          <p:cNvPr id="716" name="Google Shape;716;g3f82b020a63_1_273" descr="s10_05_greeting.png"/>
          <p:cNvPicPr preferRelativeResize="0"/>
          <p:nvPr/>
        </p:nvPicPr>
        <p:blipFill rotWithShape="1">
          <a:blip r:embed="rId4">
            <a:alphaModFix/>
          </a:blip>
          <a:srcRect/>
          <a:stretch/>
        </p:blipFill>
        <p:spPr>
          <a:xfrm>
            <a:off x="6473952" y="4504994"/>
            <a:ext cx="1906574" cy="1255955"/>
          </a:xfrm>
          <a:prstGeom prst="rect">
            <a:avLst/>
          </a:prstGeom>
          <a:noFill/>
          <a:ln>
            <a:noFill/>
          </a:ln>
        </p:spPr>
      </p:pic>
      <p:pic>
        <p:nvPicPr>
          <p:cNvPr id="717" name="Google Shape;717;g3f82b020a63_1_273"/>
          <p:cNvPicPr preferRelativeResize="0"/>
          <p:nvPr/>
        </p:nvPicPr>
        <p:blipFill rotWithShape="1">
          <a:blip r:embed="rId5">
            <a:alphaModFix/>
          </a:blip>
          <a:srcRect/>
          <a:stretch/>
        </p:blipFill>
        <p:spPr>
          <a:xfrm>
            <a:off x="8577176" y="4536877"/>
            <a:ext cx="1120848" cy="1185825"/>
          </a:xfrm>
          <a:prstGeom prst="rect">
            <a:avLst/>
          </a:prstGeom>
          <a:noFill/>
          <a:ln>
            <a:noFill/>
          </a:ln>
        </p:spPr>
      </p:pic>
      <p:pic>
        <p:nvPicPr>
          <p:cNvPr id="718" name="Google Shape;718;g3f82b020a63_1_273"/>
          <p:cNvPicPr preferRelativeResize="0"/>
          <p:nvPr/>
        </p:nvPicPr>
        <p:blipFill rotWithShape="1">
          <a:blip r:embed="rId6">
            <a:alphaModFix/>
          </a:blip>
          <a:srcRect/>
          <a:stretch/>
        </p:blipFill>
        <p:spPr>
          <a:xfrm>
            <a:off x="9894669" y="4520027"/>
            <a:ext cx="1725375" cy="121950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759"/>
        <p:cNvGrpSpPr/>
        <p:nvPr/>
      </p:nvGrpSpPr>
      <p:grpSpPr>
        <a:xfrm>
          <a:off x="0" y="0"/>
          <a:ext cx="0" cy="0"/>
          <a:chOff x="0" y="0"/>
          <a:chExt cx="0" cy="0"/>
        </a:xfrm>
      </p:grpSpPr>
      <p:sp>
        <p:nvSpPr>
          <p:cNvPr id="760" name="Google Shape;760;g3f82b020a63_1_31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11|FOR デジタル・ゲーム</a:t>
            </a:r>
            <a:endParaRPr sz="1400" b="0" i="0" u="none" strike="noStrike" cap="none">
              <a:solidFill>
                <a:srgbClr val="000000"/>
              </a:solidFill>
              <a:latin typeface="Arial"/>
              <a:ea typeface="Arial"/>
              <a:cs typeface="Arial"/>
              <a:sym typeface="Arial"/>
            </a:endParaRPr>
          </a:p>
        </p:txBody>
      </p:sp>
      <p:sp>
        <p:nvSpPr>
          <p:cNvPr id="761" name="Google Shape;761;g3f82b020a63_1_312"/>
          <p:cNvSpPr txBox="1"/>
          <p:nvPr/>
        </p:nvSpPr>
        <p:spPr>
          <a:xfrm>
            <a:off x="502920" y="566928"/>
            <a:ext cx="11430000" cy="54864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3200"/>
              <a:buFont typeface="Arial"/>
              <a:buNone/>
            </a:pPr>
            <a:r>
              <a:rPr lang="ja-JP" sz="2400" b="1" i="0" u="none" strike="noStrike" cap="none">
                <a:solidFill>
                  <a:srgbClr val="F4F7FD"/>
                </a:solidFill>
                <a:latin typeface="Arial"/>
                <a:ea typeface="Arial"/>
                <a:cs typeface="Arial"/>
                <a:sym typeface="Arial"/>
              </a:rPr>
              <a:t>デジタル・ゲーム向け|デジタル・ゲーム連動案</a:t>
            </a:r>
            <a:endParaRPr sz="3400" b="0" i="0" u="none" strike="noStrike" cap="none">
              <a:solidFill>
                <a:srgbClr val="000000"/>
              </a:solidFill>
              <a:latin typeface="Arial"/>
              <a:ea typeface="Arial"/>
              <a:cs typeface="Arial"/>
              <a:sym typeface="Arial"/>
            </a:endParaRPr>
          </a:p>
        </p:txBody>
      </p:sp>
      <p:sp>
        <p:nvSpPr>
          <p:cNvPr id="762" name="Google Shape;762;g3f82b020a63_1_31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63" name="Google Shape;763;g3f82b020a63_1_312"/>
          <p:cNvSpPr txBox="1"/>
          <p:nvPr/>
        </p:nvSpPr>
        <p:spPr>
          <a:xfrm>
            <a:off x="502920" y="1417594"/>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リアルIPの熱量を、デジタルへ</a:t>
            </a:r>
            <a:endParaRPr sz="2800" b="0" i="0" u="none" strike="noStrike" cap="none">
              <a:solidFill>
                <a:srgbClr val="000000"/>
              </a:solidFill>
              <a:latin typeface="Arial"/>
              <a:ea typeface="Arial"/>
              <a:cs typeface="Arial"/>
              <a:sym typeface="Arial"/>
            </a:endParaRPr>
          </a:p>
        </p:txBody>
      </p:sp>
      <p:sp>
        <p:nvSpPr>
          <p:cNvPr id="764" name="Google Shape;764;g3f82b020a63_1_31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65" name="Google Shape;765;g3f82b020a63_1_31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66" name="Google Shape;766;g3f82b020a63_1_312"/>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リアル商品だけでなく、デジタル接点でもファンを広げる。</a:t>
            </a:r>
            <a:endParaRPr sz="2800" b="0" i="0" u="none" strike="noStrike" cap="none">
              <a:solidFill>
                <a:srgbClr val="000000"/>
              </a:solidFill>
              <a:latin typeface="Arial"/>
              <a:ea typeface="Arial"/>
              <a:cs typeface="Arial"/>
              <a:sym typeface="Arial"/>
            </a:endParaRPr>
          </a:p>
        </p:txBody>
      </p:sp>
      <p:sp>
        <p:nvSpPr>
          <p:cNvPr id="767" name="Google Shape;767;g3f82b020a63_1_312"/>
          <p:cNvSpPr/>
          <p:nvPr/>
        </p:nvSpPr>
        <p:spPr>
          <a:xfrm>
            <a:off x="6492240" y="2103120"/>
            <a:ext cx="5193900" cy="2286000"/>
          </a:xfrm>
          <a:prstGeom prst="roundRect">
            <a:avLst>
              <a:gd name="adj" fmla="val 1200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200"/>
              <a:buFont typeface="Arial"/>
              <a:buNone/>
            </a:pPr>
            <a:r>
              <a:rPr lang="ja-JP" sz="1200" b="1" i="0" u="none" strike="noStrike" cap="none">
                <a:solidFill>
                  <a:srgbClr val="F4F7FD"/>
                </a:solidFill>
                <a:latin typeface="Arial"/>
                <a:ea typeface="Arial"/>
                <a:cs typeface="Arial"/>
                <a:sym typeface="Arial"/>
              </a:rPr>
              <a:t>ゲーム内コラボ画面</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900"/>
              <a:buFont typeface="Arial"/>
              <a:buNone/>
            </a:pPr>
            <a:r>
              <a:rPr lang="ja-JP" sz="900" b="0" i="0" u="none" strike="noStrike" cap="none">
                <a:solidFill>
                  <a:srgbClr val="8A96B2"/>
                </a:solidFill>
                <a:latin typeface="Arial"/>
                <a:ea typeface="Arial"/>
                <a:cs typeface="Arial"/>
                <a:sym typeface="Arial"/>
              </a:rPr>
              <a:t>モック差し替え</a:t>
            </a:r>
            <a:endParaRPr sz="1400" b="0" i="0" u="none" strike="noStrike" cap="none">
              <a:solidFill>
                <a:srgbClr val="000000"/>
              </a:solidFill>
              <a:latin typeface="Arial"/>
              <a:ea typeface="Arial"/>
              <a:cs typeface="Arial"/>
              <a:sym typeface="Arial"/>
            </a:endParaRPr>
          </a:p>
        </p:txBody>
      </p:sp>
      <p:sp>
        <p:nvSpPr>
          <p:cNvPr id="768" name="Google Shape;768;g3f82b020a63_1_312"/>
          <p:cNvSpPr/>
          <p:nvPr/>
        </p:nvSpPr>
        <p:spPr>
          <a:xfrm>
            <a:off x="6492240"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ガチャ・アバター</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sp>
        <p:nvSpPr>
          <p:cNvPr id="769" name="Google Shape;769;g3f82b020a63_1_312"/>
          <p:cNvSpPr/>
          <p:nvPr/>
        </p:nvSpPr>
        <p:spPr>
          <a:xfrm>
            <a:off x="8253787"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YouTubeサムネ</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sp>
        <p:nvSpPr>
          <p:cNvPr id="770" name="Google Shape;770;g3f82b020a63_1_312"/>
          <p:cNvSpPr/>
          <p:nvPr/>
        </p:nvSpPr>
        <p:spPr>
          <a:xfrm>
            <a:off x="10015334" y="4498848"/>
            <a:ext cx="1651800" cy="1088100"/>
          </a:xfrm>
          <a:prstGeom prst="roundRect">
            <a:avLst>
              <a:gd name="adj" fmla="val 9520"/>
            </a:avLst>
          </a:prstGeom>
          <a:solidFill>
            <a:srgbClr val="0C1730"/>
          </a:solidFill>
          <a:ln w="13950" cap="flat" cmpd="sng">
            <a:solidFill>
              <a:srgbClr val="4A5F8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000"/>
              <a:buFont typeface="Arial"/>
              <a:buNone/>
            </a:pPr>
            <a:r>
              <a:rPr lang="ja-JP" sz="1000" b="1" i="0" u="none" strike="noStrike" cap="none">
                <a:solidFill>
                  <a:srgbClr val="F4F7FD"/>
                </a:solidFill>
                <a:latin typeface="Arial"/>
                <a:ea typeface="Arial"/>
                <a:cs typeface="Arial"/>
                <a:sym typeface="Arial"/>
              </a:rPr>
              <a:t>ライブ配信画面</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rgbClr val="8A96B2"/>
                </a:solidFill>
                <a:latin typeface="Arial"/>
                <a:ea typeface="Arial"/>
                <a:cs typeface="Arial"/>
                <a:sym typeface="Arial"/>
              </a:rPr>
              <a:t>写真差し替え</a:t>
            </a:r>
            <a:endParaRPr sz="1400" b="0" i="0" u="none" strike="noStrike" cap="none">
              <a:solidFill>
                <a:srgbClr val="000000"/>
              </a:solidFill>
              <a:latin typeface="Arial"/>
              <a:ea typeface="Arial"/>
              <a:cs typeface="Arial"/>
              <a:sym typeface="Arial"/>
            </a:endParaRPr>
          </a:p>
        </p:txBody>
      </p:sp>
      <p:sp>
        <p:nvSpPr>
          <p:cNvPr id="771" name="Google Shape;771;g3f82b020a63_1_312"/>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ゲーム内コラボ/限定アバター</a:t>
            </a:r>
            <a:endParaRPr sz="2900" b="0" i="0" u="none" strike="noStrike" cap="none">
              <a:solidFill>
                <a:srgbClr val="000000"/>
              </a:solidFill>
              <a:latin typeface="Arial"/>
              <a:ea typeface="Arial"/>
              <a:cs typeface="Arial"/>
              <a:sym typeface="Arial"/>
            </a:endParaRPr>
          </a:p>
        </p:txBody>
      </p:sp>
      <p:sp>
        <p:nvSpPr>
          <p:cNvPr id="772" name="Google Shape;772;g3f82b020a63_1_312"/>
          <p:cNvSpPr txBox="1"/>
          <p:nvPr/>
        </p:nvSpPr>
        <p:spPr>
          <a:xfrm>
            <a:off x="896112" y="2816351"/>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デジタルスタンプ</a:t>
            </a:r>
            <a:endParaRPr sz="2900" b="0" i="0" u="none" strike="noStrike" cap="none">
              <a:solidFill>
                <a:srgbClr val="000000"/>
              </a:solidFill>
              <a:latin typeface="Arial"/>
              <a:ea typeface="Arial"/>
              <a:cs typeface="Arial"/>
              <a:sym typeface="Arial"/>
            </a:endParaRPr>
          </a:p>
        </p:txBody>
      </p:sp>
      <p:sp>
        <p:nvSpPr>
          <p:cNvPr id="773" name="Google Shape;773;g3f82b020a63_1_312"/>
          <p:cNvSpPr txBox="1"/>
          <p:nvPr/>
        </p:nvSpPr>
        <p:spPr>
          <a:xfrm>
            <a:off x="896112" y="35295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SNSキャンペーン</a:t>
            </a:r>
            <a:endParaRPr sz="2900" b="0" i="0" u="none" strike="noStrike" cap="none">
              <a:solidFill>
                <a:srgbClr val="000000"/>
              </a:solidFill>
              <a:latin typeface="Arial"/>
              <a:ea typeface="Arial"/>
              <a:cs typeface="Arial"/>
              <a:sym typeface="Arial"/>
            </a:endParaRPr>
          </a:p>
        </p:txBody>
      </p:sp>
      <p:sp>
        <p:nvSpPr>
          <p:cNvPr id="774" name="Google Shape;774;g3f82b020a63_1_312"/>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配信連動/EC限定デジタル特典</a:t>
            </a:r>
            <a:endParaRPr sz="2900" b="0" i="0" u="none" strike="noStrike" cap="none">
              <a:solidFill>
                <a:srgbClr val="000000"/>
              </a:solidFill>
              <a:latin typeface="Arial"/>
              <a:ea typeface="Arial"/>
              <a:cs typeface="Arial"/>
              <a:sym typeface="Arial"/>
            </a:endParaRPr>
          </a:p>
        </p:txBody>
      </p:sp>
      <p:sp>
        <p:nvSpPr>
          <p:cNvPr id="775" name="Google Shape;775;g3f82b020a63_1_312"/>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dirty="0">
                <a:solidFill>
                  <a:srgbClr val="F4F7FD"/>
                </a:solidFill>
                <a:latin typeface="Arial"/>
                <a:ea typeface="Arial"/>
                <a:cs typeface="Arial"/>
                <a:sym typeface="Arial"/>
              </a:rPr>
              <a:t>ファンコミュニティ施策</a:t>
            </a:r>
            <a:endParaRPr sz="2900" b="0" i="0" u="none" strike="noStrike" cap="none" dirty="0">
              <a:solidFill>
                <a:srgbClr val="000000"/>
              </a:solidFill>
              <a:latin typeface="Arial"/>
              <a:ea typeface="Arial"/>
              <a:cs typeface="Arial"/>
              <a:sym typeface="Arial"/>
            </a:endParaRPr>
          </a:p>
        </p:txBody>
      </p:sp>
      <p:sp>
        <p:nvSpPr>
          <p:cNvPr id="776" name="Google Shape;776;g3f82b020a63_1_312"/>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777" name="Google Shape;777;g3f82b020a63_1_312"/>
          <p:cNvSpPr/>
          <p:nvPr/>
        </p:nvSpPr>
        <p:spPr>
          <a:xfrm>
            <a:off x="228650" y="2775469"/>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778" name="Google Shape;778;g3f82b020a63_1_312"/>
          <p:cNvSpPr/>
          <p:nvPr/>
        </p:nvSpPr>
        <p:spPr>
          <a:xfrm>
            <a:off x="228650" y="348870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779" name="Google Shape;779;g3f82b020a63_1_312"/>
          <p:cNvSpPr/>
          <p:nvPr/>
        </p:nvSpPr>
        <p:spPr>
          <a:xfrm>
            <a:off x="228650" y="42229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780" name="Google Shape;780;g3f82b020a63_1_312"/>
          <p:cNvSpPr/>
          <p:nvPr/>
        </p:nvSpPr>
        <p:spPr>
          <a:xfrm>
            <a:off x="228650" y="493614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pic>
        <p:nvPicPr>
          <p:cNvPr id="781" name="Google Shape;781;g3f82b020a63_1_312"/>
          <p:cNvPicPr preferRelativeResize="0"/>
          <p:nvPr/>
        </p:nvPicPr>
        <p:blipFill rotWithShape="1">
          <a:blip r:embed="rId3">
            <a:alphaModFix/>
          </a:blip>
          <a:srcRect/>
          <a:stretch/>
        </p:blipFill>
        <p:spPr>
          <a:xfrm>
            <a:off x="8985249" y="1711971"/>
            <a:ext cx="2979749" cy="1676425"/>
          </a:xfrm>
          <a:prstGeom prst="rect">
            <a:avLst/>
          </a:prstGeom>
          <a:noFill/>
          <a:ln>
            <a:noFill/>
          </a:ln>
        </p:spPr>
      </p:pic>
      <p:pic>
        <p:nvPicPr>
          <p:cNvPr id="782" name="Google Shape;782;g3f82b020a63_1_312"/>
          <p:cNvPicPr preferRelativeResize="0"/>
          <p:nvPr/>
        </p:nvPicPr>
        <p:blipFill rotWithShape="1">
          <a:blip r:embed="rId4">
            <a:alphaModFix/>
          </a:blip>
          <a:srcRect/>
          <a:stretch/>
        </p:blipFill>
        <p:spPr>
          <a:xfrm>
            <a:off x="5841225" y="1764825"/>
            <a:ext cx="3144025" cy="3937500"/>
          </a:xfrm>
          <a:prstGeom prst="rect">
            <a:avLst/>
          </a:prstGeom>
          <a:noFill/>
          <a:ln>
            <a:noFill/>
          </a:ln>
        </p:spPr>
      </p:pic>
      <p:pic>
        <p:nvPicPr>
          <p:cNvPr id="783" name="Google Shape;783;g3f82b020a63_1_312"/>
          <p:cNvPicPr preferRelativeResize="0"/>
          <p:nvPr/>
        </p:nvPicPr>
        <p:blipFill rotWithShape="1">
          <a:blip r:embed="rId5">
            <a:alphaModFix/>
          </a:blip>
          <a:srcRect/>
          <a:stretch/>
        </p:blipFill>
        <p:spPr>
          <a:xfrm>
            <a:off x="8985262" y="2548924"/>
            <a:ext cx="2979749" cy="1832121"/>
          </a:xfrm>
          <a:prstGeom prst="rect">
            <a:avLst/>
          </a:prstGeom>
          <a:noFill/>
          <a:ln>
            <a:noFill/>
          </a:ln>
        </p:spPr>
      </p:pic>
      <p:pic>
        <p:nvPicPr>
          <p:cNvPr id="784" name="Google Shape;784;g3f82b020a63_1_312"/>
          <p:cNvPicPr preferRelativeResize="0"/>
          <p:nvPr/>
        </p:nvPicPr>
        <p:blipFill rotWithShape="1">
          <a:blip r:embed="rId6">
            <a:alphaModFix/>
          </a:blip>
          <a:srcRect/>
          <a:stretch/>
        </p:blipFill>
        <p:spPr>
          <a:xfrm>
            <a:off x="8985243" y="4381043"/>
            <a:ext cx="2979749" cy="126843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825"/>
        <p:cNvGrpSpPr/>
        <p:nvPr/>
      </p:nvGrpSpPr>
      <p:grpSpPr>
        <a:xfrm>
          <a:off x="0" y="0"/>
          <a:ext cx="0" cy="0"/>
          <a:chOff x="0" y="0"/>
          <a:chExt cx="0" cy="0"/>
        </a:xfrm>
      </p:grpSpPr>
      <p:sp>
        <p:nvSpPr>
          <p:cNvPr id="826" name="Google Shape;826;g3f82b020a63_1_35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12|FOR イベント・施設・観光</a:t>
            </a:r>
            <a:endParaRPr sz="1400" b="0" i="0" u="none" strike="noStrike" cap="none">
              <a:solidFill>
                <a:srgbClr val="000000"/>
              </a:solidFill>
              <a:latin typeface="Arial"/>
              <a:ea typeface="Arial"/>
              <a:cs typeface="Arial"/>
              <a:sym typeface="Arial"/>
            </a:endParaRPr>
          </a:p>
        </p:txBody>
      </p:sp>
      <p:sp>
        <p:nvSpPr>
          <p:cNvPr id="827" name="Google Shape;827;g3f82b020a63_1_352"/>
          <p:cNvSpPr txBox="1"/>
          <p:nvPr/>
        </p:nvSpPr>
        <p:spPr>
          <a:xfrm>
            <a:off x="502925" y="566925"/>
            <a:ext cx="11430000" cy="548640"/>
          </a:xfrm>
          <a:prstGeom prst="rect">
            <a:avLst/>
          </a:prstGeom>
          <a:noFill/>
          <a:ln>
            <a:noFill/>
          </a:ln>
        </p:spPr>
        <p:txBody>
          <a:bodyPr spcFirstLastPara="1" wrap="square" lIns="0" tIns="0" rIns="0" bIns="0" anchor="t" anchorCtr="0"/>
          <a:lstStyle/>
          <a:p>
            <a:pPr marL="0" marR="0" lvl="0" indent="0" algn="l" rtl="0">
              <a:lnSpc>
                <a:spcPct val="118000"/>
              </a:lnSpc>
              <a:spcBef>
                <a:spcPts val="0"/>
              </a:spcBef>
              <a:spcAft>
                <a:spcPts val="0"/>
              </a:spcAft>
              <a:buClr>
                <a:srgbClr val="000000"/>
              </a:buClr>
              <a:buSzPts val="3200"/>
              <a:buFont typeface="Arial"/>
              <a:buNone/>
            </a:pPr>
            <a:r>
              <a:rPr lang="ja-JP" sz="2400" b="1" i="0" u="none" strike="noStrike" cap="none">
                <a:solidFill>
                  <a:srgbClr val="F4F7FD"/>
                </a:solidFill>
                <a:latin typeface="Arial"/>
                <a:ea typeface="Arial"/>
                <a:cs typeface="Arial"/>
                <a:sym typeface="Arial"/>
              </a:rPr>
              <a:t>イベント・施設・観光向け|会いに来るIP 集客案</a:t>
            </a:r>
            <a:endParaRPr sz="2400" b="0" i="0" u="none" strike="noStrike" cap="none">
              <a:solidFill>
                <a:srgbClr val="000000"/>
              </a:solidFill>
              <a:latin typeface="Arial"/>
              <a:ea typeface="Arial"/>
              <a:cs typeface="Arial"/>
              <a:sym typeface="Arial"/>
            </a:endParaRPr>
          </a:p>
        </p:txBody>
      </p:sp>
      <p:sp>
        <p:nvSpPr>
          <p:cNvPr id="828" name="Google Shape;828;g3f82b020a63_1_35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29" name="Google Shape;829;g3f82b020a63_1_352"/>
          <p:cNvSpPr txBox="1"/>
          <p:nvPr/>
        </p:nvSpPr>
        <p:spPr>
          <a:xfrm>
            <a:off x="502920" y="1417594"/>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ウルトラマンは、来場理由になる</a:t>
            </a:r>
            <a:endParaRPr sz="2800" b="0" i="0" u="none" strike="noStrike" cap="none">
              <a:solidFill>
                <a:srgbClr val="000000"/>
              </a:solidFill>
              <a:latin typeface="Arial"/>
              <a:ea typeface="Arial"/>
              <a:cs typeface="Arial"/>
              <a:sym typeface="Arial"/>
            </a:endParaRPr>
          </a:p>
        </p:txBody>
      </p:sp>
      <p:sp>
        <p:nvSpPr>
          <p:cNvPr id="830" name="Google Shape;830;g3f82b020a63_1_35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31" name="Google Shape;831;g3f82b020a63_1_35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32" name="Google Shape;832;g3f82b020a63_1_352"/>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来場理由を作り、購買理由につなげる。</a:t>
            </a:r>
            <a:endParaRPr sz="2800" b="0" i="0" u="none" strike="noStrike" cap="none">
              <a:solidFill>
                <a:srgbClr val="000000"/>
              </a:solidFill>
              <a:latin typeface="Arial"/>
              <a:ea typeface="Arial"/>
              <a:cs typeface="Arial"/>
              <a:sym typeface="Arial"/>
            </a:endParaRPr>
          </a:p>
        </p:txBody>
      </p:sp>
      <p:pic>
        <p:nvPicPr>
          <p:cNvPr id="833" name="Google Shape;833;g3f82b020a63_1_352" descr="s12_07_show.png"/>
          <p:cNvPicPr preferRelativeResize="0"/>
          <p:nvPr/>
        </p:nvPicPr>
        <p:blipFill rotWithShape="1">
          <a:blip r:embed="rId3">
            <a:alphaModFix/>
          </a:blip>
          <a:srcRect/>
          <a:stretch/>
        </p:blipFill>
        <p:spPr>
          <a:xfrm>
            <a:off x="6492240" y="2103120"/>
            <a:ext cx="2542032" cy="1705357"/>
          </a:xfrm>
          <a:prstGeom prst="rect">
            <a:avLst/>
          </a:prstGeom>
          <a:noFill/>
          <a:ln>
            <a:noFill/>
          </a:ln>
        </p:spPr>
      </p:pic>
      <p:pic>
        <p:nvPicPr>
          <p:cNvPr id="834" name="Google Shape;834;g3f82b020a63_1_352" descr="s12_05_greeting.png"/>
          <p:cNvPicPr preferRelativeResize="0"/>
          <p:nvPr/>
        </p:nvPicPr>
        <p:blipFill rotWithShape="1">
          <a:blip r:embed="rId4">
            <a:alphaModFix/>
          </a:blip>
          <a:srcRect/>
          <a:stretch/>
        </p:blipFill>
        <p:spPr>
          <a:xfrm>
            <a:off x="9144000" y="2103120"/>
            <a:ext cx="2542032" cy="1705357"/>
          </a:xfrm>
          <a:prstGeom prst="rect">
            <a:avLst/>
          </a:prstGeom>
          <a:noFill/>
          <a:ln>
            <a:noFill/>
          </a:ln>
        </p:spPr>
      </p:pic>
      <p:pic>
        <p:nvPicPr>
          <p:cNvPr id="835" name="Google Shape;835;g3f82b020a63_1_352" descr="s12_11_stamp.png"/>
          <p:cNvPicPr preferRelativeResize="0"/>
          <p:nvPr/>
        </p:nvPicPr>
        <p:blipFill rotWithShape="1">
          <a:blip r:embed="rId5">
            <a:alphaModFix/>
          </a:blip>
          <a:srcRect/>
          <a:stretch/>
        </p:blipFill>
        <p:spPr>
          <a:xfrm>
            <a:off x="6492240" y="3918204"/>
            <a:ext cx="2542032" cy="1705357"/>
          </a:xfrm>
          <a:prstGeom prst="rect">
            <a:avLst/>
          </a:prstGeom>
          <a:noFill/>
          <a:ln>
            <a:noFill/>
          </a:ln>
        </p:spPr>
      </p:pic>
      <p:pic>
        <p:nvPicPr>
          <p:cNvPr id="836" name="Google Shape;836;g3f82b020a63_1_352" descr="s12_12_mall.png"/>
          <p:cNvPicPr preferRelativeResize="0"/>
          <p:nvPr/>
        </p:nvPicPr>
        <p:blipFill rotWithShape="1">
          <a:blip r:embed="rId6">
            <a:alphaModFix/>
          </a:blip>
          <a:srcRect/>
          <a:stretch/>
        </p:blipFill>
        <p:spPr>
          <a:xfrm>
            <a:off x="9144000" y="3918204"/>
            <a:ext cx="2542032" cy="1705357"/>
          </a:xfrm>
          <a:prstGeom prst="rect">
            <a:avLst/>
          </a:prstGeom>
          <a:noFill/>
          <a:ln>
            <a:noFill/>
          </a:ln>
        </p:spPr>
      </p:pic>
      <p:sp>
        <p:nvSpPr>
          <p:cNvPr id="837" name="Google Shape;837;g3f82b020a63_1_352"/>
          <p:cNvSpPr txBox="1"/>
          <p:nvPr/>
        </p:nvSpPr>
        <p:spPr>
          <a:xfrm>
            <a:off x="896112" y="2103120"/>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ヒーローショー/グリーティング</a:t>
            </a:r>
            <a:endParaRPr sz="2900" b="0" i="0" u="none" strike="noStrike" cap="none">
              <a:solidFill>
                <a:srgbClr val="000000"/>
              </a:solidFill>
              <a:latin typeface="Arial"/>
              <a:ea typeface="Arial"/>
              <a:cs typeface="Arial"/>
              <a:sym typeface="Arial"/>
            </a:endParaRPr>
          </a:p>
        </p:txBody>
      </p:sp>
      <p:sp>
        <p:nvSpPr>
          <p:cNvPr id="838" name="Google Shape;838;g3f82b020a63_1_352"/>
          <p:cNvSpPr txBox="1"/>
          <p:nvPr/>
        </p:nvSpPr>
        <p:spPr>
          <a:xfrm>
            <a:off x="896112" y="2816351"/>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撮影会</a:t>
            </a:r>
            <a:endParaRPr sz="2900" b="0" i="0" u="none" strike="noStrike" cap="none">
              <a:solidFill>
                <a:srgbClr val="000000"/>
              </a:solidFill>
              <a:latin typeface="Arial"/>
              <a:ea typeface="Arial"/>
              <a:cs typeface="Arial"/>
              <a:sym typeface="Arial"/>
            </a:endParaRPr>
          </a:p>
        </p:txBody>
      </p:sp>
      <p:sp>
        <p:nvSpPr>
          <p:cNvPr id="839" name="Google Shape;839;g3f82b020a63_1_352"/>
          <p:cNvSpPr txBox="1"/>
          <p:nvPr/>
        </p:nvSpPr>
        <p:spPr>
          <a:xfrm>
            <a:off x="896112" y="3529584"/>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館内スタンプラリー/地域回遊</a:t>
            </a:r>
            <a:endParaRPr sz="2900" b="0" i="0" u="none" strike="noStrike" cap="none">
              <a:solidFill>
                <a:srgbClr val="000000"/>
              </a:solidFill>
              <a:latin typeface="Arial"/>
              <a:ea typeface="Arial"/>
              <a:cs typeface="Arial"/>
              <a:sym typeface="Arial"/>
            </a:endParaRPr>
          </a:p>
        </p:txBody>
      </p:sp>
      <p:sp>
        <p:nvSpPr>
          <p:cNvPr id="840" name="Google Shape;840;g3f82b020a63_1_352"/>
          <p:cNvSpPr txBox="1"/>
          <p:nvPr/>
        </p:nvSpPr>
        <p:spPr>
          <a:xfrm>
            <a:off x="896112" y="4242816"/>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商業施設イベント/観光地コラボ</a:t>
            </a:r>
            <a:endParaRPr sz="2900" b="0" i="0" u="none" strike="noStrike" cap="none">
              <a:solidFill>
                <a:srgbClr val="000000"/>
              </a:solidFill>
              <a:latin typeface="Arial"/>
              <a:ea typeface="Arial"/>
              <a:cs typeface="Arial"/>
              <a:sym typeface="Arial"/>
            </a:endParaRPr>
          </a:p>
        </p:txBody>
      </p:sp>
      <p:sp>
        <p:nvSpPr>
          <p:cNvPr id="841" name="Google Shape;841;g3f82b020a63_1_352"/>
          <p:cNvSpPr txBox="1"/>
          <p:nvPr/>
        </p:nvSpPr>
        <p:spPr>
          <a:xfrm>
            <a:off x="896112" y="4956048"/>
            <a:ext cx="5440800" cy="509755"/>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650"/>
              <a:buFont typeface="Arial"/>
              <a:buNone/>
            </a:pPr>
            <a:r>
              <a:rPr lang="ja-JP" sz="2650" b="0" i="0" u="none" strike="noStrike" cap="none">
                <a:solidFill>
                  <a:srgbClr val="F4F7FD"/>
                </a:solidFill>
                <a:latin typeface="Arial"/>
                <a:ea typeface="Arial"/>
                <a:cs typeface="Arial"/>
                <a:sym typeface="Arial"/>
              </a:rPr>
              <a:t>物販連動</a:t>
            </a:r>
            <a:endParaRPr sz="2900" b="0" i="0" u="none" strike="noStrike" cap="none">
              <a:solidFill>
                <a:srgbClr val="000000"/>
              </a:solidFill>
              <a:latin typeface="Arial"/>
              <a:ea typeface="Arial"/>
              <a:cs typeface="Arial"/>
              <a:sym typeface="Arial"/>
            </a:endParaRPr>
          </a:p>
        </p:txBody>
      </p:sp>
      <p:sp>
        <p:nvSpPr>
          <p:cNvPr id="842" name="Google Shape;842;g3f82b020a63_1_352"/>
          <p:cNvSpPr/>
          <p:nvPr/>
        </p:nvSpPr>
        <p:spPr>
          <a:xfrm>
            <a:off x="228650" y="20402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1</a:t>
            </a:r>
            <a:endParaRPr sz="1900" b="0" i="0" u="none" strike="noStrike" cap="none">
              <a:solidFill>
                <a:schemeClr val="lt1"/>
              </a:solidFill>
              <a:highlight>
                <a:srgbClr val="FF0000"/>
              </a:highlight>
              <a:latin typeface="Arial"/>
              <a:ea typeface="Arial"/>
              <a:cs typeface="Arial"/>
              <a:sym typeface="Arial"/>
            </a:endParaRPr>
          </a:p>
        </p:txBody>
      </p:sp>
      <p:sp>
        <p:nvSpPr>
          <p:cNvPr id="843" name="Google Shape;843;g3f82b020a63_1_352"/>
          <p:cNvSpPr/>
          <p:nvPr/>
        </p:nvSpPr>
        <p:spPr>
          <a:xfrm>
            <a:off x="228650" y="2775469"/>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2</a:t>
            </a:r>
            <a:endParaRPr sz="1900" b="0" i="0" u="none" strike="noStrike" cap="none">
              <a:solidFill>
                <a:schemeClr val="lt1"/>
              </a:solidFill>
              <a:highlight>
                <a:srgbClr val="FF0000"/>
              </a:highlight>
              <a:latin typeface="Arial"/>
              <a:ea typeface="Arial"/>
              <a:cs typeface="Arial"/>
              <a:sym typeface="Arial"/>
            </a:endParaRPr>
          </a:p>
        </p:txBody>
      </p:sp>
      <p:sp>
        <p:nvSpPr>
          <p:cNvPr id="844" name="Google Shape;844;g3f82b020a63_1_352"/>
          <p:cNvSpPr/>
          <p:nvPr/>
        </p:nvSpPr>
        <p:spPr>
          <a:xfrm>
            <a:off x="228650" y="348870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3</a:t>
            </a:r>
            <a:endParaRPr sz="1900" b="0" i="0" u="none" strike="noStrike" cap="none">
              <a:solidFill>
                <a:schemeClr val="lt1"/>
              </a:solidFill>
              <a:highlight>
                <a:srgbClr val="FF0000"/>
              </a:highlight>
              <a:latin typeface="Arial"/>
              <a:ea typeface="Arial"/>
              <a:cs typeface="Arial"/>
              <a:sym typeface="Arial"/>
            </a:endParaRPr>
          </a:p>
        </p:txBody>
      </p:sp>
      <p:sp>
        <p:nvSpPr>
          <p:cNvPr id="845" name="Google Shape;845;g3f82b020a63_1_352"/>
          <p:cNvSpPr/>
          <p:nvPr/>
        </p:nvSpPr>
        <p:spPr>
          <a:xfrm>
            <a:off x="228650" y="4222916"/>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4</a:t>
            </a:r>
            <a:endParaRPr sz="1900" b="0" i="0" u="none" strike="noStrike" cap="none">
              <a:solidFill>
                <a:schemeClr val="lt1"/>
              </a:solidFill>
              <a:highlight>
                <a:srgbClr val="FF0000"/>
              </a:highlight>
              <a:latin typeface="Arial"/>
              <a:ea typeface="Arial"/>
              <a:cs typeface="Arial"/>
              <a:sym typeface="Arial"/>
            </a:endParaRPr>
          </a:p>
        </p:txBody>
      </p:sp>
      <p:sp>
        <p:nvSpPr>
          <p:cNvPr id="846" name="Google Shape;846;g3f82b020a63_1_352"/>
          <p:cNvSpPr/>
          <p:nvPr/>
        </p:nvSpPr>
        <p:spPr>
          <a:xfrm>
            <a:off x="228650" y="4936141"/>
            <a:ext cx="431100" cy="431100"/>
          </a:xfrm>
          <a:prstGeom prst="ellipse">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ja-JP" sz="1900" b="0" i="0" u="none" strike="noStrike" cap="none">
                <a:solidFill>
                  <a:schemeClr val="lt1"/>
                </a:solidFill>
                <a:highlight>
                  <a:srgbClr val="FF0000"/>
                </a:highlight>
                <a:latin typeface="Arial"/>
                <a:ea typeface="Arial"/>
                <a:cs typeface="Arial"/>
                <a:sym typeface="Arial"/>
              </a:rPr>
              <a:t>5</a:t>
            </a:r>
            <a:endParaRPr sz="1900" b="0" i="0" u="none" strike="noStrike" cap="none">
              <a:solidFill>
                <a:schemeClr val="lt1"/>
              </a:solidFill>
              <a:highlight>
                <a:srgbClr val="FF0000"/>
              </a:highlight>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869"/>
        <p:cNvGrpSpPr/>
        <p:nvPr/>
      </p:nvGrpSpPr>
      <p:grpSpPr>
        <a:xfrm>
          <a:off x="0" y="0"/>
          <a:ext cx="0" cy="0"/>
          <a:chOff x="0" y="0"/>
          <a:chExt cx="0" cy="0"/>
        </a:xfrm>
      </p:grpSpPr>
      <p:sp>
        <p:nvSpPr>
          <p:cNvPr id="870" name="Google Shape;870;g3f82b020a63_1_39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13|FOR IP COLLABORATION</a:t>
            </a:r>
            <a:endParaRPr sz="1400" b="0" i="0" u="none" strike="noStrike" cap="none">
              <a:solidFill>
                <a:srgbClr val="000000"/>
              </a:solidFill>
              <a:latin typeface="Arial"/>
              <a:ea typeface="Arial"/>
              <a:cs typeface="Arial"/>
              <a:sym typeface="Arial"/>
            </a:endParaRPr>
          </a:p>
        </p:txBody>
      </p:sp>
      <p:sp>
        <p:nvSpPr>
          <p:cNvPr id="871" name="Google Shape;871;g3f82b020a63_1_392"/>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IPコラボで、新しいファン層へ</a:t>
            </a:r>
            <a:endParaRPr sz="2200" b="0" i="0" u="none" strike="noStrike" cap="none">
              <a:solidFill>
                <a:srgbClr val="000000"/>
              </a:solidFill>
              <a:latin typeface="Arial"/>
              <a:ea typeface="Arial"/>
              <a:cs typeface="Arial"/>
              <a:sym typeface="Arial"/>
            </a:endParaRPr>
          </a:p>
        </p:txBody>
      </p:sp>
      <p:sp>
        <p:nvSpPr>
          <p:cNvPr id="872" name="Google Shape;872;g3f82b020a63_1_39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3" name="Google Shape;873;g3f82b020a63_1_392"/>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dirty="0">
                <a:solidFill>
                  <a:srgbClr val="7FA8E0"/>
                </a:solidFill>
                <a:latin typeface="Arial"/>
                <a:ea typeface="Arial"/>
                <a:cs typeface="Arial"/>
                <a:sym typeface="Arial"/>
              </a:rPr>
              <a:t>ウルトラマン</a:t>
            </a:r>
            <a:r>
              <a:rPr lang="ja-JP" altLang="en-US" sz="2800" b="1" i="0" u="none" strike="noStrike" cap="none" dirty="0">
                <a:solidFill>
                  <a:srgbClr val="7FA8E0"/>
                </a:solidFill>
                <a:latin typeface="Arial"/>
                <a:ea typeface="Arial"/>
                <a:cs typeface="Arial"/>
                <a:sym typeface="Arial"/>
              </a:rPr>
              <a:t>と新たなステージへ</a:t>
            </a:r>
            <a:endParaRPr sz="2800" b="0" i="0" u="none" strike="noStrike" cap="none" dirty="0">
              <a:solidFill>
                <a:srgbClr val="000000"/>
              </a:solidFill>
              <a:latin typeface="Arial"/>
              <a:ea typeface="Arial"/>
              <a:cs typeface="Arial"/>
              <a:sym typeface="Arial"/>
            </a:endParaRPr>
          </a:p>
        </p:txBody>
      </p:sp>
      <p:graphicFrame>
        <p:nvGraphicFramePr>
          <p:cNvPr id="874" name="Google Shape;874;g3f82b020a63_1_392"/>
          <p:cNvGraphicFramePr/>
          <p:nvPr/>
        </p:nvGraphicFramePr>
        <p:xfrm>
          <a:off x="502920" y="2351798"/>
          <a:ext cx="11155675" cy="2865997"/>
        </p:xfrm>
        <a:graphic>
          <a:graphicData uri="http://schemas.openxmlformats.org/drawingml/2006/table">
            <a:tbl>
              <a:tblPr>
                <a:noFill/>
                <a:tableStyleId>{60C54DC3-C7D6-4BEA-B6AD-80E51AB05D85}</a:tableStyleId>
              </a:tblPr>
              <a:tblGrid>
                <a:gridCol w="2926075">
                  <a:extLst>
                    <a:ext uri="{9D8B030D-6E8A-4147-A177-3AD203B41FA5}">
                      <a16:colId xmlns:a16="http://schemas.microsoft.com/office/drawing/2014/main" val="20000"/>
                    </a:ext>
                  </a:extLst>
                </a:gridCol>
                <a:gridCol w="3291850">
                  <a:extLst>
                    <a:ext uri="{9D8B030D-6E8A-4147-A177-3AD203B41FA5}">
                      <a16:colId xmlns:a16="http://schemas.microsoft.com/office/drawing/2014/main" val="20001"/>
                    </a:ext>
                  </a:extLst>
                </a:gridCol>
                <a:gridCol w="4937750">
                  <a:extLst>
                    <a:ext uri="{9D8B030D-6E8A-4147-A177-3AD203B41FA5}">
                      <a16:colId xmlns:a16="http://schemas.microsoft.com/office/drawing/2014/main" val="20002"/>
                    </a:ext>
                  </a:extLst>
                </a:gridCol>
              </a:tblGrid>
              <a:tr h="147850">
                <a:tc>
                  <a:txBody>
                    <a:bodyPr/>
                    <a:lstStyle/>
                    <a:p>
                      <a:pPr marL="0" marR="0" lvl="0" indent="0" algn="l" rtl="0">
                        <a:lnSpc>
                          <a:spcPct val="10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方向性</a:t>
                      </a:r>
                      <a:endParaRPr sz="2900" u="none" strike="noStrike" cap="none">
                        <a:latin typeface="Arial"/>
                        <a:ea typeface="Arial"/>
                        <a:cs typeface="Arial"/>
                        <a:sym typeface="Arial"/>
                      </a:endParaRPr>
                    </a:p>
                  </a:txBody>
                  <a:tcPr marL="91450" marR="91450" marT="45725" marB="45725" anchor="ctr">
                    <a:solidFill>
                      <a:srgbClr val="A81C18"/>
                    </a:solidFill>
                  </a:tcPr>
                </a:tc>
                <a:tc>
                  <a:txBody>
                    <a:bodyPr/>
                    <a:lstStyle/>
                    <a:p>
                      <a:pPr marL="0" marR="0" lvl="0" indent="0" algn="l" rtl="0">
                        <a:lnSpc>
                          <a:spcPct val="10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ターゲット</a:t>
                      </a:r>
                      <a:endParaRPr sz="2900" u="none" strike="noStrike" cap="none">
                        <a:latin typeface="Arial"/>
                        <a:ea typeface="Arial"/>
                        <a:cs typeface="Arial"/>
                        <a:sym typeface="Arial"/>
                      </a:endParaRPr>
                    </a:p>
                  </a:txBody>
                  <a:tcPr marL="91450" marR="91450" marT="45725" marB="45725" anchor="ctr">
                    <a:solidFill>
                      <a:srgbClr val="A81C18"/>
                    </a:solidFill>
                  </a:tcPr>
                </a:tc>
                <a:tc>
                  <a:txBody>
                    <a:bodyPr/>
                    <a:lstStyle/>
                    <a:p>
                      <a:pPr marL="0" marR="0" lvl="0" indent="0" algn="l" rtl="0">
                        <a:lnSpc>
                          <a:spcPct val="10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取組例</a:t>
                      </a:r>
                      <a:endParaRPr sz="2900" u="none" strike="noStrike" cap="none">
                        <a:latin typeface="Arial"/>
                        <a:ea typeface="Arial"/>
                        <a:cs typeface="Arial"/>
                        <a:sym typeface="Arial"/>
                      </a:endParaRPr>
                    </a:p>
                  </a:txBody>
                  <a:tcPr marL="91450" marR="91450" marT="45725" marB="45725" anchor="ctr">
                    <a:solidFill>
                      <a:srgbClr val="A81C18"/>
                    </a:solidFill>
                  </a:tcPr>
                </a:tc>
                <a:extLst>
                  <a:ext uri="{0D108BD9-81ED-4DB2-BD59-A6C34878D82A}">
                    <a16:rowId xmlns:a16="http://schemas.microsoft.com/office/drawing/2014/main" val="10000"/>
                  </a:ext>
                </a:extLst>
              </a:tr>
              <a:tr h="457200">
                <a:tc>
                  <a:txBody>
                    <a:bodyPr/>
                    <a:lstStyle/>
                    <a:p>
                      <a:pPr marL="0" marR="0" lvl="0" indent="0" algn="l" rtl="0">
                        <a:lnSpc>
                          <a:spcPct val="11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かわいい文脈</a:t>
                      </a:r>
                      <a:endParaRPr sz="2900" u="none" strike="noStrike" cap="none">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50"/>
                        <a:buFont typeface="Arial"/>
                        <a:buNone/>
                      </a:pPr>
                      <a:r>
                        <a:rPr lang="ja-JP" sz="2650" b="0" u="none" strike="noStrike" cap="none">
                          <a:solidFill>
                            <a:schemeClr val="lt1"/>
                          </a:solidFill>
                          <a:latin typeface="Arial"/>
                          <a:ea typeface="Arial"/>
                          <a:cs typeface="Arial"/>
                          <a:sym typeface="Arial"/>
                        </a:rPr>
                        <a:t>女性・ライト層</a:t>
                      </a:r>
                      <a:endParaRPr sz="2900" u="none" strike="noStrike" cap="none">
                        <a:solidFill>
                          <a:schemeClr val="lt1"/>
                        </a:solidFill>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450"/>
                        <a:buFont typeface="Arial"/>
                        <a:buNone/>
                      </a:pPr>
                      <a:r>
                        <a:rPr lang="ja-JP" sz="2450" b="0" u="none" strike="noStrike" cap="none">
                          <a:solidFill>
                            <a:schemeClr val="lt1"/>
                          </a:solidFill>
                          <a:latin typeface="Arial"/>
                          <a:ea typeface="Arial"/>
                          <a:cs typeface="Arial"/>
                          <a:sym typeface="Arial"/>
                        </a:rPr>
                        <a:t>雑貨・文具(ぬいポーチ・マステ</a:t>
                      </a:r>
                      <a:r>
                        <a:rPr lang="ja-JP" sz="2450" u="none" strike="noStrike" cap="none">
                          <a:solidFill>
                            <a:schemeClr val="lt1"/>
                          </a:solidFill>
                          <a:latin typeface="Arial"/>
                          <a:ea typeface="Arial"/>
                          <a:cs typeface="Arial"/>
                          <a:sym typeface="Arial"/>
                        </a:rPr>
                        <a:t>）</a:t>
                      </a:r>
                      <a:r>
                        <a:rPr lang="ja-JP" sz="2450" b="0" u="none" strike="noStrike" cap="none">
                          <a:solidFill>
                            <a:schemeClr val="lt1"/>
                          </a:solidFill>
                          <a:latin typeface="Arial"/>
                          <a:ea typeface="Arial"/>
                          <a:cs typeface="Arial"/>
                          <a:sym typeface="Arial"/>
                        </a:rPr>
                        <a:t>・カフェコラボ</a:t>
                      </a:r>
                      <a:endParaRPr sz="2900" u="none" strike="noStrike" cap="none">
                        <a:solidFill>
                          <a:schemeClr val="lt1"/>
                        </a:solidFill>
                        <a:latin typeface="Arial"/>
                        <a:ea typeface="Arial"/>
                        <a:cs typeface="Arial"/>
                        <a:sym typeface="Arial"/>
                      </a:endParaRPr>
                    </a:p>
                  </a:txBody>
                  <a:tcPr marL="91450" marR="91450" marT="45725" marB="45725" anchor="ctr">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1"/>
                  </a:ext>
                </a:extLst>
              </a:tr>
              <a:tr h="457200">
                <a:tc>
                  <a:txBody>
                    <a:bodyPr/>
                    <a:lstStyle/>
                    <a:p>
                      <a:pPr marL="0" marR="0" lvl="0" indent="0" algn="l" rtl="0">
                        <a:lnSpc>
                          <a:spcPct val="11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キャラクター文脈</a:t>
                      </a:r>
                      <a:endParaRPr sz="2900" b="1" u="none" strike="noStrike" cap="none">
                        <a:solidFill>
                          <a:srgbClr val="F4F7FD"/>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650"/>
                        <a:buFont typeface="Arial"/>
                        <a:buNone/>
                      </a:pPr>
                      <a:r>
                        <a:rPr lang="ja-JP" sz="2650" b="0" u="none" strike="noStrike" cap="none">
                          <a:solidFill>
                            <a:schemeClr val="lt1"/>
                          </a:solidFill>
                          <a:latin typeface="Arial"/>
                          <a:ea typeface="Arial"/>
                          <a:cs typeface="Arial"/>
                          <a:sym typeface="Arial"/>
                        </a:rPr>
                        <a:t>ファミリー・ギフト</a:t>
                      </a:r>
                      <a:endParaRPr sz="2900" b="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tc>
                  <a:txBody>
                    <a:bodyPr/>
                    <a:lstStyle/>
                    <a:p>
                      <a:pPr marL="0" marR="0" lvl="0" indent="0" algn="l" rtl="0">
                        <a:lnSpc>
                          <a:spcPct val="110000"/>
                        </a:lnSpc>
                        <a:spcBef>
                          <a:spcPts val="0"/>
                        </a:spcBef>
                        <a:spcAft>
                          <a:spcPts val="0"/>
                        </a:spcAft>
                        <a:buClr>
                          <a:srgbClr val="000000"/>
                        </a:buClr>
                        <a:buSzPts val="2450"/>
                        <a:buFont typeface="Arial"/>
                        <a:buNone/>
                      </a:pPr>
                      <a:r>
                        <a:rPr lang="ja-JP" sz="2450" b="0" u="none" strike="noStrike" cap="none">
                          <a:solidFill>
                            <a:schemeClr val="lt1"/>
                          </a:solidFill>
                          <a:latin typeface="Arial"/>
                          <a:ea typeface="Arial"/>
                          <a:cs typeface="Arial"/>
                          <a:sym typeface="Arial"/>
                        </a:rPr>
                        <a:t>流通棚・</a:t>
                      </a:r>
                      <a:r>
                        <a:rPr lang="ja-JP" sz="2450" u="none" strike="noStrike" cap="none">
                          <a:solidFill>
                            <a:schemeClr val="lt1"/>
                          </a:solidFill>
                          <a:latin typeface="Arial"/>
                          <a:ea typeface="Arial"/>
                          <a:cs typeface="Arial"/>
                          <a:sym typeface="Arial"/>
                        </a:rPr>
                        <a:t>ギフト</a:t>
                      </a:r>
                      <a:r>
                        <a:rPr lang="ja-JP" sz="2450" b="0" u="none" strike="noStrike" cap="none">
                          <a:solidFill>
                            <a:schemeClr val="lt1"/>
                          </a:solidFill>
                          <a:latin typeface="Arial"/>
                          <a:ea typeface="Arial"/>
                          <a:cs typeface="Arial"/>
                          <a:sym typeface="Arial"/>
                        </a:rPr>
                        <a:t>雑貨・季節催事</a:t>
                      </a:r>
                      <a:endParaRPr sz="2900" u="none" strike="noStrike" cap="none">
                        <a:solidFill>
                          <a:schemeClr val="lt1"/>
                        </a:solidFill>
                        <a:latin typeface="Arial"/>
                        <a:ea typeface="Arial"/>
                        <a:cs typeface="Arial"/>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1730"/>
                    </a:solidFill>
                  </a:tcPr>
                </a:tc>
                <a:extLst>
                  <a:ext uri="{0D108BD9-81ED-4DB2-BD59-A6C34878D82A}">
                    <a16:rowId xmlns:a16="http://schemas.microsoft.com/office/drawing/2014/main" val="10002"/>
                  </a:ext>
                </a:extLst>
              </a:tr>
              <a:tr h="457200">
                <a:tc>
                  <a:txBody>
                    <a:bodyPr/>
                    <a:lstStyle/>
                    <a:p>
                      <a:pPr marL="0" marR="0" lvl="0" indent="0" algn="l" rtl="0">
                        <a:lnSpc>
                          <a:spcPct val="11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ホビー文脈</a:t>
                      </a:r>
                      <a:endParaRPr sz="2900" u="none" strike="noStrike" cap="none">
                        <a:latin typeface="Arial"/>
                        <a:ea typeface="Arial"/>
                        <a:cs typeface="Arial"/>
                        <a:sym typeface="Arial"/>
                      </a:endParaRPr>
                    </a:p>
                  </a:txBody>
                  <a:tcPr marL="91450" marR="91450" marT="45725" marB="45725" anchor="ctr">
                    <a:lnT w="12700" cap="flat" cmpd="sng">
                      <a:solidFill>
                        <a:schemeClr val="lt1"/>
                      </a:solidFill>
                      <a:prstDash val="solid"/>
                      <a:round/>
                      <a:headEnd type="none" w="sm" len="sm"/>
                      <a:tailEnd type="none" w="sm" len="sm"/>
                    </a:lnT>
                    <a:solidFill>
                      <a:srgbClr val="111F3E"/>
                    </a:solidFill>
                  </a:tcPr>
                </a:tc>
                <a:tc>
                  <a:txBody>
                    <a:bodyPr/>
                    <a:lstStyle/>
                    <a:p>
                      <a:pPr marL="0" marR="0" lvl="0" indent="0" algn="l" rtl="0">
                        <a:lnSpc>
                          <a:spcPct val="110000"/>
                        </a:lnSpc>
                        <a:spcBef>
                          <a:spcPts val="0"/>
                        </a:spcBef>
                        <a:spcAft>
                          <a:spcPts val="0"/>
                        </a:spcAft>
                        <a:buClr>
                          <a:srgbClr val="000000"/>
                        </a:buClr>
                        <a:buSzPts val="2650"/>
                        <a:buFont typeface="Arial"/>
                        <a:buNone/>
                      </a:pPr>
                      <a:r>
                        <a:rPr lang="ja-JP" sz="2650" b="0" u="none" strike="noStrike" cap="none">
                          <a:solidFill>
                            <a:schemeClr val="lt1"/>
                          </a:solidFill>
                          <a:latin typeface="Arial"/>
                          <a:ea typeface="Arial"/>
                          <a:cs typeface="Arial"/>
                          <a:sym typeface="Arial"/>
                        </a:rPr>
                        <a:t>コレクター</a:t>
                      </a:r>
                      <a:endParaRPr sz="2900" u="none" strike="noStrike" cap="none">
                        <a:solidFill>
                          <a:schemeClr val="lt1"/>
                        </a:solidFill>
                        <a:latin typeface="Arial"/>
                        <a:ea typeface="Arial"/>
                        <a:cs typeface="Arial"/>
                        <a:sym typeface="Arial"/>
                      </a:endParaRPr>
                    </a:p>
                  </a:txBody>
                  <a:tcPr marL="91450" marR="91450" marT="45725" marB="45725" anchor="ctr">
                    <a:lnT w="12700" cap="flat" cmpd="sng">
                      <a:solidFill>
                        <a:schemeClr val="lt1"/>
                      </a:solidFill>
                      <a:prstDash val="solid"/>
                      <a:round/>
                      <a:headEnd type="none" w="sm" len="sm"/>
                      <a:tailEnd type="none" w="sm" len="sm"/>
                    </a:lnT>
                    <a:solidFill>
                      <a:srgbClr val="111F3E"/>
                    </a:solidFill>
                  </a:tcPr>
                </a:tc>
                <a:tc>
                  <a:txBody>
                    <a:bodyPr/>
                    <a:lstStyle/>
                    <a:p>
                      <a:pPr marL="0" marR="0" lvl="0" indent="0" algn="l" rtl="0">
                        <a:lnSpc>
                          <a:spcPct val="110000"/>
                        </a:lnSpc>
                        <a:spcBef>
                          <a:spcPts val="0"/>
                        </a:spcBef>
                        <a:spcAft>
                          <a:spcPts val="0"/>
                        </a:spcAft>
                        <a:buClr>
                          <a:srgbClr val="000000"/>
                        </a:buClr>
                        <a:buSzPts val="2450"/>
                        <a:buFont typeface="Arial"/>
                        <a:buNone/>
                      </a:pPr>
                      <a:r>
                        <a:rPr lang="ja-JP" sz="2450" u="none" strike="noStrike" cap="none">
                          <a:solidFill>
                            <a:schemeClr val="lt1"/>
                          </a:solidFill>
                          <a:latin typeface="Arial"/>
                          <a:ea typeface="Arial"/>
                          <a:cs typeface="Arial"/>
                          <a:sym typeface="Arial"/>
                        </a:rPr>
                        <a:t>フィギュア・</a:t>
                      </a:r>
                      <a:r>
                        <a:rPr lang="ja-JP" sz="2450" b="0" u="none" strike="noStrike" cap="none">
                          <a:solidFill>
                            <a:schemeClr val="lt1"/>
                          </a:solidFill>
                          <a:latin typeface="Arial"/>
                          <a:ea typeface="Arial"/>
                          <a:cs typeface="Arial"/>
                          <a:sym typeface="Arial"/>
                        </a:rPr>
                        <a:t>ブラインドトイ</a:t>
                      </a:r>
                      <a:endParaRPr sz="2900" u="none" strike="noStrike" cap="none">
                        <a:solidFill>
                          <a:schemeClr val="lt1"/>
                        </a:solidFill>
                        <a:latin typeface="Arial"/>
                        <a:ea typeface="Arial"/>
                        <a:cs typeface="Arial"/>
                        <a:sym typeface="Arial"/>
                      </a:endParaRPr>
                    </a:p>
                  </a:txBody>
                  <a:tcPr marL="91450" marR="91450" marT="45725" marB="45725" anchor="ctr">
                    <a:lnT w="12700" cap="flat" cmpd="sng">
                      <a:solidFill>
                        <a:schemeClr val="lt1"/>
                      </a:solidFill>
                      <a:prstDash val="solid"/>
                      <a:round/>
                      <a:headEnd type="none" w="sm" len="sm"/>
                      <a:tailEnd type="none" w="sm" len="sm"/>
                    </a:lnT>
                    <a:solidFill>
                      <a:srgbClr val="111F3E"/>
                    </a:solidFill>
                  </a:tcPr>
                </a:tc>
                <a:extLst>
                  <a:ext uri="{0D108BD9-81ED-4DB2-BD59-A6C34878D82A}">
                    <a16:rowId xmlns:a16="http://schemas.microsoft.com/office/drawing/2014/main" val="10003"/>
                  </a:ext>
                </a:extLst>
              </a:tr>
              <a:tr h="457200">
                <a:tc>
                  <a:txBody>
                    <a:bodyPr/>
                    <a:lstStyle/>
                    <a:p>
                      <a:pPr marL="0" marR="0" lvl="0" indent="0" algn="l" rtl="0">
                        <a:lnSpc>
                          <a:spcPct val="110000"/>
                        </a:lnSpc>
                        <a:spcBef>
                          <a:spcPts val="0"/>
                        </a:spcBef>
                        <a:spcAft>
                          <a:spcPts val="0"/>
                        </a:spcAft>
                        <a:buClr>
                          <a:srgbClr val="000000"/>
                        </a:buClr>
                        <a:buSzPts val="2650"/>
                        <a:buFont typeface="Arial"/>
                        <a:buNone/>
                      </a:pPr>
                      <a:r>
                        <a:rPr lang="ja-JP" sz="2650" b="1" u="none" strike="noStrike" cap="none">
                          <a:solidFill>
                            <a:srgbClr val="F4F7FD"/>
                          </a:solidFill>
                          <a:latin typeface="Arial"/>
                          <a:ea typeface="Arial"/>
                          <a:cs typeface="Arial"/>
                          <a:sym typeface="Arial"/>
                        </a:rPr>
                        <a:t>ヒーロー文脈</a:t>
                      </a:r>
                      <a:endParaRPr sz="2900" u="none" strike="noStrike" cap="none">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650"/>
                        <a:buFont typeface="Arial"/>
                        <a:buNone/>
                      </a:pPr>
                      <a:r>
                        <a:rPr lang="ja-JP" sz="2650" u="none" strike="noStrike" cap="none">
                          <a:solidFill>
                            <a:schemeClr val="lt1"/>
                          </a:solidFill>
                          <a:latin typeface="Arial"/>
                          <a:ea typeface="Arial"/>
                          <a:cs typeface="Arial"/>
                          <a:sym typeface="Arial"/>
                        </a:rPr>
                        <a:t>キッズ</a:t>
                      </a:r>
                      <a:endParaRPr sz="2900" u="none" strike="noStrike" cap="none">
                        <a:solidFill>
                          <a:schemeClr val="lt1"/>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450"/>
                        <a:buFont typeface="Arial"/>
                        <a:buNone/>
                      </a:pPr>
                      <a:r>
                        <a:rPr lang="ja-JP" sz="2450" u="none" strike="noStrike" cap="none">
                          <a:solidFill>
                            <a:schemeClr val="lt1"/>
                          </a:solidFill>
                          <a:latin typeface="Arial"/>
                          <a:ea typeface="Arial"/>
                          <a:cs typeface="Arial"/>
                          <a:sym typeface="Arial"/>
                        </a:rPr>
                        <a:t>玩具</a:t>
                      </a:r>
                      <a:r>
                        <a:rPr lang="ja-JP" sz="2450" b="0" u="none" strike="noStrike" cap="none">
                          <a:solidFill>
                            <a:schemeClr val="lt1"/>
                          </a:solidFill>
                          <a:latin typeface="Arial"/>
                          <a:ea typeface="Arial"/>
                          <a:cs typeface="Arial"/>
                          <a:sym typeface="Arial"/>
                        </a:rPr>
                        <a:t>・</a:t>
                      </a:r>
                      <a:r>
                        <a:rPr lang="ja-JP" sz="2450" u="none" strike="noStrike" cap="none">
                          <a:solidFill>
                            <a:schemeClr val="lt1"/>
                          </a:solidFill>
                          <a:latin typeface="Arial"/>
                          <a:ea typeface="Arial"/>
                          <a:cs typeface="Arial"/>
                          <a:sym typeface="Arial"/>
                        </a:rPr>
                        <a:t>玩具菓子</a:t>
                      </a:r>
                      <a:endParaRPr sz="2900" u="none" strike="noStrike" cap="none">
                        <a:solidFill>
                          <a:schemeClr val="lt1"/>
                        </a:solidFill>
                        <a:latin typeface="Arial"/>
                        <a:ea typeface="Arial"/>
                        <a:cs typeface="Arial"/>
                        <a:sym typeface="Arial"/>
                      </a:endParaRPr>
                    </a:p>
                  </a:txBody>
                  <a:tcPr marL="91450" marR="91450" marT="45725" marB="45725" anchor="ctr">
                    <a:solidFill>
                      <a:srgbClr val="111F3E"/>
                    </a:solidFill>
                  </a:tcPr>
                </a:tc>
                <a:extLst>
                  <a:ext uri="{0D108BD9-81ED-4DB2-BD59-A6C34878D82A}">
                    <a16:rowId xmlns:a16="http://schemas.microsoft.com/office/drawing/2014/main" val="10004"/>
                  </a:ext>
                </a:extLst>
              </a:tr>
            </a:tbl>
          </a:graphicData>
        </a:graphic>
      </p:graphicFrame>
      <p:sp>
        <p:nvSpPr>
          <p:cNvPr id="875" name="Google Shape;875;g3f82b020a63_1_39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6" name="Google Shape;876;g3f82b020a63_1_39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7" name="Google Shape;877;g3f82b020a63_1_392"/>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ウルトラマンの入口を広げつつ、IPコラボ先との相互誘導</a:t>
            </a:r>
            <a:endParaRPr sz="2800" b="0" i="0" u="none" strike="noStrike" cap="none">
              <a:solidFill>
                <a:srgbClr val="000000"/>
              </a:solidFill>
              <a:latin typeface="Arial"/>
              <a:ea typeface="Arial"/>
              <a:cs typeface="Arial"/>
              <a:sym typeface="Arial"/>
            </a:endParaRPr>
          </a:p>
        </p:txBody>
      </p:sp>
      <p:sp>
        <p:nvSpPr>
          <p:cNvPr id="878" name="Google Shape;878;g3f82b020a63_1_392"/>
          <p:cNvSpPr/>
          <p:nvPr/>
        </p:nvSpPr>
        <p:spPr>
          <a:xfrm>
            <a:off x="-2611482" y="471139"/>
            <a:ext cx="2434200" cy="21378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Arial"/>
                <a:ea typeface="Arial"/>
                <a:cs typeface="Arial"/>
                <a:sym typeface="Arial"/>
              </a:rPr>
              <a:t>サンリオさん</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Arial"/>
                <a:ea typeface="Arial"/>
                <a:cs typeface="Arial"/>
                <a:sym typeface="Arial"/>
              </a:rPr>
              <a:t>会場にいらしていますので</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Arial"/>
                <a:ea typeface="Arial"/>
                <a:cs typeface="Arial"/>
                <a:sym typeface="Arial"/>
              </a:rPr>
              <a:t>ウルトラ本位のウルトラだけにメリットがあるような文言避けたいです</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894"/>
        <p:cNvGrpSpPr/>
        <p:nvPr/>
      </p:nvGrpSpPr>
      <p:grpSpPr>
        <a:xfrm>
          <a:off x="0" y="0"/>
          <a:ext cx="0" cy="0"/>
          <a:chOff x="0" y="0"/>
          <a:chExt cx="0" cy="0"/>
        </a:xfrm>
      </p:grpSpPr>
      <p:sp>
        <p:nvSpPr>
          <p:cNvPr id="895" name="Google Shape;895;g3f82b020a63_0_233"/>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21</a:t>
            </a:fld>
            <a:endParaRPr/>
          </a:p>
        </p:txBody>
      </p:sp>
      <p:sp>
        <p:nvSpPr>
          <p:cNvPr id="896" name="Google Shape;896;g3f82b020a63_0_233"/>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13|FOR IP COLLABORATION</a:t>
            </a:r>
            <a:endParaRPr sz="1400" b="0" i="0" u="none" strike="noStrike" cap="none">
              <a:solidFill>
                <a:srgbClr val="000000"/>
              </a:solidFill>
              <a:latin typeface="Arial"/>
              <a:ea typeface="Arial"/>
              <a:cs typeface="Arial"/>
              <a:sym typeface="Arial"/>
            </a:endParaRPr>
          </a:p>
        </p:txBody>
      </p:sp>
      <p:sp>
        <p:nvSpPr>
          <p:cNvPr id="897" name="Google Shape;897;g3f82b020a63_0_233"/>
          <p:cNvSpPr txBox="1"/>
          <p:nvPr/>
        </p:nvSpPr>
        <p:spPr>
          <a:xfrm>
            <a:off x="502920" y="566928"/>
            <a:ext cx="87324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今後予定しているコラボ</a:t>
            </a:r>
            <a:endParaRPr sz="3200" b="1" i="0" u="none" strike="noStrike" cap="none">
              <a:solidFill>
                <a:srgbClr val="F4F7FD"/>
              </a:solidFill>
              <a:latin typeface="Arial"/>
              <a:ea typeface="Arial"/>
              <a:cs typeface="Arial"/>
              <a:sym typeface="Arial"/>
            </a:endParaRPr>
          </a:p>
        </p:txBody>
      </p:sp>
      <p:sp>
        <p:nvSpPr>
          <p:cNvPr id="898" name="Google Shape;898;g3f82b020a63_0_233"/>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901" name="Google Shape;901;g3f82b020a63_0_233"/>
          <p:cNvGrpSpPr/>
          <p:nvPr/>
        </p:nvGrpSpPr>
        <p:grpSpPr>
          <a:xfrm>
            <a:off x="837950" y="2714650"/>
            <a:ext cx="10678500" cy="3136504"/>
            <a:chOff x="837950" y="2714650"/>
            <a:chExt cx="10678500" cy="3136504"/>
          </a:xfrm>
        </p:grpSpPr>
        <p:sp>
          <p:nvSpPr>
            <p:cNvPr id="902" name="Google Shape;902;g3f82b020a63_0_233"/>
            <p:cNvSpPr/>
            <p:nvPr/>
          </p:nvSpPr>
          <p:spPr>
            <a:xfrm>
              <a:off x="837950" y="2714650"/>
              <a:ext cx="10678500" cy="3136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03" name="Google Shape;903;g3f82b020a63_0_233"/>
            <p:cNvPicPr preferRelativeResize="0"/>
            <p:nvPr/>
          </p:nvPicPr>
          <p:blipFill rotWithShape="1">
            <a:blip r:embed="rId3">
              <a:alphaModFix/>
            </a:blip>
            <a:srcRect/>
            <a:stretch/>
          </p:blipFill>
          <p:spPr>
            <a:xfrm>
              <a:off x="6394204" y="2831904"/>
              <a:ext cx="4861876" cy="3019250"/>
            </a:xfrm>
            <a:prstGeom prst="rect">
              <a:avLst/>
            </a:prstGeom>
            <a:noFill/>
            <a:ln>
              <a:noFill/>
            </a:ln>
          </p:spPr>
        </p:pic>
        <p:pic>
          <p:nvPicPr>
            <p:cNvPr id="904" name="Google Shape;904;g3f82b020a63_0_233"/>
            <p:cNvPicPr preferRelativeResize="0"/>
            <p:nvPr/>
          </p:nvPicPr>
          <p:blipFill rotWithShape="1">
            <a:blip r:embed="rId4">
              <a:alphaModFix/>
            </a:blip>
            <a:srcRect t="27778" b="29558"/>
            <a:stretch/>
          </p:blipFill>
          <p:spPr>
            <a:xfrm>
              <a:off x="1463499" y="3893427"/>
              <a:ext cx="3384226" cy="896175"/>
            </a:xfrm>
            <a:prstGeom prst="rect">
              <a:avLst/>
            </a:prstGeom>
            <a:noFill/>
            <a:ln>
              <a:noFill/>
            </a:ln>
          </p:spPr>
        </p:pic>
        <p:sp>
          <p:nvSpPr>
            <p:cNvPr id="905" name="Google Shape;905;g3f82b020a63_0_233"/>
            <p:cNvSpPr txBox="1"/>
            <p:nvPr/>
          </p:nvSpPr>
          <p:spPr>
            <a:xfrm>
              <a:off x="4511325" y="3787413"/>
              <a:ext cx="30000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ja-JP" sz="6000" b="1" i="0" u="none" strike="noStrike" cap="none">
                  <a:solidFill>
                    <a:schemeClr val="dk1"/>
                  </a:solidFill>
                  <a:latin typeface="Arial"/>
                  <a:ea typeface="Arial"/>
                  <a:cs typeface="Arial"/>
                  <a:sym typeface="Arial"/>
                </a:rPr>
                <a:t>×</a:t>
              </a:r>
              <a:endParaRPr sz="6000" b="0" i="0" u="none" strike="noStrike" cap="none">
                <a:solidFill>
                  <a:schemeClr val="dk1"/>
                </a:solidFill>
                <a:latin typeface="Arial"/>
                <a:ea typeface="Arial"/>
                <a:cs typeface="Arial"/>
                <a:sym typeface="Arial"/>
              </a:endParaRPr>
            </a:p>
          </p:txBody>
        </p:sp>
      </p:grpSp>
      <p:sp>
        <p:nvSpPr>
          <p:cNvPr id="906" name="Google Shape;906;g3f82b020a63_0_233"/>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dirty="0">
                <a:solidFill>
                  <a:srgbClr val="7FA8E0"/>
                </a:solidFill>
                <a:latin typeface="Arial"/>
                <a:ea typeface="Arial"/>
                <a:cs typeface="Arial"/>
                <a:sym typeface="Arial"/>
              </a:rPr>
              <a:t>IPコラボにとどまらず、企業キャラクターコラボも計画中</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984"/>
        <p:cNvGrpSpPr/>
        <p:nvPr/>
      </p:nvGrpSpPr>
      <p:grpSpPr>
        <a:xfrm>
          <a:off x="0" y="0"/>
          <a:ext cx="0" cy="0"/>
          <a:chOff x="0" y="0"/>
          <a:chExt cx="0" cy="0"/>
        </a:xfrm>
      </p:grpSpPr>
      <p:sp>
        <p:nvSpPr>
          <p:cNvPr id="985" name="Google Shape;985;g3f82b020a63_33_135"/>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14|STYLE GUIDE PLATFORM</a:t>
            </a:r>
            <a:endParaRPr sz="1400" b="0" i="0" u="none" strike="noStrike" cap="none">
              <a:solidFill>
                <a:srgbClr val="000000"/>
              </a:solidFill>
              <a:latin typeface="Arial"/>
              <a:ea typeface="Arial"/>
              <a:cs typeface="Arial"/>
              <a:sym typeface="Arial"/>
            </a:endParaRPr>
          </a:p>
        </p:txBody>
      </p:sp>
      <p:sp>
        <p:nvSpPr>
          <p:cNvPr id="986" name="Google Shape;986;g3f82b020a63_33_135"/>
          <p:cNvSpPr txBox="1"/>
          <p:nvPr/>
        </p:nvSpPr>
        <p:spPr>
          <a:xfrm>
            <a:off x="502926" y="717500"/>
            <a:ext cx="101916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スタイルガイドを企業ごとの提案プラットフォームへ</a:t>
            </a:r>
            <a:endParaRPr sz="2200" b="0" i="0" u="none" strike="noStrike" cap="none">
              <a:solidFill>
                <a:srgbClr val="000000"/>
              </a:solidFill>
              <a:latin typeface="Arial"/>
              <a:ea typeface="Arial"/>
              <a:cs typeface="Arial"/>
              <a:sym typeface="Arial"/>
            </a:endParaRPr>
          </a:p>
        </p:txBody>
      </p:sp>
      <p:sp>
        <p:nvSpPr>
          <p:cNvPr id="987" name="Google Shape;987;g3f82b020a63_33_135"/>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88" name="Google Shape;988;g3f82b020a63_33_135"/>
          <p:cNvSpPr txBox="1"/>
          <p:nvPr/>
        </p:nvSpPr>
        <p:spPr>
          <a:xfrm>
            <a:off x="502920" y="1441312"/>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素材を選ぶのではなく、売れる表現を一緒に組み立てる。</a:t>
            </a:r>
            <a:endParaRPr sz="2400" b="0" i="0" u="none" strike="noStrike" cap="none">
              <a:solidFill>
                <a:srgbClr val="000000"/>
              </a:solidFill>
              <a:latin typeface="Arial"/>
              <a:ea typeface="Arial"/>
              <a:cs typeface="Arial"/>
              <a:sym typeface="Arial"/>
            </a:endParaRPr>
          </a:p>
        </p:txBody>
      </p:sp>
      <p:sp>
        <p:nvSpPr>
          <p:cNvPr id="989" name="Google Shape;989;g3f82b020a63_33_135"/>
          <p:cNvSpPr/>
          <p:nvPr/>
        </p:nvSpPr>
        <p:spPr>
          <a:xfrm>
            <a:off x="506100" y="2686455"/>
            <a:ext cx="27432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990" name="Google Shape;990;g3f82b020a63_33_135"/>
          <p:cNvSpPr txBox="1"/>
          <p:nvPr/>
        </p:nvSpPr>
        <p:spPr>
          <a:xfrm>
            <a:off x="528650" y="2958150"/>
            <a:ext cx="2720700" cy="3693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TARGET</a:t>
            </a:r>
            <a:endParaRPr sz="1400" b="0" i="0" u="none" strike="noStrike" cap="none">
              <a:solidFill>
                <a:srgbClr val="000000"/>
              </a:solidFill>
              <a:latin typeface="Arial"/>
              <a:ea typeface="Arial"/>
              <a:cs typeface="Arial"/>
              <a:sym typeface="Arial"/>
            </a:endParaRPr>
          </a:p>
        </p:txBody>
      </p:sp>
      <p:sp>
        <p:nvSpPr>
          <p:cNvPr id="991" name="Google Shape;991;g3f82b020a63_33_135"/>
          <p:cNvSpPr txBox="1"/>
          <p:nvPr/>
        </p:nvSpPr>
        <p:spPr>
          <a:xfrm>
            <a:off x="3545121" y="2992330"/>
            <a:ext cx="569100" cy="369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992" name="Google Shape;992;g3f82b020a63_33_135"/>
          <p:cNvSpPr/>
          <p:nvPr/>
        </p:nvSpPr>
        <p:spPr>
          <a:xfrm>
            <a:off x="4410051" y="2686480"/>
            <a:ext cx="29250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993" name="Google Shape;993;g3f82b020a63_33_135"/>
          <p:cNvSpPr txBox="1"/>
          <p:nvPr/>
        </p:nvSpPr>
        <p:spPr>
          <a:xfrm>
            <a:off x="4410050" y="2958175"/>
            <a:ext cx="2925000" cy="3693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CATEGORY</a:t>
            </a:r>
            <a:endParaRPr sz="1400" b="0" i="0" u="none" strike="noStrike" cap="none">
              <a:solidFill>
                <a:srgbClr val="000000"/>
              </a:solidFill>
              <a:latin typeface="Arial"/>
              <a:ea typeface="Arial"/>
              <a:cs typeface="Arial"/>
              <a:sym typeface="Arial"/>
            </a:endParaRPr>
          </a:p>
        </p:txBody>
      </p:sp>
      <p:sp>
        <p:nvSpPr>
          <p:cNvPr id="994" name="Google Shape;994;g3f82b020a63_33_135"/>
          <p:cNvSpPr txBox="1"/>
          <p:nvPr/>
        </p:nvSpPr>
        <p:spPr>
          <a:xfrm>
            <a:off x="7561175" y="2992330"/>
            <a:ext cx="836100" cy="369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995" name="Google Shape;995;g3f82b020a63_33_135"/>
          <p:cNvSpPr/>
          <p:nvPr/>
        </p:nvSpPr>
        <p:spPr>
          <a:xfrm>
            <a:off x="8623409" y="2686455"/>
            <a:ext cx="29250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996" name="Google Shape;996;g3f82b020a63_33_135"/>
          <p:cNvSpPr txBox="1"/>
          <p:nvPr/>
        </p:nvSpPr>
        <p:spPr>
          <a:xfrm>
            <a:off x="8594300" y="2992325"/>
            <a:ext cx="2925000" cy="3693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STYLE PARTS</a:t>
            </a:r>
            <a:endParaRPr sz="1400" b="0" i="0" u="none" strike="noStrike" cap="none">
              <a:solidFill>
                <a:srgbClr val="000000"/>
              </a:solidFill>
              <a:latin typeface="Arial"/>
              <a:ea typeface="Arial"/>
              <a:cs typeface="Arial"/>
              <a:sym typeface="Arial"/>
            </a:endParaRPr>
          </a:p>
        </p:txBody>
      </p:sp>
      <p:sp>
        <p:nvSpPr>
          <p:cNvPr id="997" name="Google Shape;997;g3f82b020a63_33_135"/>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22</a:t>
            </a:fld>
            <a:endParaRPr/>
          </a:p>
        </p:txBody>
      </p:sp>
      <p:sp>
        <p:nvSpPr>
          <p:cNvPr id="998" name="Google Shape;998;g3f82b020a63_33_135"/>
          <p:cNvSpPr/>
          <p:nvPr/>
        </p:nvSpPr>
        <p:spPr>
          <a:xfrm>
            <a:off x="603828" y="5477582"/>
            <a:ext cx="11045400" cy="640200"/>
          </a:xfrm>
          <a:prstGeom prst="roundRect">
            <a:avLst>
              <a:gd name="adj" fmla="val 12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99" name="Google Shape;999;g3f82b020a63_33_135"/>
          <p:cNvSpPr txBox="1"/>
          <p:nvPr/>
        </p:nvSpPr>
        <p:spPr>
          <a:xfrm>
            <a:off x="603825" y="5525788"/>
            <a:ext cx="11045400" cy="4464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3200"/>
              <a:buFont typeface="Arial"/>
              <a:buNone/>
            </a:pPr>
            <a:r>
              <a:rPr lang="ja-JP" sz="2900" b="1" i="0" u="none" strike="noStrike" cap="none">
                <a:solidFill>
                  <a:srgbClr val="F4F7FD"/>
                </a:solidFill>
              </a:rPr>
              <a:t>商品モック / 売場 / キャンペーン / デジタル施策</a:t>
            </a:r>
            <a:endParaRPr sz="3200" b="1" i="0" u="none" strike="noStrike" cap="none">
              <a:solidFill>
                <a:srgbClr val="000000"/>
              </a:solidFill>
            </a:endParaRPr>
          </a:p>
        </p:txBody>
      </p:sp>
      <p:sp>
        <p:nvSpPr>
          <p:cNvPr id="1000" name="Google Shape;1000;g3f82b020a63_33_135"/>
          <p:cNvSpPr/>
          <p:nvPr/>
        </p:nvSpPr>
        <p:spPr>
          <a:xfrm>
            <a:off x="4500851" y="4383368"/>
            <a:ext cx="2925000" cy="981000"/>
          </a:xfrm>
          <a:prstGeom prst="roundRect">
            <a:avLst>
              <a:gd name="adj" fmla="val 18000"/>
            </a:avLst>
          </a:prstGeom>
          <a:noFill/>
          <a:ln w="17775" cap="flat" cmpd="sng">
            <a:solidFill>
              <a:schemeClr val="lt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001" name="Google Shape;1001;g3f82b020a63_33_135"/>
          <p:cNvSpPr txBox="1"/>
          <p:nvPr/>
        </p:nvSpPr>
        <p:spPr>
          <a:xfrm>
            <a:off x="4500850" y="4655063"/>
            <a:ext cx="2925000" cy="369300"/>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a:solidFill>
                  <a:schemeClr val="lt1"/>
                </a:solidFill>
              </a:rPr>
              <a:t>企業別提案</a:t>
            </a:r>
            <a:endParaRPr sz="1400" b="0" i="0" u="none" strike="noStrike" cap="none">
              <a:solidFill>
                <a:schemeClr val="lt1"/>
              </a:solidFill>
              <a:latin typeface="Arial"/>
              <a:ea typeface="Arial"/>
              <a:cs typeface="Arial"/>
              <a:sym typeface="Arial"/>
            </a:endParaRPr>
          </a:p>
        </p:txBody>
      </p:sp>
      <p:sp>
        <p:nvSpPr>
          <p:cNvPr id="1002" name="Google Shape;1002;g3f82b020a63_33_135"/>
          <p:cNvSpPr/>
          <p:nvPr/>
        </p:nvSpPr>
        <p:spPr>
          <a:xfrm rot="10800000" flipH="1">
            <a:off x="5454500" y="3826825"/>
            <a:ext cx="836100" cy="446400"/>
          </a:xfrm>
          <a:prstGeom prst="triangle">
            <a:avLst>
              <a:gd name="adj" fmla="val 50000"/>
            </a:avLst>
          </a:prstGeom>
          <a:solidFill>
            <a:srgbClr val="E8382F"/>
          </a:solidFill>
          <a:ln w="9525" cap="flat" cmpd="sng">
            <a:solidFill>
              <a:srgbClr val="E8382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007"/>
        <p:cNvGrpSpPr/>
        <p:nvPr/>
      </p:nvGrpSpPr>
      <p:grpSpPr>
        <a:xfrm>
          <a:off x="0" y="0"/>
          <a:ext cx="0" cy="0"/>
          <a:chOff x="0" y="0"/>
          <a:chExt cx="0" cy="0"/>
        </a:xfrm>
      </p:grpSpPr>
      <p:sp>
        <p:nvSpPr>
          <p:cNvPr id="1008" name="Google Shape;1008;g3f82b020a63_1_459"/>
          <p:cNvSpPr/>
          <p:nvPr/>
        </p:nvSpPr>
        <p:spPr>
          <a:xfrm>
            <a:off x="582432" y="3598335"/>
            <a:ext cx="2824912" cy="216191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09" name="Google Shape;1009;g3f82b020a63_1_459"/>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14|STYLE GUIDE PLATFORM</a:t>
            </a:r>
            <a:endParaRPr sz="1400" b="0" i="0" u="none" strike="noStrike" cap="none">
              <a:solidFill>
                <a:srgbClr val="000000"/>
              </a:solidFill>
              <a:latin typeface="Arial"/>
              <a:ea typeface="Arial"/>
              <a:cs typeface="Arial"/>
              <a:sym typeface="Arial"/>
            </a:endParaRPr>
          </a:p>
        </p:txBody>
      </p:sp>
      <p:sp>
        <p:nvSpPr>
          <p:cNvPr id="1010" name="Google Shape;1010;g3f82b020a63_1_459"/>
          <p:cNvSpPr txBox="1"/>
          <p:nvPr/>
        </p:nvSpPr>
        <p:spPr>
          <a:xfrm>
            <a:off x="502926" y="703811"/>
            <a:ext cx="10191600"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スタイルガイドを企業ごとの提案プラットフォームへ</a:t>
            </a:r>
            <a:endParaRPr sz="2200" b="0" i="0" u="none" strike="noStrike" cap="none">
              <a:solidFill>
                <a:srgbClr val="000000"/>
              </a:solidFill>
              <a:latin typeface="Arial"/>
              <a:ea typeface="Arial"/>
              <a:cs typeface="Arial"/>
              <a:sym typeface="Arial"/>
            </a:endParaRPr>
          </a:p>
        </p:txBody>
      </p:sp>
      <p:sp>
        <p:nvSpPr>
          <p:cNvPr id="1011" name="Google Shape;1011;g3f82b020a63_1_459"/>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12" name="Google Shape;1012;g3f82b020a63_1_459"/>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23</a:t>
            </a:fld>
            <a:endParaRPr/>
          </a:p>
        </p:txBody>
      </p:sp>
      <p:sp>
        <p:nvSpPr>
          <p:cNvPr id="1013" name="Google Shape;1013;g3f82b020a63_1_459"/>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14" name="Google Shape;1014;g3f82b020a63_1_459"/>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15" name="Google Shape;1015;g3f82b020a63_1_459"/>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顧客・商品・売場によって、最適な表現は変わる。</a:t>
            </a:r>
            <a:endParaRPr sz="2800" b="0" i="0" u="none" strike="noStrike" cap="none">
              <a:solidFill>
                <a:srgbClr val="000000"/>
              </a:solidFill>
              <a:latin typeface="Arial"/>
              <a:ea typeface="Arial"/>
              <a:cs typeface="Arial"/>
              <a:sym typeface="Arial"/>
            </a:endParaRPr>
          </a:p>
        </p:txBody>
      </p:sp>
      <p:sp>
        <p:nvSpPr>
          <p:cNvPr id="1016" name="Google Shape;1016;g3f82b020a63_1_459"/>
          <p:cNvSpPr txBox="1"/>
          <p:nvPr/>
        </p:nvSpPr>
        <p:spPr>
          <a:xfrm>
            <a:off x="502925" y="1554475"/>
            <a:ext cx="118689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市場・顧客・価格・販路から逆算し、最適アートパーツを組み合わせる</a:t>
            </a:r>
            <a:endParaRPr sz="2800" b="0" i="0" u="none" strike="noStrike" cap="none">
              <a:solidFill>
                <a:srgbClr val="000000"/>
              </a:solidFill>
              <a:latin typeface="Arial"/>
              <a:ea typeface="Arial"/>
              <a:cs typeface="Arial"/>
              <a:sym typeface="Arial"/>
            </a:endParaRPr>
          </a:p>
        </p:txBody>
      </p:sp>
      <p:pic>
        <p:nvPicPr>
          <p:cNvPr id="1017" name="Google Shape;1017;g3f82b020a63_1_459" descr="ULTRA KAIJU&#10;&#10;AI 生成コンテンツは誤りを含む可能性があります。"/>
          <p:cNvPicPr preferRelativeResize="0"/>
          <p:nvPr/>
        </p:nvPicPr>
        <p:blipFill rotWithShape="1">
          <a:blip r:embed="rId3">
            <a:alphaModFix/>
          </a:blip>
          <a:srcRect/>
          <a:stretch/>
        </p:blipFill>
        <p:spPr>
          <a:xfrm>
            <a:off x="8553638" y="3598335"/>
            <a:ext cx="3172105" cy="2152500"/>
          </a:xfrm>
          <a:prstGeom prst="rect">
            <a:avLst/>
          </a:prstGeom>
          <a:noFill/>
          <a:ln>
            <a:noFill/>
          </a:ln>
        </p:spPr>
      </p:pic>
      <p:sp>
        <p:nvSpPr>
          <p:cNvPr id="1018" name="Google Shape;1018;g3f82b020a63_1_459"/>
          <p:cNvSpPr/>
          <p:nvPr/>
        </p:nvSpPr>
        <p:spPr>
          <a:xfrm>
            <a:off x="559882" y="2480692"/>
            <a:ext cx="27432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019" name="Google Shape;1019;g3f82b020a63_1_459"/>
          <p:cNvSpPr txBox="1"/>
          <p:nvPr/>
        </p:nvSpPr>
        <p:spPr>
          <a:xfrm>
            <a:off x="582432" y="2706205"/>
            <a:ext cx="2720700" cy="461665"/>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幼児</a:t>
            </a:r>
            <a:endParaRPr sz="1400" b="0" i="0" u="none" strike="noStrike" cap="none">
              <a:solidFill>
                <a:srgbClr val="000000"/>
              </a:solidFill>
              <a:latin typeface="Arial"/>
              <a:ea typeface="Arial"/>
              <a:cs typeface="Arial"/>
              <a:sym typeface="Arial"/>
            </a:endParaRPr>
          </a:p>
        </p:txBody>
      </p:sp>
      <p:sp>
        <p:nvSpPr>
          <p:cNvPr id="1020" name="Google Shape;1020;g3f82b020a63_1_459"/>
          <p:cNvSpPr/>
          <p:nvPr/>
        </p:nvSpPr>
        <p:spPr>
          <a:xfrm>
            <a:off x="4463833" y="2480717"/>
            <a:ext cx="29250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021" name="Google Shape;1021;g3f82b020a63_1_459"/>
          <p:cNvSpPr txBox="1"/>
          <p:nvPr/>
        </p:nvSpPr>
        <p:spPr>
          <a:xfrm>
            <a:off x="4463832" y="2706230"/>
            <a:ext cx="2925000" cy="461665"/>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小学生</a:t>
            </a:r>
            <a:endParaRPr sz="1400" b="0" i="0" u="none" strike="noStrike" cap="none">
              <a:solidFill>
                <a:srgbClr val="000000"/>
              </a:solidFill>
              <a:latin typeface="Arial"/>
              <a:ea typeface="Arial"/>
              <a:cs typeface="Arial"/>
              <a:sym typeface="Arial"/>
            </a:endParaRPr>
          </a:p>
        </p:txBody>
      </p:sp>
      <p:sp>
        <p:nvSpPr>
          <p:cNvPr id="1022" name="Google Shape;1022;g3f82b020a63_1_459"/>
          <p:cNvSpPr/>
          <p:nvPr/>
        </p:nvSpPr>
        <p:spPr>
          <a:xfrm>
            <a:off x="8677191" y="2480692"/>
            <a:ext cx="2925000" cy="981000"/>
          </a:xfrm>
          <a:prstGeom prst="roundRect">
            <a:avLst>
              <a:gd name="adj" fmla="val 18000"/>
            </a:avLst>
          </a:prstGeom>
          <a:noFill/>
          <a:ln w="17775"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023" name="Google Shape;1023;g3f82b020a63_1_459"/>
          <p:cNvSpPr txBox="1"/>
          <p:nvPr/>
        </p:nvSpPr>
        <p:spPr>
          <a:xfrm>
            <a:off x="8648082" y="2740380"/>
            <a:ext cx="2925000" cy="461665"/>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400"/>
              <a:buFont typeface="Arial"/>
              <a:buNone/>
            </a:pPr>
            <a:r>
              <a:rPr lang="ja-JP" sz="2400" b="1" i="0" u="none" strike="noStrike" cap="none">
                <a:solidFill>
                  <a:srgbClr val="E8382F"/>
                </a:solidFill>
                <a:latin typeface="Arial"/>
                <a:ea typeface="Arial"/>
                <a:cs typeface="Arial"/>
                <a:sym typeface="Arial"/>
              </a:rPr>
              <a:t>大人</a:t>
            </a:r>
            <a:endParaRPr sz="1400" b="0" i="0" u="none" strike="noStrike" cap="none">
              <a:solidFill>
                <a:srgbClr val="000000"/>
              </a:solidFill>
              <a:latin typeface="Arial"/>
              <a:ea typeface="Arial"/>
              <a:cs typeface="Arial"/>
              <a:sym typeface="Arial"/>
            </a:endParaRPr>
          </a:p>
        </p:txBody>
      </p:sp>
      <p:pic>
        <p:nvPicPr>
          <p:cNvPr id="1024" name="Google Shape;1024;g3f82b020a63_1_459" descr="Final Fantasy&#10;&#10;AI 生成コンテンツは誤りを含む可能性があります。"/>
          <p:cNvPicPr preferRelativeResize="0"/>
          <p:nvPr/>
        </p:nvPicPr>
        <p:blipFill rotWithShape="1">
          <a:blip r:embed="rId4">
            <a:alphaModFix/>
          </a:blip>
          <a:srcRect t="2363" b="-2363"/>
          <a:stretch/>
        </p:blipFill>
        <p:spPr>
          <a:xfrm>
            <a:off x="4463832" y="3581330"/>
            <a:ext cx="2925000" cy="2193750"/>
          </a:xfrm>
          <a:prstGeom prst="rect">
            <a:avLst/>
          </a:prstGeom>
          <a:noFill/>
          <a:ln>
            <a:noFill/>
          </a:ln>
        </p:spPr>
      </p:pic>
      <p:pic>
        <p:nvPicPr>
          <p:cNvPr id="1025" name="Google Shape;1025;g3f82b020a63_1_459" descr="The image depicts a white mug featuring a stylized, red and white design with a robot character in the center, surrounded by cartoon characters in a pattern.&#10;&#10;AI 生成コンテンツは誤りを含む可能性があります。"/>
          <p:cNvPicPr preferRelativeResize="0"/>
          <p:nvPr/>
        </p:nvPicPr>
        <p:blipFill rotWithShape="1">
          <a:blip r:embed="rId5">
            <a:alphaModFix/>
          </a:blip>
          <a:srcRect t="14702" b="14393"/>
          <a:stretch/>
        </p:blipFill>
        <p:spPr>
          <a:xfrm>
            <a:off x="898560" y="3861077"/>
            <a:ext cx="2292216" cy="16253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030"/>
        <p:cNvGrpSpPr/>
        <p:nvPr/>
      </p:nvGrpSpPr>
      <p:grpSpPr>
        <a:xfrm>
          <a:off x="0" y="0"/>
          <a:ext cx="0" cy="0"/>
          <a:chOff x="0" y="0"/>
          <a:chExt cx="0" cy="0"/>
        </a:xfrm>
      </p:grpSpPr>
      <p:sp>
        <p:nvSpPr>
          <p:cNvPr id="1031" name="Google Shape;1031;g3f54859c7f8_2_49"/>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14|STYLE GUIDE PLATFORM</a:t>
            </a:r>
            <a:endParaRPr sz="1400" b="0" i="0" u="none" strike="noStrike" cap="none">
              <a:solidFill>
                <a:srgbClr val="000000"/>
              </a:solidFill>
              <a:latin typeface="Arial"/>
              <a:ea typeface="Arial"/>
              <a:cs typeface="Arial"/>
              <a:sym typeface="Arial"/>
            </a:endParaRPr>
          </a:p>
        </p:txBody>
      </p:sp>
      <p:sp>
        <p:nvSpPr>
          <p:cNvPr id="1032" name="Google Shape;1032;g3f54859c7f8_2_49"/>
          <p:cNvSpPr txBox="1"/>
          <p:nvPr/>
        </p:nvSpPr>
        <p:spPr>
          <a:xfrm>
            <a:off x="502926" y="717500"/>
            <a:ext cx="10191600" cy="10737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dirty="0">
                <a:solidFill>
                  <a:srgbClr val="F4F7FD"/>
                </a:solidFill>
              </a:rPr>
              <a:t>スタイルガイドバリエーションの拡充</a:t>
            </a:r>
            <a:endParaRPr sz="3200" b="1" dirty="0">
              <a:solidFill>
                <a:srgbClr val="F4F7FD"/>
              </a:solidFill>
            </a:endParaRPr>
          </a:p>
          <a:p>
            <a:pPr marL="0" marR="0" lvl="0" indent="0" algn="l" rtl="0">
              <a:lnSpc>
                <a:spcPct val="118000"/>
              </a:lnSpc>
              <a:spcBef>
                <a:spcPts val="0"/>
              </a:spcBef>
              <a:spcAft>
                <a:spcPts val="0"/>
              </a:spcAft>
              <a:buClr>
                <a:srgbClr val="000000"/>
              </a:buClr>
              <a:buSzPts val="3200"/>
              <a:buFont typeface="Arial"/>
              <a:buNone/>
            </a:pPr>
            <a:endParaRPr sz="3200" b="1" dirty="0">
              <a:solidFill>
                <a:srgbClr val="F4F7FD"/>
              </a:solidFill>
            </a:endParaRPr>
          </a:p>
        </p:txBody>
      </p:sp>
      <p:sp>
        <p:nvSpPr>
          <p:cNvPr id="1033" name="Google Shape;1033;g3f54859c7f8_2_49"/>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34" name="Google Shape;1034;g3f54859c7f8_2_49"/>
          <p:cNvSpPr txBox="1"/>
          <p:nvPr/>
        </p:nvSpPr>
        <p:spPr>
          <a:xfrm>
            <a:off x="502920" y="1441312"/>
            <a:ext cx="11183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dirty="0">
                <a:solidFill>
                  <a:srgbClr val="7FA8E0"/>
                </a:solidFill>
              </a:rPr>
              <a:t>多様なターゲットニーズに対応</a:t>
            </a:r>
            <a:endParaRPr sz="2400" b="0" i="0" u="none" strike="noStrike" cap="none" dirty="0">
              <a:solidFill>
                <a:srgbClr val="000000"/>
              </a:solidFill>
              <a:latin typeface="Arial"/>
              <a:ea typeface="Arial"/>
              <a:cs typeface="Arial"/>
              <a:sym typeface="Arial"/>
            </a:endParaRPr>
          </a:p>
        </p:txBody>
      </p:sp>
      <p:sp>
        <p:nvSpPr>
          <p:cNvPr id="1035" name="Google Shape;1035;g3f54859c7f8_2_49"/>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24</a:t>
            </a:fld>
            <a:endParaRPr/>
          </a:p>
        </p:txBody>
      </p:sp>
      <p:pic>
        <p:nvPicPr>
          <p:cNvPr id="1036" name="Google Shape;1036;g3f54859c7f8_2_49"/>
          <p:cNvPicPr preferRelativeResize="0"/>
          <p:nvPr/>
        </p:nvPicPr>
        <p:blipFill rotWithShape="1">
          <a:blip r:embed="rId3">
            <a:alphaModFix/>
          </a:blip>
          <a:srcRect t="2621" b="2744"/>
          <a:stretch/>
        </p:blipFill>
        <p:spPr>
          <a:xfrm>
            <a:off x="2083100" y="2079138"/>
            <a:ext cx="8671427" cy="445976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105"/>
        <p:cNvGrpSpPr/>
        <p:nvPr/>
      </p:nvGrpSpPr>
      <p:grpSpPr>
        <a:xfrm>
          <a:off x="0" y="0"/>
          <a:ext cx="0" cy="0"/>
          <a:chOff x="0" y="0"/>
          <a:chExt cx="0" cy="0"/>
        </a:xfrm>
      </p:grpSpPr>
      <p:sp>
        <p:nvSpPr>
          <p:cNvPr id="1106" name="Google Shape;1106;g3f82b020a63_33_360"/>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15|LAUNCH SUPPORT</a:t>
            </a:r>
            <a:endParaRPr sz="1400" b="0" i="0" u="none" strike="noStrike" cap="none">
              <a:solidFill>
                <a:srgbClr val="000000"/>
              </a:solidFill>
              <a:latin typeface="Arial"/>
              <a:ea typeface="Arial"/>
              <a:cs typeface="Arial"/>
              <a:sym typeface="Arial"/>
            </a:endParaRPr>
          </a:p>
        </p:txBody>
      </p:sp>
      <p:sp>
        <p:nvSpPr>
          <p:cNvPr id="1107" name="Google Shape;1107;g3f82b020a63_33_360"/>
          <p:cNvSpPr txBox="1"/>
          <p:nvPr/>
        </p:nvSpPr>
        <p:spPr>
          <a:xfrm>
            <a:off x="502919" y="566928"/>
            <a:ext cx="9593355" cy="58105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dirty="0">
                <a:solidFill>
                  <a:srgbClr val="F4F7FD"/>
                </a:solidFill>
                <a:latin typeface="Arial"/>
                <a:ea typeface="Arial"/>
                <a:cs typeface="Arial"/>
                <a:sym typeface="Arial"/>
              </a:rPr>
              <a:t>商品化した後も、円谷</a:t>
            </a:r>
            <a:r>
              <a:rPr lang="ja-JP" altLang="en-US" sz="3200" b="1" i="0" u="none" strike="noStrike" cap="none" dirty="0">
                <a:solidFill>
                  <a:srgbClr val="F4F7FD"/>
                </a:solidFill>
                <a:latin typeface="Arial"/>
                <a:ea typeface="Arial"/>
                <a:cs typeface="Arial"/>
                <a:sym typeface="Arial"/>
              </a:rPr>
              <a:t>プロ</a:t>
            </a:r>
            <a:r>
              <a:rPr lang="ja-JP" sz="3200" b="1" i="0" u="none" strike="noStrike" cap="none" dirty="0">
                <a:solidFill>
                  <a:srgbClr val="F4F7FD"/>
                </a:solidFill>
                <a:latin typeface="Arial"/>
                <a:ea typeface="Arial"/>
                <a:cs typeface="Arial"/>
                <a:sym typeface="Arial"/>
              </a:rPr>
              <a:t>が一緒に市場へ届ける</a:t>
            </a:r>
            <a:endParaRPr sz="2200" b="0" i="0" u="none" strike="noStrike" cap="none" dirty="0">
              <a:solidFill>
                <a:srgbClr val="000000"/>
              </a:solidFill>
              <a:latin typeface="Arial"/>
              <a:ea typeface="Arial"/>
              <a:cs typeface="Arial"/>
              <a:sym typeface="Arial"/>
            </a:endParaRPr>
          </a:p>
        </p:txBody>
      </p:sp>
      <p:sp>
        <p:nvSpPr>
          <p:cNvPr id="1108" name="Google Shape;1108;g3f82b020a63_33_360"/>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09" name="Google Shape;1109;g3f82b020a63_33_360"/>
          <p:cNvSpPr txBox="1"/>
          <p:nvPr/>
        </p:nvSpPr>
        <p:spPr>
          <a:xfrm>
            <a:off x="502920" y="1554480"/>
            <a:ext cx="11183100" cy="538609"/>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商品を発売するだけでなく、“売れる瞬間”を一緒に作る。</a:t>
            </a:r>
            <a:endParaRPr sz="2800" b="0" i="0" u="none" strike="noStrike" cap="none">
              <a:solidFill>
                <a:srgbClr val="000000"/>
              </a:solidFill>
              <a:latin typeface="Arial"/>
              <a:ea typeface="Arial"/>
              <a:cs typeface="Arial"/>
              <a:sym typeface="Arial"/>
            </a:endParaRPr>
          </a:p>
        </p:txBody>
      </p:sp>
      <p:sp>
        <p:nvSpPr>
          <p:cNvPr id="1110" name="Google Shape;1110;g3f82b020a63_33_360"/>
          <p:cNvSpPr/>
          <p:nvPr/>
        </p:nvSpPr>
        <p:spPr>
          <a:xfrm>
            <a:off x="353432" y="2445041"/>
            <a:ext cx="3668700" cy="2926200"/>
          </a:xfrm>
          <a:prstGeom prst="roundRect">
            <a:avLst>
              <a:gd name="adj" fmla="val 10000"/>
            </a:avLst>
          </a:prstGeom>
          <a:solidFill>
            <a:srgbClr val="A81C18"/>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①発売前</a:t>
            </a: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期待をつくる</a:t>
            </a:r>
            <a:endParaRPr sz="2800" b="0" i="0" u="none" strike="noStrike" cap="none">
              <a:solidFill>
                <a:schemeClr val="lt1"/>
              </a:solidFill>
              <a:latin typeface="Arial"/>
              <a:ea typeface="Arial"/>
              <a:cs typeface="Arial"/>
              <a:sym typeface="Arial"/>
            </a:endParaRPr>
          </a:p>
        </p:txBody>
      </p:sp>
      <p:sp>
        <p:nvSpPr>
          <p:cNvPr id="1111" name="Google Shape;1111;g3f82b020a63_33_360"/>
          <p:cNvSpPr/>
          <p:nvPr/>
        </p:nvSpPr>
        <p:spPr>
          <a:xfrm>
            <a:off x="4261650" y="2445041"/>
            <a:ext cx="3668700" cy="2926200"/>
          </a:xfrm>
          <a:prstGeom prst="roundRect">
            <a:avLst>
              <a:gd name="adj" fmla="val 10000"/>
            </a:avLst>
          </a:prstGeom>
          <a:solidFill>
            <a:srgbClr val="A81C18"/>
          </a:solidFill>
          <a:ln w="12700" cap="flat" cmpd="sng">
            <a:solidFill>
              <a:srgbClr val="25365E"/>
            </a:solidFill>
            <a:prstDash val="solid"/>
            <a:miter lim="80"/>
            <a:headEnd type="none" w="sm" len="sm"/>
            <a:tailEnd type="none" w="sm" len="sm"/>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②発売時</a:t>
            </a: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話題を最大化</a:t>
            </a:r>
            <a:endParaRPr sz="2800" b="0" i="0" u="none" strike="noStrike" cap="none">
              <a:solidFill>
                <a:schemeClr val="lt1"/>
              </a:solidFill>
              <a:latin typeface="Arial"/>
              <a:ea typeface="Arial"/>
              <a:cs typeface="Arial"/>
              <a:sym typeface="Arial"/>
            </a:endParaRPr>
          </a:p>
        </p:txBody>
      </p:sp>
      <p:sp>
        <p:nvSpPr>
          <p:cNvPr id="1112" name="Google Shape;1112;g3f82b020a63_33_360"/>
          <p:cNvSpPr/>
          <p:nvPr/>
        </p:nvSpPr>
        <p:spPr>
          <a:xfrm>
            <a:off x="8168395" y="2445041"/>
            <a:ext cx="3668700" cy="2926200"/>
          </a:xfrm>
          <a:prstGeom prst="roundRect">
            <a:avLst>
              <a:gd name="adj" fmla="val 10000"/>
            </a:avLst>
          </a:prstGeom>
          <a:solidFill>
            <a:srgbClr val="A81C18"/>
          </a:solidFill>
          <a:ln>
            <a:noFill/>
          </a:ln>
        </p:spPr>
        <p:txBody>
          <a:bodyPr spcFirstLastPara="1" wrap="square" lIns="128000" tIns="45700" rIns="128000"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rgbClr val="F4F7FD"/>
                </a:solidFill>
                <a:latin typeface="Arial"/>
                <a:ea typeface="Arial"/>
                <a:cs typeface="Arial"/>
                <a:sym typeface="Arial"/>
              </a:rPr>
              <a:t>③ 発売後</a:t>
            </a: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F4F7FD"/>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拡散・購買をのばす</a:t>
            </a:r>
            <a:endParaRPr sz="2800" b="1" i="0" u="none" strike="noStrike" cap="non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117"/>
        <p:cNvGrpSpPr/>
        <p:nvPr/>
      </p:nvGrpSpPr>
      <p:grpSpPr>
        <a:xfrm>
          <a:off x="0" y="0"/>
          <a:ext cx="0" cy="0"/>
          <a:chOff x="0" y="0"/>
          <a:chExt cx="0" cy="0"/>
        </a:xfrm>
      </p:grpSpPr>
      <p:sp>
        <p:nvSpPr>
          <p:cNvPr id="1118" name="Google Shape;1118;g3f82b020a63_33_387"/>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15|LAUNCH SUPPORT</a:t>
            </a:r>
            <a:endParaRPr sz="1400" b="0" i="0" u="none" strike="noStrike" cap="none">
              <a:solidFill>
                <a:srgbClr val="000000"/>
              </a:solidFill>
              <a:latin typeface="Arial"/>
              <a:ea typeface="Arial"/>
              <a:cs typeface="Arial"/>
              <a:sym typeface="Arial"/>
            </a:endParaRPr>
          </a:p>
        </p:txBody>
      </p:sp>
      <p:sp>
        <p:nvSpPr>
          <p:cNvPr id="1119" name="Google Shape;1119;g3f82b020a63_33_387"/>
          <p:cNvSpPr txBox="1"/>
          <p:nvPr/>
        </p:nvSpPr>
        <p:spPr>
          <a:xfrm>
            <a:off x="502920" y="566928"/>
            <a:ext cx="8732400" cy="4926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商品化した後も、円谷が一緒に市場へ届ける</a:t>
            </a:r>
            <a:endParaRPr sz="2200" b="0" i="0" u="none" strike="noStrike" cap="none">
              <a:solidFill>
                <a:srgbClr val="000000"/>
              </a:solidFill>
              <a:latin typeface="Arial"/>
              <a:ea typeface="Arial"/>
              <a:cs typeface="Arial"/>
              <a:sym typeface="Arial"/>
            </a:endParaRPr>
          </a:p>
        </p:txBody>
      </p:sp>
      <p:sp>
        <p:nvSpPr>
          <p:cNvPr id="1120" name="Google Shape;1120;g3f82b020a63_33_387"/>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21" name="Google Shape;1121;g3f82b020a63_33_387"/>
          <p:cNvSpPr txBox="1"/>
          <p:nvPr/>
        </p:nvSpPr>
        <p:spPr>
          <a:xfrm>
            <a:off x="502920" y="1554480"/>
            <a:ext cx="11183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商品を発売するだけでなく、“売れる瞬間”を一緒に作る。</a:t>
            </a:r>
            <a:endParaRPr sz="2800" b="0" i="0" u="none" strike="noStrike" cap="none">
              <a:solidFill>
                <a:srgbClr val="000000"/>
              </a:solidFill>
              <a:latin typeface="Arial"/>
              <a:ea typeface="Arial"/>
              <a:cs typeface="Arial"/>
              <a:sym typeface="Arial"/>
            </a:endParaRPr>
          </a:p>
        </p:txBody>
      </p:sp>
      <p:sp>
        <p:nvSpPr>
          <p:cNvPr id="1122" name="Google Shape;1122;g3f82b020a63_33_387"/>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23" name="Google Shape;1123;g3f82b020a63_33_387"/>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24" name="Google Shape;1124;g3f82b020a63_33_387"/>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原宿で話題を作り、全国の売場へ広げる。</a:t>
            </a:r>
            <a:endParaRPr sz="2800" b="0" i="0" u="none" strike="noStrike" cap="none">
              <a:solidFill>
                <a:srgbClr val="000000"/>
              </a:solidFill>
              <a:latin typeface="Arial"/>
              <a:ea typeface="Arial"/>
              <a:cs typeface="Arial"/>
              <a:sym typeface="Arial"/>
            </a:endParaRPr>
          </a:p>
        </p:txBody>
      </p:sp>
      <p:grpSp>
        <p:nvGrpSpPr>
          <p:cNvPr id="1125" name="Google Shape;1125;g3f82b020a63_33_387"/>
          <p:cNvGrpSpPr/>
          <p:nvPr/>
        </p:nvGrpSpPr>
        <p:grpSpPr>
          <a:xfrm>
            <a:off x="3696723" y="2447659"/>
            <a:ext cx="4975122" cy="981000"/>
            <a:chOff x="3696723" y="2560357"/>
            <a:chExt cx="4975122" cy="981000"/>
          </a:xfrm>
        </p:grpSpPr>
        <p:sp>
          <p:nvSpPr>
            <p:cNvPr id="1126" name="Google Shape;1126;g3f82b020a63_33_387"/>
            <p:cNvSpPr/>
            <p:nvPr/>
          </p:nvSpPr>
          <p:spPr>
            <a:xfrm>
              <a:off x="3696723" y="2560357"/>
              <a:ext cx="4975122" cy="981000"/>
            </a:xfrm>
            <a:prstGeom prst="roundRect">
              <a:avLst>
                <a:gd name="adj" fmla="val 18000"/>
              </a:avLst>
            </a:prstGeom>
            <a:noFill/>
            <a:ln w="17775" cap="flat" cmpd="sng">
              <a:solidFill>
                <a:schemeClr val="lt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1" i="0" u="none" strike="noStrike" cap="none">
                <a:solidFill>
                  <a:schemeClr val="lt1"/>
                </a:solidFill>
                <a:latin typeface="Arial"/>
                <a:ea typeface="Arial"/>
                <a:cs typeface="Arial"/>
                <a:sym typeface="Arial"/>
              </a:endParaRPr>
            </a:p>
          </p:txBody>
        </p:sp>
        <p:sp>
          <p:nvSpPr>
            <p:cNvPr id="1127" name="Google Shape;1127;g3f82b020a63_33_387"/>
            <p:cNvSpPr txBox="1"/>
            <p:nvPr/>
          </p:nvSpPr>
          <p:spPr>
            <a:xfrm>
              <a:off x="3696723" y="2799705"/>
              <a:ext cx="4975122" cy="538609"/>
            </a:xfrm>
            <a:prstGeom prst="rect">
              <a:avLst/>
            </a:prstGeom>
            <a:noFill/>
            <a:ln>
              <a:noFill/>
            </a:ln>
          </p:spPr>
          <p:txBody>
            <a:bodyPr spcFirstLastPara="1" wrap="square" lIns="0" tIns="0" rIns="0" bIns="0" anchor="ctr" anchorCtr="0">
              <a:spAutoFit/>
            </a:bodyPr>
            <a:lstStyle/>
            <a:p>
              <a:pPr marL="0" marR="0" lvl="0" indent="0" algn="ctr" rtl="0">
                <a:lnSpc>
                  <a:spcPct val="125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円谷プロ発信・販売接点</a:t>
              </a:r>
              <a:endParaRPr sz="1600" b="0" i="0" u="none" strike="noStrike" cap="none">
                <a:solidFill>
                  <a:schemeClr val="lt1"/>
                </a:solidFill>
                <a:latin typeface="Arial"/>
                <a:ea typeface="Arial"/>
                <a:cs typeface="Arial"/>
                <a:sym typeface="Arial"/>
              </a:endParaRPr>
            </a:p>
          </p:txBody>
        </p:sp>
      </p:grpSp>
      <p:pic>
        <p:nvPicPr>
          <p:cNvPr id="1128" name="Google Shape;1128;g3f82b020a63_33_387"/>
          <p:cNvPicPr preferRelativeResize="0"/>
          <p:nvPr/>
        </p:nvPicPr>
        <p:blipFill rotWithShape="1">
          <a:blip r:embed="rId3">
            <a:alphaModFix/>
          </a:blip>
          <a:srcRect/>
          <a:stretch/>
        </p:blipFill>
        <p:spPr>
          <a:xfrm>
            <a:off x="2582762" y="3909060"/>
            <a:ext cx="868680" cy="868680"/>
          </a:xfrm>
          <a:prstGeom prst="rect">
            <a:avLst/>
          </a:prstGeom>
          <a:noFill/>
          <a:ln>
            <a:noFill/>
          </a:ln>
        </p:spPr>
      </p:pic>
      <p:pic>
        <p:nvPicPr>
          <p:cNvPr id="1129" name="Google Shape;1129;g3f82b020a63_33_387"/>
          <p:cNvPicPr preferRelativeResize="0"/>
          <p:nvPr/>
        </p:nvPicPr>
        <p:blipFill rotWithShape="1">
          <a:blip r:embed="rId4">
            <a:alphaModFix/>
          </a:blip>
          <a:srcRect/>
          <a:stretch/>
        </p:blipFill>
        <p:spPr>
          <a:xfrm>
            <a:off x="892956" y="3909060"/>
            <a:ext cx="1186886" cy="868680"/>
          </a:xfrm>
          <a:prstGeom prst="rect">
            <a:avLst/>
          </a:prstGeom>
          <a:noFill/>
          <a:ln>
            <a:noFill/>
          </a:ln>
        </p:spPr>
      </p:pic>
      <p:pic>
        <p:nvPicPr>
          <p:cNvPr id="1130" name="Google Shape;1130;g3f82b020a63_33_387" descr="SUBURAYA&#10;&#10;AI 生成コンテンツは誤りを含む可能性があります。"/>
          <p:cNvPicPr preferRelativeResize="0"/>
          <p:nvPr/>
        </p:nvPicPr>
        <p:blipFill rotWithShape="1">
          <a:blip r:embed="rId5">
            <a:alphaModFix/>
          </a:blip>
          <a:srcRect/>
          <a:stretch/>
        </p:blipFill>
        <p:spPr>
          <a:xfrm>
            <a:off x="5325962" y="3909060"/>
            <a:ext cx="866514" cy="868680"/>
          </a:xfrm>
          <a:prstGeom prst="rect">
            <a:avLst/>
          </a:prstGeom>
          <a:noFill/>
          <a:ln>
            <a:noFill/>
          </a:ln>
        </p:spPr>
      </p:pic>
      <p:pic>
        <p:nvPicPr>
          <p:cNvPr id="1131" name="Google Shape;1131;g3f82b020a63_33_387" descr="ONLINE&#10;&#10;AI 生成コンテンツは誤りを含む可能性があります。"/>
          <p:cNvPicPr preferRelativeResize="0"/>
          <p:nvPr/>
        </p:nvPicPr>
        <p:blipFill rotWithShape="1">
          <a:blip r:embed="rId6">
            <a:alphaModFix/>
          </a:blip>
          <a:srcRect/>
          <a:stretch/>
        </p:blipFill>
        <p:spPr>
          <a:xfrm>
            <a:off x="6695396" y="3909060"/>
            <a:ext cx="868680" cy="868680"/>
          </a:xfrm>
          <a:prstGeom prst="rect">
            <a:avLst/>
          </a:prstGeom>
          <a:noFill/>
          <a:ln>
            <a:noFill/>
          </a:ln>
        </p:spPr>
      </p:pic>
      <p:pic>
        <p:nvPicPr>
          <p:cNvPr id="1132" name="Google Shape;1132;g3f82b020a63_33_387"/>
          <p:cNvPicPr preferRelativeResize="0"/>
          <p:nvPr/>
        </p:nvPicPr>
        <p:blipFill>
          <a:blip r:embed="rId7">
            <a:alphaModFix/>
          </a:blip>
          <a:stretch>
            <a:fillRect/>
          </a:stretch>
        </p:blipFill>
        <p:spPr>
          <a:xfrm>
            <a:off x="3954362" y="3909060"/>
            <a:ext cx="868680" cy="868680"/>
          </a:xfrm>
          <a:prstGeom prst="rect">
            <a:avLst/>
          </a:prstGeom>
          <a:noFill/>
          <a:ln>
            <a:noFill/>
          </a:ln>
        </p:spPr>
      </p:pic>
      <p:pic>
        <p:nvPicPr>
          <p:cNvPr id="1133" name="Google Shape;1133;g3f82b020a63_33_387" title="アセット 1.png"/>
          <p:cNvPicPr preferRelativeResize="0"/>
          <p:nvPr/>
        </p:nvPicPr>
        <p:blipFill>
          <a:blip r:embed="rId8">
            <a:alphaModFix/>
          </a:blip>
          <a:stretch>
            <a:fillRect/>
          </a:stretch>
        </p:blipFill>
        <p:spPr>
          <a:xfrm>
            <a:off x="8066996" y="4091940"/>
            <a:ext cx="3231743" cy="50292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07"/>
        <p:cNvGrpSpPr/>
        <p:nvPr/>
      </p:nvGrpSpPr>
      <p:grpSpPr>
        <a:xfrm>
          <a:off x="0" y="0"/>
          <a:ext cx="0" cy="0"/>
          <a:chOff x="0" y="0"/>
          <a:chExt cx="0" cy="0"/>
        </a:xfrm>
      </p:grpSpPr>
      <p:sp>
        <p:nvSpPr>
          <p:cNvPr id="1208" name="Google Shape;1208;g3f82b020a63_33_167"/>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18|CONTENT</a:t>
            </a:r>
            <a:endParaRPr sz="1400" b="0" i="0" u="none" strike="noStrike" cap="none">
              <a:solidFill>
                <a:srgbClr val="000000"/>
              </a:solidFill>
              <a:latin typeface="Arial"/>
              <a:ea typeface="Arial"/>
              <a:cs typeface="Arial"/>
              <a:sym typeface="Arial"/>
            </a:endParaRPr>
          </a:p>
        </p:txBody>
      </p:sp>
      <p:sp>
        <p:nvSpPr>
          <p:cNvPr id="1209" name="Google Shape;1209;g3f82b020a63_33_167"/>
          <p:cNvSpPr txBox="1"/>
          <p:nvPr/>
        </p:nvSpPr>
        <p:spPr>
          <a:xfrm>
            <a:off x="502920" y="566928"/>
            <a:ext cx="8732400" cy="4926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最後に、商機を支える作品展開</a:t>
            </a:r>
            <a:endParaRPr sz="2200" b="0" i="0" u="none" strike="noStrike" cap="none">
              <a:solidFill>
                <a:srgbClr val="000000"/>
              </a:solidFill>
              <a:latin typeface="Arial"/>
              <a:ea typeface="Arial"/>
              <a:cs typeface="Arial"/>
              <a:sym typeface="Arial"/>
            </a:endParaRPr>
          </a:p>
        </p:txBody>
      </p:sp>
      <p:sp>
        <p:nvSpPr>
          <p:cNvPr id="1210" name="Google Shape;1210;g3f82b020a63_33_167"/>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11" name="Google Shape;1211;g3f82b020a63_33_167"/>
          <p:cNvSpPr txBox="1"/>
          <p:nvPr/>
        </p:nvSpPr>
        <p:spPr>
          <a:xfrm>
            <a:off x="502920" y="1554480"/>
            <a:ext cx="11183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だから、商機は続く</a:t>
            </a:r>
            <a:endParaRPr sz="2800" b="0" i="0" u="none" strike="noStrike" cap="none">
              <a:solidFill>
                <a:srgbClr val="000000"/>
              </a:solidFill>
              <a:latin typeface="Arial"/>
              <a:ea typeface="Arial"/>
              <a:cs typeface="Arial"/>
              <a:sym typeface="Arial"/>
            </a:endParaRPr>
          </a:p>
        </p:txBody>
      </p:sp>
      <p:sp>
        <p:nvSpPr>
          <p:cNvPr id="1212" name="Google Shape;1212;g3f82b020a63_33_167"/>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13" name="Google Shape;1213;g3f82b020a63_33_167"/>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14" name="Google Shape;1214;g3f82b020a63_33_167"/>
          <p:cNvSpPr txBox="1"/>
          <p:nvPr/>
        </p:nvSpPr>
        <p:spPr>
          <a:xfrm>
            <a:off x="722376" y="5972591"/>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作品が、商品化・販促・売場展開の理由を作る。</a:t>
            </a:r>
            <a:endParaRPr sz="2800" b="0" i="0" u="none" strike="noStrike" cap="none">
              <a:solidFill>
                <a:srgbClr val="000000"/>
              </a:solidFill>
              <a:latin typeface="Arial"/>
              <a:ea typeface="Arial"/>
              <a:cs typeface="Arial"/>
              <a:sym typeface="Arial"/>
            </a:endParaRPr>
          </a:p>
        </p:txBody>
      </p:sp>
      <p:sp>
        <p:nvSpPr>
          <p:cNvPr id="1215" name="Google Shape;1215;g3f82b020a63_33_167"/>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27</a:t>
            </a:fld>
            <a:endParaRPr/>
          </a:p>
        </p:txBody>
      </p:sp>
      <p:pic>
        <p:nvPicPr>
          <p:cNvPr id="1216" name="Google Shape;1216;g3f82b020a63_33_167" descr="The image is a vibrant, dynamic illustration of a large crowd of diverse, colorful characters in a cosmic setting, with one character in a striking red suit holding a sword.&#10;&#10;AI 生成コンテンツは誤りを含む可能性があります。"/>
          <p:cNvPicPr preferRelativeResize="0"/>
          <p:nvPr/>
        </p:nvPicPr>
        <p:blipFill rotWithShape="1">
          <a:blip r:embed="rId3">
            <a:alphaModFix/>
          </a:blip>
          <a:srcRect/>
          <a:stretch/>
        </p:blipFill>
        <p:spPr>
          <a:xfrm>
            <a:off x="8201017" y="2032166"/>
            <a:ext cx="3751977" cy="3791695"/>
          </a:xfrm>
          <a:prstGeom prst="rect">
            <a:avLst/>
          </a:prstGeom>
          <a:noFill/>
          <a:ln>
            <a:noFill/>
          </a:ln>
        </p:spPr>
      </p:pic>
      <p:pic>
        <p:nvPicPr>
          <p:cNvPr id="1217" name="Google Shape;1217;g3f82b020a63_33_167" descr="The image depicts a person in a red and white suit, sitting against a backdrop of a starry, cosmic background with planets and stars.&#10;&#10;AI 生成コンテンツは誤りを含む可能性があります。"/>
          <p:cNvPicPr preferRelativeResize="0"/>
          <p:nvPr/>
        </p:nvPicPr>
        <p:blipFill rotWithShape="1">
          <a:blip r:embed="rId4">
            <a:alphaModFix/>
          </a:blip>
          <a:srcRect/>
          <a:stretch/>
        </p:blipFill>
        <p:spPr>
          <a:xfrm>
            <a:off x="2988255" y="2152200"/>
            <a:ext cx="5054532" cy="3500820"/>
          </a:xfrm>
          <a:prstGeom prst="rect">
            <a:avLst/>
          </a:prstGeom>
          <a:noFill/>
          <a:ln>
            <a:noFill/>
          </a:ln>
        </p:spPr>
      </p:pic>
      <p:pic>
        <p:nvPicPr>
          <p:cNvPr id="1218" name="Google Shape;1218;g3f82b020a63_33_167" descr="The image depicts an illuminated figure in a sleek, metallic suit, evoking the iconic appearance of the Ultra-man character.&#10;&#10;AI 生成コンテンツは誤りを含む可能性があります。"/>
          <p:cNvPicPr preferRelativeResize="0"/>
          <p:nvPr/>
        </p:nvPicPr>
        <p:blipFill rotWithShape="1">
          <a:blip r:embed="rId5">
            <a:alphaModFix/>
          </a:blip>
          <a:srcRect b="3880"/>
          <a:stretch/>
        </p:blipFill>
        <p:spPr>
          <a:xfrm>
            <a:off x="239005" y="2203008"/>
            <a:ext cx="2779845" cy="35439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60"/>
        <p:cNvGrpSpPr/>
        <p:nvPr/>
      </p:nvGrpSpPr>
      <p:grpSpPr>
        <a:xfrm>
          <a:off x="0" y="0"/>
          <a:ext cx="0" cy="0"/>
          <a:chOff x="0" y="0"/>
          <a:chExt cx="0" cy="0"/>
        </a:xfrm>
      </p:grpSpPr>
      <p:sp>
        <p:nvSpPr>
          <p:cNvPr id="1261" name="Google Shape;1261;g3f82b020a63_0_1016"/>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28</a:t>
            </a:fld>
            <a:endParaRPr/>
          </a:p>
        </p:txBody>
      </p:sp>
      <p:sp>
        <p:nvSpPr>
          <p:cNvPr id="1262" name="Google Shape;1262;g3f82b020a63_0_1016"/>
          <p:cNvSpPr txBox="1">
            <a:spLocks noGrp="1"/>
          </p:cNvSpPr>
          <p:nvPr>
            <p:ph type="title"/>
          </p:nvPr>
        </p:nvSpPr>
        <p:spPr>
          <a:xfrm>
            <a:off x="612648" y="2834640"/>
            <a:ext cx="10972800" cy="91440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ts val="4800"/>
              <a:buFont typeface="Arial"/>
              <a:buNone/>
            </a:pPr>
            <a:r>
              <a:rPr lang="ja-JP" sz="4000" b="1">
                <a:solidFill>
                  <a:srgbClr val="F4F7FD"/>
                </a:solidFill>
                <a:latin typeface="Arial"/>
                <a:ea typeface="Arial"/>
                <a:cs typeface="Arial"/>
                <a:sym typeface="Arial"/>
              </a:rPr>
              <a:t>ウルトラマンテオ</a:t>
            </a:r>
            <a:endParaRPr/>
          </a:p>
        </p:txBody>
      </p:sp>
      <p:sp>
        <p:nvSpPr>
          <p:cNvPr id="1263" name="Rectangle 1262"/>
          <p:cNvSpPr/>
          <p:nvPr/>
        </p:nvSpPr>
        <p:spPr>
          <a:xfrm>
            <a:off x="5550408" y="3977639"/>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67"/>
        <p:cNvGrpSpPr/>
        <p:nvPr/>
      </p:nvGrpSpPr>
      <p:grpSpPr>
        <a:xfrm>
          <a:off x="0" y="0"/>
          <a:ext cx="0" cy="0"/>
          <a:chOff x="0" y="0"/>
          <a:chExt cx="0" cy="0"/>
        </a:xfrm>
      </p:grpSpPr>
      <p:sp>
        <p:nvSpPr>
          <p:cNvPr id="1268" name="Google Shape;1268;g3f82b020a63_0_1022"/>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29</a:t>
            </a:fld>
            <a:endParaRPr/>
          </a:p>
        </p:txBody>
      </p:sp>
      <p:pic>
        <p:nvPicPr>
          <p:cNvPr id="1269" name="Google Shape;1269;g3f82b020a63_0_1022"/>
          <p:cNvPicPr preferRelativeResize="0"/>
          <p:nvPr/>
        </p:nvPicPr>
        <p:blipFill rotWithShape="1">
          <a:blip r:embed="rId3">
            <a:alphaModFix/>
          </a:blip>
          <a:srcRect/>
          <a:stretch/>
        </p:blipFill>
        <p:spPr>
          <a:xfrm>
            <a:off x="1177787" y="903236"/>
            <a:ext cx="9836425" cy="553298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74"/>
        <p:cNvGrpSpPr/>
        <p:nvPr/>
      </p:nvGrpSpPr>
      <p:grpSpPr>
        <a:xfrm>
          <a:off x="0" y="0"/>
          <a:ext cx="0" cy="0"/>
          <a:chOff x="0" y="0"/>
          <a:chExt cx="0" cy="0"/>
        </a:xfrm>
      </p:grpSpPr>
      <p:sp>
        <p:nvSpPr>
          <p:cNvPr id="1275" name="Google Shape;1275;g3f82b020a63_0_1028"/>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30</a:t>
            </a:fld>
            <a:endParaRPr/>
          </a:p>
        </p:txBody>
      </p:sp>
      <p:sp>
        <p:nvSpPr>
          <p:cNvPr id="1276" name="Google Shape;1276;g3f82b020a63_0_1028"/>
          <p:cNvSpPr txBox="1">
            <a:spLocks noGrp="1"/>
          </p:cNvSpPr>
          <p:nvPr>
            <p:ph type="title"/>
          </p:nvPr>
        </p:nvSpPr>
        <p:spPr>
          <a:xfrm>
            <a:off x="1527048" y="3246120"/>
            <a:ext cx="9144000" cy="64008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ct val="100000"/>
              <a:buFont typeface="Arial"/>
              <a:buNone/>
            </a:pPr>
            <a:r>
              <a:rPr lang="ja-JP" sz="2000" b="0">
                <a:solidFill>
                  <a:srgbClr val="A9B6D2"/>
                </a:solidFill>
                <a:latin typeface="Arial"/>
                <a:ea typeface="Arial"/>
                <a:cs typeface="Arial"/>
                <a:sym typeface="Arial"/>
              </a:rPr>
              <a:t>映像投影・</a:t>
            </a:r>
            <a:r>
              <a:rPr lang="ja-JP" sz="2000" b="0">
                <a:solidFill>
                  <a:srgbClr val="A9B6D2"/>
                </a:solidFill>
              </a:rPr>
              <a:t>既存の放送中spot15秒</a:t>
            </a:r>
            <a:br>
              <a:rPr lang="ja-JP" sz="4800" b="1"/>
            </a:br>
            <a:endParaRPr sz="4800" b="1">
              <a:latin typeface="Arial"/>
              <a:ea typeface="Arial"/>
              <a:cs typeface="Arial"/>
              <a:sym typeface="Arial"/>
            </a:endParaRPr>
          </a:p>
        </p:txBody>
      </p:sp>
      <p:sp>
        <p:nvSpPr>
          <p:cNvPr id="1277" name="Isosceles Triangle 1276"/>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81"/>
        <p:cNvGrpSpPr/>
        <p:nvPr/>
      </p:nvGrpSpPr>
      <p:grpSpPr>
        <a:xfrm>
          <a:off x="0" y="0"/>
          <a:ext cx="0" cy="0"/>
          <a:chOff x="0" y="0"/>
          <a:chExt cx="0" cy="0"/>
        </a:xfrm>
      </p:grpSpPr>
      <p:sp>
        <p:nvSpPr>
          <p:cNvPr id="1282" name="Google Shape;1282;g3f82b020a63_0_1034"/>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31</a:t>
            </a:fld>
            <a:endParaRPr/>
          </a:p>
        </p:txBody>
      </p:sp>
      <p:pic>
        <p:nvPicPr>
          <p:cNvPr id="1283" name="Google Shape;1283;g3f82b020a63_0_1034" descr="ウルトラマンテオ_2.jpg"/>
          <p:cNvPicPr preferRelativeResize="0"/>
          <p:nvPr/>
        </p:nvPicPr>
        <p:blipFill rotWithShape="1">
          <a:blip r:embed="rId3">
            <a:alphaModFix/>
          </a:blip>
          <a:srcRect/>
          <a:stretch/>
        </p:blipFill>
        <p:spPr>
          <a:xfrm>
            <a:off x="2165070" y="685800"/>
            <a:ext cx="3655314" cy="5486400"/>
          </a:xfrm>
          <a:prstGeom prst="rect">
            <a:avLst/>
          </a:prstGeom>
          <a:noFill/>
          <a:ln>
            <a:noFill/>
          </a:ln>
        </p:spPr>
      </p:pic>
      <p:pic>
        <p:nvPicPr>
          <p:cNvPr id="1284" name="Google Shape;1284;g3f82b020a63_0_1034"/>
          <p:cNvPicPr preferRelativeResize="0"/>
          <p:nvPr/>
        </p:nvPicPr>
        <p:blipFill rotWithShape="1">
          <a:blip r:embed="rId4">
            <a:alphaModFix/>
          </a:blip>
          <a:srcRect/>
          <a:stretch/>
        </p:blipFill>
        <p:spPr>
          <a:xfrm>
            <a:off x="6369024" y="685800"/>
            <a:ext cx="3657600" cy="5486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89"/>
        <p:cNvGrpSpPr/>
        <p:nvPr/>
      </p:nvGrpSpPr>
      <p:grpSpPr>
        <a:xfrm>
          <a:off x="0" y="0"/>
          <a:ext cx="0" cy="0"/>
          <a:chOff x="0" y="0"/>
          <a:chExt cx="0" cy="0"/>
        </a:xfrm>
      </p:grpSpPr>
      <p:sp>
        <p:nvSpPr>
          <p:cNvPr id="1290" name="Google Shape;1290;g3f82b020a63_0_1041"/>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32</a:t>
            </a:fld>
            <a:endParaRPr/>
          </a:p>
        </p:txBody>
      </p:sp>
      <p:pic>
        <p:nvPicPr>
          <p:cNvPr id="1291" name="Google Shape;1291;g3f82b020a63_0_1041"/>
          <p:cNvPicPr preferRelativeResize="0"/>
          <p:nvPr/>
        </p:nvPicPr>
        <p:blipFill rotWithShape="1">
          <a:blip r:embed="rId3">
            <a:alphaModFix/>
          </a:blip>
          <a:srcRect/>
          <a:stretch/>
        </p:blipFill>
        <p:spPr>
          <a:xfrm>
            <a:off x="411480" y="914400"/>
            <a:ext cx="3413760" cy="5120640"/>
          </a:xfrm>
          <a:prstGeom prst="rect">
            <a:avLst/>
          </a:prstGeom>
          <a:noFill/>
          <a:ln>
            <a:noFill/>
          </a:ln>
        </p:spPr>
      </p:pic>
      <p:pic>
        <p:nvPicPr>
          <p:cNvPr id="1292" name="Google Shape;1292;g3f82b020a63_0_1041"/>
          <p:cNvPicPr preferRelativeResize="0"/>
          <p:nvPr/>
        </p:nvPicPr>
        <p:blipFill rotWithShape="1">
          <a:blip r:embed="rId4">
            <a:alphaModFix/>
          </a:blip>
          <a:srcRect/>
          <a:stretch/>
        </p:blipFill>
        <p:spPr>
          <a:xfrm>
            <a:off x="4160520" y="1554480"/>
            <a:ext cx="2562989" cy="3840480"/>
          </a:xfrm>
          <a:prstGeom prst="rect">
            <a:avLst/>
          </a:prstGeom>
          <a:noFill/>
          <a:ln>
            <a:noFill/>
          </a:ln>
        </p:spPr>
      </p:pic>
      <p:pic>
        <p:nvPicPr>
          <p:cNvPr id="1293" name="Google Shape;1293;g3f82b020a63_0_1041"/>
          <p:cNvPicPr preferRelativeResize="0"/>
          <p:nvPr/>
        </p:nvPicPr>
        <p:blipFill rotWithShape="1">
          <a:blip r:embed="rId5">
            <a:alphaModFix/>
          </a:blip>
          <a:srcRect/>
          <a:stretch/>
        </p:blipFill>
        <p:spPr>
          <a:xfrm>
            <a:off x="6949440" y="1783080"/>
            <a:ext cx="4937760" cy="329184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298"/>
        <p:cNvGrpSpPr/>
        <p:nvPr/>
      </p:nvGrpSpPr>
      <p:grpSpPr>
        <a:xfrm>
          <a:off x="0" y="0"/>
          <a:ext cx="0" cy="0"/>
          <a:chOff x="0" y="0"/>
          <a:chExt cx="0" cy="0"/>
        </a:xfrm>
      </p:grpSpPr>
      <p:sp>
        <p:nvSpPr>
          <p:cNvPr id="1299" name="Google Shape;1299;g3f82b020a63_0_1049"/>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33</a:t>
            </a:fld>
            <a:endParaRPr/>
          </a:p>
        </p:txBody>
      </p:sp>
      <p:sp>
        <p:nvSpPr>
          <p:cNvPr id="1300" name="Google Shape;1300;g3f82b020a63_0_1049"/>
          <p:cNvSpPr txBox="1">
            <a:spLocks noGrp="1"/>
          </p:cNvSpPr>
          <p:nvPr>
            <p:ph type="title"/>
          </p:nvPr>
        </p:nvSpPr>
        <p:spPr>
          <a:xfrm>
            <a:off x="612648" y="2834640"/>
            <a:ext cx="10972800" cy="91440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ct val="100000"/>
              <a:buFont typeface="Arial"/>
              <a:buNone/>
            </a:pPr>
            <a:r>
              <a:rPr lang="ja-JP" sz="4000" b="1">
                <a:solidFill>
                  <a:srgbClr val="F4F7FD"/>
                </a:solidFill>
                <a:latin typeface="Arial"/>
                <a:ea typeface="Arial"/>
                <a:cs typeface="Arial"/>
                <a:sym typeface="Arial"/>
              </a:rPr>
              <a:t>映画</a:t>
            </a:r>
            <a:br>
              <a:rPr lang="ja-JP" sz="4800">
                <a:latin typeface="Arial"/>
                <a:ea typeface="Arial"/>
                <a:cs typeface="Arial"/>
                <a:sym typeface="Arial"/>
              </a:rPr>
            </a:br>
            <a:r>
              <a:rPr lang="ja-JP" sz="4000" b="1">
                <a:solidFill>
                  <a:srgbClr val="F4F7FD"/>
                </a:solidFill>
                <a:latin typeface="Arial"/>
                <a:ea typeface="Arial"/>
                <a:cs typeface="Arial"/>
                <a:sym typeface="Arial"/>
              </a:rPr>
              <a:t>ULTRAMAN ZERO</a:t>
            </a:r>
            <a:endParaRPr sz="4800">
              <a:latin typeface="Arial"/>
              <a:ea typeface="Arial"/>
              <a:cs typeface="Arial"/>
              <a:sym typeface="Arial"/>
            </a:endParaRPr>
          </a:p>
        </p:txBody>
      </p:sp>
      <p:sp>
        <p:nvSpPr>
          <p:cNvPr id="1301" name="Rectangle 1300"/>
          <p:cNvSpPr/>
          <p:nvPr/>
        </p:nvSpPr>
        <p:spPr>
          <a:xfrm>
            <a:off x="5550408" y="3977639"/>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05"/>
        <p:cNvGrpSpPr/>
        <p:nvPr/>
      </p:nvGrpSpPr>
      <p:grpSpPr>
        <a:xfrm>
          <a:off x="0" y="0"/>
          <a:ext cx="0" cy="0"/>
          <a:chOff x="0" y="0"/>
          <a:chExt cx="0" cy="0"/>
        </a:xfrm>
      </p:grpSpPr>
      <p:sp>
        <p:nvSpPr>
          <p:cNvPr id="1306" name="Google Shape;1306;g3f82b020a63_0_1055"/>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34</a:t>
            </a:fld>
            <a:endParaRPr/>
          </a:p>
        </p:txBody>
      </p:sp>
      <p:pic>
        <p:nvPicPr>
          <p:cNvPr id="1307" name="Google Shape;1307;g3f82b020a63_0_1055"/>
          <p:cNvPicPr preferRelativeResize="0"/>
          <p:nvPr/>
        </p:nvPicPr>
        <p:blipFill rotWithShape="1">
          <a:blip r:embed="rId3">
            <a:alphaModFix/>
          </a:blip>
          <a:srcRect/>
          <a:stretch/>
        </p:blipFill>
        <p:spPr>
          <a:xfrm>
            <a:off x="6987208" y="1063498"/>
            <a:ext cx="3888994" cy="5475413"/>
          </a:xfrm>
          <a:prstGeom prst="rect">
            <a:avLst/>
          </a:prstGeom>
          <a:noFill/>
          <a:ln>
            <a:noFill/>
          </a:ln>
        </p:spPr>
      </p:pic>
      <p:pic>
        <p:nvPicPr>
          <p:cNvPr id="1308" name="Google Shape;1308;g3f82b020a63_0_1055"/>
          <p:cNvPicPr preferRelativeResize="0"/>
          <p:nvPr/>
        </p:nvPicPr>
        <p:blipFill rotWithShape="1">
          <a:blip r:embed="rId4">
            <a:alphaModFix/>
          </a:blip>
          <a:srcRect/>
          <a:stretch/>
        </p:blipFill>
        <p:spPr>
          <a:xfrm>
            <a:off x="1315797" y="1048564"/>
            <a:ext cx="3888995" cy="5490346"/>
          </a:xfrm>
          <a:prstGeom prst="rect">
            <a:avLst/>
          </a:prstGeom>
          <a:noFill/>
          <a:ln>
            <a:noFill/>
          </a:ln>
        </p:spPr>
      </p:pic>
      <p:sp>
        <p:nvSpPr>
          <p:cNvPr id="1309" name="Google Shape;1309;g3f82b020a63_0_1055"/>
          <p:cNvSpPr txBox="1">
            <a:spLocks noGrp="1"/>
          </p:cNvSpPr>
          <p:nvPr>
            <p:ph type="title"/>
          </p:nvPr>
        </p:nvSpPr>
        <p:spPr>
          <a:xfrm>
            <a:off x="502920" y="292608"/>
            <a:ext cx="10515600" cy="502920"/>
          </a:xfrm>
          <a:prstGeom prst="rect">
            <a:avLst/>
          </a:prstGeom>
          <a:noFill/>
          <a:ln>
            <a:noFill/>
          </a:ln>
        </p:spPr>
        <p:txBody>
          <a:bodyPr spcFirstLastPara="1" wrap="square" lIns="91425" tIns="45700" rIns="91425" bIns="45700" anchor="ctr" anchorCtr="0"/>
          <a:lstStyle/>
          <a:p>
            <a:pPr marL="0" lvl="0" indent="0" algn="l" rtl="0">
              <a:lnSpc>
                <a:spcPct val="90000"/>
              </a:lnSpc>
              <a:spcBef>
                <a:spcPts val="0"/>
              </a:spcBef>
              <a:spcAft>
                <a:spcPts val="0"/>
              </a:spcAft>
              <a:buClr>
                <a:schemeClr val="lt1"/>
              </a:buClr>
              <a:buSzPts val="4000"/>
              <a:buFont typeface="Arial"/>
              <a:buNone/>
            </a:pPr>
            <a:r>
              <a:rPr lang="ja-JP" sz="2400" b="1">
                <a:solidFill>
                  <a:srgbClr val="F4F7FD"/>
                </a:solidFill>
                <a:latin typeface="Arial"/>
                <a:ea typeface="Arial"/>
                <a:cs typeface="Arial"/>
                <a:sym typeface="Arial"/>
              </a:rPr>
              <a:t>2009から現在</a:t>
            </a:r>
            <a:endParaRPr/>
          </a:p>
        </p:txBody>
      </p:sp>
      <p:sp>
        <p:nvSpPr>
          <p:cNvPr id="1311" name="Rectangle 1310"/>
          <p:cNvSpPr/>
          <p:nvPr/>
        </p:nvSpPr>
        <p:spPr>
          <a:xfrm>
            <a:off x="502920" y="914400"/>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15"/>
        <p:cNvGrpSpPr/>
        <p:nvPr/>
      </p:nvGrpSpPr>
      <p:grpSpPr>
        <a:xfrm>
          <a:off x="0" y="0"/>
          <a:ext cx="0" cy="0"/>
          <a:chOff x="0" y="0"/>
          <a:chExt cx="0" cy="0"/>
        </a:xfrm>
      </p:grpSpPr>
      <p:sp>
        <p:nvSpPr>
          <p:cNvPr id="1316" name="Google Shape;1316;g3f82b020a63_0_1065"/>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35</a:t>
            </a:fld>
            <a:endParaRPr/>
          </a:p>
        </p:txBody>
      </p:sp>
      <p:sp>
        <p:nvSpPr>
          <p:cNvPr id="1317" name="Google Shape;1317;g3f82b020a63_0_1065"/>
          <p:cNvSpPr txBox="1">
            <a:spLocks noGrp="1"/>
          </p:cNvSpPr>
          <p:nvPr>
            <p:ph type="title"/>
          </p:nvPr>
        </p:nvSpPr>
        <p:spPr>
          <a:xfrm>
            <a:off x="502920" y="292608"/>
            <a:ext cx="10515600" cy="502920"/>
          </a:xfrm>
          <a:prstGeom prst="rect">
            <a:avLst/>
          </a:prstGeom>
          <a:noFill/>
          <a:ln>
            <a:noFill/>
          </a:ln>
        </p:spPr>
        <p:txBody>
          <a:bodyPr spcFirstLastPara="1" wrap="square" lIns="91425" tIns="45700" rIns="91425" bIns="45700" anchor="ctr" anchorCtr="0"/>
          <a:lstStyle/>
          <a:p>
            <a:pPr marL="0" lvl="0" indent="0" algn="l" rtl="0">
              <a:lnSpc>
                <a:spcPct val="90000"/>
              </a:lnSpc>
              <a:spcBef>
                <a:spcPts val="0"/>
              </a:spcBef>
              <a:spcAft>
                <a:spcPts val="0"/>
              </a:spcAft>
              <a:buClr>
                <a:schemeClr val="lt1"/>
              </a:buClr>
              <a:buSzPts val="4800"/>
              <a:buFont typeface="Arial"/>
              <a:buNone/>
            </a:pPr>
            <a:r>
              <a:rPr lang="ja-JP" sz="2400" b="1">
                <a:solidFill>
                  <a:srgbClr val="F4F7FD"/>
                </a:solidFill>
                <a:latin typeface="Arial"/>
                <a:ea typeface="Arial"/>
                <a:cs typeface="Arial"/>
                <a:sym typeface="Arial"/>
              </a:rPr>
              <a:t>幅広いファン層を持つ『ゼロ』</a:t>
            </a:r>
            <a:endParaRPr sz="4800" b="1">
              <a:latin typeface="Arial"/>
              <a:ea typeface="Arial"/>
              <a:cs typeface="Arial"/>
              <a:sym typeface="Arial"/>
            </a:endParaRPr>
          </a:p>
        </p:txBody>
      </p:sp>
      <p:pic>
        <p:nvPicPr>
          <p:cNvPr id="1318" name="Google Shape;1318;g3f82b020a63_0_1065" descr="人, 雪, 建物, 子供 が含まれている画像&#10;&#10;AI によって生成されたコンテンツは間違っている可能性があります。"/>
          <p:cNvPicPr preferRelativeResize="0"/>
          <p:nvPr/>
        </p:nvPicPr>
        <p:blipFill rotWithShape="1">
          <a:blip r:embed="rId3">
            <a:alphaModFix/>
          </a:blip>
          <a:srcRect/>
          <a:stretch/>
        </p:blipFill>
        <p:spPr>
          <a:xfrm>
            <a:off x="7471120" y="1568450"/>
            <a:ext cx="3057525" cy="4924425"/>
          </a:xfrm>
          <a:prstGeom prst="rect">
            <a:avLst/>
          </a:prstGeom>
          <a:noFill/>
          <a:ln>
            <a:noFill/>
          </a:ln>
        </p:spPr>
      </p:pic>
      <p:pic>
        <p:nvPicPr>
          <p:cNvPr id="1319" name="Google Shape;1319;g3f82b020a63_0_1065"/>
          <p:cNvPicPr preferRelativeResize="0"/>
          <p:nvPr/>
        </p:nvPicPr>
        <p:blipFill rotWithShape="1">
          <a:blip r:embed="rId4">
            <a:alphaModFix/>
          </a:blip>
          <a:srcRect/>
          <a:stretch/>
        </p:blipFill>
        <p:spPr>
          <a:xfrm>
            <a:off x="836469" y="1568449"/>
            <a:ext cx="6191250" cy="49244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24"/>
        <p:cNvGrpSpPr/>
        <p:nvPr/>
      </p:nvGrpSpPr>
      <p:grpSpPr>
        <a:xfrm>
          <a:off x="0" y="0"/>
          <a:ext cx="0" cy="0"/>
          <a:chOff x="0" y="0"/>
          <a:chExt cx="0" cy="0"/>
        </a:xfrm>
      </p:grpSpPr>
      <p:sp>
        <p:nvSpPr>
          <p:cNvPr id="1325" name="Google Shape;1325;g3f82b020a63_0_1073"/>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36</a:t>
            </a:fld>
            <a:endParaRPr/>
          </a:p>
        </p:txBody>
      </p:sp>
      <p:sp>
        <p:nvSpPr>
          <p:cNvPr id="1326" name="Google Shape;1326;g3f82b020a63_0_1073"/>
          <p:cNvSpPr txBox="1"/>
          <p:nvPr/>
        </p:nvSpPr>
        <p:spPr>
          <a:xfrm>
            <a:off x="502920" y="292608"/>
            <a:ext cx="10515600" cy="502920"/>
          </a:xfrm>
          <a:prstGeom prst="rect">
            <a:avLst/>
          </a:prstGeom>
          <a:noFill/>
          <a:ln>
            <a:noFill/>
          </a:ln>
        </p:spPr>
        <p:txBody>
          <a:bodyPr spcFirstLastPara="1" wrap="square" lIns="91425" tIns="45700" rIns="91425" bIns="45700" anchor="ctr" anchorCtr="0"/>
          <a:lstStyle/>
          <a:p>
            <a:pPr marL="0" marR="0" lvl="0" indent="0" algn="l" rtl="0">
              <a:lnSpc>
                <a:spcPct val="90000"/>
              </a:lnSpc>
              <a:spcBef>
                <a:spcPts val="0"/>
              </a:spcBef>
              <a:spcAft>
                <a:spcPts val="0"/>
              </a:spcAft>
              <a:buClr>
                <a:schemeClr val="lt1"/>
              </a:buClr>
              <a:buSzPts val="4800"/>
              <a:buFont typeface="Arial"/>
              <a:buNone/>
            </a:pPr>
            <a:r>
              <a:rPr lang="ja-JP" altLang="en-US" sz="2400" b="1" dirty="0">
                <a:solidFill>
                  <a:srgbClr val="F4F7FD"/>
                </a:solidFill>
              </a:rPr>
              <a:t>ウルトラマンゼロは海外人気を牽引</a:t>
            </a:r>
            <a:endParaRPr sz="1400" b="0" i="0" u="none" strike="noStrike" cap="none" dirty="0">
              <a:solidFill>
                <a:srgbClr val="000000"/>
              </a:solidFill>
              <a:latin typeface="Arial"/>
              <a:ea typeface="Arial"/>
              <a:cs typeface="Arial"/>
              <a:sym typeface="Arial"/>
            </a:endParaRPr>
          </a:p>
        </p:txBody>
      </p:sp>
      <p:pic>
        <p:nvPicPr>
          <p:cNvPr id="7" name="図 6">
            <a:extLst>
              <a:ext uri="{FF2B5EF4-FFF2-40B4-BE49-F238E27FC236}">
                <a16:creationId xmlns:a16="http://schemas.microsoft.com/office/drawing/2014/main" id="{9B277B61-A7B5-6ACF-A1DC-984BEEB34304}"/>
              </a:ext>
            </a:extLst>
          </p:cNvPr>
          <p:cNvPicPr>
            <a:picLocks noChangeAspect="1"/>
          </p:cNvPicPr>
          <p:nvPr/>
        </p:nvPicPr>
        <p:blipFill>
          <a:blip r:embed="rId3"/>
          <a:stretch>
            <a:fillRect/>
          </a:stretch>
        </p:blipFill>
        <p:spPr>
          <a:xfrm>
            <a:off x="1436688" y="924651"/>
            <a:ext cx="9083183" cy="5866645"/>
          </a:xfrm>
          <a:prstGeom prst="rect">
            <a:avLst/>
          </a:prstGeom>
        </p:spPr>
      </p:pic>
      <p:pic>
        <p:nvPicPr>
          <p:cNvPr id="11" name="図 10">
            <a:extLst>
              <a:ext uri="{FF2B5EF4-FFF2-40B4-BE49-F238E27FC236}">
                <a16:creationId xmlns:a16="http://schemas.microsoft.com/office/drawing/2014/main" id="{02C871E3-55A1-C4F3-562A-56CC14CDDBA8}"/>
              </a:ext>
            </a:extLst>
          </p:cNvPr>
          <p:cNvPicPr>
            <a:picLocks noChangeAspect="1"/>
          </p:cNvPicPr>
          <p:nvPr/>
        </p:nvPicPr>
        <p:blipFill>
          <a:blip r:embed="rId4"/>
          <a:stretch>
            <a:fillRect/>
          </a:stretch>
        </p:blipFill>
        <p:spPr>
          <a:xfrm>
            <a:off x="1719905" y="934206"/>
            <a:ext cx="8799966" cy="5866644"/>
          </a:xfrm>
          <a:prstGeom prst="rect">
            <a:avLst/>
          </a:prstGeom>
        </p:spPr>
      </p:pic>
      <p:pic>
        <p:nvPicPr>
          <p:cNvPr id="13" name="図 12">
            <a:extLst>
              <a:ext uri="{FF2B5EF4-FFF2-40B4-BE49-F238E27FC236}">
                <a16:creationId xmlns:a16="http://schemas.microsoft.com/office/drawing/2014/main" id="{0B1104AE-6E33-CA46-2956-D11EBFB472F4}"/>
              </a:ext>
            </a:extLst>
          </p:cNvPr>
          <p:cNvPicPr>
            <a:picLocks noChangeAspect="1"/>
          </p:cNvPicPr>
          <p:nvPr/>
        </p:nvPicPr>
        <p:blipFill>
          <a:blip r:embed="rId5"/>
          <a:stretch>
            <a:fillRect/>
          </a:stretch>
        </p:blipFill>
        <p:spPr>
          <a:xfrm>
            <a:off x="2065336" y="899453"/>
            <a:ext cx="7825883" cy="5876200"/>
          </a:xfrm>
          <a:prstGeom prst="rect">
            <a:avLst/>
          </a:prstGeom>
        </p:spPr>
      </p:pic>
      <p:pic>
        <p:nvPicPr>
          <p:cNvPr id="9" name="図 8">
            <a:extLst>
              <a:ext uri="{FF2B5EF4-FFF2-40B4-BE49-F238E27FC236}">
                <a16:creationId xmlns:a16="http://schemas.microsoft.com/office/drawing/2014/main" id="{71202AFB-F83D-A7CC-7421-66FDA06BD6DC}"/>
              </a:ext>
            </a:extLst>
          </p:cNvPr>
          <p:cNvPicPr>
            <a:picLocks noChangeAspect="1"/>
          </p:cNvPicPr>
          <p:nvPr/>
        </p:nvPicPr>
        <p:blipFill>
          <a:blip r:embed="rId6"/>
          <a:stretch>
            <a:fillRect/>
          </a:stretch>
        </p:blipFill>
        <p:spPr>
          <a:xfrm>
            <a:off x="2183058" y="966158"/>
            <a:ext cx="7825883" cy="58694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31"/>
        <p:cNvGrpSpPr/>
        <p:nvPr/>
      </p:nvGrpSpPr>
      <p:grpSpPr>
        <a:xfrm>
          <a:off x="0" y="0"/>
          <a:ext cx="0" cy="0"/>
          <a:chOff x="0" y="0"/>
          <a:chExt cx="0" cy="0"/>
        </a:xfrm>
      </p:grpSpPr>
      <p:sp>
        <p:nvSpPr>
          <p:cNvPr id="1332" name="Google Shape;1332;g3f82b020a63_0_1079"/>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37</a:t>
            </a:fld>
            <a:endParaRPr/>
          </a:p>
        </p:txBody>
      </p:sp>
      <p:sp>
        <p:nvSpPr>
          <p:cNvPr id="1333" name="Google Shape;1333;g3f82b020a63_0_1079"/>
          <p:cNvSpPr txBox="1">
            <a:spLocks noGrp="1"/>
          </p:cNvSpPr>
          <p:nvPr>
            <p:ph type="title"/>
          </p:nvPr>
        </p:nvSpPr>
        <p:spPr>
          <a:xfrm>
            <a:off x="502920" y="292608"/>
            <a:ext cx="10515600" cy="502920"/>
          </a:xfrm>
          <a:prstGeom prst="rect">
            <a:avLst/>
          </a:prstGeom>
          <a:noFill/>
          <a:ln>
            <a:noFill/>
          </a:ln>
        </p:spPr>
        <p:txBody>
          <a:bodyPr spcFirstLastPara="1" wrap="square" lIns="91425" tIns="45700" rIns="91425" bIns="45700" anchor="ctr" anchorCtr="0"/>
          <a:lstStyle/>
          <a:p>
            <a:pPr marL="0" lvl="0" indent="0" algn="l" rtl="0">
              <a:lnSpc>
                <a:spcPct val="90000"/>
              </a:lnSpc>
              <a:spcBef>
                <a:spcPts val="0"/>
              </a:spcBef>
              <a:spcAft>
                <a:spcPts val="0"/>
              </a:spcAft>
              <a:buClr>
                <a:schemeClr val="lt1"/>
              </a:buClr>
              <a:buSzPct val="100000"/>
              <a:buFont typeface="Arial"/>
              <a:buNone/>
            </a:pPr>
            <a:r>
              <a:rPr lang="ja-JP" sz="2400" b="1">
                <a:solidFill>
                  <a:srgbClr val="F4F7FD"/>
                </a:solidFill>
                <a:latin typeface="Arial"/>
                <a:ea typeface="Arial"/>
                <a:cs typeface="Arial"/>
                <a:sym typeface="Arial"/>
              </a:rPr>
              <a:t>2027年8月27日　全国250館規模で公開！</a:t>
            </a:r>
            <a:endParaRPr/>
          </a:p>
        </p:txBody>
      </p:sp>
      <p:pic>
        <p:nvPicPr>
          <p:cNvPr id="1334" name="Google Shape;1334;g3f82b020a63_0_1079"/>
          <p:cNvPicPr preferRelativeResize="0"/>
          <p:nvPr/>
        </p:nvPicPr>
        <p:blipFill rotWithShape="1">
          <a:blip r:embed="rId3">
            <a:alphaModFix/>
          </a:blip>
          <a:srcRect/>
          <a:stretch/>
        </p:blipFill>
        <p:spPr>
          <a:xfrm>
            <a:off x="1977888" y="1194694"/>
            <a:ext cx="7754237" cy="5368318"/>
          </a:xfrm>
          <a:prstGeom prst="rect">
            <a:avLst/>
          </a:prstGeom>
          <a:noFill/>
          <a:ln>
            <a:noFill/>
          </a:ln>
        </p:spPr>
      </p:pic>
      <p:sp>
        <p:nvSpPr>
          <p:cNvPr id="1335" name="Rectangle 1334"/>
          <p:cNvSpPr/>
          <p:nvPr/>
        </p:nvSpPr>
        <p:spPr>
          <a:xfrm>
            <a:off x="502920" y="914400"/>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39"/>
        <p:cNvGrpSpPr/>
        <p:nvPr/>
      </p:nvGrpSpPr>
      <p:grpSpPr>
        <a:xfrm>
          <a:off x="0" y="0"/>
          <a:ext cx="0" cy="0"/>
          <a:chOff x="0" y="0"/>
          <a:chExt cx="0" cy="0"/>
        </a:xfrm>
      </p:grpSpPr>
      <p:sp>
        <p:nvSpPr>
          <p:cNvPr id="1340" name="Google Shape;1340;g3f82b020a63_0_1086"/>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38</a:t>
            </a:fld>
            <a:endParaRPr/>
          </a:p>
        </p:txBody>
      </p:sp>
      <p:sp>
        <p:nvSpPr>
          <p:cNvPr id="1341" name="Google Shape;1341;g3f82b020a63_0_1086"/>
          <p:cNvSpPr txBox="1"/>
          <p:nvPr/>
        </p:nvSpPr>
        <p:spPr>
          <a:xfrm>
            <a:off x="1527048" y="3246120"/>
            <a:ext cx="9144000" cy="640080"/>
          </a:xfrm>
          <a:prstGeom prst="rect">
            <a:avLst/>
          </a:prstGeom>
          <a:noFill/>
          <a:ln>
            <a:noFill/>
          </a:ln>
        </p:spPr>
        <p:txBody>
          <a:bodyPr spcFirstLastPara="1" wrap="square" lIns="91425" tIns="45700" rIns="91425" bIns="45700" anchor="ctr" anchorCtr="0"/>
          <a:lstStyle/>
          <a:p>
            <a:pPr marL="0" marR="0" lvl="0" indent="0" algn="ctr" rtl="0">
              <a:lnSpc>
                <a:spcPct val="90000"/>
              </a:lnSpc>
              <a:spcBef>
                <a:spcPts val="0"/>
              </a:spcBef>
              <a:spcAft>
                <a:spcPts val="0"/>
              </a:spcAft>
              <a:buClr>
                <a:schemeClr val="lt1"/>
              </a:buClr>
              <a:buSzPct val="100000"/>
              <a:buFont typeface="Arial"/>
              <a:buNone/>
            </a:pPr>
            <a:r>
              <a:rPr lang="ja-JP" sz="2000" b="0" i="0" u="none" strike="noStrike" cap="none">
                <a:solidFill>
                  <a:srgbClr val="A9B6D2"/>
                </a:solidFill>
                <a:latin typeface="Arial"/>
                <a:ea typeface="Arial"/>
                <a:cs typeface="Arial"/>
                <a:sym typeface="Arial"/>
              </a:rPr>
              <a:t>映像投影・村山チーム</a:t>
            </a:r>
            <a:r>
              <a:rPr lang="ja-JP" sz="2000" b="0" i="0" u="none" strike="noStrike" cap="none">
                <a:solidFill>
                  <a:srgbClr val="A9B6D2"/>
                </a:solidFill>
                <a:latin typeface="Meiryo"/>
                <a:ea typeface="Meiryo"/>
                <a:cs typeface="Meiryo"/>
                <a:sym typeface="Meiryo"/>
              </a:rPr>
              <a:t>制作の紹介映像30秒程度</a:t>
            </a:r>
            <a:br>
              <a:rPr lang="ja-JP" sz="4800" b="1" i="0" u="none" strike="noStrike" cap="none">
                <a:solidFill>
                  <a:schemeClr val="lt1"/>
                </a:solidFill>
                <a:latin typeface="Meiryo"/>
                <a:ea typeface="Meiryo"/>
                <a:cs typeface="Meiryo"/>
                <a:sym typeface="Meiryo"/>
              </a:rPr>
            </a:br>
            <a:endParaRPr sz="4800" b="1" i="0" u="none" strike="noStrike" cap="none">
              <a:solidFill>
                <a:schemeClr val="lt1"/>
              </a:solidFill>
              <a:latin typeface="Arial"/>
              <a:ea typeface="Arial"/>
              <a:cs typeface="Arial"/>
              <a:sym typeface="Arial"/>
            </a:endParaRPr>
          </a:p>
        </p:txBody>
      </p:sp>
      <p:sp>
        <p:nvSpPr>
          <p:cNvPr id="1342" name="Isosceles Triangle 1341"/>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46"/>
        <p:cNvGrpSpPr/>
        <p:nvPr/>
      </p:nvGrpSpPr>
      <p:grpSpPr>
        <a:xfrm>
          <a:off x="0" y="0"/>
          <a:ext cx="0" cy="0"/>
          <a:chOff x="0" y="0"/>
          <a:chExt cx="0" cy="0"/>
        </a:xfrm>
      </p:grpSpPr>
      <p:sp>
        <p:nvSpPr>
          <p:cNvPr id="1347" name="Google Shape;1347;g3f82b020a63_0_1092"/>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39</a:t>
            </a:fld>
            <a:endParaRPr/>
          </a:p>
        </p:txBody>
      </p:sp>
      <p:pic>
        <p:nvPicPr>
          <p:cNvPr id="1348" name="Google Shape;1348;g3f82b020a63_0_1092"/>
          <p:cNvPicPr preferRelativeResize="0"/>
          <p:nvPr/>
        </p:nvPicPr>
        <p:blipFill rotWithShape="1">
          <a:blip r:embed="rId3">
            <a:alphaModFix/>
          </a:blip>
          <a:srcRect/>
          <a:stretch/>
        </p:blipFill>
        <p:spPr>
          <a:xfrm rot="-5400000">
            <a:off x="-404906" y="1379303"/>
            <a:ext cx="6179988" cy="4111752"/>
          </a:xfrm>
          <a:prstGeom prst="rect">
            <a:avLst/>
          </a:prstGeom>
          <a:noFill/>
          <a:ln>
            <a:noFill/>
          </a:ln>
        </p:spPr>
      </p:pic>
      <p:sp>
        <p:nvSpPr>
          <p:cNvPr id="1349" name="Google Shape;1349;g3f82b020a63_0_1092"/>
          <p:cNvSpPr txBox="1"/>
          <p:nvPr/>
        </p:nvSpPr>
        <p:spPr>
          <a:xfrm>
            <a:off x="5383162" y="3053378"/>
            <a:ext cx="6985800" cy="75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1500"/>
              <a:buFont typeface="Arial"/>
              <a:buNone/>
            </a:pPr>
            <a:r>
              <a:rPr lang="ja-JP" sz="11500" b="1" i="0" u="none" strike="noStrike" cap="none">
                <a:solidFill>
                  <a:schemeClr val="lt1"/>
                </a:solidFill>
                <a:latin typeface="Arial"/>
                <a:ea typeface="Arial"/>
                <a:cs typeface="Arial"/>
                <a:sym typeface="Arial"/>
              </a:rPr>
              <a:t>宮野真守</a:t>
            </a:r>
            <a:endParaRPr sz="11500" b="1" i="0" u="none" strike="noStrike" cap="none">
              <a:solidFill>
                <a:schemeClr val="lt1"/>
              </a:solidFill>
              <a:latin typeface="Arial"/>
              <a:ea typeface="Arial"/>
              <a:cs typeface="Arial"/>
              <a:sym typeface="Arial"/>
            </a:endParaRPr>
          </a:p>
        </p:txBody>
      </p:sp>
      <p:sp>
        <p:nvSpPr>
          <p:cNvPr id="1350" name="Google Shape;1350;g3f82b020a63_0_1092"/>
          <p:cNvSpPr/>
          <p:nvPr/>
        </p:nvSpPr>
        <p:spPr>
          <a:xfrm>
            <a:off x="6772450" y="4254451"/>
            <a:ext cx="3403800" cy="630600"/>
          </a:xfrm>
          <a:prstGeom prst="rect">
            <a:avLst/>
          </a:prstGeom>
          <a:noFill/>
          <a:ln w="19050"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a:solidFill>
                  <a:srgbClr val="E8382F"/>
                </a:solidFill>
              </a:rPr>
              <a:t>20</a:t>
            </a:r>
            <a:r>
              <a:rPr lang="ja-JP" sz="1800" b="1" i="0" u="none" strike="noStrike" cap="none">
                <a:solidFill>
                  <a:srgbClr val="E8382F"/>
                </a:solidFill>
                <a:latin typeface="Arial"/>
                <a:ea typeface="Arial"/>
                <a:cs typeface="Arial"/>
                <a:sym typeface="Arial"/>
              </a:rPr>
              <a:t>27年1月中旬</a:t>
            </a:r>
            <a:r>
              <a:rPr lang="ja-JP" sz="1800" b="1">
                <a:solidFill>
                  <a:srgbClr val="E8382F"/>
                </a:solidFill>
              </a:rPr>
              <a:t> 情報</a:t>
            </a:r>
            <a:r>
              <a:rPr lang="ja-JP" sz="1800" b="1" i="0" u="none" strike="noStrike" cap="none">
                <a:solidFill>
                  <a:srgbClr val="E8382F"/>
                </a:solidFill>
                <a:latin typeface="Arial"/>
                <a:ea typeface="Arial"/>
                <a:cs typeface="Arial"/>
                <a:sym typeface="Arial"/>
              </a:rPr>
              <a:t>解禁予定</a:t>
            </a:r>
            <a:endParaRPr sz="1800" b="1" i="0" u="none" strike="noStrike" cap="none">
              <a:solidFill>
                <a:srgbClr val="E8382F"/>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55"/>
        <p:cNvGrpSpPr/>
        <p:nvPr/>
      </p:nvGrpSpPr>
      <p:grpSpPr>
        <a:xfrm>
          <a:off x="0" y="0"/>
          <a:ext cx="0" cy="0"/>
          <a:chOff x="0" y="0"/>
          <a:chExt cx="0" cy="0"/>
        </a:xfrm>
      </p:grpSpPr>
      <p:sp>
        <p:nvSpPr>
          <p:cNvPr id="1356" name="Google Shape;1356;g3f82b020a63_0_1100"/>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40</a:t>
            </a:fld>
            <a:endParaRPr/>
          </a:p>
        </p:txBody>
      </p:sp>
      <p:pic>
        <p:nvPicPr>
          <p:cNvPr id="1357" name="Google Shape;1357;g3f82b020a63_0_1100"/>
          <p:cNvPicPr preferRelativeResize="0"/>
          <p:nvPr/>
        </p:nvPicPr>
        <p:blipFill rotWithShape="1">
          <a:blip r:embed="rId3">
            <a:alphaModFix/>
          </a:blip>
          <a:srcRect/>
          <a:stretch/>
        </p:blipFill>
        <p:spPr>
          <a:xfrm rot="-5400000">
            <a:off x="-523785" y="1373123"/>
            <a:ext cx="6167629" cy="4111755"/>
          </a:xfrm>
          <a:prstGeom prst="rect">
            <a:avLst/>
          </a:prstGeom>
          <a:noFill/>
          <a:ln>
            <a:noFill/>
          </a:ln>
        </p:spPr>
      </p:pic>
      <p:sp>
        <p:nvSpPr>
          <p:cNvPr id="1358" name="Google Shape;1358;g3f82b020a63_0_1100"/>
          <p:cNvSpPr txBox="1"/>
          <p:nvPr/>
        </p:nvSpPr>
        <p:spPr>
          <a:xfrm>
            <a:off x="5383162" y="3053378"/>
            <a:ext cx="6985800" cy="75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1500"/>
              <a:buFont typeface="Arial"/>
              <a:buNone/>
            </a:pPr>
            <a:r>
              <a:rPr lang="ja-JP" sz="11500" b="1" i="0" u="none" strike="noStrike" cap="none">
                <a:solidFill>
                  <a:schemeClr val="lt1"/>
                </a:solidFill>
                <a:latin typeface="Arial"/>
                <a:ea typeface="Arial"/>
                <a:cs typeface="Arial"/>
                <a:sym typeface="Arial"/>
              </a:rPr>
              <a:t>剛力彩芽</a:t>
            </a:r>
            <a:endParaRPr sz="11500" b="1" i="0" u="none" strike="noStrike" cap="none">
              <a:solidFill>
                <a:schemeClr val="lt1"/>
              </a:solidFill>
              <a:latin typeface="Arial"/>
              <a:ea typeface="Arial"/>
              <a:cs typeface="Arial"/>
              <a:sym typeface="Arial"/>
            </a:endParaRPr>
          </a:p>
        </p:txBody>
      </p:sp>
      <p:sp>
        <p:nvSpPr>
          <p:cNvPr id="1359" name="Google Shape;1359;g3f82b020a63_0_1100"/>
          <p:cNvSpPr/>
          <p:nvPr/>
        </p:nvSpPr>
        <p:spPr>
          <a:xfrm>
            <a:off x="6772450" y="4254451"/>
            <a:ext cx="3403800" cy="630600"/>
          </a:xfrm>
          <a:prstGeom prst="rect">
            <a:avLst/>
          </a:prstGeom>
          <a:noFill/>
          <a:ln w="19050"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a:solidFill>
                  <a:srgbClr val="E8382F"/>
                </a:solidFill>
              </a:rPr>
              <a:t>20</a:t>
            </a:r>
            <a:r>
              <a:rPr lang="ja-JP" sz="1800" b="0" i="0" u="none" strike="noStrike" cap="none">
                <a:solidFill>
                  <a:srgbClr val="E8382F"/>
                </a:solidFill>
                <a:latin typeface="Arial"/>
                <a:ea typeface="Arial"/>
                <a:cs typeface="Arial"/>
                <a:sym typeface="Arial"/>
              </a:rPr>
              <a:t>27年</a:t>
            </a:r>
            <a:r>
              <a:rPr lang="ja-JP" sz="1800">
                <a:solidFill>
                  <a:srgbClr val="E8382F"/>
                </a:solidFill>
              </a:rPr>
              <a:t>4</a:t>
            </a:r>
            <a:r>
              <a:rPr lang="ja-JP" sz="1800" b="0" i="0" u="none" strike="noStrike" cap="none">
                <a:solidFill>
                  <a:srgbClr val="E8382F"/>
                </a:solidFill>
                <a:latin typeface="Arial"/>
                <a:ea typeface="Arial"/>
                <a:cs typeface="Arial"/>
                <a:sym typeface="Arial"/>
              </a:rPr>
              <a:t>月</a:t>
            </a:r>
            <a:r>
              <a:rPr lang="ja-JP" sz="1800">
                <a:solidFill>
                  <a:srgbClr val="E8382F"/>
                </a:solidFill>
              </a:rPr>
              <a:t>下旬 情報</a:t>
            </a:r>
            <a:r>
              <a:rPr lang="ja-JP" sz="1800" b="0" i="0" u="none" strike="noStrike" cap="none">
                <a:solidFill>
                  <a:srgbClr val="E8382F"/>
                </a:solidFill>
                <a:latin typeface="Arial"/>
                <a:ea typeface="Arial"/>
                <a:cs typeface="Arial"/>
                <a:sym typeface="Arial"/>
              </a:rPr>
              <a:t>解禁予定</a:t>
            </a:r>
            <a:endParaRPr sz="1800" b="0" i="0" u="none" strike="noStrike" cap="none">
              <a:solidFill>
                <a:srgbClr val="E8382F"/>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64"/>
        <p:cNvGrpSpPr/>
        <p:nvPr/>
      </p:nvGrpSpPr>
      <p:grpSpPr>
        <a:xfrm>
          <a:off x="0" y="0"/>
          <a:ext cx="0" cy="0"/>
          <a:chOff x="0" y="0"/>
          <a:chExt cx="0" cy="0"/>
        </a:xfrm>
      </p:grpSpPr>
      <p:sp>
        <p:nvSpPr>
          <p:cNvPr id="1365" name="Google Shape;1365;g3f82b020a63_0_1108"/>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41</a:t>
            </a:fld>
            <a:endParaRPr/>
          </a:p>
        </p:txBody>
      </p:sp>
      <p:pic>
        <p:nvPicPr>
          <p:cNvPr id="1366" name="Google Shape;1366;g3f82b020a63_0_1108"/>
          <p:cNvPicPr preferRelativeResize="0"/>
          <p:nvPr/>
        </p:nvPicPr>
        <p:blipFill rotWithShape="1">
          <a:blip r:embed="rId3">
            <a:alphaModFix/>
          </a:blip>
          <a:srcRect/>
          <a:stretch/>
        </p:blipFill>
        <p:spPr>
          <a:xfrm>
            <a:off x="6264964" y="1610138"/>
            <a:ext cx="5456584" cy="3637724"/>
          </a:xfrm>
          <a:prstGeom prst="rect">
            <a:avLst/>
          </a:prstGeom>
          <a:noFill/>
          <a:ln>
            <a:noFill/>
          </a:ln>
        </p:spPr>
      </p:pic>
      <p:pic>
        <p:nvPicPr>
          <p:cNvPr id="1367" name="Google Shape;1367;g3f82b020a63_0_1108"/>
          <p:cNvPicPr preferRelativeResize="0"/>
          <p:nvPr/>
        </p:nvPicPr>
        <p:blipFill rotWithShape="1">
          <a:blip r:embed="rId4">
            <a:alphaModFix/>
          </a:blip>
          <a:srcRect/>
          <a:stretch/>
        </p:blipFill>
        <p:spPr>
          <a:xfrm>
            <a:off x="470451" y="1610137"/>
            <a:ext cx="5462047" cy="3637722"/>
          </a:xfrm>
          <a:prstGeom prst="rect">
            <a:avLst/>
          </a:prstGeom>
          <a:noFill/>
          <a:ln>
            <a:noFill/>
          </a:ln>
        </p:spPr>
      </p:pic>
      <p:sp>
        <p:nvSpPr>
          <p:cNvPr id="1368" name="Google Shape;1368;g3f82b020a63_0_1108"/>
          <p:cNvSpPr/>
          <p:nvPr/>
        </p:nvSpPr>
        <p:spPr>
          <a:xfrm>
            <a:off x="4461350" y="5509676"/>
            <a:ext cx="3403800" cy="630600"/>
          </a:xfrm>
          <a:prstGeom prst="rect">
            <a:avLst/>
          </a:prstGeom>
          <a:noFill/>
          <a:ln w="19050" cap="flat" cmpd="sng">
            <a:solidFill>
              <a:srgbClr val="E8382F"/>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a:solidFill>
                  <a:srgbClr val="E8382F"/>
                </a:solidFill>
              </a:rPr>
              <a:t>20</a:t>
            </a:r>
            <a:r>
              <a:rPr lang="ja-JP" sz="1800" b="0" i="0" u="none" strike="noStrike" cap="none">
                <a:solidFill>
                  <a:srgbClr val="E8382F"/>
                </a:solidFill>
                <a:latin typeface="Arial"/>
                <a:ea typeface="Arial"/>
                <a:cs typeface="Arial"/>
                <a:sym typeface="Arial"/>
              </a:rPr>
              <a:t>27年</a:t>
            </a:r>
            <a:r>
              <a:rPr lang="ja-JP" sz="1800">
                <a:solidFill>
                  <a:srgbClr val="E8382F"/>
                </a:solidFill>
              </a:rPr>
              <a:t>7</a:t>
            </a:r>
            <a:r>
              <a:rPr lang="ja-JP" sz="1800" b="0" i="0" u="none" strike="noStrike" cap="none">
                <a:solidFill>
                  <a:srgbClr val="E8382F"/>
                </a:solidFill>
                <a:latin typeface="Arial"/>
                <a:ea typeface="Arial"/>
                <a:cs typeface="Arial"/>
                <a:sym typeface="Arial"/>
              </a:rPr>
              <a:t>月</a:t>
            </a:r>
            <a:r>
              <a:rPr lang="ja-JP" sz="1800">
                <a:solidFill>
                  <a:srgbClr val="E8382F"/>
                </a:solidFill>
              </a:rPr>
              <a:t> 情報</a:t>
            </a:r>
            <a:r>
              <a:rPr lang="ja-JP" sz="1800" b="0" i="0" u="none" strike="noStrike" cap="none">
                <a:solidFill>
                  <a:srgbClr val="E8382F"/>
                </a:solidFill>
                <a:latin typeface="Arial"/>
                <a:ea typeface="Arial"/>
                <a:cs typeface="Arial"/>
                <a:sym typeface="Arial"/>
              </a:rPr>
              <a:t>解禁予定</a:t>
            </a:r>
            <a:endParaRPr sz="1800" b="0" i="0" u="none" strike="noStrike" cap="none">
              <a:solidFill>
                <a:srgbClr val="E8382F"/>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73"/>
        <p:cNvGrpSpPr/>
        <p:nvPr/>
      </p:nvGrpSpPr>
      <p:grpSpPr>
        <a:xfrm>
          <a:off x="0" y="0"/>
          <a:ext cx="0" cy="0"/>
          <a:chOff x="0" y="0"/>
          <a:chExt cx="0" cy="0"/>
        </a:xfrm>
      </p:grpSpPr>
      <p:sp>
        <p:nvSpPr>
          <p:cNvPr id="1374" name="Google Shape;1374;g3f82b020a63_0_1116"/>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42</a:t>
            </a:fld>
            <a:endParaRPr/>
          </a:p>
        </p:txBody>
      </p:sp>
      <p:pic>
        <p:nvPicPr>
          <p:cNvPr id="1375" name="Google Shape;1375;g3f82b020a63_0_1116"/>
          <p:cNvPicPr preferRelativeResize="0"/>
          <p:nvPr/>
        </p:nvPicPr>
        <p:blipFill rotWithShape="1">
          <a:blip r:embed="rId3">
            <a:alphaModFix/>
          </a:blip>
          <a:srcRect/>
          <a:stretch/>
        </p:blipFill>
        <p:spPr>
          <a:xfrm>
            <a:off x="680403" y="715501"/>
            <a:ext cx="8861676" cy="590778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80"/>
        <p:cNvGrpSpPr/>
        <p:nvPr/>
      </p:nvGrpSpPr>
      <p:grpSpPr>
        <a:xfrm>
          <a:off x="0" y="0"/>
          <a:ext cx="0" cy="0"/>
          <a:chOff x="0" y="0"/>
          <a:chExt cx="0" cy="0"/>
        </a:xfrm>
      </p:grpSpPr>
      <p:sp>
        <p:nvSpPr>
          <p:cNvPr id="1381" name="Google Shape;1381;g3f82b020a63_0_1122"/>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43</a:t>
            </a:fld>
            <a:endParaRPr/>
          </a:p>
        </p:txBody>
      </p:sp>
      <p:sp>
        <p:nvSpPr>
          <p:cNvPr id="1382" name="Google Shape;1382;g3f82b020a63_0_1122"/>
          <p:cNvSpPr txBox="1">
            <a:spLocks noGrp="1"/>
          </p:cNvSpPr>
          <p:nvPr>
            <p:ph type="title"/>
          </p:nvPr>
        </p:nvSpPr>
        <p:spPr>
          <a:xfrm>
            <a:off x="612648" y="2834640"/>
            <a:ext cx="10972800" cy="91440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ct val="100000"/>
              <a:buFont typeface="Arial"/>
              <a:buNone/>
            </a:pPr>
            <a:r>
              <a:rPr lang="ja-JP" sz="4000" b="1" dirty="0">
                <a:solidFill>
                  <a:srgbClr val="F4F7FD"/>
                </a:solidFill>
                <a:latin typeface="Arial"/>
                <a:ea typeface="Arial"/>
                <a:cs typeface="Arial"/>
                <a:sym typeface="Arial"/>
              </a:rPr>
              <a:t>2027年 新テレビシリーズ</a:t>
            </a:r>
            <a:endParaRPr sz="4800" b="1" dirty="0">
              <a:latin typeface="Arial"/>
              <a:ea typeface="Arial"/>
              <a:cs typeface="Arial"/>
              <a:sym typeface="Arial"/>
            </a:endParaRPr>
          </a:p>
        </p:txBody>
      </p:sp>
      <p:sp>
        <p:nvSpPr>
          <p:cNvPr id="1383" name="Rectangle 1382"/>
          <p:cNvSpPr/>
          <p:nvPr/>
        </p:nvSpPr>
        <p:spPr>
          <a:xfrm>
            <a:off x="5550408" y="3977639"/>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87"/>
        <p:cNvGrpSpPr/>
        <p:nvPr/>
      </p:nvGrpSpPr>
      <p:grpSpPr>
        <a:xfrm>
          <a:off x="0" y="0"/>
          <a:ext cx="0" cy="0"/>
          <a:chOff x="0" y="0"/>
          <a:chExt cx="0" cy="0"/>
        </a:xfrm>
      </p:grpSpPr>
      <p:sp>
        <p:nvSpPr>
          <p:cNvPr id="1388" name="Google Shape;1388;g3f82b020a63_0_1128"/>
          <p:cNvSpPr txBox="1">
            <a:spLocks noGrp="1"/>
          </p:cNvSpPr>
          <p:nvPr>
            <p:ph type="sldNum" idx="12"/>
          </p:nvPr>
        </p:nvSpPr>
        <p:spPr>
          <a:xfrm>
            <a:off x="9242110" y="626266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44</a:t>
            </a:fld>
            <a:endParaRPr/>
          </a:p>
        </p:txBody>
      </p:sp>
      <p:sp>
        <p:nvSpPr>
          <p:cNvPr id="1389" name="Google Shape;1389;g3f82b020a63_0_1128"/>
          <p:cNvSpPr txBox="1">
            <a:spLocks noGrp="1"/>
          </p:cNvSpPr>
          <p:nvPr>
            <p:ph type="title"/>
          </p:nvPr>
        </p:nvSpPr>
        <p:spPr>
          <a:xfrm>
            <a:off x="1527048" y="3246120"/>
            <a:ext cx="9144000" cy="64008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ts val="4400"/>
              <a:buFont typeface="Arial"/>
              <a:buNone/>
            </a:pPr>
            <a:r>
              <a:rPr lang="ja-JP" b="0" sz="2000">
                <a:solidFill>
                  <a:srgbClr val="A9B6D2"/>
                </a:solidFill>
                <a:latin typeface="Arial"/>
                <a:ea typeface="Arial"/>
                <a:cs typeface="Arial"/>
                <a:sym typeface="Arial"/>
              </a:rPr>
              <a:t>映像30秒</a:t>
            </a:r>
            <a:endParaRPr/>
          </a:p>
        </p:txBody>
      </p:sp>
      <p:sp>
        <p:nvSpPr>
          <p:cNvPr id="1390" name="Isosceles Triangle 1389"/>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394"/>
        <p:cNvGrpSpPr/>
        <p:nvPr/>
      </p:nvGrpSpPr>
      <p:grpSpPr>
        <a:xfrm>
          <a:off x="0" y="0"/>
          <a:ext cx="0" cy="0"/>
          <a:chOff x="0" y="0"/>
          <a:chExt cx="0" cy="0"/>
        </a:xfrm>
      </p:grpSpPr>
      <p:sp>
        <p:nvSpPr>
          <p:cNvPr id="1395" name="Google Shape;1395;g3f82b020a63_0_1134"/>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45</a:t>
            </a:fld>
            <a:endParaRPr/>
          </a:p>
        </p:txBody>
      </p:sp>
      <p:sp>
        <p:nvSpPr>
          <p:cNvPr id="1396" name="Google Shape;1396;g3f82b020a63_0_1134"/>
          <p:cNvSpPr txBox="1">
            <a:spLocks noGrp="1"/>
          </p:cNvSpPr>
          <p:nvPr>
            <p:ph type="title"/>
          </p:nvPr>
        </p:nvSpPr>
        <p:spPr>
          <a:xfrm>
            <a:off x="1534790" y="1533208"/>
            <a:ext cx="8876100" cy="75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4800"/>
              <a:buFont typeface="Arial"/>
              <a:buNone/>
            </a:pPr>
            <a:r>
              <a:rPr lang="ja-JP" sz="4800" b="1">
                <a:latin typeface="Arial"/>
                <a:ea typeface="Arial"/>
                <a:cs typeface="Arial"/>
                <a:sym typeface="Arial"/>
              </a:rPr>
              <a:t>全力で勝ちに行く</a:t>
            </a:r>
            <a:endParaRPr/>
          </a:p>
        </p:txBody>
      </p:sp>
      <p:sp>
        <p:nvSpPr>
          <p:cNvPr id="1397" name="Google Shape;1397;g3f82b020a63_0_1134"/>
          <p:cNvSpPr txBox="1"/>
          <p:nvPr/>
        </p:nvSpPr>
        <p:spPr>
          <a:xfrm>
            <a:off x="643842" y="2604654"/>
            <a:ext cx="10805208" cy="2853600"/>
          </a:xfrm>
          <a:prstGeom prst="rect">
            <a:avLst/>
          </a:prstGeom>
          <a:noFill/>
          <a:ln>
            <a:noFill/>
          </a:ln>
        </p:spPr>
        <p:txBody>
          <a:bodyPr spcFirstLastPara="1" wrap="square" lIns="91425" tIns="45700" rIns="91425" bIns="45700" anchor="t" anchorCtr="0">
            <a:noAutofit/>
          </a:bodyPr>
          <a:lstStyle/>
          <a:p>
            <a:pPr marL="0" marR="0" lvl="0" indent="0" algn="l" rtl="0">
              <a:lnSpc>
                <a:spcPct val="250000"/>
              </a:lnSpc>
              <a:spcBef>
                <a:spcPts val="0"/>
              </a:spcBef>
              <a:spcAft>
                <a:spcPts val="0"/>
              </a:spcAft>
              <a:buClr>
                <a:schemeClr val="lt1"/>
              </a:buClr>
              <a:buSzPts val="3600"/>
              <a:buFont typeface="Arial"/>
              <a:buNone/>
            </a:pPr>
            <a:r>
              <a:rPr lang="ja-JP" sz="3600" b="1" i="0" u="none" strike="noStrike" cap="none" dirty="0">
                <a:solidFill>
                  <a:schemeClr val="lt1"/>
                </a:solidFill>
                <a:latin typeface="Arial"/>
                <a:ea typeface="Arial"/>
                <a:cs typeface="Arial"/>
                <a:sym typeface="Arial"/>
              </a:rPr>
              <a:t>① 放送サイクルを見直し、切れ目のない作品展開</a:t>
            </a:r>
            <a:endParaRPr sz="3600" b="1" i="0" u="none" strike="noStrike" cap="none" dirty="0">
              <a:solidFill>
                <a:schemeClr val="lt1"/>
              </a:solidFill>
              <a:latin typeface="Arial"/>
              <a:ea typeface="Arial"/>
              <a:cs typeface="Arial"/>
              <a:sym typeface="Arial"/>
            </a:endParaRPr>
          </a:p>
          <a:p>
            <a:pPr marL="0" marR="0" lvl="0" indent="0" algn="l" rtl="0">
              <a:lnSpc>
                <a:spcPct val="250000"/>
              </a:lnSpc>
              <a:spcBef>
                <a:spcPts val="0"/>
              </a:spcBef>
              <a:spcAft>
                <a:spcPts val="0"/>
              </a:spcAft>
              <a:buClr>
                <a:schemeClr val="lt1"/>
              </a:buClr>
              <a:buSzPts val="3600"/>
              <a:buFont typeface="Arial"/>
              <a:buNone/>
            </a:pPr>
            <a:r>
              <a:rPr lang="ja-JP" sz="3600" b="1" i="0" u="none" strike="noStrike" cap="none" dirty="0">
                <a:solidFill>
                  <a:schemeClr val="lt1"/>
                </a:solidFill>
                <a:latin typeface="Arial"/>
                <a:ea typeface="Arial"/>
                <a:cs typeface="Arial"/>
                <a:sym typeface="Arial"/>
              </a:rPr>
              <a:t>② 過去実績を徹底分析し、勝てる企画づくり</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02"/>
        <p:cNvGrpSpPr/>
        <p:nvPr/>
      </p:nvGrpSpPr>
      <p:grpSpPr>
        <a:xfrm>
          <a:off x="0" y="0"/>
          <a:ext cx="0" cy="0"/>
          <a:chOff x="0" y="0"/>
          <a:chExt cx="0" cy="0"/>
        </a:xfrm>
      </p:grpSpPr>
      <p:sp>
        <p:nvSpPr>
          <p:cNvPr id="1403" name="Google Shape;1403;g3f82b020a63_0_1141"/>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46</a:t>
            </a:fld>
            <a:endParaRPr/>
          </a:p>
        </p:txBody>
      </p:sp>
      <p:sp>
        <p:nvSpPr>
          <p:cNvPr id="1404" name="Google Shape;1404;g3f82b020a63_0_1141"/>
          <p:cNvSpPr txBox="1">
            <a:spLocks noGrp="1"/>
          </p:cNvSpPr>
          <p:nvPr>
            <p:ph type="title"/>
          </p:nvPr>
        </p:nvSpPr>
        <p:spPr>
          <a:xfrm>
            <a:off x="281291" y="218252"/>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ja-JP" b="1">
                <a:latin typeface="Arial"/>
                <a:ea typeface="Arial"/>
                <a:cs typeface="Arial"/>
                <a:sym typeface="Arial"/>
              </a:rPr>
              <a:t>① 放送サイクルの刷新</a:t>
            </a:r>
            <a:endParaRPr b="1">
              <a:latin typeface="Arial"/>
              <a:ea typeface="Arial"/>
              <a:cs typeface="Arial"/>
              <a:sym typeface="Arial"/>
            </a:endParaRPr>
          </a:p>
        </p:txBody>
      </p:sp>
      <p:sp>
        <p:nvSpPr>
          <p:cNvPr id="1405" name="Google Shape;1405;g3f82b020a63_0_1141"/>
          <p:cNvSpPr/>
          <p:nvPr/>
        </p:nvSpPr>
        <p:spPr>
          <a:xfrm>
            <a:off x="8848314" y="1426496"/>
            <a:ext cx="2752800" cy="684000"/>
          </a:xfrm>
          <a:prstGeom prst="homePlate">
            <a:avLst>
              <a:gd name="adj" fmla="val 50000"/>
            </a:avLst>
          </a:prstGeom>
          <a:solidFill>
            <a:srgbClr val="C9EDFB"/>
          </a:solidFill>
          <a:ln w="3810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dk1"/>
                </a:solidFill>
                <a:latin typeface="Arial"/>
                <a:ea typeface="Arial"/>
                <a:cs typeface="Arial"/>
                <a:sym typeface="Arial"/>
              </a:rPr>
              <a:t>7～9月</a:t>
            </a:r>
            <a:endParaRPr sz="1400" b="0" i="0" u="none" strike="noStrike" cap="none">
              <a:solidFill>
                <a:srgbClr val="000000"/>
              </a:solidFill>
              <a:latin typeface="Arial"/>
              <a:ea typeface="Arial"/>
              <a:cs typeface="Arial"/>
              <a:sym typeface="Arial"/>
            </a:endParaRPr>
          </a:p>
        </p:txBody>
      </p:sp>
      <p:sp>
        <p:nvSpPr>
          <p:cNvPr id="1406" name="Google Shape;1406;g3f82b020a63_0_1141"/>
          <p:cNvSpPr/>
          <p:nvPr/>
        </p:nvSpPr>
        <p:spPr>
          <a:xfrm>
            <a:off x="6554344" y="1426496"/>
            <a:ext cx="2752800" cy="684000"/>
          </a:xfrm>
          <a:prstGeom prst="homePlate">
            <a:avLst>
              <a:gd name="adj" fmla="val 50000"/>
            </a:avLst>
          </a:prstGeom>
          <a:solidFill>
            <a:srgbClr val="0070C0"/>
          </a:solidFill>
          <a:ln w="3810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4～６月</a:t>
            </a:r>
            <a:endParaRPr sz="1400" b="0" i="0" u="none" strike="noStrike" cap="none">
              <a:solidFill>
                <a:srgbClr val="000000"/>
              </a:solidFill>
              <a:latin typeface="Arial"/>
              <a:ea typeface="Arial"/>
              <a:cs typeface="Arial"/>
              <a:sym typeface="Arial"/>
            </a:endParaRPr>
          </a:p>
        </p:txBody>
      </p:sp>
      <p:sp>
        <p:nvSpPr>
          <p:cNvPr id="1407" name="Google Shape;1407;g3f82b020a63_0_1141"/>
          <p:cNvSpPr/>
          <p:nvPr/>
        </p:nvSpPr>
        <p:spPr>
          <a:xfrm>
            <a:off x="4260374" y="1426496"/>
            <a:ext cx="2752800" cy="684000"/>
          </a:xfrm>
          <a:prstGeom prst="homePlate">
            <a:avLst>
              <a:gd name="adj" fmla="val 50000"/>
            </a:avLst>
          </a:prstGeom>
          <a:solidFill>
            <a:srgbClr val="C9EDFB"/>
          </a:solidFill>
          <a:ln w="3810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dk1"/>
                </a:solidFill>
                <a:latin typeface="Arial"/>
                <a:ea typeface="Arial"/>
                <a:cs typeface="Arial"/>
                <a:sym typeface="Arial"/>
              </a:rPr>
              <a:t> 1～3月　</a:t>
            </a:r>
            <a:endParaRPr sz="1400" b="0" i="0" u="none" strike="noStrike" cap="none">
              <a:solidFill>
                <a:srgbClr val="000000"/>
              </a:solidFill>
              <a:latin typeface="Arial"/>
              <a:ea typeface="Arial"/>
              <a:cs typeface="Arial"/>
              <a:sym typeface="Arial"/>
            </a:endParaRPr>
          </a:p>
        </p:txBody>
      </p:sp>
      <p:sp>
        <p:nvSpPr>
          <p:cNvPr id="1408" name="Google Shape;1408;g3f82b020a63_0_1141"/>
          <p:cNvSpPr/>
          <p:nvPr/>
        </p:nvSpPr>
        <p:spPr>
          <a:xfrm>
            <a:off x="1966404" y="1426496"/>
            <a:ext cx="2752800" cy="684000"/>
          </a:xfrm>
          <a:prstGeom prst="homePlate">
            <a:avLst>
              <a:gd name="adj" fmla="val 50000"/>
            </a:avLst>
          </a:prstGeom>
          <a:solidFill>
            <a:srgbClr val="0070C0"/>
          </a:solidFill>
          <a:ln w="3810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10～12月</a:t>
            </a:r>
            <a:endParaRPr sz="1400" b="0" i="0" u="none" strike="noStrike" cap="none">
              <a:solidFill>
                <a:srgbClr val="000000"/>
              </a:solidFill>
              <a:latin typeface="Arial"/>
              <a:ea typeface="Arial"/>
              <a:cs typeface="Arial"/>
              <a:sym typeface="Arial"/>
            </a:endParaRPr>
          </a:p>
        </p:txBody>
      </p:sp>
      <p:sp>
        <p:nvSpPr>
          <p:cNvPr id="1409" name="Google Shape;1409;g3f82b020a63_0_1141"/>
          <p:cNvSpPr txBox="1"/>
          <p:nvPr/>
        </p:nvSpPr>
        <p:spPr>
          <a:xfrm>
            <a:off x="1966404" y="985072"/>
            <a:ext cx="1326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2027年</a:t>
            </a:r>
            <a:endParaRPr sz="1400" b="0" i="0" u="none" strike="noStrike" cap="none">
              <a:solidFill>
                <a:srgbClr val="000000"/>
              </a:solidFill>
              <a:latin typeface="Arial"/>
              <a:ea typeface="Arial"/>
              <a:cs typeface="Arial"/>
              <a:sym typeface="Arial"/>
            </a:endParaRPr>
          </a:p>
        </p:txBody>
      </p:sp>
      <p:sp>
        <p:nvSpPr>
          <p:cNvPr id="1410" name="Google Shape;1410;g3f82b020a63_0_1141"/>
          <p:cNvSpPr txBox="1"/>
          <p:nvPr/>
        </p:nvSpPr>
        <p:spPr>
          <a:xfrm>
            <a:off x="4489493" y="985072"/>
            <a:ext cx="1326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2028年</a:t>
            </a:r>
            <a:endParaRPr sz="2400" b="1" i="0" u="none" strike="noStrike" cap="none">
              <a:solidFill>
                <a:schemeClr val="lt1"/>
              </a:solidFill>
              <a:latin typeface="Arial"/>
              <a:ea typeface="Arial"/>
              <a:cs typeface="Arial"/>
              <a:sym typeface="Arial"/>
            </a:endParaRPr>
          </a:p>
        </p:txBody>
      </p:sp>
      <p:sp>
        <p:nvSpPr>
          <p:cNvPr id="1411" name="Google Shape;1411;g3f82b020a63_0_1141"/>
          <p:cNvSpPr txBox="1"/>
          <p:nvPr/>
        </p:nvSpPr>
        <p:spPr>
          <a:xfrm>
            <a:off x="2372023" y="2563269"/>
            <a:ext cx="1984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dirty="0">
                <a:solidFill>
                  <a:srgbClr val="FFFF00"/>
                </a:solidFill>
                <a:latin typeface="Arial"/>
                <a:ea typeface="Arial"/>
                <a:cs typeface="Arial"/>
                <a:sym typeface="Arial"/>
              </a:rPr>
              <a:t>放送・前半</a:t>
            </a:r>
            <a:endParaRPr sz="2400" b="1" i="0" u="none" strike="noStrike" cap="none" dirty="0">
              <a:solidFill>
                <a:srgbClr val="FFFF00"/>
              </a:solidFill>
              <a:latin typeface="Arial"/>
              <a:ea typeface="Arial"/>
              <a:cs typeface="Arial"/>
              <a:sym typeface="Arial"/>
            </a:endParaRPr>
          </a:p>
        </p:txBody>
      </p:sp>
      <p:sp>
        <p:nvSpPr>
          <p:cNvPr id="1412" name="Google Shape;1412;g3f82b020a63_0_1141"/>
          <p:cNvSpPr txBox="1"/>
          <p:nvPr/>
        </p:nvSpPr>
        <p:spPr>
          <a:xfrm>
            <a:off x="6993778" y="2563269"/>
            <a:ext cx="19848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dirty="0">
                <a:solidFill>
                  <a:srgbClr val="FFFF00"/>
                </a:solidFill>
                <a:latin typeface="Arial"/>
                <a:ea typeface="Arial"/>
                <a:cs typeface="Arial"/>
                <a:sym typeface="Arial"/>
              </a:rPr>
              <a:t>放送・後半</a:t>
            </a:r>
            <a:endParaRPr sz="2400" b="1" i="0" u="none" strike="noStrike" cap="none" dirty="0">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FFFF00"/>
              </a:solidFill>
              <a:latin typeface="Arial"/>
              <a:ea typeface="Arial"/>
              <a:cs typeface="Arial"/>
              <a:sym typeface="Arial"/>
            </a:endParaRPr>
          </a:p>
        </p:txBody>
      </p:sp>
      <p:pic>
        <p:nvPicPr>
          <p:cNvPr id="1413" name="Google Shape;1413;g3f82b020a63_0_1141" descr="開催概要 | ウルトラヒーローズEXPO 2026 ニューイヤーフェスティバル IN 東京ドームシティ"/>
          <p:cNvPicPr preferRelativeResize="0"/>
          <p:nvPr/>
        </p:nvPicPr>
        <p:blipFill rotWithShape="1">
          <a:blip r:embed="rId3">
            <a:alphaModFix/>
          </a:blip>
          <a:srcRect/>
          <a:stretch/>
        </p:blipFill>
        <p:spPr>
          <a:xfrm>
            <a:off x="4002365" y="5255720"/>
            <a:ext cx="899715" cy="1105138"/>
          </a:xfrm>
          <a:prstGeom prst="rect">
            <a:avLst/>
          </a:prstGeom>
          <a:noFill/>
          <a:ln>
            <a:noFill/>
          </a:ln>
        </p:spPr>
      </p:pic>
      <p:pic>
        <p:nvPicPr>
          <p:cNvPr id="1414" name="Google Shape;1414;g3f82b020a63_0_1141"/>
          <p:cNvPicPr preferRelativeResize="0"/>
          <p:nvPr/>
        </p:nvPicPr>
        <p:blipFill rotWithShape="1">
          <a:blip r:embed="rId4">
            <a:alphaModFix/>
          </a:blip>
          <a:srcRect/>
          <a:stretch/>
        </p:blipFill>
        <p:spPr>
          <a:xfrm>
            <a:off x="8537028" y="5255720"/>
            <a:ext cx="899987" cy="1105352"/>
          </a:xfrm>
          <a:prstGeom prst="rect">
            <a:avLst/>
          </a:prstGeom>
          <a:noFill/>
          <a:ln>
            <a:noFill/>
          </a:ln>
        </p:spPr>
      </p:pic>
      <p:sp>
        <p:nvSpPr>
          <p:cNvPr id="1415" name="Google Shape;1415;g3f82b020a63_0_1141"/>
          <p:cNvSpPr/>
          <p:nvPr/>
        </p:nvSpPr>
        <p:spPr>
          <a:xfrm>
            <a:off x="238782" y="2169551"/>
            <a:ext cx="1558800" cy="96630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テレビ</a:t>
            </a:r>
            <a:endParaRPr sz="1400" b="0" i="0" u="none" strike="noStrike" cap="none">
              <a:solidFill>
                <a:srgbClr val="000000"/>
              </a:solidFill>
              <a:latin typeface="Arial"/>
              <a:ea typeface="Arial"/>
              <a:cs typeface="Arial"/>
              <a:sym typeface="Arial"/>
            </a:endParaRPr>
          </a:p>
        </p:txBody>
      </p:sp>
      <p:sp>
        <p:nvSpPr>
          <p:cNvPr id="1416" name="Google Shape;1416;g3f82b020a63_0_1141"/>
          <p:cNvSpPr/>
          <p:nvPr/>
        </p:nvSpPr>
        <p:spPr>
          <a:xfrm>
            <a:off x="238782" y="3254709"/>
            <a:ext cx="1558800" cy="126990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劇場</a:t>
            </a:r>
            <a:endParaRPr sz="1400" b="0" i="0" u="none" strike="noStrike" cap="none">
              <a:solidFill>
                <a:srgbClr val="000000"/>
              </a:solidFill>
              <a:latin typeface="Arial"/>
              <a:ea typeface="Arial"/>
              <a:cs typeface="Arial"/>
              <a:sym typeface="Arial"/>
            </a:endParaRPr>
          </a:p>
        </p:txBody>
      </p:sp>
      <p:sp>
        <p:nvSpPr>
          <p:cNvPr id="1417" name="Google Shape;1417;g3f82b020a63_0_1141"/>
          <p:cNvSpPr/>
          <p:nvPr/>
        </p:nvSpPr>
        <p:spPr>
          <a:xfrm>
            <a:off x="238782" y="4643436"/>
            <a:ext cx="1558800" cy="176040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lt1"/>
                </a:solidFill>
                <a:latin typeface="Arial"/>
                <a:ea typeface="Arial"/>
                <a:cs typeface="Arial"/>
                <a:sym typeface="Arial"/>
              </a:rPr>
              <a:t>イベント</a:t>
            </a:r>
            <a:endParaRPr sz="1400" b="0" i="0" u="none" strike="noStrike" cap="none">
              <a:solidFill>
                <a:srgbClr val="000000"/>
              </a:solidFill>
              <a:latin typeface="Arial"/>
              <a:ea typeface="Arial"/>
              <a:cs typeface="Arial"/>
              <a:sym typeface="Arial"/>
            </a:endParaRPr>
          </a:p>
        </p:txBody>
      </p:sp>
      <p:sp>
        <p:nvSpPr>
          <p:cNvPr id="1418" name="Google Shape;1418;g3f82b020a63_0_1141"/>
          <p:cNvSpPr txBox="1"/>
          <p:nvPr/>
        </p:nvSpPr>
        <p:spPr>
          <a:xfrm>
            <a:off x="5159750" y="3657459"/>
            <a:ext cx="2132400" cy="738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dirty="0">
                <a:solidFill>
                  <a:srgbClr val="FFFF00"/>
                </a:solidFill>
                <a:latin typeface="Arial"/>
                <a:ea typeface="Arial"/>
                <a:cs typeface="Arial"/>
                <a:sym typeface="Arial"/>
              </a:rPr>
              <a:t>劇場版公開</a:t>
            </a:r>
            <a:endParaRPr sz="2400" b="1" i="0" u="none" strike="noStrike" cap="none" dirty="0">
              <a:solidFill>
                <a:srgbClr val="FFFF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dirty="0">
                <a:solidFill>
                  <a:srgbClr val="FFFF00"/>
                </a:solidFill>
                <a:latin typeface="Arial"/>
                <a:ea typeface="Arial"/>
                <a:cs typeface="Arial"/>
                <a:sym typeface="Arial"/>
              </a:rPr>
              <a:t>2月下旬～3月ごろ</a:t>
            </a:r>
            <a:endParaRPr sz="1400" b="0" i="0" u="none" strike="noStrike" cap="none" dirty="0">
              <a:solidFill>
                <a:srgbClr val="000000"/>
              </a:solidFill>
              <a:latin typeface="Arial"/>
              <a:ea typeface="Arial"/>
              <a:cs typeface="Arial"/>
              <a:sym typeface="Arial"/>
            </a:endParaRPr>
          </a:p>
        </p:txBody>
      </p:sp>
      <p:sp>
        <p:nvSpPr>
          <p:cNvPr id="1419" name="Google Shape;1419;g3f82b020a63_0_1141"/>
          <p:cNvSpPr/>
          <p:nvPr/>
        </p:nvSpPr>
        <p:spPr>
          <a:xfrm>
            <a:off x="2080098" y="2349974"/>
            <a:ext cx="2180400" cy="910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420" name="Google Shape;1420;g3f82b020a63_0_1141"/>
          <p:cNvSpPr/>
          <p:nvPr/>
        </p:nvSpPr>
        <p:spPr>
          <a:xfrm>
            <a:off x="2031056" y="2316033"/>
            <a:ext cx="2340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21" name="Google Shape;1421;g3f82b020a63_0_1141"/>
          <p:cNvSpPr/>
          <p:nvPr/>
        </p:nvSpPr>
        <p:spPr>
          <a:xfrm>
            <a:off x="6673824" y="2316033"/>
            <a:ext cx="2340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22" name="Google Shape;1422;g3f82b020a63_0_1141"/>
          <p:cNvSpPr/>
          <p:nvPr/>
        </p:nvSpPr>
        <p:spPr>
          <a:xfrm>
            <a:off x="5734738" y="3409685"/>
            <a:ext cx="972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23" name="Google Shape;1423;g3f82b020a63_0_1141"/>
          <p:cNvSpPr/>
          <p:nvPr/>
        </p:nvSpPr>
        <p:spPr>
          <a:xfrm>
            <a:off x="3031092" y="4789270"/>
            <a:ext cx="324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24" name="Google Shape;1424;g3f82b020a63_0_1141"/>
          <p:cNvSpPr txBox="1"/>
          <p:nvPr/>
        </p:nvSpPr>
        <p:spPr>
          <a:xfrm>
            <a:off x="2291884" y="5668354"/>
            <a:ext cx="10566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a:solidFill>
                  <a:srgbClr val="FFFF00"/>
                </a:solidFill>
                <a:latin typeface="Arial"/>
                <a:ea typeface="Arial"/>
                <a:cs typeface="Arial"/>
                <a:sym typeface="Arial"/>
              </a:rPr>
              <a:t>11月上旬</a:t>
            </a:r>
            <a:endParaRPr sz="1600" b="0" i="0" u="none" strike="noStrike" cap="none">
              <a:solidFill>
                <a:srgbClr val="FFFF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a:solidFill>
                  <a:srgbClr val="FFFF00"/>
                </a:solidFill>
                <a:latin typeface="Arial"/>
                <a:ea typeface="Arial"/>
                <a:cs typeface="Arial"/>
                <a:sym typeface="Arial"/>
              </a:rPr>
              <a:t>東京</a:t>
            </a:r>
            <a:endParaRPr sz="1600" b="0" i="0" u="none" strike="noStrike" cap="none">
              <a:solidFill>
                <a:srgbClr val="FFFF00"/>
              </a:solidFill>
              <a:latin typeface="Arial"/>
              <a:ea typeface="Arial"/>
              <a:cs typeface="Arial"/>
              <a:sym typeface="Arial"/>
            </a:endParaRPr>
          </a:p>
        </p:txBody>
      </p:sp>
      <p:pic>
        <p:nvPicPr>
          <p:cNvPr id="1425" name="Google Shape;1425;g3f82b020a63_0_1141"/>
          <p:cNvPicPr preferRelativeResize="0"/>
          <p:nvPr/>
        </p:nvPicPr>
        <p:blipFill rotWithShape="1">
          <a:blip r:embed="rId5">
            <a:alphaModFix/>
          </a:blip>
          <a:srcRect/>
          <a:stretch/>
        </p:blipFill>
        <p:spPr>
          <a:xfrm>
            <a:off x="2150822" y="5133454"/>
            <a:ext cx="1338828" cy="527355"/>
          </a:xfrm>
          <a:prstGeom prst="rect">
            <a:avLst/>
          </a:prstGeom>
          <a:noFill/>
          <a:ln>
            <a:noFill/>
          </a:ln>
        </p:spPr>
      </p:pic>
      <p:sp>
        <p:nvSpPr>
          <p:cNvPr id="1426" name="Google Shape;1426;g3f82b020a63_0_1141"/>
          <p:cNvSpPr/>
          <p:nvPr/>
        </p:nvSpPr>
        <p:spPr>
          <a:xfrm>
            <a:off x="4262380" y="4789270"/>
            <a:ext cx="576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cxnSp>
        <p:nvCxnSpPr>
          <p:cNvPr id="1427" name="Google Shape;1427;g3f82b020a63_0_1141"/>
          <p:cNvCxnSpPr>
            <a:stCxn id="1423" idx="1"/>
            <a:endCxn id="1425" idx="0"/>
          </p:cNvCxnSpPr>
          <p:nvPr/>
        </p:nvCxnSpPr>
        <p:spPr>
          <a:xfrm flipH="1">
            <a:off x="2820192" y="4897120"/>
            <a:ext cx="210900" cy="236400"/>
          </a:xfrm>
          <a:prstGeom prst="bentConnector2">
            <a:avLst/>
          </a:prstGeom>
          <a:noFill/>
          <a:ln w="19050" cap="flat" cmpd="sng">
            <a:solidFill>
              <a:srgbClr val="FFFF00"/>
            </a:solidFill>
            <a:prstDash val="solid"/>
            <a:miter lim="80"/>
            <a:headEnd type="none" w="sm" len="sm"/>
            <a:tailEnd type="none" w="sm" len="sm"/>
          </a:ln>
        </p:spPr>
      </p:cxnSp>
      <p:sp>
        <p:nvSpPr>
          <p:cNvPr id="1428" name="Google Shape;1428;g3f82b020a63_0_1141"/>
          <p:cNvSpPr txBox="1"/>
          <p:nvPr/>
        </p:nvSpPr>
        <p:spPr>
          <a:xfrm>
            <a:off x="4997458" y="5299022"/>
            <a:ext cx="1824599"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dirty="0">
                <a:solidFill>
                  <a:srgbClr val="FFFF00"/>
                </a:solidFill>
                <a:latin typeface="Arial"/>
                <a:ea typeface="Arial"/>
                <a:cs typeface="Arial"/>
                <a:sym typeface="Arial"/>
              </a:rPr>
              <a:t>年末年始</a:t>
            </a:r>
            <a:endParaRPr sz="2000" b="1" i="0" u="none" strike="noStrike" cap="none" dirty="0">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ja-JP" sz="2000" b="1" i="0" u="none" strike="noStrike" cap="none" dirty="0">
                <a:solidFill>
                  <a:srgbClr val="FFFF00"/>
                </a:solidFill>
                <a:latin typeface="Arial"/>
                <a:ea typeface="Arial"/>
                <a:cs typeface="Arial"/>
                <a:sym typeface="Arial"/>
              </a:rPr>
              <a:t>大型イベント</a:t>
            </a:r>
            <a:endParaRPr sz="2000" b="1" i="0" u="none" strike="noStrike" cap="none" dirty="0">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ja-JP" sz="1600" b="0" i="0" u="none" strike="noStrike" cap="none" dirty="0">
                <a:solidFill>
                  <a:srgbClr val="FFFF00"/>
                </a:solidFill>
                <a:latin typeface="Arial"/>
                <a:ea typeface="Arial"/>
                <a:cs typeface="Arial"/>
                <a:sym typeface="Arial"/>
              </a:rPr>
              <a:t>東京</a:t>
            </a:r>
            <a:endParaRPr sz="1600" b="0" i="0" u="none" strike="noStrike" cap="none" dirty="0">
              <a:solidFill>
                <a:srgbClr val="FFFF00"/>
              </a:solidFill>
              <a:latin typeface="Arial"/>
              <a:ea typeface="Arial"/>
              <a:cs typeface="Arial"/>
              <a:sym typeface="Arial"/>
            </a:endParaRPr>
          </a:p>
        </p:txBody>
      </p:sp>
      <p:sp>
        <p:nvSpPr>
          <p:cNvPr id="1429" name="Google Shape;1429;g3f82b020a63_0_1141"/>
          <p:cNvSpPr/>
          <p:nvPr/>
        </p:nvSpPr>
        <p:spPr>
          <a:xfrm>
            <a:off x="9630754" y="4789270"/>
            <a:ext cx="1008000" cy="215700"/>
          </a:xfrm>
          <a:prstGeom prst="roundRect">
            <a:avLst>
              <a:gd name="adj" fmla="val 50000"/>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30" name="Google Shape;1430;g3f82b020a63_0_1141"/>
          <p:cNvSpPr txBox="1"/>
          <p:nvPr/>
        </p:nvSpPr>
        <p:spPr>
          <a:xfrm>
            <a:off x="9556041" y="5255720"/>
            <a:ext cx="1824599"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FFFF00"/>
                </a:solidFill>
                <a:latin typeface="Arial"/>
                <a:ea typeface="Arial"/>
                <a:cs typeface="Arial"/>
                <a:sym typeface="Arial"/>
              </a:rPr>
              <a:t>夏休み</a:t>
            </a:r>
            <a:endParaRPr sz="2000" b="1" i="0" u="none" strike="noStrike" cap="none">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FFFF00"/>
                </a:solidFill>
                <a:latin typeface="Arial"/>
                <a:ea typeface="Arial"/>
                <a:cs typeface="Arial"/>
                <a:sym typeface="Arial"/>
              </a:rPr>
              <a:t>大型イベント</a:t>
            </a:r>
            <a:endParaRPr sz="2000" b="1" i="0" u="none" strike="noStrike" cap="none">
              <a:solidFill>
                <a:srgbClr val="FFFF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FFFF00"/>
                </a:solidFill>
                <a:latin typeface="Arial"/>
                <a:ea typeface="Arial"/>
                <a:cs typeface="Arial"/>
                <a:sym typeface="Arial"/>
              </a:rPr>
              <a:t>東京・大阪</a:t>
            </a:r>
            <a:endParaRPr sz="1600" b="0" i="0" u="none" strike="noStrike" cap="none">
              <a:solidFill>
                <a:srgbClr val="FFFF00"/>
              </a:solidFill>
              <a:latin typeface="Arial"/>
              <a:ea typeface="Arial"/>
              <a:cs typeface="Arial"/>
              <a:sym typeface="Arial"/>
            </a:endParaRPr>
          </a:p>
        </p:txBody>
      </p:sp>
      <p:cxnSp>
        <p:nvCxnSpPr>
          <p:cNvPr id="1431" name="Google Shape;1431;g3f82b020a63_0_1141"/>
          <p:cNvCxnSpPr>
            <a:stCxn id="1429" idx="1"/>
            <a:endCxn id="1414" idx="0"/>
          </p:cNvCxnSpPr>
          <p:nvPr/>
        </p:nvCxnSpPr>
        <p:spPr>
          <a:xfrm flipH="1">
            <a:off x="8986954" y="4897120"/>
            <a:ext cx="643800" cy="358500"/>
          </a:xfrm>
          <a:prstGeom prst="bentConnector2">
            <a:avLst/>
          </a:prstGeom>
          <a:noFill/>
          <a:ln w="19050" cap="flat" cmpd="sng">
            <a:solidFill>
              <a:srgbClr val="FFFF00"/>
            </a:solidFill>
            <a:prstDash val="solid"/>
            <a:miter lim="80"/>
            <a:headEnd type="none" w="sm" len="sm"/>
            <a:tailEnd type="none" w="sm" len="sm"/>
          </a:ln>
        </p:spPr>
      </p:cxnSp>
      <p:cxnSp>
        <p:nvCxnSpPr>
          <p:cNvPr id="1432" name="Google Shape;1432;g3f82b020a63_0_1141"/>
          <p:cNvCxnSpPr/>
          <p:nvPr/>
        </p:nvCxnSpPr>
        <p:spPr>
          <a:xfrm>
            <a:off x="4550380" y="4995780"/>
            <a:ext cx="0" cy="250800"/>
          </a:xfrm>
          <a:prstGeom prst="straightConnector1">
            <a:avLst/>
          </a:prstGeom>
          <a:noFill/>
          <a:ln w="19050" cap="flat" cmpd="sng">
            <a:solidFill>
              <a:srgbClr val="FFFF00"/>
            </a:solidFill>
            <a:prstDash val="solid"/>
            <a:miter lim="80"/>
            <a:headEnd type="none" w="sm" len="sm"/>
            <a:tailEnd type="none" w="sm" len="sm"/>
          </a:ln>
        </p:spPr>
      </p:cxnSp>
      <p:sp>
        <p:nvSpPr>
          <p:cNvPr id="1433" name="Google Shape;1433;g3f82b020a63_0_1141"/>
          <p:cNvSpPr/>
          <p:nvPr/>
        </p:nvSpPr>
        <p:spPr>
          <a:xfrm>
            <a:off x="4442440" y="2316033"/>
            <a:ext cx="2160000" cy="215700"/>
          </a:xfrm>
          <a:prstGeom prst="roundRect">
            <a:avLst>
              <a:gd name="adj" fmla="val 50000"/>
            </a:avLst>
          </a:prstGeom>
          <a:solidFill>
            <a:srgbClr val="C9EDF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34" name="Google Shape;1434;g3f82b020a63_0_1141"/>
          <p:cNvSpPr/>
          <p:nvPr/>
        </p:nvSpPr>
        <p:spPr>
          <a:xfrm>
            <a:off x="9085208" y="2316033"/>
            <a:ext cx="2160000" cy="215700"/>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p:txBody>
      </p:sp>
      <p:sp>
        <p:nvSpPr>
          <p:cNvPr id="1435" name="Google Shape;1435;g3f82b020a63_0_1141"/>
          <p:cNvSpPr txBox="1"/>
          <p:nvPr/>
        </p:nvSpPr>
        <p:spPr>
          <a:xfrm>
            <a:off x="4668477" y="2563269"/>
            <a:ext cx="18246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dirty="0">
                <a:solidFill>
                  <a:srgbClr val="D9E5F8"/>
                </a:solidFill>
                <a:latin typeface="Arial"/>
                <a:ea typeface="Arial"/>
                <a:cs typeface="Arial"/>
                <a:sym typeface="Arial"/>
              </a:rPr>
              <a:t>派生番組</a:t>
            </a:r>
            <a:endParaRPr sz="2400" b="1" i="0" u="none" strike="noStrike" cap="none" dirty="0">
              <a:solidFill>
                <a:srgbClr val="D9E5F8"/>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D9E5F8"/>
              </a:solidFill>
              <a:latin typeface="Arial"/>
              <a:ea typeface="Arial"/>
              <a:cs typeface="Arial"/>
              <a:sym typeface="Arial"/>
            </a:endParaRPr>
          </a:p>
        </p:txBody>
      </p:sp>
      <p:sp>
        <p:nvSpPr>
          <p:cNvPr id="1436" name="Google Shape;1436;g3f82b020a63_0_1141"/>
          <p:cNvSpPr txBox="1"/>
          <p:nvPr/>
        </p:nvSpPr>
        <p:spPr>
          <a:xfrm>
            <a:off x="9197878" y="2563269"/>
            <a:ext cx="17235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総集編番組</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41"/>
        <p:cNvGrpSpPr/>
        <p:nvPr/>
      </p:nvGrpSpPr>
      <p:grpSpPr>
        <a:xfrm>
          <a:off x="0" y="0"/>
          <a:ext cx="0" cy="0"/>
          <a:chOff x="0" y="0"/>
          <a:chExt cx="0" cy="0"/>
        </a:xfrm>
      </p:grpSpPr>
      <p:sp>
        <p:nvSpPr>
          <p:cNvPr id="1442" name="Google Shape;1442;g3f82b020a63_0_1179"/>
          <p:cNvSpPr/>
          <p:nvPr/>
        </p:nvSpPr>
        <p:spPr>
          <a:xfrm>
            <a:off x="0" y="1057836"/>
            <a:ext cx="12192000" cy="6113700"/>
          </a:xfrm>
          <a:prstGeom prst="roundRect">
            <a:avLst>
              <a:gd name="adj" fmla="val 4536"/>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43" name="Google Shape;1443;g3f82b020a63_0_1179"/>
          <p:cNvSpPr txBox="1">
            <a:spLocks noGrp="1"/>
          </p:cNvSpPr>
          <p:nvPr>
            <p:ph type="sldNum" idx="12"/>
          </p:nvPr>
        </p:nvSpPr>
        <p:spPr>
          <a:xfrm>
            <a:off x="9242110" y="626266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47</a:t>
            </a:fld>
            <a:endParaRPr/>
          </a:p>
        </p:txBody>
      </p:sp>
      <p:sp>
        <p:nvSpPr>
          <p:cNvPr id="1444" name="Google Shape;1444;g3f82b020a63_0_1179"/>
          <p:cNvSpPr txBox="1">
            <a:spLocks noGrp="1"/>
          </p:cNvSpPr>
          <p:nvPr>
            <p:ph type="title"/>
          </p:nvPr>
        </p:nvSpPr>
        <p:spPr>
          <a:xfrm>
            <a:off x="281291" y="218252"/>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ja-JP" b="1">
                <a:latin typeface="Arial"/>
                <a:ea typeface="Arial"/>
                <a:cs typeface="Arial"/>
                <a:sym typeface="Arial"/>
              </a:rPr>
              <a:t>② 勝てる企画づくり</a:t>
            </a:r>
            <a:endParaRPr b="1">
              <a:latin typeface="Arial"/>
              <a:ea typeface="Arial"/>
              <a:cs typeface="Arial"/>
              <a:sym typeface="Arial"/>
            </a:endParaRPr>
          </a:p>
        </p:txBody>
      </p:sp>
      <p:sp>
        <p:nvSpPr>
          <p:cNvPr id="1445" name="Google Shape;1445;g3f82b020a63_0_1179"/>
          <p:cNvSpPr txBox="1"/>
          <p:nvPr/>
        </p:nvSpPr>
        <p:spPr>
          <a:xfrm>
            <a:off x="894329" y="875738"/>
            <a:ext cx="10403400" cy="1791000"/>
          </a:xfrm>
          <a:prstGeom prst="rect">
            <a:avLst/>
          </a:prstGeom>
          <a:noFill/>
          <a:ln>
            <a:noFill/>
          </a:ln>
        </p:spPr>
        <p:txBody>
          <a:bodyPr spcFirstLastPara="1" wrap="square" lIns="91425" tIns="45700" rIns="91425" bIns="45700" anchor="t" anchorCtr="0">
            <a:noAutofit/>
          </a:bodyPr>
          <a:lstStyle/>
          <a:p>
            <a:pPr marL="0" marR="0" lvl="0" indent="0" algn="ctr" rtl="0">
              <a:lnSpc>
                <a:spcPct val="200000"/>
              </a:lnSpc>
              <a:spcBef>
                <a:spcPts val="0"/>
              </a:spcBef>
              <a:spcAft>
                <a:spcPts val="0"/>
              </a:spcAft>
              <a:buClr>
                <a:srgbClr val="FF0000"/>
              </a:buClr>
              <a:buSzPts val="3600"/>
              <a:buFont typeface="Arial"/>
              <a:buNone/>
            </a:pPr>
            <a:r>
              <a:rPr lang="ja-JP" sz="3600" b="1" i="0" u="none" strike="noStrike" cap="none">
                <a:solidFill>
                  <a:srgbClr val="FF0000"/>
                </a:solidFill>
                <a:latin typeface="Arial"/>
                <a:ea typeface="Arial"/>
                <a:cs typeface="Arial"/>
                <a:sym typeface="Arial"/>
              </a:rPr>
              <a:t>新ヒーローは、ウルトラマンゼットの幼馴染</a:t>
            </a:r>
            <a:endParaRPr sz="3600" b="1" i="0" u="none" strike="noStrike" cap="none">
              <a:solidFill>
                <a:srgbClr val="FF0000"/>
              </a:solidFill>
              <a:latin typeface="Arial"/>
              <a:ea typeface="Arial"/>
              <a:cs typeface="Arial"/>
              <a:sym typeface="Arial"/>
            </a:endParaRPr>
          </a:p>
        </p:txBody>
      </p:sp>
      <p:pic>
        <p:nvPicPr>
          <p:cNvPr id="1446" name="Google Shape;1446;g3f82b020a63_0_1179"/>
          <p:cNvPicPr preferRelativeResize="0"/>
          <p:nvPr/>
        </p:nvPicPr>
        <p:blipFill rotWithShape="1">
          <a:blip r:embed="rId3">
            <a:alphaModFix/>
          </a:blip>
          <a:srcRect/>
          <a:stretch/>
        </p:blipFill>
        <p:spPr>
          <a:xfrm>
            <a:off x="594094" y="2114131"/>
            <a:ext cx="1879543" cy="5010213"/>
          </a:xfrm>
          <a:prstGeom prst="rect">
            <a:avLst/>
          </a:prstGeom>
          <a:noFill/>
          <a:ln>
            <a:noFill/>
          </a:ln>
        </p:spPr>
      </p:pic>
      <p:sp>
        <p:nvSpPr>
          <p:cNvPr id="1447" name="Google Shape;1447;g3f82b020a63_0_1179"/>
          <p:cNvSpPr/>
          <p:nvPr/>
        </p:nvSpPr>
        <p:spPr>
          <a:xfrm>
            <a:off x="42247" y="4684904"/>
            <a:ext cx="2983200" cy="699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2000" b="1" i="0" u="none" strike="noStrike" cap="none">
                <a:solidFill>
                  <a:srgbClr val="FF0000"/>
                </a:solidFill>
                <a:latin typeface="Arial"/>
                <a:ea typeface="Arial"/>
                <a:cs typeface="Arial"/>
                <a:sym typeface="Arial"/>
              </a:rPr>
              <a:t>※無断転載・引用禁止※</a:t>
            </a:r>
            <a:endParaRPr sz="2000" b="1" i="0" u="none" strike="noStrike" cap="none">
              <a:solidFill>
                <a:srgbClr val="FF0000"/>
              </a:solidFill>
              <a:latin typeface="Arial"/>
              <a:ea typeface="Arial"/>
              <a:cs typeface="Arial"/>
              <a:sym typeface="Arial"/>
            </a:endParaRPr>
          </a:p>
        </p:txBody>
      </p:sp>
      <p:grpSp>
        <p:nvGrpSpPr>
          <p:cNvPr id="1448" name="Google Shape;1448;g3f82b020a63_0_1179"/>
          <p:cNvGrpSpPr/>
          <p:nvPr/>
        </p:nvGrpSpPr>
        <p:grpSpPr>
          <a:xfrm>
            <a:off x="9551683" y="2542745"/>
            <a:ext cx="1870806" cy="4607643"/>
            <a:chOff x="5801082" y="2012950"/>
            <a:chExt cx="1967199" cy="4845050"/>
          </a:xfrm>
        </p:grpSpPr>
        <p:pic>
          <p:nvPicPr>
            <p:cNvPr id="1449" name="Google Shape;1449;g3f82b020a63_0_1179"/>
            <p:cNvPicPr preferRelativeResize="0"/>
            <p:nvPr/>
          </p:nvPicPr>
          <p:blipFill rotWithShape="1">
            <a:blip r:embed="rId4">
              <a:alphaModFix/>
            </a:blip>
            <a:srcRect/>
            <a:stretch/>
          </p:blipFill>
          <p:spPr>
            <a:xfrm>
              <a:off x="5826482" y="2012950"/>
              <a:ext cx="1941799" cy="4845050"/>
            </a:xfrm>
            <a:prstGeom prst="rect">
              <a:avLst/>
            </a:prstGeom>
            <a:noFill/>
            <a:ln>
              <a:noFill/>
            </a:ln>
          </p:spPr>
        </p:pic>
        <p:sp>
          <p:nvSpPr>
            <p:cNvPr id="1450" name="Google Shape;1450;g3f82b020a63_0_1179"/>
            <p:cNvSpPr/>
            <p:nvPr/>
          </p:nvSpPr>
          <p:spPr>
            <a:xfrm>
              <a:off x="5801082" y="5181600"/>
              <a:ext cx="294900" cy="1168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grpSp>
      <p:grpSp>
        <p:nvGrpSpPr>
          <p:cNvPr id="1451" name="Google Shape;1451;g3f82b020a63_0_1179"/>
          <p:cNvGrpSpPr/>
          <p:nvPr/>
        </p:nvGrpSpPr>
        <p:grpSpPr>
          <a:xfrm>
            <a:off x="6653168" y="2426624"/>
            <a:ext cx="1978320" cy="4723841"/>
            <a:chOff x="3416300" y="2094136"/>
            <a:chExt cx="1978320" cy="4723841"/>
          </a:xfrm>
        </p:grpSpPr>
        <p:pic>
          <p:nvPicPr>
            <p:cNvPr id="1452" name="Google Shape;1452;g3f82b020a63_0_1179"/>
            <p:cNvPicPr preferRelativeResize="0"/>
            <p:nvPr/>
          </p:nvPicPr>
          <p:blipFill rotWithShape="1">
            <a:blip r:embed="rId5">
              <a:alphaModFix/>
            </a:blip>
            <a:srcRect/>
            <a:stretch/>
          </p:blipFill>
          <p:spPr>
            <a:xfrm>
              <a:off x="3441700" y="2182477"/>
              <a:ext cx="1952920" cy="4635500"/>
            </a:xfrm>
            <a:prstGeom prst="rect">
              <a:avLst/>
            </a:prstGeom>
            <a:noFill/>
            <a:ln>
              <a:noFill/>
            </a:ln>
          </p:spPr>
        </p:pic>
        <p:sp>
          <p:nvSpPr>
            <p:cNvPr id="1453" name="Google Shape;1453;g3f82b020a63_0_1179"/>
            <p:cNvSpPr/>
            <p:nvPr/>
          </p:nvSpPr>
          <p:spPr>
            <a:xfrm>
              <a:off x="3416300" y="2094136"/>
              <a:ext cx="661800" cy="396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grpSp>
      <p:grpSp>
        <p:nvGrpSpPr>
          <p:cNvPr id="1454" name="Google Shape;1454;g3f82b020a63_0_1179"/>
          <p:cNvGrpSpPr/>
          <p:nvPr/>
        </p:nvGrpSpPr>
        <p:grpSpPr>
          <a:xfrm>
            <a:off x="3901965" y="2516653"/>
            <a:ext cx="1814535" cy="4607708"/>
            <a:chOff x="8287274" y="2012950"/>
            <a:chExt cx="1860489" cy="4724401"/>
          </a:xfrm>
        </p:grpSpPr>
        <p:pic>
          <p:nvPicPr>
            <p:cNvPr id="1455" name="Google Shape;1455;g3f82b020a63_0_1179"/>
            <p:cNvPicPr preferRelativeResize="0"/>
            <p:nvPr/>
          </p:nvPicPr>
          <p:blipFill rotWithShape="1">
            <a:blip r:embed="rId6">
              <a:alphaModFix/>
            </a:blip>
            <a:srcRect/>
            <a:stretch/>
          </p:blipFill>
          <p:spPr>
            <a:xfrm>
              <a:off x="8287274" y="2012950"/>
              <a:ext cx="1835215" cy="4724401"/>
            </a:xfrm>
            <a:prstGeom prst="rect">
              <a:avLst/>
            </a:prstGeom>
            <a:noFill/>
            <a:ln>
              <a:noFill/>
            </a:ln>
          </p:spPr>
        </p:pic>
        <p:sp>
          <p:nvSpPr>
            <p:cNvPr id="1456" name="Google Shape;1456;g3f82b020a63_0_1179"/>
            <p:cNvSpPr/>
            <p:nvPr/>
          </p:nvSpPr>
          <p:spPr>
            <a:xfrm>
              <a:off x="8287274" y="5003800"/>
              <a:ext cx="272400" cy="123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457" name="Google Shape;1457;g3f82b020a63_0_1179"/>
            <p:cNvSpPr/>
            <p:nvPr/>
          </p:nvSpPr>
          <p:spPr>
            <a:xfrm>
              <a:off x="9875363" y="4876800"/>
              <a:ext cx="272400" cy="1460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458" name="Google Shape;1458;g3f82b020a63_0_1179"/>
            <p:cNvSpPr/>
            <p:nvPr/>
          </p:nvSpPr>
          <p:spPr>
            <a:xfrm>
              <a:off x="9516654" y="2501900"/>
              <a:ext cx="358800" cy="248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grpSp>
      <p:sp>
        <p:nvSpPr>
          <p:cNvPr id="1459" name="Google Shape;1459;g3f82b020a63_0_1179"/>
          <p:cNvSpPr/>
          <p:nvPr/>
        </p:nvSpPr>
        <p:spPr>
          <a:xfrm rot="-5400000">
            <a:off x="2486843" y="3071039"/>
            <a:ext cx="1343400" cy="1321500"/>
          </a:xfrm>
          <a:prstGeom prst="downArrow">
            <a:avLst>
              <a:gd name="adj1" fmla="val 46135"/>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Arial"/>
              <a:ea typeface="Arial"/>
              <a:cs typeface="Arial"/>
              <a:sym typeface="Arial"/>
            </a:endParaRPr>
          </a:p>
        </p:txBody>
      </p:sp>
      <p:sp>
        <p:nvSpPr>
          <p:cNvPr id="1460" name="Google Shape;1460;g3f82b020a63_0_1179"/>
          <p:cNvSpPr/>
          <p:nvPr/>
        </p:nvSpPr>
        <p:spPr>
          <a:xfrm>
            <a:off x="1914946" y="1896182"/>
            <a:ext cx="8362200" cy="570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ja-JP" sz="3200" b="1" i="0" u="none" strike="noStrike" cap="none">
                <a:solidFill>
                  <a:srgbClr val="FF0000"/>
                </a:solidFill>
                <a:latin typeface="Arial"/>
                <a:ea typeface="Arial"/>
                <a:cs typeface="Arial"/>
                <a:sym typeface="Arial"/>
              </a:rPr>
              <a:t>歴代人気の高い “フュージョンヒーロー” </a:t>
            </a:r>
            <a:endParaRPr sz="3200" b="1" i="0" u="none" strike="noStrike" cap="none">
              <a:solidFill>
                <a:srgbClr val="FF0000"/>
              </a:solidFill>
              <a:latin typeface="Arial"/>
              <a:ea typeface="Arial"/>
              <a:cs typeface="Arial"/>
              <a:sym typeface="Arial"/>
            </a:endParaRPr>
          </a:p>
        </p:txBody>
      </p:sp>
      <p:pic>
        <p:nvPicPr>
          <p:cNvPr id="1461" name="Google Shape;1461;g3f82b020a63_0_1179"/>
          <p:cNvPicPr preferRelativeResize="0"/>
          <p:nvPr/>
        </p:nvPicPr>
        <p:blipFill rotWithShape="1">
          <a:blip r:embed="rId7">
            <a:alphaModFix/>
          </a:blip>
          <a:srcRect/>
          <a:stretch/>
        </p:blipFill>
        <p:spPr>
          <a:xfrm>
            <a:off x="4975200"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pic>
        <p:nvPicPr>
          <p:cNvPr id="1462" name="Google Shape;1462;g3f82b020a63_0_1179" descr="ドレスを着た女性のcg&#10;&#10;AI 生成コンテンツは誤りを含む可能性があります。"/>
          <p:cNvPicPr preferRelativeResize="0"/>
          <p:nvPr/>
        </p:nvPicPr>
        <p:blipFill rotWithShape="1">
          <a:blip r:embed="rId8">
            <a:alphaModFix/>
          </a:blip>
          <a:srcRect/>
          <a:stretch/>
        </p:blipFill>
        <p:spPr>
          <a:xfrm>
            <a:off x="3685192" y="5247734"/>
            <a:ext cx="936000" cy="936000"/>
          </a:xfrm>
          <a:prstGeom prst="rect">
            <a:avLst/>
          </a:prstGeom>
          <a:solidFill>
            <a:schemeClr val="lt1"/>
          </a:solidFill>
          <a:ln w="28575" cap="flat" cmpd="sng">
            <a:solidFill>
              <a:srgbClr val="FF0000"/>
            </a:solidFill>
            <a:prstDash val="solid"/>
            <a:round/>
            <a:headEnd type="none" w="sm" len="sm"/>
            <a:tailEnd type="none" w="sm" len="sm"/>
          </a:ln>
        </p:spPr>
      </p:pic>
      <p:pic>
        <p:nvPicPr>
          <p:cNvPr id="1463" name="Google Shape;1463;g3f82b020a63_0_1179" descr="海外発の二人が登場！『大人のためのウルトラマンフェスティバル2019～ナイトミュージアム～』第2弾、第3弾が開催決定！ | SPICE -  エンタメ特化型情報メディア スパイス"/>
          <p:cNvPicPr preferRelativeResize="0"/>
          <p:nvPr/>
        </p:nvPicPr>
        <p:blipFill rotWithShape="1">
          <a:blip r:embed="rId9">
            <a:alphaModFix/>
          </a:blip>
          <a:srcRect/>
          <a:stretch/>
        </p:blipFill>
        <p:spPr>
          <a:xfrm>
            <a:off x="6479396"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pic>
        <p:nvPicPr>
          <p:cNvPr id="1464" name="Google Shape;1464;g3f82b020a63_0_1179" descr="海外発の二人が登場！『大人のためのウルトラマンフェスティバル2019～ナイトミュージアム～』第2弾、第3弾が開催決定！ | SPICE -  エンタメ特化型情報メディア スパイス"/>
          <p:cNvPicPr preferRelativeResize="0"/>
          <p:nvPr/>
        </p:nvPicPr>
        <p:blipFill rotWithShape="1">
          <a:blip r:embed="rId10">
            <a:alphaModFix/>
          </a:blip>
          <a:srcRect/>
          <a:stretch/>
        </p:blipFill>
        <p:spPr>
          <a:xfrm>
            <a:off x="7848970"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pic>
        <p:nvPicPr>
          <p:cNvPr id="1465" name="Google Shape;1465;g3f82b020a63_0_1179" descr="ウルトラマン | ウルトラマンＺ(ゼット)"/>
          <p:cNvPicPr preferRelativeResize="0"/>
          <p:nvPr/>
        </p:nvPicPr>
        <p:blipFill rotWithShape="1">
          <a:blip r:embed="rId11">
            <a:alphaModFix/>
          </a:blip>
          <a:srcRect/>
          <a:stretch/>
        </p:blipFill>
        <p:spPr>
          <a:xfrm>
            <a:off x="10736116"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pic>
        <p:nvPicPr>
          <p:cNvPr id="1466" name="Google Shape;1466;g3f82b020a63_0_1179" descr="ウルトラマンゼロ10周年 THANKS CARAVAN ―― サンクスキャラバン ――"/>
          <p:cNvPicPr preferRelativeResize="0"/>
          <p:nvPr/>
        </p:nvPicPr>
        <p:blipFill rotWithShape="1">
          <a:blip r:embed="rId12">
            <a:alphaModFix/>
          </a:blip>
          <a:srcRect/>
          <a:stretch/>
        </p:blipFill>
        <p:spPr>
          <a:xfrm>
            <a:off x="9369487" y="5247734"/>
            <a:ext cx="936000" cy="936000"/>
          </a:xfrm>
          <a:prstGeom prst="rect">
            <a:avLst/>
          </a:prstGeom>
          <a:solidFill>
            <a:schemeClr val="dk1"/>
          </a:solidFill>
          <a:ln w="28575" cap="flat" cmpd="sng">
            <a:solidFill>
              <a:srgbClr val="FF0000"/>
            </a:solidFill>
            <a:prstDash val="solid"/>
            <a:round/>
            <a:headEnd type="none" w="sm" len="sm"/>
            <a:tailEnd type="none" w="sm" len="sm"/>
          </a:ln>
        </p:spPr>
      </p:pic>
      <p:sp>
        <p:nvSpPr>
          <p:cNvPr id="1467" name="Google Shape;1467;g3f82b020a63_0_1179"/>
          <p:cNvSpPr/>
          <p:nvPr/>
        </p:nvSpPr>
        <p:spPr>
          <a:xfrm>
            <a:off x="3471279"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ティガ</a:t>
            </a:r>
            <a:endParaRPr sz="1400" b="0" i="0" u="none" strike="noStrike" cap="none">
              <a:solidFill>
                <a:srgbClr val="000000"/>
              </a:solidFill>
              <a:latin typeface="Arial"/>
              <a:ea typeface="Arial"/>
              <a:cs typeface="Arial"/>
              <a:sym typeface="Arial"/>
            </a:endParaRPr>
          </a:p>
        </p:txBody>
      </p:sp>
      <p:sp>
        <p:nvSpPr>
          <p:cNvPr id="1468" name="Google Shape;1468;g3f82b020a63_0_1179"/>
          <p:cNvSpPr/>
          <p:nvPr/>
        </p:nvSpPr>
        <p:spPr>
          <a:xfrm>
            <a:off x="4839367"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ギンガ</a:t>
            </a:r>
            <a:endParaRPr sz="1400" b="0" i="0" u="none" strike="noStrike" cap="none">
              <a:solidFill>
                <a:srgbClr val="000000"/>
              </a:solidFill>
              <a:latin typeface="Arial"/>
              <a:ea typeface="Arial"/>
              <a:cs typeface="Arial"/>
              <a:sym typeface="Arial"/>
            </a:endParaRPr>
          </a:p>
        </p:txBody>
      </p:sp>
      <p:sp>
        <p:nvSpPr>
          <p:cNvPr id="1469" name="Google Shape;1469;g3f82b020a63_0_1179"/>
          <p:cNvSpPr/>
          <p:nvPr/>
        </p:nvSpPr>
        <p:spPr>
          <a:xfrm>
            <a:off x="6283655"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パワード</a:t>
            </a:r>
            <a:endParaRPr sz="1400" b="0" i="0" u="none" strike="noStrike" cap="none">
              <a:solidFill>
                <a:srgbClr val="000000"/>
              </a:solidFill>
              <a:latin typeface="Arial"/>
              <a:ea typeface="Arial"/>
              <a:cs typeface="Arial"/>
              <a:sym typeface="Arial"/>
            </a:endParaRPr>
          </a:p>
        </p:txBody>
      </p:sp>
      <p:sp>
        <p:nvSpPr>
          <p:cNvPr id="1470" name="Google Shape;1470;g3f82b020a63_0_1179"/>
          <p:cNvSpPr/>
          <p:nvPr/>
        </p:nvSpPr>
        <p:spPr>
          <a:xfrm>
            <a:off x="7651743"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グレート</a:t>
            </a:r>
            <a:endParaRPr sz="1400" b="0" i="0" u="none" strike="noStrike" cap="none">
              <a:solidFill>
                <a:srgbClr val="000000"/>
              </a:solidFill>
              <a:latin typeface="Arial"/>
              <a:ea typeface="Arial"/>
              <a:cs typeface="Arial"/>
              <a:sym typeface="Arial"/>
            </a:endParaRPr>
          </a:p>
        </p:txBody>
      </p:sp>
      <p:sp>
        <p:nvSpPr>
          <p:cNvPr id="1471" name="Google Shape;1471;g3f82b020a63_0_1179"/>
          <p:cNvSpPr/>
          <p:nvPr/>
        </p:nvSpPr>
        <p:spPr>
          <a:xfrm>
            <a:off x="9143656"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ゼロ</a:t>
            </a:r>
            <a:endParaRPr sz="1400" b="0" i="0" u="none" strike="noStrike" cap="none">
              <a:solidFill>
                <a:srgbClr val="000000"/>
              </a:solidFill>
              <a:latin typeface="Arial"/>
              <a:ea typeface="Arial"/>
              <a:cs typeface="Arial"/>
              <a:sym typeface="Arial"/>
            </a:endParaRPr>
          </a:p>
        </p:txBody>
      </p:sp>
      <p:sp>
        <p:nvSpPr>
          <p:cNvPr id="1472" name="Google Shape;1472;g3f82b020a63_0_1179"/>
          <p:cNvSpPr/>
          <p:nvPr/>
        </p:nvSpPr>
        <p:spPr>
          <a:xfrm>
            <a:off x="10511744" y="4684904"/>
            <a:ext cx="1321500" cy="5931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Arial"/>
                <a:ea typeface="Arial"/>
                <a:cs typeface="Arial"/>
                <a:sym typeface="Arial"/>
              </a:rPr>
              <a:t>ゼット</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77"/>
        <p:cNvGrpSpPr/>
        <p:nvPr/>
      </p:nvGrpSpPr>
      <p:grpSpPr>
        <a:xfrm>
          <a:off x="0" y="0"/>
          <a:ext cx="0" cy="0"/>
          <a:chOff x="0" y="0"/>
          <a:chExt cx="0" cy="0"/>
        </a:xfrm>
      </p:grpSpPr>
      <p:sp>
        <p:nvSpPr>
          <p:cNvPr id="1478" name="Google Shape;1478;g3f82b020a63_0_1214"/>
          <p:cNvSpPr/>
          <p:nvPr/>
        </p:nvSpPr>
        <p:spPr>
          <a:xfrm>
            <a:off x="0" y="1110410"/>
            <a:ext cx="12192000" cy="6113700"/>
          </a:xfrm>
          <a:prstGeom prst="roundRect">
            <a:avLst>
              <a:gd name="adj" fmla="val 4536"/>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479" name="Google Shape;1479;g3f82b020a63_0_1214"/>
          <p:cNvPicPr preferRelativeResize="0"/>
          <p:nvPr/>
        </p:nvPicPr>
        <p:blipFill rotWithShape="1">
          <a:blip r:embed="rId3">
            <a:alphaModFix/>
          </a:blip>
          <a:srcRect/>
          <a:stretch/>
        </p:blipFill>
        <p:spPr>
          <a:xfrm>
            <a:off x="-537574" y="1591980"/>
            <a:ext cx="3868501" cy="5802752"/>
          </a:xfrm>
          <a:prstGeom prst="rect">
            <a:avLst/>
          </a:prstGeom>
          <a:noFill/>
          <a:ln>
            <a:noFill/>
          </a:ln>
        </p:spPr>
      </p:pic>
      <p:sp>
        <p:nvSpPr>
          <p:cNvPr id="1480" name="Google Shape;1480;g3f82b020a63_0_1214"/>
          <p:cNvSpPr txBox="1">
            <a:spLocks noGrp="1"/>
          </p:cNvSpPr>
          <p:nvPr>
            <p:ph type="sldNum" idx="12"/>
          </p:nvPr>
        </p:nvSpPr>
        <p:spPr>
          <a:xfrm>
            <a:off x="9242110" y="626266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48</a:t>
            </a:fld>
            <a:endParaRPr/>
          </a:p>
        </p:txBody>
      </p:sp>
      <p:sp>
        <p:nvSpPr>
          <p:cNvPr id="1481" name="Google Shape;1481;g3f82b020a63_0_1214"/>
          <p:cNvSpPr txBox="1">
            <a:spLocks noGrp="1"/>
          </p:cNvSpPr>
          <p:nvPr>
            <p:ph type="title"/>
          </p:nvPr>
        </p:nvSpPr>
        <p:spPr>
          <a:xfrm>
            <a:off x="281291" y="218252"/>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ja-JP" b="1">
                <a:latin typeface="Arial"/>
                <a:ea typeface="Arial"/>
                <a:cs typeface="Arial"/>
                <a:sym typeface="Arial"/>
              </a:rPr>
              <a:t>② 勝てる企画づくり</a:t>
            </a:r>
            <a:endParaRPr b="1">
              <a:latin typeface="Arial"/>
              <a:ea typeface="Arial"/>
              <a:cs typeface="Arial"/>
              <a:sym typeface="Arial"/>
            </a:endParaRPr>
          </a:p>
        </p:txBody>
      </p:sp>
      <p:sp>
        <p:nvSpPr>
          <p:cNvPr id="1482" name="Google Shape;1482;g3f82b020a63_0_1214"/>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483" name="Google Shape;1483;g3f82b020a63_0_1214"/>
          <p:cNvPicPr preferRelativeResize="0"/>
          <p:nvPr/>
        </p:nvPicPr>
        <p:blipFill rotWithShape="1">
          <a:blip r:embed="rId4">
            <a:alphaModFix/>
          </a:blip>
          <a:srcRect/>
          <a:stretch/>
        </p:blipFill>
        <p:spPr>
          <a:xfrm>
            <a:off x="1747418" y="1562395"/>
            <a:ext cx="3868501" cy="5802753"/>
          </a:xfrm>
          <a:prstGeom prst="rect">
            <a:avLst/>
          </a:prstGeom>
          <a:noFill/>
          <a:ln>
            <a:noFill/>
          </a:ln>
        </p:spPr>
      </p:pic>
      <p:sp>
        <p:nvSpPr>
          <p:cNvPr id="1484" name="Google Shape;1484;g3f82b020a63_0_1214"/>
          <p:cNvSpPr/>
          <p:nvPr/>
        </p:nvSpPr>
        <p:spPr>
          <a:xfrm>
            <a:off x="1785474" y="1280910"/>
            <a:ext cx="8362200" cy="57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ja-JP" sz="4000" b="1" i="0" u="none" strike="noStrike" cap="none">
                <a:solidFill>
                  <a:srgbClr val="FF0000"/>
                </a:solidFill>
                <a:latin typeface="Arial"/>
                <a:ea typeface="Arial"/>
                <a:cs typeface="Arial"/>
                <a:sym typeface="Arial"/>
              </a:rPr>
              <a:t>歴代ヒーロー客演で盛り上げる</a:t>
            </a:r>
            <a:endParaRPr sz="1400" b="0" i="0" u="none" strike="noStrike" cap="none">
              <a:solidFill>
                <a:srgbClr val="000000"/>
              </a:solidFill>
              <a:latin typeface="Arial"/>
              <a:ea typeface="Arial"/>
              <a:cs typeface="Arial"/>
              <a:sym typeface="Arial"/>
            </a:endParaRPr>
          </a:p>
        </p:txBody>
      </p:sp>
      <p:pic>
        <p:nvPicPr>
          <p:cNvPr id="1485" name="Google Shape;1485;g3f82b020a63_0_1214"/>
          <p:cNvPicPr preferRelativeResize="0"/>
          <p:nvPr/>
        </p:nvPicPr>
        <p:blipFill rotWithShape="1">
          <a:blip r:embed="rId5">
            <a:alphaModFix/>
          </a:blip>
          <a:srcRect/>
          <a:stretch/>
        </p:blipFill>
        <p:spPr>
          <a:xfrm>
            <a:off x="6448035" y="1491938"/>
            <a:ext cx="3868501" cy="5802753"/>
          </a:xfrm>
          <a:prstGeom prst="rect">
            <a:avLst/>
          </a:prstGeom>
          <a:noFill/>
          <a:ln>
            <a:noFill/>
          </a:ln>
        </p:spPr>
      </p:pic>
      <p:pic>
        <p:nvPicPr>
          <p:cNvPr id="1486" name="Google Shape;1486;g3f82b020a63_0_1214"/>
          <p:cNvPicPr preferRelativeResize="0"/>
          <p:nvPr/>
        </p:nvPicPr>
        <p:blipFill rotWithShape="1">
          <a:blip r:embed="rId6">
            <a:alphaModFix/>
          </a:blip>
          <a:srcRect/>
          <a:stretch/>
        </p:blipFill>
        <p:spPr>
          <a:xfrm>
            <a:off x="4086492" y="1817800"/>
            <a:ext cx="3868501" cy="5802753"/>
          </a:xfrm>
          <a:prstGeom prst="rect">
            <a:avLst/>
          </a:prstGeom>
          <a:noFill/>
          <a:ln>
            <a:noFill/>
          </a:ln>
        </p:spPr>
      </p:pic>
      <p:pic>
        <p:nvPicPr>
          <p:cNvPr id="1487" name="Google Shape;1487;g3f82b020a63_0_1214"/>
          <p:cNvPicPr preferRelativeResize="0"/>
          <p:nvPr/>
        </p:nvPicPr>
        <p:blipFill rotWithShape="1">
          <a:blip r:embed="rId7">
            <a:alphaModFix/>
          </a:blip>
          <a:srcRect/>
          <a:stretch/>
        </p:blipFill>
        <p:spPr>
          <a:xfrm>
            <a:off x="9467507" y="2104534"/>
            <a:ext cx="2245368" cy="506344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492"/>
        <p:cNvGrpSpPr/>
        <p:nvPr/>
      </p:nvGrpSpPr>
      <p:grpSpPr>
        <a:xfrm>
          <a:off x="0" y="0"/>
          <a:ext cx="0" cy="0"/>
          <a:chOff x="0" y="0"/>
          <a:chExt cx="0" cy="0"/>
        </a:xfrm>
      </p:grpSpPr>
      <p:sp>
        <p:nvSpPr>
          <p:cNvPr id="1493" name="Google Shape;1493;g3f82b020a63_0_1228"/>
          <p:cNvSpPr/>
          <p:nvPr/>
        </p:nvSpPr>
        <p:spPr>
          <a:xfrm>
            <a:off x="0" y="1110410"/>
            <a:ext cx="12192000" cy="6113700"/>
          </a:xfrm>
          <a:prstGeom prst="roundRect">
            <a:avLst>
              <a:gd name="adj" fmla="val 4536"/>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94" name="Google Shape;1494;g3f82b020a63_0_1228"/>
          <p:cNvSpPr txBox="1">
            <a:spLocks noGrp="1"/>
          </p:cNvSpPr>
          <p:nvPr>
            <p:ph type="sldNum" idx="12"/>
          </p:nvPr>
        </p:nvSpPr>
        <p:spPr>
          <a:xfrm>
            <a:off x="9242110" y="626266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49</a:t>
            </a:fld>
            <a:endParaRPr/>
          </a:p>
        </p:txBody>
      </p:sp>
      <p:sp>
        <p:nvSpPr>
          <p:cNvPr id="1495" name="Google Shape;1495;g3f82b020a63_0_1228"/>
          <p:cNvSpPr txBox="1">
            <a:spLocks noGrp="1"/>
          </p:cNvSpPr>
          <p:nvPr>
            <p:ph type="title"/>
          </p:nvPr>
        </p:nvSpPr>
        <p:spPr>
          <a:xfrm>
            <a:off x="281291" y="218252"/>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ja-JP" b="1">
                <a:latin typeface="Arial"/>
                <a:ea typeface="Arial"/>
                <a:cs typeface="Arial"/>
                <a:sym typeface="Arial"/>
              </a:rPr>
              <a:t>② 勝てる企画づくり</a:t>
            </a:r>
            <a:endParaRPr b="1">
              <a:latin typeface="Arial"/>
              <a:ea typeface="Arial"/>
              <a:cs typeface="Arial"/>
              <a:sym typeface="Arial"/>
            </a:endParaRPr>
          </a:p>
        </p:txBody>
      </p:sp>
      <p:sp>
        <p:nvSpPr>
          <p:cNvPr id="1496" name="Google Shape;1496;g3f82b020a63_0_1228"/>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97" name="Google Shape;1497;g3f82b020a63_0_1228"/>
          <p:cNvSpPr/>
          <p:nvPr/>
        </p:nvSpPr>
        <p:spPr>
          <a:xfrm>
            <a:off x="1785474" y="1280910"/>
            <a:ext cx="8362200" cy="57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ja-JP" sz="4000" b="1" i="0" u="none" strike="noStrike" cap="none">
                <a:solidFill>
                  <a:srgbClr val="FF0000"/>
                </a:solidFill>
                <a:latin typeface="Arial"/>
                <a:ea typeface="Arial"/>
                <a:cs typeface="Arial"/>
                <a:sym typeface="Arial"/>
              </a:rPr>
              <a:t>怪獣に登る防衛隊＋味方ロボ</a:t>
            </a:r>
            <a:endParaRPr sz="1400" b="0" i="0" u="none" strike="noStrike" cap="none">
              <a:solidFill>
                <a:srgbClr val="000000"/>
              </a:solidFill>
              <a:latin typeface="Arial"/>
              <a:ea typeface="Arial"/>
              <a:cs typeface="Arial"/>
              <a:sym typeface="Arial"/>
            </a:endParaRPr>
          </a:p>
        </p:txBody>
      </p:sp>
      <p:pic>
        <p:nvPicPr>
          <p:cNvPr id="1498" name="Google Shape;1498;g3f82b020a63_0_1228"/>
          <p:cNvPicPr preferRelativeResize="0"/>
          <p:nvPr/>
        </p:nvPicPr>
        <p:blipFill rotWithShape="1">
          <a:blip r:embed="rId3">
            <a:alphaModFix/>
          </a:blip>
          <a:srcRect/>
          <a:stretch/>
        </p:blipFill>
        <p:spPr>
          <a:xfrm>
            <a:off x="595073" y="1992306"/>
            <a:ext cx="3039666" cy="5189817"/>
          </a:xfrm>
          <a:prstGeom prst="rect">
            <a:avLst/>
          </a:prstGeom>
          <a:noFill/>
          <a:ln>
            <a:noFill/>
          </a:ln>
        </p:spPr>
      </p:pic>
      <p:pic>
        <p:nvPicPr>
          <p:cNvPr id="1499" name="Google Shape;1499;g3f82b020a63_0_1228"/>
          <p:cNvPicPr preferRelativeResize="0"/>
          <p:nvPr/>
        </p:nvPicPr>
        <p:blipFill rotWithShape="1">
          <a:blip r:embed="rId4">
            <a:alphaModFix/>
          </a:blip>
          <a:srcRect/>
          <a:stretch/>
        </p:blipFill>
        <p:spPr>
          <a:xfrm>
            <a:off x="4907278" y="2301854"/>
            <a:ext cx="6331743" cy="4221162"/>
          </a:xfrm>
          <a:prstGeom prst="rect">
            <a:avLst/>
          </a:prstGeom>
          <a:noFill/>
          <a:ln>
            <a:noFill/>
          </a:ln>
        </p:spPr>
      </p:pic>
      <p:sp>
        <p:nvSpPr>
          <p:cNvPr id="1500" name="Google Shape;1500;g3f82b020a63_0_1228"/>
          <p:cNvSpPr/>
          <p:nvPr/>
        </p:nvSpPr>
        <p:spPr>
          <a:xfrm>
            <a:off x="533400" y="1943100"/>
            <a:ext cx="1828800" cy="570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05"/>
        <p:cNvGrpSpPr/>
        <p:nvPr/>
      </p:nvGrpSpPr>
      <p:grpSpPr>
        <a:xfrm>
          <a:off x="0" y="0"/>
          <a:ext cx="0" cy="0"/>
          <a:chOff x="0" y="0"/>
          <a:chExt cx="0" cy="0"/>
        </a:xfrm>
      </p:grpSpPr>
      <p:sp>
        <p:nvSpPr>
          <p:cNvPr id="1506" name="Google Shape;1506;g3f82b020a63_0_1240"/>
          <p:cNvSpPr txBox="1">
            <a:spLocks noGrp="1"/>
          </p:cNvSpPr>
          <p:nvPr>
            <p:ph type="title"/>
          </p:nvPr>
        </p:nvSpPr>
        <p:spPr>
          <a:xfrm>
            <a:off x="299546" y="365125"/>
            <a:ext cx="8876100" cy="75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Meiryo"/>
              <a:buNone/>
            </a:pPr>
            <a:endParaRPr/>
          </a:p>
        </p:txBody>
      </p:sp>
      <p:sp>
        <p:nvSpPr>
          <p:cNvPr id="1507" name="Google Shape;1507;g3f82b020a63_0_1240"/>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lt1"/>
              </a:buClr>
              <a:buSzPts val="2800"/>
              <a:buNone/>
            </a:pPr>
            <a:endParaRPr/>
          </a:p>
        </p:txBody>
      </p:sp>
      <p:sp>
        <p:nvSpPr>
          <p:cNvPr id="1508" name="Google Shape;1508;g3f82b020a63_0_1240"/>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chemeClr val="lt1"/>
              </a:buClr>
              <a:buSzPts val="1200"/>
              <a:buFont typeface="Arial"/>
              <a:buNone/>
            </a:pPr>
            <a:fld id="{00000000-1234-1234-1234-123412341234}" type="slidenum">
              <a:rPr lang="en-US" altLang="ja-JP"/>
              <a:t>50</a:t>
            </a:fld>
            <a:endParaRPr/>
          </a:p>
        </p:txBody>
      </p:sp>
      <p:pic>
        <p:nvPicPr>
          <p:cNvPr id="1509" name="Google Shape;1509;g3f82b020a63_0_1240"/>
          <p:cNvPicPr preferRelativeResize="0"/>
          <p:nvPr/>
        </p:nvPicPr>
        <p:blipFill rotWithShape="1">
          <a:blip r:embed="rId3">
            <a:alphaModFix/>
          </a:blip>
          <a:srcRect/>
          <a:stretch/>
        </p:blipFill>
        <p:spPr>
          <a:xfrm>
            <a:off x="-101600" y="-44241"/>
            <a:ext cx="12338426" cy="691494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14"/>
        <p:cNvGrpSpPr/>
        <p:nvPr/>
      </p:nvGrpSpPr>
      <p:grpSpPr>
        <a:xfrm>
          <a:off x="0" y="0"/>
          <a:ext cx="0" cy="0"/>
          <a:chOff x="0" y="0"/>
          <a:chExt cx="0" cy="0"/>
        </a:xfrm>
      </p:grpSpPr>
      <p:sp>
        <p:nvSpPr>
          <p:cNvPr id="1515" name="Google Shape;1515;g3f82b020a63_0_1248"/>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51</a:t>
            </a:fld>
            <a:endParaRPr/>
          </a:p>
        </p:txBody>
      </p:sp>
      <p:sp>
        <p:nvSpPr>
          <p:cNvPr id="1516" name="Google Shape;1516;g3f82b020a63_0_1248"/>
          <p:cNvSpPr txBox="1">
            <a:spLocks noGrp="1"/>
          </p:cNvSpPr>
          <p:nvPr>
            <p:ph type="title"/>
          </p:nvPr>
        </p:nvSpPr>
        <p:spPr>
          <a:xfrm>
            <a:off x="612648" y="2834640"/>
            <a:ext cx="10972800" cy="91440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ts val="4800"/>
              <a:buFont typeface="Arial"/>
              <a:buNone/>
            </a:pPr>
            <a:r>
              <a:rPr lang="ja-JP" sz="4000" b="1">
                <a:solidFill>
                  <a:srgbClr val="F4F7FD"/>
                </a:solidFill>
                <a:latin typeface="Arial"/>
                <a:ea typeface="Arial"/>
                <a:cs typeface="Arial"/>
                <a:sym typeface="Arial"/>
              </a:rPr>
              <a:t>配信シリーズ</a:t>
            </a:r>
            <a:endParaRPr sz="4800" b="1">
              <a:latin typeface="Arial"/>
              <a:ea typeface="Arial"/>
              <a:cs typeface="Arial"/>
              <a:sym typeface="Arial"/>
            </a:endParaRPr>
          </a:p>
        </p:txBody>
      </p:sp>
      <p:sp>
        <p:nvSpPr>
          <p:cNvPr id="1517" name="Rectangle 1516"/>
          <p:cNvSpPr/>
          <p:nvPr/>
        </p:nvSpPr>
        <p:spPr>
          <a:xfrm>
            <a:off x="5550408" y="3977639"/>
            <a:ext cx="1097280" cy="40640"/>
          </a:xfrm>
          <a:prstGeom prst="rect">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21"/>
        <p:cNvGrpSpPr/>
        <p:nvPr/>
      </p:nvGrpSpPr>
      <p:grpSpPr>
        <a:xfrm>
          <a:off x="0" y="0"/>
          <a:ext cx="0" cy="0"/>
          <a:chOff x="0" y="0"/>
          <a:chExt cx="0" cy="0"/>
        </a:xfrm>
      </p:grpSpPr>
      <p:sp>
        <p:nvSpPr>
          <p:cNvPr id="1522" name="Google Shape;1522;g3f82b020a63_0_1254"/>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52</a:t>
            </a:fld>
            <a:endParaRPr/>
          </a:p>
        </p:txBody>
      </p:sp>
      <p:sp>
        <p:nvSpPr>
          <p:cNvPr id="1523" name="Google Shape;1523;g3f82b020a63_0_1254"/>
          <p:cNvSpPr txBox="1"/>
          <p:nvPr/>
        </p:nvSpPr>
        <p:spPr>
          <a:xfrm>
            <a:off x="415158" y="5534025"/>
            <a:ext cx="11465700" cy="75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400"/>
              <a:buFont typeface="Meiryo"/>
              <a:buNone/>
            </a:pPr>
            <a:endParaRPr sz="2400" b="1" i="0" u="none" strike="noStrike" cap="none">
              <a:solidFill>
                <a:schemeClr val="lt1"/>
              </a:solidFill>
              <a:latin typeface="Arial"/>
              <a:ea typeface="Arial"/>
              <a:cs typeface="Arial"/>
              <a:sym typeface="Arial"/>
            </a:endParaRPr>
          </a:p>
        </p:txBody>
      </p:sp>
      <p:pic>
        <p:nvPicPr>
          <p:cNvPr id="1524" name="Google Shape;1524;g3f82b020a63_0_1254"/>
          <p:cNvPicPr preferRelativeResize="0"/>
          <p:nvPr/>
        </p:nvPicPr>
        <p:blipFill rotWithShape="1">
          <a:blip r:embed="rId3">
            <a:alphaModFix/>
          </a:blip>
          <a:srcRect/>
          <a:stretch/>
        </p:blipFill>
        <p:spPr>
          <a:xfrm>
            <a:off x="3218104" y="68263"/>
            <a:ext cx="5755790" cy="6721475"/>
          </a:xfrm>
          <a:prstGeom prst="rect">
            <a:avLst/>
          </a:prstGeom>
          <a:noFill/>
          <a:ln>
            <a:noFill/>
          </a:ln>
        </p:spPr>
      </p:pic>
      <p:pic>
        <p:nvPicPr>
          <p:cNvPr id="1525" name="Google Shape;1525;g3f82b020a63_0_1254"/>
          <p:cNvPicPr preferRelativeResize="0"/>
          <p:nvPr/>
        </p:nvPicPr>
        <p:blipFill rotWithShape="1">
          <a:blip r:embed="rId4">
            <a:alphaModFix/>
          </a:blip>
          <a:srcRect/>
          <a:stretch/>
        </p:blipFill>
        <p:spPr>
          <a:xfrm>
            <a:off x="95249" y="4794250"/>
            <a:ext cx="3025422" cy="1701800"/>
          </a:xfrm>
          <a:prstGeom prst="rect">
            <a:avLst/>
          </a:prstGeom>
          <a:noFill/>
          <a:ln>
            <a:noFill/>
          </a:ln>
        </p:spPr>
      </p:pic>
      <p:pic>
        <p:nvPicPr>
          <p:cNvPr id="1526" name="Google Shape;1526;g3f82b020a63_0_1254"/>
          <p:cNvPicPr preferRelativeResize="0"/>
          <p:nvPr/>
        </p:nvPicPr>
        <p:blipFill rotWithShape="1">
          <a:blip r:embed="rId5">
            <a:alphaModFix/>
          </a:blip>
          <a:srcRect/>
          <a:stretch/>
        </p:blipFill>
        <p:spPr>
          <a:xfrm>
            <a:off x="8890704" y="4692649"/>
            <a:ext cx="3206046" cy="1803401"/>
          </a:xfrm>
          <a:prstGeom prst="rect">
            <a:avLst/>
          </a:prstGeom>
          <a:noFill/>
          <a:ln>
            <a:noFill/>
          </a:ln>
        </p:spPr>
      </p:pic>
      <p:pic>
        <p:nvPicPr>
          <p:cNvPr id="1527" name="Google Shape;1527;g3f82b020a63_0_1254"/>
          <p:cNvPicPr preferRelativeResize="0"/>
          <p:nvPr/>
        </p:nvPicPr>
        <p:blipFill rotWithShape="1">
          <a:blip r:embed="rId6">
            <a:alphaModFix/>
          </a:blip>
          <a:srcRect/>
          <a:stretch/>
        </p:blipFill>
        <p:spPr>
          <a:xfrm>
            <a:off x="95248" y="184150"/>
            <a:ext cx="3115732" cy="1752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31"/>
        <p:cNvGrpSpPr/>
        <p:nvPr/>
      </p:nvGrpSpPr>
      <p:grpSpPr>
        <a:xfrm>
          <a:off x="0" y="0"/>
          <a:ext cx="0" cy="0"/>
          <a:chOff x="0" y="0"/>
          <a:chExt cx="0" cy="0"/>
        </a:xfrm>
      </p:grpSpPr>
      <p:sp>
        <p:nvSpPr>
          <p:cNvPr id="1532" name="Google Shape;1532;g3f82b020a63_0_1264"/>
          <p:cNvSpPr txBox="1">
            <a:spLocks noGrp="1"/>
          </p:cNvSpPr>
          <p:nvPr>
            <p:ph type="sldNum" idx="12"/>
          </p:nvPr>
        </p:nvSpPr>
        <p:spPr>
          <a:xfrm>
            <a:off x="9291145" y="6356349"/>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53</a:t>
            </a:fld>
            <a:endParaRPr/>
          </a:p>
        </p:txBody>
      </p:sp>
      <p:sp>
        <p:nvSpPr>
          <p:cNvPr id="1533" name="Google Shape;1533;g3f82b020a63_0_1264"/>
          <p:cNvSpPr txBox="1">
            <a:spLocks noGrp="1"/>
          </p:cNvSpPr>
          <p:nvPr>
            <p:ph type="title"/>
          </p:nvPr>
        </p:nvSpPr>
        <p:spPr>
          <a:xfrm>
            <a:off x="1527048" y="3246120"/>
            <a:ext cx="9144000" cy="640080"/>
          </a:xfrm>
          <a:prstGeom prst="rect">
            <a:avLst/>
          </a:prstGeom>
          <a:noFill/>
          <a:ln>
            <a:noFill/>
          </a:ln>
        </p:spPr>
        <p:txBody>
          <a:bodyPr spcFirstLastPara="1" wrap="square" lIns="91425" tIns="45700" rIns="91425" bIns="45700" anchor="ctr" anchorCtr="0"/>
          <a:lstStyle/>
          <a:p>
            <a:pPr marL="0" lvl="0" indent="0" algn="ctr" rtl="0">
              <a:lnSpc>
                <a:spcPct val="90000"/>
              </a:lnSpc>
              <a:spcBef>
                <a:spcPts val="0"/>
              </a:spcBef>
              <a:spcAft>
                <a:spcPts val="0"/>
              </a:spcAft>
              <a:buClr>
                <a:schemeClr val="lt1"/>
              </a:buClr>
              <a:buSzPct val="100000"/>
              <a:buFont typeface="Meiryo"/>
              <a:buNone/>
            </a:pPr>
            <a:r>
              <a:rPr lang="ja-JP" sz="2000" b="0">
                <a:solidFill>
                  <a:srgbClr val="A9B6D2"/>
                </a:solidFill>
              </a:rPr>
              <a:t>映像：これまでの映像纏め、15-30秒目安</a:t>
            </a:r>
            <a:endParaRPr sz="4800" b="1">
              <a:latin typeface="Arial"/>
              <a:ea typeface="Arial"/>
              <a:cs typeface="Arial"/>
              <a:sym typeface="Arial"/>
            </a:endParaRPr>
          </a:p>
        </p:txBody>
      </p:sp>
      <p:sp>
        <p:nvSpPr>
          <p:cNvPr id="1534" name="Isosceles Triangle 1533"/>
          <p:cNvSpPr/>
          <p:nvPr/>
        </p:nvSpPr>
        <p:spPr>
          <a:xfrm rot="5400000">
            <a:off x="5916168" y="2487168"/>
            <a:ext cx="365760" cy="402336"/>
          </a:xfrm>
          <a:prstGeom prst="triangle">
            <a:avLst/>
          </a:prstGeom>
          <a:solidFill>
            <a:srgbClr val="E8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551"/>
        <p:cNvGrpSpPr/>
        <p:nvPr/>
      </p:nvGrpSpPr>
      <p:grpSpPr>
        <a:xfrm>
          <a:off x="0" y="0"/>
          <a:ext cx="0" cy="0"/>
          <a:chOff x="0" y="0"/>
          <a:chExt cx="0" cy="0"/>
        </a:xfrm>
      </p:grpSpPr>
      <p:sp>
        <p:nvSpPr>
          <p:cNvPr id="1552" name="Google Shape;1552;g3f82b020a63_33_285"/>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20|CONTENT × BUSINESS</a:t>
            </a:r>
            <a:endParaRPr sz="1400" b="0" i="0" u="none" strike="noStrike" cap="none">
              <a:solidFill>
                <a:srgbClr val="000000"/>
              </a:solidFill>
              <a:latin typeface="Arial"/>
              <a:ea typeface="Arial"/>
              <a:cs typeface="Arial"/>
              <a:sym typeface="Arial"/>
            </a:endParaRPr>
          </a:p>
        </p:txBody>
      </p:sp>
      <p:sp>
        <p:nvSpPr>
          <p:cNvPr id="1553" name="Google Shape;1553;g3f82b020a63_33_285"/>
          <p:cNvSpPr txBox="1"/>
          <p:nvPr/>
        </p:nvSpPr>
        <p:spPr>
          <a:xfrm>
            <a:off x="502920" y="566928"/>
            <a:ext cx="8732400" cy="4926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作品が、商品化の理由を作る</a:t>
            </a:r>
            <a:endParaRPr sz="2200" b="0" i="0" u="none" strike="noStrike" cap="none">
              <a:solidFill>
                <a:srgbClr val="000000"/>
              </a:solidFill>
              <a:latin typeface="Arial"/>
              <a:ea typeface="Arial"/>
              <a:cs typeface="Arial"/>
              <a:sym typeface="Arial"/>
            </a:endParaRPr>
          </a:p>
        </p:txBody>
      </p:sp>
      <p:sp>
        <p:nvSpPr>
          <p:cNvPr id="1554" name="Google Shape;1554;g3f82b020a63_33_285"/>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55" name="Google Shape;1555;g3f82b020a63_33_285"/>
          <p:cNvSpPr txBox="1"/>
          <p:nvPr/>
        </p:nvSpPr>
        <p:spPr>
          <a:xfrm>
            <a:off x="502920" y="1554480"/>
            <a:ext cx="11183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作品 × 商機マトリクス</a:t>
            </a:r>
            <a:endParaRPr sz="2800" b="0" i="0" u="none" strike="noStrike" cap="none">
              <a:solidFill>
                <a:srgbClr val="000000"/>
              </a:solidFill>
              <a:latin typeface="Arial"/>
              <a:ea typeface="Arial"/>
              <a:cs typeface="Arial"/>
              <a:sym typeface="Arial"/>
            </a:endParaRPr>
          </a:p>
        </p:txBody>
      </p:sp>
      <p:graphicFrame>
        <p:nvGraphicFramePr>
          <p:cNvPr id="1556" name="Google Shape;1556;g3f82b020a63_33_285"/>
          <p:cNvGraphicFramePr/>
          <p:nvPr/>
        </p:nvGraphicFramePr>
        <p:xfrm>
          <a:off x="502920" y="2449225"/>
          <a:ext cx="11155675" cy="2743200"/>
        </p:xfrm>
        <a:graphic>
          <a:graphicData uri="http://schemas.openxmlformats.org/drawingml/2006/table">
            <a:tbl>
              <a:tblPr>
                <a:noFill/>
                <a:tableStyleId>{60C54DC3-C7D6-4BEA-B6AD-80E51AB05D85}</a:tableStyleId>
              </a:tblPr>
              <a:tblGrid>
                <a:gridCol w="2743200">
                  <a:extLst>
                    <a:ext uri="{9D8B030D-6E8A-4147-A177-3AD203B41FA5}">
                      <a16:colId xmlns:a16="http://schemas.microsoft.com/office/drawing/2014/main" val="20000"/>
                    </a:ext>
                  </a:extLst>
                </a:gridCol>
                <a:gridCol w="2926075">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57200">
                <a:tc>
                  <a:txBody>
                    <a:bodyPr/>
                    <a:lstStyle/>
                    <a:p>
                      <a:pPr marL="0" marR="0" lvl="0" indent="0" algn="l" rtl="0">
                        <a:lnSpc>
                          <a:spcPct val="100000"/>
                        </a:lnSpc>
                        <a:spcBef>
                          <a:spcPts val="0"/>
                        </a:spcBef>
                        <a:spcAft>
                          <a:spcPts val="0"/>
                        </a:spcAft>
                        <a:buClr>
                          <a:srgbClr val="000000"/>
                        </a:buClr>
                        <a:buSzPts val="2250"/>
                        <a:buFont typeface="Arial"/>
                        <a:buNone/>
                      </a:pPr>
                      <a:r>
                        <a:rPr lang="ja-JP" sz="2250" b="1" u="none" strike="noStrike" cap="none">
                          <a:solidFill>
                            <a:schemeClr val="lt1"/>
                          </a:solidFill>
                          <a:latin typeface="Arial"/>
                          <a:ea typeface="Arial"/>
                          <a:cs typeface="Arial"/>
                          <a:sym typeface="Arial"/>
                        </a:rPr>
                        <a:t>コンテンツ</a:t>
                      </a:r>
                      <a:endParaRPr sz="2500" b="1" u="none" strike="noStrike" cap="none">
                        <a:solidFill>
                          <a:schemeClr val="lt1"/>
                        </a:solidFill>
                      </a:endParaRPr>
                    </a:p>
                  </a:txBody>
                  <a:tcPr marL="91450" marR="91450" marT="45725" marB="45725" anchor="ctr">
                    <a:solidFill>
                      <a:srgbClr val="A81C18"/>
                    </a:solidFill>
                  </a:tcPr>
                </a:tc>
                <a:tc>
                  <a:txBody>
                    <a:bodyPr/>
                    <a:lstStyle/>
                    <a:p>
                      <a:pPr marL="0" marR="0" lvl="0" indent="0" algn="l" rtl="0">
                        <a:lnSpc>
                          <a:spcPct val="100000"/>
                        </a:lnSpc>
                        <a:spcBef>
                          <a:spcPts val="0"/>
                        </a:spcBef>
                        <a:spcAft>
                          <a:spcPts val="0"/>
                        </a:spcAft>
                        <a:buClr>
                          <a:srgbClr val="000000"/>
                        </a:buClr>
                        <a:buSzPts val="2250"/>
                        <a:buFont typeface="Arial"/>
                        <a:buNone/>
                      </a:pPr>
                      <a:r>
                        <a:rPr lang="ja-JP" sz="2250" b="1" u="none" strike="noStrike" cap="none">
                          <a:solidFill>
                            <a:schemeClr val="lt1"/>
                          </a:solidFill>
                          <a:latin typeface="Arial"/>
                          <a:ea typeface="Arial"/>
                          <a:cs typeface="Arial"/>
                          <a:sym typeface="Arial"/>
                        </a:rPr>
                        <a:t>役割</a:t>
                      </a:r>
                      <a:endParaRPr sz="2500" b="1" u="none" strike="noStrike" cap="none">
                        <a:solidFill>
                          <a:schemeClr val="lt1"/>
                        </a:solidFill>
                      </a:endParaRPr>
                    </a:p>
                  </a:txBody>
                  <a:tcPr marL="91450" marR="91450" marT="45725" marB="45725" anchor="ctr">
                    <a:solidFill>
                      <a:srgbClr val="A81C18"/>
                    </a:solidFill>
                  </a:tcPr>
                </a:tc>
                <a:tc>
                  <a:txBody>
                    <a:bodyPr/>
                    <a:lstStyle/>
                    <a:p>
                      <a:pPr marL="0" marR="0" lvl="0" indent="0" algn="l" rtl="0">
                        <a:lnSpc>
                          <a:spcPct val="100000"/>
                        </a:lnSpc>
                        <a:spcBef>
                          <a:spcPts val="0"/>
                        </a:spcBef>
                        <a:spcAft>
                          <a:spcPts val="0"/>
                        </a:spcAft>
                        <a:buClr>
                          <a:srgbClr val="000000"/>
                        </a:buClr>
                        <a:buSzPts val="2250"/>
                        <a:buFont typeface="Arial"/>
                        <a:buNone/>
                      </a:pPr>
                      <a:r>
                        <a:rPr lang="ja-JP" sz="2250" b="1" u="none" strike="noStrike" cap="none">
                          <a:solidFill>
                            <a:schemeClr val="lt1"/>
                          </a:solidFill>
                          <a:latin typeface="Arial"/>
                          <a:ea typeface="Arial"/>
                          <a:cs typeface="Arial"/>
                          <a:sym typeface="Arial"/>
                        </a:rPr>
                        <a:t>商品化機会</a:t>
                      </a:r>
                      <a:endParaRPr sz="2500" b="1" u="none" strike="noStrike" cap="none">
                        <a:solidFill>
                          <a:schemeClr val="lt1"/>
                        </a:solidFill>
                      </a:endParaRPr>
                    </a:p>
                  </a:txBody>
                  <a:tcPr marL="91450" marR="91450" marT="45725" marB="45725" anchor="ctr">
                    <a:solidFill>
                      <a:srgbClr val="A81C18"/>
                    </a:solidFill>
                  </a:tcPr>
                </a:tc>
                <a:extLst>
                  <a:ext uri="{0D108BD9-81ED-4DB2-BD59-A6C34878D82A}">
                    <a16:rowId xmlns:a16="http://schemas.microsoft.com/office/drawing/2014/main" val="10000"/>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TVシリーズ</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継続接点</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キッズ、文具、玩具</a:t>
                      </a:r>
                      <a:endParaRPr sz="2500" u="none" strike="noStrike" cap="none">
                        <a:solidFill>
                          <a:schemeClr val="lt1"/>
                        </a:solidFill>
                      </a:endParaRPr>
                    </a:p>
                  </a:txBody>
                  <a:tcPr marL="91450" marR="91450" marT="45725" marB="45725" anchor="ctr">
                    <a:solidFill>
                      <a:srgbClr val="0C1730"/>
                    </a:solidFill>
                  </a:tcPr>
                </a:tc>
                <a:extLst>
                  <a:ext uri="{0D108BD9-81ED-4DB2-BD59-A6C34878D82A}">
                    <a16:rowId xmlns:a16="http://schemas.microsoft.com/office/drawing/2014/main" val="10001"/>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映画</a:t>
                      </a:r>
                      <a:endParaRPr sz="2500" u="none" strike="noStrike" cap="none">
                        <a:solidFill>
                          <a:schemeClr val="lt1"/>
                        </a:solidFil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大型話題化</a:t>
                      </a:r>
                      <a:endParaRPr sz="2500" u="none" strike="noStrike" cap="none">
                        <a:solidFill>
                          <a:schemeClr val="lt1"/>
                        </a:solidFil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食品、流通、広告、ホビー</a:t>
                      </a:r>
                      <a:endParaRPr sz="2500" u="none" strike="noStrike" cap="none">
                        <a:solidFill>
                          <a:schemeClr val="lt1"/>
                        </a:solidFill>
                      </a:endParaRPr>
                    </a:p>
                  </a:txBody>
                  <a:tcPr marL="91450" marR="91450" marT="45725" marB="45725" anchor="ctr">
                    <a:solidFill>
                      <a:srgbClr val="111F3E"/>
                    </a:solidFill>
                  </a:tcPr>
                </a:tc>
                <a:extLst>
                  <a:ext uri="{0D108BD9-81ED-4DB2-BD59-A6C34878D82A}">
                    <a16:rowId xmlns:a16="http://schemas.microsoft.com/office/drawing/2014/main" val="10002"/>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配信・YouTube</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コアファン接点</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コレクション、EC、プレミアム</a:t>
                      </a:r>
                      <a:endParaRPr sz="2500" u="none" strike="noStrike" cap="none">
                        <a:solidFill>
                          <a:schemeClr val="lt1"/>
                        </a:solidFill>
                      </a:endParaRPr>
                    </a:p>
                  </a:txBody>
                  <a:tcPr marL="91450" marR="91450" marT="45725" marB="45725" anchor="ctr">
                    <a:solidFill>
                      <a:srgbClr val="0C1730"/>
                    </a:solidFill>
                  </a:tcPr>
                </a:tc>
                <a:extLst>
                  <a:ext uri="{0D108BD9-81ED-4DB2-BD59-A6C34878D82A}">
                    <a16:rowId xmlns:a16="http://schemas.microsoft.com/office/drawing/2014/main" val="10003"/>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イベント</a:t>
                      </a:r>
                      <a:endParaRPr sz="2500" u="none" strike="noStrike" cap="none">
                        <a:solidFill>
                          <a:schemeClr val="lt1"/>
                        </a:solidFil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熱量化</a:t>
                      </a:r>
                      <a:endParaRPr sz="2500" u="none" strike="noStrike" cap="none">
                        <a:solidFill>
                          <a:schemeClr val="lt1"/>
                        </a:solidFil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物販、限定商品、施設集客</a:t>
                      </a:r>
                      <a:endParaRPr sz="2500" u="none" strike="noStrike" cap="none">
                        <a:solidFill>
                          <a:schemeClr val="lt1"/>
                        </a:solidFill>
                      </a:endParaRPr>
                    </a:p>
                  </a:txBody>
                  <a:tcPr marL="91450" marR="91450" marT="45725" marB="45725" anchor="ctr">
                    <a:solidFill>
                      <a:srgbClr val="111F3E"/>
                    </a:solidFill>
                  </a:tcPr>
                </a:tc>
                <a:extLst>
                  <a:ext uri="{0D108BD9-81ED-4DB2-BD59-A6C34878D82A}">
                    <a16:rowId xmlns:a16="http://schemas.microsoft.com/office/drawing/2014/main" val="10004"/>
                  </a:ext>
                </a:extLst>
              </a:tr>
              <a:tr h="457200">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流通</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購買接点</a:t>
                      </a:r>
                      <a:endParaRPr sz="2500" u="none" strike="noStrike" cap="none">
                        <a:solidFill>
                          <a:schemeClr val="lt1"/>
                        </a:solidFil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2250"/>
                        <a:buFont typeface="Arial"/>
                        <a:buNone/>
                      </a:pPr>
                      <a:r>
                        <a:rPr lang="ja-JP" sz="2250" u="none" strike="noStrike" cap="none">
                          <a:solidFill>
                            <a:schemeClr val="lt1"/>
                          </a:solidFill>
                          <a:latin typeface="Arial"/>
                          <a:ea typeface="Arial"/>
                          <a:cs typeface="Arial"/>
                          <a:sym typeface="Arial"/>
                        </a:rPr>
                        <a:t>売場、POPUP、EC</a:t>
                      </a:r>
                      <a:endParaRPr sz="2500" u="none" strike="noStrike" cap="none">
                        <a:solidFill>
                          <a:schemeClr val="lt1"/>
                        </a:solidFill>
                      </a:endParaRPr>
                    </a:p>
                  </a:txBody>
                  <a:tcPr marL="91450" marR="91450" marT="45725" marB="45725" anchor="ctr">
                    <a:solidFill>
                      <a:srgbClr val="0C1730"/>
                    </a:solidFill>
                  </a:tcPr>
                </a:tc>
                <a:extLst>
                  <a:ext uri="{0D108BD9-81ED-4DB2-BD59-A6C34878D82A}">
                    <a16:rowId xmlns:a16="http://schemas.microsoft.com/office/drawing/2014/main" val="10005"/>
                  </a:ext>
                </a:extLst>
              </a:tr>
            </a:tbl>
          </a:graphicData>
        </a:graphic>
      </p:graphicFrame>
      <p:sp>
        <p:nvSpPr>
          <p:cNvPr id="1557" name="Google Shape;1557;g3f82b020a63_33_285"/>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58" name="Google Shape;1558;g3f82b020a63_33_285"/>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59" name="Google Shape;1559;g3f82b020a63_33_285"/>
          <p:cNvSpPr txBox="1"/>
          <p:nvPr/>
        </p:nvSpPr>
        <p:spPr>
          <a:xfrm>
            <a:off x="722376" y="5870448"/>
            <a:ext cx="10744200" cy="5232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800"/>
              <a:buFont typeface="Arial"/>
              <a:buNone/>
            </a:pPr>
            <a:r>
              <a:rPr lang="ja-JP" sz="2800" b="1" i="0" u="none" strike="noStrike" cap="none">
                <a:solidFill>
                  <a:srgbClr val="F4F7FD"/>
                </a:solidFill>
                <a:latin typeface="Arial"/>
                <a:ea typeface="Arial"/>
                <a:cs typeface="Arial"/>
                <a:sym typeface="Arial"/>
              </a:rPr>
              <a:t>作品の話ではなく、皆さまの事業機会の話です。</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000714"/>
        </a:solidFill>
        <a:effectLst/>
      </p:bgPr>
    </p:bg>
    <p:spTree>
      <p:nvGrpSpPr>
        <p:cNvPr id="1" name="Shape 1564"/>
        <p:cNvGrpSpPr/>
        <p:nvPr/>
      </p:nvGrpSpPr>
      <p:grpSpPr>
        <a:xfrm>
          <a:off x="0" y="0"/>
          <a:ext cx="0" cy="0"/>
          <a:chOff x="0" y="0"/>
          <a:chExt cx="0" cy="0"/>
        </a:xfrm>
      </p:grpSpPr>
      <p:sp>
        <p:nvSpPr>
          <p:cNvPr id="1565" name="Google Shape;1565;g3f82b020a63_0_1282"/>
          <p:cNvSpPr txBox="1">
            <a:spLocks noGrp="1"/>
          </p:cNvSpPr>
          <p:nvPr>
            <p:ph type="sldNum" idx="12"/>
          </p:nvPr>
        </p:nvSpPr>
        <p:spPr>
          <a:xfrm>
            <a:off x="9291145"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55</a:t>
            </a:fld>
            <a:endParaRPr/>
          </a:p>
        </p:txBody>
      </p:sp>
      <p:sp>
        <p:nvSpPr>
          <p:cNvPr id="1566" name="Google Shape;1566;g3f82b020a63_0_1282"/>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〇|SCHEDULE</a:t>
            </a:r>
            <a:endParaRPr sz="1100" b="1" i="0" u="none" strike="noStrike" cap="none">
              <a:solidFill>
                <a:srgbClr val="E8382F"/>
              </a:solidFill>
              <a:latin typeface="Arial"/>
              <a:ea typeface="Arial"/>
              <a:cs typeface="Arial"/>
              <a:sym typeface="Arial"/>
            </a:endParaRPr>
          </a:p>
        </p:txBody>
      </p:sp>
      <p:sp>
        <p:nvSpPr>
          <p:cNvPr id="1567" name="Google Shape;1567;g3f82b020a63_0_1282"/>
          <p:cNvSpPr txBox="1"/>
          <p:nvPr/>
        </p:nvSpPr>
        <p:spPr>
          <a:xfrm>
            <a:off x="502920" y="566928"/>
            <a:ext cx="8732400" cy="3693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2400"/>
              <a:buFont typeface="Arial"/>
              <a:buNone/>
            </a:pPr>
            <a:r>
              <a:rPr lang="ja-JP" sz="2400" b="1" i="0" u="none" strike="noStrike" cap="none">
                <a:solidFill>
                  <a:srgbClr val="F4F7FD"/>
                </a:solidFill>
                <a:latin typeface="Arial"/>
                <a:ea typeface="Arial"/>
                <a:cs typeface="Arial"/>
                <a:sym typeface="Arial"/>
              </a:rPr>
              <a:t>マーケティングカレンダー</a:t>
            </a:r>
            <a:endParaRPr sz="2400" b="1" i="0" u="none" strike="noStrike" cap="none">
              <a:solidFill>
                <a:srgbClr val="F4F7FD"/>
              </a:solidFill>
              <a:latin typeface="Arial"/>
              <a:ea typeface="Arial"/>
              <a:cs typeface="Arial"/>
              <a:sym typeface="Arial"/>
            </a:endParaRPr>
          </a:p>
        </p:txBody>
      </p:sp>
      <p:sp>
        <p:nvSpPr>
          <p:cNvPr id="1568" name="Google Shape;1568;g3f82b020a63_0_1282"/>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69" name="Google Shape;1569;g3f82b020a63_0_1282"/>
          <p:cNvSpPr txBox="1"/>
          <p:nvPr/>
        </p:nvSpPr>
        <p:spPr>
          <a:xfrm>
            <a:off x="502920" y="1554480"/>
            <a:ext cx="11183100" cy="2154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400"/>
              <a:buFont typeface="Arial"/>
              <a:buNone/>
            </a:pPr>
            <a:r>
              <a:rPr lang="ja-JP" sz="1400" b="1" i="0" u="none" strike="noStrike" cap="none">
                <a:solidFill>
                  <a:srgbClr val="7FA8E0"/>
                </a:solidFill>
                <a:latin typeface="Arial"/>
                <a:ea typeface="Arial"/>
                <a:cs typeface="Arial"/>
                <a:sym typeface="Arial"/>
              </a:rPr>
              <a:t>円谷プロの作り出す商機</a:t>
            </a:r>
            <a:endParaRPr sz="1400" b="1" i="0" u="none" strike="noStrike" cap="none">
              <a:solidFill>
                <a:srgbClr val="7FA8E0"/>
              </a:solidFill>
              <a:latin typeface="Arial"/>
              <a:ea typeface="Arial"/>
              <a:cs typeface="Arial"/>
              <a:sym typeface="Arial"/>
            </a:endParaRPr>
          </a:p>
        </p:txBody>
      </p:sp>
      <p:graphicFrame>
        <p:nvGraphicFramePr>
          <p:cNvPr id="1570" name="Google Shape;1570;g3f82b020a63_0_1282"/>
          <p:cNvGraphicFramePr/>
          <p:nvPr/>
        </p:nvGraphicFramePr>
        <p:xfrm>
          <a:off x="502920" y="1882454"/>
          <a:ext cx="11415725" cy="3715060"/>
        </p:xfrm>
        <a:graphic>
          <a:graphicData uri="http://schemas.openxmlformats.org/drawingml/2006/table">
            <a:tbl>
              <a:tblPr>
                <a:noFill/>
                <a:tableStyleId>{60C54DC3-C7D6-4BEA-B6AD-80E51AB05D85}</a:tableStyleId>
              </a:tblPr>
              <a:tblGrid>
                <a:gridCol w="635975">
                  <a:extLst>
                    <a:ext uri="{9D8B030D-6E8A-4147-A177-3AD203B41FA5}">
                      <a16:colId xmlns:a16="http://schemas.microsoft.com/office/drawing/2014/main" val="20000"/>
                    </a:ext>
                  </a:extLst>
                </a:gridCol>
                <a:gridCol w="598875">
                  <a:extLst>
                    <a:ext uri="{9D8B030D-6E8A-4147-A177-3AD203B41FA5}">
                      <a16:colId xmlns:a16="http://schemas.microsoft.com/office/drawing/2014/main" val="20001"/>
                    </a:ext>
                  </a:extLst>
                </a:gridCol>
                <a:gridCol w="598875">
                  <a:extLst>
                    <a:ext uri="{9D8B030D-6E8A-4147-A177-3AD203B41FA5}">
                      <a16:colId xmlns:a16="http://schemas.microsoft.com/office/drawing/2014/main" val="20002"/>
                    </a:ext>
                  </a:extLst>
                </a:gridCol>
                <a:gridCol w="598875">
                  <a:extLst>
                    <a:ext uri="{9D8B030D-6E8A-4147-A177-3AD203B41FA5}">
                      <a16:colId xmlns:a16="http://schemas.microsoft.com/office/drawing/2014/main" val="20003"/>
                    </a:ext>
                  </a:extLst>
                </a:gridCol>
                <a:gridCol w="598875">
                  <a:extLst>
                    <a:ext uri="{9D8B030D-6E8A-4147-A177-3AD203B41FA5}">
                      <a16:colId xmlns:a16="http://schemas.microsoft.com/office/drawing/2014/main" val="20004"/>
                    </a:ext>
                  </a:extLst>
                </a:gridCol>
                <a:gridCol w="598875">
                  <a:extLst>
                    <a:ext uri="{9D8B030D-6E8A-4147-A177-3AD203B41FA5}">
                      <a16:colId xmlns:a16="http://schemas.microsoft.com/office/drawing/2014/main" val="20005"/>
                    </a:ext>
                  </a:extLst>
                </a:gridCol>
                <a:gridCol w="598875">
                  <a:extLst>
                    <a:ext uri="{9D8B030D-6E8A-4147-A177-3AD203B41FA5}">
                      <a16:colId xmlns:a16="http://schemas.microsoft.com/office/drawing/2014/main" val="20006"/>
                    </a:ext>
                  </a:extLst>
                </a:gridCol>
                <a:gridCol w="598875">
                  <a:extLst>
                    <a:ext uri="{9D8B030D-6E8A-4147-A177-3AD203B41FA5}">
                      <a16:colId xmlns:a16="http://schemas.microsoft.com/office/drawing/2014/main" val="20007"/>
                    </a:ext>
                  </a:extLst>
                </a:gridCol>
                <a:gridCol w="598875">
                  <a:extLst>
                    <a:ext uri="{9D8B030D-6E8A-4147-A177-3AD203B41FA5}">
                      <a16:colId xmlns:a16="http://schemas.microsoft.com/office/drawing/2014/main" val="20008"/>
                    </a:ext>
                  </a:extLst>
                </a:gridCol>
                <a:gridCol w="598875">
                  <a:extLst>
                    <a:ext uri="{9D8B030D-6E8A-4147-A177-3AD203B41FA5}">
                      <a16:colId xmlns:a16="http://schemas.microsoft.com/office/drawing/2014/main" val="20009"/>
                    </a:ext>
                  </a:extLst>
                </a:gridCol>
                <a:gridCol w="598875">
                  <a:extLst>
                    <a:ext uri="{9D8B030D-6E8A-4147-A177-3AD203B41FA5}">
                      <a16:colId xmlns:a16="http://schemas.microsoft.com/office/drawing/2014/main" val="20010"/>
                    </a:ext>
                  </a:extLst>
                </a:gridCol>
                <a:gridCol w="598875">
                  <a:extLst>
                    <a:ext uri="{9D8B030D-6E8A-4147-A177-3AD203B41FA5}">
                      <a16:colId xmlns:a16="http://schemas.microsoft.com/office/drawing/2014/main" val="20011"/>
                    </a:ext>
                  </a:extLst>
                </a:gridCol>
                <a:gridCol w="598875">
                  <a:extLst>
                    <a:ext uri="{9D8B030D-6E8A-4147-A177-3AD203B41FA5}">
                      <a16:colId xmlns:a16="http://schemas.microsoft.com/office/drawing/2014/main" val="20012"/>
                    </a:ext>
                  </a:extLst>
                </a:gridCol>
                <a:gridCol w="598875">
                  <a:extLst>
                    <a:ext uri="{9D8B030D-6E8A-4147-A177-3AD203B41FA5}">
                      <a16:colId xmlns:a16="http://schemas.microsoft.com/office/drawing/2014/main" val="20013"/>
                    </a:ext>
                  </a:extLst>
                </a:gridCol>
                <a:gridCol w="598875">
                  <a:extLst>
                    <a:ext uri="{9D8B030D-6E8A-4147-A177-3AD203B41FA5}">
                      <a16:colId xmlns:a16="http://schemas.microsoft.com/office/drawing/2014/main" val="20014"/>
                    </a:ext>
                  </a:extLst>
                </a:gridCol>
                <a:gridCol w="598875">
                  <a:extLst>
                    <a:ext uri="{9D8B030D-6E8A-4147-A177-3AD203B41FA5}">
                      <a16:colId xmlns:a16="http://schemas.microsoft.com/office/drawing/2014/main" val="20015"/>
                    </a:ext>
                  </a:extLst>
                </a:gridCol>
                <a:gridCol w="598875">
                  <a:extLst>
                    <a:ext uri="{9D8B030D-6E8A-4147-A177-3AD203B41FA5}">
                      <a16:colId xmlns:a16="http://schemas.microsoft.com/office/drawing/2014/main" val="20016"/>
                    </a:ext>
                  </a:extLst>
                </a:gridCol>
                <a:gridCol w="598875">
                  <a:extLst>
                    <a:ext uri="{9D8B030D-6E8A-4147-A177-3AD203B41FA5}">
                      <a16:colId xmlns:a16="http://schemas.microsoft.com/office/drawing/2014/main" val="20017"/>
                    </a:ext>
                  </a:extLst>
                </a:gridCol>
                <a:gridCol w="598875">
                  <a:extLst>
                    <a:ext uri="{9D8B030D-6E8A-4147-A177-3AD203B41FA5}">
                      <a16:colId xmlns:a16="http://schemas.microsoft.com/office/drawing/2014/main" val="20018"/>
                    </a:ext>
                  </a:extLst>
                </a:gridCol>
              </a:tblGrid>
              <a:tr h="299625">
                <a:tc>
                  <a:txBody>
                    <a:bodyPr/>
                    <a:lstStyle/>
                    <a:p>
                      <a:pPr marL="0" marR="0" lvl="0" indent="0" algn="l" rtl="0">
                        <a:lnSpc>
                          <a:spcPct val="100000"/>
                        </a:lnSpc>
                        <a:spcBef>
                          <a:spcPts val="0"/>
                        </a:spcBef>
                        <a:spcAft>
                          <a:spcPts val="0"/>
                        </a:spcAft>
                        <a:buClr>
                          <a:srgbClr val="000000"/>
                        </a:buClr>
                        <a:buSzPts val="1400"/>
                        <a:buFont typeface="Arial"/>
                        <a:buNone/>
                      </a:pPr>
                      <a:r>
                        <a:rPr lang="ja-JP" sz="1400" b="1" u="none" strike="noStrike" cap="none">
                          <a:solidFill>
                            <a:srgbClr val="F4F7FD"/>
                          </a:solidFill>
                          <a:latin typeface="Arial"/>
                          <a:ea typeface="Arial"/>
                          <a:cs typeface="Arial"/>
                          <a:sym typeface="Arial"/>
                        </a:rPr>
                        <a:t>時期</a:t>
                      </a:r>
                      <a:endParaRPr sz="1400" u="none" strike="noStrike" cap="none"/>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7月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8月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9月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10月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11月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12月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2月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3月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4月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5月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6月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7月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8月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9月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10月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11月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100" b="1" u="none" strike="noStrike" cap="none">
                          <a:solidFill>
                            <a:srgbClr val="F4F7FD"/>
                          </a:solidFill>
                          <a:latin typeface="Arial"/>
                          <a:ea typeface="Arial"/>
                          <a:cs typeface="Arial"/>
                          <a:sym typeface="Arial"/>
                        </a:rPr>
                        <a:t>12月</a:t>
                      </a:r>
                      <a:endParaRPr sz="1100" b="1" u="none" strike="noStrike" cap="none">
                        <a:solidFill>
                          <a:srgbClr val="F4F7FD"/>
                        </a:solidFill>
                        <a:latin typeface="Arial"/>
                        <a:ea typeface="Arial"/>
                        <a:cs typeface="Arial"/>
                        <a:sym typeface="Arial"/>
                      </a:endParaRPr>
                    </a:p>
                  </a:txBody>
                  <a:tcPr marL="91450" marR="91450" marT="45725" marB="45725" anchor="ctr">
                    <a:solidFill>
                      <a:srgbClr val="A81C18"/>
                    </a:solidFill>
                  </a:tcPr>
                </a:tc>
                <a:extLst>
                  <a:ext uri="{0D108BD9-81ED-4DB2-BD59-A6C34878D82A}">
                    <a16:rowId xmlns:a16="http://schemas.microsoft.com/office/drawing/2014/main" val="10000"/>
                  </a:ext>
                </a:extLst>
              </a:tr>
              <a:tr h="1136750">
                <a:tc>
                  <a:txBody>
                    <a:bodyPr/>
                    <a:lstStyle/>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コン</a:t>
                      </a:r>
                      <a:endParaRPr sz="1000" b="1" u="none" strike="noStrike" cap="none">
                        <a:solidFill>
                          <a:srgbClr val="F4F7FD"/>
                        </a:solidFill>
                        <a:latin typeface="Arial"/>
                        <a:ea typeface="Arial"/>
                        <a:cs typeface="Arial"/>
                        <a:sym typeface="Arial"/>
                      </a:endParaRPr>
                    </a:p>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テンツ</a:t>
                      </a:r>
                      <a:endParaRPr sz="1000" b="1" u="none" strike="noStrike" cap="none">
                        <a:solidFill>
                          <a:srgbClr val="F4F7FD"/>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extLst>
                  <a:ext uri="{0D108BD9-81ED-4DB2-BD59-A6C34878D82A}">
                    <a16:rowId xmlns:a16="http://schemas.microsoft.com/office/drawing/2014/main" val="10001"/>
                  </a:ext>
                </a:extLst>
              </a:tr>
              <a:tr h="1136750">
                <a:tc>
                  <a:txBody>
                    <a:bodyPr/>
                    <a:lstStyle/>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イベ</a:t>
                      </a:r>
                      <a:endParaRPr sz="1000" b="1" u="none" strike="noStrike" cap="none">
                        <a:solidFill>
                          <a:srgbClr val="F4F7FD"/>
                        </a:solidFill>
                        <a:latin typeface="Arial"/>
                        <a:ea typeface="Arial"/>
                        <a:cs typeface="Arial"/>
                        <a:sym typeface="Arial"/>
                      </a:endParaRPr>
                    </a:p>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ント</a:t>
                      </a:r>
                      <a:endParaRPr sz="1000" b="1" u="none" strike="noStrike" cap="none">
                        <a:solidFill>
                          <a:srgbClr val="F4F7FD"/>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111F3E"/>
                    </a:solidFill>
                  </a:tcPr>
                </a:tc>
                <a:extLst>
                  <a:ext uri="{0D108BD9-81ED-4DB2-BD59-A6C34878D82A}">
                    <a16:rowId xmlns:a16="http://schemas.microsoft.com/office/drawing/2014/main" val="10002"/>
                  </a:ext>
                </a:extLst>
              </a:tr>
              <a:tr h="1136750">
                <a:tc>
                  <a:txBody>
                    <a:bodyPr/>
                    <a:lstStyle/>
                    <a:p>
                      <a:pPr marL="0" marR="0" lvl="0" indent="0" algn="ctr" rtl="0">
                        <a:lnSpc>
                          <a:spcPct val="110000"/>
                        </a:lnSpc>
                        <a:spcBef>
                          <a:spcPts val="0"/>
                        </a:spcBef>
                        <a:spcAft>
                          <a:spcPts val="0"/>
                        </a:spcAft>
                        <a:buClr>
                          <a:srgbClr val="000000"/>
                        </a:buClr>
                        <a:buSzPts val="1000"/>
                        <a:buFont typeface="Arial"/>
                        <a:buNone/>
                      </a:pPr>
                      <a:r>
                        <a:rPr lang="ja-JP" sz="1000" b="1" u="none" strike="noStrike" cap="none">
                          <a:solidFill>
                            <a:srgbClr val="F4F7FD"/>
                          </a:solidFill>
                          <a:latin typeface="Arial"/>
                          <a:ea typeface="Arial"/>
                          <a:cs typeface="Arial"/>
                          <a:sym typeface="Arial"/>
                        </a:rPr>
                        <a:t>コラボ</a:t>
                      </a:r>
                      <a:endParaRPr sz="1000" b="1" u="none" strike="noStrike" cap="none">
                        <a:solidFill>
                          <a:srgbClr val="F4F7FD"/>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tc>
                  <a:txBody>
                    <a:bodyPr/>
                    <a:lstStyle/>
                    <a:p>
                      <a:pPr marL="0" marR="0" lvl="0" indent="0" algn="l" rtl="0">
                        <a:lnSpc>
                          <a:spcPct val="110000"/>
                        </a:lnSpc>
                        <a:spcBef>
                          <a:spcPts val="0"/>
                        </a:spcBef>
                        <a:spcAft>
                          <a:spcPts val="0"/>
                        </a:spcAft>
                        <a:buClr>
                          <a:srgbClr val="000000"/>
                        </a:buClr>
                        <a:buSzPts val="1600"/>
                        <a:buFont typeface="Arial"/>
                        <a:buNone/>
                      </a:pPr>
                      <a:endParaRPr sz="1600" b="1" u="none" strike="noStrike" cap="none">
                        <a:solidFill>
                          <a:srgbClr val="A9B6D2"/>
                        </a:solidFill>
                        <a:latin typeface="Arial"/>
                        <a:ea typeface="Arial"/>
                        <a:cs typeface="Arial"/>
                        <a:sym typeface="Arial"/>
                      </a:endParaRPr>
                    </a:p>
                  </a:txBody>
                  <a:tcPr marL="91450" marR="91450" marT="45725" marB="45725" anchor="ctr">
                    <a:solidFill>
                      <a:srgbClr val="0C1730"/>
                    </a:solidFill>
                  </a:tcPr>
                </a:tc>
                <a:extLst>
                  <a:ext uri="{0D108BD9-81ED-4DB2-BD59-A6C34878D82A}">
                    <a16:rowId xmlns:a16="http://schemas.microsoft.com/office/drawing/2014/main" val="10003"/>
                  </a:ext>
                </a:extLst>
              </a:tr>
            </a:tbl>
          </a:graphicData>
        </a:graphic>
      </p:graphicFrame>
      <p:sp>
        <p:nvSpPr>
          <p:cNvPr id="1571" name="Google Shape;1571;g3f82b020a63_0_1282"/>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72" name="Google Shape;1572;g3f82b020a63_0_1282"/>
          <p:cNvSpPr txBox="1"/>
          <p:nvPr/>
        </p:nvSpPr>
        <p:spPr>
          <a:xfrm>
            <a:off x="722376" y="5972591"/>
            <a:ext cx="10744200" cy="3078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1" i="0" u="none" strike="noStrike" cap="none">
                <a:solidFill>
                  <a:srgbClr val="F4F7FD"/>
                </a:solidFill>
                <a:latin typeface="Arial"/>
                <a:ea typeface="Arial"/>
                <a:cs typeface="Arial"/>
                <a:sym typeface="Arial"/>
              </a:rPr>
              <a:t>ウルトラマンと共に</a:t>
            </a:r>
            <a:endParaRPr sz="1400" b="1" i="0" u="none" strike="noStrike" cap="none">
              <a:solidFill>
                <a:srgbClr val="F4F7FD"/>
              </a:solidFill>
              <a:latin typeface="Arial"/>
              <a:ea typeface="Arial"/>
              <a:cs typeface="Arial"/>
              <a:sym typeface="Arial"/>
            </a:endParaRPr>
          </a:p>
        </p:txBody>
      </p:sp>
      <p:sp>
        <p:nvSpPr>
          <p:cNvPr id="1573" name="Google Shape;1573;g3f82b020a63_0_1282"/>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574" name="Google Shape;1574;g3f82b020a63_0_1282"/>
          <p:cNvPicPr preferRelativeResize="0"/>
          <p:nvPr/>
        </p:nvPicPr>
        <p:blipFill rotWithShape="1">
          <a:blip r:embed="rId3">
            <a:alphaModFix/>
          </a:blip>
          <a:srcRect/>
          <a:stretch/>
        </p:blipFill>
        <p:spPr>
          <a:xfrm>
            <a:off x="1199241" y="4676826"/>
            <a:ext cx="824189" cy="432699"/>
          </a:xfrm>
          <a:prstGeom prst="rect">
            <a:avLst/>
          </a:prstGeom>
          <a:noFill/>
          <a:ln>
            <a:noFill/>
          </a:ln>
        </p:spPr>
      </p:pic>
      <p:pic>
        <p:nvPicPr>
          <p:cNvPr id="1575" name="Google Shape;1575;g3f82b020a63_0_1282"/>
          <p:cNvPicPr preferRelativeResize="0"/>
          <p:nvPr/>
        </p:nvPicPr>
        <p:blipFill rotWithShape="1">
          <a:blip r:embed="rId4">
            <a:alphaModFix/>
          </a:blip>
          <a:srcRect/>
          <a:stretch/>
        </p:blipFill>
        <p:spPr>
          <a:xfrm>
            <a:off x="1198075" y="3477819"/>
            <a:ext cx="1097768" cy="491575"/>
          </a:xfrm>
          <a:prstGeom prst="rect">
            <a:avLst/>
          </a:prstGeom>
          <a:noFill/>
          <a:ln>
            <a:noFill/>
          </a:ln>
        </p:spPr>
      </p:pic>
      <p:pic>
        <p:nvPicPr>
          <p:cNvPr id="1576" name="Google Shape;1576;g3f82b020a63_0_1282"/>
          <p:cNvPicPr preferRelativeResize="0"/>
          <p:nvPr/>
        </p:nvPicPr>
        <p:blipFill rotWithShape="1">
          <a:blip r:embed="rId5">
            <a:alphaModFix/>
          </a:blip>
          <a:srcRect/>
          <a:stretch/>
        </p:blipFill>
        <p:spPr>
          <a:xfrm>
            <a:off x="1361110" y="3884102"/>
            <a:ext cx="1016231" cy="455063"/>
          </a:xfrm>
          <a:prstGeom prst="rect">
            <a:avLst/>
          </a:prstGeom>
          <a:noFill/>
          <a:ln>
            <a:noFill/>
          </a:ln>
        </p:spPr>
      </p:pic>
      <p:pic>
        <p:nvPicPr>
          <p:cNvPr id="1577" name="Google Shape;1577;g3f82b020a63_0_1282"/>
          <p:cNvPicPr preferRelativeResize="0"/>
          <p:nvPr/>
        </p:nvPicPr>
        <p:blipFill rotWithShape="1">
          <a:blip r:embed="rId6">
            <a:alphaModFix/>
          </a:blip>
          <a:srcRect/>
          <a:stretch/>
        </p:blipFill>
        <p:spPr>
          <a:xfrm>
            <a:off x="8347022" y="3477819"/>
            <a:ext cx="1097768" cy="491575"/>
          </a:xfrm>
          <a:prstGeom prst="rect">
            <a:avLst/>
          </a:prstGeom>
          <a:noFill/>
          <a:ln>
            <a:noFill/>
          </a:ln>
        </p:spPr>
      </p:pic>
      <p:pic>
        <p:nvPicPr>
          <p:cNvPr id="1578" name="Google Shape;1578;g3f82b020a63_0_1282"/>
          <p:cNvPicPr preferRelativeResize="0"/>
          <p:nvPr/>
        </p:nvPicPr>
        <p:blipFill rotWithShape="1">
          <a:blip r:embed="rId7">
            <a:alphaModFix/>
          </a:blip>
          <a:srcRect/>
          <a:stretch/>
        </p:blipFill>
        <p:spPr>
          <a:xfrm>
            <a:off x="8510057" y="3884102"/>
            <a:ext cx="1016231" cy="455063"/>
          </a:xfrm>
          <a:prstGeom prst="rect">
            <a:avLst/>
          </a:prstGeom>
          <a:noFill/>
          <a:ln>
            <a:noFill/>
          </a:ln>
        </p:spPr>
      </p:pic>
      <p:pic>
        <p:nvPicPr>
          <p:cNvPr id="1579" name="Google Shape;1579;g3f82b020a63_0_1282"/>
          <p:cNvPicPr preferRelativeResize="0"/>
          <p:nvPr/>
        </p:nvPicPr>
        <p:blipFill rotWithShape="1">
          <a:blip r:embed="rId8">
            <a:alphaModFix/>
          </a:blip>
          <a:srcRect/>
          <a:stretch/>
        </p:blipFill>
        <p:spPr>
          <a:xfrm>
            <a:off x="1207798" y="5156936"/>
            <a:ext cx="493222" cy="493222"/>
          </a:xfrm>
          <a:prstGeom prst="rect">
            <a:avLst/>
          </a:prstGeom>
          <a:noFill/>
          <a:ln>
            <a:noFill/>
          </a:ln>
        </p:spPr>
      </p:pic>
      <p:sp>
        <p:nvSpPr>
          <p:cNvPr id="1580" name="Google Shape;1580;g3f82b020a63_0_1282"/>
          <p:cNvSpPr/>
          <p:nvPr/>
        </p:nvSpPr>
        <p:spPr>
          <a:xfrm>
            <a:off x="1410741" y="2399939"/>
            <a:ext cx="3570000" cy="217200"/>
          </a:xfrm>
          <a:prstGeom prst="rightArrow">
            <a:avLst>
              <a:gd name="adj1" fmla="val 50000"/>
              <a:gd name="adj2" fmla="val 50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581" name="Google Shape;1581;g3f82b020a63_0_1282"/>
          <p:cNvPicPr preferRelativeResize="0"/>
          <p:nvPr/>
        </p:nvPicPr>
        <p:blipFill rotWithShape="1">
          <a:blip r:embed="rId9">
            <a:alphaModFix/>
          </a:blip>
          <a:srcRect/>
          <a:stretch/>
        </p:blipFill>
        <p:spPr>
          <a:xfrm>
            <a:off x="1212873" y="2771489"/>
            <a:ext cx="838201" cy="471488"/>
          </a:xfrm>
          <a:prstGeom prst="rect">
            <a:avLst/>
          </a:prstGeom>
          <a:noFill/>
          <a:ln>
            <a:noFill/>
          </a:ln>
        </p:spPr>
      </p:pic>
      <p:pic>
        <p:nvPicPr>
          <p:cNvPr id="1582" name="Google Shape;1582;g3f82b020a63_0_1282"/>
          <p:cNvPicPr preferRelativeResize="0"/>
          <p:nvPr/>
        </p:nvPicPr>
        <p:blipFill rotWithShape="1">
          <a:blip r:embed="rId10">
            <a:alphaModFix/>
          </a:blip>
          <a:srcRect/>
          <a:stretch/>
        </p:blipFill>
        <p:spPr>
          <a:xfrm>
            <a:off x="8961628" y="2819073"/>
            <a:ext cx="1346233" cy="389061"/>
          </a:xfrm>
          <a:prstGeom prst="rect">
            <a:avLst/>
          </a:prstGeom>
          <a:noFill/>
          <a:ln>
            <a:noFill/>
          </a:ln>
        </p:spPr>
      </p:pic>
      <p:sp>
        <p:nvSpPr>
          <p:cNvPr id="1583" name="Google Shape;1583;g3f82b020a63_0_1282"/>
          <p:cNvSpPr/>
          <p:nvPr/>
        </p:nvSpPr>
        <p:spPr>
          <a:xfrm>
            <a:off x="9982914" y="3699218"/>
            <a:ext cx="1281600" cy="524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584" name="Google Shape;1584;g3f82b020a63_0_1282"/>
          <p:cNvPicPr preferRelativeResize="0"/>
          <p:nvPr/>
        </p:nvPicPr>
        <p:blipFill rotWithShape="1">
          <a:blip r:embed="rId11">
            <a:alphaModFix/>
          </a:blip>
          <a:srcRect/>
          <a:stretch/>
        </p:blipFill>
        <p:spPr>
          <a:xfrm>
            <a:off x="10095953" y="3581697"/>
            <a:ext cx="1097280" cy="775394"/>
          </a:xfrm>
          <a:prstGeom prst="rect">
            <a:avLst/>
          </a:prstGeom>
          <a:noFill/>
          <a:ln>
            <a:noFill/>
          </a:ln>
        </p:spPr>
      </p:pic>
      <p:pic>
        <p:nvPicPr>
          <p:cNvPr id="1585" name="Google Shape;1585;g3f82b020a63_0_1282"/>
          <p:cNvPicPr preferRelativeResize="0"/>
          <p:nvPr/>
        </p:nvPicPr>
        <p:blipFill rotWithShape="1">
          <a:blip r:embed="rId12">
            <a:alphaModFix/>
          </a:blip>
          <a:srcRect/>
          <a:stretch/>
        </p:blipFill>
        <p:spPr>
          <a:xfrm>
            <a:off x="9006252" y="4862830"/>
            <a:ext cx="1042404" cy="647337"/>
          </a:xfrm>
          <a:prstGeom prst="rect">
            <a:avLst/>
          </a:prstGeom>
          <a:noFill/>
          <a:ln>
            <a:noFill/>
          </a:ln>
        </p:spPr>
      </p:pic>
      <p:pic>
        <p:nvPicPr>
          <p:cNvPr id="1586" name="Google Shape;1586;g3f82b020a63_0_1282"/>
          <p:cNvPicPr preferRelativeResize="0"/>
          <p:nvPr/>
        </p:nvPicPr>
        <p:blipFill rotWithShape="1">
          <a:blip r:embed="rId13">
            <a:alphaModFix/>
          </a:blip>
          <a:srcRect/>
          <a:stretch/>
        </p:blipFill>
        <p:spPr>
          <a:xfrm>
            <a:off x="10125929" y="2273254"/>
            <a:ext cx="927360" cy="519729"/>
          </a:xfrm>
          <a:prstGeom prst="rect">
            <a:avLst/>
          </a:prstGeom>
          <a:noFill/>
          <a:ln>
            <a:noFill/>
          </a:ln>
        </p:spPr>
      </p:pic>
      <p:sp>
        <p:nvSpPr>
          <p:cNvPr id="1587" name="Google Shape;1587;g3f82b020a63_0_1282"/>
          <p:cNvSpPr/>
          <p:nvPr/>
        </p:nvSpPr>
        <p:spPr>
          <a:xfrm>
            <a:off x="11053289" y="2424520"/>
            <a:ext cx="839400" cy="217200"/>
          </a:xfrm>
          <a:prstGeom prst="rightArrow">
            <a:avLst>
              <a:gd name="adj1" fmla="val 50000"/>
              <a:gd name="adj2" fmla="val 50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88" name="Google Shape;1588;g3f82b020a63_0_1282"/>
          <p:cNvSpPr/>
          <p:nvPr/>
        </p:nvSpPr>
        <p:spPr>
          <a:xfrm>
            <a:off x="5753525" y="2388692"/>
            <a:ext cx="4353900" cy="217200"/>
          </a:xfrm>
          <a:prstGeom prst="rightArrow">
            <a:avLst>
              <a:gd name="adj1" fmla="val 50000"/>
              <a:gd name="adj2" fmla="val 50000"/>
            </a:avLst>
          </a:prstGeom>
          <a:solidFill>
            <a:srgbClr val="A81C1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589" name="Google Shape;1589;g3f82b020a63_0_1282"/>
          <p:cNvPicPr preferRelativeResize="0"/>
          <p:nvPr/>
        </p:nvPicPr>
        <p:blipFill rotWithShape="1">
          <a:blip r:embed="rId14">
            <a:alphaModFix/>
          </a:blip>
          <a:srcRect/>
          <a:stretch/>
        </p:blipFill>
        <p:spPr>
          <a:xfrm>
            <a:off x="10407850" y="2824978"/>
            <a:ext cx="1410884" cy="349194"/>
          </a:xfrm>
          <a:prstGeom prst="rect">
            <a:avLst/>
          </a:prstGeom>
          <a:noFill/>
          <a:ln>
            <a:noFill/>
          </a:ln>
        </p:spPr>
      </p:pic>
      <p:pic>
        <p:nvPicPr>
          <p:cNvPr id="1590" name="Google Shape;1590;g3f82b020a63_0_1282" descr="ウルトラヒーローズEXPO 2024 ニューイヤーフェスティバル IN 東京ドームシティ"/>
          <p:cNvPicPr preferRelativeResize="0"/>
          <p:nvPr/>
        </p:nvPicPr>
        <p:blipFill rotWithShape="1">
          <a:blip r:embed="rId15">
            <a:alphaModFix/>
          </a:blip>
          <a:srcRect/>
          <a:stretch/>
        </p:blipFill>
        <p:spPr>
          <a:xfrm>
            <a:off x="4104414" y="3678491"/>
            <a:ext cx="1352462" cy="605792"/>
          </a:xfrm>
          <a:prstGeom prst="rect">
            <a:avLst/>
          </a:prstGeom>
          <a:noFill/>
          <a:ln>
            <a:noFill/>
          </a:ln>
        </p:spPr>
      </p:pic>
      <p:pic>
        <p:nvPicPr>
          <p:cNvPr id="1591" name="Google Shape;1591;g3f82b020a63_0_1282" descr="ウルトラヒーローズEXPO 2024 ニューイヤーフェスティバル IN 東京ドームシティ"/>
          <p:cNvPicPr preferRelativeResize="0"/>
          <p:nvPr/>
        </p:nvPicPr>
        <p:blipFill rotWithShape="1">
          <a:blip r:embed="rId15">
            <a:alphaModFix/>
          </a:blip>
          <a:srcRect/>
          <a:stretch/>
        </p:blipFill>
        <p:spPr>
          <a:xfrm>
            <a:off x="11200559" y="3706628"/>
            <a:ext cx="1055459" cy="472759"/>
          </a:xfrm>
          <a:prstGeom prst="rect">
            <a:avLst/>
          </a:prstGeom>
          <a:noFill/>
          <a:ln>
            <a:noFill/>
          </a:ln>
        </p:spPr>
      </p:pic>
      <p:pic>
        <p:nvPicPr>
          <p:cNvPr id="1592" name="Google Shape;1592;g3f82b020a63_0_1282"/>
          <p:cNvPicPr preferRelativeResize="0"/>
          <p:nvPr/>
        </p:nvPicPr>
        <p:blipFill rotWithShape="1">
          <a:blip r:embed="rId16">
            <a:alphaModFix/>
          </a:blip>
          <a:srcRect/>
          <a:stretch/>
        </p:blipFill>
        <p:spPr>
          <a:xfrm>
            <a:off x="7737699" y="4873591"/>
            <a:ext cx="1131691" cy="636576"/>
          </a:xfrm>
          <a:prstGeom prst="rect">
            <a:avLst/>
          </a:prstGeom>
          <a:noFill/>
          <a:ln>
            <a:noFill/>
          </a:ln>
        </p:spPr>
      </p:pic>
      <p:pic>
        <p:nvPicPr>
          <p:cNvPr id="1593" name="Google Shape;1593;g3f82b020a63_0_1282"/>
          <p:cNvPicPr preferRelativeResize="0"/>
          <p:nvPr/>
        </p:nvPicPr>
        <p:blipFill rotWithShape="1">
          <a:blip r:embed="rId17">
            <a:alphaModFix/>
          </a:blip>
          <a:srcRect/>
          <a:stretch/>
        </p:blipFill>
        <p:spPr>
          <a:xfrm>
            <a:off x="2408882" y="3458076"/>
            <a:ext cx="670922" cy="949612"/>
          </a:xfrm>
          <a:prstGeom prst="rect">
            <a:avLst/>
          </a:prstGeom>
          <a:noFill/>
          <a:ln>
            <a:noFill/>
          </a:ln>
        </p:spPr>
      </p:pic>
      <p:pic>
        <p:nvPicPr>
          <p:cNvPr id="1594" name="Google Shape;1594;g3f82b020a63_0_1282"/>
          <p:cNvPicPr preferRelativeResize="0"/>
          <p:nvPr/>
        </p:nvPicPr>
        <p:blipFill rotWithShape="1">
          <a:blip r:embed="rId18">
            <a:alphaModFix/>
          </a:blip>
          <a:srcRect/>
          <a:stretch/>
        </p:blipFill>
        <p:spPr>
          <a:xfrm>
            <a:off x="5810936" y="3611229"/>
            <a:ext cx="1399698" cy="643306"/>
          </a:xfrm>
          <a:prstGeom prst="rect">
            <a:avLst/>
          </a:prstGeom>
          <a:noFill/>
          <a:ln>
            <a:noFill/>
          </a:ln>
        </p:spPr>
      </p:pic>
      <p:pic>
        <p:nvPicPr>
          <p:cNvPr id="1595" name="Google Shape;1595;g3f82b020a63_0_1282"/>
          <p:cNvPicPr preferRelativeResize="0"/>
          <p:nvPr/>
        </p:nvPicPr>
        <p:blipFill rotWithShape="1">
          <a:blip r:embed="rId19">
            <a:alphaModFix/>
          </a:blip>
          <a:srcRect/>
          <a:stretch/>
        </p:blipFill>
        <p:spPr>
          <a:xfrm>
            <a:off x="6614983" y="4873591"/>
            <a:ext cx="1042404" cy="671232"/>
          </a:xfrm>
          <a:prstGeom prst="rect">
            <a:avLst/>
          </a:prstGeom>
          <a:noFill/>
          <a:ln>
            <a:noFill/>
          </a:ln>
        </p:spPr>
      </p:pic>
      <p:pic>
        <p:nvPicPr>
          <p:cNvPr id="1596" name="Google Shape;1596;g3f82b020a63_0_1282"/>
          <p:cNvPicPr preferRelativeResize="0"/>
          <p:nvPr/>
        </p:nvPicPr>
        <p:blipFill rotWithShape="1">
          <a:blip r:embed="rId20">
            <a:alphaModFix/>
          </a:blip>
          <a:srcRect/>
          <a:stretch/>
        </p:blipFill>
        <p:spPr>
          <a:xfrm>
            <a:off x="2378507" y="4873591"/>
            <a:ext cx="1189038" cy="675726"/>
          </a:xfrm>
          <a:prstGeom prst="rect">
            <a:avLst/>
          </a:prstGeom>
          <a:noFill/>
          <a:ln>
            <a:noFill/>
          </a:ln>
        </p:spPr>
      </p:pic>
      <p:pic>
        <p:nvPicPr>
          <p:cNvPr id="1597" name="Google Shape;1597;g3f82b020a63_0_1282"/>
          <p:cNvPicPr preferRelativeResize="0"/>
          <p:nvPr/>
        </p:nvPicPr>
        <p:blipFill rotWithShape="1">
          <a:blip r:embed="rId21">
            <a:alphaModFix/>
          </a:blip>
          <a:srcRect/>
          <a:stretch/>
        </p:blipFill>
        <p:spPr>
          <a:xfrm>
            <a:off x="3473454" y="3443111"/>
            <a:ext cx="692255" cy="979541"/>
          </a:xfrm>
          <a:prstGeom prst="rect">
            <a:avLst/>
          </a:prstGeom>
          <a:noFill/>
          <a:ln>
            <a:noFill/>
          </a:ln>
        </p:spPr>
      </p:pic>
      <p:pic>
        <p:nvPicPr>
          <p:cNvPr id="1598" name="Google Shape;1598;g3f82b020a63_0_1282"/>
          <p:cNvPicPr preferRelativeResize="0"/>
          <p:nvPr/>
        </p:nvPicPr>
        <p:blipFill rotWithShape="1">
          <a:blip r:embed="rId22">
            <a:alphaModFix/>
          </a:blip>
          <a:srcRect/>
          <a:stretch/>
        </p:blipFill>
        <p:spPr>
          <a:xfrm>
            <a:off x="1207799" y="2257791"/>
            <a:ext cx="876860" cy="493233"/>
          </a:xfrm>
          <a:prstGeom prst="rect">
            <a:avLst/>
          </a:prstGeom>
          <a:noFill/>
          <a:ln>
            <a:noFill/>
          </a:ln>
        </p:spPr>
      </p:pic>
      <p:pic>
        <p:nvPicPr>
          <p:cNvPr id="1599" name="Google Shape;1599;g3f82b020a63_0_1282"/>
          <p:cNvPicPr preferRelativeResize="0"/>
          <p:nvPr/>
        </p:nvPicPr>
        <p:blipFill rotWithShape="1">
          <a:blip r:embed="rId22">
            <a:alphaModFix/>
          </a:blip>
          <a:srcRect/>
          <a:stretch/>
        </p:blipFill>
        <p:spPr>
          <a:xfrm>
            <a:off x="5208382" y="2819073"/>
            <a:ext cx="876860" cy="493233"/>
          </a:xfrm>
          <a:prstGeom prst="rect">
            <a:avLst/>
          </a:prstGeom>
          <a:noFill/>
          <a:ln>
            <a:noFill/>
          </a:ln>
        </p:spPr>
      </p:pic>
      <p:sp>
        <p:nvSpPr>
          <p:cNvPr id="1600" name="Google Shape;1600;g3f82b020a63_0_1282"/>
          <p:cNvSpPr txBox="1"/>
          <p:nvPr/>
        </p:nvSpPr>
        <p:spPr>
          <a:xfrm>
            <a:off x="5274493" y="2381411"/>
            <a:ext cx="502800" cy="26940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1150"/>
              <a:buFont typeface="Arial"/>
              <a:buNone/>
            </a:pPr>
            <a:r>
              <a:rPr lang="ja-JP" sz="1150" b="1" i="0" u="none" strike="noStrike" cap="none">
                <a:solidFill>
                  <a:srgbClr val="F4F7FD"/>
                </a:solidFill>
                <a:latin typeface="Arial"/>
                <a:ea typeface="Arial"/>
                <a:cs typeface="Arial"/>
                <a:sym typeface="Arial"/>
              </a:rPr>
              <a:t>列伝</a:t>
            </a:r>
            <a:endParaRPr sz="1150" b="1" i="0" u="none" strike="noStrike" cap="none">
              <a:solidFill>
                <a:srgbClr val="F4F7FD"/>
              </a:solidFill>
              <a:latin typeface="Arial"/>
              <a:ea typeface="Arial"/>
              <a:cs typeface="Arial"/>
              <a:sym typeface="Arial"/>
            </a:endParaRPr>
          </a:p>
        </p:txBody>
      </p:sp>
      <p:sp>
        <p:nvSpPr>
          <p:cNvPr id="1601" name="Google Shape;1601;g3f82b020a63_0_1282"/>
          <p:cNvSpPr/>
          <p:nvPr/>
        </p:nvSpPr>
        <p:spPr>
          <a:xfrm>
            <a:off x="5531507" y="731095"/>
            <a:ext cx="1428900" cy="914400"/>
          </a:xfrm>
          <a:prstGeom prst="rect">
            <a:avLst/>
          </a:prstGeom>
          <a:solidFill>
            <a:schemeClr val="accent1"/>
          </a:soli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Arial"/>
                <a:ea typeface="Arial"/>
                <a:cs typeface="Arial"/>
                <a:sym typeface="Arial"/>
              </a:rPr>
              <a:t>WIP</a:t>
            </a: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714"/>
        </a:solidFill>
        <a:effectLst/>
      </p:bgPr>
    </p:bg>
    <p:spTree>
      <p:nvGrpSpPr>
        <p:cNvPr id="1" name="Shape 1685"/>
        <p:cNvGrpSpPr/>
        <p:nvPr/>
      </p:nvGrpSpPr>
      <p:grpSpPr>
        <a:xfrm>
          <a:off x="0" y="0"/>
          <a:ext cx="0" cy="0"/>
          <a:chOff x="0" y="0"/>
          <a:chExt cx="0" cy="0"/>
        </a:xfrm>
      </p:grpSpPr>
      <p:sp>
        <p:nvSpPr>
          <p:cNvPr id="1686" name="Google Shape;1686;g3f82b020a63_33_300"/>
          <p:cNvSpPr txBox="1"/>
          <p:nvPr/>
        </p:nvSpPr>
        <p:spPr>
          <a:xfrm>
            <a:off x="502920" y="292608"/>
            <a:ext cx="8732400" cy="1692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100"/>
              <a:buFont typeface="Arial"/>
              <a:buNone/>
            </a:pPr>
            <a:r>
              <a:rPr lang="ja-JP" sz="1100" b="1" i="0" u="none" strike="noStrike" cap="none">
                <a:solidFill>
                  <a:srgbClr val="E8382F"/>
                </a:solidFill>
                <a:latin typeface="Arial"/>
                <a:ea typeface="Arial"/>
                <a:cs typeface="Arial"/>
                <a:sym typeface="Arial"/>
              </a:rPr>
              <a:t>17|START TODAY</a:t>
            </a:r>
            <a:endParaRPr sz="1400" b="0" i="0" u="none" strike="noStrike" cap="none">
              <a:solidFill>
                <a:srgbClr val="000000"/>
              </a:solidFill>
              <a:latin typeface="Arial"/>
              <a:ea typeface="Arial"/>
              <a:cs typeface="Arial"/>
              <a:sym typeface="Arial"/>
            </a:endParaRPr>
          </a:p>
        </p:txBody>
      </p:sp>
      <p:sp>
        <p:nvSpPr>
          <p:cNvPr id="1687" name="Google Shape;1687;g3f82b020a63_33_300"/>
          <p:cNvSpPr txBox="1"/>
          <p:nvPr/>
        </p:nvSpPr>
        <p:spPr>
          <a:xfrm>
            <a:off x="502920" y="566928"/>
            <a:ext cx="8732400" cy="4926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3200"/>
              <a:buFont typeface="Arial"/>
              <a:buNone/>
            </a:pPr>
            <a:r>
              <a:rPr lang="ja-JP" sz="3200" b="1" i="0" u="none" strike="noStrike" cap="none">
                <a:solidFill>
                  <a:srgbClr val="F4F7FD"/>
                </a:solidFill>
                <a:latin typeface="Arial"/>
                <a:ea typeface="Arial"/>
                <a:cs typeface="Arial"/>
                <a:sym typeface="Arial"/>
              </a:rPr>
              <a:t>本日から受付開始</a:t>
            </a:r>
            <a:endParaRPr sz="2200" b="0" i="0" u="none" strike="noStrike" cap="none">
              <a:solidFill>
                <a:srgbClr val="000000"/>
              </a:solidFill>
              <a:latin typeface="Arial"/>
              <a:ea typeface="Arial"/>
              <a:cs typeface="Arial"/>
              <a:sym typeface="Arial"/>
            </a:endParaRPr>
          </a:p>
        </p:txBody>
      </p:sp>
      <p:sp>
        <p:nvSpPr>
          <p:cNvPr id="1688" name="Google Shape;1688;g3f82b020a63_33_300"/>
          <p:cNvSpPr/>
          <p:nvPr/>
        </p:nvSpPr>
        <p:spPr>
          <a:xfrm>
            <a:off x="502920" y="1371600"/>
            <a:ext cx="1097400" cy="405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89" name="Google Shape;1689;g3f82b020a63_33_300"/>
          <p:cNvSpPr txBox="1"/>
          <p:nvPr/>
        </p:nvSpPr>
        <p:spPr>
          <a:xfrm>
            <a:off x="502920" y="1441823"/>
            <a:ext cx="11183100" cy="4311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2800"/>
              <a:buFont typeface="Arial"/>
              <a:buNone/>
            </a:pPr>
            <a:r>
              <a:rPr lang="ja-JP" sz="2800" b="1" i="0" u="none" strike="noStrike" cap="none">
                <a:solidFill>
                  <a:srgbClr val="7FA8E0"/>
                </a:solidFill>
                <a:latin typeface="Arial"/>
                <a:ea typeface="Arial"/>
                <a:cs typeface="Arial"/>
                <a:sym typeface="Arial"/>
              </a:rPr>
              <a:t>個別商談・企画相談、いま登録できます</a:t>
            </a:r>
            <a:endParaRPr sz="2800" b="0" i="0" u="none" strike="noStrike" cap="none">
              <a:solidFill>
                <a:srgbClr val="000000"/>
              </a:solidFill>
              <a:latin typeface="Arial"/>
              <a:ea typeface="Arial"/>
              <a:cs typeface="Arial"/>
              <a:sym typeface="Arial"/>
            </a:endParaRPr>
          </a:p>
        </p:txBody>
      </p:sp>
      <p:sp>
        <p:nvSpPr>
          <p:cNvPr id="1690" name="Google Shape;1690;g3f82b020a63_33_300"/>
          <p:cNvSpPr/>
          <p:nvPr/>
        </p:nvSpPr>
        <p:spPr>
          <a:xfrm>
            <a:off x="4685295" y="1918320"/>
            <a:ext cx="3200400" cy="3200400"/>
          </a:xfrm>
          <a:prstGeom prst="rect">
            <a:avLst/>
          </a:prstGeom>
          <a:noFill/>
          <a:ln w="20300" cap="flat" cmpd="sng">
            <a:solidFill>
              <a:srgbClr val="E8382F"/>
            </a:solidFill>
            <a:prstDash val="dash"/>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93" name="Google Shape;1693;g3f82b020a63_33_300"/>
          <p:cNvSpPr txBox="1"/>
          <p:nvPr/>
        </p:nvSpPr>
        <p:spPr>
          <a:xfrm>
            <a:off x="502919" y="5477677"/>
            <a:ext cx="10966705" cy="384721"/>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rgbClr val="000000"/>
              </a:buClr>
              <a:buSzPts val="1250"/>
              <a:buFont typeface="Arial"/>
              <a:buNone/>
            </a:pPr>
            <a:r>
              <a:rPr lang="ja-JP" sz="2000" b="1" i="0" u="none" strike="noStrike" cap="none" dirty="0">
                <a:solidFill>
                  <a:srgbClr val="F4F7FD"/>
                </a:solidFill>
                <a:latin typeface="Arial"/>
                <a:ea typeface="Arial"/>
                <a:cs typeface="Arial"/>
                <a:sym typeface="Arial"/>
              </a:rPr>
              <a:t>QR登録 → 担当者連絡(1週間以内)→ 個別商談 → 素材共有 → 企画検討</a:t>
            </a:r>
            <a:endParaRPr sz="2400" b="0" i="0" u="none" strike="noStrike" cap="none" dirty="0">
              <a:solidFill>
                <a:srgbClr val="000000"/>
              </a:solidFill>
              <a:latin typeface="Arial"/>
              <a:ea typeface="Arial"/>
              <a:cs typeface="Arial"/>
              <a:sym typeface="Arial"/>
            </a:endParaRPr>
          </a:p>
        </p:txBody>
      </p:sp>
      <p:sp>
        <p:nvSpPr>
          <p:cNvPr id="1694" name="Google Shape;1694;g3f82b020a63_33_300"/>
          <p:cNvSpPr/>
          <p:nvPr/>
        </p:nvSpPr>
        <p:spPr>
          <a:xfrm>
            <a:off x="502920" y="5870448"/>
            <a:ext cx="11183100" cy="512100"/>
          </a:xfrm>
          <a:prstGeom prst="rect">
            <a:avLst/>
          </a:prstGeom>
          <a:solidFill>
            <a:srgbClr val="0C1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95" name="Google Shape;1695;g3f82b020a63_33_300"/>
          <p:cNvSpPr/>
          <p:nvPr/>
        </p:nvSpPr>
        <p:spPr>
          <a:xfrm>
            <a:off x="502920" y="5870448"/>
            <a:ext cx="50700" cy="512100"/>
          </a:xfrm>
          <a:prstGeom prst="rect">
            <a:avLst/>
          </a:prstGeom>
          <a:solidFill>
            <a:srgbClr val="E838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96" name="Google Shape;1696;g3f82b020a63_33_300"/>
          <p:cNvSpPr txBox="1"/>
          <p:nvPr/>
        </p:nvSpPr>
        <p:spPr>
          <a:xfrm>
            <a:off x="722375" y="5870450"/>
            <a:ext cx="11247600" cy="492600"/>
          </a:xfrm>
          <a:prstGeom prst="rect">
            <a:avLst/>
          </a:prstGeom>
          <a:noFill/>
          <a:ln>
            <a:noFill/>
          </a:ln>
        </p:spPr>
        <p:txBody>
          <a:bodyPr spcFirstLastPara="1" wrap="square" lIns="0" tIns="45700" rIns="0" bIns="45700" anchor="ctr" anchorCtr="0">
            <a:sp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rgbClr val="F4F7FD"/>
                </a:solidFill>
                <a:latin typeface="Arial"/>
                <a:ea typeface="Arial"/>
                <a:cs typeface="Arial"/>
                <a:sym typeface="Arial"/>
              </a:rPr>
              <a:t>早期にご相談いただいた企業様から、具体的な企画検討を進めます。</a:t>
            </a:r>
            <a:endParaRPr sz="2600" b="0" i="0" u="none" strike="noStrike" cap="none">
              <a:solidFill>
                <a:srgbClr val="000000"/>
              </a:solidFill>
              <a:latin typeface="Arial"/>
              <a:ea typeface="Arial"/>
              <a:cs typeface="Arial"/>
              <a:sym typeface="Arial"/>
            </a:endParaRPr>
          </a:p>
        </p:txBody>
      </p:sp>
      <p:sp>
        <p:nvSpPr>
          <p:cNvPr id="1697" name="Google Shape;1697;g3f82b020a63_33_300"/>
          <p:cNvSpPr/>
          <p:nvPr/>
        </p:nvSpPr>
        <p:spPr>
          <a:xfrm>
            <a:off x="4685295" y="1918320"/>
            <a:ext cx="3200400" cy="3200400"/>
          </a:xfrm>
          <a:prstGeom prst="roundRect">
            <a:avLst>
              <a:gd name="adj" fmla="val 12000"/>
            </a:avLst>
          </a:prstGeom>
          <a:solidFill>
            <a:srgbClr val="0C1730"/>
          </a:solidFill>
          <a:ln w="13950" cap="flat" cmpd="sng">
            <a:solidFill>
              <a:srgbClr val="E8382F"/>
            </a:solidFill>
            <a:prstDash val="dash"/>
            <a:miter lim="80"/>
            <a:headEnd type="none" w="sm" len="sm"/>
            <a:tailEnd type="none" w="sm" len="sm"/>
          </a:ln>
        </p:spPr>
        <p:txBody>
          <a:bodyPr spcFirstLastPara="1" wrap="square" lIns="73150" tIns="45700" rIns="73150" bIns="45700"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ja-JP" sz="1400" b="1" i="0" u="none" strike="noStrike" cap="none">
                <a:solidFill>
                  <a:srgbClr val="F4F7FD"/>
                </a:solidFill>
                <a:latin typeface="Arial"/>
                <a:ea typeface="Arial"/>
                <a:cs typeface="Arial"/>
                <a:sym typeface="Arial"/>
              </a:rPr>
              <a:t>QRコード</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ja-JP" sz="1100" b="0" i="0" u="none" strike="noStrike" cap="none">
                <a:solidFill>
                  <a:srgbClr val="A9B6D2"/>
                </a:solidFill>
                <a:latin typeface="Arial"/>
                <a:ea typeface="Arial"/>
                <a:cs typeface="Arial"/>
                <a:sym typeface="Arial"/>
              </a:rPr>
              <a:t>本番URL発行後に差し替え(7/18)</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699</TotalTime>
  <Words>5641</Words>
  <Application>Microsoft Office PowerPoint</Application>
  <PresentationFormat>ワイド画面</PresentationFormat>
  <Paragraphs>640</Paragraphs>
  <Slides>56</Slides>
  <Notes>56</Notes>
  <HiddenSlides>2</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56</vt:i4>
      </vt:variant>
    </vt:vector>
  </HeadingPairs>
  <TitlesOfParts>
    <vt:vector size="61" baseType="lpstr">
      <vt:lpstr>Calibri</vt:lpstr>
      <vt:lpstr>Noto Sans JP</vt:lpstr>
      <vt:lpstr>Meiryo</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ウルトラマンテオ</vt:lpstr>
      <vt:lpstr>PowerPoint プレゼンテーション</vt:lpstr>
      <vt:lpstr>映像投影・既存の放送中spot15秒 </vt:lpstr>
      <vt:lpstr>PowerPoint プレゼンテーション</vt:lpstr>
      <vt:lpstr>PowerPoint プレゼンテーション</vt:lpstr>
      <vt:lpstr>映画 ULTRAMAN ZERO</vt:lpstr>
      <vt:lpstr>2009から現在</vt:lpstr>
      <vt:lpstr>幅広いファン層を持つ『ゼロ』</vt:lpstr>
      <vt:lpstr>PowerPoint プレゼンテーション</vt:lpstr>
      <vt:lpstr>2027年8月27日　全国250館規模で公開！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2027年 新テレビシリーズ</vt:lpstr>
      <vt:lpstr>映像30秒</vt:lpstr>
      <vt:lpstr>全力で勝ちに行く</vt:lpstr>
      <vt:lpstr>① 放送サイクルの刷新</vt:lpstr>
      <vt:lpstr>② 勝てる企画づくり</vt:lpstr>
      <vt:lpstr>② 勝てる企画づくり</vt:lpstr>
      <vt:lpstr>② 勝てる企画づくり</vt:lpstr>
      <vt:lpstr>PowerPoint プレゼンテーション</vt:lpstr>
      <vt:lpstr>配信シリーズ</vt:lpstr>
      <vt:lpstr>PowerPoint プレゼンテーション</vt:lpstr>
      <vt:lpstr>映像：これまでの映像纏め、15-30秒目安</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穴井 葉子</dc:creator>
  <cp:lastModifiedBy>森 和博</cp:lastModifiedBy>
  <cp:revision>7</cp:revision>
  <dcterms:created xsi:type="dcterms:W3CDTF">2026-07-13T00:49:07Z</dcterms:created>
  <dcterms:modified xsi:type="dcterms:W3CDTF">2026-07-18T02:48:33Z</dcterms:modified>
</cp:coreProperties>
</file>