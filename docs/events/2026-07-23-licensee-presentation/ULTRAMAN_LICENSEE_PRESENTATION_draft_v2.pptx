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(タイトル表示のみ。MCオープニングへ)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単なる作品紹介ではありません。2027年度以降、ウルトラマンを皆さまの商品・売場・キャンペーンにどう活用いただけるか、その商機を共有する場です。最後に個別商談のご案内もありますので、ぜひ「自社ならこう使える」という視点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いまご覧いただいた熱量は、ステージの中だけで終わるものではありません。商品に、売場に、キャンペーンに、そして生活者との毎日の接点に変わっていきます。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60周年はすでに動き出しています。イベント、商品化、コラボ、流通。この盛り上がりは今年で終わるものではなく、2027年度以降につながっていきます。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強みは、単なるリーチの広さではありません。年間約70万〜100万人規模のリアル接点を通じて、“直接会いに来るファン”との濃い関係を持っていることです。※「100万人に届きます」という単独リーチ表現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2027年度以降、ウルトラマンは単発の作品展開ではなく、テレビ、映画、イベント、YouTube、流通、IPコラボを連動させた“面の展開”に入ります。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ここからは、2027年度以降のコンテンツ展開を3つの柱でご説明します。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テレビシリーズでは、キャラクターや世界観の継続性をより重視し、ファンが次の展開を追い続けたくなる構造を強化していきます。【NG】「3年連続で同じ世界線」「テレビ局が変わるかも」には一切触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映画館、配信、イベント、商品化を連動させ、作品接点を売場・キャンペーンに接続していきます。特に食品、外食、流通、アパレル、広告の皆さまには、映画のタイミングでご一緒できる企画をご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・配信領域では、幅広いヒーローとキャラクターを活用し、コアファンにも新規層にも届く接点を再強化します。ライセンシーの皆さまにとっては、歴代ヒーローや怪獣まで横断的に使える、企画自由度の高い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ウルトラマンには“直接会いに来るファン”がいます。この熱量あるリアル接点が、商品購買や店舗送客に直結します。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ご覧の通り、2027年度以降は年間を通じて山場が続きます。商品開発のリードタイムを考えると、2027年度の山場に間に合わせるには、今から企画に入っていただくのがベストタイミングです。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ここからは、各カテゴリーの皆さまと一緒に、具体的な商品化・販促企画を作っていきたいと考えています。「うちならこう作れる」という目線でご覧ください。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映画・イベントの山場と店頭を連動させる企画を、ぜひご一緒させてください。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イベント会場の周辺送客や、映画公開期のファミリー需要の取り込みにご活用いただけます。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怪獣デザインやストリート系まで展開できます。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ファンの日常に入り込む雑貨・生活用品は、継続的な売上を作れる領域です。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ウルトラマンのテーマは、教育・文具領域と本質的に相性が良いものです。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ウルトラマートやPOPUPと連動した売場企画を、流通・小売の皆さまとご一緒したいと考えています。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ファミリー、地域、周年など、課題起点でのご相談を歓迎します。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60周年では、異なるファン層・異なる売場に向けて、すでに多様なコラボが動いています。※実績(このスライド)と今後の機会(次)を必ず分ける。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ここからは、皆さまと一緒に商品化・売場化していきたい領域です。(サンリオ開示可の場合)サンリオコラボ実現時には、両IPの魅力を活かした商品化・売場展開をライセンシーの皆さまと広げていきます。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ウルトラマンの商品を売る場所を、円谷側でも増やしていきます。だから、商品化したものを展開できる場が広がっています。「作っても売る場所があるのか」という不安には、売場ごとお応えします。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コンテンツ展開に合わせて、ライセンシーの皆さまがすぐ企画化できるよう、カテゴリー別のスタイルガイドと素材提供体制を整えていきます。「素材がある」ではなく「企画しやすいように、カテゴリー別に使える形にしてある」——ここ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企画提出から承認までの流れを標準化しています。個別商談では、NDAのうえでさらに詳細な素材をご覧いただけます。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以上のテーマで、いま企画を募集しています。「この枠に自社が入れるか」という段階からのご相談で構いません。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お手元の資料とこちらのQRコードから、個別商談をご予約いただけます。カテゴリーごとに担当がついてご相談を承ります。【運営】QRは後方からも読めるサイズで最低30秒表示。次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今、企画に入る企業が、2027年度以降のウルトラマンの売場とキャンペーンを先に作ることができます。ぜひ本日を起点に、個別にご相談ください。本日はありがとうございました。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20116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ライセンシー・パートナー企業の皆さまへ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ULTRAMAN LICENSEE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2027年度以降の商機を、いま一緒につくる。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― 作品・イベント・流通・商品化が連動する「年間型IP」へ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64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2026年7月23日|ウルサマ イベントステージ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38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本資料は当日投影用ドラフトです。2027年度以降の展開に関する記述は、開示可能範囲の確定(7/14構成確認会)後に最終化します。未確定情報・NDA対象情報は含みません。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02|オープニング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2027(ドラフト)|オープニング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本日は「作品発表会」ではない――2027年度以降の商機を、持ち帰っていただく場である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担当者の皆さまが社内に持ち帰り、「これは商品化したい」と言える材料をお渡しする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本日の位置づけ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2027年度以降のウルトラマン展開を、パートナー企業の皆さまに共有する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商品化・販促・広告タイアップ・流通施策の商機を、具体的な企画例とともにご提案する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本日のゴール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「すごかった」ではなく、「うちも作りたい。相談したい」で終わる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本日の終わりに、個別商談のご予約・企画相談の導線をご案内する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お願い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ぜひ「自社ならこう使える」という視点でお聞きください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03|オープニング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2027(ドラフト)|オープニング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いまの熱量が、商品と売場に変わる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いまご覧いただいた熱量は、ステージの中だけで終わるものではありません。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商品に、売場に、キャンペーンに変わっていきます。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――生活者との毎日の接点へ。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04|60周年の現在地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2027(ドラフト)|60周年の現在地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60周年は、もう始まっている――イベント・商品化・コラボ・流通がすでに動いている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異なるファン層・異なる売場に向けた展開が、同時並行で進行中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国内外イベント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ウルサマ/ライブ/展覧会/ヒーローショー/グリーティング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2148840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商品化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食品・アパレル・雑貨・玩具・文具・コレクション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21608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397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IPコラボ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モフサンド、ベイブレード ほか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3721608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流通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D8CBF2"/>
                </a:solidFill>
                <a:latin typeface="Yu Gothic"/>
                <a:ea typeface="Yu Gothic"/>
                <a:cs typeface="Yu Gothic"/>
              </a:rPr>
              <a:t>ウルトラマート、POPUP、量販・専門店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※ 【素材8待ち】実績写真グリッド(8〜12点)に差し替え予定。数字より「動いている感」を重視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この盛り上がりは今年で終わらない――2027年度以降につながっていく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05|60周年の現在地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2027(ドラフト)|60周年の現在地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ウルトラマンの強みは、単純なリーチではなく“熱量あるリアル接点”である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年間約70万〜100万人規模のリアル接点――“直接会いに来るファン”との濃い関係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057400"/>
          <a:ext cx="111556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743200"/>
                <a:gridCol w="658368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レイヤー</a:t>
                      </a:r>
                    </a:p>
                  </a:txBody>
                  <a:tcPr anchor="ctr">
                    <a:solidFill>
                      <a:srgbClr val="3B1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3B1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anchor="ctr">
                    <a:solidFill>
                      <a:srgbClr val="3B127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マス接点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認知を広げる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テレビ、映画、YouTube、SNS、PR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熱量接点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ファン化する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ウルサマ、ライブ、ヒーローショー、グリーティング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商品化につなげる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店頭、POPUP、ウルトラマート、EC、キャンペーン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次の商品・作品へ戻す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新シリーズ、映画、イベント、限定商品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062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※ 【補強データ待ち】満席率・稼働率・リピート率の確定後に表現を最終化(強ければ「キャパ上限に近い」訴求へ)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マスで広げ、リアルで熱量を高め、流通・商品化で購買につなげる――この一連の流れがウルトラマンの強み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06|コンテンツ戦略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2027年度以降、単発の作品展開から“面の展開”へ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テレビ、映画、イベント、YouTube、流通、IPコラボ。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それぞれが連動して動く、「年間型IP」へ。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――年間を通じて、生活者との接点を作り続けます。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07|コンテンツ戦略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コンテンツ戦略は3つの柱――テレビ・映画・YouTubeが商機のタイミングをつくる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3つの柱が連動し、商品化・販促のタイミングを一年中つくり出す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① 新テレビシリーズ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継続性を重視した世界観・キャラクター展開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② 映画・特別編・ゼロ関連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公開タイミング=販促・店頭の商機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③ YouTube/ギャラファイ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歴代ヒーロー・怪獣を横断活用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【素材1待ち―本編の核】2027年以降のコンテンツ全体像(7/14確認会までに回収)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単発の「点」ではなく、年間を通じた「面」で商機が生まれる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08|コンテンツ戦略|柱①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新テレビシリーズ――ファンが「追い続けたくなる」構造へ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キャラクターや世界観の継続性をより重視し、次の展開を追い続けたくなる構造を強化する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ライセンシーの皆さまにとっての意味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世界観・キャラクターの継続性は、商品ラインの継続展開・シリーズ化のしやすさに直結する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「次の展開」があることが、ファンの購買モチベーションを持続させる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【素材2・3・13待ち/開示確認】制作部の開示可能コピー・世界観イメージ・シルエット等で差し替え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継続性ある展開が、商品も売場も「単発」から「シリーズ」に変える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09|コンテンツ戦略|柱②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映画・ゼロ関連――公開タイミングが、販促と店頭の商機になる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映画館 × 配信 × イベント × 商品化を連動させ、作品接点を売場・キャンペーンに接続する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展開の考え方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ゼロ関連映画・特別編・スピンオフ(開示可能範囲で)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公開期は、店頭キャンペーン・タイアップ・限定商品の最大の山場になる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特にご一緒したい業種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食品・外食・流通・アパレル・広告代理店――映画タイミングの連動企画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【素材4・5待ち/開示確認】ゼロ映画・特別編の開示可能情報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映画の公開日は、皆さまのキャンペーンの開始日になる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10|コンテンツ戦略|柱③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YouTube/ギャラファイ――歴代ヒーロー・怪獣を横断的に使える、企画自由度の高い領域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コアファンにも新規層にも届く接点を、配信領域で再強化する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この領域の特長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単独ヒーローに限らず、歴代ヒーロー・怪獣・人気キャラを横断的に活用できる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コレクション系・大人向け・怪獣デザイン商品との相性が良い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【素材6待ち/開示確認】ギャラファイ/YouTube系の開示可能情報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使えるキャラクターの幅が、企画の幅になる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11|コンテンツ戦略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会いに来るファンがいる――リアル接点は、購買と送客に直結する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ウルサマ・ライブ・展覧会・ヒーローショー・グリーティングが、年間を通じて熱量を生む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リアル接点の価値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“直接会いに来るファン”との接点は、物販・店舗送客・キャンペーン参加への転換率が高い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イベント来場の前後は、周辺店舗・コラボ企画への送客機会になる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【補強データ待ち】満席率・稼働率・リピート率――強ければ「キャパ上限に近い」ことを示す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会いに来るファンの熱量を、貴社の売場と店舗に接続できる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12|コンテンツ戦略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2027年度以降の商機カレンダー――「いつ企画に入れば間に合うか」を示す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年間の山場(テレビ・映画・イベント・流通施策)を時系列で提示し、企画開始の目安を明記する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カレンダーの読み方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「いつ盛り上がるか」「いつ企画に入れば間に合うか」が読み取れることが絶対条件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商品開発リードタイムから逆算した「企画開始の目安」を各山場に明記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【素材7待ち】60周年マーケティングカレンダー+2027年以降版のビジュアルに差し替え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2027年度の山場に間に合わせるなら、企画開始は「いま」がベストタイミング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13|営業戦略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ここからは「皆さまの企画」の話です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過去実績のご紹介ではありません。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今後ご一緒したい企画の、募集です。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――7カテゴリー別に、商機と企画例をご提案します。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14|営業戦略|カテゴリー 1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食品・飲料――夏のウルトラマン接点を、親子向けキャンペーンに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夏のウルトラマン接点を、親子向け食品・飲料キャンペーンに変えられます。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夏映画、ウルサマ、親子需要、店頭キャンペーン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限定パッケージ/購入特典/親子キャンペーン/映画半券連動/夏休み販促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15|営業戦略|カテゴリー 2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外食・カフェ――来場・視聴の熱量を、店舗送客に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来場・視聴の熱量を、店舗送客に接続できます。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イベント来場前後、映画公開期、ファミリー来店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コラボメニュー/ノベルティ/来店特典/ヒーローグリーティング連動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16|営業戦略|カテゴリー 3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アパレル――大人が着られるデザインIPとして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ウルトラマンは子ども向けだけでなく、大人が着られるデザインIPとして展開できます。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大人ファン、親子リンク、女性向け、ストリート、怪獣デザイン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Tシャツ/スウェット/バッグ/キャップ/親子コーデ/限定コレクション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17|営業戦略|カテゴリー 4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雑貨・生活用品――“毎日使う商品”に落とし込む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ウルトラマンを“毎日使う商品”に落とし込めます。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日常接点、ギフト、オフィス、家庭用品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タンブラー/タオル/ステーショナリー/インテリア/ガジェット小物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18|営業戦略|カテゴリー 5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文具・教育・出版――勇気・成長・仲間・正義を、学びの領域へ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勇気、成長、仲間、正義というテーマを教育・文具領域に広げられます。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キッズ、親子、学習、読書、夏休み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学習帳/絵本/図鑑/ワークブック/読書キャンペーン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19|営業戦略|カテゴリー 6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流通・小売――商品だけでなく、売場をつくる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商品を作るだけでなく、売場を作る準備があります。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ウルトラマート、POPUP、量販店、専門店、売場ジャック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専用棚/期間限定売場/購入特典/スタンプラリー/限定商品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20|営業戦略|カテゴリー 7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広告代理店・SP会社――ウルトラマンを、広告・販促装置として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クライアント課題に合わせて、ウルトラマンを広告・販促装置として活用できます。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企業キャンペーン、地域創生、ファミリー向け販促、周年施策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企業タイアップ/店頭キャンペーン/交通広告/SNSキャンペーン/イベント協賛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21|IPコラボ・流通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2027(ドラフト)|IPコラボ・流通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60周年、多様なIPコラボがすでに動いている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異なるファン層・異なる売場に向けて、すでに実績が積み上がっている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モフサンド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【素材8待ち】実績ビジュアル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1ECFA"/>
          </a:solidFill>
          <a:ln w="13970">
            <a:solidFill>
              <a:srgbClr val="7B2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ベイブレード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【素材8待ち】実績ビジュアル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397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その他既存コラボ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商品化・イベント・流通施策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コラボは「これから始める」のではなく、「すでに動いて成果が出ている」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22|IPコラボ・流通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2027(ドラフト)|IPコラボ・流通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ここからは、皆さまと一緒に商品化・売場化していきたい領域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これからの大型機会に、企画の初期段階から入っていただきたい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今後の大型機会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サンリオコラボ【開示確認後に表現確定】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ゼロ映画連動/新テレビシリーズ連動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YouTube・ギャラファイ系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ウルトラマート・流通展開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※ サンリオは「決定」ではなく、ライセンシー側の参加余地を見せる表現で(7/14に言及レベルを確定)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実現時には、両IPの魅力を活かした商品化・売場展開をライセンシーの皆さまと広げていく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23|IPコラボ・流通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2027(ドラフト)|IPコラボ・流通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売る場所は、円谷側でも増やしていく――「作っても売る場所があるのか」に応える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ウルトラマート・POPUP・売場展開が、ライセンシーが商品を作る理由になる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売場の広がり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ウルトラマートの方向性/POPUP展開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量販店・専門店での売場展開/映画・イベント期の店頭施策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既存商品の売場事例/今後募集したい商品カテゴリー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【素材10待ち】ウルトラマート素材・売場事例写真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商品を作っていただければ、展開できる売場を円谷側でも用意していく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24|スタイルガイド・監修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2027(ドラフト)|スタイルガイド・監修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スタイルガイドが、「作りたい」を「作れる」に変える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すぐ企画化できるよう、カテゴリー別のスタイルガイドと素材提供体制を整備する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103120"/>
          <a:ext cx="111556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ガイド</a:t>
                      </a:r>
                    </a:p>
                  </a:txBody>
                  <a:tcPr anchor="ctr">
                    <a:solidFill>
                      <a:srgbClr val="3B1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anchor="ctr">
                    <a:solidFill>
                      <a:srgbClr val="3B127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ブランドガイド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ロゴ、世界観、コピー、NG表現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キャラクターガイド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ヒーロー、怪獣、歴代キャラ、新作関連キャラ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カテゴリー別ガイド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食品、アパレル、雑貨、文具、広告、流通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3B1273"/>
                          </a:solidFill>
                          <a:latin typeface="Yu Gothic"/>
                          <a:ea typeface="Yu Gothic"/>
                          <a:cs typeface="Yu Gothic"/>
                        </a:rPr>
                        <a:t>シーズン別ガイド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E4E5A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映画期、夏休み、年末年始、周年施策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「素材がある」ではなく、「企画しやすいように、カテゴリー別に使える形にしてある」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25|スタイルガイド・監修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2027(ドラフト)|スタイルガイド・監修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企画から承認まで、迷わない――素材提供と監修フローを標準化する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企画提出 → 初稿確認 → 修正 → 承認。標準リードタイムを明記し、進め方の不安をなくす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提供するもの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商品化テンプレート:パッケージ例/POP例/販促例/SNS例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監修フロー:企画提出 → 初稿確認 → 修正 → 承認(標準リードタイム明記)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開示区分:当日開示/NDA後開示/個別商談時開示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F1ECFA"/>
          </a:solidFill>
          <a:ln w="1270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【素材11・12待ち】スタイルガイド進捗・監修フロー資料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個別商談では、NDAのうえでさらに詳細な素材をご覧いただける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26|クロージング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いま、7つのカテゴリーで企画を募集しています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1764791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91640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食品・飲料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夏の親子キャンペーン/映画連動販促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49424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322575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外食・カフェ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コラボメニュー/送客連動企画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07208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" y="2880359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807208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アパレル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大人向け・親子リンクコレクション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2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" y="3438143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364992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雑貨・生活用品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日常使いの定番商品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22776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" y="3995927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922776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文具・教育・出版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学び×ウルトラマン企画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" y="4553711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480560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流通・小売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売場ジャック/限定売場企画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38344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5F5F7"/>
          </a:solidFill>
          <a:ln w="10160">
            <a:solidFill>
              <a:srgbClr val="E4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5111495"/>
            <a:ext cx="310896" cy="310896"/>
          </a:xfrm>
          <a:prstGeom prst="ellipse">
            <a:avLst/>
          </a:prstGeom>
          <a:solidFill>
            <a:srgbClr val="3B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038344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広告代理店・SP</a:t>
            </a:r>
            <a:r>
              <a:rPr sz="10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　企業タイアップ/地域・周年施策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27|クロージング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今日から動けます――個別商談のご予約はこちら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本日を起点に、カテゴリーごとの担当がご相談を承ります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F1ECFA"/>
          </a:solidFill>
          <a:ln w="15240">
            <a:solidFill>
              <a:srgbClr val="7B2F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【QRコード】</a:t>
            </a:r>
          </a:p>
          <a:p>
            <a:pPr algn="ctr"/>
            <a:r>
              <a:rPr sz="13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個別商談予約</a:t>
            </a:r>
          </a:p>
          <a:p>
            <a:pPr algn="ctr"/>
            <a:r>
              <a:rPr sz="1000" b="0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(希望カテゴリー選択式)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配布資料に相談窓口・連絡先を記載しています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NDA締結後、開示可能な詳細素材をご覧いただけます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■ カテゴリーごとに担当がついて、ご相談を承ります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次のアクション　</a:t>
            </a:r>
            <a:r>
              <a:rPr sz="1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QRから個別商談をご予約ください――本日を起点に、企画のご相談を始めましょう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SLIDE 28|クロージング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4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B9BA8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E2E38"/>
                </a:solidFill>
                <a:latin typeface="Yu Gothic"/>
                <a:ea typeface="Yu Gothic"/>
                <a:cs typeface="Yu Gothic"/>
              </a:rPr>
              <a:t>次の売場を、いま一緒につくる。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7B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E4E5A"/>
                </a:solidFill>
                <a:latin typeface="Yu Gothic"/>
                <a:ea typeface="Yu Gothic"/>
                <a:cs typeface="Yu Gothic"/>
              </a:rPr>
              <a:t>2027年度以降のウルトラマンは、作品・イベント・流通・商品化が連動する「年間型IP」へ。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3B1273"/>
                </a:solidFill>
                <a:latin typeface="Yu Gothic"/>
                <a:ea typeface="Yu Gothic"/>
                <a:cs typeface="Yu Gothic"/>
              </a:rPr>
              <a:t>今、企画に入る企業が、次の売場とキャンペーンを先に作る。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7B2FE0"/>
                </a:solidFill>
                <a:latin typeface="Yu Gothic"/>
                <a:ea typeface="Yu Gothic"/>
                <a:cs typeface="Yu Gothic"/>
              </a:rPr>
              <a:t>――ぜひ本日を起点に、個別にご相談ください。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