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も、多様なスタイルガイド、アートガイドをご用意しています。今後はさらに一歩進め、完成されたビジュアルを選んでいただくだけではなく、キャラクター、ポーズ、背景、パターン、カラー、ロゴなどを組み合わせ、企業ごとの顧客、商品、価格帯、販路に適した提案を一緒に作れる形へ進化させていきます。</a:t>
            </a:r>
          </a:p>
          <a:p>
            <a:r>
              <a:t>同じ水筒でも、幼児向け、小学生向け、大人向けでは、必要なウルトラマン表現は全く異なります。皆さまの顧客に最適なウルトラマンを、一緒に設計していきます。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今後、円谷が強化していくもう一つの価値が、商品化後のマーケティング支援です。</a:t>
            </a:r>
          </a:p>
          <a:p>
            <a:r>
              <a:t>商品を作っていただき、監修して終わりではありません。円谷公式SNS、ULTRA MART、イベント、インフルエンサー、EC、店頭施策を組み合わせながら、発売前の期待形成、発売時の話題化、発売後の購買促進まで一緒に設計していきます。</a:t>
            </a:r>
          </a:p>
          <a:p>
            <a:r>
              <a:t>ULTRA MARTも、すべての商品を大量に販売するための場所ではなく、新しい商品、新しいターゲット、新しいデザインを試し、原宿で話題を作り、全国の売場へ広げていく発信拠点として活用していきます。</a:t>
            </a:r>
          </a:p>
          <a:p>
            <a:r>
              <a:t>商品化だけでなく、ファンと出会い、話題になり、売れるところまで、皆さまと一緒に作っていきます。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kv_with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6" name="Picture 25" descr="delivered_01_po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  <p:pic>
        <p:nvPicPr>
          <p:cNvPr id="27" name="Picture 26" descr="s03_02_sh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3611880"/>
            <a:ext cx="2145792" cy="2011680"/>
          </a:xfrm>
          <a:prstGeom prst="rect">
            <a:avLst/>
          </a:prstGeom>
        </p:spPr>
      </p:pic>
      <p:pic>
        <p:nvPicPr>
          <p:cNvPr id="28" name="Picture 27" descr="s03_03_pi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60" y="3611880"/>
            <a:ext cx="2145792" cy="2011680"/>
          </a:xfrm>
          <a:prstGeom prst="rect">
            <a:avLst/>
          </a:prstGeom>
        </p:spPr>
      </p:pic>
      <p:pic>
        <p:nvPicPr>
          <p:cNvPr id="29" name="Picture 28" descr="s03_05_gree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611880"/>
            <a:ext cx="21457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4" name="Picture 33" descr="s04_collab_plu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  <p:pic>
        <p:nvPicPr>
          <p:cNvPr id="35" name="Picture 34" descr="s04_06_se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1296785" cy="1783080"/>
          </a:xfrm>
          <a:prstGeom prst="rect">
            <a:avLst/>
          </a:prstGeom>
        </p:spPr>
      </p:pic>
      <p:pic>
        <p:nvPicPr>
          <p:cNvPr id="36" name="Picture 35" descr="s04_07_sh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433" y="3886200"/>
            <a:ext cx="1296785" cy="1783080"/>
          </a:xfrm>
          <a:prstGeom prst="rect">
            <a:avLst/>
          </a:prstGeom>
        </p:spPr>
      </p:pic>
      <p:pic>
        <p:nvPicPr>
          <p:cNvPr id="37" name="Picture 36" descr="s04_20_r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5485" y="3886200"/>
            <a:ext cx="1296785" cy="1783080"/>
          </a:xfrm>
          <a:prstGeom prst="rect">
            <a:avLst/>
          </a:prstGeom>
        </p:spPr>
      </p:pic>
      <p:pic>
        <p:nvPicPr>
          <p:cNvPr id="38" name="Picture 37" descr="s04_20_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1998" y="3886200"/>
            <a:ext cx="1296785" cy="1783080"/>
          </a:xfrm>
          <a:prstGeom prst="rect">
            <a:avLst/>
          </a:prstGeom>
        </p:spPr>
      </p:pic>
      <p:pic>
        <p:nvPicPr>
          <p:cNvPr id="39" name="Picture 38" descr="s04_21_glob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8511" y="3886200"/>
            <a:ext cx="1296785" cy="1783080"/>
          </a:xfrm>
          <a:prstGeom prst="rect">
            <a:avLst/>
          </a:prstGeom>
        </p:spPr>
      </p:pic>
      <p:pic>
        <p:nvPicPr>
          <p:cNvPr id="40" name="Picture 39" descr="s04_23_m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8972" y="3886200"/>
            <a:ext cx="1296785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pic>
        <p:nvPicPr>
          <p:cNvPr id="28" name="Picture 27" descr="s07_goods_ita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30" name="Picture 29" descr="s07_17_appar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1" name="Picture 30" descr="s07_19_premi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32" name="Picture 31" descr="s07_17_baib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9" name="Picture 28" descr="s08_20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0" name="Picture 29" descr="s08_03_fam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09_26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6" name="Picture 25" descr="s09_27_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10_20_tran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6" name="Picture 25" descr="s10_10_gree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pic>
        <p:nvPicPr>
          <p:cNvPr id="27" name="Picture 26" descr="s12_07_s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542032" cy="1705356"/>
          </a:xfrm>
          <a:prstGeom prst="rect">
            <a:avLst/>
          </a:prstGeom>
        </p:spPr>
      </p:pic>
      <p:pic>
        <p:nvPicPr>
          <p:cNvPr id="28" name="Picture 27" descr="s12_05_gree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03120"/>
            <a:ext cx="2542032" cy="1705356"/>
          </a:xfrm>
          <a:prstGeom prst="rect">
            <a:avLst/>
          </a:prstGeom>
        </p:spPr>
      </p:pic>
      <p:pic>
        <p:nvPicPr>
          <p:cNvPr id="29" name="Picture 28" descr="s12_11_st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8204"/>
            <a:ext cx="2542032" cy="1705356"/>
          </a:xfrm>
          <a:prstGeom prst="rect">
            <a:avLst/>
          </a:prstGeom>
        </p:spPr>
      </p:pic>
      <p:pic>
        <p:nvPicPr>
          <p:cNvPr id="30" name="Picture 29" descr="s12_12_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18204"/>
            <a:ext cx="2542032" cy="17053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  <p:pic>
        <p:nvPicPr>
          <p:cNvPr id="24" name="Picture 23" descr="s13_14_mofus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14|STYLE GUIDE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スタイルガイドを、企業ごとの提案プラットフォームへ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素材を選ぶのではなく、売れる表現を一緒に組み立てる。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103120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103120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キッズ・親子・女性・若者・大人ファン・コレクター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6603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7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2" y="2761487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761487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食品・文具・アパレル・雑貨・ホビー・流通・広告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4971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5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STYLE PARTS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2" y="3419855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419855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ヒーロー・怪獣・ポーズ・背景・パターン・ロゴ・カラー・コピー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9391"/>
            <a:ext cx="6720840" cy="64008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1"/>
            <a:ext cx="6263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企業別提案パッケージ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商品モック / 売場 / キャンペーン / デジタル施策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20639"/>
            <a:ext cx="658368" cy="310896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A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39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120639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完成アートを見せ、合うものを選んでもらう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5"/>
            <a:ext cx="658368" cy="310896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5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今後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522975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市場・顧客・価格・販路から逆算し、最適なアートパーツを組み合わせる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84831"/>
            <a:ext cx="4233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同じ「ボトル・水筒」でも、ここまで変わる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487168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6952" y="2651760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651760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幼児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2615184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明るい・親しみ・デフォルメ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水筒・ランチボックス・園児向け売場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566160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16952" y="3730752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3730752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小学生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694176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アクション・強さ・メカ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水筒・リュック・映画連動棚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645152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16952" y="4809744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4809744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4773168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ミニマル・上質・シルエット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ボトル・革ケース・限定箱・EC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同じウルトラマンでも、顧客・商品・売場によって、最適な表現は変わる。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15|LAUNCH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商品化した後も、円谷が一緒に市場へ届ける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商品を発売するだけでなく、“売れる瞬間”を一緒に作る。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発売前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期待を作る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・ティザー投稿・先行告知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・商品開発ストーリー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・インフルエンサー先行体験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・予約・抽選受付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・ファン投票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発売時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話題を最大化する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・円谷公式SNS × ULTRA MART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・店頭大型モニター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・インフルエンサー投稿・ライブ配信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・店頭イベント・ヒーロー登場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・限定・先行販売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発売後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拡散と購買を伸ばす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・購入者投稿・UGC活用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・EC誘導・再入荷告知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・使用シーン投稿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・二次展開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・既存流通への波及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93592" cy="1572768"/>
          </a:xfrm>
          <a:prstGeom prst="roundRect">
            <a:avLst>
              <a:gd name="adj" fmla="val 7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19125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円谷が持つ発信・販売接点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公式SNS / ULTRA MART / ウルトラマンストア / ウルサマ・イベント / EC / POPUP / インフルエンサー / メディアPR / 店頭施策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22191"/>
            <a:ext cx="3593592" cy="1682496"/>
          </a:xfrm>
          <a:prstGeom prst="roundRect">
            <a:avLst>
              <a:gd name="adj" fmla="val 7000"/>
            </a:avLst>
          </a:prstGeom>
          <a:solidFill>
            <a:srgbClr val="0C1730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 = </a:t>
            </a: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発信・実験拠点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① 女性・若年・ライト層の開拓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② 限定・先行販売による話題化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③ 商品・デザインのテストマーケ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④ 量販店・専門店・ECへの波及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原宿で話題を作り、全国の売場へ広げる。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継続接点/開示可能ビジュアル差し替え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コアファン接点/開示可能ビジュアル差し替え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9982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熱量づくり/開示可能ビジュアル差し替え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67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closing_wit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