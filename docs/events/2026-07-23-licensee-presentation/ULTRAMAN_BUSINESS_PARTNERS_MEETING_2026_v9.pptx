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714"/>
    <a:srgbClr val="001B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95" d="100"/>
          <a:sy n="95" d="100"/>
        </p:scale>
        <p:origin x="92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83C6BB-776A-4753-AB41-4207CE347F81}" type="datetimeFigureOut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9A3BBA-E0A1-437E-A0C7-205A02F81FE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9688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皆さま、本日はお集まりいただきありがとうございます。最初に申し上げます。本日は、作品の発表会ではありません。2027年度以降のウルトラマンの商機を、皆さまと一緒につくり始める1時間です。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本日の目的は3つです。2027年度以降の展開を共有すること。皆さまの商品化・販促・売場展開の可能性をご提示すること。そして、本日から個別商談と企画相談を開始することです。ぜひ「自社なら何ができるか」という目線でお聞き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いまご覧いただいた熱量が、ウルトラマンの原点です。ファンは会場に来て、写真を撮り、商品を手に取り、誰かに共有します。この「人が動く力」を、皆さまの商品・売場・キャンペーンに接続するのが、本日のテーマ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60周年は、すでに動き出しています。イベント、商品化、コラボ、流通、広告、海外。ご覧いただきたいのは商品そのものではなく、そこに集まっている「人」です。この勢いは実績として証明され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ライセンシーの皆さまが一番知りたいのは「いつ仕込めばいいか」だと思います。答えはこのカレンダーです。2027年夏の映画・イベント・大型キャンペーンが最大の山です。商品開発のリードタイムから逆算すると——2026年冬には企画と監修が始まっている必要があります。つまり、商談開始は今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からは、本日お越しの皆さま一人ひとりに関わる話です。7つのカテゴリーで、具体的な企画をご提案します。ご自身のカテゴリーが出てきたら、「この枠にうちが入れるか」という目線でご覧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まず、最大のカテゴリーであるMD・グッズの皆さまへ。2027年の新展開に向けて、5つの商品化パッケージをご用意しました。キッズMDから、大人向けプレミアム、女性ライト層向けまで。新作の初速商品は、発売日から逆算すると今日から仕込みが始まります。</a:t>
            </a:r>
          </a:p>
          <a:p>
            <a:r>
              <a:t>【必要素材】Tシャツ/スウェット/キャップ/アクスタ/フィギュア/カード/文具/雑貨/プレミアムフィギュア/怪獣柄パターン/ゼロ関連素材/スタイルガイド抜粋/売場イメージ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食品・飲料・外食の皆さまには、親子キャンペーンパッケージをご提案します。映画やイベントの山に合わせて、限定パッケージ、半券キャンペーン、コラボメニュー。ウルトラマンの親子熱量を、購入・来店・応募という行動に変える企画です。</a:t>
            </a:r>
          </a:p>
          <a:p>
            <a:r>
              <a:t>【必要素材】菓子・飲料・アイス・ゼリー・パンのパッケージモック/キッズプレート/コラボドリンク/ノベルティ/親子写真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流通・EC・商業施設の皆さまには、「商品を置く」のではなく「売場を作る」提案です。映画棚、ウルサマ棚、怪獣棚、IPコラボ棚。期間限定の売場ジャックからPOPUP、EC限定まで、売場そのものを一緒に設計させてください。</a:t>
            </a:r>
          </a:p>
          <a:p>
            <a:r>
              <a:t>【必要素材】棚モック/POPUPイメージ/ECページモック/店頭POP/棚帯/購入特典告知/館内装飾/スタンプラリー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広告代理店・SPの皆さまには、クライアント提案にそのまま使えるパッケージをご用意します。親子集客、防災、交通安全、地域創生。ウルトラマンは「正義」「勇気」「未来」という文脈を持っているので、企業課題と接続しやすいIPです。</a:t>
            </a:r>
          </a:p>
          <a:p>
            <a:r>
              <a:t>【必要素材】店頭キャンペーン事例/交通広告モック/SNS投稿施策/ヒーローグリーティング写真/スタンプラリー台紙/企業タイアップ動画イメージ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デジタル・ゲームの皆さまへ。ウルトラマンはリアルだけのIPではありません。ゲーム内コラボ、限定アバター、配信連動。歴代ヒーローと怪獣というキャラクター資産は、デジタル施策と非常に相性が良い領域です。</a:t>
            </a:r>
          </a:p>
          <a:p>
            <a:r>
              <a:t>【必要素材】ゲーム画面風モック/ガチャ画面/限定キャラクター/デジタルアイテム/SNS投稿テンプレート/YouTubeサムネイル風/ライブ配信画面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イベント・施設・観光の皆さまへ。ウルトラマンの最大の特長は「会いに来てもらえる」ことです。ヒーローショー、グリーティング、スタンプラリー。来場理由を作り、そのまま館内の回遊と購買につなげる集客パッケージをご提案します。</a:t>
            </a:r>
          </a:p>
          <a:p>
            <a:r>
              <a:t>【必要素材】ヒーローショー写真/親子観覧写真/決めポーズ写真/グリーティング写真/館内マップ/スタンプラリー台紙/地域イベント写真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Pコラボは、ウルトラマンの入口を広げる装置です。かわいい文脈で女性・ライト層へ。ホビー文脈でコレクターへ。すでにモフサンド、ベイブレードで実証されています。コラボを起点に、新しい売場と新しいファン層を一緒に開拓しません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「作った商品はどこで売れるのか」。この不安にお応えするのがULTRA MARTです。売る場所であり、見せる場所であり、話題化する場所。皆さまの商品の出口を、円谷側でも用意していきます。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「企画したいが、素材はあるのか」。あります。しかも、ただ渡すのではなく、カテゴリー別・ターゲット別に商品化しやすい形に整備していきます。キッズ、大人、女性、怪獣、映画連動、流通、広告。貴社の企画に合うガイドを用意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進め方はシンプルです。個別相談から始まり、素材共有、企画提出、監修、商品化。各ステップの標準期間も明示します。「作りたい」で終わらせず、「作れる」状態まで私たちが伴走します。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こで、本日一番大事なご案内です。いまこの瞬間から、個別商談の受付を開始します。お手元のスマートフォンで、このQRからご登録ください。相談カテゴリを選ぶだけ。登録いただいた企業様には、担当者から順にご連絡し、個別商談、素材共有、企画検討へ進みます。この後のコンテンツ紹介の間も、QRは画面の隅に残しておきます。【運営】QRは最低60秒表示。以降のスライドでも画面隅に残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最後に5分だけ、この商機を支えるコンテンツの話をします。ここまでの提案が「続けられる」理由です。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接点は3つ。TVシリーズが継続接点を作り、映画が大型の話題化を作り、配信・YouTubeがコアファン接点を広げます。この3つが年間を通じて連動するので、商品もキャンペーンも単発で終わ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この表が、本日のまとめです。コンテンツごとに、皆さまのカテゴリーの商品化機会が対応しています。作品の話をしているようで、実はずっと、皆さまの事業機会の話をしてきました。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2027年度以降のウルトラマンの売場は、今日ここから始まります。映像の話題、イベントの熱量、流通の売場——そこに皆さまの商品とキャンペーンがつながることで、次の市場が生まれます。個別相談は、本日より受付開始です。会場を出る前に、ぜひQRのご登録を。皆さまと一緒に、次のウルトラマン市場をつくれることを楽しみに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A88040-3D56-0319-3E49-E2AD544E4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4C68D-C5BF-45DD-851C-FBEBD38DB990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9E1B172-E5A6-5D5C-C7DF-A84A024BF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D6C759-57A2-57C4-D6A7-544E770E2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81D69-007A-237B-750B-0A473596BA8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71EBCE23-8037-95B1-60B4-73FF3E45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78118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582CC15-16FC-FE1F-E1BB-BCD701441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7EFA19-B876-4F47-836D-513A4E46A43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6583F08-1E4F-F903-F594-62624DEDD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159CDC-3107-2611-16C9-BF044A62C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91145" y="6356349"/>
            <a:ext cx="2743200" cy="365125"/>
          </a:xfrm>
        </p:spPr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1AEA3FD5-8022-A185-7F53-7D7A68C8B9C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  <p:sp>
        <p:nvSpPr>
          <p:cNvPr id="8" name="タイトル プレースホルダー 1">
            <a:extLst>
              <a:ext uri="{FF2B5EF4-FFF2-40B4-BE49-F238E27FC236}">
                <a16:creationId xmlns:a16="http://schemas.microsoft.com/office/drawing/2014/main" id="{F4A4C081-EDC6-5327-77E6-66B8AA44C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699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A9D1F7-1E06-79AE-EA50-B75E41182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F4872D1-02C4-C326-C190-9B7ADEDD63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AE9C44-C4A4-6252-2251-FDCB8CBB4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1E9C70-1A3E-49C1-A044-1C6676BB53B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B921656-851B-403A-A197-556EC932C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AD3239-48CF-90D0-853E-13CA1E4D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7171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25AAE97-5132-B468-595B-7C9A7BB48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79DFB7E-D09D-4D0C-59BD-E36A03FC07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D015B-C7D4-7B04-E0B6-FA4647F9B1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4ACC0F-8BBC-9466-DE64-20A3C8286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D0AA8-6DB5-4460-B397-38EEE2200ECD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38CDF31-2D1A-3F90-92CD-FEF8A26D9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180A1D6-1506-427D-107A-E87BD3ED5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232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D5E58EC-9552-6123-9290-C223910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5CC0727-9DF6-E369-D0EB-1EF91D7B63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8116897-BE23-8736-B31D-A59AE8AABB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FA11FE7-1F98-39FD-F353-68FEC54333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B4DDCDFA-239F-238A-BCF7-361FCFB299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FCDB914-51AB-5567-9933-A47398E39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29FE9-4F1C-4734-A29B-089FACD6841C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6F42598-BC38-651A-19F8-3216094E6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67D8B99-BF53-6C74-9830-281DE8307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59132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C7D8E8-B424-A032-C170-E0231AC82B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1AEF4763-8C6D-E3D3-F72B-CF444AA62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5A4F19-B036-4317-84BC-8A54E2A158DA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FD0D4A9-7315-4348-9DF3-C521FB97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93128B-3334-9BFD-5025-985490A0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33019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BA16075-0E32-79D7-0ED0-6F34C0C7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0BE50B-730A-41A7-8F08-E1E4D3A30FF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BD3DC1F-921F-EE41-147A-E52CDA28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DE1BC41-4A69-6488-8F7F-FE9D3B159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8101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66B841-7F8C-8C65-F8E8-A279A6E1B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969EB-29A5-C9D8-21A8-6D6DDAD228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8430D94-6B48-4E73-5B9D-A54B24350E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6E4D129-AE65-2CB9-B0D0-C7BBF7A9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D7904-FA14-48B9-9595-3F9ADF9D1C3B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377590C-9B7C-7FAD-6362-103E80646E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64031BC-4E50-9B0F-93B2-3D1751BA2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348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7E8752-FEC2-6CB1-7009-C78439379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230D219-7FF8-7B29-4F00-E47EDB42C3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5C6CDCA-6C3B-35C5-D2C5-6CD03FB80E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7408EA7-A534-F7C7-3200-95A952C68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2B6A1-A75C-41EA-97FA-948EF5D4FE97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2E0C83-658F-4EEB-B1DE-A12294A9C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F5F171D-0E20-82B3-E27B-D1C1BBEC1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21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18B47-5DDC-700B-70C9-391560F11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5F8199-7978-69FC-C299-D510FEB196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460500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F9797A-6559-53E7-34A5-B3E2864DE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81845-7E58-4720-B139-BFFA9BCB3CAE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E101F7A-F85D-8950-7B29-5EE28E4EF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2450583-245C-F945-76F8-0C80944F1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113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83F210AF-F868-AD1C-B3D3-1033414A41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D0CD1A-9244-4BA7-0495-CEC5C78F5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9F925-0775-20D2-F35D-55C648BA6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63AD85-0112-45C3-9244-ADAD48346B32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96036D-484D-FEA5-8D44-4AFA1CFBC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0EA7D8-AFD3-023E-1020-4BBA6234A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275775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CA06A34B-174E-D2EB-ACDE-C5412952A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546" y="365125"/>
            <a:ext cx="8875986" cy="7512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タイトル</a:t>
            </a:r>
            <a:endParaRPr kumimoji="1" lang="ja-JP" altLang="en-US" dirty="0"/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9F2AC66-AC87-BA1E-809C-D7B5F0201D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6357D0-1E63-4326-AD96-F9B068DDA013}" type="datetime1">
              <a:rPr kumimoji="1" lang="ja-JP" altLang="en-US" smtClean="0"/>
              <a:t>2026/7/10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AE780B-2F9C-43F7-9B9F-42C14057F6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7A58368-9120-411E-0FE6-AC6A3329C2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9114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59FD5-E448-4348-8197-F8A729835CAC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B8F6FEA0-CE2F-2F12-D362-EE5FB983DC9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6790" y="176529"/>
            <a:ext cx="2487555" cy="751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796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メイリオ" panose="020B0604030504040204" pitchFamily="50" charset="-128"/>
          <a:ea typeface="メイリオ" panose="020B0604030504040204" pitchFamily="50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36" y="173736"/>
            <a:ext cx="2487168" cy="7498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37160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300" b="1" spc="300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TSUBURAYA PRODUCTIONS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106070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 BUSINESS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4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PARTNERS MEETING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20440"/>
            <a:ext cx="10607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2027年度以降の商機を、いま一緒につくる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2026年7月23日(木)16:00-17:00|ウルサマ イベントステージ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212080"/>
            <a:ext cx="10332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2027年度以降の売場は、今日ここから始まる。</a:t>
            </a:r>
          </a:p>
        </p:txBody>
      </p:sp>
      <p:pic>
        <p:nvPicPr>
          <p:cNvPr id="13" name="Picture 12" descr="s01_kv_withU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2520" y="1143000"/>
            <a:ext cx="2926080" cy="4206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02|PURPOSE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本日は、2027年度以降の商機を共有する場です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「作品を聞く」のではなく、「自社の商談機会」として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展開を共有する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2027年度以降のウルトラマン展開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可能性を提示する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商品化・販促・売場展開の具体案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377440"/>
            <a:ext cx="3593592" cy="17373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商談を開始する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本日から個別商談・企画相談を受付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作品を聞く1時間ではなく、商談が始まる1時間です。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03|WHY ULTRAMAN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ウルトラマンは、“人を動かすIP”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ファンの行動が、そのまま売上への動線になる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43016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08776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95944" y="2395728"/>
            <a:ext cx="3657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0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61704" y="2286000"/>
            <a:ext cx="2468880" cy="960120"/>
          </a:xfrm>
          <a:prstGeom prst="roundRect">
            <a:avLst>
              <a:gd name="adj" fmla="val 14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この熱量を、商品・売場・キャンペーンへ。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会場に来る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5844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写真を撮る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1396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商品を手に取る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誰かに共有する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25000" y="3611880"/>
            <a:ext cx="2145792" cy="20116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04|MOMENTUM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60周年は、もう動き出している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勢いは、証明済み。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4884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9846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6772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13698" y="2971800"/>
            <a:ext cx="2672334" cy="658368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3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この勢いは、2027年度以降につながっていく。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ウルサマ客席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909433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28972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ウルトラマート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35485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流通展開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41998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348511" y="3886200"/>
            <a:ext cx="1296785" cy="178308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海外展開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33" name="Picture 32" descr="s04_products_sofub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5946" y="3886200"/>
            <a:ext cx="1296785" cy="1783080"/>
          </a:xfrm>
          <a:prstGeom prst="rect">
            <a:avLst/>
          </a:prstGeom>
        </p:spPr>
      </p:pic>
      <p:pic>
        <p:nvPicPr>
          <p:cNvPr id="34" name="Picture 33" descr="s04_collab_plu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459" y="3886200"/>
            <a:ext cx="1296785" cy="1783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05|BUSINESS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2027年の売場は、今日から仕込む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2026-2027 ULTRAMAN 商機カレンダー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33284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時期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商機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ウルサマ・イベント連動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2026秋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IPコラボ・年末商戦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2026冬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2027商品の企画・監修開始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2027春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新生活・文具・雑貨・アパレル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2027夏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映画・イベント・大型キャンペーン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2027秋冬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20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ホビー・EC・プレミアム・年末商戦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“発売タイミング”から逆算すると、商談開始は今です。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06|FOR ALL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本日ご参加の皆さまと、作りたいこと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7つのカテゴリーで、企画を募集します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6048" y="3063240"/>
            <a:ext cx="2286000" cy="1234440"/>
          </a:xfrm>
          <a:prstGeom prst="roundRect">
            <a:avLst>
              <a:gd name="adj" fmla="val 2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sz="17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ULTRAMAN</a:t>
            </a:r>
          </a:p>
          <a:p>
            <a:pPr algn="ctr"/>
            <a:r>
              <a:rPr lang="ja-JP" sz="105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円谷プロダクション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90288" y="201168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9640" y="21488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365760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7744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12280" y="4892040"/>
            <a:ext cx="3017520" cy="731520"/>
          </a:xfrm>
          <a:prstGeom prst="roundRect">
            <a:avLst>
              <a:gd name="adj" fmla="val 16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この中に、貴社の席があります。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07|FOR MD・グッズ・玩具・アパレル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MD・グッズ・玩具・アパレル向け|2027新展開 商品化パッケージ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2027年の初速を、一緒に作る5つの企画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新作連動キッズMD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映画・ゼロ関連商品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歴代ヒーロー/怪獣コレクション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大人ファン向けプレミアム商品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女性ライト層向け雑貨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2027年の初速商品は、今日から仕込みが始まります。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売場イメージ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7" name="Picture 26" descr="s07_apparel_kid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103120"/>
            <a:ext cx="5193792" cy="2286000"/>
          </a:xfrm>
          <a:prstGeom prst="rect">
            <a:avLst/>
          </a:prstGeom>
        </p:spPr>
      </p:pic>
      <p:pic>
        <p:nvPicPr>
          <p:cNvPr id="28" name="Picture 27" descr="s07_goods_itaba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498848"/>
            <a:ext cx="1651819" cy="1088136"/>
          </a:xfrm>
          <a:prstGeom prst="rect">
            <a:avLst/>
          </a:prstGeom>
        </p:spPr>
      </p:pic>
      <p:pic>
        <p:nvPicPr>
          <p:cNvPr id="29" name="Picture 28" descr="s07_premium_wat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3787" y="4498848"/>
            <a:ext cx="1651819" cy="10881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08|FOR 食品・飲料・外食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食品・飲料・外食向け|親子キャンペーンパッケージ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親子需要 × 映画・イベントの山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映画半券キャンペーン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親子ペア応募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外食コラボメニュー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12064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ウルサマ来場者特典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親子の熱量を、購入・来店・応募につなげる。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限定パッケージ+コラボメニュー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購入特典カード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半券キャンペーン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親子購入シーン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09|FOR 流通・EC・商業施設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流通・EC・商業施設向け|ULTRA MART / 売場連動パッケージ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「商品を置く」ではなく「売場を作る」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映画公開記念棚/ウルサマ連動棚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ゼロ特集棚/怪獣特集棚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IPコラボ棚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POPUP/EC限定販売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購入特典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商品を作るだけでなく、売場まで一緒に設計する。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映画公開記念棚+EC特集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POPUP売場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スタンプラリー台紙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10|FOR 広告代理店・SP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広告代理店・SP向け|企業キャンペーン活用パッケージ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クライアント提案に、そのまま使える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親子集客/夏休み販促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防災/交通安全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地域創生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未来・テクノロジー/CSR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商業施設回遊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ウルトラマンは、企業課題を解決するキャンペーン装置になる。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交通広告 駅貼りB0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SNS投稿画面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グリーティング集客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11|FOR デジタル・ゲーム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デジタル・ゲーム向け|デジタル・ゲーム連動パッケージ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リアルIPの熱量を、デジタルへ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ゲーム内コラボ/限定アバター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デジタルスタンプ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SNSキャンペーン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配信連動/EC限定デジタル特典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ファンコミュニティ施策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リアル商品だけでなく、デジタル接点でもファンを広げる。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5193792" cy="22860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ゲーム内コラボ画面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モック差し替え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92240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ガチャ・アバター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3787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YouTubeサムネ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15334" y="4498848"/>
            <a:ext cx="1651819" cy="1088136"/>
          </a:xfrm>
          <a:prstGeom prst="roundRect">
            <a:avLst>
              <a:gd name="adj" fmla="val 952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ライブ配信画面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12|FOR イベント・施設・観光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イベント・施設・観光向け|会いに来るIP 集客パッケージ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ウルトラマンは、来場理由になる</a:t>
            </a:r>
          </a:p>
        </p:txBody>
      </p:sp>
      <p:sp>
        <p:nvSpPr>
          <p:cNvPr id="6" name="Oval 5"/>
          <p:cNvSpPr/>
          <p:nvPr/>
        </p:nvSpPr>
        <p:spPr>
          <a:xfrm>
            <a:off x="502920" y="2286000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ヒーローショー/グリーティング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852928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61488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撮影会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419856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28416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館内スタンプラリー/地域回遊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986784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95344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商業施設イベント/観光地コラボ</a:t>
            </a:r>
          </a:p>
        </p:txBody>
      </p:sp>
      <p:sp>
        <p:nvSpPr>
          <p:cNvPr id="14" name="Oval 13"/>
          <p:cNvSpPr/>
          <p:nvPr/>
        </p:nvSpPr>
        <p:spPr>
          <a:xfrm>
            <a:off x="502920" y="4553712"/>
            <a:ext cx="274320" cy="274320"/>
          </a:xfrm>
          <a:prstGeom prst="ellipse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462272"/>
            <a:ext cx="5257800" cy="457200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物販連動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来場理由を作り、購買理由につなげる。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ヒーローショー+観客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2103120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グリーティング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9224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スタンプラリー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3918204"/>
            <a:ext cx="2542032" cy="1705356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商業施設イベント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13|FOR IP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IPコラボで、新しいファン層へ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ウルトラマンは、男性・キッズ向けだけではない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方向性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狙う層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かわいい文脈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女性・ライト層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雑貨・文具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ホビー文脈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キッズ・コレクター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玩具・カード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キャラクター文脈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ファミリー・ギフト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流通棚・雑貨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ヒーロー文脈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プレミアム・アパレル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ウルトラマンの入口を、もっと広げる。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9036" y="4572000"/>
            <a:ext cx="1097280" cy="1097280"/>
          </a:xfrm>
          <a:prstGeom prst="roundRect">
            <a:avLst>
              <a:gd name="adj" fmla="val 96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8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コラボ棚</a:t>
            </a:r>
          </a:p>
          <a:p>
            <a:pPr algn="ctr"/>
            <a:r>
              <a:rPr lang="ja-JP" sz="7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pic>
        <p:nvPicPr>
          <p:cNvPr id="20" name="Picture 19" descr="s13_kawaii_plu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2636" y="4572000"/>
            <a:ext cx="1097280" cy="1097280"/>
          </a:xfrm>
          <a:prstGeom prst="rect">
            <a:avLst/>
          </a:prstGeom>
        </p:spPr>
      </p:pic>
      <p:pic>
        <p:nvPicPr>
          <p:cNvPr id="21" name="Picture 20" descr="s13_hobby_sofub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236" y="4572000"/>
            <a:ext cx="1097280" cy="1097280"/>
          </a:xfrm>
          <a:prstGeom prst="rect">
            <a:avLst/>
          </a:prstGeom>
        </p:spPr>
      </p:pic>
      <p:pic>
        <p:nvPicPr>
          <p:cNvPr id="22" name="Picture 21" descr="s13_chara_gurihir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836" y="4572000"/>
            <a:ext cx="1097280" cy="1097280"/>
          </a:xfrm>
          <a:prstGeom prst="rect">
            <a:avLst/>
          </a:prstGeom>
        </p:spPr>
      </p:pic>
      <p:pic>
        <p:nvPicPr>
          <p:cNvPr id="23" name="Picture 22" descr="s13_hero_comi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7436" y="45720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14|ULTRA MART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ULTRA MART|売場の出口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ULTRA MARTの、3つの役割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売る場所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商品の販売拠点・EC連動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見せる場所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限定コーナー・POPUP展開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40280"/>
            <a:ext cx="3593592" cy="146304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話題化する場所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F3C9C5"/>
                </a:solidFill>
                <a:latin typeface="Yu Gothic"/>
                <a:ea typeface="Yu Gothic"/>
                <a:cs typeface="Yu Gothic"/>
              </a:rPr>
              <a:t>映画・イベント連動の情報発信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商品を、ファンと出会う場所へ。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マート外観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23155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店内の賑わい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43390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限定コーナー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3625" y="4069080"/>
            <a:ext cx="2715079" cy="16002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POPUP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15|STYLE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スタイルガイド戦略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カテゴリー別・ターゲット別に、「使える形」で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キッズ向け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9846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大人ファン向け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6772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女性・ライト層向け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13698" y="2194560"/>
            <a:ext cx="2672334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怪獣・ヴィラン向け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映画連動向け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85488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流通販促向け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8056" y="3063240"/>
            <a:ext cx="3617976" cy="68580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広告キャンペーン向け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素材を渡すだけでなく、商品化しやすい形にする。</a:t>
            </a:r>
          </a:p>
        </p:txBody>
      </p:sp>
      <p:pic>
        <p:nvPicPr>
          <p:cNvPr id="22" name="Picture 21" descr="s15_logo_pal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023360"/>
            <a:ext cx="3627371" cy="1645920"/>
          </a:xfrm>
          <a:prstGeom prst="rect">
            <a:avLst/>
          </a:prstGeom>
        </p:spPr>
      </p:pic>
      <p:pic>
        <p:nvPicPr>
          <p:cNvPr id="23" name="Picture 22" descr="s15_styleguide_pag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6595" y="4023360"/>
            <a:ext cx="3627371" cy="1645920"/>
          </a:xfrm>
          <a:prstGeom prst="rect">
            <a:avLst/>
          </a:prstGeom>
        </p:spPr>
      </p:pic>
      <p:pic>
        <p:nvPicPr>
          <p:cNvPr id="24" name="Picture 23" descr="s15_product_aloh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50270" y="4023360"/>
            <a:ext cx="3627371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16|PROCESS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監修・素材提供フロー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相談から商品化まで、5ステップ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8803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34686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00569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66452" y="2331720"/>
            <a:ext cx="2119579" cy="1051560"/>
          </a:xfrm>
          <a:prstGeom prst="roundRect">
            <a:avLst>
              <a:gd name="adj" fmla="val 10000"/>
            </a:avLst>
          </a:prstGeom>
          <a:solidFill>
            <a:srgbClr val="A81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703320"/>
            <a:ext cx="11183112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6A7794"/>
                </a:solidFill>
                <a:latin typeface="Yu Gothic"/>
                <a:ea typeface="Yu Gothic"/>
                <a:cs typeface="Yu Gothic"/>
              </a:rPr>
              <a:t>各ステップの標準期間・提出物チェックリスト・開示区分(当日/配布/NDA後)を個別商談時にご提示します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作りたい、で終わらせず、作れる状態まで伴走する。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個別相談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QR登録から1週間以内にご連絡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61488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素材・ガイド共有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NDA後 3営業日以内【仮】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0056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企画提出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パートナー様側リードタイム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78624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111F3E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④ 監修・修正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初稿10営業日/修正 各5営業日【仮】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37192" y="4206240"/>
            <a:ext cx="2148840" cy="1463040"/>
          </a:xfrm>
          <a:prstGeom prst="roundRect">
            <a:avLst>
              <a:gd name="adj" fmla="val 12000"/>
            </a:avLst>
          </a:prstGeom>
          <a:solidFill>
            <a:srgbClr val="A81C18"/>
          </a:solidFill>
          <a:ln w="13970">
            <a:solidFill>
              <a:srgbClr val="4A5F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0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⑤ 商品化・販促展開</a:t>
            </a:r>
          </a:p>
          <a:p>
            <a:pPr algn="ctr"/>
            <a:r>
              <a:rPr lang="ja-JP" sz="75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量産前見本の確認 5営業日以内【仮】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17|START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本日から受付開始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個別商談・企画相談、いま登録できます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03120"/>
            <a:ext cx="3200400" cy="320040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539496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個別商談・企画相談|登録は約3分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40" y="210312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相談カテゴリ(複数選択可)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商品化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42176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食品・外食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8112" y="2514600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流通・売場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広告タイアップ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2176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イベント・施設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78112" y="3145536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IPコラボ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デジタル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42176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スタイルガイド請求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78112" y="3776472"/>
            <a:ext cx="2407920" cy="50292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NDA後説明会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526280"/>
            <a:ext cx="7498079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00" b="1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登録後の流れ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892040"/>
            <a:ext cx="749807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25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QR登録 → 担当者連絡(1週間以内)→ 個別商談 → 素材共有 → 企画検討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早期にご相談いただいた企業様から、具体的な企画検討を進めます。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2103120"/>
            <a:ext cx="3200400" cy="320040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18|CONTENT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最後に、商機を支えるコンテンツ展開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だから、商機は続く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コンテンツが、商品化・販促・売場展開の理由を作る。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継続接点/開示可能ビジュアル差し替え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5274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大型話題化/開示可能ビジュアル差し替え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7628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コアファン接点/開示可能ビジュアル差し替え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9982" y="2148840"/>
            <a:ext cx="2686050" cy="352044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イベント</a:t>
            </a:r>
          </a:p>
          <a:p>
            <a:pPr algn="ctr"/>
            <a:r>
              <a:rPr lang="ja-JP" sz="11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熱量づくり/開示可能ビジュアル差し替え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19|CONTENT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2027年度以降の、3つのコンテンツ接点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継続 × 話題化 × コアファン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① TVシリーズ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継続接点
ファンが追い続けたくなる世界観・キャラクター展開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② 映画・大型映像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大型話題化
商品化・販促・流通施策を集中させる最大の山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2286000"/>
            <a:ext cx="3593592" cy="1920240"/>
          </a:xfrm>
          <a:prstGeom prst="roundRect">
            <a:avLst>
              <a:gd name="adj" fmla="val 10000"/>
            </a:avLst>
          </a:prstGeom>
          <a:solidFill>
            <a:srgbClr val="111F3E"/>
          </a:solidFill>
          <a:ln w="12700">
            <a:solidFill>
              <a:srgbClr val="2536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Ins="128016" rtlCol="0" anchor="ctr"/>
          <a:lstStyle/>
          <a:p>
            <a:pPr algn="ctr">
              <a:spcAft>
                <a:spcPts val="300"/>
              </a:spcAft>
            </a:pPr>
            <a:r>
              <a:rPr lang="ja-JP" sz="15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③ 配信・YouTube</a:t>
            </a:r>
          </a:p>
          <a:p>
            <a:pPr algn="ctr">
              <a:lnSpc>
                <a:spcPct val="120000"/>
              </a:lnSpc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コアファン接点
歴代ヒーロー・怪獣を横断活用できる領域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接点が続くから、商品もキャンペーンも続けられる。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TVシリーズ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795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映画・大型映像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52670" y="4526280"/>
            <a:ext cx="3628571" cy="1143000"/>
          </a:xfrm>
          <a:prstGeom prst="roundRect">
            <a:avLst>
              <a:gd name="adj" fmla="val 10000"/>
            </a:avLst>
          </a:prstGeom>
          <a:solidFill>
            <a:srgbClr val="0C1730"/>
          </a:solidFill>
          <a:ln w="13970">
            <a:solidFill>
              <a:srgbClr val="4A5F8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2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配信・YouTube</a:t>
            </a:r>
          </a:p>
          <a:p>
            <a:pPr algn="ctr"/>
            <a:r>
              <a:rPr lang="ja-JP" sz="900" b="0">
                <a:solidFill>
                  <a:srgbClr val="8A96B2"/>
                </a:solidFill>
                <a:latin typeface="Yu Gothic"/>
                <a:ea typeface="Yu Gothic"/>
                <a:cs typeface="Yu Gothic"/>
              </a:rPr>
              <a:t>写真差し替え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20|CONTENT × BUSINESS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コンテンツが、商品化の理由を作る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83112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400" b="1">
                <a:solidFill>
                  <a:srgbClr val="7FA8E0"/>
                </a:solidFill>
                <a:latin typeface="Yu Gothic"/>
                <a:ea typeface="Yu Gothic"/>
                <a:cs typeface="Yu Gothic"/>
              </a:rPr>
              <a:t>コンテンツ × 商機マトリクス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2103120"/>
          <a:ext cx="1115568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コンテンツ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役割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商品化機会</a:t>
                      </a:r>
                    </a:p>
                  </a:txBody>
                  <a:tcPr anchor="ctr">
                    <a:solidFill>
                      <a:srgbClr val="A81C1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TVシリーズ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継続接点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キッズ、文具、玩具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映画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大型話題化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食品、流通、広告、ホビー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配信・YouTube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コアファン接点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コレクション、EC、プレミアム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イベント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熱量化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物販、限定商品、施設集客</a:t>
                      </a:r>
                    </a:p>
                  </a:txBody>
                  <a:tcPr anchor="ctr">
                    <a:solidFill>
                      <a:srgbClr val="111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1">
                          <a:solidFill>
                            <a:srgbClr val="F4F7FD"/>
                          </a:solidFill>
                          <a:latin typeface="Yu Gothic"/>
                          <a:ea typeface="Yu Gothic"/>
                          <a:cs typeface="Yu Gothic"/>
                        </a:rPr>
                        <a:t>流通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購買接点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</a:pPr>
                      <a:r>
                        <a:rPr lang="ja-JP" sz="1150" b="0">
                          <a:solidFill>
                            <a:srgbClr val="A9B6D2"/>
                          </a:solidFill>
                          <a:latin typeface="Yu Gothic"/>
                          <a:ea typeface="Yu Gothic"/>
                          <a:cs typeface="Yu Gothic"/>
                        </a:rPr>
                        <a:t>売場、POPUP、EC</a:t>
                      </a:r>
                    </a:p>
                  </a:txBody>
                  <a:tcPr anchor="ctr">
                    <a:solidFill>
                      <a:srgbClr val="0C17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作品の話ではなく、皆さまの事業機会の話です。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8732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 spc="80">
                <a:solidFill>
                  <a:srgbClr val="E8382F"/>
                </a:solidFill>
                <a:latin typeface="Yu Gothic"/>
                <a:ea typeface="Yu Gothic"/>
                <a:cs typeface="Yu Gothic"/>
              </a:rPr>
              <a:t>21|CLOSING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873252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26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2027年度以降の売場は、今日ここから始まる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371600"/>
            <a:ext cx="1097280" cy="40640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783080"/>
            <a:ext cx="7589520" cy="9259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ウルトラマン</a:t>
            </a:r>
            <a:r>
              <a:rPr lang="ja-JP" altLang="en-US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を活用し、</a:t>
            </a:r>
            <a:br>
              <a:rPr lang="en-US" alt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</a:b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皆さまと</a:t>
            </a:r>
            <a:r>
              <a:rPr lang="ja-JP" altLang="en-US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共に、</a:t>
            </a:r>
            <a:r>
              <a:rPr lang="ja-JP" alt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市場を</a:t>
            </a:r>
            <a:r>
              <a:rPr lang="ja-JP" sz="2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つくりたい</a:t>
            </a:r>
            <a:r>
              <a:rPr lang="ja-JP" sz="2400" b="1" dirty="0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0" y="1737360"/>
            <a:ext cx="3017520" cy="3017520"/>
          </a:xfrm>
          <a:prstGeom prst="rect">
            <a:avLst/>
          </a:prstGeom>
          <a:noFill/>
          <a:ln w="2032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0" y="4846320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会場を出る前にご登録を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40"/>
            <a:ext cx="7589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300"/>
              </a:spcAft>
            </a:pPr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相談カテゴリ:商品化/食品・外食/流通・売場/広告/イベント・施設/IPコラボ/デジタル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870448"/>
            <a:ext cx="11183112" cy="512064"/>
          </a:xfrm>
          <a:prstGeom prst="rect">
            <a:avLst/>
          </a:prstGeom>
          <a:solidFill>
            <a:srgbClr val="0C17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02920" y="5870448"/>
            <a:ext cx="50800" cy="512064"/>
          </a:xfrm>
          <a:prstGeom prst="rect">
            <a:avLst/>
          </a:prstGeom>
          <a:solidFill>
            <a:srgbClr val="E838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" y="5870448"/>
            <a:ext cx="10744200" cy="512064"/>
          </a:xfrm>
          <a:prstGeom prst="rect">
            <a:avLst/>
          </a:prstGeom>
          <a:noFill/>
        </p:spPr>
        <p:txBody>
          <a:bodyPr wrap="square" lIns="0" rIns="0" anchor="ctr">
            <a:spAutoFit/>
          </a:bodyPr>
          <a:lstStyle/>
          <a:p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個別相談は、本日より受付開始。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03920" y="1737360"/>
            <a:ext cx="3017520" cy="3017520"/>
          </a:xfrm>
          <a:prstGeom prst="roundRect">
            <a:avLst>
              <a:gd name="adj" fmla="val 12000"/>
            </a:avLst>
          </a:prstGeom>
          <a:solidFill>
            <a:srgbClr val="0C1730"/>
          </a:solidFill>
          <a:ln w="13970">
            <a:solidFill>
              <a:srgbClr val="E838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>
              <a:lnSpc>
                <a:spcPct val="115000"/>
              </a:lnSpc>
            </a:pPr>
            <a:r>
              <a:rPr lang="ja-JP" sz="1400" b="1">
                <a:solidFill>
                  <a:srgbClr val="F4F7FD"/>
                </a:solidFill>
                <a:latin typeface="Yu Gothic"/>
                <a:ea typeface="Yu Gothic"/>
                <a:cs typeface="Yu Gothic"/>
              </a:rPr>
              <a:t>QRコード</a:t>
            </a:r>
          </a:p>
          <a:p>
            <a:pPr algn="ctr"/>
            <a:r>
              <a:rPr lang="ja-JP" sz="1100" b="0">
                <a:solidFill>
                  <a:srgbClr val="A9B6D2"/>
                </a:solidFill>
                <a:latin typeface="Yu Gothic"/>
                <a:ea typeface="Yu Gothic"/>
                <a:cs typeface="Yu Gothic"/>
              </a:rPr>
              <a:t>本番URL発行後に差し替え(7/18)</a:t>
            </a:r>
          </a:p>
        </p:txBody>
      </p:sp>
      <p:pic>
        <p:nvPicPr>
          <p:cNvPr id="15" name="Picture 14" descr="s21_closing_with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611880"/>
            <a:ext cx="758952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1028</TotalTime>
  <Words>2308</Words>
  <Application>Microsoft Office PowerPoint</Application>
  <PresentationFormat>ワイド画面</PresentationFormat>
  <Paragraphs>419</Paragraphs>
  <Slides>21</Slides>
  <Notes>21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21</vt:i4>
      </vt:variant>
    </vt:vector>
  </HeadingPairs>
  <TitlesOfParts>
    <vt:vector size="26" baseType="lpstr">
      <vt:lpstr>メイリオ</vt:lpstr>
      <vt:lpstr>Yu Gothic</vt:lpstr>
      <vt:lpstr>Yu Gothic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穴井 葉子</dc:creator>
  <cp:lastModifiedBy>新谷 隼人</cp:lastModifiedBy>
  <cp:revision>2</cp:revision>
  <dcterms:created xsi:type="dcterms:W3CDTF">2026-06-29T08:42:52Z</dcterms:created>
  <dcterms:modified xsi:type="dcterms:W3CDTF">2026-07-10T05:06:16Z</dcterms:modified>
</cp:coreProperties>
</file>