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  <a:p/>
          <a:p>
            <a:r>
              <a:t>※ファクトチェック注記:「2027夏 映画」は素材35(開示確認中)に依存。確定まで対外的に断定しないこと。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  <a:p/>
          <a:p>
            <a:r>
              <a:t>※ファクトチェック注記:「2027年新シリーズ」「映画・ゼロ関連」は素材34・35(黒澤さん確認中)。確定前は「新展開」等の表現に留めて話す。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  <a:p/>
          <a:p>
            <a:r>
              <a:t>※ファクトチェック注記:「2027夏の映画半券」は映画の開示確認(素材35)が前提。確定まで口頭では「大型企画」と言い換え可。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も、多様なスタイルガイド、アートガイドをご用意しています。今後はさらに一歩進め、完成されたビジュアルを選んでいただくだけではなく、キャラクター、ポーズ、背景、パターン、カラー、ロゴなどを組み合わせ、企業ごとの顧客、商品、価格帯、販路に適した提案を一緒に作れる形へ進化させていきます。</a:t>
            </a:r>
          </a:p>
          <a:p>
            <a:r>
              <a:t>同じ水筒でも、幼児向け、小学生向け、大人向けでは、必要なウルトラマン表現は全く異なります。皆さまの顧客に最適なウルトラマンを、一緒に設計していきます。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今後、円谷が強化していくもう一つの価値が、商品化後のマーケティング支援です。</a:t>
            </a:r>
          </a:p>
          <a:p>
            <a:r>
              <a:t>商品を作っていただき、監修して終わりではありません。円谷公式SNS、ULTRA MART、イベント、インフルエンサー、EC、店頭施策を組み合わせながら、発売前の期待形成、発売時の話題化、発売後の購買促進まで一緒に設計していきます。</a:t>
            </a:r>
          </a:p>
          <a:p>
            <a:r>
              <a:t>ULTRA MARTも、すべての商品を大量に販売するための場所ではなく、新しい商品、新しいターゲット、新しいデザインを試し、原宿で話題を作り、全国の売場へ広げていく発信拠点として活用していきます。</a:t>
            </a:r>
          </a:p>
          <a:p>
            <a:r>
              <a:t>商品化だけでなく、ファンと出会い、話題になり、売れるところまで、皆さまと一緒に作っていきます。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  <a:p/>
          <a:p>
            <a:r>
              <a:t>※ファクトチェック注記:標準期間はすべて【仮】。15-approval-flowの先方赤入れ(素材31・32)で確定後に【仮】を外す。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  <a:p/>
          <a:p>
            <a:r>
              <a:t>※ファクトチェック注記:「登録は約3分」「担当者連絡1週間以内」はフォーム・運用の確定前。7/18のQR発行までに確定させ、できない場合は表現を調整。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  <a:p/>
          <a:p>
            <a:r>
              <a:t>※ファクトチェック注記:RISINGビジュアルは確認用(for_confirmation)データ。投影可否[1]と確定版データを先方に要確認。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37.png"/><Relationship Id="rId11" Type="http://schemas.openxmlformats.org/officeDocument/2006/relationships/image" Target="../media/image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33_k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6" name="Picture 25" descr="delivered_01_po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  <p:pic>
        <p:nvPicPr>
          <p:cNvPr id="27" name="Picture 26" descr="s03_02_sh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3611880"/>
            <a:ext cx="2145792" cy="2011680"/>
          </a:xfrm>
          <a:prstGeom prst="rect">
            <a:avLst/>
          </a:prstGeom>
        </p:spPr>
      </p:pic>
      <p:pic>
        <p:nvPicPr>
          <p:cNvPr id="28" name="Picture 27" descr="s03_03_pi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60" y="3611880"/>
            <a:ext cx="2145792" cy="2011680"/>
          </a:xfrm>
          <a:prstGeom prst="rect">
            <a:avLst/>
          </a:prstGeom>
        </p:spPr>
      </p:pic>
      <p:pic>
        <p:nvPicPr>
          <p:cNvPr id="29" name="Picture 28" descr="s03_05_gree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611880"/>
            <a:ext cx="21457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5" name="Picture 34" descr="s04_06_se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1296785" cy="1783080"/>
          </a:xfrm>
          <a:prstGeom prst="rect">
            <a:avLst/>
          </a:prstGeom>
        </p:spPr>
      </p:pic>
      <p:pic>
        <p:nvPicPr>
          <p:cNvPr id="36" name="Picture 35" descr="s04_07_sh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433" y="3886200"/>
            <a:ext cx="1296785" cy="1783080"/>
          </a:xfrm>
          <a:prstGeom prst="rect">
            <a:avLst/>
          </a:prstGeom>
        </p:spPr>
      </p:pic>
      <p:pic>
        <p:nvPicPr>
          <p:cNvPr id="38" name="Picture 37" descr="s04_20_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1998" y="3886200"/>
            <a:ext cx="1296785" cy="1783080"/>
          </a:xfrm>
          <a:prstGeom prst="rect">
            <a:avLst/>
          </a:prstGeom>
        </p:spPr>
      </p:pic>
      <p:pic>
        <p:nvPicPr>
          <p:cNvPr id="39" name="Picture 38" descr="s04_21_glob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8511" y="3886200"/>
            <a:ext cx="1296785" cy="1783080"/>
          </a:xfrm>
          <a:prstGeom prst="rect">
            <a:avLst/>
          </a:prstGeom>
        </p:spPr>
      </p:pic>
      <p:pic>
        <p:nvPicPr>
          <p:cNvPr id="40" name="Picture 39" descr="s04_23_m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8972" y="3886200"/>
            <a:ext cx="1296785" cy="1783080"/>
          </a:xfrm>
          <a:prstGeom prst="rect">
            <a:avLst/>
          </a:prstGeom>
        </p:spPr>
      </p:pic>
      <p:pic>
        <p:nvPicPr>
          <p:cNvPr id="41" name="Picture 40" descr="s04_24_colla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4F7FD"/>
                </a:solidFill>
                <a:latin typeface="Yu Gothic"/>
              </a:rPr>
              <a:t>流通展開
</a:t>
            </a:r>
            <a:r>
              <a:rPr sz="700" b="0">
                <a:solidFill>
                  <a:srgbClr val="6A7794"/>
                </a:solidFill>
                <a:latin typeface="Yu Gothic"/>
              </a:rPr>
              <a:t>写真差し替え
(素材16待ち)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4937760" cy="192024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937760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76272"/>
            <a:ext cx="4425696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円谷プロダクション</a:t>
            </a:r>
            <a:r>
              <a:rPr sz="10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  が持ち寄るもの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・60年のIPと歴代ヒーロー・怪獣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・スタイルガイドと監修の伴走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・公式SNS・ULTRA MART・イベントの発信力</a:t>
            </a:r>
          </a:p>
        </p:txBody>
      </p:sp>
      <p:sp>
        <p:nvSpPr>
          <p:cNvPr id="9" name="Oval 8"/>
          <p:cNvSpPr/>
          <p:nvPr/>
        </p:nvSpPr>
        <p:spPr>
          <a:xfrm>
            <a:off x="5742432" y="2697480"/>
            <a:ext cx="713232" cy="713232"/>
          </a:xfrm>
          <a:prstGeom prst="ellipse">
            <a:avLst/>
          </a:prstGeom>
          <a:noFill/>
          <a:ln w="2032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269748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011680"/>
            <a:ext cx="4937760" cy="192024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48272" y="2011680"/>
            <a:ext cx="4937760" cy="38100"/>
          </a:xfrm>
          <a:prstGeom prst="rect">
            <a:avLst/>
          </a:prstGeom>
          <a:solidFill>
            <a:srgbClr val="7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2176272"/>
            <a:ext cx="4425696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パートナー企業の皆さま</a:t>
            </a:r>
            <a:r>
              <a:rPr sz="10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  が持ち寄るもの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・商品開発力・製造・品質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・売場・販路・EC・顧客接点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・顧客理解とプロモーションの知見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1183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79392"/>
            <a:ext cx="11183112" cy="548640"/>
          </a:xfrm>
          <a:prstGeom prst="roundRect">
            <a:avLst>
              <a:gd name="adj" fmla="val 14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79392"/>
            <a:ext cx="111831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2027年の商機を、一緒につくる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— 主導するのは、皆さまの事業です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74336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募集カテゴリー(この後、1枚ずつご提案します)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18795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18795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467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467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0545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0545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広告・SP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642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642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82295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2295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イベント・観光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817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817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どのカテゴリーでも、主役は皆さまの事業。円谷はIPと発信力で伴走します。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pic>
        <p:nvPicPr>
          <p:cNvPr id="30" name="Picture 29" descr="s07_17_appar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1" name="Picture 30" descr="s07_19_premi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32" name="Picture 31" descr="s07_17_baib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pic>
        <p:nvPicPr>
          <p:cNvPr id="33" name="Picture 32" descr="s07_cb_fangood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2027年新シリーズの変身なりきり玩具を、放送開始週に量販店の店頭へ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劇場公開に合わせたフィギュア・前売券セット・入場者特典の連動設計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60年の歴代からブラインドトイ・ガチャ・カードを通年シリーズ化</a:t>
            </a:r>
          </a:p>
        </p:txBody>
      </p:sp>
      <p:sp>
        <p:nvSpPr>
          <p:cNvPr id="46" name="Oval 45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受注生産の高価格帯フィギュア・アパレルを限定箱+ECで展開</a:t>
            </a:r>
          </a:p>
        </p:txBody>
      </p:sp>
      <p:sp>
        <p:nvSpPr>
          <p:cNvPr id="50" name="Oval 49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モフサンド文脈のポーチ・文具をバラエティショップの平台へ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9" name="Picture 28" descr="s08_20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0" name="Picture 29" descr="s08_03_fam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502920" y="2075687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07568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048255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2318003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ヒーロー別・複数種のパッケージで「選ぶ楽しさ」を棚に作る(菓子・飲料)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2674620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746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264718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291693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1個につきカード1枚。集めたくなる仕掛けでリピート購買を作る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3273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273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246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3515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2027夏の映画半券×対象商品レシートで限定グッズ応募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38724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724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3845052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4114800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バーコード応募でウルサマ親子ペア招待・限定ショー観覧</a:t>
            </a:r>
          </a:p>
        </p:txBody>
      </p:sp>
      <p:sp>
        <p:nvSpPr>
          <p:cNvPr id="47" name="Oval 46"/>
          <p:cNvSpPr/>
          <p:nvPr/>
        </p:nvSpPr>
        <p:spPr>
          <a:xfrm>
            <a:off x="502920" y="4471416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471416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4439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47137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「ウルトラ創業祭」型のコラボメニュー+店内装飾+ノベルティ</a:t>
            </a:r>
          </a:p>
        </p:txBody>
      </p:sp>
      <p:sp>
        <p:nvSpPr>
          <p:cNvPr id="51" name="Oval 50"/>
          <p:cNvSpPr/>
          <p:nvPr/>
        </p:nvSpPr>
        <p:spPr>
          <a:xfrm>
            <a:off x="502920" y="50703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0703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0429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53126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会場配布のクーポンで店舗へ送客。イベント→店の導線を作る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09_26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6" name="Picture 25" descr="s09_27_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2027夏、映画×イベントの山に合わせて全国エンド棚を確保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キャラクター軸の編集棚で、既存商品も一緒に動かす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モフサンド棚のように、女性客が立ち止まる棚を日用品売場に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有楽町マルイ型の女性向けPOPUP。EC先行→店舗拡大の二段展開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チェーン限定の特典カード・ノベルティで「この店で買う理由」を作る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10_20_tran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6" name="Picture 25" descr="s10_05_gree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SC・量販の夏休み集客にヒーローショー+限定ノベルティを一括提案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自治体・インフラ企業の啓発企画に、世代を超えた信頼感を乗せる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ご当地怪獣×観光キャンペーン。地域イベント登場+限定グッズ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企業ブランディング広告にヒーロー文脈を活用(掲出実績あり)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スタンプラリー+デジタルスタンプで館内回遊・滞在時間を伸ばす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人気タイトルに期間限定のウルトラマンスキン・コラボイベント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位置情報スタンプで店舗・施設を回遊させ、コンプリート特典へ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変身ポーズ投稿・フィルター企画でUGCを量産する参加型設計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配信視聴×EC購入でデジタル壁紙・限定コンテンツを付与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会員限定の先行情報・投票企画でコアファンの熱量を可視化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pic>
        <p:nvPicPr>
          <p:cNvPr id="27" name="Picture 26" descr="s12_07_s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542032" cy="1705356"/>
          </a:xfrm>
          <a:prstGeom prst="rect">
            <a:avLst/>
          </a:prstGeom>
        </p:spPr>
      </p:pic>
      <p:pic>
        <p:nvPicPr>
          <p:cNvPr id="28" name="Picture 27" descr="s12_05_gree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03120"/>
            <a:ext cx="2542032" cy="1705356"/>
          </a:xfrm>
          <a:prstGeom prst="rect">
            <a:avLst/>
          </a:prstGeom>
        </p:spPr>
      </p:pic>
      <p:pic>
        <p:nvPicPr>
          <p:cNvPr id="29" name="Picture 28" descr="s12_11_st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8204"/>
            <a:ext cx="2542032" cy="1705356"/>
          </a:xfrm>
          <a:prstGeom prst="rect">
            <a:avLst/>
          </a:prstGeom>
        </p:spPr>
      </p:pic>
      <p:pic>
        <p:nvPicPr>
          <p:cNvPr id="30" name="Picture 29" descr="s12_12_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18204"/>
            <a:ext cx="2542032" cy="1705356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ウルサマ型のショー+握手会を、施設の集客の山に合わせて開催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人気ヒーローとの撮影会を有料企画化。SNS拡散も同時に生む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台紙+スタンプ台で親子の全館回遊・滞在時間を延ばす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吹き抜けイベント+期間限定売場のセットで館全体を活性化</a:t>
            </a:r>
          </a:p>
        </p:txBody>
      </p:sp>
      <p:sp>
        <p:nvSpPr>
          <p:cNvPr id="47" name="Oval 46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会場限定商品と物販列で「来た人が必ず買う」導線を設計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雑貨・文具(ぬいポーチ・マステ・カフェコラボ)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玩具・カード(ブラインドトイ・ゲーム内コラボ)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流通棚・雑貨(ファミリーギフト・季節催事)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プレミアム・アパレル(ハイエンド・限定箱)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  <p:pic>
        <p:nvPicPr>
          <p:cNvPr id="24" name="Picture 23" descr="s13_14_mofus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14|STYLE GUIDE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スタイルガイドを、企業ごとの提案プラットフォームへ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素材を選ぶのではなく、売れる表現を一緒に組み立てる。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103120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103120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キッズ・親子・女性・若者・大人ファン・コレクター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6603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7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2" y="2761487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761487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食品・文具・アパレル・雑貨・ホビー・流通・広告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4971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5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STYLE PARTS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2" y="3419855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419855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ヒーロー・怪獣・ポーズ・背景・パターン・ロゴ・カラー・コピー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9391"/>
            <a:ext cx="6720840" cy="64008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1"/>
            <a:ext cx="6263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企業別提案パッケージ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商品モック / 売場 / キャンペーン / デジタル施策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20639"/>
            <a:ext cx="658368" cy="310896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A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39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120639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完成アートを見せ、合うものを選んでもらう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5"/>
            <a:ext cx="658368" cy="310896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5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今後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522975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市場・顧客・価格・販路から逆算し、最適なアートパーツを組み合わせる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84831"/>
            <a:ext cx="4233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同じ「ボトル・水筒」でも、ここまで変わる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487168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6952" y="2651760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651760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幼児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2615184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明るい・親しみ・デフォルメ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水筒・ランチボックス・園児向け売場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566160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16952" y="3730752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3730752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小学生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694176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アクション・強さ・メカ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水筒・リュック・映画連動棚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645152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16952" y="4809744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4809744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4773168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ミニマル・上質・シルエット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ボトル・革ケース・限定箱・EC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同じウルトラマンでも、顧客・商品・売場によって、最適な表現は変わる。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15|LAUNCH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商品化した後も、円谷が一緒に市場へ届ける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商品を発売するだけでなく、“売れる瞬間”を一緒に作る。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発売前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期待を作る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・ティザー投稿・先行告知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・商品開発ストーリー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・インフルエンサー先行体験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・予約・抽選受付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・ファン投票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発売時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話題を最大化する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・円谷公式SNS × ULTRA MART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・店頭大型モニター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・インフルエンサー投稿・ライブ配信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・店頭イベント・ヒーロー登場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・限定・先行販売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発売後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拡散と購買を伸ばす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・購入者投稿・UGC活用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・EC誘導・再入荷告知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・使用シーン投稿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・二次展開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・既存流通への波及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93592" cy="1572768"/>
          </a:xfrm>
          <a:prstGeom prst="roundRect">
            <a:avLst>
              <a:gd name="adj" fmla="val 7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19125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円谷が持つ発信・販売接点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公式SNS / ULTRA MART(原宿・直営) / ウルトラマンワールドM78 / ウルサマ・イベント / TSUBURAYA STORE ONLINE(EC) / POPUP / インフルエンサー / メディアPR / 店頭施策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22191"/>
            <a:ext cx="3593592" cy="1682496"/>
          </a:xfrm>
          <a:prstGeom prst="roundRect">
            <a:avLst>
              <a:gd name="adj" fmla="val 7000"/>
            </a:avLst>
          </a:prstGeom>
          <a:solidFill>
            <a:srgbClr val="0C1730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 = </a:t>
            </a: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発信・実験拠点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① 女性・若年・ライト層の開拓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② 限定・先行販売による話題化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③ 商品・デザインのテストマーケ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④ 量販店・専門店・ECへの波及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原宿で話題を作り、全国の売場へ広げる。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QR登録から1週間以内にご連絡【仮】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pic>
        <p:nvPicPr>
          <p:cNvPr id="15" name="Picture 14" descr="s18_36_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2148840"/>
            <a:ext cx="2686050" cy="3520440"/>
          </a:xfrm>
          <a:prstGeom prst="rect">
            <a:avLst/>
          </a:prstGeom>
        </p:spPr>
      </p:pic>
      <p:pic>
        <p:nvPicPr>
          <p:cNvPr id="16" name="Picture 15" descr="s18_10_ev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982" y="2148840"/>
            <a:ext cx="2686050" cy="3520440"/>
          </a:xfrm>
          <a:prstGeom prst="rect">
            <a:avLst/>
          </a:prstGeom>
        </p:spPr>
      </p:pic>
      <p:pic>
        <p:nvPicPr>
          <p:cNvPr id="17" name="Picture 16" descr="s18_37_t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148840"/>
            <a:ext cx="268605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19" name="Picture 18" descr="s19_36_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670" y="4526280"/>
            <a:ext cx="3628571" cy="1143000"/>
          </a:xfrm>
          <a:prstGeom prst="rect">
            <a:avLst/>
          </a:prstGeom>
        </p:spPr>
      </p:pic>
      <p:pic>
        <p:nvPicPr>
          <p:cNvPr id="20" name="Picture 19" descr="s19_37_t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26280"/>
            <a:ext cx="3628571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33_k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