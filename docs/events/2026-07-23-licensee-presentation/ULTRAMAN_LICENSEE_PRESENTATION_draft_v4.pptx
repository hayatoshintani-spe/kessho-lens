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トル表示のみ)本日の位置づけ:聞かせる会ではなく、手を挙げさせる会。参加者に持ち帰らせる感情は「盛り上がってるね」ではなく「うちのカテゴリーでも企画できる」「今動けば2027年の売場・キャンペーンに間に合う」「早く個別相談した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本日は、単なる作品紹介ではありません。2027年度以降のウルトラマン展開を、皆さまの商品・売場・キャンペーンにどう接続できるかをご説明する場です。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本日お伝えしたいことは5つです。この順番でご説明します。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60周年はすでに動き出しています。イベント、商品化、コラボ、流通。(直前の動画と連動して、一枚で「動いている感」を見せる)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60周年は一過性の盛り上がりではありません。2027年度以降の映像・映画・配信・イベント・流通施策に接続していきます。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2027年度以降、ウルトラマンは単発の作品展開ではなく、年間を通じて接点を作る設計に変わります。点ではなく、面で展開します。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レビで継続接点を作り、映画で大型の話題化を作り、配信でコアファン接点を広げ、イベントで熱量を高め、流通・商品化で購買につなげます。TVの安全表現:「キャラクターや世界観の継続性をより重視し、ファンが次の展開を追い続けたくなる構造を強化」。【NG】3年連続・同一世界線・テレビ局変更には触れな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い認知はテレビ、映画、配信、SNS、PRで作ります。一方で、ウルトラマンには、イベント、ショー、グリーティングを通じて、実際に会いに来るファンとの濃い接点があります。このリアルな熱量を、商品・売場・キャンペーンに接続できることが、ウルトラマンの強みです。※「100万人に届きます」という単独リーチ表現は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商品を作って終わりではなく、売場・POPUP・EC・イベント物販に接続していきます。ライセンシーの最大の不安「作った商品はどこで売れるのか?」に応えるパートです。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ライセンシーの皆さまが一番知りたいのは「いつ何を仕込めばいいか」。作品スケジュールではなく、商品化タイミングとしてお見せします。商品開発リードタイムから逆算すると、2027年の山場に間に合わせるには今から企画に入るのがベストタイミング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ここからが本日の中心です。2027年度以降の展開に向けて、10のカテゴリーで商品化・販促企画を募集します。それぞれ具体的な企画案をご用意しました。「うちならこう作れる」という目線でご覧ください。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食品・飲料カテゴリーの皆さまとは、映画・イベント期に合わせた親子向けキャンペーンを作りたいと考えています。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外食・カフェ業態の皆さまとは、ウルトラマンの熱量を店舗送客につなげる企画を作りたいです。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アパレルカテゴリーでは、子ども向けだけでなく、大人・女性・親子リンクまで広げていきたいと考えています。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生活雑貨カテゴリーでは、ファンが毎日使える商品を増やしていきたいです。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文具・教育カテゴリーでは、ウルトラマンの物語性を子どもの成長文脈に接続した商品を作りたいです。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ホビー領域では、ウルトラマン全体のキャラクター資産を活かしたコレクション展開を強化していきたいです。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流通・小売の皆さまとは、ウルトラマン商品を“売る場所”そのものから一緒に作っていきたいです。(サンリオコラボ棚は開示可能なら言及)</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広告代理店・SP会社の皆さまとは、クライアント課題に合わせたウルトラマン活用メニューを作っていきたいです。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大人ファン向けには、世界観やシンボルを活かした高付加価値商品を広げたいです。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これまでウルトラマンに触れてこなかった層にも、雑貨・キャラクター文脈で接点を広げたいです。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ウルトラマンは、IPコラボによって新しいファン層・新しい売場・新しい商品カテゴリーに広がっています。今後は、コラボIPを起点に、ライセンシーの皆さまと共同で商品化・売場化していきたいと考えています。※「やりました」の実績紹介ではなく、役割と商品化機会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円谷側でも、ウルトラマン商品を売る場所、見せる場所、出会う場所を増やしていきます。商品化だけでなく、売場化・販促化まで一緒に設計できることが、今後のライセンス戦略の大きなポイントです。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2027年度以降の展開に向けて、ライセンシーの皆さまが企画しやすいよう、カテゴリー別・ターゲット別に使える素材とデザインガイドを整備していきます。完成感を無理に出すのではなく「使える形にする方針」を打ち出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企画提出から商品化までの流れを標準化しています。個別商談では、NDAのうえでさらに詳細な素材をご覧いただけます。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ご紹介した各カテゴリー企画について、個別相談の受付を開始します。会場内のQRより、関心カテゴリーとご希望の相談テーマをご登録ください。2027年度以降の展開に向けて、早期にご相談いただいた企業様から、優先的に企画検討を進めてまいります。【運営】QRは後方からも読めるサイズで最低30秒表示。次スライドでも画面隅に残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ご紹介した2027年度以降の展開は、円谷プロだけで完結するものではありません。映像で生まれる話題、イベントで生まれる熱量、流通で生まれる売場、そして皆さまの商品・キャンペーンがつながることで、ウルトラマンの次の市場が作られていきます。だからこそ、今日を起点に、ぜひ具体的なご相談を始めさせてください。食品、アパレル、雑貨、文具、流通、広告、IPコラボ、プレミアム商品。それぞれのカテゴリーで、まだまだ一緒に作れる余地があります。2027年度以降のウルトラマンの売場は、今日ここから始まります。皆さまと一緒に、次の商機を作っていきたいと思い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024128"/>
            <a:ext cx="20116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61872"/>
            <a:ext cx="10515600" cy="320040"/>
          </a:xfrm>
          <a:prstGeom prst="rect">
            <a:avLst/>
          </a:prstGeom>
          <a:noFill/>
        </p:spPr>
        <p:txBody>
          <a:bodyPr wrap="square" anchor="t" lIns="0" rIns="0" tIns="0" bIns="0">
            <a:spAutoFit/>
          </a:bodyPr>
          <a:lstStyle/>
          <a:p>
            <a:pPr algn="l">
              <a:lnSpc>
                <a:spcPct val="125000"/>
              </a:lnSpc>
              <a:spcBef>
                <a:spcPts val="0"/>
              </a:spcBef>
              <a:spcAft>
                <a:spcPts val="300"/>
              </a:spcAft>
            </a:pPr>
            <a:r>
              <a:rPr sz="1300" b="1" lang="ja-JP">
                <a:solidFill>
                  <a:srgbClr val="495160"/>
                </a:solidFill>
                <a:latin typeface="Yu Gothic"/>
                <a:ea typeface="Yu Gothic"/>
                <a:cs typeface="Yu Gothic"/>
              </a:rPr>
              <a:t>ライセンシー・パートナー企業の皆さまへ</a:t>
            </a:r>
          </a:p>
        </p:txBody>
      </p:sp>
      <p:sp>
        <p:nvSpPr>
          <p:cNvPr id="5" name="TextBox 4"/>
          <p:cNvSpPr txBox="1"/>
          <p:nvPr/>
        </p:nvSpPr>
        <p:spPr>
          <a:xfrm>
            <a:off x="822960" y="1783080"/>
            <a:ext cx="10881360" cy="1554480"/>
          </a:xfrm>
          <a:prstGeom prst="rect">
            <a:avLst/>
          </a:prstGeom>
          <a:noFill/>
        </p:spPr>
        <p:txBody>
          <a:bodyPr wrap="square" anchor="t" lIns="0" rIns="0" tIns="0" bIns="0">
            <a:spAutoFit/>
          </a:bodyPr>
          <a:lstStyle/>
          <a:p>
            <a:pPr algn="l">
              <a:lnSpc>
                <a:spcPct val="108000"/>
              </a:lnSpc>
              <a:spcBef>
                <a:spcPts val="0"/>
              </a:spcBef>
              <a:spcAft>
                <a:spcPts val="0"/>
              </a:spcAft>
            </a:pPr>
            <a:r>
              <a:rPr sz="4000" b="1" lang="ja-JP">
                <a:solidFill>
                  <a:srgbClr val="282D38"/>
                </a:solidFill>
                <a:latin typeface="Yu Gothic"/>
                <a:ea typeface="Yu Gothic"/>
                <a:cs typeface="Yu Gothic"/>
              </a:rPr>
              <a:t>ULTRAMAN LICENSEE</a:t>
            </a:r>
          </a:p>
          <a:p>
            <a:pPr algn="l">
              <a:lnSpc>
                <a:spcPct val="108000"/>
              </a:lnSpc>
              <a:spcBef>
                <a:spcPts val="0"/>
              </a:spcBef>
              <a:spcAft>
                <a:spcPts val="300"/>
              </a:spcAft>
            </a:pPr>
            <a:r>
              <a:rPr sz="4000" b="1" lang="ja-JP">
                <a:solidFill>
                  <a:srgbClr val="282D38"/>
                </a:solidFill>
                <a:latin typeface="Yu Gothic"/>
                <a:ea typeface="Yu Gothic"/>
                <a:cs typeface="Yu Gothic"/>
              </a:rPr>
              <a:t>PRESENTATION 2026</a:t>
            </a:r>
          </a:p>
        </p:txBody>
      </p:sp>
      <p:sp>
        <p:nvSpPr>
          <p:cNvPr id="6" name="TextBox 5"/>
          <p:cNvSpPr txBox="1"/>
          <p:nvPr/>
        </p:nvSpPr>
        <p:spPr>
          <a:xfrm>
            <a:off x="822960" y="3310128"/>
            <a:ext cx="10881360" cy="502920"/>
          </a:xfrm>
          <a:prstGeom prst="rect">
            <a:avLst/>
          </a:prstGeom>
          <a:noFill/>
        </p:spPr>
        <p:txBody>
          <a:bodyPr wrap="square" anchor="t" lIns="0" rIns="0" tIns="0" bIns="0">
            <a:spAutoFit/>
          </a:bodyPr>
          <a:lstStyle/>
          <a:p>
            <a:pPr algn="l">
              <a:lnSpc>
                <a:spcPct val="125000"/>
              </a:lnSpc>
              <a:spcBef>
                <a:spcPts val="0"/>
              </a:spcBef>
              <a:spcAft>
                <a:spcPts val="300"/>
              </a:spcAft>
            </a:pPr>
            <a:r>
              <a:rPr sz="2000" b="1" lang="ja-JP">
                <a:solidFill>
                  <a:srgbClr val="1F4E96"/>
                </a:solidFill>
                <a:latin typeface="Yu Gothic"/>
                <a:ea typeface="Yu Gothic"/>
                <a:cs typeface="Yu Gothic"/>
              </a:rPr>
              <a:t>2027年度以降の商機を、いま一緒につくる。</a:t>
            </a:r>
          </a:p>
        </p:txBody>
      </p:sp>
      <p:sp>
        <p:nvSpPr>
          <p:cNvPr id="7" name="TextBox 6"/>
          <p:cNvSpPr txBox="1"/>
          <p:nvPr/>
        </p:nvSpPr>
        <p:spPr>
          <a:xfrm>
            <a:off x="822960" y="3840480"/>
            <a:ext cx="10881360" cy="365760"/>
          </a:xfrm>
          <a:prstGeom prst="rect">
            <a:avLst/>
          </a:prstGeom>
          <a:noFill/>
        </p:spPr>
        <p:txBody>
          <a:bodyPr wrap="square" anchor="t" lIns="0" rIns="0" tIns="0" bIns="0">
            <a:spAutoFit/>
          </a:bodyPr>
          <a:lstStyle/>
          <a:p>
            <a:pPr algn="l">
              <a:lnSpc>
                <a:spcPct val="125000"/>
              </a:lnSpc>
              <a:spcBef>
                <a:spcPts val="0"/>
              </a:spcBef>
              <a:spcAft>
                <a:spcPts val="300"/>
              </a:spcAft>
            </a:pPr>
            <a:r>
              <a:rPr sz="1300" b="1" lang="ja-JP">
                <a:solidFill>
                  <a:srgbClr val="12244B"/>
                </a:solidFill>
                <a:latin typeface="Yu Gothic"/>
                <a:ea typeface="Yu Gothic"/>
                <a:cs typeface="Yu Gothic"/>
              </a:rPr>
              <a:t>― 商品化・売場・販促・広告タイアップ・IPコラボに参加する企業を、今日から募集します ―</a:t>
            </a:r>
          </a:p>
        </p:txBody>
      </p:sp>
      <p:sp>
        <p:nvSpPr>
          <p:cNvPr id="8" name="TextBox 7"/>
          <p:cNvSpPr txBox="1"/>
          <p:nvPr/>
        </p:nvSpPr>
        <p:spPr>
          <a:xfrm>
            <a:off x="822960" y="4572000"/>
            <a:ext cx="10881360" cy="320040"/>
          </a:xfrm>
          <a:prstGeom prst="rect">
            <a:avLst/>
          </a:prstGeom>
          <a:noFill/>
        </p:spPr>
        <p:txBody>
          <a:bodyPr wrap="square" anchor="t" lIns="0" rIns="0" tIns="0" bIns="0">
            <a:spAutoFit/>
          </a:bodyPr>
          <a:lstStyle/>
          <a:p>
            <a:pPr algn="l">
              <a:lnSpc>
                <a:spcPct val="125000"/>
              </a:lnSpc>
              <a:spcBef>
                <a:spcPts val="0"/>
              </a:spcBef>
              <a:spcAft>
                <a:spcPts val="300"/>
              </a:spcAft>
            </a:pPr>
            <a:r>
              <a:rPr sz="1200" b="1" lang="ja-JP">
                <a:solidFill>
                  <a:srgbClr val="282D38"/>
                </a:solidFill>
                <a:latin typeface="Yu Gothic"/>
                <a:ea typeface="Yu Gothic"/>
                <a:cs typeface="Yu Gothic"/>
              </a:rPr>
              <a:t>円谷プロダクション</a:t>
            </a:r>
          </a:p>
        </p:txBody>
      </p:sp>
      <p:sp>
        <p:nvSpPr>
          <p:cNvPr id="9" name="TextBox 8"/>
          <p:cNvSpPr txBox="1"/>
          <p:nvPr/>
        </p:nvSpPr>
        <p:spPr>
          <a:xfrm>
            <a:off x="822960" y="4864608"/>
            <a:ext cx="10881360" cy="274320"/>
          </a:xfrm>
          <a:prstGeom prst="rect">
            <a:avLst/>
          </a:prstGeom>
          <a:noFill/>
        </p:spPr>
        <p:txBody>
          <a:bodyPr wrap="square" anchor="t" lIns="0" rIns="0" tIns="0" bIns="0">
            <a:spAutoFit/>
          </a:bodyPr>
          <a:lstStyle/>
          <a:p>
            <a:pPr algn="l">
              <a:lnSpc>
                <a:spcPct val="125000"/>
              </a:lnSpc>
              <a:spcBef>
                <a:spcPts val="0"/>
              </a:spcBef>
              <a:spcAft>
                <a:spcPts val="300"/>
              </a:spcAft>
            </a:pPr>
            <a:r>
              <a:rPr sz="1050" b="0" lang="ja-JP">
                <a:solidFill>
                  <a:srgbClr val="979EAC"/>
                </a:solidFill>
                <a:latin typeface="Yu Gothic"/>
                <a:ea typeface="Yu Gothic"/>
                <a:cs typeface="Yu Gothic"/>
              </a:rPr>
              <a:t>2026年7月23日|ウルサマ イベントステージ</a:t>
            </a:r>
          </a:p>
        </p:txBody>
      </p:sp>
      <p:sp>
        <p:nvSpPr>
          <p:cNvPr id="10" name="TextBox 9"/>
          <p:cNvSpPr txBox="1"/>
          <p:nvPr/>
        </p:nvSpPr>
        <p:spPr>
          <a:xfrm>
            <a:off x="822960" y="5138928"/>
            <a:ext cx="10607040" cy="640080"/>
          </a:xfrm>
          <a:prstGeom prst="rect">
            <a:avLst/>
          </a:prstGeom>
          <a:noFill/>
        </p:spPr>
        <p:txBody>
          <a:bodyPr wrap="square" anchor="t" lIns="0" rIns="0" tIns="0" bIns="0">
            <a:spAutoFit/>
          </a:bodyPr>
          <a:lstStyle/>
          <a:p>
            <a:pPr algn="l">
              <a:lnSpc>
                <a:spcPct val="140000"/>
              </a:lnSpc>
              <a:spcBef>
                <a:spcPts val="0"/>
              </a:spcBef>
              <a:spcAft>
                <a:spcPts val="300"/>
              </a:spcAft>
            </a:pPr>
            <a:r>
              <a:rPr sz="850" b="0" lang="ja-JP">
                <a:solidFill>
                  <a:srgbClr val="979EAC"/>
                </a:solidFill>
                <a:latin typeface="Yu Gothic"/>
                <a:ea typeface="Yu Gothic"/>
                <a:cs typeface="Yu Gothic"/>
              </a:rPr>
              <a:t>本資料は当日投影用ドラフトです。2027年度以降の展開に関する記述は、開示可能範囲の確定(7/14構成確認会)後に最終化します。未確定情報・NDA対象情報は含みません。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02|オープニング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2026(ドラフト)|オープニング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本日は「発表会」ではない――2027年度以降の商機に参加する企業を、今日から募集する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聞いていただく会ではなく、手を挙げていただく会</a:t>
            </a:r>
          </a:p>
        </p:txBody>
      </p:sp>
      <p:sp>
        <p:nvSpPr>
          <p:cNvPr id="9" name="TextBox 8"/>
          <p:cNvSpPr txBox="1"/>
          <p:nvPr/>
        </p:nvSpPr>
        <p:spPr>
          <a:xfrm>
            <a:off x="502920" y="2057400"/>
            <a:ext cx="11183112"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本日の位置づけ</a:t>
            </a:r>
          </a:p>
          <a:p>
            <a:pPr>
              <a:lnSpc>
                <a:spcPct val="130000"/>
              </a:lnSpc>
              <a:spcAft>
                <a:spcPts val="200"/>
              </a:spcAft>
            </a:pPr>
            <a:r>
              <a:rPr sz="1150" b="0" lang="ja-JP">
                <a:solidFill>
                  <a:srgbClr val="495160"/>
                </a:solidFill>
                <a:latin typeface="Yu Gothic"/>
                <a:ea typeface="Yu Gothic"/>
                <a:cs typeface="Yu Gothic"/>
              </a:rPr>
              <a:t>■ 2027年度以降のウルトラマン展開に向けて、商品化・売場・販促・広告タイアップ・IPコラボに参加する企業を募集する場</a:t>
            </a:r>
          </a:p>
          <a:p>
            <a:pPr>
              <a:lnSpc>
                <a:spcPct val="130000"/>
              </a:lnSpc>
              <a:spcAft>
                <a:spcPts val="200"/>
              </a:spcAft>
            </a:pPr>
            <a:r>
              <a:rPr sz="1150" b="0" lang="ja-JP">
                <a:solidFill>
                  <a:srgbClr val="495160"/>
                </a:solidFill>
                <a:latin typeface="Yu Gothic"/>
                <a:ea typeface="Yu Gothic"/>
                <a:cs typeface="Yu Gothic"/>
              </a:rPr>
              <a:t>■ 各カテゴリーの具体企画案と、参加方法・相談導線までご案内する</a:t>
            </a:r>
          </a:p>
          <a:p>
            <a:pPr>
              <a:spcBef>
                <a:spcPts val="800"/>
              </a:spcBef>
              <a:spcAft>
                <a:spcPts val="200"/>
              </a:spcAft>
            </a:pPr>
            <a:r>
              <a:rPr sz="1200" b="1" lang="ja-JP">
                <a:solidFill>
                  <a:srgbClr val="1F4E96"/>
                </a:solidFill>
                <a:latin typeface="Yu Gothic"/>
                <a:ea typeface="Yu Gothic"/>
                <a:cs typeface="Yu Gothic"/>
              </a:rPr>
              <a:t>持ち帰っていただきたいこと</a:t>
            </a:r>
          </a:p>
          <a:p>
            <a:pPr>
              <a:lnSpc>
                <a:spcPct val="130000"/>
              </a:lnSpc>
              <a:spcAft>
                <a:spcPts val="200"/>
              </a:spcAft>
            </a:pPr>
            <a:r>
              <a:rPr sz="1150" b="0" lang="ja-JP">
                <a:solidFill>
                  <a:srgbClr val="495160"/>
                </a:solidFill>
                <a:latin typeface="Yu Gothic"/>
                <a:ea typeface="Yu Gothic"/>
                <a:cs typeface="Yu Gothic"/>
              </a:rPr>
              <a:t>■ 「うちのカテゴリーでも企画できる」という具体的なイメージ</a:t>
            </a:r>
          </a:p>
          <a:p>
            <a:pPr>
              <a:lnSpc>
                <a:spcPct val="130000"/>
              </a:lnSpc>
              <a:spcAft>
                <a:spcPts val="200"/>
              </a:spcAft>
            </a:pPr>
            <a:r>
              <a:rPr sz="1150" b="0" lang="ja-JP">
                <a:solidFill>
                  <a:srgbClr val="495160"/>
                </a:solidFill>
                <a:latin typeface="Yu Gothic"/>
                <a:ea typeface="Yu Gothic"/>
                <a:cs typeface="Yu Gothic"/>
              </a:rPr>
              <a:t>■ 「今動けば、2027年の売場・キャンペーンに間に合う」というタイミング感</a:t>
            </a:r>
          </a:p>
        </p:txBody>
      </p:sp>
      <p:sp>
        <p:nvSpPr>
          <p:cNvPr id="10" name="Rectangle 9"/>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本日の背骨　</a:t>
            </a:r>
            <a:r>
              <a:rPr sz="1100" b="1" lang="ja-JP">
                <a:solidFill>
                  <a:srgbClr val="282D38"/>
                </a:solidFill>
                <a:latin typeface="Yu Gothic"/>
                <a:ea typeface="Yu Gothic"/>
                <a:cs typeface="Yu Gothic"/>
              </a:rPr>
              <a:t>ウルトラマンは年間を通じて生活者との接点を作り続ける――その接点を、皆さまの商品・売場・キャンペーンに変えていく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03|オープニング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2026(ドラフト)|オープニング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3</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今日お伝えしたいこと――5つ</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83080"/>
            <a:ext cx="11183112" cy="566928"/>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1792" y="1920240"/>
            <a:ext cx="292608" cy="292608"/>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1</a:t>
            </a:r>
          </a:p>
        </p:txBody>
      </p:sp>
      <p:sp>
        <p:nvSpPr>
          <p:cNvPr id="10" name="TextBox 9"/>
          <p:cNvSpPr txBox="1"/>
          <p:nvPr/>
        </p:nvSpPr>
        <p:spPr>
          <a:xfrm>
            <a:off x="1033272" y="1783080"/>
            <a:ext cx="10497312" cy="566928"/>
          </a:xfrm>
          <a:prstGeom prst="rect">
            <a:avLst/>
          </a:prstGeom>
          <a:noFill/>
        </p:spPr>
        <p:txBody>
          <a:bodyPr wrap="square" anchor="ctr" lIns="0" rIns="0">
            <a:spAutoFit/>
          </a:bodyPr>
          <a:lstStyle/>
          <a:p>
            <a:r>
              <a:rPr sz="1250" b="1" lang="ja-JP">
                <a:solidFill>
                  <a:srgbClr val="282D38"/>
                </a:solidFill>
                <a:latin typeface="Yu Gothic"/>
                <a:ea typeface="Yu Gothic"/>
                <a:cs typeface="Yu Gothic"/>
              </a:rPr>
              <a:t>60周年の熱量は、2027年度以降の商機につながっている</a:t>
            </a:r>
          </a:p>
        </p:txBody>
      </p:sp>
      <p:sp>
        <p:nvSpPr>
          <p:cNvPr id="11" name="Rounded Rectangle 10"/>
          <p:cNvSpPr/>
          <p:nvPr/>
        </p:nvSpPr>
        <p:spPr>
          <a:xfrm>
            <a:off x="502920" y="2496312"/>
            <a:ext cx="11183112" cy="566928"/>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1792" y="2633472"/>
            <a:ext cx="292608" cy="292608"/>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2</a:t>
            </a:r>
          </a:p>
        </p:txBody>
      </p:sp>
      <p:sp>
        <p:nvSpPr>
          <p:cNvPr id="13" name="TextBox 12"/>
          <p:cNvSpPr txBox="1"/>
          <p:nvPr/>
        </p:nvSpPr>
        <p:spPr>
          <a:xfrm>
            <a:off x="1033272" y="2496312"/>
            <a:ext cx="10497312" cy="566928"/>
          </a:xfrm>
          <a:prstGeom prst="rect">
            <a:avLst/>
          </a:prstGeom>
          <a:noFill/>
        </p:spPr>
        <p:txBody>
          <a:bodyPr wrap="square" anchor="ctr" lIns="0" rIns="0">
            <a:spAutoFit/>
          </a:bodyPr>
          <a:lstStyle/>
          <a:p>
            <a:r>
              <a:rPr sz="1250" b="1" lang="ja-JP">
                <a:solidFill>
                  <a:srgbClr val="282D38"/>
                </a:solidFill>
                <a:latin typeface="Yu Gothic"/>
                <a:ea typeface="Yu Gothic"/>
                <a:cs typeface="Yu Gothic"/>
              </a:rPr>
              <a:t>ウルトラマンは、年間を通じて生活者接点を作るIPになる</a:t>
            </a:r>
          </a:p>
        </p:txBody>
      </p:sp>
      <p:sp>
        <p:nvSpPr>
          <p:cNvPr id="14" name="Rounded Rectangle 13"/>
          <p:cNvSpPr/>
          <p:nvPr/>
        </p:nvSpPr>
        <p:spPr>
          <a:xfrm>
            <a:off x="502920" y="3209544"/>
            <a:ext cx="11183112" cy="566928"/>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1792" y="3346704"/>
            <a:ext cx="292608" cy="292608"/>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3</a:t>
            </a:r>
          </a:p>
        </p:txBody>
      </p:sp>
      <p:sp>
        <p:nvSpPr>
          <p:cNvPr id="16" name="TextBox 15"/>
          <p:cNvSpPr txBox="1"/>
          <p:nvPr/>
        </p:nvSpPr>
        <p:spPr>
          <a:xfrm>
            <a:off x="1033272" y="3209544"/>
            <a:ext cx="10497312" cy="566928"/>
          </a:xfrm>
          <a:prstGeom prst="rect">
            <a:avLst/>
          </a:prstGeom>
          <a:noFill/>
        </p:spPr>
        <p:txBody>
          <a:bodyPr wrap="square" anchor="ctr" lIns="0" rIns="0">
            <a:spAutoFit/>
          </a:bodyPr>
          <a:lstStyle/>
          <a:p>
            <a:r>
              <a:rPr sz="1250" b="1" lang="ja-JP">
                <a:solidFill>
                  <a:srgbClr val="282D38"/>
                </a:solidFill>
                <a:latin typeface="Yu Gothic"/>
                <a:ea typeface="Yu Gothic"/>
                <a:cs typeface="Yu Gothic"/>
              </a:rPr>
              <a:t>各カテゴリーで、具体的な商品化・販促機会がある</a:t>
            </a:r>
            <a:r>
              <a:rPr sz="1100" b="0" lang="ja-JP">
                <a:solidFill>
                  <a:srgbClr val="495160"/>
                </a:solidFill>
                <a:latin typeface="Yu Gothic"/>
                <a:ea typeface="Yu Gothic"/>
                <a:cs typeface="Yu Gothic"/>
              </a:rPr>
              <a:t>　本日、企画案を10本ご提案します</a:t>
            </a:r>
          </a:p>
        </p:txBody>
      </p:sp>
      <p:sp>
        <p:nvSpPr>
          <p:cNvPr id="17" name="Rounded Rectangle 16"/>
          <p:cNvSpPr/>
          <p:nvPr/>
        </p:nvSpPr>
        <p:spPr>
          <a:xfrm>
            <a:off x="502920" y="3922776"/>
            <a:ext cx="11183112" cy="566928"/>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4059936"/>
            <a:ext cx="292608" cy="292608"/>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4</a:t>
            </a:r>
          </a:p>
        </p:txBody>
      </p:sp>
      <p:sp>
        <p:nvSpPr>
          <p:cNvPr id="19" name="TextBox 18"/>
          <p:cNvSpPr txBox="1"/>
          <p:nvPr/>
        </p:nvSpPr>
        <p:spPr>
          <a:xfrm>
            <a:off x="1033272" y="3922776"/>
            <a:ext cx="10497312" cy="566928"/>
          </a:xfrm>
          <a:prstGeom prst="rect">
            <a:avLst/>
          </a:prstGeom>
          <a:noFill/>
        </p:spPr>
        <p:txBody>
          <a:bodyPr wrap="square" anchor="ctr" lIns="0" rIns="0">
            <a:spAutoFit/>
          </a:bodyPr>
          <a:lstStyle/>
          <a:p>
            <a:r>
              <a:rPr sz="1250" b="1" lang="ja-JP">
                <a:solidFill>
                  <a:srgbClr val="282D38"/>
                </a:solidFill>
                <a:latin typeface="Yu Gothic"/>
                <a:ea typeface="Yu Gothic"/>
                <a:cs typeface="Yu Gothic"/>
              </a:rPr>
              <a:t>スタイルガイドと監修体制を整え、企画化を進めやすくする</a:t>
            </a:r>
          </a:p>
        </p:txBody>
      </p:sp>
      <p:sp>
        <p:nvSpPr>
          <p:cNvPr id="20" name="Rounded Rectangle 19"/>
          <p:cNvSpPr/>
          <p:nvPr/>
        </p:nvSpPr>
        <p:spPr>
          <a:xfrm>
            <a:off x="502920" y="4636008"/>
            <a:ext cx="11183112" cy="566928"/>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1792" y="4773168"/>
            <a:ext cx="292608" cy="292608"/>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5</a:t>
            </a:r>
          </a:p>
        </p:txBody>
      </p:sp>
      <p:sp>
        <p:nvSpPr>
          <p:cNvPr id="22" name="TextBox 21"/>
          <p:cNvSpPr txBox="1"/>
          <p:nvPr/>
        </p:nvSpPr>
        <p:spPr>
          <a:xfrm>
            <a:off x="1033272" y="4636008"/>
            <a:ext cx="10497312" cy="566928"/>
          </a:xfrm>
          <a:prstGeom prst="rect">
            <a:avLst/>
          </a:prstGeom>
          <a:noFill/>
        </p:spPr>
        <p:txBody>
          <a:bodyPr wrap="square" anchor="ctr" lIns="0" rIns="0">
            <a:spAutoFit/>
          </a:bodyPr>
          <a:lstStyle/>
          <a:p>
            <a:r>
              <a:rPr sz="1250" b="1" lang="ja-JP">
                <a:solidFill>
                  <a:srgbClr val="282D38"/>
                </a:solidFill>
                <a:latin typeface="Yu Gothic"/>
                <a:ea typeface="Yu Gothic"/>
                <a:cs typeface="Yu Gothic"/>
              </a:rPr>
              <a:t>本日から、個別商談・企画相談を開始する</a:t>
            </a:r>
          </a:p>
        </p:txBody>
      </p:sp>
      <p:sp>
        <p:nvSpPr>
          <p:cNvPr id="23" name="Rectangle 22"/>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本日は、そのための商機と参加方法をご説明します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04|60周年の現在地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2026(ドラフト)|60周年の現在地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4</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60周年は、もう始まっている――イベント・商品・広告・流通・コラボが動いている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異なるファン層・異なる売場に向けた展開が、同時並行で進行中</a:t>
            </a:r>
          </a:p>
        </p:txBody>
      </p:sp>
      <p:sp>
        <p:nvSpPr>
          <p:cNvPr id="9" name="Rounded Rectangle 8"/>
          <p:cNvSpPr/>
          <p:nvPr/>
        </p:nvSpPr>
        <p:spPr>
          <a:xfrm>
            <a:off x="502920" y="2148840"/>
            <a:ext cx="5490972" cy="137160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300" b="1" lang="ja-JP">
                <a:solidFill>
                  <a:srgbClr val="12244B"/>
                </a:solidFill>
                <a:latin typeface="Yu Gothic"/>
                <a:ea typeface="Yu Gothic"/>
                <a:cs typeface="Yu Gothic"/>
              </a:rPr>
              <a:t>国内外イベント</a:t>
            </a:r>
          </a:p>
          <a:p>
            <a:pPr algn="ctr">
              <a:lnSpc>
                <a:spcPct val="120000"/>
              </a:lnSpc>
            </a:pPr>
            <a:r>
              <a:rPr sz="1000" b="0" lang="ja-JP">
                <a:solidFill>
                  <a:srgbClr val="495160"/>
                </a:solidFill>
                <a:latin typeface="Yu Gothic"/>
                <a:ea typeface="Yu Gothic"/>
                <a:cs typeface="Yu Gothic"/>
              </a:rPr>
              <a:t>ウルサマ/ライブ/展覧会/ヒーローショー/グリーティング</a:t>
            </a:r>
          </a:p>
        </p:txBody>
      </p:sp>
      <p:sp>
        <p:nvSpPr>
          <p:cNvPr id="10" name="Rounded Rectangle 9"/>
          <p:cNvSpPr/>
          <p:nvPr/>
        </p:nvSpPr>
        <p:spPr>
          <a:xfrm>
            <a:off x="6195060" y="2148840"/>
            <a:ext cx="5490972" cy="137160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300" b="1" lang="ja-JP">
                <a:solidFill>
                  <a:srgbClr val="12244B"/>
                </a:solidFill>
                <a:latin typeface="Yu Gothic"/>
                <a:ea typeface="Yu Gothic"/>
                <a:cs typeface="Yu Gothic"/>
              </a:rPr>
              <a:t>商品化</a:t>
            </a:r>
          </a:p>
          <a:p>
            <a:pPr algn="ctr">
              <a:lnSpc>
                <a:spcPct val="120000"/>
              </a:lnSpc>
            </a:pPr>
            <a:r>
              <a:rPr sz="1000" b="0" lang="ja-JP">
                <a:solidFill>
                  <a:srgbClr val="495160"/>
                </a:solidFill>
                <a:latin typeface="Yu Gothic"/>
                <a:ea typeface="Yu Gothic"/>
                <a:cs typeface="Yu Gothic"/>
              </a:rPr>
              <a:t>食品・アパレル・雑貨・玩具・文具・コレクション</a:t>
            </a:r>
          </a:p>
        </p:txBody>
      </p:sp>
      <p:sp>
        <p:nvSpPr>
          <p:cNvPr id="11" name="Rounded Rectangle 10"/>
          <p:cNvSpPr/>
          <p:nvPr/>
        </p:nvSpPr>
        <p:spPr>
          <a:xfrm>
            <a:off x="502920" y="3721608"/>
            <a:ext cx="5490972" cy="1371600"/>
          </a:xfrm>
          <a:prstGeom prst="roundRect">
            <a:avLst>
              <a:gd name="adj" fmla="val 10000"/>
            </a:avLst>
          </a:prstGeom>
          <a:solidFill>
            <a:srgbClr val="F4F5F7"/>
          </a:solidFill>
          <a:ln w="1397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300" b="1" lang="ja-JP">
                <a:solidFill>
                  <a:srgbClr val="282D38"/>
                </a:solidFill>
                <a:latin typeface="Yu Gothic"/>
                <a:ea typeface="Yu Gothic"/>
                <a:cs typeface="Yu Gothic"/>
              </a:rPr>
              <a:t>IPコラボ</a:t>
            </a:r>
          </a:p>
          <a:p>
            <a:pPr algn="ctr">
              <a:lnSpc>
                <a:spcPct val="120000"/>
              </a:lnSpc>
            </a:pPr>
            <a:r>
              <a:rPr sz="1000" b="0" lang="ja-JP">
                <a:solidFill>
                  <a:srgbClr val="495160"/>
                </a:solidFill>
                <a:latin typeface="Yu Gothic"/>
                <a:ea typeface="Yu Gothic"/>
                <a:cs typeface="Yu Gothic"/>
              </a:rPr>
              <a:t>モフサンド、ベイブレード ほか</a:t>
            </a:r>
          </a:p>
        </p:txBody>
      </p:sp>
      <p:sp>
        <p:nvSpPr>
          <p:cNvPr id="12" name="Rounded Rectangle 11"/>
          <p:cNvSpPr/>
          <p:nvPr/>
        </p:nvSpPr>
        <p:spPr>
          <a:xfrm>
            <a:off x="6195060" y="3721608"/>
            <a:ext cx="5490972" cy="1371600"/>
          </a:xfrm>
          <a:prstGeom prst="roundRect">
            <a:avLst>
              <a:gd name="adj" fmla="val 10000"/>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300" b="1" lang="ja-JP">
                <a:solidFill>
                  <a:srgbClr val="FFFFFF"/>
                </a:solidFill>
                <a:latin typeface="Yu Gothic"/>
                <a:ea typeface="Yu Gothic"/>
                <a:cs typeface="Yu Gothic"/>
              </a:rPr>
              <a:t>流通</a:t>
            </a:r>
          </a:p>
          <a:p>
            <a:pPr algn="ctr">
              <a:lnSpc>
                <a:spcPct val="120000"/>
              </a:lnSpc>
            </a:pPr>
            <a:r>
              <a:rPr sz="1000" b="0" lang="ja-JP">
                <a:solidFill>
                  <a:srgbClr val="C6D4EA"/>
                </a:solidFill>
                <a:latin typeface="Yu Gothic"/>
                <a:ea typeface="Yu Gothic"/>
                <a:cs typeface="Yu Gothic"/>
              </a:rPr>
              <a:t>ウルトラマート、POPUP、量販・専門店</a:t>
            </a:r>
          </a:p>
        </p:txBody>
      </p:sp>
      <p:sp>
        <p:nvSpPr>
          <p:cNvPr id="13" name="TextBox 12"/>
          <p:cNvSpPr txBox="1"/>
          <p:nvPr/>
        </p:nvSpPr>
        <p:spPr>
          <a:xfrm>
            <a:off x="502920" y="5257800"/>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900" b="0" lang="ja-JP">
                <a:solidFill>
                  <a:srgbClr val="979EAC"/>
                </a:solidFill>
                <a:latin typeface="Yu Gothic"/>
                <a:ea typeface="Yu Gothic"/>
                <a:cs typeface="Yu Gothic"/>
              </a:rPr>
              <a:t>※ 【素材8待ち】実績写真グリッド(8〜12点)に差し替え予定。数字より「動いている感」を重視</a:t>
            </a:r>
          </a:p>
        </p:txBody>
      </p:sp>
      <p:sp>
        <p:nvSpPr>
          <p:cNvPr id="14" name="Rectangle 13"/>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この熱量は、一過性の盛り上がりでは終わらない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05|60周年の現在地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2026(ドラフト)|60周年の現在地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5</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でも、商機はここからが本番</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10424160" cy="3291840"/>
          </a:xfrm>
          <a:prstGeom prst="rect">
            <a:avLst/>
          </a:prstGeom>
          <a:noFill/>
        </p:spPr>
        <p:txBody>
          <a:bodyPr wrap="square" lIns="0" rIns="0">
            <a:spAutoFit/>
          </a:bodyPr>
          <a:lstStyle/>
          <a:p>
            <a:pPr>
              <a:lnSpc>
                <a:spcPct val="130000"/>
              </a:lnSpc>
              <a:spcAft>
                <a:spcPts val="2400"/>
              </a:spcAft>
            </a:pPr>
            <a:r>
              <a:rPr sz="1900" b="0" lang="ja-JP">
                <a:solidFill>
                  <a:srgbClr val="495160"/>
                </a:solidFill>
                <a:latin typeface="Yu Gothic"/>
                <a:ea typeface="Yu Gothic"/>
                <a:cs typeface="Yu Gothic"/>
              </a:rPr>
              <a:t>60周年は、一過性の盛り上がりではありません。</a:t>
            </a:r>
          </a:p>
          <a:p>
            <a:pPr>
              <a:lnSpc>
                <a:spcPct val="130000"/>
              </a:lnSpc>
              <a:spcAft>
                <a:spcPts val="2400"/>
              </a:spcAft>
            </a:pPr>
            <a:r>
              <a:rPr sz="1900" b="1" lang="ja-JP">
                <a:solidFill>
                  <a:srgbClr val="12244B"/>
                </a:solidFill>
                <a:latin typeface="Yu Gothic"/>
                <a:ea typeface="Yu Gothic"/>
                <a:cs typeface="Yu Gothic"/>
              </a:rPr>
              <a:t>2027年度以降の映像・映画・配信・イベント・流通施策に、接続していきます。</a:t>
            </a:r>
          </a:p>
          <a:p>
            <a:pPr>
              <a:lnSpc>
                <a:spcPct val="130000"/>
              </a:lnSpc>
              <a:spcAft>
                <a:spcPts val="2400"/>
              </a:spcAft>
            </a:pPr>
            <a:r>
              <a:rPr sz="1900" b="1" lang="ja-JP">
                <a:solidFill>
                  <a:srgbClr val="1F4E96"/>
                </a:solidFill>
                <a:latin typeface="Yu Gothic"/>
                <a:ea typeface="Yu Gothic"/>
                <a:cs typeface="Yu Gothic"/>
              </a:rPr>
              <a:t>――2027年のウルトラマン売場は、今日ここから始まります。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06|2027年度以降の全体像</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2026(ドラフト)|2027年度以降の全体像</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6</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2027年度以降の全体像――点ではなく、面で展開する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9つの展開が連動して動く「年間型IP」へ</a:t>
            </a:r>
          </a:p>
        </p:txBody>
      </p:sp>
      <p:sp>
        <p:nvSpPr>
          <p:cNvPr id="9" name="Rounded Rectangle 8"/>
          <p:cNvSpPr/>
          <p:nvPr/>
        </p:nvSpPr>
        <p:spPr>
          <a:xfrm>
            <a:off x="502920" y="2103120"/>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テレビシリーズ</a:t>
            </a:r>
          </a:p>
          <a:p>
            <a:pPr algn="ctr">
              <a:lnSpc>
                <a:spcPct val="120000"/>
              </a:lnSpc>
            </a:pPr>
            <a:r>
              <a:rPr sz="950" b="0" lang="ja-JP">
                <a:solidFill>
                  <a:srgbClr val="495160"/>
                </a:solidFill>
                <a:latin typeface="Yu Gothic"/>
                <a:ea typeface="Yu Gothic"/>
                <a:cs typeface="Yu Gothic"/>
              </a:rPr>
              <a:t>継続接点</a:t>
            </a:r>
          </a:p>
        </p:txBody>
      </p:sp>
      <p:sp>
        <p:nvSpPr>
          <p:cNvPr id="10" name="Rounded Rectangle 9"/>
          <p:cNvSpPr/>
          <p:nvPr/>
        </p:nvSpPr>
        <p:spPr>
          <a:xfrm>
            <a:off x="4285488" y="2103120"/>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映画</a:t>
            </a:r>
          </a:p>
          <a:p>
            <a:pPr algn="ctr">
              <a:lnSpc>
                <a:spcPct val="120000"/>
              </a:lnSpc>
            </a:pPr>
            <a:r>
              <a:rPr sz="950" b="0" lang="ja-JP">
                <a:solidFill>
                  <a:srgbClr val="495160"/>
                </a:solidFill>
                <a:latin typeface="Yu Gothic"/>
                <a:ea typeface="Yu Gothic"/>
                <a:cs typeface="Yu Gothic"/>
              </a:rPr>
              <a:t>大型話題化</a:t>
            </a:r>
          </a:p>
        </p:txBody>
      </p:sp>
      <p:sp>
        <p:nvSpPr>
          <p:cNvPr id="11" name="Rounded Rectangle 10"/>
          <p:cNvSpPr/>
          <p:nvPr/>
        </p:nvSpPr>
        <p:spPr>
          <a:xfrm>
            <a:off x="8068056" y="2103120"/>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配信・YouTube</a:t>
            </a:r>
          </a:p>
          <a:p>
            <a:pPr algn="ctr">
              <a:lnSpc>
                <a:spcPct val="120000"/>
              </a:lnSpc>
            </a:pPr>
            <a:r>
              <a:rPr sz="950" b="0" lang="ja-JP">
                <a:solidFill>
                  <a:srgbClr val="495160"/>
                </a:solidFill>
                <a:latin typeface="Yu Gothic"/>
                <a:ea typeface="Yu Gothic"/>
                <a:cs typeface="Yu Gothic"/>
              </a:rPr>
              <a:t>コアファン接点</a:t>
            </a:r>
          </a:p>
        </p:txBody>
      </p:sp>
      <p:sp>
        <p:nvSpPr>
          <p:cNvPr id="12" name="Rounded Rectangle 11"/>
          <p:cNvSpPr/>
          <p:nvPr/>
        </p:nvSpPr>
        <p:spPr>
          <a:xfrm>
            <a:off x="502920" y="3227832"/>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ウルサマ・ライブイベント</a:t>
            </a:r>
          </a:p>
          <a:p>
            <a:pPr algn="ctr">
              <a:lnSpc>
                <a:spcPct val="120000"/>
              </a:lnSpc>
            </a:pPr>
            <a:r>
              <a:rPr sz="950" b="0" lang="ja-JP">
                <a:solidFill>
                  <a:srgbClr val="495160"/>
                </a:solidFill>
                <a:latin typeface="Yu Gothic"/>
                <a:ea typeface="Yu Gothic"/>
                <a:cs typeface="Yu Gothic"/>
              </a:rPr>
              <a:t>熱量づくり</a:t>
            </a:r>
          </a:p>
        </p:txBody>
      </p:sp>
      <p:sp>
        <p:nvSpPr>
          <p:cNvPr id="13" name="Rounded Rectangle 12"/>
          <p:cNvSpPr/>
          <p:nvPr/>
        </p:nvSpPr>
        <p:spPr>
          <a:xfrm>
            <a:off x="4285488" y="3227832"/>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IPコラボ</a:t>
            </a:r>
          </a:p>
          <a:p>
            <a:pPr algn="ctr">
              <a:lnSpc>
                <a:spcPct val="120000"/>
              </a:lnSpc>
            </a:pPr>
            <a:r>
              <a:rPr sz="950" b="0" lang="ja-JP">
                <a:solidFill>
                  <a:srgbClr val="495160"/>
                </a:solidFill>
                <a:latin typeface="Yu Gothic"/>
                <a:ea typeface="Yu Gothic"/>
                <a:cs typeface="Yu Gothic"/>
              </a:rPr>
              <a:t>新ファン層開拓</a:t>
            </a:r>
          </a:p>
        </p:txBody>
      </p:sp>
      <p:sp>
        <p:nvSpPr>
          <p:cNvPr id="14" name="Rounded Rectangle 13"/>
          <p:cNvSpPr/>
          <p:nvPr/>
        </p:nvSpPr>
        <p:spPr>
          <a:xfrm>
            <a:off x="8068056" y="3227832"/>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ウルトラマート</a:t>
            </a:r>
          </a:p>
          <a:p>
            <a:pPr algn="ctr">
              <a:lnSpc>
                <a:spcPct val="120000"/>
              </a:lnSpc>
            </a:pPr>
            <a:r>
              <a:rPr sz="950" b="0" lang="ja-JP">
                <a:solidFill>
                  <a:srgbClr val="495160"/>
                </a:solidFill>
                <a:latin typeface="Yu Gothic"/>
                <a:ea typeface="Yu Gothic"/>
                <a:cs typeface="Yu Gothic"/>
              </a:rPr>
              <a:t>売場づくり</a:t>
            </a:r>
          </a:p>
        </p:txBody>
      </p:sp>
      <p:sp>
        <p:nvSpPr>
          <p:cNvPr id="15" name="Rounded Rectangle 14"/>
          <p:cNvSpPr/>
          <p:nvPr/>
        </p:nvSpPr>
        <p:spPr>
          <a:xfrm>
            <a:off x="502920" y="4352544"/>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流通展開</a:t>
            </a:r>
          </a:p>
          <a:p>
            <a:pPr algn="ctr">
              <a:lnSpc>
                <a:spcPct val="120000"/>
              </a:lnSpc>
            </a:pPr>
            <a:r>
              <a:rPr sz="950" b="0" lang="ja-JP">
                <a:solidFill>
                  <a:srgbClr val="495160"/>
                </a:solidFill>
                <a:latin typeface="Yu Gothic"/>
                <a:ea typeface="Yu Gothic"/>
                <a:cs typeface="Yu Gothic"/>
              </a:rPr>
              <a:t>販路拡大</a:t>
            </a:r>
          </a:p>
        </p:txBody>
      </p:sp>
      <p:sp>
        <p:nvSpPr>
          <p:cNvPr id="16" name="Rounded Rectangle 15"/>
          <p:cNvSpPr/>
          <p:nvPr/>
        </p:nvSpPr>
        <p:spPr>
          <a:xfrm>
            <a:off x="4285488" y="4352544"/>
            <a:ext cx="3617976" cy="960120"/>
          </a:xfrm>
          <a:prstGeom prst="roundRect">
            <a:avLst>
              <a:gd name="adj" fmla="val 10000"/>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FFFFFF"/>
                </a:solidFill>
                <a:latin typeface="Yu Gothic"/>
                <a:ea typeface="Yu Gothic"/>
                <a:cs typeface="Yu Gothic"/>
              </a:rPr>
              <a:t>商品化</a:t>
            </a:r>
          </a:p>
          <a:p>
            <a:pPr algn="ctr">
              <a:lnSpc>
                <a:spcPct val="120000"/>
              </a:lnSpc>
            </a:pPr>
            <a:r>
              <a:rPr sz="950" b="0" lang="ja-JP">
                <a:solidFill>
                  <a:srgbClr val="C6D4EA"/>
                </a:solidFill>
                <a:latin typeface="Yu Gothic"/>
                <a:ea typeface="Yu Gothic"/>
                <a:cs typeface="Yu Gothic"/>
              </a:rPr>
              <a:t>購買接点</a:t>
            </a:r>
          </a:p>
        </p:txBody>
      </p:sp>
      <p:sp>
        <p:nvSpPr>
          <p:cNvPr id="17" name="Rounded Rectangle 16"/>
          <p:cNvSpPr/>
          <p:nvPr/>
        </p:nvSpPr>
        <p:spPr>
          <a:xfrm>
            <a:off x="8068056" y="4352544"/>
            <a:ext cx="3617976" cy="96012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広告キャンペーン</a:t>
            </a:r>
          </a:p>
          <a:p>
            <a:pPr algn="ctr">
              <a:lnSpc>
                <a:spcPct val="120000"/>
              </a:lnSpc>
            </a:pPr>
            <a:r>
              <a:rPr sz="950" b="0" lang="ja-JP">
                <a:solidFill>
                  <a:srgbClr val="495160"/>
                </a:solidFill>
                <a:latin typeface="Yu Gothic"/>
                <a:ea typeface="Yu Gothic"/>
                <a:cs typeface="Yu Gothic"/>
              </a:rPr>
              <a:t>企業活用</a:t>
            </a:r>
          </a:p>
        </p:txBody>
      </p:sp>
      <p:sp>
        <p:nvSpPr>
          <p:cNvPr id="18" name="Rectangle 17"/>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それぞれの接点を、皆さまの商品・売場・キャンペーンに変えていく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07|2027年度以降の全体像</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2026(ドラフト)|2027年度以降の全体像</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7</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映像展開が、商品化の理由を作る――テレビは継続、映画は話題化、配信は横断</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作品の羅列ではなく、「商品をいつ・なぜ出すか」の設計としてお伝えする</a:t>
            </a:r>
          </a:p>
        </p:txBody>
      </p:sp>
      <p:sp>
        <p:nvSpPr>
          <p:cNvPr id="9" name="Rounded Rectangle 8"/>
          <p:cNvSpPr/>
          <p:nvPr/>
        </p:nvSpPr>
        <p:spPr>
          <a:xfrm>
            <a:off x="502920" y="2148840"/>
            <a:ext cx="3593592" cy="182880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50" b="1" lang="ja-JP">
                <a:solidFill>
                  <a:srgbClr val="12244B"/>
                </a:solidFill>
                <a:latin typeface="Yu Gothic"/>
                <a:ea typeface="Yu Gothic"/>
                <a:cs typeface="Yu Gothic"/>
              </a:rPr>
              <a:t>商機① テレビシリーズ</a:t>
            </a:r>
          </a:p>
          <a:p>
            <a:pPr algn="ctr">
              <a:lnSpc>
                <a:spcPct val="120000"/>
              </a:lnSpc>
            </a:pPr>
            <a:r>
              <a:rPr sz="1000" b="0" lang="ja-JP">
                <a:solidFill>
                  <a:srgbClr val="495160"/>
                </a:solidFill>
                <a:latin typeface="Yu Gothic"/>
                <a:ea typeface="Yu Gothic"/>
                <a:cs typeface="Yu Gothic"/>
              </a:rPr>
              <a:t>継続接点:世界観の継続性を重視し、商品もシリーズ展開・第2弾・第3弾を設計しやすくなる</a:t>
            </a:r>
          </a:p>
        </p:txBody>
      </p:sp>
      <p:sp>
        <p:nvSpPr>
          <p:cNvPr id="10" name="Rounded Rectangle 9"/>
          <p:cNvSpPr/>
          <p:nvPr/>
        </p:nvSpPr>
        <p:spPr>
          <a:xfrm>
            <a:off x="4297680" y="2148840"/>
            <a:ext cx="3593592" cy="182880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50" b="1" lang="ja-JP">
                <a:solidFill>
                  <a:srgbClr val="12244B"/>
                </a:solidFill>
                <a:latin typeface="Yu Gothic"/>
                <a:ea typeface="Yu Gothic"/>
                <a:cs typeface="Yu Gothic"/>
              </a:rPr>
              <a:t>商機② 映画・ゼロ関連</a:t>
            </a:r>
          </a:p>
          <a:p>
            <a:pPr algn="ctr">
              <a:lnSpc>
                <a:spcPct val="120000"/>
              </a:lnSpc>
            </a:pPr>
            <a:r>
              <a:rPr sz="1000" b="0" lang="ja-JP">
                <a:solidFill>
                  <a:srgbClr val="495160"/>
                </a:solidFill>
                <a:latin typeface="Yu Gothic"/>
                <a:ea typeface="Yu Gothic"/>
                <a:cs typeface="Yu Gothic"/>
              </a:rPr>
              <a:t>大型話題化:商品化・販促・流通施策を集中させる最大の山。生活者が「買う理由」を作れるタイミング</a:t>
            </a:r>
          </a:p>
        </p:txBody>
      </p:sp>
      <p:sp>
        <p:nvSpPr>
          <p:cNvPr id="11" name="Rounded Rectangle 10"/>
          <p:cNvSpPr/>
          <p:nvPr/>
        </p:nvSpPr>
        <p:spPr>
          <a:xfrm>
            <a:off x="8092440" y="2148840"/>
            <a:ext cx="3593592" cy="182880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50" b="1" lang="ja-JP">
                <a:solidFill>
                  <a:srgbClr val="12244B"/>
                </a:solidFill>
                <a:latin typeface="Yu Gothic"/>
                <a:ea typeface="Yu Gothic"/>
                <a:cs typeface="Yu Gothic"/>
              </a:rPr>
              <a:t>商機③ 配信・ギャラファイ</a:t>
            </a:r>
          </a:p>
          <a:p>
            <a:pPr algn="ctr">
              <a:lnSpc>
                <a:spcPct val="120000"/>
              </a:lnSpc>
            </a:pPr>
            <a:r>
              <a:rPr sz="1000" b="0" lang="ja-JP">
                <a:solidFill>
                  <a:srgbClr val="495160"/>
                </a:solidFill>
                <a:latin typeface="Yu Gothic"/>
                <a:ea typeface="Yu Gothic"/>
                <a:cs typeface="Yu Gothic"/>
              </a:rPr>
              <a:t>キャラ横断:歴代ヒーロー・怪獣を横断活用でき、コレクション性の高い商品・ファン向けMDと相性が良い</a:t>
            </a:r>
          </a:p>
        </p:txBody>
      </p:sp>
      <p:sp>
        <p:nvSpPr>
          <p:cNvPr id="12" name="Rounded Rectangle 11"/>
          <p:cNvSpPr/>
          <p:nvPr/>
        </p:nvSpPr>
        <p:spPr>
          <a:xfrm>
            <a:off x="502920" y="4297680"/>
            <a:ext cx="11183112" cy="457200"/>
          </a:xfrm>
          <a:prstGeom prst="roundRect">
            <a:avLst>
              <a:gd name="adj" fmla="val 18000"/>
            </a:avLst>
          </a:prstGeom>
          <a:solidFill>
            <a:srgbClr val="EBF0F8"/>
          </a:solidFill>
          <a:ln w="12700">
            <a:solidFill>
              <a:srgbClr val="1F4E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297680"/>
            <a:ext cx="10817352" cy="457200"/>
          </a:xfrm>
          <a:prstGeom prst="rect">
            <a:avLst/>
          </a:prstGeom>
          <a:noFill/>
        </p:spPr>
        <p:txBody>
          <a:bodyPr wrap="square" anchor="ctr" lIns="0" rIns="0">
            <a:spAutoFit/>
          </a:bodyPr>
          <a:lstStyle/>
          <a:p>
            <a:r>
              <a:rPr sz="1000" b="1" lang="ja-JP">
                <a:solidFill>
                  <a:srgbClr val="1F4E96"/>
                </a:solidFill>
                <a:latin typeface="Yu Gothic"/>
                <a:ea typeface="Yu Gothic"/>
                <a:cs typeface="Yu Gothic"/>
              </a:rPr>
              <a:t>【素材1・2・4・6待ち/開示確認】2027年以降のコンテンツ全体像・各柱の開示可能情報</a:t>
            </a:r>
          </a:p>
        </p:txBody>
      </p:sp>
      <p:sp>
        <p:nvSpPr>
          <p:cNvPr id="14" name="Rectangle 13"/>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単発の商品化で終わらせない――年間の接点設計が、商品の売れるタイミングを作る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08|2027年度以降の全体像</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2026(ドラフト)|2027年度以降の全体像</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8</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イベントが、熱量を作る――広い認知と深いリアル接点の両方を持つIP</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「広さ」は映像・SNSで、「濃さ」はイベントで、「購買」は売場・商品化で語る</a:t>
            </a:r>
          </a:p>
        </p:txBody>
      </p:sp>
      <p:graphicFrame>
        <p:nvGraphicFramePr>
          <p:cNvPr id="9" name="Table 8"/>
          <p:cNvGraphicFramePr>
            <a:graphicFrameLocks noGrp="1"/>
          </p:cNvGraphicFramePr>
          <p:nvPr/>
        </p:nvGraphicFramePr>
        <p:xfrm>
          <a:off x="502920" y="2057400"/>
          <a:ext cx="11155680" cy="1920240"/>
        </p:xfrm>
        <a:graphic>
          <a:graphicData uri="http://schemas.openxmlformats.org/drawingml/2006/table">
            <a:tbl>
              <a:tblPr>
                <a:tableStyleId>{5C22544A-7EE6-4342-B048-85BDC9FD1C3A}</a:tableStyleId>
              </a:tblPr>
              <a:tblGrid>
                <a:gridCol w="3291840"/>
                <a:gridCol w="2468880"/>
                <a:gridCol w="5394960"/>
              </a:tblGrid>
              <a:tr h="384048">
                <a:tc>
                  <a:txBody>
                    <a:bodyPr/>
                    <a:lstStyle/>
                    <a:p>
                      <a:r>
                        <a:rPr sz="1050" b="1" lang="ja-JP">
                          <a:solidFill>
                            <a:srgbClr val="FFFFFF"/>
                          </a:solidFill>
                          <a:latin typeface="Yu Gothic"/>
                          <a:ea typeface="Yu Gothic"/>
                          <a:cs typeface="Yu Gothic"/>
                        </a:rPr>
                        <a:t>指標</a:t>
                      </a:r>
                    </a:p>
                  </a:txBody>
                  <a:tcPr anchor="ctr">
                    <a:solidFill>
                      <a:srgbClr val="12244B"/>
                    </a:solidFill>
                  </a:tcPr>
                </a:tc>
                <a:tc>
                  <a:txBody>
                    <a:bodyPr/>
                    <a:lstStyle/>
                    <a:p>
                      <a:r>
                        <a:rPr sz="1050" b="1" lang="ja-JP">
                          <a:solidFill>
                            <a:srgbClr val="FFFFFF"/>
                          </a:solidFill>
                          <a:latin typeface="Yu Gothic"/>
                          <a:ea typeface="Yu Gothic"/>
                          <a:cs typeface="Yu Gothic"/>
                        </a:rPr>
                        <a:t>役割</a:t>
                      </a:r>
                    </a:p>
                  </a:txBody>
                  <a:tcPr anchor="ctr">
                    <a:solidFill>
                      <a:srgbClr val="12244B"/>
                    </a:solidFill>
                  </a:tcPr>
                </a:tc>
                <a:tc>
                  <a:txBody>
                    <a:bodyPr/>
                    <a:lstStyle/>
                    <a:p>
                      <a:r>
                        <a:rPr sz="1050" b="1" lang="ja-JP">
                          <a:solidFill>
                            <a:srgbClr val="FFFFFF"/>
                          </a:solidFill>
                          <a:latin typeface="Yu Gothic"/>
                          <a:ea typeface="Yu Gothic"/>
                          <a:cs typeface="Yu Gothic"/>
                        </a:rPr>
                        <a:t>例</a:t>
                      </a:r>
                    </a:p>
                  </a:txBody>
                  <a:tcPr anchor="ctr">
                    <a:solidFill>
                      <a:srgbClr val="12244B"/>
                    </a:solidFill>
                  </a:tcPr>
                </a:tc>
              </a:tr>
              <a:tr h="384048">
                <a:tc>
                  <a:txBody>
                    <a:bodyPr/>
                    <a:lstStyle/>
                    <a:p>
                      <a:pPr>
                        <a:lnSpc>
                          <a:spcPct val="110000"/>
                        </a:lnSpc>
                      </a:pPr>
                      <a:r>
                        <a:rPr sz="1050" b="1" lang="ja-JP">
                          <a:solidFill>
                            <a:srgbClr val="12244B"/>
                          </a:solidFill>
                          <a:latin typeface="Yu Gothic"/>
                          <a:ea typeface="Yu Gothic"/>
                          <a:cs typeface="Yu Gothic"/>
                        </a:rPr>
                        <a:t>テレビ・映画・配信・SNS</a:t>
                      </a:r>
                    </a:p>
                  </a:txBody>
                  <a:tcPr anchor="ctr">
                    <a:solidFill>
                      <a:srgbClr val="FFFFFF"/>
                    </a:solidFill>
                  </a:tcPr>
                </a:tc>
                <a:tc>
                  <a:txBody>
                    <a:bodyPr/>
                    <a:lstStyle/>
                    <a:p>
                      <a:pPr>
                        <a:lnSpc>
                          <a:spcPct val="110000"/>
                        </a:lnSpc>
                      </a:pPr>
                      <a:r>
                        <a:rPr sz="1050" b="0" lang="ja-JP">
                          <a:solidFill>
                            <a:srgbClr val="495160"/>
                          </a:solidFill>
                          <a:latin typeface="Yu Gothic"/>
                          <a:ea typeface="Yu Gothic"/>
                          <a:cs typeface="Yu Gothic"/>
                        </a:rPr>
                        <a:t>広く知ってもらう</a:t>
                      </a:r>
                    </a:p>
                  </a:txBody>
                  <a:tcPr anchor="ctr">
                    <a:solidFill>
                      <a:srgbClr val="FFFFFF"/>
                    </a:solidFill>
                  </a:tcPr>
                </a:tc>
                <a:tc>
                  <a:txBody>
                    <a:bodyPr/>
                    <a:lstStyle/>
                    <a:p>
                      <a:pPr>
                        <a:lnSpc>
                          <a:spcPct val="110000"/>
                        </a:lnSpc>
                      </a:pPr>
                      <a:r>
                        <a:rPr sz="1050" b="0" lang="ja-JP">
                          <a:solidFill>
                            <a:srgbClr val="495160"/>
                          </a:solidFill>
                          <a:latin typeface="Yu Gothic"/>
                          <a:ea typeface="Yu Gothic"/>
                          <a:cs typeface="Yu Gothic"/>
                        </a:rPr>
                        <a:t>認知・話題化・PR</a:t>
                      </a:r>
                    </a:p>
                  </a:txBody>
                  <a:tcPr anchor="ctr">
                    <a:solidFill>
                      <a:srgbClr val="FFFFFF"/>
                    </a:solidFill>
                  </a:tcPr>
                </a:tc>
              </a:tr>
              <a:tr h="384048">
                <a:tc>
                  <a:txBody>
                    <a:bodyPr/>
                    <a:lstStyle/>
                    <a:p>
                      <a:pPr>
                        <a:lnSpc>
                          <a:spcPct val="110000"/>
                        </a:lnSpc>
                      </a:pPr>
                      <a:r>
                        <a:rPr sz="1050" b="1" lang="ja-JP">
                          <a:solidFill>
                            <a:srgbClr val="12244B"/>
                          </a:solidFill>
                          <a:latin typeface="Yu Gothic"/>
                          <a:ea typeface="Yu Gothic"/>
                          <a:cs typeface="Yu Gothic"/>
                        </a:rPr>
                        <a:t>イベント・ショー・グリーティング</a:t>
                      </a:r>
                    </a:p>
                  </a:txBody>
                  <a:tcPr anchor="ctr">
                    <a:solidFill>
                      <a:srgbClr val="F4F5F7"/>
                    </a:solidFill>
                  </a:tcPr>
                </a:tc>
                <a:tc>
                  <a:txBody>
                    <a:bodyPr/>
                    <a:lstStyle/>
                    <a:p>
                      <a:pPr>
                        <a:lnSpc>
                          <a:spcPct val="110000"/>
                        </a:lnSpc>
                      </a:pPr>
                      <a:r>
                        <a:rPr sz="1050" b="0" lang="ja-JP">
                          <a:solidFill>
                            <a:srgbClr val="495160"/>
                          </a:solidFill>
                          <a:latin typeface="Yu Gothic"/>
                          <a:ea typeface="Yu Gothic"/>
                          <a:cs typeface="Yu Gothic"/>
                        </a:rPr>
                        <a:t>熱量を高める</a:t>
                      </a:r>
                    </a:p>
                  </a:txBody>
                  <a:tcPr anchor="ctr">
                    <a:solidFill>
                      <a:srgbClr val="F4F5F7"/>
                    </a:solidFill>
                  </a:tcPr>
                </a:tc>
                <a:tc>
                  <a:txBody>
                    <a:bodyPr/>
                    <a:lstStyle/>
                    <a:p>
                      <a:pPr>
                        <a:lnSpc>
                          <a:spcPct val="110000"/>
                        </a:lnSpc>
                      </a:pPr>
                      <a:r>
                        <a:rPr sz="1050" b="0" lang="ja-JP">
                          <a:solidFill>
                            <a:srgbClr val="495160"/>
                          </a:solidFill>
                          <a:latin typeface="Yu Gothic"/>
                          <a:ea typeface="Yu Gothic"/>
                          <a:cs typeface="Yu Gothic"/>
                        </a:rPr>
                        <a:t>年間約70万〜100万人規模のリアル接点</a:t>
                      </a:r>
                    </a:p>
                  </a:txBody>
                  <a:tcPr anchor="ctr">
                    <a:solidFill>
                      <a:srgbClr val="F4F5F7"/>
                    </a:solidFill>
                  </a:tcPr>
                </a:tc>
              </a:tr>
              <a:tr h="384048">
                <a:tc>
                  <a:txBody>
                    <a:bodyPr/>
                    <a:lstStyle/>
                    <a:p>
                      <a:pPr>
                        <a:lnSpc>
                          <a:spcPct val="110000"/>
                        </a:lnSpc>
                      </a:pPr>
                      <a:r>
                        <a:rPr sz="1050" b="1" lang="ja-JP">
                          <a:solidFill>
                            <a:srgbClr val="12244B"/>
                          </a:solidFill>
                          <a:latin typeface="Yu Gothic"/>
                          <a:ea typeface="Yu Gothic"/>
                          <a:cs typeface="Yu Gothic"/>
                        </a:rPr>
                        <a:t>物販・POPUP・流通</a:t>
                      </a:r>
                    </a:p>
                  </a:txBody>
                  <a:tcPr anchor="ctr">
                    <a:solidFill>
                      <a:srgbClr val="FFFFFF"/>
                    </a:solidFill>
                  </a:tcPr>
                </a:tc>
                <a:tc>
                  <a:txBody>
                    <a:bodyPr/>
                    <a:lstStyle/>
                    <a:p>
                      <a:pPr>
                        <a:lnSpc>
                          <a:spcPct val="110000"/>
                        </a:lnSpc>
                      </a:pPr>
                      <a:r>
                        <a:rPr sz="1050" b="0" lang="ja-JP">
                          <a:solidFill>
                            <a:srgbClr val="495160"/>
                          </a:solidFill>
                          <a:latin typeface="Yu Gothic"/>
                          <a:ea typeface="Yu Gothic"/>
                          <a:cs typeface="Yu Gothic"/>
                        </a:rPr>
                        <a:t>買う場所を作る</a:t>
                      </a:r>
                    </a:p>
                  </a:txBody>
                  <a:tcPr anchor="ctr">
                    <a:solidFill>
                      <a:srgbClr val="FFFFFF"/>
                    </a:solidFill>
                  </a:tcPr>
                </a:tc>
                <a:tc>
                  <a:txBody>
                    <a:bodyPr/>
                    <a:lstStyle/>
                    <a:p>
                      <a:pPr>
                        <a:lnSpc>
                          <a:spcPct val="110000"/>
                        </a:lnSpc>
                      </a:pPr>
                      <a:r>
                        <a:rPr sz="1050" b="0" lang="ja-JP">
                          <a:solidFill>
                            <a:srgbClr val="495160"/>
                          </a:solidFill>
                          <a:latin typeface="Yu Gothic"/>
                          <a:ea typeface="Yu Gothic"/>
                          <a:cs typeface="Yu Gothic"/>
                        </a:rPr>
                        <a:t>店頭・ウルトラマート・EC</a:t>
                      </a:r>
                    </a:p>
                  </a:txBody>
                  <a:tcPr anchor="ctr">
                    <a:solidFill>
                      <a:srgbClr val="FFFFFF"/>
                    </a:solidFill>
                  </a:tcPr>
                </a:tc>
              </a:tr>
              <a:tr h="384048">
                <a:tc>
                  <a:txBody>
                    <a:bodyPr/>
                    <a:lstStyle/>
                    <a:p>
                      <a:pPr>
                        <a:lnSpc>
                          <a:spcPct val="110000"/>
                        </a:lnSpc>
                      </a:pPr>
                      <a:r>
                        <a:rPr sz="1050" b="1" lang="ja-JP">
                          <a:solidFill>
                            <a:srgbClr val="12244B"/>
                          </a:solidFill>
                          <a:latin typeface="Yu Gothic"/>
                          <a:ea typeface="Yu Gothic"/>
                          <a:cs typeface="Yu Gothic"/>
                        </a:rPr>
                        <a:t>商品化・キャンペーン</a:t>
                      </a:r>
                    </a:p>
                  </a:txBody>
                  <a:tcPr anchor="ctr">
                    <a:solidFill>
                      <a:srgbClr val="F4F5F7"/>
                    </a:solidFill>
                  </a:tcPr>
                </a:tc>
                <a:tc>
                  <a:txBody>
                    <a:bodyPr/>
                    <a:lstStyle/>
                    <a:p>
                      <a:pPr>
                        <a:lnSpc>
                          <a:spcPct val="110000"/>
                        </a:lnSpc>
                      </a:pPr>
                      <a:r>
                        <a:rPr sz="1050" b="0" lang="ja-JP">
                          <a:solidFill>
                            <a:srgbClr val="495160"/>
                          </a:solidFill>
                          <a:latin typeface="Yu Gothic"/>
                          <a:ea typeface="Yu Gothic"/>
                          <a:cs typeface="Yu Gothic"/>
                        </a:rPr>
                        <a:t>企業の売上につなげる</a:t>
                      </a:r>
                    </a:p>
                  </a:txBody>
                  <a:tcPr anchor="ctr">
                    <a:solidFill>
                      <a:srgbClr val="F4F5F7"/>
                    </a:solidFill>
                  </a:tcPr>
                </a:tc>
                <a:tc>
                  <a:txBody>
                    <a:bodyPr/>
                    <a:lstStyle/>
                    <a:p>
                      <a:pPr>
                        <a:lnSpc>
                          <a:spcPct val="110000"/>
                        </a:lnSpc>
                      </a:pPr>
                      <a:r>
                        <a:rPr sz="1050" b="0" lang="ja-JP">
                          <a:solidFill>
                            <a:srgbClr val="495160"/>
                          </a:solidFill>
                          <a:latin typeface="Yu Gothic"/>
                          <a:ea typeface="Yu Gothic"/>
                          <a:cs typeface="Yu Gothic"/>
                        </a:rPr>
                        <a:t>皆さまの商品・売場・販促</a:t>
                      </a:r>
                    </a:p>
                  </a:txBody>
                  <a:tcPr anchor="ctr">
                    <a:solidFill>
                      <a:srgbClr val="F4F5F7"/>
                    </a:solidFill>
                  </a:tcPr>
                </a:tc>
              </a:tr>
            </a:tbl>
          </a:graphicData>
        </a:graphic>
      </p:graphicFrame>
      <p:sp>
        <p:nvSpPr>
          <p:cNvPr id="10" name="TextBox 9"/>
          <p:cNvSpPr txBox="1"/>
          <p:nvPr/>
        </p:nvSpPr>
        <p:spPr>
          <a:xfrm>
            <a:off x="502920" y="4206240"/>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900" b="0" lang="ja-JP">
                <a:solidFill>
                  <a:srgbClr val="979EAC"/>
                </a:solidFill>
                <a:latin typeface="Yu Gothic"/>
                <a:ea typeface="Yu Gothic"/>
                <a:cs typeface="Yu Gothic"/>
              </a:rPr>
              <a:t>※ 単なる広告リーチではなく、実際に足を運び、体験し、購買に近い場所にいるファンとの接点(補強データ確定後に表現最終化)</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“会いに来るファン”の熱量を、皆さまの商品・売場・キャンペーンに接続できる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09|2027年度以降の全体像</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2026(ドラフト)|2027年度以降の全体像</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9</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流通が、売る場所を作る――「作っても売る場所があるのか」に応える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商品化だけでなく、売場化・販促化まで一緒に設計できることが、今後のライセンス戦略のポイント</a:t>
            </a:r>
          </a:p>
        </p:txBody>
      </p:sp>
      <p:sp>
        <p:nvSpPr>
          <p:cNvPr id="9" name="TextBox 8"/>
          <p:cNvSpPr txBox="1"/>
          <p:nvPr/>
        </p:nvSpPr>
        <p:spPr>
          <a:xfrm>
            <a:off x="502920" y="2057400"/>
            <a:ext cx="11183112"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円谷側でも「売る場所・見せる場所・出会う場所」を増やしていく</a:t>
            </a:r>
          </a:p>
          <a:p>
            <a:pPr>
              <a:lnSpc>
                <a:spcPct val="130000"/>
              </a:lnSpc>
              <a:spcAft>
                <a:spcPts val="200"/>
              </a:spcAft>
            </a:pPr>
            <a:r>
              <a:rPr sz="1150" b="0" lang="ja-JP">
                <a:solidFill>
                  <a:srgbClr val="495160"/>
                </a:solidFill>
                <a:latin typeface="Yu Gothic"/>
                <a:ea typeface="Yu Gothic"/>
                <a:cs typeface="Yu Gothic"/>
              </a:rPr>
              <a:t>■ ウルトラマートのコンセプト/売場・商品展開イメージ</a:t>
            </a:r>
          </a:p>
          <a:p>
            <a:pPr>
              <a:lnSpc>
                <a:spcPct val="130000"/>
              </a:lnSpc>
              <a:spcAft>
                <a:spcPts val="200"/>
              </a:spcAft>
            </a:pPr>
            <a:r>
              <a:rPr sz="1150" b="0" lang="ja-JP">
                <a:solidFill>
                  <a:srgbClr val="495160"/>
                </a:solidFill>
                <a:latin typeface="Yu Gothic"/>
                <a:ea typeface="Yu Gothic"/>
                <a:cs typeface="Yu Gothic"/>
              </a:rPr>
              <a:t>■ POPUP展開/限定商品枠/先行販売枠</a:t>
            </a:r>
          </a:p>
          <a:p>
            <a:pPr>
              <a:lnSpc>
                <a:spcPct val="130000"/>
              </a:lnSpc>
              <a:spcAft>
                <a:spcPts val="200"/>
              </a:spcAft>
            </a:pPr>
            <a:r>
              <a:rPr sz="1150" b="0" lang="ja-JP">
                <a:solidFill>
                  <a:srgbClr val="495160"/>
                </a:solidFill>
                <a:latin typeface="Yu Gothic"/>
                <a:ea typeface="Yu Gothic"/>
                <a:cs typeface="Yu Gothic"/>
              </a:rPr>
              <a:t>■ 映画連動棚/ウルサマ連動棚/IPコラボ棚/EC連動</a:t>
            </a:r>
          </a:p>
        </p:txBody>
      </p:sp>
      <p:sp>
        <p:nvSpPr>
          <p:cNvPr id="10" name="Rounded Rectangle 9"/>
          <p:cNvSpPr/>
          <p:nvPr/>
        </p:nvSpPr>
        <p:spPr>
          <a:xfrm>
            <a:off x="502920" y="3977639"/>
            <a:ext cx="11183112" cy="457200"/>
          </a:xfrm>
          <a:prstGeom prst="roundRect">
            <a:avLst>
              <a:gd name="adj" fmla="val 18000"/>
            </a:avLst>
          </a:prstGeom>
          <a:solidFill>
            <a:srgbClr val="EBF0F8"/>
          </a:solidFill>
          <a:ln w="12700">
            <a:solidFill>
              <a:srgbClr val="1F4E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39"/>
            <a:ext cx="10817352" cy="457200"/>
          </a:xfrm>
          <a:prstGeom prst="rect">
            <a:avLst/>
          </a:prstGeom>
          <a:noFill/>
        </p:spPr>
        <p:txBody>
          <a:bodyPr wrap="square" anchor="ctr" lIns="0" rIns="0">
            <a:spAutoFit/>
          </a:bodyPr>
          <a:lstStyle/>
          <a:p>
            <a:r>
              <a:rPr sz="1000" b="1" lang="ja-JP">
                <a:solidFill>
                  <a:srgbClr val="1F4E96"/>
                </a:solidFill>
                <a:latin typeface="Yu Gothic"/>
                <a:ea typeface="Yu Gothic"/>
                <a:cs typeface="Yu Gothic"/>
              </a:rPr>
              <a:t>【素材10待ち】ウルトラマート素材・売場写真・商品展開イメージ</a:t>
            </a:r>
          </a:p>
        </p:txBody>
      </p:sp>
      <p:sp>
        <p:nvSpPr>
          <p:cNvPr id="12" name="Rectangle 11"/>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商品を作っていただくだけでなく、どこで・どう見せ・どう売るかまで一緒に設計していく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10|商機カレンダー</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2026(ドラフト)|商機カレンダー</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10</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2026-2027 ULTRAMAN BUSINESS CALENDAR――いつ仕込めば、間に合うか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作品スケジュールではなく、「商品化タイミング」としてお見せする</a:t>
            </a:r>
          </a:p>
        </p:txBody>
      </p:sp>
      <p:graphicFrame>
        <p:nvGraphicFramePr>
          <p:cNvPr id="9" name="Table 8"/>
          <p:cNvGraphicFramePr>
            <a:graphicFrameLocks noGrp="1"/>
          </p:cNvGraphicFramePr>
          <p:nvPr/>
        </p:nvGraphicFramePr>
        <p:xfrm>
          <a:off x="502920" y="2011680"/>
          <a:ext cx="11155680" cy="3218688"/>
        </p:xfrm>
        <a:graphic>
          <a:graphicData uri="http://schemas.openxmlformats.org/drawingml/2006/table">
            <a:tbl>
              <a:tblPr>
                <a:tableStyleId>{5C22544A-7EE6-4342-B048-85BDC9FD1C3A}</a:tableStyleId>
              </a:tblPr>
              <a:tblGrid>
                <a:gridCol w="1371600"/>
                <a:gridCol w="3017520"/>
                <a:gridCol w="2286000"/>
                <a:gridCol w="4480560"/>
              </a:tblGrid>
              <a:tr h="402336">
                <a:tc>
                  <a:txBody>
                    <a:bodyPr/>
                    <a:lstStyle/>
                    <a:p>
                      <a:r>
                        <a:rPr sz="1000" b="1" lang="ja-JP">
                          <a:solidFill>
                            <a:srgbClr val="FFFFFF"/>
                          </a:solidFill>
                          <a:latin typeface="Yu Gothic"/>
                          <a:ea typeface="Yu Gothic"/>
                          <a:cs typeface="Yu Gothic"/>
                        </a:rPr>
                        <a:t>時期</a:t>
                      </a:r>
                    </a:p>
                  </a:txBody>
                  <a:tcPr anchor="ctr">
                    <a:solidFill>
                      <a:srgbClr val="12244B"/>
                    </a:solidFill>
                  </a:tcPr>
                </a:tc>
                <a:tc>
                  <a:txBody>
                    <a:bodyPr/>
                    <a:lstStyle/>
                    <a:p>
                      <a:r>
                        <a:rPr sz="1000" b="1" lang="ja-JP">
                          <a:solidFill>
                            <a:srgbClr val="FFFFFF"/>
                          </a:solidFill>
                          <a:latin typeface="Yu Gothic"/>
                          <a:ea typeface="Yu Gothic"/>
                          <a:cs typeface="Yu Gothic"/>
                        </a:rPr>
                        <a:t>円谷側の動き</a:t>
                      </a:r>
                    </a:p>
                  </a:txBody>
                  <a:tcPr anchor="ctr">
                    <a:solidFill>
                      <a:srgbClr val="12244B"/>
                    </a:solidFill>
                  </a:tcPr>
                </a:tc>
                <a:tc>
                  <a:txBody>
                    <a:bodyPr/>
                    <a:lstStyle/>
                    <a:p>
                      <a:r>
                        <a:rPr sz="1000" b="1" lang="ja-JP">
                          <a:solidFill>
                            <a:srgbClr val="FFFFFF"/>
                          </a:solidFill>
                          <a:latin typeface="Yu Gothic"/>
                          <a:ea typeface="Yu Gothic"/>
                          <a:cs typeface="Yu Gothic"/>
                        </a:rPr>
                        <a:t>ライセンシーの商機</a:t>
                      </a:r>
                    </a:p>
                  </a:txBody>
                  <a:tcPr anchor="ctr">
                    <a:solidFill>
                      <a:srgbClr val="12244B"/>
                    </a:solidFill>
                  </a:tcPr>
                </a:tc>
                <a:tc>
                  <a:txBody>
                    <a:bodyPr/>
                    <a:lstStyle/>
                    <a:p>
                      <a:r>
                        <a:rPr sz="1000" b="1" lang="ja-JP">
                          <a:solidFill>
                            <a:srgbClr val="FFFFFF"/>
                          </a:solidFill>
                          <a:latin typeface="Yu Gothic"/>
                          <a:ea typeface="Yu Gothic"/>
                          <a:cs typeface="Yu Gothic"/>
                        </a:rPr>
                        <a:t>作るべき商品・企画</a:t>
                      </a:r>
                    </a:p>
                  </a:txBody>
                  <a:tcPr anchor="ctr">
                    <a:solidFill>
                      <a:srgbClr val="12244B"/>
                    </a:solidFill>
                  </a:tcPr>
                </a:tc>
              </a:tr>
              <a:tr h="402336">
                <a:tc>
                  <a:txBody>
                    <a:bodyPr/>
                    <a:lstStyle/>
                    <a:p>
                      <a:pPr>
                        <a:lnSpc>
                          <a:spcPct val="110000"/>
                        </a:lnSpc>
                      </a:pPr>
                      <a:r>
                        <a:rPr sz="1000" b="1" lang="ja-JP">
                          <a:solidFill>
                            <a:srgbClr val="12244B"/>
                          </a:solidFill>
                          <a:latin typeface="Yu Gothic"/>
                          <a:ea typeface="Yu Gothic"/>
                          <a:cs typeface="Yu Gothic"/>
                        </a:rPr>
                        <a:t>2026年夏</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ウルサマ、60周年施策</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熱量の可視化</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イベント連動商品、先行企画相談</a:t>
                      </a:r>
                    </a:p>
                  </a:txBody>
                  <a:tcPr anchor="ctr">
                    <a:solidFill>
                      <a:srgbClr val="FFFFFF"/>
                    </a:solidFill>
                  </a:tcPr>
                </a:tc>
              </a:tr>
              <a:tr h="402336">
                <a:tc>
                  <a:txBody>
                    <a:bodyPr/>
                    <a:lstStyle/>
                    <a:p>
                      <a:pPr>
                        <a:lnSpc>
                          <a:spcPct val="110000"/>
                        </a:lnSpc>
                      </a:pPr>
                      <a:r>
                        <a:rPr sz="1000" b="1" lang="ja-JP">
                          <a:solidFill>
                            <a:srgbClr val="12244B"/>
                          </a:solidFill>
                          <a:latin typeface="Yu Gothic"/>
                          <a:ea typeface="Yu Gothic"/>
                          <a:cs typeface="Yu Gothic"/>
                        </a:rPr>
                        <a:t>2026年秋</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IPコラボ、流通施策</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年末商戦・話題化</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雑貨、アパレル、ギフト商材</a:t>
                      </a:r>
                    </a:p>
                  </a:txBody>
                  <a:tcPr anchor="ctr">
                    <a:solidFill>
                      <a:srgbClr val="F4F5F7"/>
                    </a:solidFill>
                  </a:tcPr>
                </a:tc>
              </a:tr>
              <a:tr h="402336">
                <a:tc>
                  <a:txBody>
                    <a:bodyPr/>
                    <a:lstStyle/>
                    <a:p>
                      <a:pPr>
                        <a:lnSpc>
                          <a:spcPct val="110000"/>
                        </a:lnSpc>
                      </a:pPr>
                      <a:r>
                        <a:rPr sz="1000" b="1" lang="ja-JP">
                          <a:solidFill>
                            <a:srgbClr val="12244B"/>
                          </a:solidFill>
                          <a:latin typeface="Yu Gothic"/>
                          <a:ea typeface="Yu Gothic"/>
                          <a:cs typeface="Yu Gothic"/>
                        </a:rPr>
                        <a:t>2026年冬</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2027展開の仕込み</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来期商品企画</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スタイルガイド確認、企画提出</a:t>
                      </a:r>
                    </a:p>
                  </a:txBody>
                  <a:tcPr anchor="ctr">
                    <a:solidFill>
                      <a:srgbClr val="FFFFFF"/>
                    </a:solidFill>
                  </a:tcPr>
                </a:tc>
              </a:tr>
              <a:tr h="402336">
                <a:tc>
                  <a:txBody>
                    <a:bodyPr/>
                    <a:lstStyle/>
                    <a:p>
                      <a:pPr>
                        <a:lnSpc>
                          <a:spcPct val="110000"/>
                        </a:lnSpc>
                      </a:pPr>
                      <a:r>
                        <a:rPr sz="1000" b="1" lang="ja-JP">
                          <a:solidFill>
                            <a:srgbClr val="12244B"/>
                          </a:solidFill>
                          <a:latin typeface="Yu Gothic"/>
                          <a:ea typeface="Yu Gothic"/>
                          <a:cs typeface="Yu Gothic"/>
                        </a:rPr>
                        <a:t>2027年春</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新展開ティザー</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新生活・入学・春販促</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文具、アパレル、生活雑貨</a:t>
                      </a:r>
                    </a:p>
                  </a:txBody>
                  <a:tcPr anchor="ctr">
                    <a:solidFill>
                      <a:srgbClr val="F4F5F7"/>
                    </a:solidFill>
                  </a:tcPr>
                </a:tc>
              </a:tr>
              <a:tr h="402336">
                <a:tc>
                  <a:txBody>
                    <a:bodyPr/>
                    <a:lstStyle/>
                    <a:p>
                      <a:pPr>
                        <a:lnSpc>
                          <a:spcPct val="110000"/>
                        </a:lnSpc>
                      </a:pPr>
                      <a:r>
                        <a:rPr sz="1000" b="1" lang="ja-JP">
                          <a:solidFill>
                            <a:srgbClr val="12244B"/>
                          </a:solidFill>
                          <a:latin typeface="Yu Gothic"/>
                          <a:ea typeface="Yu Gothic"/>
                          <a:cs typeface="Yu Gothic"/>
                        </a:rPr>
                        <a:t>2027年夏</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映画・イベント・大型露出</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最大商戦期</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食品、外食、流通、キャンペーン</a:t>
                      </a:r>
                    </a:p>
                  </a:txBody>
                  <a:tcPr anchor="ctr">
                    <a:solidFill>
                      <a:srgbClr val="FFFFFF"/>
                    </a:solidFill>
                  </a:tcPr>
                </a:tc>
              </a:tr>
              <a:tr h="402336">
                <a:tc>
                  <a:txBody>
                    <a:bodyPr/>
                    <a:lstStyle/>
                    <a:p>
                      <a:pPr>
                        <a:lnSpc>
                          <a:spcPct val="110000"/>
                        </a:lnSpc>
                      </a:pPr>
                      <a:r>
                        <a:rPr sz="1000" b="1" lang="ja-JP">
                          <a:solidFill>
                            <a:srgbClr val="12244B"/>
                          </a:solidFill>
                          <a:latin typeface="Yu Gothic"/>
                          <a:ea typeface="Yu Gothic"/>
                          <a:cs typeface="Yu Gothic"/>
                        </a:rPr>
                        <a:t>2027年秋</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配信・YouTube・コアファン施策</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継続購買</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コレクション、EC限定、プレミアム商品</a:t>
                      </a:r>
                    </a:p>
                  </a:txBody>
                  <a:tcPr anchor="ctr">
                    <a:solidFill>
                      <a:srgbClr val="F4F5F7"/>
                    </a:solidFill>
                  </a:tcPr>
                </a:tc>
              </a:tr>
              <a:tr h="402336">
                <a:tc>
                  <a:txBody>
                    <a:bodyPr/>
                    <a:lstStyle/>
                    <a:p>
                      <a:pPr>
                        <a:lnSpc>
                          <a:spcPct val="110000"/>
                        </a:lnSpc>
                      </a:pPr>
                      <a:r>
                        <a:rPr sz="1000" b="1" lang="ja-JP">
                          <a:solidFill>
                            <a:srgbClr val="12244B"/>
                          </a:solidFill>
                          <a:latin typeface="Yu Gothic"/>
                          <a:ea typeface="Yu Gothic"/>
                          <a:cs typeface="Yu Gothic"/>
                        </a:rPr>
                        <a:t>2027年冬</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年末商戦</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ギフト・限定品</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高単価商品、福袋、限定コラボ</a:t>
                      </a:r>
                    </a:p>
                  </a:txBody>
                  <a:tcPr anchor="ctr">
                    <a:solidFill>
                      <a:srgbClr val="FFFFFF"/>
                    </a:solidFill>
                  </a:tcPr>
                </a:tc>
              </a:tr>
            </a:tbl>
          </a:graphicData>
        </a:graphic>
      </p:graphicFrame>
      <p:sp>
        <p:nvSpPr>
          <p:cNvPr id="10" name="Rectangle 9"/>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2027年夏の最大商戦に間に合わせるなら、企画開始は「いま」</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11|カテゴリー別企画募集</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11</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ライセンシーの皆さまにお願いしたいこと――10カテゴリーで企画を募集します</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664208"/>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1792" y="1700784"/>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1</a:t>
            </a:r>
          </a:p>
        </p:txBody>
      </p:sp>
      <p:sp>
        <p:nvSpPr>
          <p:cNvPr id="10" name="TextBox 9"/>
          <p:cNvSpPr txBox="1"/>
          <p:nvPr/>
        </p:nvSpPr>
        <p:spPr>
          <a:xfrm>
            <a:off x="1033272" y="1664208"/>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食品・飲料</a:t>
            </a:r>
            <a:r>
              <a:rPr sz="900" b="0" lang="ja-JP">
                <a:solidFill>
                  <a:srgbClr val="495160"/>
                </a:solidFill>
                <a:latin typeface="Yu Gothic"/>
                <a:ea typeface="Yu Gothic"/>
                <a:cs typeface="Yu Gothic"/>
              </a:rPr>
              <a:t>　ULTRA ENERGY PACK</a:t>
            </a:r>
          </a:p>
        </p:txBody>
      </p:sp>
      <p:sp>
        <p:nvSpPr>
          <p:cNvPr id="11" name="Rounded Rectangle 10"/>
          <p:cNvSpPr/>
          <p:nvPr/>
        </p:nvSpPr>
        <p:spPr>
          <a:xfrm>
            <a:off x="502920" y="2080260"/>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1792" y="2116836"/>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2</a:t>
            </a:r>
          </a:p>
        </p:txBody>
      </p:sp>
      <p:sp>
        <p:nvSpPr>
          <p:cNvPr id="13" name="TextBox 12"/>
          <p:cNvSpPr txBox="1"/>
          <p:nvPr/>
        </p:nvSpPr>
        <p:spPr>
          <a:xfrm>
            <a:off x="1033272" y="2080260"/>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外食・カフェ</a:t>
            </a:r>
            <a:r>
              <a:rPr sz="900" b="0" lang="ja-JP">
                <a:solidFill>
                  <a:srgbClr val="495160"/>
                </a:solidFill>
                <a:latin typeface="Yu Gothic"/>
                <a:ea typeface="Yu Gothic"/>
                <a:cs typeface="Yu Gothic"/>
              </a:rPr>
              <a:t>　親子ヒーローメニュー</a:t>
            </a:r>
          </a:p>
        </p:txBody>
      </p:sp>
      <p:sp>
        <p:nvSpPr>
          <p:cNvPr id="14" name="Rounded Rectangle 13"/>
          <p:cNvSpPr/>
          <p:nvPr/>
        </p:nvSpPr>
        <p:spPr>
          <a:xfrm>
            <a:off x="502920" y="2496312"/>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1792" y="2532888"/>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3</a:t>
            </a:r>
          </a:p>
        </p:txBody>
      </p:sp>
      <p:sp>
        <p:nvSpPr>
          <p:cNvPr id="16" name="TextBox 15"/>
          <p:cNvSpPr txBox="1"/>
          <p:nvPr/>
        </p:nvSpPr>
        <p:spPr>
          <a:xfrm>
            <a:off x="1033272" y="2496312"/>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アパレル</a:t>
            </a:r>
            <a:r>
              <a:rPr sz="900" b="0" lang="ja-JP">
                <a:solidFill>
                  <a:srgbClr val="495160"/>
                </a:solidFill>
                <a:latin typeface="Yu Gothic"/>
                <a:ea typeface="Yu Gothic"/>
                <a:cs typeface="Yu Gothic"/>
              </a:rPr>
              <a:t>　ULTRA STREET / ULTRA FAMILY</a:t>
            </a:r>
          </a:p>
        </p:txBody>
      </p:sp>
      <p:sp>
        <p:nvSpPr>
          <p:cNvPr id="17" name="Rounded Rectangle 16"/>
          <p:cNvSpPr/>
          <p:nvPr/>
        </p:nvSpPr>
        <p:spPr>
          <a:xfrm>
            <a:off x="502920" y="2912364"/>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2948940"/>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4</a:t>
            </a:r>
          </a:p>
        </p:txBody>
      </p:sp>
      <p:sp>
        <p:nvSpPr>
          <p:cNvPr id="19" name="TextBox 18"/>
          <p:cNvSpPr txBox="1"/>
          <p:nvPr/>
        </p:nvSpPr>
        <p:spPr>
          <a:xfrm>
            <a:off x="1033272" y="2912364"/>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生活雑貨</a:t>
            </a:r>
            <a:r>
              <a:rPr sz="900" b="0" lang="ja-JP">
                <a:solidFill>
                  <a:srgbClr val="495160"/>
                </a:solidFill>
                <a:latin typeface="Yu Gothic"/>
                <a:ea typeface="Yu Gothic"/>
                <a:cs typeface="Yu Gothic"/>
              </a:rPr>
              <a:t>　毎日のウルトラマン</a:t>
            </a:r>
          </a:p>
        </p:txBody>
      </p:sp>
      <p:sp>
        <p:nvSpPr>
          <p:cNvPr id="20" name="Rounded Rectangle 19"/>
          <p:cNvSpPr/>
          <p:nvPr/>
        </p:nvSpPr>
        <p:spPr>
          <a:xfrm>
            <a:off x="502920" y="3328416"/>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1792" y="3364992"/>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5</a:t>
            </a:r>
          </a:p>
        </p:txBody>
      </p:sp>
      <p:sp>
        <p:nvSpPr>
          <p:cNvPr id="22" name="TextBox 21"/>
          <p:cNvSpPr txBox="1"/>
          <p:nvPr/>
        </p:nvSpPr>
        <p:spPr>
          <a:xfrm>
            <a:off x="1033272" y="3328416"/>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文具・教育</a:t>
            </a:r>
            <a:r>
              <a:rPr sz="900" b="0" lang="ja-JP">
                <a:solidFill>
                  <a:srgbClr val="495160"/>
                </a:solidFill>
                <a:latin typeface="Yu Gothic"/>
                <a:ea typeface="Yu Gothic"/>
                <a:cs typeface="Yu Gothic"/>
              </a:rPr>
              <a:t>　ウルトラヒーローズ新学期</a:t>
            </a:r>
          </a:p>
        </p:txBody>
      </p:sp>
      <p:sp>
        <p:nvSpPr>
          <p:cNvPr id="23" name="Rounded Rectangle 22"/>
          <p:cNvSpPr/>
          <p:nvPr/>
        </p:nvSpPr>
        <p:spPr>
          <a:xfrm>
            <a:off x="502920" y="3744468"/>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1792" y="3781044"/>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6</a:t>
            </a:r>
          </a:p>
        </p:txBody>
      </p:sp>
      <p:sp>
        <p:nvSpPr>
          <p:cNvPr id="25" name="TextBox 24"/>
          <p:cNvSpPr txBox="1"/>
          <p:nvPr/>
        </p:nvSpPr>
        <p:spPr>
          <a:xfrm>
            <a:off x="1033272" y="3744468"/>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玩具・ホビー</a:t>
            </a:r>
            <a:r>
              <a:rPr sz="900" b="0" lang="ja-JP">
                <a:solidFill>
                  <a:srgbClr val="495160"/>
                </a:solidFill>
                <a:latin typeface="Yu Gothic"/>
                <a:ea typeface="Yu Gothic"/>
                <a:cs typeface="Yu Gothic"/>
              </a:rPr>
              <a:t>　ULTRA CROSS COLLECTION</a:t>
            </a:r>
          </a:p>
        </p:txBody>
      </p:sp>
      <p:sp>
        <p:nvSpPr>
          <p:cNvPr id="26" name="Rounded Rectangle 25"/>
          <p:cNvSpPr/>
          <p:nvPr/>
        </p:nvSpPr>
        <p:spPr>
          <a:xfrm>
            <a:off x="502920" y="4160520"/>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1792" y="4197096"/>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7</a:t>
            </a:r>
          </a:p>
        </p:txBody>
      </p:sp>
      <p:sp>
        <p:nvSpPr>
          <p:cNvPr id="28" name="TextBox 27"/>
          <p:cNvSpPr txBox="1"/>
          <p:nvPr/>
        </p:nvSpPr>
        <p:spPr>
          <a:xfrm>
            <a:off x="1033272" y="4160520"/>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流通・小売</a:t>
            </a:r>
            <a:r>
              <a:rPr sz="900" b="0" lang="ja-JP">
                <a:solidFill>
                  <a:srgbClr val="495160"/>
                </a:solidFill>
                <a:latin typeface="Yu Gothic"/>
                <a:ea typeface="Yu Gothic"/>
                <a:cs typeface="Yu Gothic"/>
              </a:rPr>
              <a:t>　ULTRA MARKET IN STORE</a:t>
            </a:r>
          </a:p>
        </p:txBody>
      </p:sp>
      <p:sp>
        <p:nvSpPr>
          <p:cNvPr id="29" name="Rounded Rectangle 28"/>
          <p:cNvSpPr/>
          <p:nvPr/>
        </p:nvSpPr>
        <p:spPr>
          <a:xfrm>
            <a:off x="502920" y="4576572"/>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21792" y="4613148"/>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8</a:t>
            </a:r>
          </a:p>
        </p:txBody>
      </p:sp>
      <p:sp>
        <p:nvSpPr>
          <p:cNvPr id="31" name="TextBox 30"/>
          <p:cNvSpPr txBox="1"/>
          <p:nvPr/>
        </p:nvSpPr>
        <p:spPr>
          <a:xfrm>
            <a:off x="1033272" y="4576572"/>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広告代理店・SP</a:t>
            </a:r>
            <a:r>
              <a:rPr sz="900" b="0" lang="ja-JP">
                <a:solidFill>
                  <a:srgbClr val="495160"/>
                </a:solidFill>
                <a:latin typeface="Yu Gothic"/>
                <a:ea typeface="Yu Gothic"/>
                <a:cs typeface="Yu Gothic"/>
              </a:rPr>
              <a:t>　ULTRAMAN BRAND CAMPAIGN PACKAGE</a:t>
            </a:r>
          </a:p>
        </p:txBody>
      </p:sp>
      <p:sp>
        <p:nvSpPr>
          <p:cNvPr id="32" name="Rounded Rectangle 31"/>
          <p:cNvSpPr/>
          <p:nvPr/>
        </p:nvSpPr>
        <p:spPr>
          <a:xfrm>
            <a:off x="502920" y="4992624"/>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1792" y="5029200"/>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9</a:t>
            </a:r>
          </a:p>
        </p:txBody>
      </p:sp>
      <p:sp>
        <p:nvSpPr>
          <p:cNvPr id="34" name="TextBox 33"/>
          <p:cNvSpPr txBox="1"/>
          <p:nvPr/>
        </p:nvSpPr>
        <p:spPr>
          <a:xfrm>
            <a:off x="1033272" y="4992624"/>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プレミアム商品</a:t>
            </a:r>
            <a:r>
              <a:rPr sz="900" b="0" lang="ja-JP">
                <a:solidFill>
                  <a:srgbClr val="495160"/>
                </a:solidFill>
                <a:latin typeface="Yu Gothic"/>
                <a:ea typeface="Yu Gothic"/>
                <a:cs typeface="Yu Gothic"/>
              </a:rPr>
              <a:t>　ULTRA PREMIUM LINE</a:t>
            </a:r>
          </a:p>
        </p:txBody>
      </p:sp>
      <p:sp>
        <p:nvSpPr>
          <p:cNvPr id="35" name="Rounded Rectangle 34"/>
          <p:cNvSpPr/>
          <p:nvPr/>
        </p:nvSpPr>
        <p:spPr>
          <a:xfrm>
            <a:off x="502920" y="5408676"/>
            <a:ext cx="11183112" cy="347472"/>
          </a:xfrm>
          <a:prstGeom prst="roundRect">
            <a:avLst>
              <a:gd name="adj" fmla="val 22000"/>
            </a:avLst>
          </a:prstGeom>
          <a:solidFill>
            <a:srgbClr val="F4F5F7"/>
          </a:solidFill>
          <a:ln w="10160">
            <a:solidFill>
              <a:srgbClr val="E0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1792" y="5445252"/>
            <a:ext cx="274320" cy="274320"/>
          </a:xfrm>
          <a:prstGeom prst="ellipse">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000" b="1" lang="ja-JP">
                <a:solidFill>
                  <a:srgbClr val="FFFFFF"/>
                </a:solidFill>
                <a:latin typeface="Yu Gothic"/>
                <a:ea typeface="Yu Gothic"/>
                <a:cs typeface="Yu Gothic"/>
              </a:rPr>
              <a:t>10</a:t>
            </a:r>
          </a:p>
        </p:txBody>
      </p:sp>
      <p:sp>
        <p:nvSpPr>
          <p:cNvPr id="37" name="TextBox 36"/>
          <p:cNvSpPr txBox="1"/>
          <p:nvPr/>
        </p:nvSpPr>
        <p:spPr>
          <a:xfrm>
            <a:off x="1033272" y="5408676"/>
            <a:ext cx="10497312" cy="347472"/>
          </a:xfrm>
          <a:prstGeom prst="rect">
            <a:avLst/>
          </a:prstGeom>
          <a:noFill/>
        </p:spPr>
        <p:txBody>
          <a:bodyPr wrap="square" anchor="ctr" lIns="0" rIns="0">
            <a:spAutoFit/>
          </a:bodyPr>
          <a:lstStyle/>
          <a:p>
            <a:r>
              <a:rPr sz="1050" b="1" lang="ja-JP">
                <a:solidFill>
                  <a:srgbClr val="282D38"/>
                </a:solidFill>
                <a:latin typeface="Yu Gothic"/>
                <a:ea typeface="Yu Gothic"/>
                <a:cs typeface="Yu Gothic"/>
              </a:rPr>
              <a:t>女性・ライト層</a:t>
            </a:r>
            <a:r>
              <a:rPr sz="900" b="0" lang="ja-JP">
                <a:solidFill>
                  <a:srgbClr val="495160"/>
                </a:solidFill>
                <a:latin typeface="Yu Gothic"/>
                <a:ea typeface="Yu Gothic"/>
                <a:cs typeface="Yu Gothic"/>
              </a:rPr>
              <a:t>　ULTRA KAWAII / CHARACTER MIX</a:t>
            </a:r>
          </a:p>
        </p:txBody>
      </p:sp>
      <p:sp>
        <p:nvSpPr>
          <p:cNvPr id="38" name="Rectangle 37"/>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過去実績のご紹介ではなく、これからご一緒したい企画のご提案です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12|カテゴリー別企画募集|企画 1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12</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企画① 食品・飲料|ULTRA ENERGY PACK――映画・イベント期の親子キャンペーンを募集</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食品・飲料の皆さまとは、映画・イベント期に合わせた親子向けキャンペーンを作りたい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親子、キッズ、夏休み需要</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菓子/飲料/ゼリー/アイス/レトルト食品/シリアル/弁当商材</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「光」「エネルギー」「変身」をテーマにした限定パッケージ展開</a:t>
            </a:r>
          </a:p>
          <a:p>
            <a:pPr>
              <a:lnSpc>
                <a:spcPct val="130000"/>
              </a:lnSpc>
              <a:spcAft>
                <a:spcPts val="200"/>
              </a:spcAft>
            </a:pPr>
            <a:r>
              <a:rPr sz="1150" b="0" lang="ja-JP">
                <a:solidFill>
                  <a:srgbClr val="495160"/>
                </a:solidFill>
                <a:latin typeface="Yu Gothic"/>
                <a:ea typeface="Yu Gothic"/>
                <a:cs typeface="Yu Gothic"/>
              </a:rPr>
              <a:t>■ 購入特典:ステッカー、カード、映画・イベント連動キャンペーン</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映画/ウルサマ/店頭キャンペーン/親子向け販促/夏休み企画</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13|カテゴリー別企画募集|企画 2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13</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企画② 外食・カフェ|親子ヒーローメニュー――熱量を店舗送客につなげる企画を募集</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外食・カフェ業態の皆さまとは、ウルトラマンの熱量を店舗送客につなげる企画を作りたい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ファミリー、映画来場者、イベント来場者</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キッズメニュー/コラボドリンク/デザート/テイクアウト商品/ノベルティ付きセット</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映画・ウルサマのタイミングに合わせた親子コラボメニュー</a:t>
            </a:r>
          </a:p>
          <a:p>
            <a:pPr>
              <a:lnSpc>
                <a:spcPct val="130000"/>
              </a:lnSpc>
              <a:spcAft>
                <a:spcPts val="200"/>
              </a:spcAft>
            </a:pPr>
            <a:r>
              <a:rPr sz="1150" b="0" lang="ja-JP">
                <a:solidFill>
                  <a:srgbClr val="495160"/>
                </a:solidFill>
                <a:latin typeface="Yu Gothic"/>
                <a:ea typeface="Yu Gothic"/>
                <a:cs typeface="Yu Gothic"/>
              </a:rPr>
              <a:t>■ 来店特典:限定コースター、ステッカー、ランチョンマット、撮影用カード</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映画公開/イベント会場周辺/商業施設/SNS投稿キャンペーン</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14|カテゴリー別企画募集|企画 3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14</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企画③ アパレル|ULTRA STREET / ULTRA FAMILY――大人・女性・親子リンクまで広げる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子ども向けだけでなく、大人・女性・親子リンクまで広げていきたい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大人ファン、若年層、親子</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Tシャツ/スウェット/キャップ/トートバッグ/親子リンクウェア/靴下/ルームウェア</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デザイン方向性</a:t>
            </a:r>
          </a:p>
          <a:p>
            <a:pPr>
              <a:lnSpc>
                <a:spcPct val="130000"/>
              </a:lnSpc>
              <a:spcAft>
                <a:spcPts val="200"/>
              </a:spcAft>
            </a:pPr>
            <a:r>
              <a:rPr sz="1150" b="0" lang="ja-JP">
                <a:solidFill>
                  <a:srgbClr val="495160"/>
                </a:solidFill>
                <a:latin typeface="Yu Gothic"/>
                <a:ea typeface="Yu Gothic"/>
                <a:cs typeface="Yu Gothic"/>
              </a:rPr>
              <a:t>■ キッズ向け:ヒーロービジュアル中心</a:t>
            </a:r>
          </a:p>
          <a:p>
            <a:pPr>
              <a:lnSpc>
                <a:spcPct val="130000"/>
              </a:lnSpc>
              <a:spcAft>
                <a:spcPts val="200"/>
              </a:spcAft>
            </a:pPr>
            <a:r>
              <a:rPr sz="1150" b="0" lang="ja-JP">
                <a:solidFill>
                  <a:srgbClr val="495160"/>
                </a:solidFill>
                <a:latin typeface="Yu Gothic"/>
                <a:ea typeface="Yu Gothic"/>
                <a:cs typeface="Yu Gothic"/>
              </a:rPr>
              <a:t>■ 大人向け:ロゴ、シンボル、怪獣、タイポグラフィ</a:t>
            </a:r>
          </a:p>
          <a:p>
            <a:pPr>
              <a:lnSpc>
                <a:spcPct val="130000"/>
              </a:lnSpc>
              <a:spcAft>
                <a:spcPts val="200"/>
              </a:spcAft>
            </a:pPr>
            <a:r>
              <a:rPr sz="1150" b="0" lang="ja-JP">
                <a:solidFill>
                  <a:srgbClr val="495160"/>
                </a:solidFill>
                <a:latin typeface="Yu Gothic"/>
                <a:ea typeface="Yu Gothic"/>
                <a:cs typeface="Yu Gothic"/>
              </a:rPr>
              <a:t>■ 女性向け:柔らかい色、キャラクターコラボ、雑貨寄り</a:t>
            </a:r>
          </a:p>
          <a:p>
            <a:pPr>
              <a:lnSpc>
                <a:spcPct val="130000"/>
              </a:lnSpc>
              <a:spcAft>
                <a:spcPts val="200"/>
              </a:spcAft>
            </a:pPr>
            <a:r>
              <a:rPr sz="1150" b="0" lang="ja-JP">
                <a:solidFill>
                  <a:srgbClr val="495160"/>
                </a:solidFill>
                <a:latin typeface="Yu Gothic"/>
                <a:ea typeface="Yu Gothic"/>
                <a:cs typeface="Yu Gothic"/>
              </a:rPr>
              <a:t>■ プレミアム:ブラック、シルバー、刺繍、限定感</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15|カテゴリー別企画募集|企画 4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15</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企画④ 生活雑貨|毎日のウルトラマン――ファンが毎日使える商品を増やす</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生活雑貨カテゴリーでは、ファンが毎日使える商品を増やしていきたい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ファミリー、大人ファン、ギフト需要</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タオル/マグカップ/タンブラー/ランチボックス/ポーチ/ルーム雑貨/インテリア小物/スマホアクセサリー</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ウルトラマンを日常生活の中に置く</a:t>
            </a:r>
          </a:p>
          <a:p>
            <a:pPr>
              <a:lnSpc>
                <a:spcPct val="130000"/>
              </a:lnSpc>
              <a:spcAft>
                <a:spcPts val="200"/>
              </a:spcAft>
            </a:pPr>
            <a:r>
              <a:rPr sz="1150" b="0" lang="ja-JP">
                <a:solidFill>
                  <a:srgbClr val="495160"/>
                </a:solidFill>
                <a:latin typeface="Yu Gothic"/>
                <a:ea typeface="Yu Gothic"/>
                <a:cs typeface="Yu Gothic"/>
              </a:rPr>
              <a:t>■ 「変身」「光」「防衛隊」「怪獣」を生活雑貨に落とし込む</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ギフト商戦/ウルトラマート/POPUP/EC</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16|カテゴリー別企画募集|企画 5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16</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企画⑤ 文具・教育|ウルトラヒーローズ新学期――物語性を子どもの成長文脈に接続する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ウルトラマンの物語性を、子どもの成長文脈に接続した商品を作りたい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小学生、親、入学・新学期需要</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ノート/鉛筆/ペンケース/下敷き/シール/学習帳/図鑑/ワークブック/絵本</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「勇気」「仲間」「成長」「正義」をテーマに文具・教育商材へ展開</a:t>
            </a:r>
          </a:p>
          <a:p>
            <a:pPr>
              <a:lnSpc>
                <a:spcPct val="130000"/>
              </a:lnSpc>
              <a:spcAft>
                <a:spcPts val="200"/>
              </a:spcAft>
            </a:pPr>
            <a:r>
              <a:rPr sz="1150" b="0" lang="ja-JP">
                <a:solidFill>
                  <a:srgbClr val="495160"/>
                </a:solidFill>
                <a:latin typeface="Yu Gothic"/>
                <a:ea typeface="Yu Gothic"/>
                <a:cs typeface="Yu Gothic"/>
              </a:rPr>
              <a:t>■ 春の新生活、夏休み、自由研究と相性が良い</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新学期商戦/夏休み/読書キャンペーン</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17|カテゴリー別企画募集|企画 6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17</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企画⑥ 玩具・ホビー|ULTRA CROSS COLLECTION――キャラクター資産を横断するコレクション展開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単独作品ではなく、ウルトラマン全体のキャラクター資産を活かしたコレクション展開を強化したい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キッズ、コアファン、コレクター</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フィギュア/カード/アクリルスタンド/カプセルトイ/食玩/ブラインド商品/ジオラマ商材</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ギャラファイ、ゼロ、歴代ヒーロー、怪獣を横断したコレクション企画</a:t>
            </a:r>
          </a:p>
          <a:p>
            <a:pPr>
              <a:lnSpc>
                <a:spcPct val="130000"/>
              </a:lnSpc>
              <a:spcAft>
                <a:spcPts val="200"/>
              </a:spcAft>
            </a:pPr>
            <a:r>
              <a:rPr sz="1150" b="0" lang="ja-JP">
                <a:solidFill>
                  <a:srgbClr val="495160"/>
                </a:solidFill>
                <a:latin typeface="Yu Gothic"/>
                <a:ea typeface="Yu Gothic"/>
                <a:cs typeface="Yu Gothic"/>
              </a:rPr>
              <a:t>■ ランダム性、シークレット、シリーズ継続で購買を作る</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配信・YouTube展開/EC限定/イベント物販</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18|カテゴリー別企画募集|企画 7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18</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企画⑦ 流通・小売|ULTRA MARKET IN STORE――商品を「売場」として見せる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ウルトラマン商品を“売る場所”そのものから一緒に作っていきたい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量販店、専門店、商業施設、EC</a:t>
            </a:r>
          </a:p>
          <a:p>
            <a:pPr>
              <a:spcBef>
                <a:spcPts val="800"/>
              </a:spcBef>
              <a:spcAft>
                <a:spcPts val="200"/>
              </a:spcAft>
            </a:pPr>
            <a:r>
              <a:rPr sz="1200" b="1" lang="ja-JP">
                <a:solidFill>
                  <a:srgbClr val="1F4E96"/>
                </a:solidFill>
                <a:latin typeface="Yu Gothic"/>
                <a:ea typeface="Yu Gothic"/>
                <a:cs typeface="Yu Gothic"/>
              </a:rPr>
              <a:t>売場例</a:t>
            </a:r>
          </a:p>
          <a:p>
            <a:pPr>
              <a:lnSpc>
                <a:spcPct val="130000"/>
              </a:lnSpc>
              <a:spcAft>
                <a:spcPts val="200"/>
              </a:spcAft>
            </a:pPr>
            <a:r>
              <a:rPr sz="1150" b="0" lang="ja-JP">
                <a:solidFill>
                  <a:srgbClr val="495160"/>
                </a:solidFill>
                <a:latin typeface="Yu Gothic"/>
                <a:ea typeface="Yu Gothic"/>
                <a:cs typeface="Yu Gothic"/>
              </a:rPr>
              <a:t>■ 映画公開記念棚/ウルサマ連動棚/親子向け夏休み棚/怪獣特集棚/ゼロ特集棚/大人ファン向けプレミアム棚</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商品を単品で置くのではなく、売場として見せる</a:t>
            </a:r>
          </a:p>
          <a:p>
            <a:pPr>
              <a:lnSpc>
                <a:spcPct val="130000"/>
              </a:lnSpc>
              <a:spcAft>
                <a:spcPts val="200"/>
              </a:spcAft>
            </a:pPr>
            <a:r>
              <a:rPr sz="1150" b="0" lang="ja-JP">
                <a:solidFill>
                  <a:srgbClr val="495160"/>
                </a:solidFill>
                <a:latin typeface="Yu Gothic"/>
                <a:ea typeface="Yu Gothic"/>
                <a:cs typeface="Yu Gothic"/>
              </a:rPr>
              <a:t>■ 映画、イベント、60周年、IPコラボに合わせた期間限定棚・POPUP・店頭キャンペーン</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ウルトラマート/映画・イベント期の店頭施策</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19|カテゴリー別企画募集|企画 8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19</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企画⑧ 広告代理店・SP会社|ULTRAMAN BRAND CAMPAIGN PACKAGE――クライアント課題に合わせた活用メニュー</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クライアント課題に合わせた、ウルトラマン活用メニューを作っていきたい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企業広告、販促、地域施策、ファミリー向けキャンペーン</a:t>
            </a:r>
          </a:p>
          <a:p>
            <a:pPr>
              <a:spcBef>
                <a:spcPts val="800"/>
              </a:spcBef>
              <a:spcAft>
                <a:spcPts val="200"/>
              </a:spcAft>
            </a:pPr>
            <a:r>
              <a:rPr sz="1200" b="1" lang="ja-JP">
                <a:solidFill>
                  <a:srgbClr val="1F4E96"/>
                </a:solidFill>
                <a:latin typeface="Yu Gothic"/>
                <a:ea typeface="Yu Gothic"/>
                <a:cs typeface="Yu Gothic"/>
              </a:rPr>
              <a:t>活用テーマ</a:t>
            </a:r>
          </a:p>
          <a:p>
            <a:pPr>
              <a:lnSpc>
                <a:spcPct val="130000"/>
              </a:lnSpc>
              <a:spcAft>
                <a:spcPts val="200"/>
              </a:spcAft>
            </a:pPr>
            <a:r>
              <a:rPr sz="1150" b="0" lang="ja-JP">
                <a:solidFill>
                  <a:srgbClr val="495160"/>
                </a:solidFill>
                <a:latin typeface="Yu Gothic"/>
                <a:ea typeface="Yu Gothic"/>
                <a:cs typeface="Yu Gothic"/>
              </a:rPr>
              <a:t>■ 親子集客/夏休み販促/防災/交通安全/環境/地域創生/スポーツ/未来・テクノロジー/勇気・挑戦</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ウルトラマンを企業キャンペーンの装置として活用</a:t>
            </a:r>
          </a:p>
          <a:p>
            <a:pPr>
              <a:lnSpc>
                <a:spcPct val="130000"/>
              </a:lnSpc>
              <a:spcAft>
                <a:spcPts val="200"/>
              </a:spcAft>
            </a:pPr>
            <a:r>
              <a:rPr sz="1150" b="0" lang="ja-JP">
                <a:solidFill>
                  <a:srgbClr val="495160"/>
                </a:solidFill>
                <a:latin typeface="Yu Gothic"/>
                <a:ea typeface="Yu Gothic"/>
                <a:cs typeface="Yu Gothic"/>
              </a:rPr>
              <a:t>■ 単なるキャラクター使用ではなく、企業の課題に合わせて文脈を作る</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映画・イベント期のタイアップ/交通広告/SNSキャンペーン</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20|カテゴリー別企画募集|企画 9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20</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企画⑨ プレミアム商品|ULTRA PREMIUM LINE――大人が所有したくなる高付加価値商品</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キャラクターをそのまま載せるのではなく、世界観やシンボルを活かした高付加価値商品を広げたい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大人ファン、ギフト、高単価商材</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時計/革小物/アート/フィギュア/インテリア/ジュエリー/ゴルフ用品/高級アパレル</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ゼロ、セブン、怪獣、ロゴ、メカ、世界観を使い、大人が所有したくなる商品を作る</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ゼロ映画/周年施策/ギフト商戦/EC限定</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21|カテゴリー別企画募集|企画 10 / 10</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2026(ドラフト)|カテゴリー別企画募集</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21</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000" b="1" lang="ja-JP">
                <a:solidFill>
                  <a:srgbClr val="282D38"/>
                </a:solidFill>
                <a:latin typeface="Yu Gothic"/>
                <a:ea typeface="Yu Gothic"/>
                <a:cs typeface="Yu Gothic"/>
              </a:rPr>
              <a:t>企画⑩ 女性・ライト層|ULTRA KAWAII / CHARACTER MIX――従来のヒーロー商品とは違う入口を作る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これまでウルトラマンに触れてこなかった層にも、雑貨・キャラクター文脈で接点を広げたい</a:t>
            </a:r>
          </a:p>
        </p:txBody>
      </p:sp>
      <p:sp>
        <p:nvSpPr>
          <p:cNvPr id="9" name="TextBox 8"/>
          <p:cNvSpPr txBox="1"/>
          <p:nvPr/>
        </p:nvSpPr>
        <p:spPr>
          <a:xfrm>
            <a:off x="50292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ターゲット</a:t>
            </a:r>
          </a:p>
          <a:p>
            <a:pPr>
              <a:lnSpc>
                <a:spcPct val="130000"/>
              </a:lnSpc>
              <a:spcAft>
                <a:spcPts val="200"/>
              </a:spcAft>
            </a:pPr>
            <a:r>
              <a:rPr sz="1150" b="0" lang="ja-JP">
                <a:solidFill>
                  <a:srgbClr val="495160"/>
                </a:solidFill>
                <a:latin typeface="Yu Gothic"/>
                <a:ea typeface="Yu Gothic"/>
                <a:cs typeface="Yu Gothic"/>
              </a:rPr>
              <a:t>■ 女性、ライトファン、キャラクター雑貨層</a:t>
            </a:r>
          </a:p>
          <a:p>
            <a:pPr>
              <a:spcBef>
                <a:spcPts val="800"/>
              </a:spcBef>
              <a:spcAft>
                <a:spcPts val="200"/>
              </a:spcAft>
            </a:pPr>
            <a:r>
              <a:rPr sz="1200" b="1" lang="ja-JP">
                <a:solidFill>
                  <a:srgbClr val="1F4E96"/>
                </a:solidFill>
                <a:latin typeface="Yu Gothic"/>
                <a:ea typeface="Yu Gothic"/>
                <a:cs typeface="Yu Gothic"/>
              </a:rPr>
              <a:t>商品例</a:t>
            </a:r>
          </a:p>
          <a:p>
            <a:pPr>
              <a:lnSpc>
                <a:spcPct val="130000"/>
              </a:lnSpc>
              <a:spcAft>
                <a:spcPts val="200"/>
              </a:spcAft>
            </a:pPr>
            <a:r>
              <a:rPr sz="1150" b="0" lang="ja-JP">
                <a:solidFill>
                  <a:srgbClr val="495160"/>
                </a:solidFill>
                <a:latin typeface="Yu Gothic"/>
                <a:ea typeface="Yu Gothic"/>
                <a:cs typeface="Yu Gothic"/>
              </a:rPr>
              <a:t>■ ポーチ/キーホルダー/ぬいぐるみ/コスメ雑貨/ステーショナリー/バッグ/ルーム雑貨</a:t>
            </a:r>
          </a:p>
        </p:txBody>
      </p:sp>
      <p:sp>
        <p:nvSpPr>
          <p:cNvPr id="10" name="TextBox 9"/>
          <p:cNvSpPr txBox="1"/>
          <p:nvPr/>
        </p:nvSpPr>
        <p:spPr>
          <a:xfrm>
            <a:off x="6263640" y="2103120"/>
            <a:ext cx="5394960"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企画内容</a:t>
            </a:r>
          </a:p>
          <a:p>
            <a:pPr>
              <a:lnSpc>
                <a:spcPct val="130000"/>
              </a:lnSpc>
              <a:spcAft>
                <a:spcPts val="200"/>
              </a:spcAft>
            </a:pPr>
            <a:r>
              <a:rPr sz="1150" b="0" lang="ja-JP">
                <a:solidFill>
                  <a:srgbClr val="495160"/>
                </a:solidFill>
                <a:latin typeface="Yu Gothic"/>
                <a:ea typeface="Yu Gothic"/>
                <a:cs typeface="Yu Gothic"/>
              </a:rPr>
              <a:t>■ IPコラボやデフォルメ表現を活用し、従来のヒーロー商品とは違う入口を作る</a:t>
            </a:r>
          </a:p>
          <a:p>
            <a:pPr>
              <a:lnSpc>
                <a:spcPct val="130000"/>
              </a:lnSpc>
              <a:spcAft>
                <a:spcPts val="200"/>
              </a:spcAft>
            </a:pPr>
            <a:r>
              <a:rPr sz="1150" b="0" lang="ja-JP">
                <a:solidFill>
                  <a:srgbClr val="495160"/>
                </a:solidFill>
                <a:latin typeface="Yu Gothic"/>
                <a:ea typeface="Yu Gothic"/>
                <a:cs typeface="Yu Gothic"/>
              </a:rPr>
              <a:t>■ サンリオ等のコラボが出せる場合は、ここで強く見せる【開示確認】</a:t>
            </a:r>
          </a:p>
          <a:p>
            <a:pPr>
              <a:spcBef>
                <a:spcPts val="800"/>
              </a:spcBef>
              <a:spcAft>
                <a:spcPts val="200"/>
              </a:spcAft>
            </a:pPr>
            <a:r>
              <a:rPr sz="1200" b="1" lang="ja-JP">
                <a:solidFill>
                  <a:srgbClr val="1F4E96"/>
                </a:solidFill>
                <a:latin typeface="Yu Gothic"/>
                <a:ea typeface="Yu Gothic"/>
                <a:cs typeface="Yu Gothic"/>
              </a:rPr>
              <a:t>連動先</a:t>
            </a:r>
          </a:p>
          <a:p>
            <a:pPr>
              <a:lnSpc>
                <a:spcPct val="130000"/>
              </a:lnSpc>
              <a:spcAft>
                <a:spcPts val="200"/>
              </a:spcAft>
            </a:pPr>
            <a:r>
              <a:rPr sz="1150" b="0" lang="ja-JP">
                <a:solidFill>
                  <a:srgbClr val="495160"/>
                </a:solidFill>
                <a:latin typeface="Yu Gothic"/>
                <a:ea typeface="Yu Gothic"/>
                <a:cs typeface="Yu Gothic"/>
              </a:rPr>
              <a:t>■ IPコラボ/キャラクター雑貨売場/ギフト</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ご相談の入口　</a:t>
            </a:r>
            <a:r>
              <a:rPr sz="1100" b="1" lang="ja-JP">
                <a:solidFill>
                  <a:srgbClr val="282D38"/>
                </a:solidFill>
                <a:latin typeface="Yu Gothic"/>
                <a:ea typeface="Yu Gothic"/>
                <a:cs typeface="Yu Gothic"/>
              </a:rPr>
              <a:t>このカテゴリーの企業様は、本日ぜひ個別相談にお申し込みください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22|IPコラボ・流通</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2026(ドラフト)|IPコラボ・流通</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22</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IPコラボで、新しいファン層へ――コラボを起点に、共同で商品化・売場化する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コラボごとに「役割・狙う層・商品化機会」が異なる――ここに皆さまの企画の入口がある</a:t>
            </a:r>
          </a:p>
        </p:txBody>
      </p:sp>
      <p:graphicFrame>
        <p:nvGraphicFramePr>
          <p:cNvPr id="9" name="Table 8"/>
          <p:cNvGraphicFramePr>
            <a:graphicFrameLocks noGrp="1"/>
          </p:cNvGraphicFramePr>
          <p:nvPr/>
        </p:nvGraphicFramePr>
        <p:xfrm>
          <a:off x="502920" y="2057400"/>
          <a:ext cx="11155679" cy="2414016"/>
        </p:xfrm>
        <a:graphic>
          <a:graphicData uri="http://schemas.openxmlformats.org/drawingml/2006/table">
            <a:tbl>
              <a:tblPr>
                <a:tableStyleId>{5C22544A-7EE6-4342-B048-85BDC9FD1C3A}</a:tableStyleId>
              </a:tblPr>
              <a:tblGrid>
                <a:gridCol w="2286000"/>
                <a:gridCol w="2468880"/>
                <a:gridCol w="2651760"/>
                <a:gridCol w="3749039"/>
              </a:tblGrid>
              <a:tr h="402336">
                <a:tc>
                  <a:txBody>
                    <a:bodyPr/>
                    <a:lstStyle/>
                    <a:p>
                      <a:r>
                        <a:rPr sz="1000" b="1" lang="ja-JP">
                          <a:solidFill>
                            <a:srgbClr val="FFFFFF"/>
                          </a:solidFill>
                          <a:latin typeface="Yu Gothic"/>
                          <a:ea typeface="Yu Gothic"/>
                          <a:cs typeface="Yu Gothic"/>
                        </a:rPr>
                        <a:t>コラボ</a:t>
                      </a:r>
                    </a:p>
                  </a:txBody>
                  <a:tcPr anchor="ctr">
                    <a:solidFill>
                      <a:srgbClr val="12244B"/>
                    </a:solidFill>
                  </a:tcPr>
                </a:tc>
                <a:tc>
                  <a:txBody>
                    <a:bodyPr/>
                    <a:lstStyle/>
                    <a:p>
                      <a:r>
                        <a:rPr sz="1000" b="1" lang="ja-JP">
                          <a:solidFill>
                            <a:srgbClr val="FFFFFF"/>
                          </a:solidFill>
                          <a:latin typeface="Yu Gothic"/>
                          <a:ea typeface="Yu Gothic"/>
                          <a:cs typeface="Yu Gothic"/>
                        </a:rPr>
                        <a:t>役割</a:t>
                      </a:r>
                    </a:p>
                  </a:txBody>
                  <a:tcPr anchor="ctr">
                    <a:solidFill>
                      <a:srgbClr val="12244B"/>
                    </a:solidFill>
                  </a:tcPr>
                </a:tc>
                <a:tc>
                  <a:txBody>
                    <a:bodyPr/>
                    <a:lstStyle/>
                    <a:p>
                      <a:r>
                        <a:rPr sz="1000" b="1" lang="ja-JP">
                          <a:solidFill>
                            <a:srgbClr val="FFFFFF"/>
                          </a:solidFill>
                          <a:latin typeface="Yu Gothic"/>
                          <a:ea typeface="Yu Gothic"/>
                          <a:cs typeface="Yu Gothic"/>
                        </a:rPr>
                        <a:t>狙う層</a:t>
                      </a:r>
                    </a:p>
                  </a:txBody>
                  <a:tcPr anchor="ctr">
                    <a:solidFill>
                      <a:srgbClr val="12244B"/>
                    </a:solidFill>
                  </a:tcPr>
                </a:tc>
                <a:tc>
                  <a:txBody>
                    <a:bodyPr/>
                    <a:lstStyle/>
                    <a:p>
                      <a:r>
                        <a:rPr sz="1000" b="1" lang="ja-JP">
                          <a:solidFill>
                            <a:srgbClr val="FFFFFF"/>
                          </a:solidFill>
                          <a:latin typeface="Yu Gothic"/>
                          <a:ea typeface="Yu Gothic"/>
                          <a:cs typeface="Yu Gothic"/>
                        </a:rPr>
                        <a:t>商品化機会</a:t>
                      </a:r>
                    </a:p>
                  </a:txBody>
                  <a:tcPr anchor="ctr">
                    <a:solidFill>
                      <a:srgbClr val="12244B"/>
                    </a:solidFill>
                  </a:tcPr>
                </a:tc>
              </a:tr>
              <a:tr h="402336">
                <a:tc>
                  <a:txBody>
                    <a:bodyPr/>
                    <a:lstStyle/>
                    <a:p>
                      <a:pPr>
                        <a:lnSpc>
                          <a:spcPct val="110000"/>
                        </a:lnSpc>
                      </a:pPr>
                      <a:r>
                        <a:rPr sz="1000" b="1" lang="ja-JP">
                          <a:solidFill>
                            <a:srgbClr val="12244B"/>
                          </a:solidFill>
                          <a:latin typeface="Yu Gothic"/>
                          <a:ea typeface="Yu Gothic"/>
                          <a:cs typeface="Yu Gothic"/>
                        </a:rPr>
                        <a:t>モフサンド</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かわいい文脈</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女性・ライト層</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雑貨、アパレル、小物</a:t>
                      </a:r>
                    </a:p>
                  </a:txBody>
                  <a:tcPr anchor="ctr">
                    <a:solidFill>
                      <a:srgbClr val="FFFFFF"/>
                    </a:solidFill>
                  </a:tcPr>
                </a:tc>
              </a:tr>
              <a:tr h="402336">
                <a:tc>
                  <a:txBody>
                    <a:bodyPr/>
                    <a:lstStyle/>
                    <a:p>
                      <a:pPr>
                        <a:lnSpc>
                          <a:spcPct val="110000"/>
                        </a:lnSpc>
                      </a:pPr>
                      <a:r>
                        <a:rPr sz="1000" b="1" lang="ja-JP">
                          <a:solidFill>
                            <a:srgbClr val="12244B"/>
                          </a:solidFill>
                          <a:latin typeface="Yu Gothic"/>
                          <a:ea typeface="Yu Gothic"/>
                          <a:cs typeface="Yu Gothic"/>
                        </a:rPr>
                        <a:t>ベイブレード</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キッズ・ホビー文脈</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男児・玩具層</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玩具、ホビー、イベント</a:t>
                      </a:r>
                    </a:p>
                  </a:txBody>
                  <a:tcPr anchor="ctr">
                    <a:solidFill>
                      <a:srgbClr val="F4F5F7"/>
                    </a:solidFill>
                  </a:tcPr>
                </a:tc>
              </a:tr>
              <a:tr h="402336">
                <a:tc>
                  <a:txBody>
                    <a:bodyPr/>
                    <a:lstStyle/>
                    <a:p>
                      <a:pPr>
                        <a:lnSpc>
                          <a:spcPct val="110000"/>
                        </a:lnSpc>
                      </a:pPr>
                      <a:r>
                        <a:rPr sz="1000" b="1" lang="ja-JP">
                          <a:solidFill>
                            <a:srgbClr val="12244B"/>
                          </a:solidFill>
                          <a:latin typeface="Yu Gothic"/>
                          <a:ea typeface="Yu Gothic"/>
                          <a:cs typeface="Yu Gothic"/>
                        </a:rPr>
                        <a:t>サンリオ【開示確認】</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キャラクター雑貨文脈</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女性、ファミリー、ギフト</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雑貨、文具、アパレル、流通棚</a:t>
                      </a:r>
                    </a:p>
                  </a:txBody>
                  <a:tcPr anchor="ctr">
                    <a:solidFill>
                      <a:srgbClr val="FFFFFF"/>
                    </a:solidFill>
                  </a:tcPr>
                </a:tc>
              </a:tr>
              <a:tr h="402336">
                <a:tc>
                  <a:txBody>
                    <a:bodyPr/>
                    <a:lstStyle/>
                    <a:p>
                      <a:pPr>
                        <a:lnSpc>
                          <a:spcPct val="110000"/>
                        </a:lnSpc>
                      </a:pPr>
                      <a:r>
                        <a:rPr sz="1000" b="1" lang="ja-JP">
                          <a:solidFill>
                            <a:srgbClr val="12244B"/>
                          </a:solidFill>
                          <a:latin typeface="Yu Gothic"/>
                          <a:ea typeface="Yu Gothic"/>
                          <a:cs typeface="Yu Gothic"/>
                        </a:rPr>
                        <a:t>ゼロ関連</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ヒーロー・大人ファン文脈</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コアファン、親世代</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プレミアム、アパレル、ホビー</a:t>
                      </a:r>
                    </a:p>
                  </a:txBody>
                  <a:tcPr anchor="ctr">
                    <a:solidFill>
                      <a:srgbClr val="F4F5F7"/>
                    </a:solidFill>
                  </a:tcPr>
                </a:tc>
              </a:tr>
              <a:tr h="402336">
                <a:tc>
                  <a:txBody>
                    <a:bodyPr/>
                    <a:lstStyle/>
                    <a:p>
                      <a:pPr>
                        <a:lnSpc>
                          <a:spcPct val="110000"/>
                        </a:lnSpc>
                      </a:pPr>
                      <a:r>
                        <a:rPr sz="1000" b="1" lang="ja-JP">
                          <a:solidFill>
                            <a:srgbClr val="12244B"/>
                          </a:solidFill>
                          <a:latin typeface="Yu Gothic"/>
                          <a:ea typeface="Yu Gothic"/>
                          <a:cs typeface="Yu Gothic"/>
                        </a:rPr>
                        <a:t>ギャラファイ系</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キャラ横断文脈</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コレクター</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ランダム、EC、限定商品</a:t>
                      </a:r>
                    </a:p>
                  </a:txBody>
                  <a:tcPr anchor="ctr">
                    <a:solidFill>
                      <a:srgbClr val="FFFFFF"/>
                    </a:solidFill>
                  </a:tcPr>
                </a:tc>
              </a:tr>
            </a:tbl>
          </a:graphicData>
        </a:graphic>
      </p:graphicFrame>
      <p:sp>
        <p:nvSpPr>
          <p:cNvPr id="10" name="Rectangle 9"/>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コラボIPを起点に、新しいファン層・新しい売場をライセンシーの皆さまと共同で開拓していく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23|IPコラボ・流通</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2026(ドラフト)|IPコラボ・流通</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23</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ウルトラマートと流通展開――作った商品の「売場の出口」を用意する</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円谷側でも「売る場所・見せる場所・出会う場所」を増やしていく</a:t>
            </a:r>
          </a:p>
        </p:txBody>
      </p:sp>
      <p:sp>
        <p:nvSpPr>
          <p:cNvPr id="9" name="TextBox 8"/>
          <p:cNvSpPr txBox="1"/>
          <p:nvPr/>
        </p:nvSpPr>
        <p:spPr>
          <a:xfrm>
            <a:off x="502920" y="2057400"/>
            <a:ext cx="11183112"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見せるもの</a:t>
            </a:r>
          </a:p>
          <a:p>
            <a:pPr>
              <a:lnSpc>
                <a:spcPct val="130000"/>
              </a:lnSpc>
              <a:spcAft>
                <a:spcPts val="200"/>
              </a:spcAft>
            </a:pPr>
            <a:r>
              <a:rPr sz="1150" b="0" lang="ja-JP">
                <a:solidFill>
                  <a:srgbClr val="495160"/>
                </a:solidFill>
                <a:latin typeface="Yu Gothic"/>
                <a:ea typeface="Yu Gothic"/>
                <a:cs typeface="Yu Gothic"/>
              </a:rPr>
              <a:t>■ ウルトラマートのコンセプト/売場写真/商品展開イメージ</a:t>
            </a:r>
          </a:p>
          <a:p>
            <a:pPr>
              <a:lnSpc>
                <a:spcPct val="130000"/>
              </a:lnSpc>
              <a:spcAft>
                <a:spcPts val="200"/>
              </a:spcAft>
            </a:pPr>
            <a:r>
              <a:rPr sz="1150" b="0" lang="ja-JP">
                <a:solidFill>
                  <a:srgbClr val="495160"/>
                </a:solidFill>
                <a:latin typeface="Yu Gothic"/>
                <a:ea typeface="Yu Gothic"/>
                <a:cs typeface="Yu Gothic"/>
              </a:rPr>
              <a:t>■ POPUP展開/限定商品枠/先行販売枠</a:t>
            </a:r>
          </a:p>
          <a:p>
            <a:pPr>
              <a:lnSpc>
                <a:spcPct val="130000"/>
              </a:lnSpc>
              <a:spcAft>
                <a:spcPts val="200"/>
              </a:spcAft>
            </a:pPr>
            <a:r>
              <a:rPr sz="1150" b="0" lang="ja-JP">
                <a:solidFill>
                  <a:srgbClr val="495160"/>
                </a:solidFill>
                <a:latin typeface="Yu Gothic"/>
                <a:ea typeface="Yu Gothic"/>
                <a:cs typeface="Yu Gothic"/>
              </a:rPr>
              <a:t>■ 映画連動棚/ウルサマ連動棚/IPコラボ棚/EC連動</a:t>
            </a:r>
          </a:p>
        </p:txBody>
      </p:sp>
      <p:sp>
        <p:nvSpPr>
          <p:cNvPr id="10" name="Rounded Rectangle 9"/>
          <p:cNvSpPr/>
          <p:nvPr/>
        </p:nvSpPr>
        <p:spPr>
          <a:xfrm>
            <a:off x="502920" y="3977639"/>
            <a:ext cx="11183112" cy="457200"/>
          </a:xfrm>
          <a:prstGeom prst="roundRect">
            <a:avLst>
              <a:gd name="adj" fmla="val 18000"/>
            </a:avLst>
          </a:prstGeom>
          <a:solidFill>
            <a:srgbClr val="EBF0F8"/>
          </a:solidFill>
          <a:ln w="12700">
            <a:solidFill>
              <a:srgbClr val="1F4E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39"/>
            <a:ext cx="10817352" cy="457200"/>
          </a:xfrm>
          <a:prstGeom prst="rect">
            <a:avLst/>
          </a:prstGeom>
          <a:noFill/>
        </p:spPr>
        <p:txBody>
          <a:bodyPr wrap="square" anchor="ctr" lIns="0" rIns="0">
            <a:spAutoFit/>
          </a:bodyPr>
          <a:lstStyle/>
          <a:p>
            <a:r>
              <a:rPr sz="1000" b="1" lang="ja-JP">
                <a:solidFill>
                  <a:srgbClr val="1F4E96"/>
                </a:solidFill>
                <a:latin typeface="Yu Gothic"/>
                <a:ea typeface="Yu Gothic"/>
                <a:cs typeface="Yu Gothic"/>
              </a:rPr>
              <a:t>【素材10待ち】ウルトラマート売場写真・展開イメージに差し替え</a:t>
            </a:r>
          </a:p>
        </p:txBody>
      </p:sp>
      <p:sp>
        <p:nvSpPr>
          <p:cNvPr id="12" name="Rectangle 11"/>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商品を作っていただくだけでなく、どこで・どう見せ・どう売るかまで一緒に設計していく</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24|スタイルガイド・監修</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2026(ドラフト)|スタイルガイド・監修</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24</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商品化を加速するスタイルガイド戦略――カテゴリー別・ターゲット別に「使える形」で</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“素材をお渡しします”ではなく、“商品化しやすい形にしてお渡しします”</a:t>
            </a:r>
          </a:p>
        </p:txBody>
      </p:sp>
      <p:graphicFrame>
        <p:nvGraphicFramePr>
          <p:cNvPr id="9" name="Table 8"/>
          <p:cNvGraphicFramePr>
            <a:graphicFrameLocks noGrp="1"/>
          </p:cNvGraphicFramePr>
          <p:nvPr/>
        </p:nvGraphicFramePr>
        <p:xfrm>
          <a:off x="502920" y="2057400"/>
          <a:ext cx="11155680" cy="3072384"/>
        </p:xfrm>
        <a:graphic>
          <a:graphicData uri="http://schemas.openxmlformats.org/drawingml/2006/table">
            <a:tbl>
              <a:tblPr>
                <a:tableStyleId>{5C22544A-7EE6-4342-B048-85BDC9FD1C3A}</a:tableStyleId>
              </a:tblPr>
              <a:tblGrid>
                <a:gridCol w="3291840"/>
                <a:gridCol w="7863840"/>
              </a:tblGrid>
              <a:tr h="384048">
                <a:tc>
                  <a:txBody>
                    <a:bodyPr/>
                    <a:lstStyle/>
                    <a:p>
                      <a:r>
                        <a:rPr sz="1000" b="1" lang="ja-JP">
                          <a:solidFill>
                            <a:srgbClr val="FFFFFF"/>
                          </a:solidFill>
                          <a:latin typeface="Yu Gothic"/>
                          <a:ea typeface="Yu Gothic"/>
                          <a:cs typeface="Yu Gothic"/>
                        </a:rPr>
                        <a:t>ガイド</a:t>
                      </a:r>
                    </a:p>
                  </a:txBody>
                  <a:tcPr anchor="ctr">
                    <a:solidFill>
                      <a:srgbClr val="12244B"/>
                    </a:solidFill>
                  </a:tcPr>
                </a:tc>
                <a:tc>
                  <a:txBody>
                    <a:bodyPr/>
                    <a:lstStyle/>
                    <a:p>
                      <a:r>
                        <a:rPr sz="1000" b="1" lang="ja-JP">
                          <a:solidFill>
                            <a:srgbClr val="FFFFFF"/>
                          </a:solidFill>
                          <a:latin typeface="Yu Gothic"/>
                          <a:ea typeface="Yu Gothic"/>
                          <a:cs typeface="Yu Gothic"/>
                        </a:rPr>
                        <a:t>使う企業</a:t>
                      </a:r>
                    </a:p>
                  </a:txBody>
                  <a:tcPr anchor="ctr">
                    <a:solidFill>
                      <a:srgbClr val="12244B"/>
                    </a:solidFill>
                  </a:tcPr>
                </a:tc>
              </a:tr>
              <a:tr h="384048">
                <a:tc>
                  <a:txBody>
                    <a:bodyPr/>
                    <a:lstStyle/>
                    <a:p>
                      <a:pPr>
                        <a:lnSpc>
                          <a:spcPct val="110000"/>
                        </a:lnSpc>
                      </a:pPr>
                      <a:r>
                        <a:rPr sz="1000" b="1" lang="ja-JP">
                          <a:solidFill>
                            <a:srgbClr val="12244B"/>
                          </a:solidFill>
                          <a:latin typeface="Yu Gothic"/>
                          <a:ea typeface="Yu Gothic"/>
                          <a:cs typeface="Yu Gothic"/>
                        </a:rPr>
                        <a:t>キッズ向けガイド</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食品、玩具、文具、子ども服</a:t>
                      </a:r>
                    </a:p>
                  </a:txBody>
                  <a:tcPr anchor="ctr">
                    <a:solidFill>
                      <a:srgbClr val="FFFFFF"/>
                    </a:solidFill>
                  </a:tcPr>
                </a:tc>
              </a:tr>
              <a:tr h="384048">
                <a:tc>
                  <a:txBody>
                    <a:bodyPr/>
                    <a:lstStyle/>
                    <a:p>
                      <a:pPr>
                        <a:lnSpc>
                          <a:spcPct val="110000"/>
                        </a:lnSpc>
                      </a:pPr>
                      <a:r>
                        <a:rPr sz="1000" b="1" lang="ja-JP">
                          <a:solidFill>
                            <a:srgbClr val="12244B"/>
                          </a:solidFill>
                          <a:latin typeface="Yu Gothic"/>
                          <a:ea typeface="Yu Gothic"/>
                          <a:cs typeface="Yu Gothic"/>
                        </a:rPr>
                        <a:t>大人ファン向けガイド</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アパレル、雑貨、プレミアム商品</a:t>
                      </a:r>
                    </a:p>
                  </a:txBody>
                  <a:tcPr anchor="ctr">
                    <a:solidFill>
                      <a:srgbClr val="F4F5F7"/>
                    </a:solidFill>
                  </a:tcPr>
                </a:tc>
              </a:tr>
              <a:tr h="384048">
                <a:tc>
                  <a:txBody>
                    <a:bodyPr/>
                    <a:lstStyle/>
                    <a:p>
                      <a:pPr>
                        <a:lnSpc>
                          <a:spcPct val="110000"/>
                        </a:lnSpc>
                      </a:pPr>
                      <a:r>
                        <a:rPr sz="1000" b="1" lang="ja-JP">
                          <a:solidFill>
                            <a:srgbClr val="12244B"/>
                          </a:solidFill>
                          <a:latin typeface="Yu Gothic"/>
                          <a:ea typeface="Yu Gothic"/>
                          <a:cs typeface="Yu Gothic"/>
                        </a:rPr>
                        <a:t>女性・ライト層向けガイド</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雑貨、文具、キャラクターコラボ</a:t>
                      </a:r>
                    </a:p>
                  </a:txBody>
                  <a:tcPr anchor="ctr">
                    <a:solidFill>
                      <a:srgbClr val="FFFFFF"/>
                    </a:solidFill>
                  </a:tcPr>
                </a:tc>
              </a:tr>
              <a:tr h="384048">
                <a:tc>
                  <a:txBody>
                    <a:bodyPr/>
                    <a:lstStyle/>
                    <a:p>
                      <a:pPr>
                        <a:lnSpc>
                          <a:spcPct val="110000"/>
                        </a:lnSpc>
                      </a:pPr>
                      <a:r>
                        <a:rPr sz="1000" b="1" lang="ja-JP">
                          <a:solidFill>
                            <a:srgbClr val="12244B"/>
                          </a:solidFill>
                          <a:latin typeface="Yu Gothic"/>
                          <a:ea typeface="Yu Gothic"/>
                          <a:cs typeface="Yu Gothic"/>
                        </a:rPr>
                        <a:t>怪獣・ヴィランガイド</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アパレル、ホビー、雑貨</a:t>
                      </a:r>
                    </a:p>
                  </a:txBody>
                  <a:tcPr anchor="ctr">
                    <a:solidFill>
                      <a:srgbClr val="F4F5F7"/>
                    </a:solidFill>
                  </a:tcPr>
                </a:tc>
              </a:tr>
              <a:tr h="384048">
                <a:tc>
                  <a:txBody>
                    <a:bodyPr/>
                    <a:lstStyle/>
                    <a:p>
                      <a:pPr>
                        <a:lnSpc>
                          <a:spcPct val="110000"/>
                        </a:lnSpc>
                      </a:pPr>
                      <a:r>
                        <a:rPr sz="1000" b="1" lang="ja-JP">
                          <a:solidFill>
                            <a:srgbClr val="12244B"/>
                          </a:solidFill>
                          <a:latin typeface="Yu Gothic"/>
                          <a:ea typeface="Yu Gothic"/>
                          <a:cs typeface="Yu Gothic"/>
                        </a:rPr>
                        <a:t>映画連動ガイド</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食品、外食、流通、広告</a:t>
                      </a:r>
                    </a:p>
                  </a:txBody>
                  <a:tcPr anchor="ctr">
                    <a:solidFill>
                      <a:srgbClr val="FFFFFF"/>
                    </a:solidFill>
                  </a:tcPr>
                </a:tc>
              </a:tr>
              <a:tr h="384048">
                <a:tc>
                  <a:txBody>
                    <a:bodyPr/>
                    <a:lstStyle/>
                    <a:p>
                      <a:pPr>
                        <a:lnSpc>
                          <a:spcPct val="110000"/>
                        </a:lnSpc>
                      </a:pPr>
                      <a:r>
                        <a:rPr sz="1000" b="1" lang="ja-JP">
                          <a:solidFill>
                            <a:srgbClr val="12244B"/>
                          </a:solidFill>
                          <a:latin typeface="Yu Gothic"/>
                          <a:ea typeface="Yu Gothic"/>
                          <a:cs typeface="Yu Gothic"/>
                        </a:rPr>
                        <a:t>流通販促ガイド</a:t>
                      </a:r>
                    </a:p>
                  </a:txBody>
                  <a:tcPr anchor="ctr">
                    <a:solidFill>
                      <a:srgbClr val="F4F5F7"/>
                    </a:solidFill>
                  </a:tcPr>
                </a:tc>
                <a:tc>
                  <a:txBody>
                    <a:bodyPr/>
                    <a:lstStyle/>
                    <a:p>
                      <a:pPr>
                        <a:lnSpc>
                          <a:spcPct val="110000"/>
                        </a:lnSpc>
                      </a:pPr>
                      <a:r>
                        <a:rPr sz="1000" b="0" lang="ja-JP">
                          <a:solidFill>
                            <a:srgbClr val="495160"/>
                          </a:solidFill>
                          <a:latin typeface="Yu Gothic"/>
                          <a:ea typeface="Yu Gothic"/>
                          <a:cs typeface="Yu Gothic"/>
                        </a:rPr>
                        <a:t>小売、量販店、商業施設</a:t>
                      </a:r>
                    </a:p>
                  </a:txBody>
                  <a:tcPr anchor="ctr">
                    <a:solidFill>
                      <a:srgbClr val="F4F5F7"/>
                    </a:solidFill>
                  </a:tcPr>
                </a:tc>
              </a:tr>
              <a:tr h="384048">
                <a:tc>
                  <a:txBody>
                    <a:bodyPr/>
                    <a:lstStyle/>
                    <a:p>
                      <a:pPr>
                        <a:lnSpc>
                          <a:spcPct val="110000"/>
                        </a:lnSpc>
                      </a:pPr>
                      <a:r>
                        <a:rPr sz="1000" b="1" lang="ja-JP">
                          <a:solidFill>
                            <a:srgbClr val="12244B"/>
                          </a:solidFill>
                          <a:latin typeface="Yu Gothic"/>
                          <a:ea typeface="Yu Gothic"/>
                          <a:cs typeface="Yu Gothic"/>
                        </a:rPr>
                        <a:t>広告キャンペーンガイド</a:t>
                      </a:r>
                    </a:p>
                  </a:txBody>
                  <a:tcPr anchor="ctr">
                    <a:solidFill>
                      <a:srgbClr val="FFFFFF"/>
                    </a:solidFill>
                  </a:tcPr>
                </a:tc>
                <a:tc>
                  <a:txBody>
                    <a:bodyPr/>
                    <a:lstStyle/>
                    <a:p>
                      <a:pPr>
                        <a:lnSpc>
                          <a:spcPct val="110000"/>
                        </a:lnSpc>
                      </a:pPr>
                      <a:r>
                        <a:rPr sz="1000" b="0" lang="ja-JP">
                          <a:solidFill>
                            <a:srgbClr val="495160"/>
                          </a:solidFill>
                          <a:latin typeface="Yu Gothic"/>
                          <a:ea typeface="Yu Gothic"/>
                          <a:cs typeface="Yu Gothic"/>
                        </a:rPr>
                        <a:t>代理店、SP、企業タイアップ</a:t>
                      </a:r>
                    </a:p>
                  </a:txBody>
                  <a:tcPr anchor="ctr">
                    <a:solidFill>
                      <a:srgbClr val="FFFFFF"/>
                    </a:solidFill>
                  </a:tcPr>
                </a:tc>
              </a:tr>
            </a:tbl>
          </a:graphicData>
        </a:graphic>
      </p:graphicFrame>
      <p:sp>
        <p:nvSpPr>
          <p:cNvPr id="10" name="Rectangle 9"/>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これが今後のライセンス営業の大きな方針です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25|スタイルガイド・監修</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2026(ドラフト)|スタイルガイド・監修</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25</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監修・商品化フロー――企画提出から商品化まで、迷わない</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「作りたい」と思った後、すぐ動ける体制を用意する</a:t>
            </a:r>
          </a:p>
        </p:txBody>
      </p:sp>
      <p:sp>
        <p:nvSpPr>
          <p:cNvPr id="9" name="Rounded Rectangle 8"/>
          <p:cNvSpPr/>
          <p:nvPr/>
        </p:nvSpPr>
        <p:spPr>
          <a:xfrm>
            <a:off x="502920" y="2103120"/>
            <a:ext cx="2644902" cy="123444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① 企画提出</a:t>
            </a:r>
          </a:p>
          <a:p>
            <a:pPr algn="ctr">
              <a:lnSpc>
                <a:spcPct val="120000"/>
              </a:lnSpc>
            </a:pPr>
            <a:r>
              <a:rPr sz="950" b="0" lang="ja-JP">
                <a:solidFill>
                  <a:srgbClr val="495160"/>
                </a:solidFill>
                <a:latin typeface="Yu Gothic"/>
                <a:ea typeface="Yu Gothic"/>
                <a:cs typeface="Yu Gothic"/>
              </a:rPr>
              <a:t>カテゴリー別ガイド・テンプレートを利用</a:t>
            </a:r>
          </a:p>
        </p:txBody>
      </p:sp>
      <p:sp>
        <p:nvSpPr>
          <p:cNvPr id="10" name="Rounded Rectangle 9"/>
          <p:cNvSpPr/>
          <p:nvPr/>
        </p:nvSpPr>
        <p:spPr>
          <a:xfrm>
            <a:off x="3348990" y="2103120"/>
            <a:ext cx="2644902" cy="123444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② 初稿確認</a:t>
            </a:r>
          </a:p>
          <a:p>
            <a:pPr algn="ctr">
              <a:lnSpc>
                <a:spcPct val="120000"/>
              </a:lnSpc>
            </a:pPr>
            <a:r>
              <a:rPr sz="950" b="0" lang="ja-JP">
                <a:solidFill>
                  <a:srgbClr val="495160"/>
                </a:solidFill>
                <a:latin typeface="Yu Gothic"/>
                <a:ea typeface="Yu Gothic"/>
                <a:cs typeface="Yu Gothic"/>
              </a:rPr>
              <a:t>標準リードタイムを明記</a:t>
            </a:r>
          </a:p>
        </p:txBody>
      </p:sp>
      <p:sp>
        <p:nvSpPr>
          <p:cNvPr id="11" name="Rounded Rectangle 10"/>
          <p:cNvSpPr/>
          <p:nvPr/>
        </p:nvSpPr>
        <p:spPr>
          <a:xfrm>
            <a:off x="6195060" y="2103120"/>
            <a:ext cx="2644902" cy="1234440"/>
          </a:xfrm>
          <a:prstGeom prst="roundRect">
            <a:avLst>
              <a:gd name="adj" fmla="val 10000"/>
            </a:avLst>
          </a:prstGeom>
          <a:solidFill>
            <a:srgbClr val="EBF0F8"/>
          </a:solidFill>
          <a:ln w="13970">
            <a:solidFill>
              <a:srgbClr val="1F4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12244B"/>
                </a:solidFill>
                <a:latin typeface="Yu Gothic"/>
                <a:ea typeface="Yu Gothic"/>
                <a:cs typeface="Yu Gothic"/>
              </a:rPr>
              <a:t>③ 修正</a:t>
            </a:r>
          </a:p>
          <a:p>
            <a:pPr algn="ctr">
              <a:lnSpc>
                <a:spcPct val="120000"/>
              </a:lnSpc>
            </a:pPr>
            <a:r>
              <a:rPr sz="950" b="0" lang="ja-JP">
                <a:solidFill>
                  <a:srgbClr val="495160"/>
                </a:solidFill>
                <a:latin typeface="Yu Gothic"/>
                <a:ea typeface="Yu Gothic"/>
                <a:cs typeface="Yu Gothic"/>
              </a:rPr>
              <a:t>差し戻し理由を明確に共有</a:t>
            </a:r>
          </a:p>
        </p:txBody>
      </p:sp>
      <p:sp>
        <p:nvSpPr>
          <p:cNvPr id="12" name="Rounded Rectangle 11"/>
          <p:cNvSpPr/>
          <p:nvPr/>
        </p:nvSpPr>
        <p:spPr>
          <a:xfrm>
            <a:off x="9041130" y="2103120"/>
            <a:ext cx="2644902" cy="1234440"/>
          </a:xfrm>
          <a:prstGeom prst="roundRect">
            <a:avLst>
              <a:gd name="adj" fmla="val 10000"/>
            </a:avLst>
          </a:prstGeom>
          <a:solidFill>
            <a:srgbClr val="122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spcAft>
                <a:spcPts val="300"/>
              </a:spcAft>
            </a:pPr>
            <a:r>
              <a:rPr sz="1200" b="1" lang="ja-JP">
                <a:solidFill>
                  <a:srgbClr val="FFFFFF"/>
                </a:solidFill>
                <a:latin typeface="Yu Gothic"/>
                <a:ea typeface="Yu Gothic"/>
                <a:cs typeface="Yu Gothic"/>
              </a:rPr>
              <a:t>④ 承認・商品化</a:t>
            </a:r>
          </a:p>
          <a:p>
            <a:pPr algn="ctr">
              <a:lnSpc>
                <a:spcPct val="120000"/>
              </a:lnSpc>
            </a:pPr>
            <a:r>
              <a:rPr sz="950" b="0" lang="ja-JP">
                <a:solidFill>
                  <a:srgbClr val="C6D4EA"/>
                </a:solidFill>
                <a:latin typeface="Yu Gothic"/>
                <a:ea typeface="Yu Gothic"/>
                <a:cs typeface="Yu Gothic"/>
              </a:rPr>
              <a:t>売場・販促の設計まで並走</a:t>
            </a:r>
          </a:p>
        </p:txBody>
      </p:sp>
      <p:sp>
        <p:nvSpPr>
          <p:cNvPr id="13" name="TextBox 12"/>
          <p:cNvSpPr txBox="1"/>
          <p:nvPr/>
        </p:nvSpPr>
        <p:spPr>
          <a:xfrm>
            <a:off x="502920" y="3657600"/>
            <a:ext cx="11183112" cy="3566160"/>
          </a:xfrm>
          <a:prstGeom prst="rect">
            <a:avLst/>
          </a:prstGeom>
          <a:noFill/>
        </p:spPr>
        <p:txBody>
          <a:bodyPr wrap="square" lIns="0" rIns="0" tIns="0">
            <a:spAutoFit/>
          </a:bodyPr>
          <a:lstStyle/>
          <a:p>
            <a:pPr>
              <a:spcBef>
                <a:spcPts val="0"/>
              </a:spcBef>
              <a:spcAft>
                <a:spcPts val="200"/>
              </a:spcAft>
            </a:pPr>
            <a:r>
              <a:rPr sz="1200" b="1" lang="ja-JP">
                <a:solidFill>
                  <a:srgbClr val="1F4E96"/>
                </a:solidFill>
                <a:latin typeface="Yu Gothic"/>
                <a:ea typeface="Yu Gothic"/>
                <a:cs typeface="Yu Gothic"/>
              </a:rPr>
              <a:t>開示区分</a:t>
            </a:r>
          </a:p>
          <a:p>
            <a:pPr>
              <a:lnSpc>
                <a:spcPct val="130000"/>
              </a:lnSpc>
              <a:spcAft>
                <a:spcPts val="200"/>
              </a:spcAft>
            </a:pPr>
            <a:r>
              <a:rPr sz="1150" b="0" lang="ja-JP">
                <a:solidFill>
                  <a:srgbClr val="495160"/>
                </a:solidFill>
                <a:latin typeface="Yu Gothic"/>
                <a:ea typeface="Yu Gothic"/>
                <a:cs typeface="Yu Gothic"/>
              </a:rPr>
              <a:t>■ 当日開示/NDA後開示/個別商談時開示――商談の段階に応じて詳細素材をご覧いただけます</a:t>
            </a:r>
          </a:p>
        </p:txBody>
      </p:sp>
      <p:sp>
        <p:nvSpPr>
          <p:cNvPr id="14" name="Rounded Rectangle 13"/>
          <p:cNvSpPr/>
          <p:nvPr/>
        </p:nvSpPr>
        <p:spPr>
          <a:xfrm>
            <a:off x="502920" y="4343400"/>
            <a:ext cx="11183112" cy="457200"/>
          </a:xfrm>
          <a:prstGeom prst="roundRect">
            <a:avLst>
              <a:gd name="adj" fmla="val 18000"/>
            </a:avLst>
          </a:prstGeom>
          <a:solidFill>
            <a:srgbClr val="EBF0F8"/>
          </a:solidFill>
          <a:ln w="12700">
            <a:solidFill>
              <a:srgbClr val="1F4E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343400"/>
            <a:ext cx="10817352" cy="457200"/>
          </a:xfrm>
          <a:prstGeom prst="rect">
            <a:avLst/>
          </a:prstGeom>
          <a:noFill/>
        </p:spPr>
        <p:txBody>
          <a:bodyPr wrap="square" anchor="ctr" lIns="0" rIns="0">
            <a:spAutoFit/>
          </a:bodyPr>
          <a:lstStyle/>
          <a:p>
            <a:r>
              <a:rPr sz="1000" b="1" lang="ja-JP">
                <a:solidFill>
                  <a:srgbClr val="1F4E96"/>
                </a:solidFill>
                <a:latin typeface="Yu Gothic"/>
                <a:ea typeface="Yu Gothic"/>
                <a:cs typeface="Yu Gothic"/>
              </a:rPr>
              <a:t>【素材11・12待ち】スタイルガイド抜粋・監修フロー資料</a:t>
            </a:r>
          </a:p>
        </p:txBody>
      </p:sp>
      <p:sp>
        <p:nvSpPr>
          <p:cNvPr id="16" name="Rectangle 15"/>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キーメッセージ　</a:t>
            </a:r>
            <a:r>
              <a:rPr sz="1100" b="1" lang="ja-JP">
                <a:solidFill>
                  <a:srgbClr val="282D38"/>
                </a:solidFill>
                <a:latin typeface="Yu Gothic"/>
                <a:ea typeface="Yu Gothic"/>
                <a:cs typeface="Yu Gothic"/>
              </a:rPr>
              <a:t>企画のご相談から商品化まで、止まらない導線を用意しています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26|クロージング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2026(ドラフト)|クロージング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26</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本日から受付開始――個別商談・企画相談・NDA説明会・スタイルガイド</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72768"/>
            <a:ext cx="11183112" cy="365760"/>
          </a:xfrm>
          <a:prstGeom prst="rect">
            <a:avLst/>
          </a:prstGeom>
          <a:noFill/>
        </p:spPr>
        <p:txBody>
          <a:bodyPr wrap="square" anchor="t" lIns="0" rIns="0" tIns="0" bIns="0">
            <a:spAutoFit/>
          </a:bodyPr>
          <a:lstStyle/>
          <a:p>
            <a:pPr algn="l">
              <a:lnSpc>
                <a:spcPct val="125000"/>
              </a:lnSpc>
              <a:spcBef>
                <a:spcPts val="0"/>
              </a:spcBef>
              <a:spcAft>
                <a:spcPts val="300"/>
              </a:spcAft>
            </a:pPr>
            <a:r>
              <a:rPr sz="1250" b="1" lang="ja-JP">
                <a:solidFill>
                  <a:srgbClr val="12244B"/>
                </a:solidFill>
                <a:latin typeface="Yu Gothic"/>
                <a:ea typeface="Yu Gothic"/>
                <a:cs typeface="Yu Gothic"/>
              </a:rPr>
              <a:t>会場内のQRから、関心カテゴリーとご希望の相談テーマをご登録ください</a:t>
            </a:r>
          </a:p>
        </p:txBody>
      </p:sp>
      <p:sp>
        <p:nvSpPr>
          <p:cNvPr id="9" name="Rounded Rectangle 8"/>
          <p:cNvSpPr/>
          <p:nvPr/>
        </p:nvSpPr>
        <p:spPr>
          <a:xfrm>
            <a:off x="502920" y="2103120"/>
            <a:ext cx="2468880" cy="2468880"/>
          </a:xfrm>
          <a:prstGeom prst="roundRect">
            <a:avLst>
              <a:gd name="adj" fmla="val 6000"/>
            </a:avLst>
          </a:prstGeom>
          <a:solidFill>
            <a:srgbClr val="EBF0F8"/>
          </a:solidFill>
          <a:ln w="15240">
            <a:solidFill>
              <a:srgbClr val="1F4E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lang="ja-JP">
                <a:solidFill>
                  <a:srgbClr val="12244B"/>
                </a:solidFill>
                <a:latin typeface="Yu Gothic"/>
                <a:ea typeface="Yu Gothic"/>
                <a:cs typeface="Yu Gothic"/>
              </a:rPr>
              <a:t>【QRコード】</a:t>
            </a:r>
          </a:p>
          <a:p>
            <a:pPr algn="ctr"/>
            <a:r>
              <a:rPr sz="1300" b="1" lang="ja-JP">
                <a:solidFill>
                  <a:srgbClr val="12244B"/>
                </a:solidFill>
                <a:latin typeface="Yu Gothic"/>
                <a:ea typeface="Yu Gothic"/>
                <a:cs typeface="Yu Gothic"/>
              </a:rPr>
              <a:t>個別商談・企画相談</a:t>
            </a:r>
          </a:p>
          <a:p>
            <a:pPr algn="ctr"/>
            <a:r>
              <a:rPr sz="1100" b="1" lang="ja-JP">
                <a:solidFill>
                  <a:srgbClr val="12244B"/>
                </a:solidFill>
                <a:latin typeface="Yu Gothic"/>
                <a:ea typeface="Yu Gothic"/>
                <a:cs typeface="Yu Gothic"/>
              </a:rPr>
              <a:t>受付フォーム</a:t>
            </a:r>
          </a:p>
        </p:txBody>
      </p:sp>
      <p:sp>
        <p:nvSpPr>
          <p:cNvPr id="10" name="TextBox 9"/>
          <p:cNvSpPr txBox="1"/>
          <p:nvPr/>
        </p:nvSpPr>
        <p:spPr>
          <a:xfrm>
            <a:off x="3291840" y="2148840"/>
            <a:ext cx="8412480" cy="3566160"/>
          </a:xfrm>
          <a:prstGeom prst="rect">
            <a:avLst/>
          </a:prstGeom>
          <a:noFill/>
        </p:spPr>
        <p:txBody>
          <a:bodyPr wrap="square" lIns="0" rIns="0" tIns="0">
            <a:spAutoFit/>
          </a:bodyPr>
          <a:lstStyle/>
          <a:p>
            <a:pPr>
              <a:spcBef>
                <a:spcPts val="0"/>
              </a:spcBef>
              <a:spcAft>
                <a:spcPts val="200"/>
              </a:spcAft>
            </a:pPr>
            <a:r>
              <a:rPr sz="1100" b="1" lang="ja-JP">
                <a:solidFill>
                  <a:srgbClr val="1F4E96"/>
                </a:solidFill>
                <a:latin typeface="Yu Gothic"/>
                <a:ea typeface="Yu Gothic"/>
                <a:cs typeface="Yu Gothic"/>
              </a:rPr>
              <a:t>フォームでご登録いただくこと</a:t>
            </a:r>
          </a:p>
          <a:p>
            <a:pPr>
              <a:lnSpc>
                <a:spcPct val="130000"/>
              </a:lnSpc>
              <a:spcAft>
                <a:spcPts val="200"/>
              </a:spcAft>
            </a:pPr>
            <a:r>
              <a:rPr sz="1050" b="0" lang="ja-JP">
                <a:solidFill>
                  <a:srgbClr val="495160"/>
                </a:solidFill>
                <a:latin typeface="Yu Gothic"/>
                <a:ea typeface="Yu Gothic"/>
                <a:cs typeface="Yu Gothic"/>
              </a:rPr>
              <a:t>■ 検討したい領域(商品化/広告タイアップ/流通展開/イベント協賛/IPコラボ/海外展開)</a:t>
            </a:r>
          </a:p>
          <a:p>
            <a:pPr>
              <a:lnSpc>
                <a:spcPct val="130000"/>
              </a:lnSpc>
              <a:spcAft>
                <a:spcPts val="200"/>
              </a:spcAft>
            </a:pPr>
            <a:r>
              <a:rPr sz="1050" b="0" lang="ja-JP">
                <a:solidFill>
                  <a:srgbClr val="495160"/>
                </a:solidFill>
                <a:latin typeface="Yu Gothic"/>
                <a:ea typeface="Yu Gothic"/>
                <a:cs typeface="Yu Gothic"/>
              </a:rPr>
              <a:t>■ 検討カテゴリー(食品/飲料/外食/アパレル/雑貨/文具/玩具/ホビー/流通/広告 ほか)</a:t>
            </a:r>
          </a:p>
          <a:p>
            <a:pPr>
              <a:lnSpc>
                <a:spcPct val="130000"/>
              </a:lnSpc>
              <a:spcAft>
                <a:spcPts val="200"/>
              </a:spcAft>
            </a:pPr>
            <a:r>
              <a:rPr sz="1050" b="0" lang="ja-JP">
                <a:solidFill>
                  <a:srgbClr val="495160"/>
                </a:solidFill>
                <a:latin typeface="Yu Gothic"/>
                <a:ea typeface="Yu Gothic"/>
                <a:cs typeface="Yu Gothic"/>
              </a:rPr>
              <a:t>■ 関心のある展開(2027テレビ/映画/ゼロ関連/ギャラファイ/IPコラボ/ウルトラマート/イベント連動)</a:t>
            </a:r>
          </a:p>
          <a:p>
            <a:pPr>
              <a:lnSpc>
                <a:spcPct val="130000"/>
              </a:lnSpc>
              <a:spcAft>
                <a:spcPts val="200"/>
              </a:spcAft>
            </a:pPr>
            <a:r>
              <a:rPr sz="1050" b="0" lang="ja-JP">
                <a:solidFill>
                  <a:srgbClr val="495160"/>
                </a:solidFill>
                <a:latin typeface="Yu Gothic"/>
                <a:ea typeface="Yu Gothic"/>
                <a:cs typeface="Yu Gothic"/>
              </a:rPr>
              <a:t>■ 個別商談希望/NDA説明会希望/スタイルガイド資料希望/企画提出予定時期</a:t>
            </a:r>
          </a:p>
        </p:txBody>
      </p:sp>
      <p:sp>
        <p:nvSpPr>
          <p:cNvPr id="11" name="Rectangle 10"/>
          <p:cNvSpPr/>
          <p:nvPr/>
        </p:nvSpPr>
        <p:spPr>
          <a:xfrm>
            <a:off x="502920" y="5870448"/>
            <a:ext cx="11183112" cy="475488"/>
          </a:xfrm>
          <a:prstGeom prst="rect">
            <a:avLst/>
          </a:prstGeom>
          <a:solidFill>
            <a:srgbClr val="EB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870448"/>
            <a:ext cx="40640" cy="475488"/>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0448"/>
            <a:ext cx="10817352" cy="475488"/>
          </a:xfrm>
          <a:prstGeom prst="rect">
            <a:avLst/>
          </a:prstGeom>
          <a:noFill/>
        </p:spPr>
        <p:txBody>
          <a:bodyPr wrap="square" anchor="ctr" lIns="0" rIns="0">
            <a:spAutoFit/>
          </a:bodyPr>
          <a:lstStyle/>
          <a:p>
            <a:r>
              <a:rPr sz="1100" b="1" lang="ja-JP">
                <a:solidFill>
                  <a:srgbClr val="1F4E96"/>
                </a:solidFill>
                <a:latin typeface="Yu Gothic"/>
                <a:ea typeface="Yu Gothic"/>
                <a:cs typeface="Yu Gothic"/>
              </a:rPr>
              <a:t>優先案内　</a:t>
            </a:r>
            <a:r>
              <a:rPr sz="1100" b="1" lang="ja-JP">
                <a:solidFill>
                  <a:srgbClr val="282D38"/>
                </a:solidFill>
                <a:latin typeface="Yu Gothic"/>
                <a:ea typeface="Yu Gothic"/>
                <a:cs typeface="Yu Gothic"/>
              </a:rPr>
              <a:t>早期にご相談いただいた企業様から、優先的に企画検討を進めてまいります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3112" cy="274320"/>
          </a:xfrm>
          <a:prstGeom prst="rect">
            <a:avLst/>
          </a:prstGeom>
          <a:noFill/>
        </p:spPr>
        <p:txBody>
          <a:bodyPr wrap="square" anchor="t" lIns="0" rIns="0" tIns="0" bIns="0">
            <a:spAutoFit/>
          </a:bodyPr>
          <a:lstStyle/>
          <a:p>
            <a:pPr algn="l">
              <a:lnSpc>
                <a:spcPct val="125000"/>
              </a:lnSpc>
              <a:spcBef>
                <a:spcPts val="0"/>
              </a:spcBef>
              <a:spcAft>
                <a:spcPts val="300"/>
              </a:spcAft>
            </a:pPr>
            <a:r>
              <a:rPr sz="1100" b="1" lang="ja-JP" spc="60">
                <a:solidFill>
                  <a:srgbClr val="1F4E96"/>
                </a:solidFill>
                <a:latin typeface="Yu Gothic"/>
                <a:ea typeface="Yu Gothic"/>
                <a:cs typeface="Yu Gothic"/>
              </a:rPr>
              <a:t>SLIDE 27|クロージング</a:t>
            </a:r>
          </a:p>
        </p:txBody>
      </p:sp>
      <p:sp>
        <p:nvSpPr>
          <p:cNvPr id="3" name="Rectangle 2"/>
          <p:cNvSpPr/>
          <p:nvPr/>
        </p:nvSpPr>
        <p:spPr>
          <a:xfrm>
            <a:off x="502920" y="6528816"/>
            <a:ext cx="11183112" cy="10160"/>
          </a:xfrm>
          <a:prstGeom prst="rect">
            <a:avLst/>
          </a:prstGeom>
          <a:solidFill>
            <a:srgbClr val="E0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83680"/>
            <a:ext cx="9601200" cy="228600"/>
          </a:xfrm>
          <a:prstGeom prst="rect">
            <a:avLst/>
          </a:prstGeom>
          <a:noFill/>
        </p:spPr>
        <p:txBody>
          <a:bodyPr wrap="square" anchor="t" lIns="0" rIns="0" tIns="0" bIns="0">
            <a:spAutoFit/>
          </a:bodyPr>
          <a:lstStyle/>
          <a:p>
            <a:pPr algn="l">
              <a:lnSpc>
                <a:spcPct val="125000"/>
              </a:lnSpc>
              <a:spcBef>
                <a:spcPts val="0"/>
              </a:spcBef>
              <a:spcAft>
                <a:spcPts val="300"/>
              </a:spcAft>
            </a:pPr>
            <a:r>
              <a:rPr sz="750" b="0" lang="ja-JP">
                <a:solidFill>
                  <a:srgbClr val="979EAC"/>
                </a:solidFill>
                <a:latin typeface="Yu Gothic"/>
                <a:ea typeface="Yu Gothic"/>
                <a:cs typeface="Yu Gothic"/>
              </a:rPr>
              <a:t>円谷プロダクション|ULTRAMAN LICENSEE PRESENTATION 2026(ドラフト)|クロージング</a:t>
            </a:r>
          </a:p>
        </p:txBody>
      </p:sp>
      <p:sp>
        <p:nvSpPr>
          <p:cNvPr id="5" name="TextBox 4"/>
          <p:cNvSpPr txBox="1"/>
          <p:nvPr/>
        </p:nvSpPr>
        <p:spPr>
          <a:xfrm>
            <a:off x="11247120" y="6583680"/>
            <a:ext cx="438912" cy="228600"/>
          </a:xfrm>
          <a:prstGeom prst="rect">
            <a:avLst/>
          </a:prstGeom>
          <a:noFill/>
        </p:spPr>
        <p:txBody>
          <a:bodyPr wrap="square" anchor="t" lIns="0" rIns="0" tIns="0" bIns="0">
            <a:spAutoFit/>
          </a:bodyPr>
          <a:lstStyle/>
          <a:p>
            <a:pPr algn="r">
              <a:lnSpc>
                <a:spcPct val="125000"/>
              </a:lnSpc>
              <a:spcBef>
                <a:spcPts val="0"/>
              </a:spcBef>
              <a:spcAft>
                <a:spcPts val="300"/>
              </a:spcAft>
            </a:pPr>
            <a:r>
              <a:rPr sz="800" b="0" lang="ja-JP">
                <a:solidFill>
                  <a:srgbClr val="979EAC"/>
                </a:solidFill>
                <a:latin typeface="Yu Gothic"/>
                <a:ea typeface="Yu Gothic"/>
                <a:cs typeface="Yu Gothic"/>
              </a:rPr>
              <a:t>27</a:t>
            </a:r>
          </a:p>
        </p:txBody>
      </p:sp>
      <p:sp>
        <p:nvSpPr>
          <p:cNvPr id="6" name="TextBox 5"/>
          <p:cNvSpPr txBox="1"/>
          <p:nvPr/>
        </p:nvSpPr>
        <p:spPr>
          <a:xfrm>
            <a:off x="502920" y="530352"/>
            <a:ext cx="11183112" cy="868680"/>
          </a:xfrm>
          <a:prstGeom prst="rect">
            <a:avLst/>
          </a:prstGeom>
          <a:noFill/>
        </p:spPr>
        <p:txBody>
          <a:bodyPr wrap="square" anchor="t" lIns="0" rIns="0" tIns="0" bIns="0">
            <a:spAutoFit/>
          </a:bodyPr>
          <a:lstStyle/>
          <a:p>
            <a:pPr algn="l">
              <a:lnSpc>
                <a:spcPct val="120000"/>
              </a:lnSpc>
              <a:spcBef>
                <a:spcPts val="0"/>
              </a:spcBef>
              <a:spcAft>
                <a:spcPts val="300"/>
              </a:spcAft>
            </a:pPr>
            <a:r>
              <a:rPr sz="2100" b="1" lang="ja-JP">
                <a:solidFill>
                  <a:srgbClr val="282D38"/>
                </a:solidFill>
                <a:latin typeface="Yu Gothic"/>
                <a:ea typeface="Yu Gothic"/>
                <a:cs typeface="Yu Gothic"/>
              </a:rPr>
              <a:t>2027年のウルトラマン売場は、今日ここから始まります。</a:t>
            </a:r>
          </a:p>
        </p:txBody>
      </p:sp>
      <p:sp>
        <p:nvSpPr>
          <p:cNvPr id="7" name="Rectangle 6"/>
          <p:cNvSpPr/>
          <p:nvPr/>
        </p:nvSpPr>
        <p:spPr>
          <a:xfrm>
            <a:off x="502920" y="1389888"/>
            <a:ext cx="1097280" cy="40640"/>
          </a:xfrm>
          <a:prstGeom prst="rect">
            <a:avLst/>
          </a:prstGeom>
          <a:solidFill>
            <a:srgbClr val="1F4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77440"/>
            <a:ext cx="10424160" cy="3291840"/>
          </a:xfrm>
          <a:prstGeom prst="rect">
            <a:avLst/>
          </a:prstGeom>
          <a:noFill/>
        </p:spPr>
        <p:txBody>
          <a:bodyPr wrap="square" lIns="0" rIns="0">
            <a:spAutoFit/>
          </a:bodyPr>
          <a:lstStyle/>
          <a:p>
            <a:pPr>
              <a:lnSpc>
                <a:spcPct val="130000"/>
              </a:lnSpc>
              <a:spcAft>
                <a:spcPts val="2400"/>
              </a:spcAft>
            </a:pPr>
            <a:r>
              <a:rPr sz="1900" b="0" lang="ja-JP">
                <a:solidFill>
                  <a:srgbClr val="495160"/>
                </a:solidFill>
                <a:latin typeface="Yu Gothic"/>
                <a:ea typeface="Yu Gothic"/>
                <a:cs typeface="Yu Gothic"/>
              </a:rPr>
              <a:t>映像で生まれる話題。イベントで生まれる熱量。流通で生まれる売場。</a:t>
            </a:r>
          </a:p>
          <a:p>
            <a:pPr>
              <a:lnSpc>
                <a:spcPct val="130000"/>
              </a:lnSpc>
              <a:spcAft>
                <a:spcPts val="2400"/>
              </a:spcAft>
            </a:pPr>
            <a:r>
              <a:rPr sz="1900" b="1" lang="ja-JP">
                <a:solidFill>
                  <a:srgbClr val="12244B"/>
                </a:solidFill>
                <a:latin typeface="Yu Gothic"/>
                <a:ea typeface="Yu Gothic"/>
                <a:cs typeface="Yu Gothic"/>
              </a:rPr>
              <a:t>そこに皆さまの商品・キャンペーンがつながることで、次の市場が作られる。</a:t>
            </a:r>
          </a:p>
          <a:p>
            <a:pPr>
              <a:lnSpc>
                <a:spcPct val="130000"/>
              </a:lnSpc>
              <a:spcAft>
                <a:spcPts val="2400"/>
              </a:spcAft>
            </a:pPr>
            <a:r>
              <a:rPr sz="1900" b="1" lang="ja-JP">
                <a:solidFill>
                  <a:srgbClr val="1F4E96"/>
                </a:solidFill>
                <a:latin typeface="Yu Gothic"/>
                <a:ea typeface="Yu Gothic"/>
                <a:cs typeface="Yu Gothic"/>
              </a:rPr>
              <a:t>――今日を起点に、具体的なご相談を始めさせてください。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