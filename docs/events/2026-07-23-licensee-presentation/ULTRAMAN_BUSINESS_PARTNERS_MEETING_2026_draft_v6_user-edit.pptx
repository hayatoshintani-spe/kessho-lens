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714"/>
    <a:srgbClr val="001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95" d="100"/>
          <a:sy n="95" d="100"/>
        </p:scale>
        <p:origin x="9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3C6BB-776A-4753-AB41-4207CE347F81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A3BBA-E0A1-437E-A0C7-205A02F81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68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皆さま、本日はお集まりいただきありがとうございます。最初に申し上げます。本日は、作品の発表会ではありません。2027年度以降のウルトラマンの商機を、皆さまと一緒につくり始める1時間です。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日の目的は3つです。2027年度以降の展開を共有すること。皆さまの商品化・販促・売場展開の可能性をご提示すること。そして、本日から個別商談と企画相談を開始することです。ぜひ「自社なら何ができるか」という目線でお聞き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いまご覧いただいた熱量が、ウルトラマンの原点です。ファンは会場に来て、写真を撮り、商品を手に取り、誰かに共有します。この「人が動く力」を、皆さまの商品・売場・キャンペーンに接続するのが、本日のテーマ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60周年は、すでに動き出しています。イベント、商品化、コラボ、流通、広告、海外。ご覧いただきたいのは商品そのものではなく、そこに集まっている「人」です。この勢いは実績として証明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ライセンシーの皆さまが一番知りたいのは「いつ仕込めばいいか」だと思います。答えはこのカレンダーです。2027年夏の映画・イベント・大型キャンペーンが最大の山です。商品開発のリードタイムから逆算すると——2026年冬には企画と監修が始まっている必要があります。つまり、商談開始は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こからは、本日お越しの皆さま一人ひとりに関わる話です。7つのカテゴリーで、具体的な企画をご提案します。ご自身のカテゴリーが出てきたら、「この枠にうちが入れるか」という目線でご覧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まず、最大のカテゴリーであるMD・グッズの皆さまへ。2027年の新展開に向けて、5つの商品化パッケージをご用意しました。キッズMDから、大人向けプレミアム、女性ライト層向けまで。新作の初速商品は、発売日から逆算すると今日から仕込みが始まります。</a:t>
            </a:r>
          </a:p>
          <a:p>
            <a:r>
              <a:t>【必要素材】Tシャツ/スウェット/キャップ/アクスタ/フィギュア/カード/文具/雑貨/プレミアムフィギュア/怪獣柄パターン/ゼロ関連素材/スタイルガイド抜粋/売場イメージ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食品・飲料・外食の皆さまには、親子キャンペーンパッケージをご提案します。映画やイベントの山に合わせて、限定パッケージ、半券キャンペーン、コラボメニュー。ウルトラマンの親子熱量を、購入・来店・応募という行動に変える企画です。</a:t>
            </a:r>
          </a:p>
          <a:p>
            <a:r>
              <a:t>【必要素材】菓子・飲料・アイス・ゼリー・パンのパッケージモック/キッズプレート/コラボドリンク/ノベルティ/親子写真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流通・EC・商業施設の皆さまには、「商品を置く」のではなく「売場を作る」提案です。映画棚、ウルサマ棚、怪獣棚、IPコラボ棚。期間限定の売場ジャックからPOPUP、EC限定まで、売場そのものを一緒に設計させてください。</a:t>
            </a:r>
          </a:p>
          <a:p>
            <a:r>
              <a:t>【必要素材】棚モック/POPUPイメージ/ECページモック/店頭POP/棚帯/購入特典告知/館内装飾/スタンプラリー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広告代理店・SPの皆さまには、クライアント提案にそのまま使えるパッケージをご用意します。親子集客、防災、交通安全、地域創生。ウルトラマンは「正義」「勇気」「未来」という文脈を持っているので、企業課題と接続しやすいIPです。</a:t>
            </a:r>
          </a:p>
          <a:p>
            <a:r>
              <a:t>【必要素材】店頭キャンペーン事例/交通広告モック/SNS投稿施策/ヒーローグリーティング写真/スタンプラリー台紙/企業タイアップ動画イメージ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デジタル・ゲームの皆さまへ。ウルトラマンはリアルだけのIPではありません。ゲーム内コラボ、限定アバター、配信連動。歴代ヒーローと怪獣というキャラクター資産は、デジタル施策と非常に相性が良い領域です。</a:t>
            </a:r>
          </a:p>
          <a:p>
            <a:r>
              <a:t>【必要素材】ゲーム画面風モック/ガチャ画面/限定キャラクター/デジタルアイテム/SNS投稿テンプレート/YouTubeサムネイル風/ライブ配信画面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イベント・施設・観光の皆さまへ。ウルトラマンの最大の特長は「会いに来てもらえる」ことです。ヒーローショー、グリーティング、スタンプラリー。来場理由を作り、そのまま館内の回遊と購買につなげる集客パッケージをご提案します。</a:t>
            </a:r>
          </a:p>
          <a:p>
            <a:r>
              <a:t>【必要素材】ヒーローショー写真/親子観覧写真/決めポーズ写真/グリーティング写真/館内マップ/スタンプラリー台紙/地域イベント写真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Pコラボは、ウルトラマンの入口を広げる装置です。かわいい文脈で女性・ライト層へ。ホビー文脈でコレクターへ。すでにモフサンド、ベイブレードで実証されています。コラボを起点に、新しい売場と新しいファン層を一緒に開拓しません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「作った商品はどこで売れるのか」。この不安にお応えするのがULTRA MARTです。売る場所であり、見せる場所であり、話題化する場所。皆さまの商品の出口を、円谷側でも用意していきます。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企画したいが、素材はあるのか」。あります。しかも、ただ渡すのではなく、カテゴリー別・ターゲット別に商品化しやすい形に整備していきます。キッズ、大人、女性、怪獣、映画連動、流通、広告。貴社の企画に合うガイドを用意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進め方はシンプルです。個別相談から始まり、素材共有、企画提出、監修、商品化。各ステップの標準期間も明示します。「作りたい」で終わらせず、「作れる」状態まで私たちが伴走します。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こで、本日一番大事なご案内です。いまこの瞬間から、個別商談の受付を開始します。お手元のスマートフォンで、このQRからご登録ください。相談カテゴリを選ぶだけ。登録いただいた企業様には、担当者から順にご連絡し、個別商談、素材共有、企画検討へ進みます。この後のコンテンツ紹介の間も、QRは画面の隅に残しておきます。【運営】QRは最低60秒表示。以降のスライドでも画面隅に残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最後に5分だけ、この商機を支えるコンテンツの話をします。ここまでの提案が「続けられる」理由です。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2027年度以降の接点は3つ。TVシリーズが継続接点を作り、映画が大型の話題化を作り、配信・YouTubeがコアファン接点を広げます。この3つが年間を通じて連動するので、商品もキャンペーンも単発で終わ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この表が、本日のまとめです。コンテンツごとに、皆さまのカテゴリーの商品化機会が対応しています。作品の話をしているようで、実はずっと、皆さまの事業機会の話をしてきました。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2027年度以降のウルトラマンの売場は、今日ここから始まります。映像の話題、イベントの熱量、流通の売場——そこに皆さまの商品とキャンペーンがつながることで、次の市場が生まれます。個別相談は、本日より受付開始です。会場を出る前に、ぜひQRのご登録を。皆さまと一緒に、次のウルトラマン市場をつくれることを楽しみ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A88040-3D56-0319-3E49-E2AD544E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68D-C5BF-45DD-851C-FBEBD38DB990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E1B172-E5A6-5D5C-C7DF-A84A024B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D6C759-57A2-57C4-D6A7-544E770E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81D69-007A-237B-750B-0A473596BA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71EBCE23-8037-95B1-60B4-73FF3E45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78118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82CC15-16FC-FE1F-E1BB-BCD70144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FA19-B876-4F47-836D-513A4E46A43C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583F08-1E4F-F903-F594-62624DEDD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159CDC-3107-2611-16C9-BF044A62C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145" y="6356349"/>
            <a:ext cx="2743200" cy="365125"/>
          </a:xfrm>
        </p:spPr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AEA3FD5-8022-A185-7F53-7D7A68C8B9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F4A4C081-EDC6-5327-77E6-66B8AA44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2699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A9D1F7-1E06-79AE-EA50-B75E41182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4872D1-02C4-C326-C190-9B7ADEDD6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AE9C44-C4A4-6252-2251-FDCB8CBB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E9C70-1A3E-49C1-A044-1C6676BB53B7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921656-851B-403A-A197-556EC932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AD3239-48CF-90D0-853E-13CA1E4D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1717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5AAE97-5132-B468-595B-7C9A7BB4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9DFB7E-D09D-4D0C-59BD-E36A03FC0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7D015B-C7D4-7B04-E0B6-FA4647F9B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4ACC0F-8BBC-9466-DE64-20A3C828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0AA8-6DB5-4460-B397-38EEE2200ECD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8CDF31-2D1A-3F90-92CD-FEF8A26D9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80A1D6-1506-427D-107A-E87BD3ED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3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5E58EC-9552-6123-9290-C2239105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CC0727-9DF6-E369-D0EB-1EF91D7B6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116897-BE23-8736-B31D-A59AE8AAB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FA11FE7-1F98-39FD-F353-68FEC5433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4DDCDFA-239F-238A-BCF7-361FCFB29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CDB914-51AB-5567-9933-A47398E3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9FE9-4F1C-4734-A29B-089FACD6841C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6F42598-BC38-651A-19F8-3216094E6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67D8B99-BF53-6C74-9830-281DE830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13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C7D8E8-B424-A032-C170-E0231AC8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AEF4763-8C6D-E3D3-F72B-CF444AA6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A4F19-B036-4317-84BC-8A54E2A158DA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FD0D4A9-7315-4348-9DF3-C521FB976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93128B-3334-9BFD-5025-985490A0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01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BA16075-0E32-79D7-0ED0-6F34C0C7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E50B-730A-41A7-8F08-E1E4D3A30FF3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BD3DC1F-921F-EE41-147A-E52CDA28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E1BC41-4A69-6488-8F7F-FE9D3B15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8101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66B841-7F8C-8C65-F8E8-A279A6E1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E969EB-29A5-C9D8-21A8-6D6DDAD22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430D94-6B48-4E73-5B9D-A54B24350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E4D129-AE65-2CB9-B0D0-C7BBF7A9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D7904-FA14-48B9-9595-3F9ADF9D1C3B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77590C-9B7C-7FAD-6362-103E8064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4031BC-4E50-9B0F-93B2-3D1751BA2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348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E8752-FEC2-6CB1-7009-C7843937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230D219-7FF8-7B29-4F00-E47EDB42C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C6CDCA-6C3B-35C5-D2C5-6CD03FB80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408EA7-A534-F7C7-3200-95A952C6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B6A1-A75C-41EA-97FA-948EF5D4FE97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2E0C83-658F-4EEB-B1DE-A12294A9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5F171D-0E20-82B3-E27B-D1C1BBEC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21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E18B47-5DDC-700B-70C9-391560F1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5F8199-7978-69FC-C299-D510FEB19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60500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F9797A-6559-53E7-34A5-B3E2864D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1845-7E58-4720-B139-BFFA9BCB3CAE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101F7A-F85D-8950-7B29-5EE28E4E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450583-245C-F945-76F8-0C80944F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113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F210AF-F868-AD1C-B3D3-1033414A41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D0CD1A-9244-4BA7-0495-CEC5C78F5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9F925-0775-20D2-F35D-55C648BA6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AD85-0112-45C3-9244-ADAD48346B32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96036D-484D-FEA5-8D44-4AFA1CFB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0EA7D8-AFD3-023E-1020-4BBA6234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757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A06A34B-174E-D2EB-ACDE-C5412952A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F2AC66-AC87-BA1E-809C-D7B5F0201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357D0-1E63-4326-AD96-F9B068DDA013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AE780B-2F9C-43F7-9B9F-42C14057F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A58368-9120-411E-0FE6-AC6A3329C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11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6FEA0-CE2F-2F12-D362-EE5FB983DC9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967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01_01_bg-keyvisual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36" y="173736"/>
            <a:ext cx="248716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3716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300" b="1" spc="300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4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ULTRAMAN BUSINESS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4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PARTNERS MEETING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2027年度以降の商機を、いま一緒につくる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2026年7月23日(木)16:00-17:00|ウルサマ イベントステージ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02|PURPOSE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本日は、2027年度以降の商機を共有する場です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「作品を聞く」のではなく、「自社の商談機会」として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展開を共有する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2027年度以降のウルトラマン展開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可能性を提示する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商品化・販促・売場展開の具体案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商談を開始する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本日から個別商談・企画相談を受付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作品を聞く1時間ではなく、商談が始まる1時間です。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03|WHY ULTRAMAN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ウルトラマンは、“人を動かすIP”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ファンの行動が、そのまま売上への動線になる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会場に来る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0088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写真を撮る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3016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商品を手に取る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95944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1704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誰かに共有する</a:t>
            </a:r>
          </a:p>
        </p:txBody>
      </p:sp>
      <p:pic>
        <p:nvPicPr>
          <p:cNvPr id="13" name="Picture 12" descr="s03_01_arrive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11880"/>
            <a:ext cx="2145792" cy="2011680"/>
          </a:xfrm>
          <a:prstGeom prst="rect">
            <a:avLst/>
          </a:prstGeom>
        </p:spPr>
      </p:pic>
      <p:pic>
        <p:nvPicPr>
          <p:cNvPr id="14" name="Picture 13" descr="s03_02_shoot_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440" y="3611880"/>
            <a:ext cx="2145792" cy="2011680"/>
          </a:xfrm>
          <a:prstGeom prst="rect">
            <a:avLst/>
          </a:prstGeom>
        </p:spPr>
      </p:pic>
      <p:pic>
        <p:nvPicPr>
          <p:cNvPr id="15" name="Picture 14" descr="s03_03_pickup_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3960" y="3611880"/>
            <a:ext cx="2145792" cy="2011680"/>
          </a:xfrm>
          <a:prstGeom prst="rect">
            <a:avLst/>
          </a:prstGeom>
        </p:spPr>
      </p:pic>
      <p:pic>
        <p:nvPicPr>
          <p:cNvPr id="16" name="Picture 15" descr="s03_04_share_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3611880"/>
            <a:ext cx="2145792" cy="2011680"/>
          </a:xfrm>
          <a:prstGeom prst="rect">
            <a:avLst/>
          </a:prstGeom>
        </p:spPr>
      </p:pic>
      <p:pic>
        <p:nvPicPr>
          <p:cNvPr id="17" name="Picture 16" descr="s03_05_greeting_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3611880"/>
            <a:ext cx="2145792" cy="20116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この熱量を、商品・売場・キャンペーンへ。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04|MOMENTUM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60周年は、もう動き出している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勢いは、証明済み。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9846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6772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3698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ウルトラマート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9846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流通展開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6772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3698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海外展開</a:t>
            </a:r>
          </a:p>
        </p:txBody>
      </p:sp>
      <p:pic>
        <p:nvPicPr>
          <p:cNvPr id="14" name="Picture 13" descr="s04_01_ulsama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86200"/>
            <a:ext cx="1296785" cy="1783080"/>
          </a:xfrm>
          <a:prstGeom prst="rect">
            <a:avLst/>
          </a:prstGeom>
        </p:spPr>
      </p:pic>
      <p:pic>
        <p:nvPicPr>
          <p:cNvPr id="15" name="Picture 14" descr="s04_02_heroshow_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433" y="3886200"/>
            <a:ext cx="1296785" cy="1783080"/>
          </a:xfrm>
          <a:prstGeom prst="rect">
            <a:avLst/>
          </a:prstGeom>
        </p:spPr>
      </p:pic>
      <p:pic>
        <p:nvPicPr>
          <p:cNvPr id="16" name="Picture 15" descr="s04_03_products_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5946" y="3886200"/>
            <a:ext cx="1296785" cy="1783080"/>
          </a:xfrm>
          <a:prstGeom prst="rect">
            <a:avLst/>
          </a:prstGeom>
        </p:spPr>
      </p:pic>
      <p:pic>
        <p:nvPicPr>
          <p:cNvPr id="17" name="Picture 16" descr="s04_04_collab_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2459" y="3886200"/>
            <a:ext cx="1296785" cy="1783080"/>
          </a:xfrm>
          <a:prstGeom prst="rect">
            <a:avLst/>
          </a:prstGeom>
        </p:spPr>
      </p:pic>
      <p:pic>
        <p:nvPicPr>
          <p:cNvPr id="18" name="Picture 17" descr="s04_05_ultramart_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8972" y="3886200"/>
            <a:ext cx="1296785" cy="1783080"/>
          </a:xfrm>
          <a:prstGeom prst="rect">
            <a:avLst/>
          </a:prstGeom>
        </p:spPr>
      </p:pic>
      <p:pic>
        <p:nvPicPr>
          <p:cNvPr id="19" name="Picture 18" descr="s04_06_retail_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5485" y="3886200"/>
            <a:ext cx="1296785" cy="1783080"/>
          </a:xfrm>
          <a:prstGeom prst="rect">
            <a:avLst/>
          </a:prstGeom>
        </p:spPr>
      </p:pic>
      <p:pic>
        <p:nvPicPr>
          <p:cNvPr id="20" name="Picture 19" descr="s04_07_ad_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41998" y="3886200"/>
            <a:ext cx="1296785" cy="1783080"/>
          </a:xfrm>
          <a:prstGeom prst="rect">
            <a:avLst/>
          </a:prstGeom>
        </p:spPr>
      </p:pic>
      <p:pic>
        <p:nvPicPr>
          <p:cNvPr id="21" name="Picture 20" descr="s04_08_global_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8511" y="3886200"/>
            <a:ext cx="1296785" cy="178308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この勢いは、2027年度以降につながっていく。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05|BUSINESS 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2027年の売場は、今日から仕込む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2026-2027 ULTRAMAN 商機カレンダー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時期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ウルサマ・イベント連動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2026秋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IPコラボ・年末商戦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2026冬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2027商品の企画・監修開始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2027春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新生活・文具・雑貨・アパレル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映画・イベント・大型キャンペーン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2027秋冬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ホビー・EC・プレミアム・年末商戦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“発売タイミング”から逆算すると、商談開始は今です。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06|FOR ALL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本日ご参加の皆さまと、作りたいこと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7つのカテゴリーで、企画を募集します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6048" y="3063240"/>
            <a:ext cx="2286000" cy="1234440"/>
          </a:xfrm>
          <a:prstGeom prst="roundRect">
            <a:avLst>
              <a:gd name="adj" fmla="val 2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7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ULTRAMAN</a:t>
            </a:r>
          </a:p>
          <a:p>
            <a:pPr algn="ctr"/>
            <a:r>
              <a:rPr lang="ja-JP" sz="1050" b="0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MD・グッズ・玩具・アパレル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0288" y="201168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食品・飲料・外食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1488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流通・EC・商業施設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広告代理店・SP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65760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デジタル・ゲーム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48920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イベント・施設・観光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48920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この中に、貴社の席があります。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07|FOR MD・グッズ・玩具・アパレル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MD・グッズ・玩具・アパレル向け|2027新展開 商品化パッケージ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2027年の初速を、一緒に作る5つの企画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新作連動キッズMD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映画・ゼロ関連商品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歴代ヒーロー/怪獣コレクション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大人ファン向けプレミアム商品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女性ライト層向け雑貨</a:t>
            </a:r>
          </a:p>
        </p:txBody>
      </p:sp>
      <p:pic>
        <p:nvPicPr>
          <p:cNvPr id="16" name="Picture 15" descr="s07_01_apparel-main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17" name="Picture 16" descr="s07_02_acsta-cards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  <p:pic>
        <p:nvPicPr>
          <p:cNvPr id="18" name="Picture 17" descr="s07_03_premium-figure_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  <p:pic>
        <p:nvPicPr>
          <p:cNvPr id="19" name="Picture 18" descr="s07_04_shelf_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5334" y="4498848"/>
            <a:ext cx="1651819" cy="108813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2027年の初速商品は、今日から仕込みが始まります。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08|FOR 食品・飲料・外食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食品・飲料・外食向け|親子キャンペーンパッケージ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親子需要 × 映画・イベントの山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限定パッケージ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購入特典カード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映画半券キャンペーン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親子ペア応募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外食コラボメニュー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12064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ウルサマ来場者特典</a:t>
            </a:r>
          </a:p>
        </p:txBody>
      </p:sp>
      <p:pic>
        <p:nvPicPr>
          <p:cNvPr id="18" name="Picture 17" descr="s08_01_package-main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19" name="Picture 18" descr="s08_02_bonus-cards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  <p:pic>
        <p:nvPicPr>
          <p:cNvPr id="20" name="Picture 19" descr="s08_03_ticket-campaign_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  <p:pic>
        <p:nvPicPr>
          <p:cNvPr id="21" name="Picture 20" descr="s08_04_parent-child_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5334" y="4498848"/>
            <a:ext cx="1651819" cy="108813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親子の熱量を、購入・来店・応募につなげる。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09|FOR 流通・EC・商業施設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流通・EC・商業施設向け|ULTRA MART / 売場連動パッケージ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「商品を置く」ではなく「売場を作る」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映画公開記念棚/ウルサマ連動棚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ゼロ特集棚/怪獣特集棚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IPコラボ棚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POPUP/EC限定販売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</a:t>
            </a:r>
          </a:p>
        </p:txBody>
      </p:sp>
      <p:pic>
        <p:nvPicPr>
          <p:cNvPr id="16" name="Picture 15" descr="s09_01_shelf-ec-main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17" name="Picture 16" descr="s09_02_popup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  <p:pic>
        <p:nvPicPr>
          <p:cNvPr id="18" name="Picture 17" descr="s09_03_stamp-rally_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商品を作るだけでなく、売場まで一緒に設計する。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10|FOR 広告代理店・SP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広告代理店・SP向け|企業キャンペーン活用パッケージ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クライアント提案に、そのまま使える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親子集客/夏休み販促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防災/交通安全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地域創生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未来・テクノロジー/CSR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商業施設回遊</a:t>
            </a:r>
          </a:p>
        </p:txBody>
      </p:sp>
      <p:pic>
        <p:nvPicPr>
          <p:cNvPr id="16" name="Picture 15" descr="s10_01_station-ad-main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17" name="Picture 16" descr="s10_02_sns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  <p:pic>
        <p:nvPicPr>
          <p:cNvPr id="18" name="Picture 17" descr="s10_03_greeting-crowd_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ウルトラマンは、企業課題を解決するキャンペーン装置になる。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11|FOR デジタル・ゲーム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デジタル・ゲーム向け|デジタル・ゲーム連動パッケージ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リアルIPの熱量を、デジタルへ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ゲーム内コラボ/限定アバター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デジタルスタンプ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SNSキャンペーン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配信連動/EC限定デジタル特典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ファンコミュニティ施策</a:t>
            </a:r>
          </a:p>
        </p:txBody>
      </p:sp>
      <p:pic>
        <p:nvPicPr>
          <p:cNvPr id="16" name="Picture 15" descr="s11_01_game-main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17" name="Picture 16" descr="s11_02_gacha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  <p:pic>
        <p:nvPicPr>
          <p:cNvPr id="18" name="Picture 17" descr="s11_03_youtube_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  <p:pic>
        <p:nvPicPr>
          <p:cNvPr id="19" name="Picture 18" descr="s11_04_livestream_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5334" y="4498848"/>
            <a:ext cx="1651819" cy="108813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リアル商品だけでなく、デジタル接点でもファンを広げる。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12|FOR イベント・施設・観光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イベント・施設・観光向け|会いに来るIP 集客パッケージ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ウルトラマンは、来場理由になる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ヒーローショー/グリーティング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撮影会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館内スタンプラリー/地域回遊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商業施設イベント/観光地コラボ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物販連動</a:t>
            </a:r>
          </a:p>
        </p:txBody>
      </p:sp>
      <p:pic>
        <p:nvPicPr>
          <p:cNvPr id="16" name="Picture 15" descr="s12_01_heroshow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2542032" cy="1705356"/>
          </a:xfrm>
          <a:prstGeom prst="rect">
            <a:avLst/>
          </a:prstGeom>
        </p:spPr>
      </p:pic>
      <p:pic>
        <p:nvPicPr>
          <p:cNvPr id="17" name="Picture 16" descr="s12_02_greeting_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103120"/>
            <a:ext cx="2542032" cy="1705356"/>
          </a:xfrm>
          <a:prstGeom prst="rect">
            <a:avLst/>
          </a:prstGeom>
        </p:spPr>
      </p:pic>
      <p:pic>
        <p:nvPicPr>
          <p:cNvPr id="18" name="Picture 17" descr="s12_03_stamprally_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918204"/>
            <a:ext cx="2542032" cy="1705356"/>
          </a:xfrm>
          <a:prstGeom prst="rect">
            <a:avLst/>
          </a:prstGeom>
        </p:spPr>
      </p:pic>
      <p:pic>
        <p:nvPicPr>
          <p:cNvPr id="19" name="Picture 18" descr="s12_04_mall-event_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3918204"/>
            <a:ext cx="2542032" cy="170535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来場理由を作り、購買理由につなげる。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13|FOR IP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IPコラボで、新しいファン層へ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ウルトラマンは、男性・キッズ向けだけではない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方向性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狙う層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かわいい文脈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女性・ライト層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雑貨・文具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キッズ・コレクター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玩具・カード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キャラクター文脈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ファミリー・ギフト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流通棚・雑貨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ヒーロー文脈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プレミアム・アパレル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 descr="s13_01_cute-collab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636" y="4572000"/>
            <a:ext cx="1097280" cy="1097280"/>
          </a:xfrm>
          <a:prstGeom prst="rect">
            <a:avLst/>
          </a:prstGeom>
        </p:spPr>
      </p:pic>
      <p:pic>
        <p:nvPicPr>
          <p:cNvPr id="8" name="Picture 7" descr="s13_02_hobby-collab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236" y="4572000"/>
            <a:ext cx="1097280" cy="1097280"/>
          </a:xfrm>
          <a:prstGeom prst="rect">
            <a:avLst/>
          </a:prstGeom>
        </p:spPr>
      </p:pic>
      <p:pic>
        <p:nvPicPr>
          <p:cNvPr id="9" name="Picture 8" descr="s13_03_character-collab_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5836" y="4572000"/>
            <a:ext cx="1097280" cy="1097280"/>
          </a:xfrm>
          <a:prstGeom prst="rect">
            <a:avLst/>
          </a:prstGeom>
        </p:spPr>
      </p:pic>
      <p:pic>
        <p:nvPicPr>
          <p:cNvPr id="10" name="Picture 9" descr="s13_04_hero-collab_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436" y="4572000"/>
            <a:ext cx="1097280" cy="1097280"/>
          </a:xfrm>
          <a:prstGeom prst="rect">
            <a:avLst/>
          </a:prstGeom>
        </p:spPr>
      </p:pic>
      <p:pic>
        <p:nvPicPr>
          <p:cNvPr id="11" name="Picture 10" descr="s13_05_collab-shelf_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036" y="4572000"/>
            <a:ext cx="1097280" cy="10972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ウルトラマンの入口を、もっと広げる。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14|ULTRA 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 MART|売場の出口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ULTRA MARTの、3つの役割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3593592" cy="14630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売る場所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商品の販売拠点・EC連動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40280"/>
            <a:ext cx="3593592" cy="14630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見せる場所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限定コーナー・POPUP展開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240280"/>
            <a:ext cx="3593592" cy="146304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話題化する場所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映画・イベント連動の情報発信</a:t>
            </a:r>
          </a:p>
        </p:txBody>
      </p:sp>
      <p:pic>
        <p:nvPicPr>
          <p:cNvPr id="9" name="Picture 8" descr="s14_01_storefront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69080"/>
            <a:ext cx="2715079" cy="1600200"/>
          </a:xfrm>
          <a:prstGeom prst="rect">
            <a:avLst/>
          </a:prstGeom>
        </p:spPr>
      </p:pic>
      <p:pic>
        <p:nvPicPr>
          <p:cNvPr id="10" name="Picture 9" descr="s14_02_interior_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3155" y="4069080"/>
            <a:ext cx="2715079" cy="1600200"/>
          </a:xfrm>
          <a:prstGeom prst="rect">
            <a:avLst/>
          </a:prstGeom>
        </p:spPr>
      </p:pic>
      <p:pic>
        <p:nvPicPr>
          <p:cNvPr id="11" name="Picture 10" descr="s14_03_limited-corner_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390" y="4069080"/>
            <a:ext cx="2715079" cy="1600200"/>
          </a:xfrm>
          <a:prstGeom prst="rect">
            <a:avLst/>
          </a:prstGeom>
        </p:spPr>
      </p:pic>
      <p:pic>
        <p:nvPicPr>
          <p:cNvPr id="12" name="Picture 11" descr="s14_04_popup_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3625" y="4069080"/>
            <a:ext cx="2715079" cy="1600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商品を、ファンと出会う場所へ。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15|STYLE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スタイルガイド戦略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カテゴリー別・ターゲット別に、「使える形」で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2672334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キッズ向け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9846" y="2194560"/>
            <a:ext cx="2672334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大人ファン向け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6772" y="2194560"/>
            <a:ext cx="2672334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女性・ライト層向け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3698" y="2194560"/>
            <a:ext cx="2672334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怪獣・ヴィラン向け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63240"/>
            <a:ext cx="3617976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映画連動向け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5488" y="3063240"/>
            <a:ext cx="3617976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流通販促向け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8056" y="3063240"/>
            <a:ext cx="3617976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広告キャンペーン向け</a:t>
            </a:r>
          </a:p>
        </p:txBody>
      </p:sp>
      <p:pic>
        <p:nvPicPr>
          <p:cNvPr id="13" name="Picture 12" descr="s15_01_guide-logo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0"/>
            <a:ext cx="3627371" cy="1645920"/>
          </a:xfrm>
          <a:prstGeom prst="rect">
            <a:avLst/>
          </a:prstGeom>
        </p:spPr>
      </p:pic>
      <p:pic>
        <p:nvPicPr>
          <p:cNvPr id="14" name="Picture 13" descr="s15_02_guide-okng_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595" y="4023360"/>
            <a:ext cx="3627371" cy="1645920"/>
          </a:xfrm>
          <a:prstGeom prst="rect">
            <a:avLst/>
          </a:prstGeom>
        </p:spPr>
      </p:pic>
      <p:pic>
        <p:nvPicPr>
          <p:cNvPr id="15" name="Picture 14" descr="s15_03_guide-products_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270" y="4023360"/>
            <a:ext cx="3627371" cy="164592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素材を渡すだけでなく、商品化しやすい形にする。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16|PROCESS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監修・素材提供フロー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相談から商品化まで、5ステップ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個別相談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8803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素材・ガイド共有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4686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企画提出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00569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④ 監修・修正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66452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⑤ 商品化・販促展開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0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各ステップの標準期間・提出物チェックリスト・開示区分(当日/配布/NDA後)を個別商談時にご提示します</a:t>
            </a:r>
          </a:p>
        </p:txBody>
      </p:sp>
      <p:pic>
        <p:nvPicPr>
          <p:cNvPr id="12" name="Picture 11" descr="s16_01_flow-strip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06240"/>
            <a:ext cx="11183112" cy="14630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作りたい、で終わらせず、作れる状態まで伴走する。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17|START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本日から受付開始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個別商談・企画相談、いま登録できます</a:t>
            </a:r>
          </a:p>
        </p:txBody>
      </p:sp>
      <p:pic>
        <p:nvPicPr>
          <p:cNvPr id="6" name="Picture 5" descr="s17_01_qr-dummy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03120"/>
            <a:ext cx="320040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2103120"/>
            <a:ext cx="3200400" cy="3200400"/>
          </a:xfrm>
          <a:prstGeom prst="rect">
            <a:avLst/>
          </a:prstGeom>
          <a:noFill/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53949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個別商談・企画相談|登録は約3分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03120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相談カテゴリ(複数選択可)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2176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食品・外食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8112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流通・売場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2176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78112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2176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スタイルガイド請求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78112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NDA後説明会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526280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登録後の流れ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892040"/>
            <a:ext cx="74980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QR登録 → 担当者連絡(1週間以内)→ 個別商談 → 素材共有 → 企画検討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早期にご相談いただいた企業様から、具体的な企画検討を進めます。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18|CONTENT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最後に、商機を支えるコンテンツ展開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だから、商機は続く</a:t>
            </a:r>
          </a:p>
        </p:txBody>
      </p:sp>
      <p:pic>
        <p:nvPicPr>
          <p:cNvPr id="6" name="Picture 5" descr="s18_01_content-panorama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48840"/>
            <a:ext cx="11183112" cy="3520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コンテンツが、商品化・販促・売場展開の理由を作る。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19|CONTENT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2027年度以降の、3つのコンテンツ接点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継続 × 話題化 × コアファン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TVシリーズ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継続接点
ファンが追い続けたくなる世界観・キャラクター展開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映画・大型映像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大型話題化
商品化・販促・流通施策を集中させる最大の山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配信・YouTube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コアファン接点
歴代ヒーロー・怪獣を横断活用できる領域</a:t>
            </a:r>
          </a:p>
        </p:txBody>
      </p:sp>
      <p:pic>
        <p:nvPicPr>
          <p:cNvPr id="9" name="Picture 8" descr="s19_01_tv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26280"/>
            <a:ext cx="3628571" cy="1143000"/>
          </a:xfrm>
          <a:prstGeom prst="rect">
            <a:avLst/>
          </a:prstGeom>
        </p:spPr>
      </p:pic>
      <p:pic>
        <p:nvPicPr>
          <p:cNvPr id="10" name="Picture 9" descr="s19_02_movie_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7795" y="4526280"/>
            <a:ext cx="3628571" cy="1143000"/>
          </a:xfrm>
          <a:prstGeom prst="rect">
            <a:avLst/>
          </a:prstGeom>
        </p:spPr>
      </p:pic>
      <p:pic>
        <p:nvPicPr>
          <p:cNvPr id="11" name="Picture 10" descr="s19_03_streaming_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2670" y="4526280"/>
            <a:ext cx="3628571" cy="1143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接点が続くから、商品もキャンペーンも続けられる。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20|CONTENT ×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コンテンツが、商品化の理由を作る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コンテンツ × 商機マトリクス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コンテンツ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TVシリーズ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継続接点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キッズ、文具、玩具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大型話題化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食品、流通、広告、ホビー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配信・YouTube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コレクション、EC、プレミアム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イベント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熱量化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物販、限定商品、施設集客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購買接点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売場、POPUP、EC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作品の話ではなく、皆さまの事業機会の話です。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21|CLOSING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6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7589520" cy="925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</a:t>
            </a:r>
            <a:r>
              <a:rPr lang="ja-JP" altLang="en-US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を活用し、</a:t>
            </a:r>
            <a:br>
              <a:rPr lang="en-US" alt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</a:b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皆さまと</a:t>
            </a:r>
            <a:r>
              <a:rPr lang="ja-JP" altLang="en-US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共に、</a:t>
            </a:r>
            <a:r>
              <a:rPr lang="ja-JP" alt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市場を</a:t>
            </a: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つくりたい</a:t>
            </a:r>
            <a:r>
              <a:rPr 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pic>
        <p:nvPicPr>
          <p:cNvPr id="6" name="Picture 5" descr="s17_01_qr-dummy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737360"/>
            <a:ext cx="3017520" cy="3017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03920" y="1737360"/>
            <a:ext cx="3017520" cy="3017520"/>
          </a:xfrm>
          <a:prstGeom prst="rect">
            <a:avLst/>
          </a:prstGeom>
          <a:noFill/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484632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会場を出る前にご登録を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相談カテゴリ:商品化/食品・外食/流通・売場/広告/イベント・施設/IPコラボ/デジタル</a:t>
            </a:r>
          </a:p>
        </p:txBody>
      </p:sp>
      <p:pic>
        <p:nvPicPr>
          <p:cNvPr id="10" name="Picture 9" descr="s21_01_closing_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11880"/>
            <a:ext cx="7589520" cy="20116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個別相談は、本日より受付開始。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</TotalTime>
  <Words>1945</Words>
  <Application>Microsoft Office PowerPoint</Application>
  <PresentationFormat>ワイド画面</PresentationFormat>
  <Paragraphs>293</Paragraphs>
  <Slides>21</Slides>
  <Notes>21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6" baseType="lpstr">
      <vt:lpstr>メイリオ</vt:lpstr>
      <vt:lpstr>Yu Gothic</vt:lpstr>
      <vt:lpstr>Yu Gothic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穴井 葉子</dc:creator>
  <cp:lastModifiedBy>新谷 隼人</cp:lastModifiedBy>
  <cp:revision>2</cp:revision>
  <dcterms:created xsi:type="dcterms:W3CDTF">2026-06-29T08:42:52Z</dcterms:created>
  <dcterms:modified xsi:type="dcterms:W3CDTF">2026-07-10T00:49:18Z</dcterms:modified>
</cp:coreProperties>
</file>