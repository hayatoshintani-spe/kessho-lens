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(タイトル表示のみ。MCオープニングへ)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単なる作品紹介ではありません。2027年度以降、ウルトラマンを皆さまの商品・売場・キャンペーンにどう活用いただけるか、その商機を共有する場です。最後に個別商談のご案内もありますので、ぜひ「自社ならこう使える」という視点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いまご覧いただいた熱量は、ステージの中だけで終わるものではありません。商品に、売場に、キャンペーンに、そして生活者との毎日の接点に変わっていきます。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60周年はすでに動き出しています。イベント、商品化、コラボ、流通。この盛り上がりは今年で終わるものではなく、2027年度以降につながっていきます。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強みは、単なるリーチの広さではありません。年間約70万〜100万人規模のリアル接点を通じて、“直接会いに来るファン”との濃い関係を持っていることです。※注意:「100万人に届きます」という単独リーチ表現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2027年度以降、ウルトラマンは単発の作品展開ではなく、テレビ、映画、イベント、YouTube、流通、IPコラボを連動させた“面の展開”に入ります。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ここからは、2027年度以降のコンテンツ展開を3つの柱でご説明します。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度以降のテレビシリーズでは、キャラクターや世界観の継続性をより重視し、ファンが次の展開を追い続けたくなる構造を強化していきます。【NG】「3年連続で同じ世界線」「テレビ局が変わるかも」には一切触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館、配信、イベント、商品化を連動させ、作品接点を売場・キャンペーンに接続していきます。特に食品、外食、流通、アパレル、広告の皆さまには、映画のタイミングでご一緒できる企画をご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・配信領域では、幅広いヒーローとキャラクターを活用し、コアファンにも新規層にも届く接点を再強化します。ライセンシーの皆さまにとっては、歴代ヒーローや怪獣まで横断的に使える、企画自由度の高い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ウルトラマンには“直接会いに来るファン”がいます。この熱量あるリアル接点が、商品購買や店舗送客に直結します。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ご覧の通り、2027年度以降は年間を通じて山場が続きます。商品開発のリードタイムを考えると、2027年度の山場に間に合わせるには、今から企画に入っていただくのがベストタイミングです。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ここからは、各カテゴリーの皆さまと一緒に、具体的な商品化・販促企画を作っていきたいと考えています。「うちならこう作れる」という目線でご覧ください。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映画・イベントの山場と店頭を連動させる企画を、ぜひご一緒させてください。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イベント会場の周辺送客や、映画公開期のファミリー需要の取り込みにご活用いただけます。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怪獣デザインやストリート系まで展開できます。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ファンの日常に入り込む雑貨・生活用品は、継続的な売上を作れる領域です。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ウルトラマンのテーマは、教育・文具領域と本質的に相性が良いものです。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ウルトラマートやPOPUPと連動した売場企画を、流通・小売の皆さまとご一緒したいと考えています。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ファミリー、地域、周年など、課題起点でのご相談を歓迎します。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60周年では、異なるファン層・異なる売場に向けて、すでに多様なコラボが動いています。※実績(このスライド)と今後の機会(次)を必ず分ける。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ここからは、皆さまと一緒に商品化・売場化していきたい領域です。(サンリオ開示可の場合)サンリオコラボ実現時には、両IPの魅力を活かした商品化・売場展開をライセンシーの皆さまと広げていきます。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ウルトラマンの商品を売る場所を、円谷側でも増やしていきます。だから、商品化したものを展開できる場が広がっています。「作っても売る場所があるのか」という不安には、売場ごとお応えします。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コンテンツ展開に合わせて、ライセンシーの皆さまがすぐ企画化できるよう、カテゴリー別のスタイルガイドと素材提供体制を整えていきます。「素材がある」ではなく「企画しやすいように、カテゴリー別に使える形にしてある」——ここ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企画提出から承認までの流れを標準化しています。個別商談では、NDAのうえでさらに詳細な素材をご覧いただけます。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以上のテーマで、いま企画を募集しています。「この枠に自社が入れるか」という段階からのご相談で構いません。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お手元の資料とこちらのQRコードから、個別商談をご予約いただけます。カテゴリーごとに担当がついてご相談を承ります。【運営】QRは後方からも読めるサイズで最低30秒表示。次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今、企画に入る企業が、2027年度以降のウルトラマンの売場とキャンペーンを先に作ることができます。ぜひ本日を起点に、個別にご相談ください。本日はありがとうございました。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01 / 28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704088"/>
            <a:ext cx="603504" cy="603504"/>
          </a:xfrm>
          <a:prstGeom prst="ellipse">
            <a:avLst/>
          </a:prstGeom>
          <a:solidFill>
            <a:srgbClr val="66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FF3B34"/>
          </a:solidFill>
          <a:ln w="19050">
            <a:solidFill>
              <a:srgbClr val="FF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lang="ja-JP" spc="35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TSUBURAYA PRODUCTIONS · 60TH ANNIVERSARY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4303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LICENSEE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430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lang="ja-JP">
                <a:solidFill>
                  <a:srgbClr val="FF6A52"/>
                </a:solidFill>
                <a:latin typeface="Yu Gothic"/>
                <a:ea typeface="Yu Gothic"/>
                <a:cs typeface="Yu Gothic"/>
              </a:rPr>
              <a:t>2027年度以降の商機を、いま一緒につくる。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本日は「作品発表会」ではありません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2027年度以降のウルトラマン展開を、パートナーの皆さまに共有する場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商品化・販促・広告タイアップ・流通施策の 商機を持ち帰っていただく場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本日の終わりに:個別商談のご予約・企画のご相談を受け付けます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FROM THE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いまの熱量が、商品と売場に変わる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63500" cy="13716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ステージの熱量 → 商品 → 売場 → キャンペーン
→ 生活者との毎日の接点へ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60TH ANNIVERSARY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60周年は、もう始まっている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5157216" cy="141732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EVENTS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国内外イベント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ウルサマ/ライブ/展覧会/ヒーローショー/グリーティング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011680"/>
            <a:ext cx="5157216" cy="141732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PRODUCTS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商品化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食品・アパレル・雑貨・玩具・文具・コレクション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11880"/>
            <a:ext cx="5157216" cy="141732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COLLABS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IPコラボ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モフサンド、ベイブレード ほか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611880"/>
            <a:ext cx="5157216" cy="141732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RETAIL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流通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ウルトラマート、POPUP、量販・専門店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5780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📷【素材8待ち】実績写真グリッド(8〜12点)に差し替え。数字より「動いている感」重視。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WHY ULTRAMAN,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熱量あるリアル接点を持つIP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011680"/>
          <a:ext cx="105156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926080"/>
                <a:gridCol w="557784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37C6EC"/>
                          </a:solidFill>
                          <a:latin typeface="Yu Gothic"/>
                          <a:ea typeface="Yu Gothic"/>
                          <a:cs typeface="Yu Gothic"/>
                        </a:rPr>
                        <a:t>レイヤー</a:t>
                      </a:r>
                    </a:p>
                  </a:txBody>
                  <a:tcPr>
                    <a:solidFill>
                      <a:srgbClr val="17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37C6EC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>
                    <a:solidFill>
                      <a:srgbClr val="17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37C6EC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>
                    <a:solidFill>
                      <a:srgbClr val="1720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マス接点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認知を広げる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テレビ、映画、YouTube、SNS、PR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熱量接点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ファン化する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ウルサマ、ライブ、ショー、グリーティング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商品化につなげる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店頭、POPUP、ウルトラマート、EC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次の商品・作品へ戻す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新シリーズ、映画、イベント、限定商品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25780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📊【補強データ待ち】年間約70万〜100万人規模のリアル接点 — 満席率・稼働率の確定後に表現調整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STRATEGY 2027+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単発の作品展開から、“面の展開”へ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63500" cy="13716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テレビ・映画・イベント・YouTube・流通・IPコラボが
連動して動く「年間型IP」へ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CONTENT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3つの柱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1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新テレビシリーズ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継続性を重視した世界観・キャラクター展開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3504" y="219456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2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映画・特別編・ゼロ関連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公開タイミング=販促・店頭の商機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4048" y="219456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3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YouTube/ギャラファイ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歴代ヒーロー・怪獣を横断活用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9768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🎬【素材1待ち — 本編の核】2027年以降のコンテンツ全体像。7/14までに必ず回収。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1 — TV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追い続けたくなる構造へ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キャラクターや世界観の 継続性をより重視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ファンが次の展開を追い続けたくなる構造を強化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🖼【素材2・3・13待ち/開示確認】制作部の開示可能コピー・世界観イメージ・シルエット等で差し替え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09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2 — FILMS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映画の熱量を、売場とキャンペーンへ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ゼロ関連映画・特別編・スピンオフ(開示可能範囲で)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映画館 × 配信 × イベント × 商品化の連動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公開タイミング=販促・店頭キャンペーンの商機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🎬【素材4・5待ち/開示確認】ゼロ映画・特別編の開示可能情報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PILLAR 3 — YOUTUBE / GALAXY FIGHT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歴代ヒーロー・怪獣を横断的に使える領域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YouTube・配信で、コアファンにも新規層にも届く接点を再強化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単独ヒーローに限らず、歴代ヒーロー・怪獣・人気キャラを横断活用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コレクション系・大人向け・怪獣デザイン商品との相性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📺【素材6待ち/開示確認】ギャラファイ/YouTube系の開示可能情報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REAL TOUCHPOINTS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会いに来るファンがいる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ウルサマ、ライブ、展覧会、ヒーローショー、グリーティング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リアル接点 → 物販・店舗送客・キャンペーン参加への転換実績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📊【補強データ待ち】満席率・稼働率・リピート率が強ければ「キャパ上限に近い」ことを示す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MARKETING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2027年度以降の商機カレンダー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年間の山場(テレビ・映画・イベント・流通施策)を時系列で提示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「いつ盛り上がるか」「いつ企画に入れば間に合うか」が読み取れることが絶対条件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商品開発リードタイムから逆算した「企画開始の目安」を明記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📅【素材7待ち】60周年マーケティングカレンダー+2027年以降版のビジュアルに差し替え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13 / 28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704088"/>
            <a:ext cx="603504" cy="603504"/>
          </a:xfrm>
          <a:prstGeom prst="ellipse">
            <a:avLst/>
          </a:prstGeom>
          <a:solidFill>
            <a:srgbClr val="66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FF3B34"/>
          </a:solidFill>
          <a:ln w="19050">
            <a:solidFill>
              <a:srgbClr val="FF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3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BUSINESS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430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ここからは「皆さまの企画」の話です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過去実績のご紹介ではなく、今後ご一緒したい企画の募集です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7カテゴリー別に、商機と企画例をご提案します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1 / 7 — 食品・飲料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夏のウルトラマン接点を、親子向けキャンペーンに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夏映画、ウルサマ、親子需要、店頭キャンペーン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限定パッケージ/購入特典/親子キャンペーン/映画半券連動/夏休み販促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夏のウルトラマン接点を、親子向け食品・飲料キャンペーンに変えられます。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2 / 7 — 外食・カフェ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来場・視聴の熱量を、店舗送客に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イベント来場前後、映画公開期、ファミリー来店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コラボメニュー/ノベルティ/来店特典/ヒーローグリーティング連動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来場・視聴の熱量を、店舗送客に接続できます。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3 / 7 — アパレル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大人が着られるデザインIP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大人ファン、親子リンク、女性向け、ストリート、怪獣デザイン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Tシャツ/スウェット/バッグ/キャップ/親子コーデ/限定コレクション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ウルトラマンは子ども向けだけでなく、大人が着られるデザインIPとして展開できます。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4 / 7 — 雑貨・生活用品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“毎日使う商品”に落とし込む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日常接点、ギフト、オフィス、家庭用品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タンブラー/タオル/ステーショナリー/インテリア/ガジェット小物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ウルトラマンを“毎日使う商品”に落とし込めます。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5 / 7 — 文具・教育・出版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勇気・成長・仲間・正義を、学びの領域へ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キッズ、親子、学習、読書、夏休み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学習帳/絵本/図鑑/ワークブック/読書キャンペーン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勇気、成長、仲間、正義というテーマを教育・文具領域に広げられます。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19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6 / 7 — 流通・小売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商品だけでなく、売場をつくる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ウルトラマート、POPUP、量販店、専門店、売場ジャック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専用棚/期間限定売場/購入特典/スタンプラリー/限定商品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商品を作るだけでなく、売場を作る準備があります。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CATEGORY 7 / 7 — 広告代理店・SP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ウルトラマンを、広告・販促装置として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商機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6596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企業キャンペーン、地域創生、ファミリー向け販促、周年施策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企画例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9052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企業タイアップ/店頭キャンペーン/交通広告/SNSキャンペーン/イベント協賛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63500" cy="1371600"/>
          </a:xfrm>
          <a:prstGeom prst="rect">
            <a:avLst/>
          </a:prstGeom>
          <a:solidFill>
            <a:srgbClr val="37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クライアント課題に合わせて、ウルトラマンを広告・販促装置として活用できます。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COLLABS &amp;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21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IP COLLABORATIONS —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60周年、多様なコラボがすでに動いている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COLLAB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モフサンド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3504" y="228600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COLLAB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ベイブレード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【素材8待ち】実績ビジュアル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4048" y="2286000"/>
            <a:ext cx="3361944" cy="173736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COLLAB</a:t>
            </a:r>
          </a:p>
          <a:p>
            <a:pPr>
              <a:spcAft>
                <a:spcPts val="300"/>
              </a:spcAft>
            </a:pPr>
            <a:r>
              <a:rPr sz="15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その他既存コラボ</a:t>
            </a:r>
          </a:p>
          <a:p>
            <a:pPr>
              <a:lnSpc>
                <a:spcPct val="115000"/>
              </a:lnSpc>
            </a:pPr>
            <a:r>
              <a:rPr sz="115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商品化・イベント・流通施策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COLLABS &amp;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IP COLLABORATIONS —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ここからは、一緒に商品化・売場化したい領域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サンリオコラボ 【開示確認後に表現確定】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ゼロ映画連動/新テレビシリーズ連動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YouTube・ギャラファイ系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9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ウルトラマート・流通展開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COLLABS &amp;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ULTRA MART &amp;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売る場所は、円谷側でも増やしていく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ウルトラマートの方向性/POPUP展開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量販店・専門店での売場展開/映画・イベント期の店頭施策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既存商品の売場事例/今後募集したい商品カテゴリー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🏬【素材10待ち】ウルトラマート素材・売場事例写真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STYLE GUIDE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「作りたい」を「作れる」に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103120"/>
          <a:ext cx="1051560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740664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37C6EC"/>
                          </a:solidFill>
                          <a:latin typeface="Yu Gothic"/>
                          <a:ea typeface="Yu Gothic"/>
                          <a:cs typeface="Yu Gothic"/>
                        </a:rPr>
                        <a:t>ガイド</a:t>
                      </a:r>
                    </a:p>
                  </a:txBody>
                  <a:tcPr>
                    <a:solidFill>
                      <a:srgbClr val="172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ja-JP">
                          <a:solidFill>
                            <a:srgbClr val="37C6EC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1720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ブランドガイド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ロゴ、世界観、コピー、NG表現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キャラクターガイド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ヒーロー、怪獣、歴代キャラ、新作関連キャラ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カテゴリー別ガイド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食品、アパレル、雑貨、文具、広告、流通</a:t>
                      </a:r>
                    </a:p>
                  </a:txBody>
                  <a:tcPr>
                    <a:solidFill>
                      <a:srgbClr val="0A0F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lang="ja-JP">
                          <a:solidFill>
                            <a:srgbClr val="F4C04E"/>
                          </a:solidFill>
                          <a:latin typeface="Yu Gothic"/>
                          <a:ea typeface="Yu Gothic"/>
                          <a:cs typeface="Yu Gothic"/>
                        </a:rPr>
                        <a:t>シーズン別ガイド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lang="ja-JP">
                          <a:solidFill>
                            <a:srgbClr val="AAB4D0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映画期、夏休み、年末年始、周年施策</a:t>
                      </a:r>
                    </a:p>
                  </a:txBody>
                  <a:tcPr>
                    <a:solidFill>
                      <a:srgbClr val="0E14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MATERIALS &amp; APPROVAL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企画から承認まで、迷わない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5430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商品化テンプレート:パッケージ例/POP例/販促例/SNS例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監修フロー:企画提出 → 初稿確認 → 修正 → 承認(標準リードタイム明記)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3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8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開示区分:当日開示/NDA後開示/個別商談時開示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📄【素材11・12待ち】スタイルガイド進捗・監修フロー資料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OPEN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いま、募集しています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食品・飲料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夏の親子キャンペーン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映画連動販促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3504" y="210312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外食・カフェ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コラボメニュー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送客連動企画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4048" y="210312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アパレル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大人向けコレクション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親子リンク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文具・教育・出版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学び×ウルトラマン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読書・夏休み企画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3504" y="365760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流通・小売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売場ジャック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限定売場企画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4048" y="3657600"/>
            <a:ext cx="3361944" cy="1371600"/>
          </a:xfrm>
          <a:prstGeom prst="roundRect">
            <a:avLst>
              <a:gd name="adj" fmla="val 8000"/>
            </a:avLst>
          </a:prstGeom>
          <a:solidFill>
            <a:srgbClr val="17203F"/>
          </a:solidFill>
          <a:ln w="12700">
            <a:solidFill>
              <a:srgbClr val="2A3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300"/>
              </a:spcAft>
            </a:pPr>
            <a:r>
              <a:rPr sz="900" b="0" lang="ja-JP" spc="2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広告・SP</a:t>
            </a:r>
          </a:p>
          <a:p>
            <a:pPr>
              <a:spcAft>
                <a:spcPts val="300"/>
              </a:spcAft>
            </a:pPr>
            <a:r>
              <a:rPr sz="1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企業タイアップ</a:t>
            </a:r>
          </a:p>
          <a:p>
            <a:pPr>
              <a:lnSpc>
                <a:spcPct val="115000"/>
              </a:lnSpc>
            </a:pPr>
            <a:r>
              <a:rPr sz="1100" b="0" lang="ja-JP">
                <a:solidFill>
                  <a:srgbClr val="AAB4D0"/>
                </a:solidFill>
                <a:latin typeface="Yu Gothic"/>
                <a:ea typeface="Yu Gothic"/>
                <a:cs typeface="Yu Gothic"/>
              </a:rPr>
              <a:t>地域・周年施策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今日から動けます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926080" cy="2926080"/>
          </a:xfrm>
          <a:prstGeom prst="roundRect">
            <a:avLst>
              <a:gd name="adj" fmla="val 6000"/>
            </a:avLst>
          </a:prstGeom>
          <a:solidFill>
            <a:srgbClr val="17203F"/>
          </a:solidFill>
          <a:ln w="15240">
            <a:solidFill>
              <a:srgbClr val="F4C0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【QRコード】</a:t>
            </a:r>
          </a:p>
          <a:p>
            <a:pPr algn="ctr"/>
            <a:r>
              <a:rPr sz="1500" b="1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個別商談予約</a:t>
            </a:r>
          </a:p>
          <a:p>
            <a:pPr algn="ctr"/>
            <a:r>
              <a:rPr sz="1200" b="0" lang="ja-JP">
                <a:solidFill>
                  <a:srgbClr val="F4C04E"/>
                </a:solidFill>
                <a:latin typeface="Yu Gothic"/>
                <a:ea typeface="Yu Gothic"/>
                <a:cs typeface="Yu Gothic"/>
              </a:rPr>
              <a:t>(希望カテゴリー選択式)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7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配布資料に相談窓口・連絡先を記載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0" lang="ja-JP">
                <a:solidFill>
                  <a:srgbClr val="FF3B34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7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NDA締結後、開示可能な詳細素材あり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0" lang="ja-JP">
                <a:solidFill>
                  <a:srgbClr val="37C6EC"/>
                </a:solidFill>
                <a:latin typeface="Yu Gothic"/>
                <a:ea typeface="Yu Gothic"/>
                <a:cs typeface="Yu Gothic"/>
              </a:rPr>
              <a:t>●  </a:t>
            </a:r>
            <a:r>
              <a:rPr sz="1700" b="0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カテゴリーごとに担当がついてご相談を承ります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5566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 spc="200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5566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lang="ja-JP">
                <a:solidFill>
                  <a:srgbClr val="7580A0"/>
                </a:solidFill>
                <a:latin typeface="Consolas"/>
                <a:ea typeface="Yu Gothic"/>
                <a:cs typeface="Yu Gothic"/>
              </a:rPr>
              <a:t>28 / 28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704088"/>
            <a:ext cx="603504" cy="603504"/>
          </a:xfrm>
          <a:prstGeom prst="ellipse">
            <a:avLst/>
          </a:prstGeom>
          <a:solidFill>
            <a:srgbClr val="66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FF3B34"/>
          </a:solidFill>
          <a:ln w="19050">
            <a:solidFill>
              <a:srgbClr val="FF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43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lang="ja-JP" spc="300">
                <a:solidFill>
                  <a:srgbClr val="37C6EC"/>
                </a:solidFill>
                <a:latin typeface="Consolas"/>
                <a:ea typeface="Yu Gothic"/>
                <a:cs typeface="Yu Gothic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今、企画に入る企業が、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2027年度以降のウルトラマンの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lang="ja-JP">
                <a:solidFill>
                  <a:srgbClr val="F0F3FC"/>
                </a:solidFill>
                <a:latin typeface="Yu Gothic"/>
                <a:ea typeface="Yu Gothic"/>
                <a:cs typeface="Yu Gothic"/>
              </a:rPr>
              <a:t>売場とキャンペーンを先に作る。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543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lang="ja-JP">
                <a:solidFill>
                  <a:srgbClr val="FF6A52"/>
                </a:solidFill>
                <a:latin typeface="Yu Gothic"/>
                <a:ea typeface="Yu Gothic"/>
                <a:cs typeface="Yu Gothic"/>
              </a:rPr>
              <a:t>次の売場を、いま一緒につくる。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