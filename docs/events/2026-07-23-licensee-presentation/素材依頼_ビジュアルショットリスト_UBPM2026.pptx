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714"/>
    <a:srgbClr val="001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>
        <p:scale>
          <a:sx n="61" d="100"/>
          <a:sy n="61" d="100"/>
        </p:scale>
        <p:origin x="3912" y="2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3C6BB-776A-4753-AB41-4207CE347F81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A3BBA-E0A1-437E-A0C7-205A02F81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688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A88040-3D56-0319-3E49-E2AD544E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68D-C5BF-45DD-851C-FBEBD38DB990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E1B172-E5A6-5D5C-C7DF-A84A024B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D6C759-57A2-57C4-D6A7-544E770E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81D69-007A-237B-750B-0A473596BA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71EBCE23-8037-95B1-60B4-73FF3E45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78118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82CC15-16FC-FE1F-E1BB-BCD70144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FA19-B876-4F47-836D-513A4E46A43C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583F08-1E4F-F903-F594-62624DEDD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159CDC-3107-2611-16C9-BF044A62C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145" y="6356349"/>
            <a:ext cx="2743200" cy="365125"/>
          </a:xfrm>
        </p:spPr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AEA3FD5-8022-A185-7F53-7D7A68C8B9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F4A4C081-EDC6-5327-77E6-66B8AA44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22699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A9D1F7-1E06-79AE-EA50-B75E41182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4872D1-02C4-C326-C190-9B7ADEDD6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AE9C44-C4A4-6252-2251-FDCB8CBB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E9C70-1A3E-49C1-A044-1C6676BB53B7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921656-851B-403A-A197-556EC932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AD3239-48CF-90D0-853E-13CA1E4D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1717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5AAE97-5132-B468-595B-7C9A7BB4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9DFB7E-D09D-4D0C-59BD-E36A03FC0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47D015B-C7D4-7B04-E0B6-FA4647F9B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4ACC0F-8BBC-9466-DE64-20A3C828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0AA8-6DB5-4460-B397-38EEE2200ECD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8CDF31-2D1A-3F90-92CD-FEF8A26D9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80A1D6-1506-427D-107A-E87BD3ED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3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5E58EC-9552-6123-9290-C2239105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CC0727-9DF6-E369-D0EB-1EF91D7B6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116897-BE23-8736-B31D-A59AE8AAB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FA11FE7-1F98-39FD-F353-68FEC5433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4DDCDFA-239F-238A-BCF7-361FCFB29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FCDB914-51AB-5567-9933-A47398E39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9FE9-4F1C-4734-A29B-089FACD6841C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6F42598-BC38-651A-19F8-3216094E6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67D8B99-BF53-6C74-9830-281DE830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13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C7D8E8-B424-A032-C170-E0231AC82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AEF4763-8C6D-E3D3-F72B-CF444AA6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A4F19-B036-4317-84BC-8A54E2A158DA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FD0D4A9-7315-4348-9DF3-C521FB976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93128B-3334-9BFD-5025-985490A0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301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BA16075-0E32-79D7-0ED0-6F34C0C7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E50B-730A-41A7-8F08-E1E4D3A30FF3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BD3DC1F-921F-EE41-147A-E52CDA28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DE1BC41-4A69-6488-8F7F-FE9D3B15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8101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66B841-7F8C-8C65-F8E8-A279A6E1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E969EB-29A5-C9D8-21A8-6D6DDAD22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430D94-6B48-4E73-5B9D-A54B24350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E4D129-AE65-2CB9-B0D0-C7BBF7A9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D7904-FA14-48B9-9595-3F9ADF9D1C3B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77590C-9B7C-7FAD-6362-103E8064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4031BC-4E50-9B0F-93B2-3D1751BA2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348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E8752-FEC2-6CB1-7009-C7843937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230D219-7FF8-7B29-4F00-E47EDB42C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C6CDCA-6C3B-35C5-D2C5-6CD03FB80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408EA7-A534-F7C7-3200-95A952C68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B6A1-A75C-41EA-97FA-948EF5D4FE97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2E0C83-658F-4EEB-B1DE-A12294A9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5F171D-0E20-82B3-E27B-D1C1BBEC1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21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E18B47-5DDC-700B-70C9-391560F1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5F8199-7978-69FC-C299-D510FEB19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60500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F9797A-6559-53E7-34A5-B3E2864D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1845-7E58-4720-B139-BFFA9BCB3CAE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101F7A-F85D-8950-7B29-5EE28E4E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450583-245C-F945-76F8-0C80944F1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113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3F210AF-F868-AD1C-B3D3-1033414A41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D0CD1A-9244-4BA7-0495-CEC5C78F5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9F925-0775-20D2-F35D-55C648BA6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AD85-0112-45C3-9244-ADAD48346B32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96036D-484D-FEA5-8D44-4AFA1CFB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0EA7D8-AFD3-023E-1020-4BBA6234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75775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A06A34B-174E-D2EB-ACDE-C5412952A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F2AC66-AC87-BA1E-809C-D7B5F0201D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357D0-1E63-4326-AD96-F9B068DDA013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AE780B-2F9C-43F7-9B9F-42C14057F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A58368-9120-411E-0FE6-AC6A3329C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11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6FEA0-CE2F-2F12-D362-EE5FB983DC9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967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 lang="ja-JP" spc="200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素材ご提供のお願い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依頼画像素材リスト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4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全49点+確認事項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6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ULTRAMAN BUSINESS PARTNERS MEETING 2026(7/23・約450名)投影資料用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各素材に「欲しい絵」の見本(仮ビジュアル)を付けています。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見本と同じ構図の実物写真・実案がありましたら、ご提供をお願いします。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989320"/>
            <a:ext cx="11183112" cy="457200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989320"/>
            <a:ext cx="50800" cy="4572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5989320"/>
            <a:ext cx="107807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写真系:7/11(土)/モック類:7/12(日)/ガイド類:7/15(水)|納品先:drive.google.com/drive/folders/1Nk6C5s9mTxFCz0cYNK0Qap2HEdQQLSNW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2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共通ルール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全素材に共通するお願い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554480" cy="475488"/>
          </a:xfrm>
          <a:prstGeom prst="roundRect">
            <a:avLst>
              <a:gd name="adj" fmla="val 2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554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サイズ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9326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長辺1600px以上(最低1200px)。全面背景用のみ 3840×2160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04872"/>
            <a:ext cx="1554480" cy="475488"/>
          </a:xfrm>
          <a:prstGeom prst="roundRect">
            <a:avLst>
              <a:gd name="adj" fmla="val 2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04872"/>
            <a:ext cx="1554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形式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404872"/>
            <a:ext cx="9326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写真=JPEG高品質/ロゴ・切り抜き=PNG背景透過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80944"/>
            <a:ext cx="1554480" cy="475488"/>
          </a:xfrm>
          <a:prstGeom prst="roundRect">
            <a:avLst>
              <a:gd name="adj" fmla="val 2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80944"/>
            <a:ext cx="1554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点数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980944"/>
            <a:ext cx="9326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各項目につき候補3〜5点(採用はこちらで選定します)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57015"/>
            <a:ext cx="1554480" cy="475488"/>
          </a:xfrm>
          <a:prstGeom prst="roundRect">
            <a:avLst>
              <a:gd name="adj" fmla="val 2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557015"/>
            <a:ext cx="1554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557015"/>
            <a:ext cx="9326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動画からの静止画切り出しは不可(解像度不足)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33087"/>
            <a:ext cx="1554480" cy="475488"/>
          </a:xfrm>
          <a:prstGeom prst="roundRect">
            <a:avLst>
              <a:gd name="adj" fmla="val 2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133087"/>
            <a:ext cx="1554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選び方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133087"/>
            <a:ext cx="9326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「商品単体」より「売場・人・熱量」が写っている絵を優先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709159"/>
            <a:ext cx="1554480" cy="475488"/>
          </a:xfrm>
          <a:prstGeom prst="roundRect">
            <a:avLst>
              <a:gd name="adj" fmla="val 2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709159"/>
            <a:ext cx="1554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開示区分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709159"/>
            <a:ext cx="9326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[1]投影可 [2]配布可 [3]NDA後開示 [4]開示不可 [5]権利確認中 を各素材に付記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285231"/>
            <a:ext cx="1554480" cy="475488"/>
          </a:xfrm>
          <a:prstGeom prst="roundRect">
            <a:avLst>
              <a:gd name="adj" fmla="val 2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285231"/>
            <a:ext cx="1554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回答方法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285231"/>
            <a:ext cx="9326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番号に○×と区分を付けるだけでOK(例:1○[1]、2×)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989320"/>
            <a:ext cx="11183112" cy="457200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989320"/>
            <a:ext cx="50800" cy="4572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989320"/>
            <a:ext cx="107807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納品先フォルダ:drive.google.com/drive/folders/1Nk6C5s9mTxFCz0cYNK0Qap2HEdQQLSNW (02_photo/03_mock/04_kv)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CATEGORY 1|イベント・ファンの写真(1/2)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2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ファンの「行動」が分かるカット|5点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行動の連鎖(来る→撮る→手に取る→共有する)がそのまま資料になります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2119579" cy="28803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3_01_arrive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993392"/>
            <a:ext cx="1973275" cy="184994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76072" y="405993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405993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4023360"/>
            <a:ext cx="1662379" cy="7406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親子がヒーローを見上げている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8803" y="1920240"/>
            <a:ext cx="2119579" cy="28803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03_02_shoot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1955" y="1993392"/>
            <a:ext cx="1973275" cy="1849945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2841955" y="405993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41955" y="405993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2851" y="4023360"/>
            <a:ext cx="1662379" cy="7406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スマホで撮影している手元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4686" y="1920240"/>
            <a:ext cx="2119579" cy="28803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03_03_pickup_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838" y="1993392"/>
            <a:ext cx="1973275" cy="1849945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5107838" y="405993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7838" y="405993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8734" y="4023360"/>
            <a:ext cx="1662379" cy="7406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売場で子どもが商品に手を伸ばす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00569" y="1920240"/>
            <a:ext cx="2119579" cy="28803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03_04_share_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3721" y="1993392"/>
            <a:ext cx="1973275" cy="1849945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7373721" y="405993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3721" y="405993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4617" y="4023360"/>
            <a:ext cx="1662379" cy="7406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SNS投稿画面(許諾済み)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66452" y="1920240"/>
            <a:ext cx="2119579" cy="28803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03_05_greeting_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9604" y="1993392"/>
            <a:ext cx="1973275" cy="1849945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9639604" y="405993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39604" y="405993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0500" y="4023360"/>
            <a:ext cx="1662379" cy="7406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グリーティングで握手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989320"/>
            <a:ext cx="11183112" cy="457200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989320"/>
            <a:ext cx="50800" cy="4572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989320"/>
            <a:ext cx="107807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締切 7/11(土)|納品先:02_photo フォルダ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CATEGORY 1|イベント・ファンの写真(2/2)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2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会場の「熱量」+施設・集客の実績カット|8点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客席の埋まり・行列・賑わい——「人が動いている」ことが分かる絵を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2686050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4_01_ulsama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57" y="1993392"/>
            <a:ext cx="897774" cy="123444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76072" y="328269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32826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46120"/>
            <a:ext cx="222885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ウルサマ客席の引き画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5274" y="1920240"/>
            <a:ext cx="2686050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12_01_heroshow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020" y="1993392"/>
            <a:ext cx="1854557" cy="123444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408426" y="328269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8426" y="32826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9322" y="3246120"/>
            <a:ext cx="222885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ショーの決め場面+観客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7628" y="1920240"/>
            <a:ext cx="2686050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0780" y="1993392"/>
            <a:ext cx="2539746" cy="1234440"/>
          </a:xfrm>
          <a:prstGeom prst="rect">
            <a:avLst/>
          </a:prstGeom>
          <a:solidFill>
            <a:srgbClr val="111F3E"/>
          </a:solidFill>
          <a:ln w="9525">
            <a:solidFill>
              <a:srgbClr val="2536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0780" y="1993392"/>
            <a:ext cx="2539746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8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見本なし:列の長さが分かる引き画</a:t>
            </a:r>
          </a:p>
        </p:txBody>
      </p:sp>
      <p:sp>
        <p:nvSpPr>
          <p:cNvPr id="19" name="Oval 18"/>
          <p:cNvSpPr/>
          <p:nvPr/>
        </p:nvSpPr>
        <p:spPr>
          <a:xfrm>
            <a:off x="6240780" y="328269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0780" y="32826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1676" y="3246120"/>
            <a:ext cx="222885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物販の行列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9982" y="1920240"/>
            <a:ext cx="2686050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73134" y="1993392"/>
            <a:ext cx="2539746" cy="1234440"/>
          </a:xfrm>
          <a:prstGeom prst="rect">
            <a:avLst/>
          </a:prstGeom>
          <a:solidFill>
            <a:srgbClr val="111F3E"/>
          </a:solidFill>
          <a:ln w="9525">
            <a:solidFill>
              <a:srgbClr val="2536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3134" y="1993392"/>
            <a:ext cx="2539746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8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見本なし:手渡しの瞬間・手元中心</a:t>
            </a:r>
          </a:p>
        </p:txBody>
      </p:sp>
      <p:sp>
        <p:nvSpPr>
          <p:cNvPr id="25" name="Oval 24"/>
          <p:cNvSpPr/>
          <p:nvPr/>
        </p:nvSpPr>
        <p:spPr>
          <a:xfrm>
            <a:off x="9073134" y="328269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3134" y="32826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4030" y="3246120"/>
            <a:ext cx="222885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会場限定商品+購入者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032504"/>
            <a:ext cx="2686050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72" y="4105656"/>
            <a:ext cx="2539746" cy="1234440"/>
          </a:xfrm>
          <a:prstGeom prst="rect">
            <a:avLst/>
          </a:prstGeom>
          <a:solidFill>
            <a:srgbClr val="111F3E"/>
          </a:solidFill>
          <a:ln w="9525">
            <a:solidFill>
              <a:srgbClr val="2536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4105656"/>
            <a:ext cx="2539746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8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見本なし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" y="5394959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539495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5358383"/>
            <a:ext cx="222885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撮影会の様子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5274" y="4032504"/>
            <a:ext cx="2686050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12_03_stamprally_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020" y="4105656"/>
            <a:ext cx="1854557" cy="1234440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3408426" y="5394959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8426" y="539495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19322" y="5358383"/>
            <a:ext cx="222885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館内スタンプラリー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67628" y="4032504"/>
            <a:ext cx="2686050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12_04_mall-event_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374" y="4105656"/>
            <a:ext cx="1854557" cy="1234440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6240780" y="5394959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40780" y="539495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51676" y="5358383"/>
            <a:ext cx="222885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商業施設・観光地の賑わい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99982" y="4032504"/>
            <a:ext cx="2686050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s04_02_heroshow_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4119" y="4105656"/>
            <a:ext cx="897774" cy="1234440"/>
          </a:xfrm>
          <a:prstGeom prst="rect">
            <a:avLst/>
          </a:prstGeom>
        </p:spPr>
      </p:pic>
      <p:sp>
        <p:nvSpPr>
          <p:cNvPr id="46" name="Oval 45"/>
          <p:cNvSpPr/>
          <p:nvPr/>
        </p:nvSpPr>
        <p:spPr>
          <a:xfrm>
            <a:off x="9073134" y="5394959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73134" y="539495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84030" y="5358383"/>
            <a:ext cx="222885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地域イベント(フリーショー可)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989320"/>
            <a:ext cx="11183112" cy="457200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5989320"/>
            <a:ext cx="50800" cy="4572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4088" y="5989320"/>
            <a:ext cx="107807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締切 7/11(土)|8・9はウルサマ会場での撮り下ろしリストを別途お渡しします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CATEGORY 2|実績写真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2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商品化・コラボ・広告・海外の実績|8点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「すでに動いている」ことの証明に使います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2686050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3_01_cute-collab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1993392"/>
            <a:ext cx="1234440" cy="123444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76072" y="328269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32826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46120"/>
            <a:ext cx="222885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モフサンドコラボ商品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5274" y="1920240"/>
            <a:ext cx="2686050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13_02_hobby-collab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079" y="1993392"/>
            <a:ext cx="1234440" cy="123444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408426" y="328269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8426" y="32826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9322" y="3246120"/>
            <a:ext cx="222885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ベイブレードコラボ商品(×回答済)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7628" y="1920240"/>
            <a:ext cx="2686050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13_05_collab-shelf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433" y="1993392"/>
            <a:ext cx="1234440" cy="123444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6240780" y="328269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0780" y="32826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1676" y="3246120"/>
            <a:ext cx="222885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コラボ・一般商品の売場棚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9982" y="1920240"/>
            <a:ext cx="2686050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07_01_apparel-main_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3134" y="1993392"/>
            <a:ext cx="2539746" cy="1119075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9073134" y="328269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3134" y="32826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4030" y="3246120"/>
            <a:ext cx="222885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商品化事例:アパレル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032504"/>
            <a:ext cx="2686050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07_02_acsta-cards_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88" y="4105656"/>
            <a:ext cx="1873912" cy="1234439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576072" y="5394959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539495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5358383"/>
            <a:ext cx="222885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商品化事例:ホビー・カード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5274" y="4032504"/>
            <a:ext cx="2686050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s07_03_premium-figure_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1342" y="4105656"/>
            <a:ext cx="1873912" cy="1234439"/>
          </a:xfrm>
          <a:prstGeom prst="rect">
            <a:avLst/>
          </a:prstGeom>
        </p:spPr>
      </p:pic>
      <p:sp>
        <p:nvSpPr>
          <p:cNvPr id="33" name="Oval 32"/>
          <p:cNvSpPr/>
          <p:nvPr/>
        </p:nvSpPr>
        <p:spPr>
          <a:xfrm>
            <a:off x="3408426" y="5394959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08426" y="539495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19322" y="5358383"/>
            <a:ext cx="222885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商品化事例:プレミアム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67628" y="4032504"/>
            <a:ext cx="2686050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s04_07_ad_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1765" y="4105656"/>
            <a:ext cx="897774" cy="1234440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6240780" y="5394959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0780" y="539495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51676" y="5358383"/>
            <a:ext cx="222885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広告タイアップ掲出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99982" y="4032504"/>
            <a:ext cx="2686050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04_08_global_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94119" y="4105656"/>
            <a:ext cx="897774" cy="1234440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9073134" y="5394959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73134" y="539495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84030" y="5358383"/>
            <a:ext cx="222885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海外イベント・展開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989320"/>
            <a:ext cx="11183112" cy="457200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" y="5989320"/>
            <a:ext cx="50800" cy="4572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088" y="5989320"/>
            <a:ext cx="107807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締切 7/11(土)|16はIPコラボ限定ではなく一般のウルトラマン売場も歓迎です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CATEGORY 3|ウルトラマート・売場写真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2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売場の「出口」を見せるカット|6点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「作っても売る場所があるのか」への答えになります(全点○回答済・納品待ち)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3617976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4_01_storefront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663" y="1993392"/>
            <a:ext cx="2094489" cy="123444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76072" y="328269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32826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46120"/>
            <a:ext cx="3160776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外観(看板が分かるもの)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5488" y="1920240"/>
            <a:ext cx="3617976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14_02_interior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231" y="1993392"/>
            <a:ext cx="2094489" cy="123444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4358640" y="328269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8640" y="32826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9536" y="3246120"/>
            <a:ext cx="3160776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店内の賑わい(客入り)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8056" y="1920240"/>
            <a:ext cx="3617976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04_06_retail_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8156" y="1993392"/>
            <a:ext cx="897774" cy="123444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8141208" y="328269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1208" y="32826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2104" y="3246120"/>
            <a:ext cx="3160776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商品棚クローズアップ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50791"/>
            <a:ext cx="3617976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14_03_limited-corner_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663" y="4123944"/>
            <a:ext cx="2094489" cy="123444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576072" y="5413247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541324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5376671"/>
            <a:ext cx="3160776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限定商品コーナー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5488" y="4050791"/>
            <a:ext cx="3617976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14_04_popup_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231" y="4123944"/>
            <a:ext cx="2094489" cy="123444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4358640" y="5413247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8640" y="541324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9536" y="5376671"/>
            <a:ext cx="3160776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POPUP出店時の売場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8056" y="4050791"/>
            <a:ext cx="3617976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s09_01_shelf-ec-main_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261" y="4123944"/>
            <a:ext cx="2801565" cy="1234440"/>
          </a:xfrm>
          <a:prstGeom prst="rect">
            <a:avLst/>
          </a:prstGeom>
        </p:spPr>
      </p:pic>
      <p:sp>
        <p:nvSpPr>
          <p:cNvPr id="33" name="Oval 32"/>
          <p:cNvSpPr/>
          <p:nvPr/>
        </p:nvSpPr>
        <p:spPr>
          <a:xfrm>
            <a:off x="8141208" y="5413247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41208" y="541324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2104" y="5376671"/>
            <a:ext cx="3160776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EC特集ページのスクショ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989320"/>
            <a:ext cx="11183112" cy="457200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989320"/>
            <a:ext cx="50800" cy="4572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989320"/>
            <a:ext cx="107807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締切 7/11(土)|納品先:02_photo フォルダ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CATEGORY 4|スタイルガイド・監修資料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2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「作れる」安心感を出す資料|5点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当日投影可能な範囲の抜粋で結構です(31・32はドラフト作成済み・監修のみお願いします)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3617976" cy="210312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5_01_guide-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03" y="1993392"/>
            <a:ext cx="3022809" cy="13716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76072" y="341985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341985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383280"/>
            <a:ext cx="3160776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ロゴ使用例+カラーパレット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5488" y="1920240"/>
            <a:ext cx="3617976" cy="210312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15_02_guide-okng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071" y="1993392"/>
            <a:ext cx="3022809" cy="137160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4358640" y="341985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8640" y="341985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9536" y="3383280"/>
            <a:ext cx="3160776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キャラ配置例+OK/NG例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8056" y="1920240"/>
            <a:ext cx="3617976" cy="210312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15_03_guide-products_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5639" y="1993392"/>
            <a:ext cx="3022809" cy="137160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8141208" y="341985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1208" y="341985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2104" y="3383280"/>
            <a:ext cx="3160776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商品展開例(Tシャツ・PKG・POP)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9768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 lang="ja-JP">
                <a:solidFill>
                  <a:srgbClr val="F4C04E"/>
                </a:solidFill>
                <a:latin typeface="Yu Gothic"/>
                <a:ea typeface="Yu Gothic"/>
                <a:cs typeface="Yu Gothic"/>
              </a:rPr>
              <a:t>31 監修フロー図/32 標準期間・チェックリスト → 当方ドラフトを送付済み。数字と要件の赤入れのみお願いします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989320"/>
            <a:ext cx="11183112" cy="457200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989320"/>
            <a:ext cx="50800" cy="4572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5989320"/>
            <a:ext cx="107807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締切 7/15(水)|納品先:03_mock フォルダ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CATEGORY 5|コンテンツビジュアル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2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2027年度以降を見せるビジュアル|5点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可否のご回答を特に急ぎます(黒澤さん確認中の項目あり)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1183112" cy="713232"/>
          </a:xfrm>
          <a:prstGeom prst="roundRect">
            <a:avLst>
              <a:gd name="adj" fmla="val 14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936" y="209397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209397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56815"/>
            <a:ext cx="374903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ヒーロー集合ビジュアル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956815"/>
            <a:ext cx="6492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60周年KVから流用でOK。元データ(理想3840×2160)をご共有ください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88336"/>
            <a:ext cx="11183112" cy="713232"/>
          </a:xfrm>
          <a:prstGeom prst="roundRect">
            <a:avLst>
              <a:gd name="adj" fmla="val 14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2907791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290779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770632"/>
            <a:ext cx="374903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2027新作関連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770632"/>
            <a:ext cx="6492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ゼロ映画の場面写真+キャラデザイラストの方針で進行(黒澤さん確認中)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02152"/>
            <a:ext cx="11183112" cy="713232"/>
          </a:xfrm>
          <a:prstGeom prst="roundRect">
            <a:avLst>
              <a:gd name="adj" fmla="val 14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0936" y="372160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" y="372160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584448"/>
            <a:ext cx="374903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ゼロ・映画関連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3584448"/>
            <a:ext cx="6492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ポスター・KVなし→場面写真で構成(黒澤さん確認中)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315968"/>
            <a:ext cx="11183112" cy="713232"/>
          </a:xfrm>
          <a:prstGeom prst="roundRect">
            <a:avLst>
              <a:gd name="adj" fmla="val 14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" y="453542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45354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398264"/>
            <a:ext cx="374903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配信・YouTube展開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398264"/>
            <a:ext cx="6492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配信作品のKVでOKです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129783"/>
            <a:ext cx="11183112" cy="713232"/>
          </a:xfrm>
          <a:prstGeom prst="roundRect">
            <a:avLst>
              <a:gd name="adj" fmla="val 14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" y="534924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53492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212079"/>
            <a:ext cx="374903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歴代シリーズ・歴代ヒーロー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5212079"/>
            <a:ext cx="6492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TVシリーズ紹介用(○回答済・納品待ち)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989320"/>
            <a:ext cx="11183112" cy="457200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989320"/>
            <a:ext cx="50800" cy="4572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989320"/>
            <a:ext cx="107807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可否回答 7/11(土)まで|納品先:04_kv フォルダ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CATEGORY 6|モック類(1/2)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2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商品モック|5点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仮ビジュアル組込済み——実物・実案・過去実績があるものだけで結構です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2119579" cy="228600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7_01_apparel-main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993392"/>
            <a:ext cx="1973275" cy="86947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76072" y="346557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34655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429000"/>
            <a:ext cx="1662379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Tシャツ・スウェット・キャップ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8803" y="1920240"/>
            <a:ext cx="2119579" cy="228600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07_02_acsta-cards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1955" y="1993392"/>
            <a:ext cx="1973275" cy="1299895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2841955" y="346557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41955" y="34655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2851" y="3429000"/>
            <a:ext cx="1662379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アクスタ・カード・フィギュア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4686" y="1920240"/>
            <a:ext cx="2119579" cy="228600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07_03_premium-figure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838" y="1993392"/>
            <a:ext cx="1973275" cy="1299895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5107838" y="346557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7838" y="34655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8734" y="3429000"/>
            <a:ext cx="1662379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プレミアムフィギュア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00569" y="1920240"/>
            <a:ext cx="2119579" cy="228600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08_01_package-main_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3721" y="1993392"/>
            <a:ext cx="1973275" cy="869474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7373721" y="346557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3721" y="34655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4617" y="3429000"/>
            <a:ext cx="1662379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限定パッケージ(コラボPKG可)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66452" y="1920240"/>
            <a:ext cx="2119579" cy="228600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08_02_bonus-cards_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9604" y="1993392"/>
            <a:ext cx="1973275" cy="1299895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9639604" y="346557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39604" y="34655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0500" y="3429000"/>
            <a:ext cx="1662379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購入特典カード(×回答済)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989320"/>
            <a:ext cx="11183112" cy="457200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989320"/>
            <a:ext cx="50800" cy="4572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989320"/>
            <a:ext cx="107807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締切 7/12(日)|納品先:03_mock フォルダ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CATEGORY 6|モック類(2/2)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2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売場・広告・デジタル|7点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過去事例の写真・画面キャプチャで結構です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2686050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9_01_shelf-ec-main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993392"/>
            <a:ext cx="2539746" cy="11190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76072" y="328269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32826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46120"/>
            <a:ext cx="222885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映画公開記念棚(シン・ウルトラマン'22確認中)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5274" y="1920240"/>
            <a:ext cx="2686050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09_02_popup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342" y="1993392"/>
            <a:ext cx="1873912" cy="1234439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408426" y="328269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8426" y="32826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9322" y="3246120"/>
            <a:ext cx="222885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POPUP売場(過去事例可)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7628" y="1920240"/>
            <a:ext cx="2686050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09_03_stamp-rally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696" y="1993392"/>
            <a:ext cx="1873912" cy="1234439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6240780" y="328269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0780" y="32826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1676" y="3246120"/>
            <a:ext cx="222885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スタンプラリー台紙(過去事例可)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9982" y="1920240"/>
            <a:ext cx="2686050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10_01_station-ad-main_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3134" y="1993392"/>
            <a:ext cx="2539746" cy="1119075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9073134" y="3282696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3134" y="32826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4030" y="3246120"/>
            <a:ext cx="222885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交通広告(過去事例可)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032504"/>
            <a:ext cx="2686050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10_02_sns_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88" y="4105656"/>
            <a:ext cx="1873912" cy="1234439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576072" y="5394959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539495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5358383"/>
            <a:ext cx="222885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SNSキャンペーン投稿(過去事例可)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5274" y="4032504"/>
            <a:ext cx="2686050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s11_01_game-main_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8426" y="4105656"/>
            <a:ext cx="2539746" cy="1119075"/>
          </a:xfrm>
          <a:prstGeom prst="rect">
            <a:avLst/>
          </a:prstGeom>
        </p:spPr>
      </p:pic>
      <p:sp>
        <p:nvSpPr>
          <p:cNvPr id="33" name="Oval 32"/>
          <p:cNvSpPr/>
          <p:nvPr/>
        </p:nvSpPr>
        <p:spPr>
          <a:xfrm>
            <a:off x="3408426" y="5394959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08426" y="539495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19322" y="5358383"/>
            <a:ext cx="222885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ゲーム内コラボ・ガチャ(過去事例可)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67628" y="4032504"/>
            <a:ext cx="2686050" cy="1965960"/>
          </a:xfrm>
          <a:prstGeom prst="roundRect">
            <a:avLst>
              <a:gd name="adj" fmla="val 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s11_03_youtube_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3696" y="4105656"/>
            <a:ext cx="1873912" cy="1234439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6240780" y="5394959"/>
            <a:ext cx="237744" cy="237744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0780" y="539495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51676" y="5358383"/>
            <a:ext cx="222885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YouTubeサムネ・配信画面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989320"/>
            <a:ext cx="11183112" cy="457200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5989320"/>
            <a:ext cx="50800" cy="4572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" y="5989320"/>
            <a:ext cx="107807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締切 7/12(日)|納品先:03_mock フォルダ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OTHERS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2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画像以外の確認事項+納品先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11183112" cy="603504"/>
          </a:xfrm>
          <a:prstGeom prst="roundRect">
            <a:avLst>
              <a:gd name="adj" fmla="val 1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0936" y="1856232"/>
            <a:ext cx="274320" cy="274320"/>
          </a:xfrm>
          <a:prstGeom prst="ellipse">
            <a:avLst/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8562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46504"/>
            <a:ext cx="42062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来場データ(満席率・稼働率・物販購買率など)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746504"/>
            <a:ext cx="60350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まず提供可否のみ。数字の強さで当日の表現を決めます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95728"/>
            <a:ext cx="11183112" cy="603504"/>
          </a:xfrm>
          <a:prstGeom prst="roundRect">
            <a:avLst>
              <a:gd name="adj" fmla="val 1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36" y="2560320"/>
            <a:ext cx="274320" cy="274320"/>
          </a:xfrm>
          <a:prstGeom prst="ellipse">
            <a:avLst/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56032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50592"/>
            <a:ext cx="42062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2026後半〜2027の商機カレンダー情報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450592"/>
            <a:ext cx="60350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時期×施策の一覧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099816"/>
            <a:ext cx="11183112" cy="603504"/>
          </a:xfrm>
          <a:prstGeom prst="roundRect">
            <a:avLst>
              <a:gd name="adj" fmla="val 1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936" y="3264408"/>
            <a:ext cx="274320" cy="274320"/>
          </a:xfrm>
          <a:prstGeom prst="ellipse">
            <a:avLst/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326440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154680"/>
            <a:ext cx="42062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登壇者が話してよい表現/NG表現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3154680"/>
            <a:ext cx="60350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制作部・IP戦略さま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03904"/>
            <a:ext cx="11183112" cy="603504"/>
          </a:xfrm>
          <a:prstGeom prst="roundRect">
            <a:avLst>
              <a:gd name="adj" fmla="val 1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0936" y="3968496"/>
            <a:ext cx="274320" cy="274320"/>
          </a:xfrm>
          <a:prstGeom prst="ellipse">
            <a:avLst/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39684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858768"/>
            <a:ext cx="42062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コラボ先への掲出許諾確認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3858768"/>
            <a:ext cx="60350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モフサンド・ベイブレード・サンリオ等。外部確認のため本日着手をお願いします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507992"/>
            <a:ext cx="11183112" cy="603504"/>
          </a:xfrm>
          <a:prstGeom prst="roundRect">
            <a:avLst>
              <a:gd name="adj" fmla="val 16000"/>
            </a:avLst>
          </a:prstGeom>
          <a:solidFill>
            <a:srgbClr val="0C1730"/>
          </a:solidFill>
          <a:ln w="9525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936" y="4672583"/>
            <a:ext cx="274320" cy="274320"/>
          </a:xfrm>
          <a:prstGeom prst="ellipse">
            <a:avLst/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" y="467258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0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562855"/>
            <a:ext cx="42062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来場者が写る写真の肖像権確認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4562855"/>
            <a:ext cx="60350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顔が判別できる写真の掲出許諾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394960"/>
            <a:ext cx="11183112" cy="502920"/>
          </a:xfrm>
          <a:prstGeom prst="rect">
            <a:avLst/>
          </a:prstGeom>
          <a:solidFill>
            <a:srgbClr val="111F3E"/>
          </a:solidFill>
          <a:ln w="12700">
            <a:solidFill>
              <a:srgbClr val="F4C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394960"/>
            <a:ext cx="1081735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1" lang="ja-JP">
                <a:solidFill>
                  <a:srgbClr val="F4C04E"/>
                </a:solidFill>
                <a:latin typeface="Yu Gothic"/>
                <a:ea typeface="Yu Gothic"/>
                <a:cs typeface="Yu Gothic"/>
              </a:rPr>
              <a:t>納品先:https://drive.google.com/drive/folders/1Nk6C5s9mTxFCz0cYNK0Qap2HEdQQLSNW(02_photo/03_mock/04_kv)|ファイル名の頭に素材番号と用途を記載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989320"/>
            <a:ext cx="11183112" cy="457200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989320"/>
            <a:ext cx="50800" cy="4572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5989320"/>
            <a:ext cx="107807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ご回答は番号+○×+開示区分でメール返信ください。あるものから順次で構いません!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</TotalTime>
  <Words>2</Words>
  <Application>Microsoft Office PowerPoint</Application>
  <PresentationFormat>ワイド画面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メイリオ</vt:lpstr>
      <vt:lpstr>游ゴシック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穴井 葉子</dc:creator>
  <cp:lastModifiedBy>穴井 葉子</cp:lastModifiedBy>
  <cp:revision>1</cp:revision>
  <dcterms:created xsi:type="dcterms:W3CDTF">2026-06-29T08:42:52Z</dcterms:created>
  <dcterms:modified xsi:type="dcterms:W3CDTF">2026-06-30T01:42:51Z</dcterms:modified>
</cp:coreProperties>
</file>