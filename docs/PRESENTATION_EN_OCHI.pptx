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94360"/>
            <a:ext cx="10543032" cy="640080"/>
          </a:xfrm>
          <a:prstGeom prst="rect">
            <a:avLst/>
          </a:prstGeom>
          <a:noFill/>
        </p:spPr>
        <p:txBody>
          <a:bodyPr wrap="square" anchor="t" lIns="0" rIns="0" tIns="0" bIns="0">
            <a:spAutoFit/>
          </a:bodyPr>
          <a:lstStyle/>
          <a:p>
            <a:pPr algn="l">
              <a:lnSpc>
                <a:spcPct val="125000"/>
              </a:lnSpc>
              <a:spcAft>
                <a:spcPts val="200"/>
              </a:spcAft>
            </a:pPr>
            <a:r>
              <a:rPr sz="1200" b="0">
                <a:solidFill>
                  <a:srgbClr val="545B6B"/>
                </a:solidFill>
                <a:latin typeface="Yu Gothic"/>
                <a:ea typeface="Yu Gothic"/>
              </a:rPr>
              <a:t>エン株式会社</a:t>
            </a:r>
          </a:p>
          <a:p>
            <a:pPr algn="l">
              <a:lnSpc>
                <a:spcPct val="125000"/>
              </a:lnSpc>
              <a:spcAft>
                <a:spcPts val="200"/>
              </a:spcAft>
            </a:pPr>
            <a:r>
              <a:rPr sz="1500" b="1">
                <a:solidFill>
                  <a:srgbClr val="20242E"/>
                </a:solidFill>
                <a:latin typeface="Yu Gothic"/>
                <a:ea typeface="Yu Gothic"/>
              </a:rPr>
              <a:t>代表取締役社長　越智 通勝 様</a:t>
            </a:r>
          </a:p>
        </p:txBody>
      </p:sp>
      <p:sp>
        <p:nvSpPr>
          <p:cNvPr id="3" name="Rectangle 2"/>
          <p:cNvSpPr/>
          <p:nvPr/>
        </p:nvSpPr>
        <p:spPr>
          <a:xfrm>
            <a:off x="822960" y="1371600"/>
            <a:ext cx="1054303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65960"/>
            <a:ext cx="10543032" cy="365760"/>
          </a:xfrm>
          <a:prstGeom prst="rect">
            <a:avLst/>
          </a:prstGeom>
          <a:noFill/>
        </p:spPr>
        <p:txBody>
          <a:bodyPr wrap="square" anchor="t" lIns="0" rIns="0" tIns="0" bIns="0">
            <a:spAutoFit/>
          </a:bodyPr>
          <a:lstStyle/>
          <a:p>
            <a:pPr algn="l">
              <a:lnSpc>
                <a:spcPct val="125000"/>
              </a:lnSpc>
              <a:spcAft>
                <a:spcPts val="400"/>
              </a:spcAft>
            </a:pPr>
            <a:r>
              <a:rPr sz="1200" b="1">
                <a:solidFill>
                  <a:srgbClr val="6E7889"/>
                </a:solidFill>
                <a:latin typeface="Yu Gothic"/>
                <a:ea typeface="Yu Gothic"/>
              </a:rPr>
              <a:t>U L T R A M A N   I P</a:t>
            </a:r>
            <a:r>
              <a:rPr sz="1200" b="1">
                <a:solidFill>
                  <a:srgbClr val="BE3A34"/>
                </a:solidFill>
                <a:latin typeface="Yu Gothic"/>
                <a:ea typeface="Yu Gothic"/>
              </a:rPr>
              <a:t>   ×   </a:t>
            </a:r>
            <a:r>
              <a:rPr sz="1200" b="1">
                <a:solidFill>
                  <a:srgbClr val="6E7889"/>
                </a:solidFill>
                <a:latin typeface="Yu Gothic"/>
                <a:ea typeface="Yu Gothic"/>
              </a:rPr>
              <a:t>e n</a:t>
            </a:r>
          </a:p>
        </p:txBody>
      </p:sp>
      <p:sp>
        <p:nvSpPr>
          <p:cNvPr id="5" name="TextBox 4"/>
          <p:cNvSpPr txBox="1"/>
          <p:nvPr/>
        </p:nvSpPr>
        <p:spPr>
          <a:xfrm>
            <a:off x="822960" y="2423160"/>
            <a:ext cx="10543032" cy="1828800"/>
          </a:xfrm>
          <a:prstGeom prst="rect">
            <a:avLst/>
          </a:prstGeom>
          <a:noFill/>
        </p:spPr>
        <p:txBody>
          <a:bodyPr wrap="square" anchor="t" lIns="0" rIns="0" tIns="0" bIns="0">
            <a:spAutoFit/>
          </a:bodyPr>
          <a:lstStyle/>
          <a:p>
            <a:pPr algn="l">
              <a:lnSpc>
                <a:spcPct val="120000"/>
              </a:lnSpc>
              <a:spcAft>
                <a:spcPts val="400"/>
              </a:spcAft>
            </a:pPr>
            <a:r>
              <a:rPr sz="4000" b="1">
                <a:solidFill>
                  <a:srgbClr val="20242E"/>
                </a:solidFill>
                <a:latin typeface="Yu Gothic"/>
                <a:ea typeface="Yu Gothic"/>
              </a:rPr>
              <a:t>はたらく人を、</a:t>
            </a:r>
          </a:p>
          <a:p>
            <a:pPr algn="l">
              <a:lnSpc>
                <a:spcPct val="120000"/>
              </a:lnSpc>
              <a:spcAft>
                <a:spcPts val="400"/>
              </a:spcAft>
            </a:pPr>
            <a:r>
              <a:rPr sz="4000" b="1">
                <a:solidFill>
                  <a:srgbClr val="BE3A34"/>
                </a:solidFill>
                <a:latin typeface="Yu Gothic"/>
                <a:ea typeface="Yu Gothic"/>
              </a:rPr>
              <a:t>ヒーローに。</a:t>
            </a:r>
          </a:p>
        </p:txBody>
      </p:sp>
      <p:sp>
        <p:nvSpPr>
          <p:cNvPr id="6" name="TextBox 5"/>
          <p:cNvSpPr txBox="1"/>
          <p:nvPr/>
        </p:nvSpPr>
        <p:spPr>
          <a:xfrm>
            <a:off x="822960" y="4434840"/>
            <a:ext cx="8961120" cy="914400"/>
          </a:xfrm>
          <a:prstGeom prst="rect">
            <a:avLst/>
          </a:prstGeom>
          <a:noFill/>
        </p:spPr>
        <p:txBody>
          <a:bodyPr wrap="square" anchor="t" lIns="0" rIns="0" tIns="0" bIns="0">
            <a:spAutoFit/>
          </a:bodyPr>
          <a:lstStyle/>
          <a:p>
            <a:pPr algn="l">
              <a:lnSpc>
                <a:spcPct val="140000"/>
              </a:lnSpc>
              <a:spcAft>
                <a:spcPts val="200"/>
              </a:spcAft>
            </a:pPr>
            <a:r>
              <a:rPr sz="1250" b="0">
                <a:solidFill>
                  <a:srgbClr val="545B6B"/>
                </a:solidFill>
                <a:latin typeface="Yu Gothic"/>
                <a:ea typeface="Yu Gothic"/>
              </a:rPr>
              <a:t>60年にわたり三世代に愛され続けるウルトラマンIPと、「入社後活躍」を掲げるエン。</a:t>
            </a:r>
          </a:p>
          <a:p>
            <a:pPr algn="l">
              <a:lnSpc>
                <a:spcPct val="140000"/>
              </a:lnSpc>
              <a:spcAft>
                <a:spcPts val="200"/>
              </a:spcAft>
            </a:pPr>
            <a:r>
              <a:rPr sz="1250" b="0">
                <a:solidFill>
                  <a:srgbClr val="545B6B"/>
                </a:solidFill>
                <a:latin typeface="Yu Gothic"/>
                <a:ea typeface="Yu Gothic"/>
              </a:rPr>
              <a:t>HR業界初・カテゴリー独占パートナーシップのご提案です。</a:t>
            </a:r>
          </a:p>
        </p:txBody>
      </p:sp>
      <p:sp>
        <p:nvSpPr>
          <p:cNvPr id="7" name="TextBox 6"/>
          <p:cNvSpPr txBox="1"/>
          <p:nvPr/>
        </p:nvSpPr>
        <p:spPr>
          <a:xfrm>
            <a:off x="822960" y="5852160"/>
            <a:ext cx="5486400" cy="320040"/>
          </a:xfrm>
          <a:prstGeom prst="rect">
            <a:avLst/>
          </a:prstGeom>
          <a:noFill/>
        </p:spPr>
        <p:txBody>
          <a:bodyPr wrap="square" anchor="t" lIns="0" rIns="0" tIns="0" bIns="0">
            <a:spAutoFit/>
          </a:bodyPr>
          <a:lstStyle/>
          <a:p>
            <a:pPr algn="l">
              <a:lnSpc>
                <a:spcPct val="125000"/>
              </a:lnSpc>
              <a:spcAft>
                <a:spcPts val="400"/>
              </a:spcAft>
            </a:pPr>
            <a:r>
              <a:rPr sz="1100" b="0">
                <a:solidFill>
                  <a:srgbClr val="8A92A3"/>
                </a:solidFill>
                <a:latin typeface="Yu Gothic"/>
                <a:ea typeface="Yu Gothic"/>
              </a:rPr>
              <a:t>2 0 2 6 . 0 7　ご提案資料</a:t>
            </a:r>
          </a:p>
        </p:txBody>
      </p:sp>
      <p:sp>
        <p:nvSpPr>
          <p:cNvPr id="8" name="TextBox 7"/>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01 — HR業界の現在地</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10兆円市場。しかし、希少資源が変わった</a:t>
            </a:r>
          </a:p>
        </p:txBody>
      </p:sp>
      <p:sp>
        <p:nvSpPr>
          <p:cNvPr id="5" name="TextBox 4"/>
          <p:cNvSpPr txBox="1"/>
          <p:nvPr/>
        </p:nvSpPr>
        <p:spPr>
          <a:xfrm>
            <a:off x="822960" y="1600200"/>
            <a:ext cx="9692640" cy="914400"/>
          </a:xfrm>
          <a:prstGeom prst="rect">
            <a:avLst/>
          </a:prstGeom>
          <a:noFill/>
        </p:spPr>
        <p:txBody>
          <a:bodyPr wrap="square" anchor="t" lIns="0" rIns="0" tIns="0" bIns="0">
            <a:spAutoFit/>
          </a:bodyPr>
          <a:lstStyle/>
          <a:p>
            <a:pPr algn="l">
              <a:lnSpc>
                <a:spcPct val="140000"/>
              </a:lnSpc>
              <a:spcAft>
                <a:spcPts val="400"/>
              </a:spcAft>
            </a:pPr>
            <a:r>
              <a:rPr sz="1250" b="0">
                <a:solidFill>
                  <a:srgbClr val="545B6B"/>
                </a:solidFill>
                <a:latin typeface="Yu Gothic"/>
                <a:ea typeface="Yu Gothic"/>
              </a:rPr>
              <a:t>市場は拡大を続けています。ただし企業の求人需要は増える一方、細るのは働き手 — 奪い合いの対象は「求人」から「求職者」に移りました。</a:t>
            </a:r>
          </a:p>
        </p:txBody>
      </p:sp>
      <p:sp>
        <p:nvSpPr>
          <p:cNvPr id="6" name="Rounded Rectangle 5"/>
          <p:cNvSpPr/>
          <p:nvPr/>
        </p:nvSpPr>
        <p:spPr>
          <a:xfrm>
            <a:off x="822960" y="2377440"/>
            <a:ext cx="3392424" cy="21488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2560320"/>
            <a:ext cx="2953512" cy="1783080"/>
          </a:xfrm>
          <a:prstGeom prst="rect">
            <a:avLst/>
          </a:prstGeom>
          <a:noFill/>
        </p:spPr>
        <p:txBody>
          <a:bodyPr wrap="square" anchor="t" lIns="0" rIns="0" tIns="0" bIns="0">
            <a:spAutoFit/>
          </a:bodyPr>
          <a:lstStyle/>
          <a:p>
            <a:pPr algn="l">
              <a:lnSpc>
                <a:spcPct val="125000"/>
              </a:lnSpc>
              <a:spcAft>
                <a:spcPts val="600"/>
              </a:spcAft>
            </a:pPr>
            <a:r>
              <a:rPr sz="1000" b="1">
                <a:solidFill>
                  <a:srgbClr val="BE3A34"/>
                </a:solidFill>
                <a:latin typeface="Yu Gothic"/>
                <a:ea typeface="Yu Gothic"/>
              </a:rPr>
              <a:t>人材ビジネス主要3業界(2024年度)</a:t>
            </a:r>
          </a:p>
          <a:p>
            <a:pPr algn="l">
              <a:lnSpc>
                <a:spcPct val="125000"/>
              </a:lnSpc>
              <a:spcAft>
                <a:spcPts val="600"/>
              </a:spcAft>
            </a:pPr>
            <a:r>
              <a:rPr sz="2700" b="1">
                <a:solidFill>
                  <a:srgbClr val="20242E"/>
                </a:solidFill>
                <a:latin typeface="Yu Gothic"/>
                <a:ea typeface="Yu Gothic"/>
              </a:rPr>
              <a:t>9.8兆円</a:t>
            </a:r>
            <a:r>
              <a:rPr sz="1100" b="0">
                <a:solidFill>
                  <a:srgbClr val="545B6B"/>
                </a:solidFill>
                <a:latin typeface="Yu Gothic"/>
                <a:ea typeface="Yu Gothic"/>
              </a:rPr>
              <a:t>  前年度比 +3.4%</a:t>
            </a:r>
          </a:p>
          <a:p>
            <a:pPr algn="l">
              <a:lnSpc>
                <a:spcPct val="125000"/>
              </a:lnSpc>
              <a:spcAft>
                <a:spcPts val="600"/>
              </a:spcAft>
            </a:pPr>
            <a:r>
              <a:rPr sz="1000" b="0">
                <a:solidFill>
                  <a:srgbClr val="545B6B"/>
                </a:solidFill>
                <a:latin typeface="Yu Gothic"/>
                <a:ea typeface="Yu Gothic"/>
              </a:rPr>
              <a:t>2025年度は10.1兆円へ拡大見込み。派遣9.3兆円・人材紹介4,490億円・再就職支援252億円。</a:t>
            </a:r>
          </a:p>
        </p:txBody>
      </p:sp>
      <p:sp>
        <p:nvSpPr>
          <p:cNvPr id="8" name="Rounded Rectangle 7"/>
          <p:cNvSpPr/>
          <p:nvPr/>
        </p:nvSpPr>
        <p:spPr>
          <a:xfrm>
            <a:off x="4398264" y="2377440"/>
            <a:ext cx="3392424" cy="21488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560320"/>
            <a:ext cx="2953512" cy="1783080"/>
          </a:xfrm>
          <a:prstGeom prst="rect">
            <a:avLst/>
          </a:prstGeom>
          <a:noFill/>
        </p:spPr>
        <p:txBody>
          <a:bodyPr wrap="square" anchor="t" lIns="0" rIns="0" tIns="0" bIns="0">
            <a:spAutoFit/>
          </a:bodyPr>
          <a:lstStyle/>
          <a:p>
            <a:pPr algn="l">
              <a:lnSpc>
                <a:spcPct val="125000"/>
              </a:lnSpc>
              <a:spcAft>
                <a:spcPts val="600"/>
              </a:spcAft>
            </a:pPr>
            <a:r>
              <a:rPr sz="1000" b="1">
                <a:solidFill>
                  <a:srgbClr val="BE3A34"/>
                </a:solidFill>
                <a:latin typeface="Yu Gothic"/>
                <a:ea typeface="Yu Gothic"/>
              </a:rPr>
              <a:t>人材紹介の成長率(2024年度)</a:t>
            </a:r>
          </a:p>
          <a:p>
            <a:pPr algn="l">
              <a:lnSpc>
                <a:spcPct val="125000"/>
              </a:lnSpc>
              <a:spcAft>
                <a:spcPts val="600"/>
              </a:spcAft>
            </a:pPr>
            <a:r>
              <a:rPr sz="2700" b="1">
                <a:solidFill>
                  <a:srgbClr val="20242E"/>
                </a:solidFill>
                <a:latin typeface="Yu Gothic"/>
                <a:ea typeface="Yu Gothic"/>
              </a:rPr>
              <a:t>+12.0%</a:t>
            </a:r>
            <a:r>
              <a:rPr sz="1100" b="0">
                <a:solidFill>
                  <a:srgbClr val="545B6B"/>
                </a:solidFill>
                <a:latin typeface="Yu Gothic"/>
                <a:ea typeface="Yu Gothic"/>
              </a:rPr>
              <a:t>  3業界で突出</a:t>
            </a:r>
          </a:p>
          <a:p>
            <a:pPr algn="l">
              <a:lnSpc>
                <a:spcPct val="125000"/>
              </a:lnSpc>
              <a:spcAft>
                <a:spcPts val="600"/>
              </a:spcAft>
            </a:pPr>
            <a:r>
              <a:rPr sz="1000" b="0">
                <a:solidFill>
                  <a:srgbClr val="545B6B"/>
                </a:solidFill>
                <a:latin typeface="Yu Gothic"/>
                <a:ea typeface="Yu Gothic"/>
              </a:rPr>
              <a:t>ハイクラス・ミドル・専門職の紹介に需要が集中。単価の高い「決定」ビジネスが業界の利益成長を牽引。</a:t>
            </a:r>
          </a:p>
        </p:txBody>
      </p:sp>
      <p:sp>
        <p:nvSpPr>
          <p:cNvPr id="10" name="Rounded Rectangle 9"/>
          <p:cNvSpPr/>
          <p:nvPr/>
        </p:nvSpPr>
        <p:spPr>
          <a:xfrm>
            <a:off x="7973568" y="2377440"/>
            <a:ext cx="3392424" cy="21488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2560320"/>
            <a:ext cx="2953512" cy="1783080"/>
          </a:xfrm>
          <a:prstGeom prst="rect">
            <a:avLst/>
          </a:prstGeom>
          <a:noFill/>
        </p:spPr>
        <p:txBody>
          <a:bodyPr wrap="square" anchor="t" lIns="0" rIns="0" tIns="0" bIns="0">
            <a:spAutoFit/>
          </a:bodyPr>
          <a:lstStyle/>
          <a:p>
            <a:pPr algn="l">
              <a:lnSpc>
                <a:spcPct val="125000"/>
              </a:lnSpc>
              <a:spcAft>
                <a:spcPts val="600"/>
              </a:spcAft>
            </a:pPr>
            <a:r>
              <a:rPr sz="1000" b="1">
                <a:solidFill>
                  <a:srgbClr val="BE3A34"/>
                </a:solidFill>
                <a:latin typeface="Yu Gothic"/>
                <a:ea typeface="Yu Gothic"/>
              </a:rPr>
              <a:t>構造要因</a:t>
            </a:r>
          </a:p>
          <a:p>
            <a:pPr algn="l">
              <a:lnSpc>
                <a:spcPct val="125000"/>
              </a:lnSpc>
              <a:spcAft>
                <a:spcPts val="600"/>
              </a:spcAft>
            </a:pPr>
            <a:r>
              <a:rPr sz="2700" b="1">
                <a:solidFill>
                  <a:srgbClr val="20242E"/>
                </a:solidFill>
                <a:latin typeface="Yu Gothic"/>
                <a:ea typeface="Yu Gothic"/>
              </a:rPr>
              <a:t>人手不足</a:t>
            </a:r>
            <a:r>
              <a:rPr sz="1100" b="0">
                <a:solidFill>
                  <a:srgbClr val="545B6B"/>
                </a:solidFill>
                <a:latin typeface="Yu Gothic"/>
                <a:ea typeface="Yu Gothic"/>
              </a:rPr>
              <a:t>  の恒常化</a:t>
            </a:r>
          </a:p>
          <a:p>
            <a:pPr algn="l">
              <a:lnSpc>
                <a:spcPct val="125000"/>
              </a:lnSpc>
              <a:spcAft>
                <a:spcPts val="600"/>
              </a:spcAft>
            </a:pPr>
            <a:r>
              <a:rPr sz="1000" b="0">
                <a:solidFill>
                  <a:srgbClr val="545B6B"/>
                </a:solidFill>
                <a:latin typeface="Yu Gothic"/>
                <a:ea typeface="Yu Gothic"/>
              </a:rPr>
              <a:t>生産年齢人口の減少で、企業の採用難は景気循環ではなく構造に。求職者データベースの厚みが競争力を決める。</a:t>
            </a:r>
          </a:p>
        </p:txBody>
      </p:sp>
      <p:sp>
        <p:nvSpPr>
          <p:cNvPr id="12" name="Rounded Rectangle 11"/>
          <p:cNvSpPr/>
          <p:nvPr/>
        </p:nvSpPr>
        <p:spPr>
          <a:xfrm>
            <a:off x="822960" y="4892040"/>
            <a:ext cx="10543032" cy="86868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892040"/>
            <a:ext cx="54864" cy="86868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056632"/>
            <a:ext cx="10040112" cy="548640"/>
          </a:xfrm>
          <a:prstGeom prst="rect">
            <a:avLst/>
          </a:prstGeom>
          <a:noFill/>
        </p:spPr>
        <p:txBody>
          <a:bodyPr wrap="square" anchor="t" lIns="0" rIns="0" tIns="0" bIns="0">
            <a:spAutoFit/>
          </a:bodyPr>
          <a:lstStyle/>
          <a:p>
            <a:pPr algn="l">
              <a:lnSpc>
                <a:spcPct val="140000"/>
              </a:lnSpc>
              <a:spcAft>
                <a:spcPts val="400"/>
              </a:spcAft>
            </a:pPr>
            <a:r>
              <a:rPr sz="1200" b="0">
                <a:solidFill>
                  <a:srgbClr val="545B6B"/>
                </a:solidFill>
                <a:latin typeface="Yu Gothic"/>
                <a:ea typeface="Yu Gothic"/>
              </a:rPr>
              <a:t>企業課金で稼ぐこの業界の勝敗は、</a:t>
            </a:r>
            <a:r>
              <a:rPr sz="1200" b="1">
                <a:solidFill>
                  <a:srgbClr val="20242E"/>
                </a:solidFill>
                <a:latin typeface="Yu Gothic"/>
                <a:ea typeface="Yu Gothic"/>
              </a:rPr>
              <a:t>「求職者にどれだけ想起され、選ばれるか」</a:t>
            </a:r>
            <a:r>
              <a:rPr sz="1200" b="0">
                <a:solidFill>
                  <a:srgbClr val="545B6B"/>
                </a:solidFill>
                <a:latin typeface="Yu Gothic"/>
                <a:ea typeface="Yu Gothic"/>
              </a:rPr>
              <a:t>で決まる構造になった — ここがプロモーション戦略の出発点です。</a:t>
            </a:r>
          </a:p>
        </p:txBody>
      </p:sp>
      <p:sp>
        <p:nvSpPr>
          <p:cNvPr id="15" name="TextBox 14"/>
          <p:cNvSpPr txBox="1"/>
          <p:nvPr/>
        </p:nvSpPr>
        <p:spPr>
          <a:xfrm>
            <a:off x="822960" y="6355080"/>
            <a:ext cx="9144000" cy="320040"/>
          </a:xfrm>
          <a:prstGeom prst="rect">
            <a:avLst/>
          </a:prstGeom>
          <a:noFill/>
        </p:spPr>
        <p:txBody>
          <a:bodyPr wrap="square" anchor="t" lIns="0" rIns="0" tIns="0" bIns="0">
            <a:spAutoFit/>
          </a:bodyPr>
          <a:lstStyle/>
          <a:p>
            <a:pPr algn="l">
              <a:lnSpc>
                <a:spcPct val="125000"/>
              </a:lnSpc>
              <a:spcAft>
                <a:spcPts val="400"/>
              </a:spcAft>
            </a:pPr>
            <a:r>
              <a:rPr sz="850" b="0">
                <a:solidFill>
                  <a:srgbClr val="8A92A3"/>
                </a:solidFill>
                <a:latin typeface="Yu Gothic"/>
                <a:ea typeface="Yu Gothic"/>
              </a:rPr>
              <a:t>出典: 矢野経済研究所「人材ビジネス市場に関する調査(2025年)」</a:t>
            </a:r>
          </a:p>
        </p:txBody>
      </p:sp>
      <p:sp>
        <p:nvSpPr>
          <p:cNvPr id="16" name="TextBox 15"/>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02 — 業界のプロモーション戦略</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勝敗を動かしてきたのは、機能ではなく</a:t>
            </a:r>
            <a:r>
              <a:rPr sz="2700" b="1">
                <a:solidFill>
                  <a:srgbClr val="BE3A34"/>
                </a:solidFill>
                <a:latin typeface="Yu Gothic"/>
                <a:ea typeface="Yu Gothic"/>
              </a:rPr>
              <a:t>「広告記号」</a:t>
            </a:r>
          </a:p>
        </p:txBody>
      </p:sp>
      <p:sp>
        <p:nvSpPr>
          <p:cNvPr id="5" name="TextBox 4"/>
          <p:cNvSpPr txBox="1"/>
          <p:nvPr/>
        </p:nvSpPr>
        <p:spPr>
          <a:xfrm>
            <a:off x="822960" y="1600200"/>
            <a:ext cx="9692640" cy="914400"/>
          </a:xfrm>
          <a:prstGeom prst="rect">
            <a:avLst/>
          </a:prstGeom>
          <a:noFill/>
        </p:spPr>
        <p:txBody>
          <a:bodyPr wrap="square" anchor="t" lIns="0" rIns="0" tIns="0" bIns="0">
            <a:spAutoFit/>
          </a:bodyPr>
          <a:lstStyle/>
          <a:p>
            <a:pPr algn="l">
              <a:lnSpc>
                <a:spcPct val="140000"/>
              </a:lnSpc>
              <a:spcAft>
                <a:spcPts val="400"/>
              </a:spcAft>
            </a:pPr>
            <a:r>
              <a:rPr sz="1250" b="0">
                <a:solidFill>
                  <a:srgbClr val="545B6B"/>
                </a:solidFill>
                <a:latin typeface="Yu Gothic"/>
                <a:ea typeface="Yu Gothic"/>
              </a:rPr>
              <a:t>この10年、転職サービスの地図を塗り替えた会社は、例外なく「一目で思い出せる記号」に集中投資しています。</a:t>
            </a:r>
          </a:p>
        </p:txBody>
      </p:sp>
      <p:sp>
        <p:nvSpPr>
          <p:cNvPr id="6" name="Rounded Rectangle 5"/>
          <p:cNvSpPr/>
          <p:nvPr/>
        </p:nvSpPr>
        <p:spPr>
          <a:xfrm>
            <a:off x="822960" y="2331720"/>
            <a:ext cx="5175504" cy="23774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478024"/>
            <a:ext cx="4773168" cy="210312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先例 1 — 同業界</a:t>
            </a:r>
          </a:p>
          <a:p>
            <a:pPr algn="l">
              <a:lnSpc>
                <a:spcPct val="130000"/>
              </a:lnSpc>
              <a:spcAft>
                <a:spcPts val="500"/>
              </a:spcAft>
            </a:pPr>
            <a:r>
              <a:rPr sz="1300" b="1">
                <a:solidFill>
                  <a:srgbClr val="20242E"/>
                </a:solidFill>
                <a:latin typeface="Yu Gothic"/>
                <a:ea typeface="Yu Gothic"/>
              </a:rPr>
              <a:t>ビズリーチ:「音」の記号で市場を取った</a:t>
            </a:r>
          </a:p>
          <a:p>
            <a:pPr algn="l">
              <a:lnSpc>
                <a:spcPct val="130000"/>
              </a:lnSpc>
              <a:spcAft>
                <a:spcPts val="500"/>
              </a:spcAft>
            </a:pPr>
            <a:r>
              <a:rPr sz="1050" b="0">
                <a:solidFill>
                  <a:srgbClr val="545B6B"/>
                </a:solidFill>
                <a:latin typeface="Yu Gothic"/>
                <a:ea typeface="Yu Gothic"/>
              </a:rPr>
              <a:t>「ビズリーーーチ!」という一つの音と決めポーズにTVCM投資を集中。人事担当者の認知率は9%から60〜70%へ(関東では10%→79%)。導入企業数は約2倍、事業売上3.4倍。機能説明ではなく“記号の刷り込み”が、後発を業界の主役に押し上げた。</a:t>
            </a:r>
          </a:p>
        </p:txBody>
      </p:sp>
      <p:sp>
        <p:nvSpPr>
          <p:cNvPr id="8" name="Rounded Rectangle 7"/>
          <p:cNvSpPr/>
          <p:nvPr/>
        </p:nvSpPr>
        <p:spPr>
          <a:xfrm>
            <a:off x="6181344" y="2331720"/>
            <a:ext cx="5175504" cy="23774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2478024"/>
            <a:ext cx="4773168" cy="210312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先例 2 — 隣接業界</a:t>
            </a:r>
          </a:p>
          <a:p>
            <a:pPr algn="l">
              <a:lnSpc>
                <a:spcPct val="130000"/>
              </a:lnSpc>
              <a:spcAft>
                <a:spcPts val="500"/>
              </a:spcAft>
            </a:pPr>
            <a:r>
              <a:rPr sz="1300" b="1">
                <a:solidFill>
                  <a:srgbClr val="20242E"/>
                </a:solidFill>
                <a:latin typeface="Yu Gothic"/>
                <a:ea typeface="Yu Gothic"/>
              </a:rPr>
              <a:t>通信:キャラクターで想起を独占</a:t>
            </a:r>
          </a:p>
          <a:p>
            <a:pPr algn="l">
              <a:lnSpc>
                <a:spcPct val="130000"/>
              </a:lnSpc>
              <a:spcAft>
                <a:spcPts val="500"/>
              </a:spcAft>
            </a:pPr>
            <a:r>
              <a:rPr sz="1050" b="0">
                <a:solidFill>
                  <a:srgbClr val="545B6B"/>
                </a:solidFill>
                <a:latin typeface="Yu Gothic"/>
                <a:ea typeface="Yu Gothic"/>
              </a:rPr>
              <a:t>ソフトバンク「白戸家」、au「三太郎」— 料金・品質の差が縮まった通信各社は、キャラクター物語広告に年間数十億円規模を投じ、10年以上ブランド想起の上位を独占。機能均質の業界ほど物語が効くことの実証。</a:t>
            </a:r>
          </a:p>
        </p:txBody>
      </p:sp>
      <p:sp>
        <p:nvSpPr>
          <p:cNvPr id="10" name="Rounded Rectangle 9"/>
          <p:cNvSpPr/>
          <p:nvPr/>
        </p:nvSpPr>
        <p:spPr>
          <a:xfrm>
            <a:off x="822960" y="4983480"/>
            <a:ext cx="10543032" cy="9144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4983480"/>
            <a:ext cx="54864" cy="91440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148072"/>
            <a:ext cx="10040112" cy="594360"/>
          </a:xfrm>
          <a:prstGeom prst="rect">
            <a:avLst/>
          </a:prstGeom>
          <a:noFill/>
        </p:spPr>
        <p:txBody>
          <a:bodyPr wrap="square" anchor="t" lIns="0" rIns="0" tIns="0" bIns="0">
            <a:spAutoFit/>
          </a:bodyPr>
          <a:lstStyle/>
          <a:p>
            <a:pPr algn="l">
              <a:lnSpc>
                <a:spcPct val="140000"/>
              </a:lnSpc>
              <a:spcAft>
                <a:spcPts val="400"/>
              </a:spcAft>
            </a:pPr>
            <a:r>
              <a:rPr sz="1200" b="1">
                <a:solidFill>
                  <a:srgbClr val="20242E"/>
                </a:solidFill>
                <a:latin typeface="Yu Gothic"/>
                <a:ea typeface="Yu Gothic"/>
              </a:rPr>
              <a:t>エンの選択肢は2つ。</a:t>
            </a:r>
            <a:r>
              <a:rPr sz="1200" b="0">
                <a:solidFill>
                  <a:srgbClr val="545B6B"/>
                </a:solidFill>
                <a:latin typeface="Yu Gothic"/>
                <a:ea typeface="Yu Gothic"/>
              </a:rPr>
              <a:t>ゼロから記号を育てる(ビズリーチは数年と巨額のGRPを要した)か、</a:t>
            </a:r>
          </a:p>
          <a:p>
            <a:pPr algn="l">
              <a:lnSpc>
                <a:spcPct val="140000"/>
              </a:lnSpc>
              <a:spcAft>
                <a:spcPts val="400"/>
              </a:spcAft>
            </a:pPr>
            <a:r>
              <a:rPr sz="1200" b="1">
                <a:solidFill>
                  <a:srgbClr val="BE3A34"/>
                </a:solidFill>
                <a:latin typeface="Yu Gothic"/>
                <a:ea typeface="Yu Gothic"/>
              </a:rPr>
              <a:t>すでに完成した国民的記号を借りて、業界で独占するか(本提案)。</a:t>
            </a:r>
          </a:p>
        </p:txBody>
      </p:sp>
      <p:sp>
        <p:nvSpPr>
          <p:cNvPr id="13" name="TextBox 12"/>
          <p:cNvSpPr txBox="1"/>
          <p:nvPr/>
        </p:nvSpPr>
        <p:spPr>
          <a:xfrm>
            <a:off x="822960" y="6355080"/>
            <a:ext cx="9144000" cy="320040"/>
          </a:xfrm>
          <a:prstGeom prst="rect">
            <a:avLst/>
          </a:prstGeom>
          <a:noFill/>
        </p:spPr>
        <p:txBody>
          <a:bodyPr wrap="square" anchor="t" lIns="0" rIns="0" tIns="0" bIns="0">
            <a:spAutoFit/>
          </a:bodyPr>
          <a:lstStyle/>
          <a:p>
            <a:pPr algn="l">
              <a:lnSpc>
                <a:spcPct val="125000"/>
              </a:lnSpc>
              <a:spcAft>
                <a:spcPts val="400"/>
              </a:spcAft>
            </a:pPr>
            <a:r>
              <a:rPr sz="850" b="0">
                <a:solidFill>
                  <a:srgbClr val="8A92A3"/>
                </a:solidFill>
                <a:latin typeface="Yu Gothic"/>
                <a:ea typeface="Yu Gothic"/>
              </a:rPr>
              <a:t>出典: ダイヤモンド・オンライン / SELECK / ビデオリサーチ各インタビュー(公開情報)</a:t>
            </a:r>
          </a:p>
        </p:txBody>
      </p:sp>
      <p:sp>
        <p:nvSpPr>
          <p:cNvPr id="14" name="TextBox 13"/>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03 — 貴社の現在地(中計と直近方針)</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再投資フェーズの今、問われるのは「広告の質」</a:t>
            </a:r>
          </a:p>
        </p:txBody>
      </p:sp>
      <p:sp>
        <p:nvSpPr>
          <p:cNvPr id="5" name="Rounded Rectangle 4"/>
          <p:cNvSpPr/>
          <p:nvPr/>
        </p:nvSpPr>
        <p:spPr>
          <a:xfrm>
            <a:off x="822960" y="1828800"/>
            <a:ext cx="3392424" cy="25146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2990088" cy="22402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中期経営計画(FY2023–27)</a:t>
            </a:r>
          </a:p>
          <a:p>
            <a:pPr algn="l">
              <a:lnSpc>
                <a:spcPct val="130000"/>
              </a:lnSpc>
              <a:spcAft>
                <a:spcPts val="500"/>
              </a:spcAft>
            </a:pPr>
            <a:r>
              <a:rPr sz="1300" b="1">
                <a:solidFill>
                  <a:srgbClr val="20242E"/>
                </a:solidFill>
                <a:latin typeface="Yu Gothic"/>
                <a:ea typeface="Yu Gothic"/>
              </a:rPr>
              <a:t>売上1,200億・営業利益240億へ</a:t>
            </a:r>
          </a:p>
          <a:p>
            <a:pPr algn="l">
              <a:lnSpc>
                <a:spcPct val="130000"/>
              </a:lnSpc>
              <a:spcAft>
                <a:spcPts val="500"/>
              </a:spcAft>
            </a:pPr>
            <a:r>
              <a:rPr sz="1050" b="0">
                <a:solidFill>
                  <a:srgbClr val="545B6B"/>
                </a:solidFill>
                <a:latin typeface="Yu Gothic"/>
                <a:ea typeface="Yu Gothic"/>
              </a:rPr>
              <a:t>engage・AMBIを「投資事業」として既存事業と並ぶ第2の柱に育てる5年間。最終年度目標は策定時業績の2倍強という野心的な水準。</a:t>
            </a:r>
          </a:p>
        </p:txBody>
      </p:sp>
      <p:sp>
        <p:nvSpPr>
          <p:cNvPr id="7" name="Rounded Rectangle 6"/>
          <p:cNvSpPr/>
          <p:nvPr/>
        </p:nvSpPr>
        <p:spPr>
          <a:xfrm>
            <a:off x="4398264" y="1828800"/>
            <a:ext cx="3392424" cy="25146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975104"/>
            <a:ext cx="2990088" cy="22402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FY2025の学び</a:t>
            </a:r>
          </a:p>
          <a:p>
            <a:pPr algn="l">
              <a:lnSpc>
                <a:spcPct val="130000"/>
              </a:lnSpc>
              <a:spcAft>
                <a:spcPts val="500"/>
              </a:spcAft>
            </a:pPr>
            <a:r>
              <a:rPr sz="1300" b="1">
                <a:solidFill>
                  <a:srgbClr val="20242E"/>
                </a:solidFill>
                <a:latin typeface="Yu Gothic"/>
                <a:ea typeface="Yu Gothic"/>
              </a:rPr>
              <a:t>広告を絞れば、成長も止まる</a:t>
            </a:r>
          </a:p>
          <a:p>
            <a:pPr algn="l">
              <a:lnSpc>
                <a:spcPct val="130000"/>
              </a:lnSpc>
              <a:spcAft>
                <a:spcPts val="500"/>
              </a:spcAft>
            </a:pPr>
            <a:r>
              <a:rPr sz="1050" b="0">
                <a:solidFill>
                  <a:srgbClr val="545B6B"/>
                </a:solidFill>
                <a:latin typeface="Yu Gothic"/>
                <a:ea typeface="Yu Gothic"/>
              </a:rPr>
              <a:t>エン転職の広告宣伝費を効率化(前年比約▲20%)し増益を確保。一方で国内求人サイト売上は約▲15%。「広告費と成長が直結する」事業構造が、数字ではっきり見えた1年。</a:t>
            </a:r>
          </a:p>
        </p:txBody>
      </p:sp>
      <p:sp>
        <p:nvSpPr>
          <p:cNvPr id="9" name="Rounded Rectangle 8"/>
          <p:cNvSpPr/>
          <p:nvPr/>
        </p:nvSpPr>
        <p:spPr>
          <a:xfrm>
            <a:off x="7973568" y="1828800"/>
            <a:ext cx="3392424" cy="25146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75104"/>
            <a:ext cx="2990088" cy="22402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FY2026方針</a:t>
            </a:r>
          </a:p>
          <a:p>
            <a:pPr algn="l">
              <a:lnSpc>
                <a:spcPct val="130000"/>
              </a:lnSpc>
              <a:spcAft>
                <a:spcPts val="500"/>
              </a:spcAft>
            </a:pPr>
            <a:r>
              <a:rPr sz="1300" b="1">
                <a:solidFill>
                  <a:srgbClr val="20242E"/>
                </a:solidFill>
                <a:latin typeface="Yu Gothic"/>
                <a:ea typeface="Yu Gothic"/>
              </a:rPr>
              <a:t>エン転職 再強化 = 再投資の号砲</a:t>
            </a:r>
          </a:p>
          <a:p>
            <a:pPr algn="l">
              <a:lnSpc>
                <a:spcPct val="130000"/>
              </a:lnSpc>
              <a:spcAft>
                <a:spcPts val="500"/>
              </a:spcAft>
            </a:pPr>
            <a:r>
              <a:rPr sz="1050" b="0">
                <a:solidFill>
                  <a:srgbClr val="545B6B"/>
                </a:solidFill>
                <a:latin typeface="Yu Gothic"/>
                <a:ea typeface="Yu Gothic"/>
              </a:rPr>
              <a:t>今期はエン転職を中心に再強化し「入社決定数の増加」を掲げる。広告への再投資が始まる、まさにこのタイミングで「何に投資するか」が中計後半の勝敗を分ける。</a:t>
            </a:r>
          </a:p>
        </p:txBody>
      </p:sp>
      <p:sp>
        <p:nvSpPr>
          <p:cNvPr id="11" name="Rounded Rectangle 10"/>
          <p:cNvSpPr/>
          <p:nvPr/>
        </p:nvSpPr>
        <p:spPr>
          <a:xfrm>
            <a:off x="822960" y="4754880"/>
            <a:ext cx="10543032" cy="10058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754880"/>
            <a:ext cx="54864" cy="100584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19472"/>
            <a:ext cx="10040112" cy="685800"/>
          </a:xfrm>
          <a:prstGeom prst="rect">
            <a:avLst/>
          </a:prstGeom>
          <a:noFill/>
        </p:spPr>
        <p:txBody>
          <a:bodyPr wrap="square" anchor="t" lIns="0" rIns="0" tIns="0" bIns="0">
            <a:spAutoFit/>
          </a:bodyPr>
          <a:lstStyle/>
          <a:p>
            <a:pPr algn="l">
              <a:lnSpc>
                <a:spcPct val="140000"/>
              </a:lnSpc>
              <a:spcAft>
                <a:spcPts val="400"/>
              </a:spcAft>
            </a:pPr>
            <a:r>
              <a:rPr sz="1200" b="0">
                <a:solidFill>
                  <a:srgbClr val="545B6B"/>
                </a:solidFill>
                <a:latin typeface="Yu Gothic"/>
                <a:ea typeface="Yu Gothic"/>
              </a:rPr>
              <a:t>同じ再投資でも、出稿を止めれば消える「量の広告」と、蓄積して独占できる「資産になる物語」がある。</a:t>
            </a:r>
          </a:p>
          <a:p>
            <a:pPr algn="l">
              <a:lnSpc>
                <a:spcPct val="140000"/>
              </a:lnSpc>
              <a:spcAft>
                <a:spcPts val="400"/>
              </a:spcAft>
            </a:pPr>
            <a:r>
              <a:rPr sz="1200" b="1">
                <a:solidFill>
                  <a:srgbClr val="20242E"/>
                </a:solidFill>
                <a:latin typeface="Yu Gothic"/>
                <a:ea typeface="Yu Gothic"/>
              </a:rPr>
              <a:t>本提案は後者 — 再強化投資の一部を、業界初の資産に振り向ける提案です。</a:t>
            </a:r>
          </a:p>
        </p:txBody>
      </p:sp>
      <p:sp>
        <p:nvSpPr>
          <p:cNvPr id="14" name="TextBox 13"/>
          <p:cNvSpPr txBox="1"/>
          <p:nvPr/>
        </p:nvSpPr>
        <p:spPr>
          <a:xfrm>
            <a:off x="822960" y="6355080"/>
            <a:ext cx="9144000" cy="320040"/>
          </a:xfrm>
          <a:prstGeom prst="rect">
            <a:avLst/>
          </a:prstGeom>
          <a:noFill/>
        </p:spPr>
        <p:txBody>
          <a:bodyPr wrap="square" anchor="t" lIns="0" rIns="0" tIns="0" bIns="0">
            <a:spAutoFit/>
          </a:bodyPr>
          <a:lstStyle/>
          <a:p>
            <a:pPr algn="l">
              <a:lnSpc>
                <a:spcPct val="125000"/>
              </a:lnSpc>
              <a:spcAft>
                <a:spcPts val="400"/>
              </a:spcAft>
            </a:pPr>
            <a:r>
              <a:rPr sz="850" b="0">
                <a:solidFill>
                  <a:srgbClr val="8A92A3"/>
                </a:solidFill>
                <a:latin typeface="Yu Gothic"/>
                <a:ea typeface="Yu Gothic"/>
              </a:rPr>
              <a:t>出典: 貴社 中期経営計画(2022年5月策定)・2025年3月期通期決算説明資料(公開情報)</a:t>
            </a:r>
          </a:p>
        </p:txBody>
      </p:sp>
      <p:sp>
        <p:nvSpPr>
          <p:cNvPr id="15" name="TextBox 14"/>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1188720"/>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04 — 問題提起</a:t>
            </a:r>
          </a:p>
        </p:txBody>
      </p:sp>
      <p:sp>
        <p:nvSpPr>
          <p:cNvPr id="3" name="Rectangle 2"/>
          <p:cNvSpPr/>
          <p:nvPr/>
        </p:nvSpPr>
        <p:spPr>
          <a:xfrm>
            <a:off x="4846320" y="1307592"/>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43032" cy="1737360"/>
          </a:xfrm>
          <a:prstGeom prst="rect">
            <a:avLst/>
          </a:prstGeom>
          <a:noFill/>
        </p:spPr>
        <p:txBody>
          <a:bodyPr wrap="square" anchor="t" lIns="0" rIns="0" tIns="0" bIns="0">
            <a:spAutoFit/>
          </a:bodyPr>
          <a:lstStyle/>
          <a:p>
            <a:pPr algn="l">
              <a:lnSpc>
                <a:spcPct val="140000"/>
              </a:lnSpc>
              <a:spcAft>
                <a:spcPts val="400"/>
              </a:spcAft>
            </a:pPr>
            <a:r>
              <a:rPr sz="3000" b="1">
                <a:solidFill>
                  <a:srgbClr val="20242E"/>
                </a:solidFill>
                <a:latin typeface="Yu Gothic"/>
                <a:ea typeface="Yu Gothic"/>
              </a:rPr>
              <a:t>広告費は、使えば消える。</a:t>
            </a:r>
          </a:p>
          <a:p>
            <a:pPr algn="l">
              <a:lnSpc>
                <a:spcPct val="140000"/>
              </a:lnSpc>
              <a:spcAft>
                <a:spcPts val="400"/>
              </a:spcAft>
            </a:pPr>
            <a:r>
              <a:rPr sz="3000" b="1">
                <a:solidFill>
                  <a:srgbClr val="20242E"/>
                </a:solidFill>
                <a:latin typeface="Yu Gothic"/>
                <a:ea typeface="Yu Gothic"/>
              </a:rPr>
              <a:t>物語は、</a:t>
            </a:r>
            <a:r>
              <a:rPr sz="3000" b="1">
                <a:solidFill>
                  <a:srgbClr val="BE3A34"/>
                </a:solidFill>
                <a:latin typeface="Yu Gothic"/>
                <a:ea typeface="Yu Gothic"/>
              </a:rPr>
              <a:t>資産として残る</a:t>
            </a:r>
            <a:r>
              <a:rPr sz="3000" b="1">
                <a:solidFill>
                  <a:srgbClr val="20242E"/>
                </a:solidFill>
                <a:latin typeface="Yu Gothic"/>
                <a:ea typeface="Yu Gothic"/>
              </a:rPr>
              <a:t>。</a:t>
            </a:r>
          </a:p>
        </p:txBody>
      </p:sp>
      <p:sp>
        <p:nvSpPr>
          <p:cNvPr id="5" name="TextBox 4"/>
          <p:cNvSpPr txBox="1"/>
          <p:nvPr/>
        </p:nvSpPr>
        <p:spPr>
          <a:xfrm>
            <a:off x="822960" y="3931920"/>
            <a:ext cx="9692640" cy="1645920"/>
          </a:xfrm>
          <a:prstGeom prst="rect">
            <a:avLst/>
          </a:prstGeom>
          <a:noFill/>
        </p:spPr>
        <p:txBody>
          <a:bodyPr wrap="square" anchor="t" lIns="0" rIns="0" tIns="0" bIns="0">
            <a:spAutoFit/>
          </a:bodyPr>
          <a:lstStyle/>
          <a:p>
            <a:pPr algn="l">
              <a:lnSpc>
                <a:spcPct val="150000"/>
              </a:lnSpc>
              <a:spcAft>
                <a:spcPts val="300"/>
              </a:spcAft>
            </a:pPr>
            <a:r>
              <a:rPr sz="1300" b="0">
                <a:solidFill>
                  <a:srgbClr val="545B6B"/>
                </a:solidFill>
                <a:latin typeface="Yu Gothic"/>
                <a:ea typeface="Yu Gothic"/>
              </a:rPr>
              <a:t>タレントも出稿量も、止めた瞬間に忘れられます。契約が切れれば競合のCMに現れることさえある。</a:t>
            </a:r>
          </a:p>
          <a:p>
            <a:pPr algn="l">
              <a:lnSpc>
                <a:spcPct val="150000"/>
              </a:lnSpc>
              <a:spcAft>
                <a:spcPts val="300"/>
              </a:spcAft>
            </a:pPr>
            <a:r>
              <a:rPr sz="1300" b="0">
                <a:solidFill>
                  <a:srgbClr val="545B6B"/>
                </a:solidFill>
                <a:latin typeface="Yu Gothic"/>
                <a:ea typeface="Yu Gothic"/>
              </a:rPr>
              <a:t>一方でブランドの記号=キャラクターは、蓄積し、独占でき、次の10年使い続けられる。</a:t>
            </a:r>
          </a:p>
          <a:p>
            <a:pPr algn="l">
              <a:lnSpc>
                <a:spcPct val="150000"/>
              </a:lnSpc>
              <a:spcAft>
                <a:spcPts val="300"/>
              </a:spcAft>
            </a:pPr>
            <a:r>
              <a:rPr sz="1300" b="1">
                <a:solidFill>
                  <a:srgbClr val="20242E"/>
                </a:solidFill>
                <a:latin typeface="Yu Gothic"/>
                <a:ea typeface="Yu Gothic"/>
              </a:rPr>
              <a:t>エン転職の再強化投資を「消える広告」だけに使うのは惜しい — それが本提案の出発点です。</a:t>
            </a:r>
          </a:p>
        </p:txBody>
      </p:sp>
      <p:sp>
        <p:nvSpPr>
          <p:cNvPr id="6" name="TextBox 5"/>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05 — なぜウルトラマンか</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転職ボリュームゾーンの、ど真ん中にいるIP</a:t>
            </a:r>
          </a:p>
        </p:txBody>
      </p:sp>
      <p:sp>
        <p:nvSpPr>
          <p:cNvPr id="5" name="Rounded Rectangle 4"/>
          <p:cNvSpPr/>
          <p:nvPr/>
        </p:nvSpPr>
        <p:spPr>
          <a:xfrm>
            <a:off x="822960" y="1965960"/>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112264"/>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REASON 1</a:t>
            </a:r>
          </a:p>
          <a:p>
            <a:pPr algn="l">
              <a:lnSpc>
                <a:spcPct val="130000"/>
              </a:lnSpc>
              <a:spcAft>
                <a:spcPts val="500"/>
              </a:spcAft>
            </a:pPr>
            <a:r>
              <a:rPr sz="1300" b="1">
                <a:solidFill>
                  <a:srgbClr val="20242E"/>
                </a:solidFill>
                <a:latin typeface="Yu Gothic"/>
                <a:ea typeface="Yu Gothic"/>
              </a:rPr>
              <a:t>世代がぴったり重なる</a:t>
            </a:r>
          </a:p>
          <a:p>
            <a:pPr algn="l">
              <a:lnSpc>
                <a:spcPct val="130000"/>
              </a:lnSpc>
              <a:spcAft>
                <a:spcPts val="500"/>
              </a:spcAft>
            </a:pPr>
            <a:r>
              <a:rPr sz="1000" b="0">
                <a:solidFill>
                  <a:srgbClr val="545B6B"/>
                </a:solidFill>
                <a:latin typeface="Yu Gothic"/>
                <a:ea typeface="Yu Gothic"/>
              </a:rPr>
              <a:t>平成ウルトラマンで育った世代は、いま20〜40代 — 転職市場のボリュームゾーンそのもの。さらに親子二世代・三世代で通じる、稀有な国民的IP。</a:t>
            </a:r>
          </a:p>
        </p:txBody>
      </p:sp>
      <p:sp>
        <p:nvSpPr>
          <p:cNvPr id="7" name="Rounded Rectangle 6"/>
          <p:cNvSpPr/>
          <p:nvPr/>
        </p:nvSpPr>
        <p:spPr>
          <a:xfrm>
            <a:off x="6181344" y="1965960"/>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2112264"/>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REASON 2</a:t>
            </a:r>
          </a:p>
          <a:p>
            <a:pPr algn="l">
              <a:lnSpc>
                <a:spcPct val="130000"/>
              </a:lnSpc>
              <a:spcAft>
                <a:spcPts val="500"/>
              </a:spcAft>
            </a:pPr>
            <a:r>
              <a:rPr sz="1300" b="1">
                <a:solidFill>
                  <a:srgbClr val="20242E"/>
                </a:solidFill>
                <a:latin typeface="Yu Gothic"/>
                <a:ea typeface="Yu Gothic"/>
              </a:rPr>
              <a:t>物語構造が「入社後活躍」と同型</a:t>
            </a:r>
          </a:p>
          <a:p>
            <a:pPr algn="l">
              <a:lnSpc>
                <a:spcPct val="130000"/>
              </a:lnSpc>
              <a:spcAft>
                <a:spcPts val="500"/>
              </a:spcAft>
            </a:pPr>
            <a:r>
              <a:rPr sz="1000" b="0">
                <a:solidFill>
                  <a:srgbClr val="545B6B"/>
                </a:solidFill>
                <a:latin typeface="Yu Gothic"/>
                <a:ea typeface="Yu Gothic"/>
              </a:rPr>
              <a:t>ウルトラマンは変身して終わりではない。仲間とともに、使命のために戦い続けてこそヒーロー。「入社して終わりではなく、活躍してこそ」というエンの思想と同じ骨格を持つ。</a:t>
            </a:r>
          </a:p>
        </p:txBody>
      </p:sp>
      <p:sp>
        <p:nvSpPr>
          <p:cNvPr id="9" name="Rounded Rectangle 8"/>
          <p:cNvSpPr/>
          <p:nvPr/>
        </p:nvSpPr>
        <p:spPr>
          <a:xfrm>
            <a:off x="822960" y="4133088"/>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4279392"/>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REASON 3</a:t>
            </a:r>
          </a:p>
          <a:p>
            <a:pPr algn="l">
              <a:lnSpc>
                <a:spcPct val="130000"/>
              </a:lnSpc>
              <a:spcAft>
                <a:spcPts val="500"/>
              </a:spcAft>
            </a:pPr>
            <a:r>
              <a:rPr sz="1300" b="1">
                <a:solidFill>
                  <a:srgbClr val="20242E"/>
                </a:solidFill>
                <a:latin typeface="Yu Gothic"/>
                <a:ea typeface="Yu Gothic"/>
              </a:rPr>
              <a:t>アジアでの圧倒的認知</a:t>
            </a:r>
          </a:p>
          <a:p>
            <a:pPr algn="l">
              <a:lnSpc>
                <a:spcPct val="130000"/>
              </a:lnSpc>
              <a:spcAft>
                <a:spcPts val="500"/>
              </a:spcAft>
            </a:pPr>
            <a:r>
              <a:rPr sz="1000" b="0">
                <a:solidFill>
                  <a:srgbClr val="545B6B"/>
                </a:solidFill>
                <a:latin typeface="Yu Gothic"/>
                <a:ea typeface="Yu Gothic"/>
              </a:rPr>
              <a:t>中国・東南アジアで構造的に強い熱量。外国人材・グローバル採用領域(en world)との接続余地がある。</a:t>
            </a:r>
          </a:p>
        </p:txBody>
      </p:sp>
      <p:sp>
        <p:nvSpPr>
          <p:cNvPr id="11" name="Rounded Rectangle 10"/>
          <p:cNvSpPr/>
          <p:nvPr/>
        </p:nvSpPr>
        <p:spPr>
          <a:xfrm>
            <a:off x="6181344" y="4133088"/>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4279392"/>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REASON 4</a:t>
            </a:r>
          </a:p>
          <a:p>
            <a:pPr algn="l">
              <a:lnSpc>
                <a:spcPct val="130000"/>
              </a:lnSpc>
              <a:spcAft>
                <a:spcPts val="500"/>
              </a:spcAft>
            </a:pPr>
            <a:r>
              <a:rPr sz="1300" b="1">
                <a:solidFill>
                  <a:srgbClr val="20242E"/>
                </a:solidFill>
                <a:latin typeface="Yu Gothic"/>
                <a:ea typeface="Yu Gothic"/>
              </a:rPr>
              <a:t>ブランドセーフティの高さ</a:t>
            </a:r>
          </a:p>
          <a:p>
            <a:pPr algn="l">
              <a:lnSpc>
                <a:spcPct val="130000"/>
              </a:lnSpc>
              <a:spcAft>
                <a:spcPts val="500"/>
              </a:spcAft>
            </a:pPr>
            <a:r>
              <a:rPr sz="1000" b="0">
                <a:solidFill>
                  <a:srgbClr val="545B6B"/>
                </a:solidFill>
                <a:latin typeface="Yu Gothic"/>
                <a:ea typeface="Yu Gothic"/>
              </a:rPr>
              <a:t>子ども向けから大人向けまで企業タイアップの実績が豊富で、監修の型が確立。タレントと違い、炎上・降板リスクがない。</a:t>
            </a:r>
          </a:p>
        </p:txBody>
      </p:sp>
      <p:sp>
        <p:nvSpPr>
          <p:cNvPr id="13" name="TextBox 12"/>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777240"/>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06 — コンセプト</a:t>
            </a:r>
          </a:p>
        </p:txBody>
      </p:sp>
      <p:sp>
        <p:nvSpPr>
          <p:cNvPr id="3" name="Rectangle 2"/>
          <p:cNvSpPr/>
          <p:nvPr/>
        </p:nvSpPr>
        <p:spPr>
          <a:xfrm>
            <a:off x="4846320" y="896112"/>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543032" cy="914400"/>
          </a:xfrm>
          <a:prstGeom prst="rect">
            <a:avLst/>
          </a:prstGeom>
          <a:noFill/>
        </p:spPr>
        <p:txBody>
          <a:bodyPr wrap="square" anchor="t" lIns="0" rIns="0" tIns="0" bIns="0">
            <a:spAutoFit/>
          </a:bodyPr>
          <a:lstStyle/>
          <a:p>
            <a:pPr algn="l">
              <a:lnSpc>
                <a:spcPct val="125000"/>
              </a:lnSpc>
              <a:spcAft>
                <a:spcPts val="400"/>
              </a:spcAft>
            </a:pPr>
            <a:r>
              <a:rPr sz="3400" b="1">
                <a:solidFill>
                  <a:srgbClr val="20242E"/>
                </a:solidFill>
                <a:latin typeface="Yu Gothic"/>
                <a:ea typeface="Yu Gothic"/>
              </a:rPr>
              <a:t>「その転職は、</a:t>
            </a:r>
            <a:r>
              <a:rPr sz="3400" b="1">
                <a:solidFill>
                  <a:srgbClr val="BE3A34"/>
                </a:solidFill>
                <a:latin typeface="Yu Gothic"/>
                <a:ea typeface="Yu Gothic"/>
              </a:rPr>
              <a:t>変身</a:t>
            </a:r>
            <a:r>
              <a:rPr sz="3400" b="1">
                <a:solidFill>
                  <a:srgbClr val="20242E"/>
                </a:solidFill>
                <a:latin typeface="Yu Gothic"/>
                <a:ea typeface="Yu Gothic"/>
              </a:rPr>
              <a:t>だ。」</a:t>
            </a:r>
          </a:p>
        </p:txBody>
      </p:sp>
      <p:sp>
        <p:nvSpPr>
          <p:cNvPr id="5" name="TextBox 4"/>
          <p:cNvSpPr txBox="1"/>
          <p:nvPr/>
        </p:nvSpPr>
        <p:spPr>
          <a:xfrm>
            <a:off x="822960" y="2286000"/>
            <a:ext cx="9692640" cy="914400"/>
          </a:xfrm>
          <a:prstGeom prst="rect">
            <a:avLst/>
          </a:prstGeom>
          <a:noFill/>
        </p:spPr>
        <p:txBody>
          <a:bodyPr wrap="square" anchor="t" lIns="0" rIns="0" tIns="0" bIns="0">
            <a:spAutoFit/>
          </a:bodyPr>
          <a:lstStyle/>
          <a:p>
            <a:pPr algn="l">
              <a:lnSpc>
                <a:spcPct val="140000"/>
              </a:lnSpc>
              <a:spcAft>
                <a:spcPts val="400"/>
              </a:spcAft>
            </a:pPr>
            <a:r>
              <a:rPr sz="1250" b="0">
                <a:solidFill>
                  <a:srgbClr val="545B6B"/>
                </a:solidFill>
                <a:latin typeface="Yu Gothic"/>
                <a:ea typeface="Yu Gothic"/>
              </a:rPr>
              <a:t>新しい環境に飛び込み、力を得て、仲間とともに戦い続ける。ウルトラマンの物語は、はたらく人のキャリアの物語でもあります。</a:t>
            </a:r>
          </a:p>
        </p:txBody>
      </p:sp>
      <p:sp>
        <p:nvSpPr>
          <p:cNvPr id="6" name="Rounded Rectangle 5"/>
          <p:cNvSpPr/>
          <p:nvPr/>
        </p:nvSpPr>
        <p:spPr>
          <a:xfrm>
            <a:off x="822960" y="3246120"/>
            <a:ext cx="4663440" cy="17373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74720"/>
            <a:ext cx="4114800" cy="1280160"/>
          </a:xfrm>
          <a:prstGeom prst="rect">
            <a:avLst/>
          </a:prstGeom>
          <a:noFill/>
        </p:spPr>
        <p:txBody>
          <a:bodyPr wrap="square" anchor="t" lIns="0" rIns="0" tIns="0" bIns="0">
            <a:spAutoFit/>
          </a:bodyPr>
          <a:lstStyle/>
          <a:p>
            <a:pPr algn="l">
              <a:lnSpc>
                <a:spcPct val="135000"/>
              </a:lnSpc>
              <a:spcAft>
                <a:spcPts val="600"/>
              </a:spcAft>
            </a:pPr>
            <a:r>
              <a:rPr sz="1000" b="1">
                <a:solidFill>
                  <a:srgbClr val="6E7889"/>
                </a:solidFill>
                <a:latin typeface="Yu Gothic"/>
                <a:ea typeface="Yu Gothic"/>
              </a:rPr>
              <a:t>U L T R A M A N</a:t>
            </a:r>
          </a:p>
          <a:p>
            <a:pPr algn="l">
              <a:lnSpc>
                <a:spcPct val="135000"/>
              </a:lnSpc>
              <a:spcAft>
                <a:spcPts val="600"/>
              </a:spcAft>
            </a:pPr>
            <a:r>
              <a:rPr sz="1500" b="1">
                <a:solidFill>
                  <a:srgbClr val="20242E"/>
                </a:solidFill>
                <a:latin typeface="Yu Gothic"/>
                <a:ea typeface="Yu Gothic"/>
              </a:rPr>
              <a:t>変身して、終わりじゃない。</a:t>
            </a:r>
          </a:p>
          <a:p>
            <a:pPr algn="l">
              <a:lnSpc>
                <a:spcPct val="135000"/>
              </a:lnSpc>
              <a:spcAft>
                <a:spcPts val="600"/>
              </a:spcAft>
            </a:pPr>
            <a:r>
              <a:rPr sz="1100" b="0">
                <a:solidFill>
                  <a:srgbClr val="545B6B"/>
                </a:solidFill>
                <a:latin typeface="Yu Gothic"/>
                <a:ea typeface="Yu Gothic"/>
              </a:rPr>
              <a:t>仲間と、使命のために戦い続けてこそヒーロー。</a:t>
            </a:r>
          </a:p>
        </p:txBody>
      </p:sp>
      <p:sp>
        <p:nvSpPr>
          <p:cNvPr id="8" name="TextBox 7"/>
          <p:cNvSpPr txBox="1"/>
          <p:nvPr/>
        </p:nvSpPr>
        <p:spPr>
          <a:xfrm>
            <a:off x="5577840" y="3794760"/>
            <a:ext cx="1005840" cy="640080"/>
          </a:xfrm>
          <a:prstGeom prst="rect">
            <a:avLst/>
          </a:prstGeom>
          <a:noFill/>
        </p:spPr>
        <p:txBody>
          <a:bodyPr wrap="square" anchor="t" lIns="0" rIns="0" tIns="0" bIns="0">
            <a:spAutoFit/>
          </a:bodyPr>
          <a:lstStyle/>
          <a:p>
            <a:pPr algn="ctr">
              <a:lnSpc>
                <a:spcPct val="125000"/>
              </a:lnSpc>
              <a:spcAft>
                <a:spcPts val="400"/>
              </a:spcAft>
            </a:pPr>
            <a:r>
              <a:rPr sz="2800" b="1">
                <a:solidFill>
                  <a:srgbClr val="BE3A34"/>
                </a:solidFill>
                <a:latin typeface="Yu Gothic"/>
                <a:ea typeface="Yu Gothic"/>
              </a:rPr>
              <a:t>＝</a:t>
            </a:r>
          </a:p>
        </p:txBody>
      </p:sp>
      <p:sp>
        <p:nvSpPr>
          <p:cNvPr id="9" name="Rounded Rectangle 8"/>
          <p:cNvSpPr/>
          <p:nvPr/>
        </p:nvSpPr>
        <p:spPr>
          <a:xfrm>
            <a:off x="6629400" y="3246120"/>
            <a:ext cx="4663440" cy="17373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474720"/>
            <a:ext cx="4114800" cy="1280160"/>
          </a:xfrm>
          <a:prstGeom prst="rect">
            <a:avLst/>
          </a:prstGeom>
          <a:noFill/>
        </p:spPr>
        <p:txBody>
          <a:bodyPr wrap="square" anchor="t" lIns="0" rIns="0" tIns="0" bIns="0">
            <a:spAutoFit/>
          </a:bodyPr>
          <a:lstStyle/>
          <a:p>
            <a:pPr algn="l">
              <a:lnSpc>
                <a:spcPct val="135000"/>
              </a:lnSpc>
              <a:spcAft>
                <a:spcPts val="600"/>
              </a:spcAft>
            </a:pPr>
            <a:r>
              <a:rPr sz="1000" b="1">
                <a:solidFill>
                  <a:srgbClr val="BE3A34"/>
                </a:solidFill>
                <a:latin typeface="Yu Gothic"/>
                <a:ea typeface="Yu Gothic"/>
              </a:rPr>
              <a:t>e n</a:t>
            </a:r>
          </a:p>
          <a:p>
            <a:pPr algn="l">
              <a:lnSpc>
                <a:spcPct val="135000"/>
              </a:lnSpc>
              <a:spcAft>
                <a:spcPts val="600"/>
              </a:spcAft>
            </a:pPr>
            <a:r>
              <a:rPr sz="1500" b="1">
                <a:solidFill>
                  <a:srgbClr val="20242E"/>
                </a:solidFill>
                <a:latin typeface="Yu Gothic"/>
                <a:ea typeface="Yu Gothic"/>
              </a:rPr>
              <a:t>入社して、終わりじゃない。</a:t>
            </a:r>
          </a:p>
          <a:p>
            <a:pPr algn="l">
              <a:lnSpc>
                <a:spcPct val="135000"/>
              </a:lnSpc>
              <a:spcAft>
                <a:spcPts val="600"/>
              </a:spcAft>
            </a:pPr>
            <a:r>
              <a:rPr sz="1100" b="0">
                <a:solidFill>
                  <a:srgbClr val="545B6B"/>
                </a:solidFill>
                <a:latin typeface="Yu Gothic"/>
                <a:ea typeface="Yu Gothic"/>
              </a:rPr>
              <a:t>入社後に活躍してこそ、良い転職。</a:t>
            </a:r>
          </a:p>
        </p:txBody>
      </p:sp>
      <p:sp>
        <p:nvSpPr>
          <p:cNvPr id="11" name="TextBox 10"/>
          <p:cNvSpPr txBox="1"/>
          <p:nvPr/>
        </p:nvSpPr>
        <p:spPr>
          <a:xfrm>
            <a:off x="822960" y="5349240"/>
            <a:ext cx="9692640" cy="914400"/>
          </a:xfrm>
          <a:prstGeom prst="rect">
            <a:avLst/>
          </a:prstGeom>
          <a:noFill/>
        </p:spPr>
        <p:txBody>
          <a:bodyPr wrap="square" anchor="t" lIns="0" rIns="0" tIns="0" bIns="0">
            <a:spAutoFit/>
          </a:bodyPr>
          <a:lstStyle/>
          <a:p>
            <a:pPr algn="l">
              <a:lnSpc>
                <a:spcPct val="140000"/>
              </a:lnSpc>
              <a:spcAft>
                <a:spcPts val="400"/>
              </a:spcAft>
            </a:pPr>
            <a:r>
              <a:rPr sz="1300" b="0">
                <a:solidFill>
                  <a:srgbClr val="545B6B"/>
                </a:solidFill>
                <a:latin typeface="Yu Gothic"/>
                <a:ea typeface="Yu Gothic"/>
              </a:rPr>
              <a:t>2つのブランドが同じ物語を語れる — これがこの協業の核です。</a:t>
            </a:r>
          </a:p>
        </p:txBody>
      </p:sp>
      <p:sp>
        <p:nvSpPr>
          <p:cNvPr id="12" name="TextBox 11"/>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07 — 協業の全体像</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4つの協業パッケージ</a:t>
            </a:r>
          </a:p>
        </p:txBody>
      </p:sp>
      <p:sp>
        <p:nvSpPr>
          <p:cNvPr id="5" name="TextBox 4"/>
          <p:cNvSpPr txBox="1"/>
          <p:nvPr/>
        </p:nvSpPr>
        <p:spPr>
          <a:xfrm>
            <a:off x="822960" y="1600200"/>
            <a:ext cx="9692640" cy="914400"/>
          </a:xfrm>
          <a:prstGeom prst="rect">
            <a:avLst/>
          </a:prstGeom>
          <a:noFill/>
        </p:spPr>
        <p:txBody>
          <a:bodyPr wrap="square" anchor="t" lIns="0" rIns="0" tIns="0" bIns="0">
            <a:spAutoFit/>
          </a:bodyPr>
          <a:lstStyle/>
          <a:p>
            <a:pPr algn="l">
              <a:lnSpc>
                <a:spcPct val="140000"/>
              </a:lnSpc>
              <a:spcAft>
                <a:spcPts val="400"/>
              </a:spcAft>
            </a:pPr>
            <a:r>
              <a:rPr sz="1250" b="0">
                <a:solidFill>
                  <a:srgbClr val="545B6B"/>
                </a:solidFill>
                <a:latin typeface="Yu Gothic"/>
                <a:ea typeface="Yu Gothic"/>
              </a:rPr>
              <a:t>エントリーではPKG Aを実施。年間パートナーシップでは4パッケージすべてを展開します。</a:t>
            </a:r>
          </a:p>
        </p:txBody>
      </p:sp>
      <p:sp>
        <p:nvSpPr>
          <p:cNvPr id="6" name="Rounded Rectangle 5"/>
          <p:cNvSpPr/>
          <p:nvPr/>
        </p:nvSpPr>
        <p:spPr>
          <a:xfrm>
            <a:off x="822960" y="2286000"/>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432304"/>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PKG A — エントリー対象</a:t>
            </a:r>
          </a:p>
          <a:p>
            <a:pPr algn="l">
              <a:lnSpc>
                <a:spcPct val="130000"/>
              </a:lnSpc>
              <a:spcAft>
                <a:spcPts val="500"/>
              </a:spcAft>
            </a:pPr>
            <a:r>
              <a:rPr sz="1300" b="1">
                <a:solidFill>
                  <a:srgbClr val="20242E"/>
                </a:solidFill>
                <a:latin typeface="Yu Gothic"/>
                <a:ea typeface="Yu Gothic"/>
              </a:rPr>
              <a:t>ブランドキャンペーン</a:t>
            </a:r>
          </a:p>
          <a:p>
            <a:pPr algn="l">
              <a:lnSpc>
                <a:spcPct val="130000"/>
              </a:lnSpc>
              <a:spcAft>
                <a:spcPts val="500"/>
              </a:spcAft>
            </a:pPr>
            <a:r>
              <a:rPr sz="1000" b="0">
                <a:solidFill>
                  <a:srgbClr val="545B6B"/>
                </a:solidFill>
                <a:latin typeface="Yu Gothic"/>
                <a:ea typeface="Yu Gothic"/>
              </a:rPr>
              <a:t>「その転職は、変身だ。」を軸にしたTVCM・交通・SNSキャンペーン。「ヒーロータイプ診断」と限定ノベルティで会員化まで導線設計。</a:t>
            </a:r>
          </a:p>
          <a:p>
            <a:pPr algn="l">
              <a:lnSpc>
                <a:spcPct val="130000"/>
              </a:lnSpc>
              <a:spcAft>
                <a:spcPts val="500"/>
              </a:spcAft>
            </a:pPr>
            <a:r>
              <a:rPr sz="900" b="1">
                <a:solidFill>
                  <a:srgbClr val="8A92A3"/>
                </a:solidFill>
                <a:latin typeface="Yu Gothic"/>
                <a:ea typeface="Yu Gothic"/>
              </a:rPr>
              <a:t>効果　</a:t>
            </a:r>
            <a:r>
              <a:rPr sz="900" b="0">
                <a:solidFill>
                  <a:srgbClr val="545B6B"/>
                </a:solidFill>
                <a:latin typeface="Yu Gothic"/>
                <a:ea typeface="Yu Gothic"/>
              </a:rPr>
              <a:t>エン転職の認知・想起・会員獲得 → 入社決定数</a:t>
            </a:r>
          </a:p>
        </p:txBody>
      </p:sp>
      <p:sp>
        <p:nvSpPr>
          <p:cNvPr id="8" name="Rounded Rectangle 7"/>
          <p:cNvSpPr/>
          <p:nvPr/>
        </p:nvSpPr>
        <p:spPr>
          <a:xfrm>
            <a:off x="6181344" y="2286000"/>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2432304"/>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PKG B</a:t>
            </a:r>
          </a:p>
          <a:p>
            <a:pPr algn="l">
              <a:lnSpc>
                <a:spcPct val="130000"/>
              </a:lnSpc>
              <a:spcAft>
                <a:spcPts val="500"/>
              </a:spcAft>
            </a:pPr>
            <a:r>
              <a:rPr sz="1300" b="1">
                <a:solidFill>
                  <a:srgbClr val="20242E"/>
                </a:solidFill>
                <a:latin typeface="Yu Gothic"/>
                <a:ea typeface="Yu Gothic"/>
              </a:rPr>
              <a:t>「まちを守る仕事」— 中小企業採用支援</a:t>
            </a:r>
          </a:p>
          <a:p>
            <a:pPr algn="l">
              <a:lnSpc>
                <a:spcPct val="130000"/>
              </a:lnSpc>
              <a:spcAft>
                <a:spcPts val="500"/>
              </a:spcAft>
            </a:pPr>
            <a:r>
              <a:rPr sz="1000" b="0">
                <a:solidFill>
                  <a:srgbClr val="545B6B"/>
                </a:solidFill>
                <a:latin typeface="Yu Gothic"/>
                <a:ea typeface="Yu Gothic"/>
              </a:rPr>
              <a:t>地域を支える中小企業を「まちを守るヒーロー企業」として特集。自治体・商工会と連携し、知名度で戦えない企業の求人に物語の力を貸す。</a:t>
            </a:r>
          </a:p>
          <a:p>
            <a:pPr algn="l">
              <a:lnSpc>
                <a:spcPct val="130000"/>
              </a:lnSpc>
              <a:spcAft>
                <a:spcPts val="500"/>
              </a:spcAft>
            </a:pPr>
            <a:r>
              <a:rPr sz="900" b="1">
                <a:solidFill>
                  <a:srgbClr val="8A92A3"/>
                </a:solidFill>
                <a:latin typeface="Yu Gothic"/>
                <a:ea typeface="Yu Gothic"/>
              </a:rPr>
              <a:t>効果　</a:t>
            </a:r>
            <a:r>
              <a:rPr sz="900" b="0">
                <a:solidFill>
                  <a:srgbClr val="545B6B"/>
                </a:solidFill>
                <a:latin typeface="Yu Gothic"/>
                <a:ea typeface="Yu Gothic"/>
              </a:rPr>
              <a:t>engageの掲載企業獲得・地方開拓</a:t>
            </a:r>
          </a:p>
        </p:txBody>
      </p:sp>
      <p:sp>
        <p:nvSpPr>
          <p:cNvPr id="10" name="Rounded Rectangle 9"/>
          <p:cNvSpPr/>
          <p:nvPr/>
        </p:nvSpPr>
        <p:spPr>
          <a:xfrm>
            <a:off x="822960" y="4453128"/>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599432"/>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PKG C</a:t>
            </a:r>
          </a:p>
          <a:p>
            <a:pPr algn="l">
              <a:lnSpc>
                <a:spcPct val="130000"/>
              </a:lnSpc>
              <a:spcAft>
                <a:spcPts val="500"/>
              </a:spcAft>
            </a:pPr>
            <a:r>
              <a:rPr sz="1300" b="1">
                <a:solidFill>
                  <a:srgbClr val="20242E"/>
                </a:solidFill>
                <a:latin typeface="Yu Gothic"/>
                <a:ea typeface="Yu Gothic"/>
              </a:rPr>
              <a:t>人材育成・研修コンテンツ</a:t>
            </a:r>
          </a:p>
          <a:p>
            <a:pPr algn="l">
              <a:lnSpc>
                <a:spcPct val="130000"/>
              </a:lnSpc>
              <a:spcAft>
                <a:spcPts val="500"/>
              </a:spcAft>
            </a:pPr>
            <a:r>
              <a:rPr sz="1000" b="0">
                <a:solidFill>
                  <a:srgbClr val="545B6B"/>
                </a:solidFill>
                <a:latin typeface="Yu Gothic"/>
                <a:ea typeface="Yu Gothic"/>
              </a:rPr>
              <a:t>ヒーローの成長物語を題材にしたリーダーシップ/チーム研修、内定者フォロー・新人オンボーディング教材。</a:t>
            </a:r>
          </a:p>
          <a:p>
            <a:pPr algn="l">
              <a:lnSpc>
                <a:spcPct val="130000"/>
              </a:lnSpc>
              <a:spcAft>
                <a:spcPts val="500"/>
              </a:spcAft>
            </a:pPr>
            <a:r>
              <a:rPr sz="900" b="1">
                <a:solidFill>
                  <a:srgbClr val="8A92A3"/>
                </a:solidFill>
                <a:latin typeface="Yu Gothic"/>
                <a:ea typeface="Yu Gothic"/>
              </a:rPr>
              <a:t>効果　</a:t>
            </a:r>
            <a:r>
              <a:rPr sz="900" b="0">
                <a:solidFill>
                  <a:srgbClr val="545B6B"/>
                </a:solidFill>
                <a:latin typeface="Yu Gothic"/>
                <a:ea typeface="Yu Gothic"/>
              </a:rPr>
              <a:t>教育研修事業・「入社後活躍」支援の商材強化</a:t>
            </a:r>
          </a:p>
        </p:txBody>
      </p:sp>
      <p:sp>
        <p:nvSpPr>
          <p:cNvPr id="12" name="Rounded Rectangle 11"/>
          <p:cNvSpPr/>
          <p:nvPr/>
        </p:nvSpPr>
        <p:spPr>
          <a:xfrm>
            <a:off x="6181344" y="4453128"/>
            <a:ext cx="5175504" cy="19659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4599432"/>
            <a:ext cx="4773168" cy="16916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PKG D</a:t>
            </a:r>
          </a:p>
          <a:p>
            <a:pPr algn="l">
              <a:lnSpc>
                <a:spcPct val="130000"/>
              </a:lnSpc>
              <a:spcAft>
                <a:spcPts val="500"/>
              </a:spcAft>
            </a:pPr>
            <a:r>
              <a:rPr sz="1300" b="1">
                <a:solidFill>
                  <a:srgbClr val="20242E"/>
                </a:solidFill>
                <a:latin typeface="Yu Gothic"/>
                <a:ea typeface="Yu Gothic"/>
              </a:rPr>
              <a:t>子ども向けキャリア教育・CSR</a:t>
            </a:r>
          </a:p>
          <a:p>
            <a:pPr algn="l">
              <a:lnSpc>
                <a:spcPct val="130000"/>
              </a:lnSpc>
              <a:spcAft>
                <a:spcPts val="500"/>
              </a:spcAft>
            </a:pPr>
            <a:r>
              <a:rPr sz="1000" b="0">
                <a:solidFill>
                  <a:srgbClr val="545B6B"/>
                </a:solidFill>
                <a:latin typeface="Yu Gothic"/>
                <a:ea typeface="Yu Gothic"/>
              </a:rPr>
              <a:t>「はたらくヒーロー」出張授業・親子イベント。未来の働き手に、働くことの意味をヒーローの言葉で届ける。</a:t>
            </a:r>
          </a:p>
          <a:p>
            <a:pPr algn="l">
              <a:lnSpc>
                <a:spcPct val="130000"/>
              </a:lnSpc>
              <a:spcAft>
                <a:spcPts val="500"/>
              </a:spcAft>
            </a:pPr>
            <a:r>
              <a:rPr sz="900" b="1">
                <a:solidFill>
                  <a:srgbClr val="8A92A3"/>
                </a:solidFill>
                <a:latin typeface="Yu Gothic"/>
                <a:ea typeface="Yu Gothic"/>
              </a:rPr>
              <a:t>効果　</a:t>
            </a:r>
            <a:r>
              <a:rPr sz="900" b="0">
                <a:solidFill>
                  <a:srgbClr val="545B6B"/>
                </a:solidFill>
                <a:latin typeface="Yu Gothic"/>
                <a:ea typeface="Yu Gothic"/>
              </a:rPr>
              <a:t>ブランド好意・社会貢献・ファミリー層接点</a:t>
            </a:r>
          </a:p>
        </p:txBody>
      </p:sp>
      <p:sp>
        <p:nvSpPr>
          <p:cNvPr id="14" name="TextBox 13"/>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08 — ご提案</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2つのプランをご用意しました</a:t>
            </a:r>
          </a:p>
        </p:txBody>
      </p:sp>
      <p:sp>
        <p:nvSpPr>
          <p:cNvPr id="5" name="Rounded Rectangle 4"/>
          <p:cNvSpPr/>
          <p:nvPr/>
        </p:nvSpPr>
        <p:spPr>
          <a:xfrm>
            <a:off x="822960" y="1783080"/>
            <a:ext cx="5175504" cy="3977639"/>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4626864" cy="3520439"/>
          </a:xfrm>
          <a:prstGeom prst="rect">
            <a:avLst/>
          </a:prstGeom>
          <a:noFill/>
        </p:spPr>
        <p:txBody>
          <a:bodyPr wrap="square" anchor="t" lIns="0" rIns="0" tIns="0" bIns="0">
            <a:spAutoFit/>
          </a:bodyPr>
          <a:lstStyle/>
          <a:p>
            <a:pPr algn="l">
              <a:lnSpc>
                <a:spcPct val="130000"/>
              </a:lnSpc>
              <a:spcAft>
                <a:spcPts val="600"/>
              </a:spcAft>
            </a:pPr>
            <a:r>
              <a:rPr sz="1000" b="1">
                <a:solidFill>
                  <a:srgbClr val="6E7889"/>
                </a:solidFill>
                <a:latin typeface="Yu Gothic"/>
                <a:ea typeface="Yu Gothic"/>
              </a:rPr>
              <a:t>PLAN A — エントリー</a:t>
            </a:r>
          </a:p>
          <a:p>
            <a:pPr algn="l">
              <a:lnSpc>
                <a:spcPct val="130000"/>
              </a:lnSpc>
              <a:spcAft>
                <a:spcPts val="600"/>
              </a:spcAft>
            </a:pPr>
            <a:r>
              <a:rPr sz="1700" b="1">
                <a:solidFill>
                  <a:srgbClr val="20242E"/>
                </a:solidFill>
                <a:latin typeface="Yu Gothic"/>
                <a:ea typeface="Yu Gothic"/>
              </a:rPr>
              <a:t>「変身」パッケージ</a:t>
            </a:r>
          </a:p>
          <a:p>
            <a:pPr algn="l">
              <a:lnSpc>
                <a:spcPct val="130000"/>
              </a:lnSpc>
              <a:spcAft>
                <a:spcPts val="600"/>
              </a:spcAft>
            </a:pPr>
            <a:r>
              <a:rPr sz="3000" b="1">
                <a:solidFill>
                  <a:srgbClr val="20242E"/>
                </a:solidFill>
                <a:latin typeface="Yu Gothic"/>
                <a:ea typeface="Yu Gothic"/>
              </a:rPr>
              <a:t>8,000万円</a:t>
            </a:r>
            <a:r>
              <a:rPr sz="1200" b="0">
                <a:solidFill>
                  <a:srgbClr val="545B6B"/>
                </a:solidFill>
                <a:latin typeface="Yu Gothic"/>
                <a:ea typeface="Yu Gothic"/>
              </a:rPr>
              <a:t>(税別)/ 6ヶ月</a:t>
            </a:r>
          </a:p>
          <a:p>
            <a:pPr algn="l">
              <a:lnSpc>
                <a:spcPct val="130000"/>
              </a:lnSpc>
              <a:spcAft>
                <a:spcPts val="600"/>
              </a:spcAft>
            </a:pPr>
            <a:r>
              <a:rPr sz="1050" b="0">
                <a:solidFill>
                  <a:srgbClr val="545B6B"/>
                </a:solidFill>
                <a:latin typeface="Yu Gothic"/>
                <a:ea typeface="Yu Gothic"/>
              </a:rPr>
              <a:t>ブランドキャンペーン(PKG A)一式。転職繁忙期(1〜3月)に照準を合わせ、FY2026のKPI「入社決定数」への効果を実証する。</a:t>
            </a:r>
          </a:p>
          <a:p>
            <a:pPr algn="l">
              <a:lnSpc>
                <a:spcPct val="130000"/>
              </a:lnSpc>
              <a:spcAft>
                <a:spcPts val="600"/>
              </a:spcAft>
            </a:pPr>
            <a:r>
              <a:rPr sz="1050" b="0">
                <a:solidFill>
                  <a:srgbClr val="545B6B"/>
                </a:solidFill>
                <a:latin typeface="Yu Gothic"/>
                <a:ea typeface="Yu Gothic"/>
              </a:rPr>
              <a:t>・IP使用許諾(転職メディア広告領域・6ヶ月)</a:t>
            </a:r>
          </a:p>
          <a:p>
            <a:pPr algn="l">
              <a:lnSpc>
                <a:spcPct val="130000"/>
              </a:lnSpc>
              <a:spcAft>
                <a:spcPts val="600"/>
              </a:spcAft>
            </a:pPr>
            <a:r>
              <a:rPr sz="1050" b="0">
                <a:solidFill>
                  <a:srgbClr val="545B6B"/>
                </a:solidFill>
                <a:latin typeface="Yu Gothic"/>
                <a:ea typeface="Yu Gothic"/>
              </a:rPr>
              <a:t>・キービジュアル/CM・SNS素材の制作許諾・監修</a:t>
            </a:r>
          </a:p>
          <a:p>
            <a:pPr algn="l">
              <a:lnSpc>
                <a:spcPct val="130000"/>
              </a:lnSpc>
              <a:spcAft>
                <a:spcPts val="600"/>
              </a:spcAft>
            </a:pPr>
            <a:r>
              <a:rPr sz="1050" b="0">
                <a:solidFill>
                  <a:srgbClr val="545B6B"/>
                </a:solidFill>
                <a:latin typeface="Yu Gothic"/>
                <a:ea typeface="Yu Gothic"/>
              </a:rPr>
              <a:t>・「ヒーロータイプ診断」共同開発</a:t>
            </a:r>
          </a:p>
          <a:p>
            <a:pPr algn="l">
              <a:lnSpc>
                <a:spcPct val="130000"/>
              </a:lnSpc>
              <a:spcAft>
                <a:spcPts val="600"/>
              </a:spcAft>
            </a:pPr>
            <a:r>
              <a:rPr sz="1050" b="0">
                <a:solidFill>
                  <a:srgbClr val="545B6B"/>
                </a:solidFill>
                <a:latin typeface="Yu Gothic"/>
                <a:ea typeface="Yu Gothic"/>
              </a:rPr>
              <a:t>・限定ノベルティ商品化許諾(2アイテム)</a:t>
            </a:r>
          </a:p>
        </p:txBody>
      </p:sp>
      <p:sp>
        <p:nvSpPr>
          <p:cNvPr id="7" name="Rounded Rectangle 6"/>
          <p:cNvSpPr/>
          <p:nvPr/>
        </p:nvSpPr>
        <p:spPr>
          <a:xfrm>
            <a:off x="6181344" y="1783080"/>
            <a:ext cx="5175504" cy="3977639"/>
          </a:xfrm>
          <a:prstGeom prst="roundRect">
            <a:avLst>
              <a:gd name="adj" fmla="val 7000"/>
            </a:avLst>
          </a:prstGeom>
          <a:solidFill>
            <a:srgbClr val="FFFFFF"/>
          </a:solidFill>
          <a:ln w="19050">
            <a:solidFill>
              <a:srgbClr val="BE3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02368" y="1984248"/>
            <a:ext cx="1325880" cy="347472"/>
          </a:xfrm>
          <a:prstGeom prst="roundRect">
            <a:avLst>
              <a:gd name="adj" fmla="val 50000"/>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2368" y="2029968"/>
            <a:ext cx="1325880" cy="274320"/>
          </a:xfrm>
          <a:prstGeom prst="rect">
            <a:avLst/>
          </a:prstGeom>
          <a:noFill/>
        </p:spPr>
        <p:txBody>
          <a:bodyPr wrap="square" anchor="t" lIns="0" rIns="0" tIns="0" bIns="0">
            <a:spAutoFit/>
          </a:bodyPr>
          <a:lstStyle/>
          <a:p>
            <a:pPr algn="ctr">
              <a:lnSpc>
                <a:spcPct val="125000"/>
              </a:lnSpc>
              <a:spcAft>
                <a:spcPts val="400"/>
              </a:spcAft>
            </a:pPr>
            <a:r>
              <a:rPr sz="1100" b="1">
                <a:solidFill>
                  <a:srgbClr val="FFFFFF"/>
                </a:solidFill>
                <a:latin typeface="Yu Gothic"/>
                <a:ea typeface="Yu Gothic"/>
              </a:rPr>
              <a:t>推奨</a:t>
            </a:r>
          </a:p>
        </p:txBody>
      </p:sp>
      <p:sp>
        <p:nvSpPr>
          <p:cNvPr id="10" name="TextBox 9"/>
          <p:cNvSpPr txBox="1"/>
          <p:nvPr/>
        </p:nvSpPr>
        <p:spPr>
          <a:xfrm>
            <a:off x="6455664" y="2011680"/>
            <a:ext cx="4626864" cy="3520439"/>
          </a:xfrm>
          <a:prstGeom prst="rect">
            <a:avLst/>
          </a:prstGeom>
          <a:noFill/>
        </p:spPr>
        <p:txBody>
          <a:bodyPr wrap="square" anchor="t" lIns="0" rIns="0" tIns="0" bIns="0">
            <a:spAutoFit/>
          </a:bodyPr>
          <a:lstStyle/>
          <a:p>
            <a:pPr algn="l">
              <a:lnSpc>
                <a:spcPct val="130000"/>
              </a:lnSpc>
              <a:spcAft>
                <a:spcPts val="600"/>
              </a:spcAft>
            </a:pPr>
            <a:r>
              <a:rPr sz="1000" b="1">
                <a:solidFill>
                  <a:srgbClr val="BE3A34"/>
                </a:solidFill>
                <a:latin typeface="Yu Gothic"/>
                <a:ea typeface="Yu Gothic"/>
              </a:rPr>
              <a:t>PLAN B — 年間パートナーシップ</a:t>
            </a:r>
          </a:p>
          <a:p>
            <a:pPr algn="l">
              <a:lnSpc>
                <a:spcPct val="130000"/>
              </a:lnSpc>
              <a:spcAft>
                <a:spcPts val="600"/>
              </a:spcAft>
            </a:pPr>
            <a:r>
              <a:rPr sz="1700" b="1">
                <a:solidFill>
                  <a:srgbClr val="20242E"/>
                </a:solidFill>
                <a:latin typeface="Yu Gothic"/>
                <a:ea typeface="Yu Gothic"/>
              </a:rPr>
              <a:t>「光の同盟」</a:t>
            </a:r>
          </a:p>
          <a:p>
            <a:pPr algn="l">
              <a:lnSpc>
                <a:spcPct val="130000"/>
              </a:lnSpc>
              <a:spcAft>
                <a:spcPts val="600"/>
              </a:spcAft>
            </a:pPr>
            <a:r>
              <a:rPr sz="3000" b="1">
                <a:solidFill>
                  <a:srgbClr val="BE3A34"/>
                </a:solidFill>
                <a:latin typeface="Yu Gothic"/>
                <a:ea typeface="Yu Gothic"/>
              </a:rPr>
              <a:t>2億円</a:t>
            </a:r>
            <a:r>
              <a:rPr sz="1200" b="0">
                <a:solidFill>
                  <a:srgbClr val="545B6B"/>
                </a:solidFill>
                <a:latin typeface="Yu Gothic"/>
                <a:ea typeface="Yu Gothic"/>
              </a:rPr>
              <a:t>(税別)/ 12ヶ月</a:t>
            </a:r>
          </a:p>
          <a:p>
            <a:pPr algn="l">
              <a:lnSpc>
                <a:spcPct val="130000"/>
              </a:lnSpc>
              <a:spcAft>
                <a:spcPts val="600"/>
              </a:spcAft>
            </a:pPr>
            <a:r>
              <a:rPr sz="1050" b="0">
                <a:solidFill>
                  <a:srgbClr val="545B6B"/>
                </a:solidFill>
                <a:latin typeface="Yu Gothic"/>
                <a:ea typeface="Yu Gothic"/>
              </a:rPr>
              <a:t>4パッケージ全展開 + </a:t>
            </a:r>
            <a:r>
              <a:rPr sz="1050" b="1">
                <a:solidFill>
                  <a:srgbClr val="BE3A34"/>
                </a:solidFill>
                <a:latin typeface="Yu Gothic"/>
                <a:ea typeface="Yu Gothic"/>
              </a:rPr>
              <a:t>HR業界カテゴリー独占</a:t>
            </a:r>
            <a:r>
              <a:rPr sz="1050" b="0">
                <a:solidFill>
                  <a:srgbClr val="545B6B"/>
                </a:solidFill>
                <a:latin typeface="Yu Gothic"/>
                <a:ea typeface="Yu Gothic"/>
              </a:rPr>
              <a:t>。人材サービス業界で唯一のウルトラマンパートナーとなり、「転職=変身=エン」の連想を取り切る。</a:t>
            </a:r>
          </a:p>
          <a:p>
            <a:pPr algn="l">
              <a:lnSpc>
                <a:spcPct val="130000"/>
              </a:lnSpc>
              <a:spcAft>
                <a:spcPts val="600"/>
              </a:spcAft>
            </a:pPr>
            <a:r>
              <a:rPr sz="1050" b="0">
                <a:solidFill>
                  <a:srgbClr val="545B6B"/>
                </a:solidFill>
                <a:latin typeface="Yu Gothic"/>
                <a:ea typeface="Yu Gothic"/>
              </a:rPr>
              <a:t>・PKG A〜D すべての展開権(通年)</a:t>
            </a:r>
          </a:p>
          <a:p>
            <a:pPr algn="l">
              <a:lnSpc>
                <a:spcPct val="130000"/>
              </a:lnSpc>
              <a:spcAft>
                <a:spcPts val="600"/>
              </a:spcAft>
            </a:pPr>
            <a:r>
              <a:rPr sz="1050" b="0">
                <a:solidFill>
                  <a:srgbClr val="545B6B"/>
                </a:solidFill>
                <a:latin typeface="Yu Gothic"/>
                <a:ea typeface="Yu Gothic"/>
              </a:rPr>
              <a:t>・競合他社へのIP広告起用ブロック(独占条項)</a:t>
            </a:r>
          </a:p>
          <a:p>
            <a:pPr algn="l">
              <a:lnSpc>
                <a:spcPct val="130000"/>
              </a:lnSpc>
              <a:spcAft>
                <a:spcPts val="600"/>
              </a:spcAft>
            </a:pPr>
            <a:r>
              <a:rPr sz="1050" b="0">
                <a:solidFill>
                  <a:srgbClr val="545B6B"/>
                </a:solidFill>
                <a:latin typeface="Yu Gothic"/>
                <a:ea typeface="Yu Gothic"/>
              </a:rPr>
              <a:t>・円谷公式連携(公式SNS・イベント・新作タイアップ優先交渉権)</a:t>
            </a:r>
          </a:p>
        </p:txBody>
      </p:sp>
      <p:sp>
        <p:nvSpPr>
          <p:cNvPr id="11" name="TextBox 10"/>
          <p:cNvSpPr txBox="1"/>
          <p:nvPr/>
        </p:nvSpPr>
        <p:spPr>
          <a:xfrm>
            <a:off x="822960" y="5925311"/>
            <a:ext cx="10543032" cy="548640"/>
          </a:xfrm>
          <a:prstGeom prst="rect">
            <a:avLst/>
          </a:prstGeom>
          <a:noFill/>
        </p:spPr>
        <p:txBody>
          <a:bodyPr wrap="square" anchor="t" lIns="0" rIns="0" tIns="0" bIns="0">
            <a:spAutoFit/>
          </a:bodyPr>
          <a:lstStyle/>
          <a:p>
            <a:pPr algn="l">
              <a:lnSpc>
                <a:spcPct val="125000"/>
              </a:lnSpc>
              <a:spcAft>
                <a:spcPts val="400"/>
              </a:spcAft>
            </a:pPr>
            <a:r>
              <a:rPr sz="950" b="0">
                <a:solidFill>
                  <a:srgbClr val="8A92A3"/>
                </a:solidFill>
                <a:latin typeface="Yu Gothic"/>
                <a:ea typeface="Yu Gothic"/>
              </a:rPr>
              <a:t>※ 金額はライセンス・企画・監修費。広告媒体費・制作実費は別途。金額・条件は円谷プロダクションとの最終協議を前提とした想定条件です。</a:t>
            </a:r>
          </a:p>
        </p:txBody>
      </p:sp>
      <p:sp>
        <p:nvSpPr>
          <p:cNvPr id="12" name="TextBox 11"/>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09 — PLAN A 内訳</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400" b="1">
                <a:solidFill>
                  <a:srgbClr val="20242E"/>
                </a:solidFill>
                <a:latin typeface="Yu Gothic"/>
                <a:ea typeface="Yu Gothic"/>
              </a:rPr>
              <a:t>エントリー「変身」パッケージ — </a:t>
            </a:r>
            <a:r>
              <a:rPr sz="2400" b="1">
                <a:solidFill>
                  <a:srgbClr val="BE3A34"/>
                </a:solidFill>
                <a:latin typeface="Yu Gothic"/>
                <a:ea typeface="Yu Gothic"/>
              </a:rPr>
              <a:t>8,000万円</a:t>
            </a:r>
            <a:r>
              <a:rPr sz="2400" b="1">
                <a:solidFill>
                  <a:srgbClr val="20242E"/>
                </a:solidFill>
                <a:latin typeface="Yu Gothic"/>
                <a:ea typeface="Yu Gothic"/>
              </a:rPr>
              <a:t> / 6ヶ月</a:t>
            </a:r>
          </a:p>
        </p:txBody>
      </p:sp>
      <p:sp>
        <p:nvSpPr>
          <p:cNvPr id="5" name="Rounded Rectangle 4"/>
          <p:cNvSpPr/>
          <p:nvPr/>
        </p:nvSpPr>
        <p:spPr>
          <a:xfrm>
            <a:off x="822960" y="1783080"/>
            <a:ext cx="10543032"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ウルトラマンIP使用許諾(国内・転職メディア広告領域・6ヶ月)</a:t>
            </a:r>
          </a:p>
        </p:txBody>
      </p:sp>
      <p:sp>
        <p:nvSpPr>
          <p:cNvPr id="7" name="TextBox 6"/>
          <p:cNvSpPr txBox="1"/>
          <p:nvPr/>
        </p:nvSpPr>
        <p:spPr>
          <a:xfrm>
            <a:off x="8759952" y="1920240"/>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4,000万円</a:t>
            </a:r>
          </a:p>
        </p:txBody>
      </p:sp>
      <p:sp>
        <p:nvSpPr>
          <p:cNvPr id="8" name="Rectangle 7"/>
          <p:cNvSpPr/>
          <p:nvPr/>
        </p:nvSpPr>
        <p:spPr>
          <a:xfrm>
            <a:off x="1051560" y="2276856"/>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40864"/>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キービジュアル・TVCM・交通・SNS素材の制作許諾・監修</a:t>
            </a:r>
          </a:p>
        </p:txBody>
      </p:sp>
      <p:sp>
        <p:nvSpPr>
          <p:cNvPr id="10" name="TextBox 9"/>
          <p:cNvSpPr txBox="1"/>
          <p:nvPr/>
        </p:nvSpPr>
        <p:spPr>
          <a:xfrm>
            <a:off x="8759952" y="2340864"/>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1,500万円</a:t>
            </a:r>
          </a:p>
        </p:txBody>
      </p:sp>
      <p:sp>
        <p:nvSpPr>
          <p:cNvPr id="11" name="Rectangle 10"/>
          <p:cNvSpPr/>
          <p:nvPr/>
        </p:nvSpPr>
        <p:spPr>
          <a:xfrm>
            <a:off x="1051560" y="2697480"/>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61488"/>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「ヒーロータイプ診断」コンテンツ 企画・共同開発</a:t>
            </a:r>
          </a:p>
        </p:txBody>
      </p:sp>
      <p:sp>
        <p:nvSpPr>
          <p:cNvPr id="13" name="TextBox 12"/>
          <p:cNvSpPr txBox="1"/>
          <p:nvPr/>
        </p:nvSpPr>
        <p:spPr>
          <a:xfrm>
            <a:off x="8759952" y="2761488"/>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1,200万円</a:t>
            </a:r>
          </a:p>
        </p:txBody>
      </p:sp>
      <p:sp>
        <p:nvSpPr>
          <p:cNvPr id="14" name="Rectangle 13"/>
          <p:cNvSpPr/>
          <p:nvPr/>
        </p:nvSpPr>
        <p:spPr>
          <a:xfrm>
            <a:off x="1051560" y="3118104"/>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182112"/>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限定ノベルティ商品化許諾(2アイテム)</a:t>
            </a:r>
          </a:p>
        </p:txBody>
      </p:sp>
      <p:sp>
        <p:nvSpPr>
          <p:cNvPr id="16" name="TextBox 15"/>
          <p:cNvSpPr txBox="1"/>
          <p:nvPr/>
        </p:nvSpPr>
        <p:spPr>
          <a:xfrm>
            <a:off x="8759952" y="3182112"/>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800万円</a:t>
            </a:r>
          </a:p>
        </p:txBody>
      </p:sp>
      <p:sp>
        <p:nvSpPr>
          <p:cNvPr id="17" name="Rectangle 16"/>
          <p:cNvSpPr/>
          <p:nvPr/>
        </p:nvSpPr>
        <p:spPr>
          <a:xfrm>
            <a:off x="1051560" y="3538728"/>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602736"/>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プロジェクトマネジメント・監修運用</a:t>
            </a:r>
          </a:p>
        </p:txBody>
      </p:sp>
      <p:sp>
        <p:nvSpPr>
          <p:cNvPr id="19" name="TextBox 18"/>
          <p:cNvSpPr txBox="1"/>
          <p:nvPr/>
        </p:nvSpPr>
        <p:spPr>
          <a:xfrm>
            <a:off x="8759952" y="3602736"/>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500万円</a:t>
            </a:r>
          </a:p>
        </p:txBody>
      </p:sp>
      <p:sp>
        <p:nvSpPr>
          <p:cNvPr id="20" name="Rectangle 19"/>
          <p:cNvSpPr/>
          <p:nvPr/>
        </p:nvSpPr>
        <p:spPr>
          <a:xfrm>
            <a:off x="1051560" y="3959352"/>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069080"/>
            <a:ext cx="7251192" cy="365760"/>
          </a:xfrm>
          <a:prstGeom prst="rect">
            <a:avLst/>
          </a:prstGeom>
          <a:noFill/>
        </p:spPr>
        <p:txBody>
          <a:bodyPr wrap="square" anchor="t" lIns="0" rIns="0" tIns="0" bIns="0">
            <a:spAutoFit/>
          </a:bodyPr>
          <a:lstStyle/>
          <a:p>
            <a:pPr algn="l">
              <a:lnSpc>
                <a:spcPct val="125000"/>
              </a:lnSpc>
              <a:spcAft>
                <a:spcPts val="0"/>
              </a:spcAft>
            </a:pPr>
            <a:r>
              <a:rPr sz="1200" b="1">
                <a:solidFill>
                  <a:srgbClr val="20242E"/>
                </a:solidFill>
                <a:latin typeface="Yu Gothic"/>
                <a:ea typeface="Yu Gothic"/>
              </a:rPr>
              <a:t>エントリーパッケージ 合計</a:t>
            </a:r>
          </a:p>
        </p:txBody>
      </p:sp>
      <p:sp>
        <p:nvSpPr>
          <p:cNvPr id="22" name="TextBox 21"/>
          <p:cNvSpPr txBox="1"/>
          <p:nvPr/>
        </p:nvSpPr>
        <p:spPr>
          <a:xfrm>
            <a:off x="8074152" y="4032504"/>
            <a:ext cx="3017520" cy="365760"/>
          </a:xfrm>
          <a:prstGeom prst="rect">
            <a:avLst/>
          </a:prstGeom>
          <a:noFill/>
        </p:spPr>
        <p:txBody>
          <a:bodyPr wrap="square" anchor="t" lIns="0" rIns="0" tIns="0" bIns="0">
            <a:spAutoFit/>
          </a:bodyPr>
          <a:lstStyle/>
          <a:p>
            <a:pPr algn="r">
              <a:lnSpc>
                <a:spcPct val="125000"/>
              </a:lnSpc>
              <a:spcAft>
                <a:spcPts val="0"/>
              </a:spcAft>
            </a:pPr>
            <a:r>
              <a:rPr sz="1500" b="1">
                <a:solidFill>
                  <a:srgbClr val="BE3A34"/>
                </a:solidFill>
                <a:latin typeface="Yu Gothic"/>
                <a:ea typeface="Yu Gothic"/>
              </a:rPr>
              <a:t>8,000万円(税別)</a:t>
            </a:r>
          </a:p>
        </p:txBody>
      </p:sp>
      <p:sp>
        <p:nvSpPr>
          <p:cNvPr id="23" name="Rounded Rectangle 22"/>
          <p:cNvSpPr/>
          <p:nvPr/>
        </p:nvSpPr>
        <p:spPr>
          <a:xfrm>
            <a:off x="822960" y="4736592"/>
            <a:ext cx="10543032" cy="10515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736592"/>
            <a:ext cx="54864" cy="105156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901184"/>
            <a:ext cx="10040112" cy="731520"/>
          </a:xfrm>
          <a:prstGeom prst="rect">
            <a:avLst/>
          </a:prstGeom>
          <a:noFill/>
        </p:spPr>
        <p:txBody>
          <a:bodyPr wrap="square" anchor="t" lIns="0" rIns="0" tIns="0" bIns="0">
            <a:spAutoFit/>
          </a:bodyPr>
          <a:lstStyle/>
          <a:p>
            <a:pPr algn="l">
              <a:lnSpc>
                <a:spcPct val="140000"/>
              </a:lnSpc>
              <a:spcAft>
                <a:spcPts val="400"/>
              </a:spcAft>
            </a:pPr>
            <a:r>
              <a:rPr sz="1100" b="1">
                <a:solidFill>
                  <a:srgbClr val="20242E"/>
                </a:solidFill>
                <a:latin typeface="Yu Gothic"/>
                <a:ea typeface="Yu Gothic"/>
              </a:rPr>
              <a:t>スケジュール　</a:t>
            </a:r>
            <a:r>
              <a:rPr sz="1100" b="0">
                <a:solidFill>
                  <a:srgbClr val="545B6B"/>
                </a:solidFill>
                <a:latin typeface="Yu Gothic"/>
                <a:ea typeface="Yu Gothic"/>
              </a:rPr>
              <a:t>2026年10月 契約・制作開始 → 12月 素材完成・ティザー → 2027年1〜3月 転職繁忙期にキャンペーン集中投下 → 3月末 効果検証・年間移行判断。</a:t>
            </a:r>
          </a:p>
          <a:p>
            <a:pPr algn="l">
              <a:lnSpc>
                <a:spcPct val="140000"/>
              </a:lnSpc>
              <a:spcAft>
                <a:spcPts val="400"/>
              </a:spcAft>
            </a:pPr>
            <a:r>
              <a:rPr sz="1100" b="0">
                <a:solidFill>
                  <a:srgbClr val="545B6B"/>
                </a:solidFill>
                <a:latin typeface="Yu Gothic"/>
                <a:ea typeface="Yu Gothic"/>
              </a:rPr>
              <a:t>6ヶ月で「想起・指名検索・会員登録・入社決定数」への効果を実証し、PLAN Bへの移行を判断いただきます。</a:t>
            </a:r>
          </a:p>
        </p:txBody>
      </p:sp>
      <p:sp>
        <p:nvSpPr>
          <p:cNvPr id="26" name="TextBox 25"/>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10 — PLAN B 内訳</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400" b="1">
                <a:solidFill>
                  <a:srgbClr val="20242E"/>
                </a:solidFill>
                <a:latin typeface="Yu Gothic"/>
                <a:ea typeface="Yu Gothic"/>
              </a:rPr>
              <a:t>年間パートナーシップ「光の同盟」 — </a:t>
            </a:r>
            <a:r>
              <a:rPr sz="2400" b="1">
                <a:solidFill>
                  <a:srgbClr val="BE3A34"/>
                </a:solidFill>
                <a:latin typeface="Yu Gothic"/>
                <a:ea typeface="Yu Gothic"/>
              </a:rPr>
              <a:t>2億円</a:t>
            </a:r>
            <a:r>
              <a:rPr sz="2400" b="1">
                <a:solidFill>
                  <a:srgbClr val="20242E"/>
                </a:solidFill>
                <a:latin typeface="Yu Gothic"/>
                <a:ea typeface="Yu Gothic"/>
              </a:rPr>
              <a:t> / 12ヶ月</a:t>
            </a:r>
          </a:p>
        </p:txBody>
      </p:sp>
      <p:sp>
        <p:nvSpPr>
          <p:cNvPr id="5" name="Rounded Rectangle 4"/>
          <p:cNvSpPr/>
          <p:nvPr/>
        </p:nvSpPr>
        <p:spPr>
          <a:xfrm>
            <a:off x="822960" y="1783080"/>
            <a:ext cx="10543032"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年間IP使用許諾 + HR業界カテゴリー独占(広告・販促・研修・教育領域)</a:t>
            </a:r>
          </a:p>
        </p:txBody>
      </p:sp>
      <p:sp>
        <p:nvSpPr>
          <p:cNvPr id="7" name="TextBox 6"/>
          <p:cNvSpPr txBox="1"/>
          <p:nvPr/>
        </p:nvSpPr>
        <p:spPr>
          <a:xfrm>
            <a:off x="8759952" y="1920240"/>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1億1,000万円</a:t>
            </a:r>
          </a:p>
        </p:txBody>
      </p:sp>
      <p:sp>
        <p:nvSpPr>
          <p:cNvPr id="8" name="Rectangle 7"/>
          <p:cNvSpPr/>
          <p:nvPr/>
        </p:nvSpPr>
        <p:spPr>
          <a:xfrm>
            <a:off x="1051560" y="2276856"/>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40864"/>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ブランドキャンペーン権利一式(PKG A・通年)</a:t>
            </a:r>
          </a:p>
        </p:txBody>
      </p:sp>
      <p:sp>
        <p:nvSpPr>
          <p:cNvPr id="10" name="TextBox 9"/>
          <p:cNvSpPr txBox="1"/>
          <p:nvPr/>
        </p:nvSpPr>
        <p:spPr>
          <a:xfrm>
            <a:off x="8759952" y="2340864"/>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上記に含む</a:t>
            </a:r>
          </a:p>
        </p:txBody>
      </p:sp>
      <p:sp>
        <p:nvSpPr>
          <p:cNvPr id="11" name="Rectangle 10"/>
          <p:cNvSpPr/>
          <p:nvPr/>
        </p:nvSpPr>
        <p:spPr>
          <a:xfrm>
            <a:off x="1051560" y="2697480"/>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61488"/>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「まちを守る仕事」共同企画・自治体/商工会連携(PKG B)</a:t>
            </a:r>
          </a:p>
        </p:txBody>
      </p:sp>
      <p:sp>
        <p:nvSpPr>
          <p:cNvPr id="13" name="TextBox 12"/>
          <p:cNvSpPr txBox="1"/>
          <p:nvPr/>
        </p:nvSpPr>
        <p:spPr>
          <a:xfrm>
            <a:off x="8759952" y="2761488"/>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3,000万円</a:t>
            </a:r>
          </a:p>
        </p:txBody>
      </p:sp>
      <p:sp>
        <p:nvSpPr>
          <p:cNvPr id="14" name="Rectangle 13"/>
          <p:cNvSpPr/>
          <p:nvPr/>
        </p:nvSpPr>
        <p:spPr>
          <a:xfrm>
            <a:off x="1051560" y="3118104"/>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182112"/>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研修・子ども向け教育コンテンツ共同開発 各1本(PKG C・D)</a:t>
            </a:r>
          </a:p>
        </p:txBody>
      </p:sp>
      <p:sp>
        <p:nvSpPr>
          <p:cNvPr id="16" name="TextBox 15"/>
          <p:cNvSpPr txBox="1"/>
          <p:nvPr/>
        </p:nvSpPr>
        <p:spPr>
          <a:xfrm>
            <a:off x="8759952" y="3182112"/>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3,500万円</a:t>
            </a:r>
          </a:p>
        </p:txBody>
      </p:sp>
      <p:sp>
        <p:nvSpPr>
          <p:cNvPr id="17" name="Rectangle 16"/>
          <p:cNvSpPr/>
          <p:nvPr/>
        </p:nvSpPr>
        <p:spPr>
          <a:xfrm>
            <a:off x="1051560" y="3538728"/>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602736"/>
            <a:ext cx="7616952" cy="420624"/>
          </a:xfrm>
          <a:prstGeom prst="rect">
            <a:avLst/>
          </a:prstGeom>
          <a:noFill/>
        </p:spPr>
        <p:txBody>
          <a:bodyPr wrap="square" anchor="t" lIns="0" rIns="0" tIns="0" bIns="0">
            <a:spAutoFit/>
          </a:bodyPr>
          <a:lstStyle/>
          <a:p>
            <a:pPr algn="l">
              <a:lnSpc>
                <a:spcPct val="115000"/>
              </a:lnSpc>
              <a:spcAft>
                <a:spcPts val="0"/>
              </a:spcAft>
            </a:pPr>
            <a:r>
              <a:rPr sz="1050" b="0">
                <a:solidFill>
                  <a:srgbClr val="545B6B"/>
                </a:solidFill>
                <a:latin typeface="Yu Gothic"/>
                <a:ea typeface="Yu Gothic"/>
              </a:rPr>
              <a:t>円谷公式連携(公式SNS・イベント登壇・新作タイアップ優先交渉権)</a:t>
            </a:r>
          </a:p>
        </p:txBody>
      </p:sp>
      <p:sp>
        <p:nvSpPr>
          <p:cNvPr id="19" name="TextBox 18"/>
          <p:cNvSpPr txBox="1"/>
          <p:nvPr/>
        </p:nvSpPr>
        <p:spPr>
          <a:xfrm>
            <a:off x="8759952" y="3602736"/>
            <a:ext cx="2331720" cy="420624"/>
          </a:xfrm>
          <a:prstGeom prst="rect">
            <a:avLst/>
          </a:prstGeom>
          <a:noFill/>
        </p:spPr>
        <p:txBody>
          <a:bodyPr wrap="square" anchor="t" lIns="0" rIns="0" tIns="0" bIns="0">
            <a:spAutoFit/>
          </a:bodyPr>
          <a:lstStyle/>
          <a:p>
            <a:pPr algn="r">
              <a:lnSpc>
                <a:spcPct val="125000"/>
              </a:lnSpc>
              <a:spcAft>
                <a:spcPts val="0"/>
              </a:spcAft>
            </a:pPr>
            <a:r>
              <a:rPr sz="1100" b="1">
                <a:solidFill>
                  <a:srgbClr val="20242E"/>
                </a:solidFill>
                <a:latin typeface="Yu Gothic"/>
                <a:ea typeface="Yu Gothic"/>
              </a:rPr>
              <a:t>2,500万円</a:t>
            </a:r>
          </a:p>
        </p:txBody>
      </p:sp>
      <p:sp>
        <p:nvSpPr>
          <p:cNvPr id="20" name="Rectangle 19"/>
          <p:cNvSpPr/>
          <p:nvPr/>
        </p:nvSpPr>
        <p:spPr>
          <a:xfrm>
            <a:off x="1051560" y="3959352"/>
            <a:ext cx="10085832" cy="9525"/>
          </a:xfrm>
          <a:prstGeom prst="rect">
            <a:avLst/>
          </a:prstGeom>
          <a:solidFill>
            <a:srgbClr val="E7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069080"/>
            <a:ext cx="7251192" cy="365760"/>
          </a:xfrm>
          <a:prstGeom prst="rect">
            <a:avLst/>
          </a:prstGeom>
          <a:noFill/>
        </p:spPr>
        <p:txBody>
          <a:bodyPr wrap="square" anchor="t" lIns="0" rIns="0" tIns="0" bIns="0">
            <a:spAutoFit/>
          </a:bodyPr>
          <a:lstStyle/>
          <a:p>
            <a:pPr algn="l">
              <a:lnSpc>
                <a:spcPct val="125000"/>
              </a:lnSpc>
              <a:spcAft>
                <a:spcPts val="0"/>
              </a:spcAft>
            </a:pPr>
            <a:r>
              <a:rPr sz="1200" b="1">
                <a:solidFill>
                  <a:srgbClr val="20242E"/>
                </a:solidFill>
                <a:latin typeface="Yu Gothic"/>
                <a:ea typeface="Yu Gothic"/>
              </a:rPr>
              <a:t>年間パートナーシップ 合計</a:t>
            </a:r>
          </a:p>
        </p:txBody>
      </p:sp>
      <p:sp>
        <p:nvSpPr>
          <p:cNvPr id="22" name="TextBox 21"/>
          <p:cNvSpPr txBox="1"/>
          <p:nvPr/>
        </p:nvSpPr>
        <p:spPr>
          <a:xfrm>
            <a:off x="8074152" y="4032504"/>
            <a:ext cx="3017520" cy="365760"/>
          </a:xfrm>
          <a:prstGeom prst="rect">
            <a:avLst/>
          </a:prstGeom>
          <a:noFill/>
        </p:spPr>
        <p:txBody>
          <a:bodyPr wrap="square" anchor="t" lIns="0" rIns="0" tIns="0" bIns="0">
            <a:spAutoFit/>
          </a:bodyPr>
          <a:lstStyle/>
          <a:p>
            <a:pPr algn="r">
              <a:lnSpc>
                <a:spcPct val="125000"/>
              </a:lnSpc>
              <a:spcAft>
                <a:spcPts val="0"/>
              </a:spcAft>
            </a:pPr>
            <a:r>
              <a:rPr sz="1500" b="1">
                <a:solidFill>
                  <a:srgbClr val="BE3A34"/>
                </a:solidFill>
                <a:latin typeface="Yu Gothic"/>
                <a:ea typeface="Yu Gothic"/>
              </a:rPr>
              <a:t>2億円(税別)</a:t>
            </a:r>
          </a:p>
        </p:txBody>
      </p:sp>
      <p:sp>
        <p:nvSpPr>
          <p:cNvPr id="23" name="Rounded Rectangle 22"/>
          <p:cNvSpPr/>
          <p:nvPr/>
        </p:nvSpPr>
        <p:spPr>
          <a:xfrm>
            <a:off x="822960" y="4736592"/>
            <a:ext cx="10543032" cy="10515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736592"/>
            <a:ext cx="54864" cy="105156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901184"/>
            <a:ext cx="10040112" cy="731520"/>
          </a:xfrm>
          <a:prstGeom prst="rect">
            <a:avLst/>
          </a:prstGeom>
          <a:noFill/>
        </p:spPr>
        <p:txBody>
          <a:bodyPr wrap="square" anchor="t" lIns="0" rIns="0" tIns="0" bIns="0">
            <a:spAutoFit/>
          </a:bodyPr>
          <a:lstStyle/>
          <a:p>
            <a:pPr algn="l">
              <a:lnSpc>
                <a:spcPct val="140000"/>
              </a:lnSpc>
              <a:spcAft>
                <a:spcPts val="400"/>
              </a:spcAft>
            </a:pPr>
            <a:r>
              <a:rPr sz="1100" b="1">
                <a:solidFill>
                  <a:srgbClr val="20242E"/>
                </a:solidFill>
                <a:latin typeface="Yu Gothic"/>
                <a:ea typeface="Yu Gothic"/>
              </a:rPr>
              <a:t>カテゴリー独占の意味　</a:t>
            </a:r>
            <a:r>
              <a:rPr sz="1100" b="0">
                <a:solidFill>
                  <a:srgbClr val="545B6B"/>
                </a:solidFill>
                <a:latin typeface="Yu Gothic"/>
                <a:ea typeface="Yu Gothic"/>
              </a:rPr>
              <a:t>契約期間中、総合求人メディア・人材紹介・派遣の競合他社はウルトラマンIPを広告起用できません。</a:t>
            </a:r>
          </a:p>
          <a:p>
            <a:pPr algn="l">
              <a:lnSpc>
                <a:spcPct val="140000"/>
              </a:lnSpc>
              <a:spcAft>
                <a:spcPts val="400"/>
              </a:spcAft>
            </a:pPr>
            <a:r>
              <a:rPr sz="1100" b="1">
                <a:solidFill>
                  <a:srgbClr val="BE3A34"/>
                </a:solidFill>
                <a:latin typeface="Yu Gothic"/>
                <a:ea typeface="Yu Gothic"/>
              </a:rPr>
              <a:t>「人材サービス業界で唯一のウルトラマンパートナー」の座席そのものが、本プランの最大の価値です。</a:t>
            </a:r>
          </a:p>
        </p:txBody>
      </p:sp>
      <p:sp>
        <p:nvSpPr>
          <p:cNvPr id="26" name="TextBox 25"/>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11 — 投資対効果</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なぜこの金額に、その価値があるのか</a:t>
            </a:r>
          </a:p>
        </p:txBody>
      </p:sp>
      <p:sp>
        <p:nvSpPr>
          <p:cNvPr id="5" name="Rounded Rectangle 4"/>
          <p:cNvSpPr/>
          <p:nvPr/>
        </p:nvSpPr>
        <p:spPr>
          <a:xfrm>
            <a:off x="822960"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先例換算</a:t>
            </a:r>
          </a:p>
          <a:p>
            <a:pPr algn="l">
              <a:lnSpc>
                <a:spcPct val="130000"/>
              </a:lnSpc>
              <a:spcAft>
                <a:spcPts val="500"/>
              </a:spcAft>
            </a:pPr>
            <a:r>
              <a:rPr sz="1300" b="1">
                <a:solidFill>
                  <a:srgbClr val="20242E"/>
                </a:solidFill>
                <a:latin typeface="Yu Gothic"/>
                <a:ea typeface="Yu Gothic"/>
              </a:rPr>
              <a:t>ビズリーチは「記号」を数年かけて作った</a:t>
            </a:r>
          </a:p>
          <a:p>
            <a:pPr algn="l">
              <a:lnSpc>
                <a:spcPct val="130000"/>
              </a:lnSpc>
              <a:spcAft>
                <a:spcPts val="500"/>
              </a:spcAft>
            </a:pPr>
            <a:r>
              <a:rPr sz="1050" b="0">
                <a:solidFill>
                  <a:srgbClr val="545B6B"/>
                </a:solidFill>
                <a:latin typeface="Yu Gothic"/>
                <a:ea typeface="Yu Gothic"/>
              </a:rPr>
              <a:t>同業界の実証: 記号への集中投資で人事認知9%→60〜70%、事業売上3.4倍。ただしゼロから記号を育てるには数年分のGRPと巨額の出稿が必要だった。完成済みの国民的記号を借りる本提案は、「記号を作る時間」を年2億円で買う投資。</a:t>
            </a:r>
          </a:p>
        </p:txBody>
      </p:sp>
      <p:sp>
        <p:nvSpPr>
          <p:cNvPr id="7" name="Rounded Rectangle 6"/>
          <p:cNvSpPr/>
          <p:nvPr/>
        </p:nvSpPr>
        <p:spPr>
          <a:xfrm>
            <a:off x="4398264"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効果目標(例)</a:t>
            </a:r>
          </a:p>
          <a:p>
            <a:pPr algn="l">
              <a:lnSpc>
                <a:spcPct val="130000"/>
              </a:lnSpc>
              <a:spcAft>
                <a:spcPts val="500"/>
              </a:spcAft>
            </a:pPr>
            <a:r>
              <a:rPr sz="1300" b="1">
                <a:solidFill>
                  <a:srgbClr val="20242E"/>
                </a:solidFill>
                <a:latin typeface="Yu Gothic"/>
                <a:ea typeface="Yu Gothic"/>
              </a:rPr>
              <a:t>FY2026のKPIに直結させて測る</a:t>
            </a:r>
          </a:p>
          <a:p>
            <a:pPr algn="l">
              <a:lnSpc>
                <a:spcPct val="130000"/>
              </a:lnSpc>
              <a:spcAft>
                <a:spcPts val="500"/>
              </a:spcAft>
            </a:pPr>
            <a:r>
              <a:rPr sz="1050" b="0">
                <a:solidFill>
                  <a:srgbClr val="545B6B"/>
                </a:solidFill>
                <a:latin typeface="Yu Gothic"/>
                <a:ea typeface="Yu Gothic"/>
              </a:rPr>
              <a:t>サービス想起 +5pt / 指名検索数 +30% / キャンペーン期間の新規会員登録 +20%(前年同期比)、そして貴社が掲げる「入社決定数」への寄与。第三者調査で前後比較し、数字で年間移行を判断いただく。</a:t>
            </a:r>
          </a:p>
        </p:txBody>
      </p:sp>
      <p:sp>
        <p:nvSpPr>
          <p:cNvPr id="9" name="Rounded Rectangle 8"/>
          <p:cNvSpPr/>
          <p:nvPr/>
        </p:nvSpPr>
        <p:spPr>
          <a:xfrm>
            <a:off x="7973568"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防御価値</a:t>
            </a:r>
          </a:p>
          <a:p>
            <a:pPr algn="l">
              <a:lnSpc>
                <a:spcPct val="130000"/>
              </a:lnSpc>
              <a:spcAft>
                <a:spcPts val="500"/>
              </a:spcAft>
            </a:pPr>
            <a:r>
              <a:rPr sz="1300" b="1">
                <a:solidFill>
                  <a:srgbClr val="20242E"/>
                </a:solidFill>
                <a:latin typeface="Yu Gothic"/>
                <a:ea typeface="Yu Gothic"/>
              </a:rPr>
              <a:t>競合ブロックという保険</a:t>
            </a:r>
          </a:p>
          <a:p>
            <a:pPr algn="l">
              <a:lnSpc>
                <a:spcPct val="130000"/>
              </a:lnSpc>
              <a:spcAft>
                <a:spcPts val="500"/>
              </a:spcAft>
            </a:pPr>
            <a:r>
              <a:rPr sz="1050" b="0">
                <a:solidFill>
                  <a:srgbClr val="545B6B"/>
                </a:solidFill>
                <a:latin typeface="Yu Gothic"/>
                <a:ea typeface="Yu Gothic"/>
              </a:rPr>
              <a:t>年間2億円のうち独占権は、リクルート・パーソル・マイナビにこの席を渡さないための防御投資でもある。競合が国民的IPで先に「転職の物語」を取った場合の機会損失は、この金額を大きく上回る。</a:t>
            </a:r>
          </a:p>
        </p:txBody>
      </p:sp>
      <p:sp>
        <p:nvSpPr>
          <p:cNvPr id="11" name="Rounded Rectangle 10"/>
          <p:cNvSpPr/>
          <p:nvPr/>
        </p:nvSpPr>
        <p:spPr>
          <a:xfrm>
            <a:off x="822960" y="4892040"/>
            <a:ext cx="10543032" cy="9144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892040"/>
            <a:ext cx="54864" cy="91440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056632"/>
            <a:ext cx="10040112" cy="594360"/>
          </a:xfrm>
          <a:prstGeom prst="rect">
            <a:avLst/>
          </a:prstGeom>
          <a:noFill/>
        </p:spPr>
        <p:txBody>
          <a:bodyPr wrap="square" anchor="t" lIns="0" rIns="0" tIns="0" bIns="0">
            <a:spAutoFit/>
          </a:bodyPr>
          <a:lstStyle/>
          <a:p>
            <a:pPr algn="l">
              <a:lnSpc>
                <a:spcPct val="140000"/>
              </a:lnSpc>
              <a:spcAft>
                <a:spcPts val="400"/>
              </a:spcAft>
            </a:pPr>
            <a:r>
              <a:rPr sz="1150" b="0">
                <a:solidFill>
                  <a:srgbClr val="545B6B"/>
                </a:solidFill>
                <a:latin typeface="Yu Gothic"/>
                <a:ea typeface="Yu Gothic"/>
              </a:rPr>
              <a:t>大物タレント起用(年5,000万〜1億円/人)と同水準のコストで、</a:t>
            </a:r>
            <a:r>
              <a:rPr sz="1150" b="1">
                <a:solidFill>
                  <a:srgbClr val="20242E"/>
                </a:solidFill>
                <a:latin typeface="Yu Gothic"/>
                <a:ea typeface="Yu Gothic"/>
              </a:rPr>
              <a:t>複数キャラクター・炎上降板リスクなし・独占可能・10年使える資産</a:t>
            </a:r>
            <a:r>
              <a:rPr sz="1150" b="0">
                <a:solidFill>
                  <a:srgbClr val="545B6B"/>
                </a:solidFill>
                <a:latin typeface="Yu Gothic"/>
                <a:ea typeface="Yu Gothic"/>
              </a:rPr>
              <a:t>が手に入ります。</a:t>
            </a:r>
          </a:p>
        </p:txBody>
      </p:sp>
      <p:sp>
        <p:nvSpPr>
          <p:cNvPr id="14" name="TextBox 13"/>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12 — 年間スケジュール(PLAN B)</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転職繁忙期に照準を合わせた12ヶ月</a:t>
            </a:r>
          </a:p>
        </p:txBody>
      </p:sp>
      <p:sp>
        <p:nvSpPr>
          <p:cNvPr id="5" name="Rectangle 4"/>
          <p:cNvSpPr/>
          <p:nvPr/>
        </p:nvSpPr>
        <p:spPr>
          <a:xfrm>
            <a:off x="822960" y="1883664"/>
            <a:ext cx="82296" cy="54864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01952"/>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8A92A3"/>
                </a:solidFill>
                <a:latin typeface="Yu Gothic"/>
                <a:ea typeface="Yu Gothic"/>
              </a:rPr>
              <a:t>2026.10</a:t>
            </a:r>
          </a:p>
        </p:txBody>
      </p:sp>
      <p:sp>
        <p:nvSpPr>
          <p:cNvPr id="7" name="TextBox 6"/>
          <p:cNvSpPr txBox="1"/>
          <p:nvPr/>
        </p:nvSpPr>
        <p:spPr>
          <a:xfrm>
            <a:off x="2788920" y="1901952"/>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契約・キックオフ</a:t>
            </a:r>
          </a:p>
        </p:txBody>
      </p:sp>
      <p:sp>
        <p:nvSpPr>
          <p:cNvPr id="8" name="TextBox 7"/>
          <p:cNvSpPr txBox="1"/>
          <p:nvPr/>
        </p:nvSpPr>
        <p:spPr>
          <a:xfrm>
            <a:off x="5303520" y="1920240"/>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全体企画確定・監修体制セットアップ</a:t>
            </a:r>
          </a:p>
        </p:txBody>
      </p:sp>
      <p:sp>
        <p:nvSpPr>
          <p:cNvPr id="9" name="Rectangle 8"/>
          <p:cNvSpPr/>
          <p:nvPr/>
        </p:nvSpPr>
        <p:spPr>
          <a:xfrm>
            <a:off x="822960" y="2542032"/>
            <a:ext cx="82296" cy="54864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560320"/>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8A92A3"/>
                </a:solidFill>
                <a:latin typeface="Yu Gothic"/>
                <a:ea typeface="Yu Gothic"/>
              </a:rPr>
              <a:t>2026.11–12</a:t>
            </a:r>
          </a:p>
        </p:txBody>
      </p:sp>
      <p:sp>
        <p:nvSpPr>
          <p:cNvPr id="11" name="TextBox 10"/>
          <p:cNvSpPr txBox="1"/>
          <p:nvPr/>
        </p:nvSpPr>
        <p:spPr>
          <a:xfrm>
            <a:off x="2788920" y="2560320"/>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制作・監修</a:t>
            </a:r>
          </a:p>
        </p:txBody>
      </p:sp>
      <p:sp>
        <p:nvSpPr>
          <p:cNvPr id="12" name="TextBox 11"/>
          <p:cNvSpPr txBox="1"/>
          <p:nvPr/>
        </p:nvSpPr>
        <p:spPr>
          <a:xfrm>
            <a:off x="5303520" y="2578608"/>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キービジュアル/CM/SNS素材の制作、円谷監修、ティザー開始</a:t>
            </a:r>
          </a:p>
        </p:txBody>
      </p:sp>
      <p:sp>
        <p:nvSpPr>
          <p:cNvPr id="13" name="Rectangle 12"/>
          <p:cNvSpPr/>
          <p:nvPr/>
        </p:nvSpPr>
        <p:spPr>
          <a:xfrm>
            <a:off x="822960" y="3200400"/>
            <a:ext cx="82296" cy="54864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218688"/>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BE3A34"/>
                </a:solidFill>
                <a:latin typeface="Yu Gothic"/>
                <a:ea typeface="Yu Gothic"/>
              </a:rPr>
              <a:t>2027.01–03</a:t>
            </a:r>
          </a:p>
        </p:txBody>
      </p:sp>
      <p:sp>
        <p:nvSpPr>
          <p:cNvPr id="15" name="TextBox 14"/>
          <p:cNvSpPr txBox="1"/>
          <p:nvPr/>
        </p:nvSpPr>
        <p:spPr>
          <a:xfrm>
            <a:off x="2788920" y="3218688"/>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キャンペーン集中投下</a:t>
            </a:r>
          </a:p>
        </p:txBody>
      </p:sp>
      <p:sp>
        <p:nvSpPr>
          <p:cNvPr id="16" name="TextBox 15"/>
          <p:cNvSpPr txBox="1"/>
          <p:nvPr/>
        </p:nvSpPr>
        <p:spPr>
          <a:xfrm>
            <a:off x="5303520" y="3236976"/>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転職繁忙期にPKG Aを集中展開。ヒーロータイプ診断ローンチ</a:t>
            </a:r>
          </a:p>
        </p:txBody>
      </p:sp>
      <p:sp>
        <p:nvSpPr>
          <p:cNvPr id="17" name="Rectangle 16"/>
          <p:cNvSpPr/>
          <p:nvPr/>
        </p:nvSpPr>
        <p:spPr>
          <a:xfrm>
            <a:off x="822960" y="3858768"/>
            <a:ext cx="82296" cy="54864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877056"/>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8A92A3"/>
                </a:solidFill>
                <a:latin typeface="Yu Gothic"/>
                <a:ea typeface="Yu Gothic"/>
              </a:rPr>
              <a:t>2027.04–06</a:t>
            </a:r>
          </a:p>
        </p:txBody>
      </p:sp>
      <p:sp>
        <p:nvSpPr>
          <p:cNvPr id="19" name="TextBox 18"/>
          <p:cNvSpPr txBox="1"/>
          <p:nvPr/>
        </p:nvSpPr>
        <p:spPr>
          <a:xfrm>
            <a:off x="2788920" y="3877056"/>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まちを守る仕事</a:t>
            </a:r>
          </a:p>
        </p:txBody>
      </p:sp>
      <p:sp>
        <p:nvSpPr>
          <p:cNvPr id="20" name="TextBox 19"/>
          <p:cNvSpPr txBox="1"/>
          <p:nvPr/>
        </p:nvSpPr>
        <p:spPr>
          <a:xfrm>
            <a:off x="5303520" y="3895344"/>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PKG B特集公開・自治体/商工会連携・地方キャラバン</a:t>
            </a:r>
          </a:p>
        </p:txBody>
      </p:sp>
      <p:sp>
        <p:nvSpPr>
          <p:cNvPr id="21" name="Rectangle 20"/>
          <p:cNvSpPr/>
          <p:nvPr/>
        </p:nvSpPr>
        <p:spPr>
          <a:xfrm>
            <a:off x="822960" y="4517136"/>
            <a:ext cx="82296" cy="54864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535424"/>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8A92A3"/>
                </a:solidFill>
                <a:latin typeface="Yu Gothic"/>
                <a:ea typeface="Yu Gothic"/>
              </a:rPr>
              <a:t>2027.07–09</a:t>
            </a:r>
          </a:p>
        </p:txBody>
      </p:sp>
      <p:sp>
        <p:nvSpPr>
          <p:cNvPr id="23" name="TextBox 22"/>
          <p:cNvSpPr txBox="1"/>
          <p:nvPr/>
        </p:nvSpPr>
        <p:spPr>
          <a:xfrm>
            <a:off x="2788920" y="4535424"/>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育成・教育</a:t>
            </a:r>
          </a:p>
        </p:txBody>
      </p:sp>
      <p:sp>
        <p:nvSpPr>
          <p:cNvPr id="24" name="TextBox 23"/>
          <p:cNvSpPr txBox="1"/>
          <p:nvPr/>
        </p:nvSpPr>
        <p:spPr>
          <a:xfrm>
            <a:off x="5303520" y="4553712"/>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PKG C研修ローンチ・PKG D出張授業/夏休み親子イベント</a:t>
            </a:r>
          </a:p>
        </p:txBody>
      </p:sp>
      <p:sp>
        <p:nvSpPr>
          <p:cNvPr id="25" name="Rectangle 24"/>
          <p:cNvSpPr/>
          <p:nvPr/>
        </p:nvSpPr>
        <p:spPr>
          <a:xfrm>
            <a:off x="822960" y="5175504"/>
            <a:ext cx="82296" cy="54864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193792"/>
            <a:ext cx="1554480" cy="457200"/>
          </a:xfrm>
          <a:prstGeom prst="rect">
            <a:avLst/>
          </a:prstGeom>
          <a:noFill/>
        </p:spPr>
        <p:txBody>
          <a:bodyPr wrap="square" anchor="t" lIns="0" rIns="0" tIns="0" bIns="0">
            <a:spAutoFit/>
          </a:bodyPr>
          <a:lstStyle/>
          <a:p>
            <a:pPr algn="l">
              <a:lnSpc>
                <a:spcPct val="125000"/>
              </a:lnSpc>
              <a:spcAft>
                <a:spcPts val="0"/>
              </a:spcAft>
            </a:pPr>
            <a:r>
              <a:rPr sz="1150" b="1">
                <a:solidFill>
                  <a:srgbClr val="8A92A3"/>
                </a:solidFill>
                <a:latin typeface="Yu Gothic"/>
                <a:ea typeface="Yu Gothic"/>
              </a:rPr>
              <a:t>2027.10</a:t>
            </a:r>
          </a:p>
        </p:txBody>
      </p:sp>
      <p:sp>
        <p:nvSpPr>
          <p:cNvPr id="27" name="TextBox 26"/>
          <p:cNvSpPr txBox="1"/>
          <p:nvPr/>
        </p:nvSpPr>
        <p:spPr>
          <a:xfrm>
            <a:off x="2788920" y="5193792"/>
            <a:ext cx="2377440" cy="457200"/>
          </a:xfrm>
          <a:prstGeom prst="rect">
            <a:avLst/>
          </a:prstGeom>
          <a:noFill/>
        </p:spPr>
        <p:txBody>
          <a:bodyPr wrap="square" anchor="t" lIns="0" rIns="0" tIns="0" bIns="0">
            <a:spAutoFit/>
          </a:bodyPr>
          <a:lstStyle/>
          <a:p>
            <a:pPr algn="l">
              <a:lnSpc>
                <a:spcPct val="125000"/>
              </a:lnSpc>
              <a:spcAft>
                <a:spcPts val="0"/>
              </a:spcAft>
            </a:pPr>
            <a:r>
              <a:rPr sz="1250" b="1">
                <a:solidFill>
                  <a:srgbClr val="20242E"/>
                </a:solidFill>
                <a:latin typeface="Yu Gothic"/>
                <a:ea typeface="Yu Gothic"/>
              </a:rPr>
              <a:t>総括・更新協議</a:t>
            </a:r>
          </a:p>
        </p:txBody>
      </p:sp>
      <p:sp>
        <p:nvSpPr>
          <p:cNvPr id="28" name="TextBox 27"/>
          <p:cNvSpPr txBox="1"/>
          <p:nvPr/>
        </p:nvSpPr>
        <p:spPr>
          <a:xfrm>
            <a:off x="5303520" y="5212080"/>
            <a:ext cx="5943600" cy="457200"/>
          </a:xfrm>
          <a:prstGeom prst="rect">
            <a:avLst/>
          </a:prstGeom>
          <a:noFill/>
        </p:spPr>
        <p:txBody>
          <a:bodyPr wrap="square" anchor="t" lIns="0" rIns="0" tIns="0" bIns="0">
            <a:spAutoFit/>
          </a:bodyPr>
          <a:lstStyle/>
          <a:p>
            <a:pPr algn="l">
              <a:lnSpc>
                <a:spcPct val="125000"/>
              </a:lnSpc>
              <a:spcAft>
                <a:spcPts val="0"/>
              </a:spcAft>
            </a:pPr>
            <a:r>
              <a:rPr sz="1050" b="0">
                <a:solidFill>
                  <a:srgbClr val="545B6B"/>
                </a:solidFill>
                <a:latin typeface="Yu Gothic"/>
                <a:ea typeface="Yu Gothic"/>
              </a:rPr>
              <a:t>年間効果総括(第三者調査)・次年度パートナーシップ協議</a:t>
            </a:r>
          </a:p>
        </p:txBody>
      </p:sp>
      <p:sp>
        <p:nvSpPr>
          <p:cNvPr id="29" name="TextBox 28"/>
          <p:cNvSpPr txBox="1"/>
          <p:nvPr/>
        </p:nvSpPr>
        <p:spPr>
          <a:xfrm>
            <a:off x="822960" y="5916168"/>
            <a:ext cx="10543032" cy="457200"/>
          </a:xfrm>
          <a:prstGeom prst="rect">
            <a:avLst/>
          </a:prstGeom>
          <a:noFill/>
        </p:spPr>
        <p:txBody>
          <a:bodyPr wrap="square" anchor="t" lIns="0" rIns="0" tIns="0" bIns="0">
            <a:spAutoFit/>
          </a:bodyPr>
          <a:lstStyle/>
          <a:p>
            <a:pPr algn="l">
              <a:lnSpc>
                <a:spcPct val="125000"/>
              </a:lnSpc>
              <a:spcAft>
                <a:spcPts val="400"/>
              </a:spcAft>
            </a:pPr>
            <a:r>
              <a:rPr sz="950" b="0">
                <a:solidFill>
                  <a:srgbClr val="8A92A3"/>
                </a:solidFill>
                <a:latin typeface="Yu Gothic"/>
                <a:ea typeface="Yu Gothic"/>
              </a:rPr>
              <a:t>※ 赤色 = 投資効果の山場。1〜3月の繁忙期キャンペーンに全体の照準を合わせています。</a:t>
            </a:r>
          </a:p>
        </p:txBody>
      </p:sp>
      <p:sp>
        <p:nvSpPr>
          <p:cNvPr id="30" name="TextBox 29"/>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13 — 体制・契約</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円谷監修のもと、貴社ブランドを守る座組み</a:t>
            </a:r>
          </a:p>
        </p:txBody>
      </p:sp>
      <p:sp>
        <p:nvSpPr>
          <p:cNvPr id="5" name="Rounded Rectangle 4"/>
          <p:cNvSpPr/>
          <p:nvPr/>
        </p:nvSpPr>
        <p:spPr>
          <a:xfrm>
            <a:off x="822960" y="1874519"/>
            <a:ext cx="3392424" cy="22860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020823"/>
            <a:ext cx="2990088" cy="20116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契約形態</a:t>
            </a:r>
          </a:p>
          <a:p>
            <a:pPr algn="l">
              <a:lnSpc>
                <a:spcPct val="130000"/>
              </a:lnSpc>
              <a:spcAft>
                <a:spcPts val="500"/>
              </a:spcAft>
            </a:pPr>
            <a:r>
              <a:rPr sz="1300" b="1">
                <a:solidFill>
                  <a:srgbClr val="20242E"/>
                </a:solidFill>
                <a:latin typeface="Yu Gothic"/>
                <a:ea typeface="Yu Gothic"/>
              </a:rPr>
              <a:t>ライセンス + 企画運用</a:t>
            </a:r>
          </a:p>
          <a:p>
            <a:pPr algn="l">
              <a:lnSpc>
                <a:spcPct val="130000"/>
              </a:lnSpc>
              <a:spcAft>
                <a:spcPts val="500"/>
              </a:spcAft>
            </a:pPr>
            <a:r>
              <a:rPr sz="1050" b="0">
                <a:solidFill>
                  <a:srgbClr val="545B6B"/>
                </a:solidFill>
                <a:latin typeface="Yu Gothic"/>
                <a:ea typeface="Yu Gothic"/>
              </a:rPr>
              <a:t>IP使用許諾は円谷プロダクションとのライセンス契約。企画・プロジェクトマネジメント・権利調整は当方が一気通貫で担当し、貴社の窓口を一本化する。</a:t>
            </a:r>
          </a:p>
        </p:txBody>
      </p:sp>
      <p:sp>
        <p:nvSpPr>
          <p:cNvPr id="7" name="Rounded Rectangle 6"/>
          <p:cNvSpPr/>
          <p:nvPr/>
        </p:nvSpPr>
        <p:spPr>
          <a:xfrm>
            <a:off x="4398264" y="1874519"/>
            <a:ext cx="3392424" cy="22860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2020823"/>
            <a:ext cx="2990088" cy="20116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監修フロー</a:t>
            </a:r>
          </a:p>
          <a:p>
            <a:pPr algn="l">
              <a:lnSpc>
                <a:spcPct val="130000"/>
              </a:lnSpc>
              <a:spcAft>
                <a:spcPts val="500"/>
              </a:spcAft>
            </a:pPr>
            <a:r>
              <a:rPr sz="1300" b="1">
                <a:solidFill>
                  <a:srgbClr val="20242E"/>
                </a:solidFill>
                <a:latin typeface="Yu Gothic"/>
                <a:ea typeface="Yu Gothic"/>
              </a:rPr>
              <a:t>60年の型を活用</a:t>
            </a:r>
          </a:p>
          <a:p>
            <a:pPr algn="l">
              <a:lnSpc>
                <a:spcPct val="130000"/>
              </a:lnSpc>
              <a:spcAft>
                <a:spcPts val="500"/>
              </a:spcAft>
            </a:pPr>
            <a:r>
              <a:rPr sz="1050" b="0">
                <a:solidFill>
                  <a:srgbClr val="545B6B"/>
                </a:solidFill>
                <a:latin typeface="Yu Gothic"/>
                <a:ea typeface="Yu Gothic"/>
              </a:rPr>
              <a:t>キャラクター使用はすべて円谷の監修フローを通す。標準リードタイムを企画段階でスケジュールに織り込み、繁忙期ローンチを確実にする。</a:t>
            </a:r>
          </a:p>
        </p:txBody>
      </p:sp>
      <p:sp>
        <p:nvSpPr>
          <p:cNvPr id="9" name="Rounded Rectangle 8"/>
          <p:cNvSpPr/>
          <p:nvPr/>
        </p:nvSpPr>
        <p:spPr>
          <a:xfrm>
            <a:off x="7973568" y="1874519"/>
            <a:ext cx="3392424" cy="22860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20823"/>
            <a:ext cx="2990088" cy="201168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推進体制</a:t>
            </a:r>
          </a:p>
          <a:p>
            <a:pPr algn="l">
              <a:lnSpc>
                <a:spcPct val="130000"/>
              </a:lnSpc>
              <a:spcAft>
                <a:spcPts val="500"/>
              </a:spcAft>
            </a:pPr>
            <a:r>
              <a:rPr sz="1300" b="1">
                <a:solidFill>
                  <a:srgbClr val="20242E"/>
                </a:solidFill>
                <a:latin typeface="Yu Gothic"/>
                <a:ea typeface="Yu Gothic"/>
              </a:rPr>
              <a:t>3社合同チーム</a:t>
            </a:r>
          </a:p>
          <a:p>
            <a:pPr algn="l">
              <a:lnSpc>
                <a:spcPct val="130000"/>
              </a:lnSpc>
              <a:spcAft>
                <a:spcPts val="500"/>
              </a:spcAft>
            </a:pPr>
            <a:r>
              <a:rPr sz="1050" b="0">
                <a:solidFill>
                  <a:srgbClr val="545B6B"/>
                </a:solidFill>
                <a:latin typeface="Yu Gothic"/>
                <a:ea typeface="Yu Gothic"/>
              </a:rPr>
              <a:t>貴社(宣伝・事業部)× 円谷(監修・公式連携)× 当方(企画・PM)の月次定例で運用。効果測定は第三者調査機関を起用し、数字で更新判断を行う。</a:t>
            </a:r>
          </a:p>
        </p:txBody>
      </p:sp>
      <p:sp>
        <p:nvSpPr>
          <p:cNvPr id="11" name="Rounded Rectangle 10"/>
          <p:cNvSpPr/>
          <p:nvPr/>
        </p:nvSpPr>
        <p:spPr>
          <a:xfrm>
            <a:off x="822960" y="4572000"/>
            <a:ext cx="10543032" cy="9144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572000"/>
            <a:ext cx="54864" cy="91440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36592"/>
            <a:ext cx="10040112" cy="594360"/>
          </a:xfrm>
          <a:prstGeom prst="rect">
            <a:avLst/>
          </a:prstGeom>
          <a:noFill/>
        </p:spPr>
        <p:txBody>
          <a:bodyPr wrap="square" anchor="t" lIns="0" rIns="0" tIns="0" bIns="0">
            <a:spAutoFit/>
          </a:bodyPr>
          <a:lstStyle/>
          <a:p>
            <a:pPr algn="l">
              <a:lnSpc>
                <a:spcPct val="140000"/>
              </a:lnSpc>
              <a:spcAft>
                <a:spcPts val="400"/>
              </a:spcAft>
            </a:pPr>
            <a:r>
              <a:rPr sz="1150" b="0">
                <a:solidFill>
                  <a:srgbClr val="545B6B"/>
                </a:solidFill>
                <a:latin typeface="Yu Gothic"/>
                <a:ea typeface="Yu Gothic"/>
              </a:rPr>
              <a:t>エントリー(PLAN A)は6ヶ月で完結する設計のため、</a:t>
            </a:r>
            <a:r>
              <a:rPr sz="1150" b="1">
                <a:solidFill>
                  <a:srgbClr val="20242E"/>
                </a:solidFill>
                <a:latin typeface="Yu Gothic"/>
                <a:ea typeface="Yu Gothic"/>
              </a:rPr>
              <a:t>「まず8,000万円で実証し、数字を見て2億円の年間独占に進む」</a:t>
            </a:r>
            <a:r>
              <a:rPr sz="1150" b="0">
                <a:solidFill>
                  <a:srgbClr val="545B6B"/>
                </a:solidFill>
                <a:latin typeface="Yu Gothic"/>
                <a:ea typeface="Yu Gothic"/>
              </a:rPr>
              <a:t>という段階投資が可能です。</a:t>
            </a:r>
          </a:p>
        </p:txBody>
      </p:sp>
      <p:sp>
        <p:nvSpPr>
          <p:cNvPr id="14" name="TextBox 13"/>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566928"/>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14 — 中計との接続</a:t>
            </a:r>
          </a:p>
        </p:txBody>
      </p:sp>
      <p:sp>
        <p:nvSpPr>
          <p:cNvPr id="3" name="Rectangle 2"/>
          <p:cNvSpPr/>
          <p:nvPr/>
        </p:nvSpPr>
        <p:spPr>
          <a:xfrm>
            <a:off x="4846320" y="685800"/>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543032" cy="1097280"/>
          </a:xfrm>
          <a:prstGeom prst="rect">
            <a:avLst/>
          </a:prstGeom>
          <a:noFill/>
        </p:spPr>
        <p:txBody>
          <a:bodyPr wrap="square" anchor="t" lIns="0" rIns="0" tIns="0" bIns="0">
            <a:spAutoFit/>
          </a:bodyPr>
          <a:lstStyle/>
          <a:p>
            <a:pPr algn="l">
              <a:lnSpc>
                <a:spcPct val="125000"/>
              </a:lnSpc>
              <a:spcAft>
                <a:spcPts val="400"/>
              </a:spcAft>
            </a:pPr>
            <a:r>
              <a:rPr sz="2700" b="1">
                <a:solidFill>
                  <a:srgbClr val="20242E"/>
                </a:solidFill>
                <a:latin typeface="Yu Gothic"/>
                <a:ea typeface="Yu Gothic"/>
              </a:rPr>
              <a:t>本提案は、中計と改革方針の3点に直結する</a:t>
            </a:r>
          </a:p>
        </p:txBody>
      </p:sp>
      <p:sp>
        <p:nvSpPr>
          <p:cNvPr id="5" name="Rounded Rectangle 4"/>
          <p:cNvSpPr/>
          <p:nvPr/>
        </p:nvSpPr>
        <p:spPr>
          <a:xfrm>
            <a:off x="822960"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接続 1</a:t>
            </a:r>
          </a:p>
          <a:p>
            <a:pPr algn="l">
              <a:lnSpc>
                <a:spcPct val="130000"/>
              </a:lnSpc>
              <a:spcAft>
                <a:spcPts val="500"/>
              </a:spcAft>
            </a:pPr>
            <a:r>
              <a:rPr sz="1300" b="1">
                <a:solidFill>
                  <a:srgbClr val="20242E"/>
                </a:solidFill>
                <a:latin typeface="Yu Gothic"/>
                <a:ea typeface="Yu Gothic"/>
              </a:rPr>
              <a:t>エン転職の再強化</a:t>
            </a:r>
          </a:p>
          <a:p>
            <a:pPr algn="l">
              <a:lnSpc>
                <a:spcPct val="130000"/>
              </a:lnSpc>
              <a:spcAft>
                <a:spcPts val="500"/>
              </a:spcAft>
            </a:pPr>
            <a:r>
              <a:rPr sz="1050" b="0">
                <a:solidFill>
                  <a:srgbClr val="545B6B"/>
                </a:solidFill>
                <a:latin typeface="Yu Gothic"/>
                <a:ea typeface="Yu Gothic"/>
              </a:rPr>
              <a:t>FY2026方針「入社決定数の増加」に直結。想起 → 応募 → 入社決定 → 入社後活躍のファネル全体を、一つの物語で押し上げる。再投資の受け皿として最も費用対効果の高い一手。</a:t>
            </a:r>
          </a:p>
        </p:txBody>
      </p:sp>
      <p:sp>
        <p:nvSpPr>
          <p:cNvPr id="7" name="Rounded Rectangle 6"/>
          <p:cNvSpPr/>
          <p:nvPr/>
        </p:nvSpPr>
        <p:spPr>
          <a:xfrm>
            <a:off x="4398264"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接続 2</a:t>
            </a:r>
          </a:p>
          <a:p>
            <a:pPr algn="l">
              <a:lnSpc>
                <a:spcPct val="130000"/>
              </a:lnSpc>
              <a:spcAft>
                <a:spcPts val="500"/>
              </a:spcAft>
            </a:pPr>
            <a:r>
              <a:rPr sz="1300" b="1">
                <a:solidFill>
                  <a:srgbClr val="20242E"/>
                </a:solidFill>
                <a:latin typeface="Yu Gothic"/>
                <a:ea typeface="Yu Gothic"/>
              </a:rPr>
              <a:t>投資事業(engage・AMBI)の成長</a:t>
            </a:r>
          </a:p>
          <a:p>
            <a:pPr algn="l">
              <a:lnSpc>
                <a:spcPct val="130000"/>
              </a:lnSpc>
              <a:spcAft>
                <a:spcPts val="500"/>
              </a:spcAft>
            </a:pPr>
            <a:r>
              <a:rPr sz="1050" b="0">
                <a:solidFill>
                  <a:srgbClr val="545B6B"/>
                </a:solidFill>
                <a:latin typeface="Yu Gothic"/>
                <a:ea typeface="Yu Gothic"/>
              </a:rPr>
              <a:t>中計の柱である投資事業に直接寄与。PKG B「まちを守る仕事」はengageの掲載企業獲得エンジンとなり、AMBI(若手ハイキャリア)には「変身」の物語がど真ん中に刺さる。</a:t>
            </a:r>
          </a:p>
        </p:txBody>
      </p:sp>
      <p:sp>
        <p:nvSpPr>
          <p:cNvPr id="9" name="Rounded Rectangle 8"/>
          <p:cNvSpPr/>
          <p:nvPr/>
        </p:nvSpPr>
        <p:spPr>
          <a:xfrm>
            <a:off x="7973568" y="1828800"/>
            <a:ext cx="3392424" cy="265176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75104"/>
            <a:ext cx="2990088" cy="2377440"/>
          </a:xfrm>
          <a:prstGeom prst="rect">
            <a:avLst/>
          </a:prstGeom>
          <a:noFill/>
        </p:spPr>
        <p:txBody>
          <a:bodyPr wrap="square" anchor="t" lIns="0" rIns="0" tIns="0" bIns="0">
            <a:spAutoFit/>
          </a:bodyPr>
          <a:lstStyle/>
          <a:p>
            <a:pPr algn="l">
              <a:lnSpc>
                <a:spcPct val="130000"/>
              </a:lnSpc>
              <a:spcAft>
                <a:spcPts val="500"/>
              </a:spcAft>
            </a:pPr>
            <a:r>
              <a:rPr sz="950" b="1">
                <a:solidFill>
                  <a:srgbClr val="BE3A34"/>
                </a:solidFill>
                <a:latin typeface="Yu Gothic"/>
                <a:ea typeface="Yu Gothic"/>
              </a:rPr>
              <a:t>接続 3</a:t>
            </a:r>
          </a:p>
          <a:p>
            <a:pPr algn="l">
              <a:lnSpc>
                <a:spcPct val="130000"/>
              </a:lnSpc>
              <a:spcAft>
                <a:spcPts val="500"/>
              </a:spcAft>
            </a:pPr>
            <a:r>
              <a:rPr sz="1300" b="1">
                <a:solidFill>
                  <a:srgbClr val="20242E"/>
                </a:solidFill>
                <a:latin typeface="Yu Gothic"/>
                <a:ea typeface="Yu Gothic"/>
              </a:rPr>
              <a:t>企業価値・話題性</a:t>
            </a:r>
          </a:p>
          <a:p>
            <a:pPr algn="l">
              <a:lnSpc>
                <a:spcPct val="130000"/>
              </a:lnSpc>
              <a:spcAft>
                <a:spcPts val="500"/>
              </a:spcAft>
            </a:pPr>
            <a:r>
              <a:rPr sz="1050" b="0">
                <a:solidFill>
                  <a:srgbClr val="545B6B"/>
                </a:solidFill>
                <a:latin typeface="Yu Gothic"/>
                <a:ea typeface="Yu Gothic"/>
              </a:rPr>
              <a:t>HR業界初の国民的IP独占パートナーシップは、それ自体がニュース。PR・IR・採用ブランドへの複利効果で、新体制が掲げる「企業価値向上への改革」の見える一手になる。</a:t>
            </a:r>
          </a:p>
        </p:txBody>
      </p:sp>
      <p:sp>
        <p:nvSpPr>
          <p:cNvPr id="11" name="Rounded Rectangle 10"/>
          <p:cNvSpPr/>
          <p:nvPr/>
        </p:nvSpPr>
        <p:spPr>
          <a:xfrm>
            <a:off x="822960" y="4892040"/>
            <a:ext cx="10543032" cy="91440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892040"/>
            <a:ext cx="54864" cy="91440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056632"/>
            <a:ext cx="10040112" cy="594360"/>
          </a:xfrm>
          <a:prstGeom prst="rect">
            <a:avLst/>
          </a:prstGeom>
          <a:noFill/>
        </p:spPr>
        <p:txBody>
          <a:bodyPr wrap="square" anchor="t" lIns="0" rIns="0" tIns="0" bIns="0">
            <a:spAutoFit/>
          </a:bodyPr>
          <a:lstStyle/>
          <a:p>
            <a:pPr algn="l">
              <a:lnSpc>
                <a:spcPct val="140000"/>
              </a:lnSpc>
              <a:spcAft>
                <a:spcPts val="400"/>
              </a:spcAft>
            </a:pPr>
            <a:r>
              <a:rPr sz="1200" b="0">
                <a:solidFill>
                  <a:srgbClr val="545B6B"/>
                </a:solidFill>
                <a:latin typeface="Yu Gothic"/>
                <a:ea typeface="Yu Gothic"/>
              </a:rPr>
              <a:t>単なる広告企画ではなく、</a:t>
            </a:r>
            <a:r>
              <a:rPr sz="1200" b="1">
                <a:solidFill>
                  <a:srgbClr val="20242E"/>
                </a:solidFill>
                <a:latin typeface="Yu Gothic"/>
                <a:ea typeface="Yu Gothic"/>
              </a:rPr>
              <a:t>中計の3つのアジェンダを同時に前へ進める投資</a:t>
            </a:r>
            <a:r>
              <a:rPr sz="1200" b="0">
                <a:solidFill>
                  <a:srgbClr val="545B6B"/>
                </a:solidFill>
                <a:latin typeface="Yu Gothic"/>
                <a:ea typeface="Yu Gothic"/>
              </a:rPr>
              <a:t>として設計しています。</a:t>
            </a:r>
          </a:p>
        </p:txBody>
      </p:sp>
      <p:sp>
        <p:nvSpPr>
          <p:cNvPr id="14" name="TextBox 13"/>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822960" y="777240"/>
            <a:ext cx="6400800" cy="320040"/>
          </a:xfrm>
          <a:prstGeom prst="rect">
            <a:avLst/>
          </a:prstGeom>
          <a:noFill/>
        </p:spPr>
        <p:txBody>
          <a:bodyPr wrap="square" anchor="t" lIns="0" rIns="0" tIns="0" bIns="0">
            <a:spAutoFit/>
          </a:bodyPr>
          <a:lstStyle/>
          <a:p>
            <a:pPr algn="l">
              <a:lnSpc>
                <a:spcPct val="125000"/>
              </a:lnSpc>
              <a:spcAft>
                <a:spcPts val="400"/>
              </a:spcAft>
            </a:pPr>
            <a:r>
              <a:rPr sz="1100" b="1">
                <a:solidFill>
                  <a:srgbClr val="BE3A34"/>
                </a:solidFill>
                <a:latin typeface="Yu Gothic"/>
                <a:ea typeface="Yu Gothic"/>
              </a:rPr>
              <a:t>15 — むすび</a:t>
            </a:r>
          </a:p>
        </p:txBody>
      </p:sp>
      <p:sp>
        <p:nvSpPr>
          <p:cNvPr id="3" name="Rectangle 2"/>
          <p:cNvSpPr/>
          <p:nvPr/>
        </p:nvSpPr>
        <p:spPr>
          <a:xfrm>
            <a:off x="4846320" y="896112"/>
            <a:ext cx="6519672"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80160"/>
            <a:ext cx="10543032" cy="1463040"/>
          </a:xfrm>
          <a:prstGeom prst="rect">
            <a:avLst/>
          </a:prstGeom>
          <a:noFill/>
        </p:spPr>
        <p:txBody>
          <a:bodyPr wrap="square" anchor="t" lIns="0" rIns="0" tIns="0" bIns="0">
            <a:spAutoFit/>
          </a:bodyPr>
          <a:lstStyle/>
          <a:p>
            <a:pPr algn="l">
              <a:lnSpc>
                <a:spcPct val="135000"/>
              </a:lnSpc>
              <a:spcAft>
                <a:spcPts val="400"/>
              </a:spcAft>
            </a:pPr>
            <a:r>
              <a:rPr sz="3000" b="1">
                <a:solidFill>
                  <a:srgbClr val="20242E"/>
                </a:solidFill>
                <a:latin typeface="Yu Gothic"/>
                <a:ea typeface="Yu Gothic"/>
              </a:rPr>
              <a:t>HR業界の「キャラクターの席」を、</a:t>
            </a:r>
          </a:p>
          <a:p>
            <a:pPr algn="l">
              <a:lnSpc>
                <a:spcPct val="135000"/>
              </a:lnSpc>
              <a:spcAft>
                <a:spcPts val="400"/>
              </a:spcAft>
            </a:pPr>
            <a:r>
              <a:rPr sz="3000" b="1">
                <a:solidFill>
                  <a:srgbClr val="20242E"/>
                </a:solidFill>
                <a:latin typeface="Yu Gothic"/>
                <a:ea typeface="Yu Gothic"/>
              </a:rPr>
              <a:t>最初に押さえにいきませんか。</a:t>
            </a:r>
          </a:p>
        </p:txBody>
      </p:sp>
      <p:sp>
        <p:nvSpPr>
          <p:cNvPr id="5" name="TextBox 4"/>
          <p:cNvSpPr txBox="1"/>
          <p:nvPr/>
        </p:nvSpPr>
        <p:spPr>
          <a:xfrm>
            <a:off x="822960" y="2926080"/>
            <a:ext cx="9692640" cy="914400"/>
          </a:xfrm>
          <a:prstGeom prst="rect">
            <a:avLst/>
          </a:prstGeom>
          <a:noFill/>
        </p:spPr>
        <p:txBody>
          <a:bodyPr wrap="square" anchor="t" lIns="0" rIns="0" tIns="0" bIns="0">
            <a:spAutoFit/>
          </a:bodyPr>
          <a:lstStyle/>
          <a:p>
            <a:pPr algn="l">
              <a:lnSpc>
                <a:spcPct val="140000"/>
              </a:lnSpc>
              <a:spcAft>
                <a:spcPts val="400"/>
              </a:spcAft>
            </a:pPr>
            <a:r>
              <a:rPr sz="1250" b="0">
                <a:solidFill>
                  <a:srgbClr val="545B6B"/>
                </a:solidFill>
                <a:latin typeface="Yu Gothic"/>
                <a:ea typeface="Yu Gothic"/>
              </a:rPr>
              <a:t>エンは「縁」— 人と企業の出会いを、入社後の活躍まで見届ける会社。ウルトラマンは「光」— 人の中にある強さを信じ続けるヒーロー。越智社長が進める企業価値向上への改革に、「業界の連想を独占する」という新しい一手をご一緒させてください。</a:t>
            </a:r>
          </a:p>
        </p:txBody>
      </p:sp>
      <p:sp>
        <p:nvSpPr>
          <p:cNvPr id="6" name="Rounded Rectangle 5"/>
          <p:cNvSpPr/>
          <p:nvPr/>
        </p:nvSpPr>
        <p:spPr>
          <a:xfrm>
            <a:off x="822960" y="4160520"/>
            <a:ext cx="10543032" cy="1234440"/>
          </a:xfrm>
          <a:prstGeom prst="roundRect">
            <a:avLst>
              <a:gd name="adj" fmla="val 7000"/>
            </a:avLst>
          </a:prstGeom>
          <a:solidFill>
            <a:srgbClr val="FFFFFF"/>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160520"/>
            <a:ext cx="54864" cy="1234440"/>
          </a:xfrm>
          <a:prstGeom prst="rect">
            <a:avLst/>
          </a:prstGeom>
          <a:solidFill>
            <a:srgbClr val="BE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325112"/>
            <a:ext cx="10040112" cy="914400"/>
          </a:xfrm>
          <a:prstGeom prst="rect">
            <a:avLst/>
          </a:prstGeom>
          <a:noFill/>
        </p:spPr>
        <p:txBody>
          <a:bodyPr wrap="square" anchor="t" lIns="0" rIns="0" tIns="0" bIns="0">
            <a:spAutoFit/>
          </a:bodyPr>
          <a:lstStyle/>
          <a:p>
            <a:pPr algn="l">
              <a:lnSpc>
                <a:spcPct val="140000"/>
              </a:lnSpc>
              <a:spcAft>
                <a:spcPts val="400"/>
              </a:spcAft>
            </a:pPr>
            <a:r>
              <a:rPr sz="1300" b="0">
                <a:solidFill>
                  <a:srgbClr val="20242E"/>
                </a:solidFill>
                <a:latin typeface="Yu Gothic"/>
                <a:ea typeface="Yu Gothic"/>
              </a:rPr>
              <a:t>次の一歩として、</a:t>
            </a:r>
            <a:r>
              <a:rPr sz="1300" b="1">
                <a:solidFill>
                  <a:srgbClr val="BE3A34"/>
                </a:solidFill>
                <a:latin typeface="Yu Gothic"/>
                <a:ea typeface="Yu Gothic"/>
              </a:rPr>
              <a:t>円谷プロダクションを交えた条件協議・企画ワークショップ(初回90分)</a:t>
            </a:r>
            <a:r>
              <a:rPr sz="1300" b="0">
                <a:solidFill>
                  <a:srgbClr val="20242E"/>
                </a:solidFill>
                <a:latin typeface="Yu Gothic"/>
                <a:ea typeface="Yu Gothic"/>
              </a:rPr>
              <a:t> の場を設けさせてください。</a:t>
            </a:r>
          </a:p>
          <a:p>
            <a:pPr algn="l">
              <a:lnSpc>
                <a:spcPct val="140000"/>
              </a:lnSpc>
              <a:spcAft>
                <a:spcPts val="400"/>
              </a:spcAft>
            </a:pPr>
            <a:r>
              <a:rPr sz="1300" b="0">
                <a:solidFill>
                  <a:srgbClr val="20242E"/>
                </a:solidFill>
                <a:latin typeface="Yu Gothic"/>
                <a:ea typeface="Yu Gothic"/>
              </a:rPr>
              <a:t>PLAN A/Bの選択、独占条項の範囲、繁忙期ローンチの実現性まで、その場で骨格を固めます。</a:t>
            </a:r>
          </a:p>
        </p:txBody>
      </p:sp>
      <p:sp>
        <p:nvSpPr>
          <p:cNvPr id="9" name="TextBox 8"/>
          <p:cNvSpPr txBox="1"/>
          <p:nvPr/>
        </p:nvSpPr>
        <p:spPr>
          <a:xfrm>
            <a:off x="822960" y="5989320"/>
            <a:ext cx="10543032" cy="548640"/>
          </a:xfrm>
          <a:prstGeom prst="rect">
            <a:avLst/>
          </a:prstGeom>
          <a:noFill/>
        </p:spPr>
        <p:txBody>
          <a:bodyPr wrap="square" anchor="t" lIns="0" rIns="0" tIns="0" bIns="0">
            <a:spAutoFit/>
          </a:bodyPr>
          <a:lstStyle/>
          <a:p>
            <a:pPr algn="l">
              <a:lnSpc>
                <a:spcPct val="130000"/>
              </a:lnSpc>
              <a:spcAft>
                <a:spcPts val="400"/>
              </a:spcAft>
            </a:pPr>
            <a:r>
              <a:rPr sz="900" b="0">
                <a:solidFill>
                  <a:srgbClr val="8A92A3"/>
                </a:solidFill>
                <a:latin typeface="Yu Gothic"/>
                <a:ea typeface="Yu Gothic"/>
              </a:rPr>
              <a:t>本資料は協業検討のためのご提案であり、キャラクター・作品の使用および金額・独占条件はすべて権利者との最終協議・承認を前提とします。市場・業績データは公開情報に基づく当方整理です。</a:t>
            </a:r>
          </a:p>
        </p:txBody>
      </p:sp>
      <p:sp>
        <p:nvSpPr>
          <p:cNvPr id="10" name="TextBox 9"/>
          <p:cNvSpPr txBox="1"/>
          <p:nvPr/>
        </p:nvSpPr>
        <p:spPr>
          <a:xfrm>
            <a:off x="10820095" y="6400800"/>
            <a:ext cx="1005840" cy="274320"/>
          </a:xfrm>
          <a:prstGeom prst="rect">
            <a:avLst/>
          </a:prstGeom>
          <a:noFill/>
        </p:spPr>
        <p:txBody>
          <a:bodyPr wrap="square" anchor="t" lIns="0" rIns="0" tIns="0" bIns="0">
            <a:spAutoFit/>
          </a:bodyPr>
          <a:lstStyle/>
          <a:p>
            <a:pPr algn="r">
              <a:lnSpc>
                <a:spcPct val="125000"/>
              </a:lnSpc>
              <a:spcAft>
                <a:spcPts val="400"/>
              </a:spcAft>
            </a:pPr>
            <a:r>
              <a:rPr sz="1000" b="0">
                <a:solidFill>
                  <a:srgbClr val="8A92A3"/>
                </a:solidFill>
                <a:latin typeface="Yu Gothic"/>
                <a:ea typeface="Yu Gothic"/>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