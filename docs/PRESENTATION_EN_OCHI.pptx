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545B6B"/>
                </a:solidFill>
                <a:latin typeface="Yu Gothic"/>
                <a:ea typeface="Yu Gothic"/>
              </a:rPr>
              <a:t>エン株式会社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1">
                <a:solidFill>
                  <a:srgbClr val="20242E"/>
                </a:solidFill>
                <a:latin typeface="Yu Gothic"/>
                <a:ea typeface="Yu Gothic"/>
              </a:rPr>
              <a:t>代表取締役社長　越智 通勝 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054303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43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6E7889"/>
                </a:solidFill>
                <a:latin typeface="Yu Gothic"/>
                <a:ea typeface="Yu Gothic"/>
              </a:rPr>
              <a:t>U L T R A M A N   I P</a:t>
            </a:r>
            <a:r>
              <a:rPr sz="1200" b="1">
                <a:solidFill>
                  <a:srgbClr val="BE3A34"/>
                </a:solidFill>
                <a:latin typeface="Yu Gothic"/>
                <a:ea typeface="Yu Gothic"/>
              </a:rPr>
              <a:t>   ×   </a:t>
            </a:r>
            <a:r>
              <a:rPr sz="1200" b="1">
                <a:solidFill>
                  <a:srgbClr val="6E7889"/>
                </a:solidFill>
                <a:latin typeface="Yu Gothic"/>
                <a:ea typeface="Yu Gothic"/>
              </a:rPr>
              <a:t>e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4303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20242E"/>
                </a:solidFill>
                <a:latin typeface="Yu Gothic"/>
                <a:ea typeface="Yu Gothic"/>
              </a:rPr>
              <a:t>はたらく人を、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BE3A34"/>
                </a:solidFill>
                <a:latin typeface="Yu Gothic"/>
                <a:ea typeface="Yu Gothic"/>
              </a:rPr>
              <a:t>ヒーローに。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8961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60年にわたり三世代に愛され続けるウルトラマンIPと、「入社後活躍」を掲げるエン。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人の成長と可能性を信じる2つのブランドによる協業のご提案です。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8A92A3"/>
                </a:solidFill>
                <a:latin typeface="Yu Gothic"/>
                <a:ea typeface="Yu Gothic"/>
              </a:rPr>
              <a:t>2 0 2 6 . 0 7　ご提案資料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01 — 問題意識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07592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430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3000" b="1">
                <a:solidFill>
                  <a:srgbClr val="20242E"/>
                </a:solidFill>
                <a:latin typeface="Yu Gothic"/>
                <a:ea typeface="Yu Gothic"/>
              </a:rPr>
              <a:t>人材サービスは、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3000" b="1">
                <a:solidFill>
                  <a:srgbClr val="20242E"/>
                </a:solidFill>
                <a:latin typeface="Yu Gothic"/>
                <a:ea typeface="Yu Gothic"/>
              </a:rPr>
              <a:t>「機能」では差がつきにくい時代へ。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300" b="0">
                <a:solidFill>
                  <a:srgbClr val="545B6B"/>
                </a:solidFill>
                <a:latin typeface="Yu Gothic"/>
                <a:ea typeface="Yu Gothic"/>
              </a:rPr>
              <a:t>求人数・検索機能・価格 — 機能の戦いは、資本力の消耗戦になりつつあります。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300" b="0">
                <a:solidFill>
                  <a:srgbClr val="545B6B"/>
                </a:solidFill>
                <a:latin typeface="Yu Gothic"/>
                <a:ea typeface="Yu Gothic"/>
              </a:rPr>
              <a:t>求職者と企業の心に残るのは、最後は「想起」と「好意」。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300" b="0">
                <a:solidFill>
                  <a:srgbClr val="545B6B"/>
                </a:solidFill>
                <a:latin typeface="Yu Gothic"/>
                <a:ea typeface="Yu Gothic"/>
              </a:rPr>
              <a:t>機能ではなく、</a:t>
            </a: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物語の力で選ばれるブランド</a:t>
            </a:r>
            <a:r>
              <a:rPr sz="1300" b="0">
                <a:solidFill>
                  <a:srgbClr val="545B6B"/>
                </a:solidFill>
                <a:latin typeface="Yu Gothic"/>
                <a:ea typeface="Yu Gothic"/>
              </a:rPr>
              <a:t>をどう作るかが問われています。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02 — なぜウルトラマンか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転職ボリュームゾーンの、ど真ん中にいるIP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12264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REASON 1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世代がぴったり重なる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平成ウルトラマンで育った世代は、いま20〜40代 — 転職市場のボリュームゾーンそのもの。さらに親子二世代・三世代で通じる、稀有な国民的IP。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965960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2112264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REASON 2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物語構造が「入社後活躍」と同型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ウルトラマンは変身して終わりではない。仲間とともに、使命のために戦い続けてこそヒーロー。「入社して終わりではなく、活躍してこそ」というエンの思想と同じ骨格を持つ。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33088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79392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REASON 3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アジアでの圧倒的認知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中国・東南アジアで構造的に強い熱量。外国人材・グローバル採用領域(en world)との接続余地がある。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133088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4279392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REASON 4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ブランドセーフティの高さ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子ども向けから大人向けまで企業タイアップの実績が豊富で、監修の型が確立。炎上リスクの低い、安心して組める国民的ヒーロー。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03 — コンセプト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896112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3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20242E"/>
                </a:solidFill>
                <a:latin typeface="Yu Gothic"/>
                <a:ea typeface="Yu Gothic"/>
              </a:rPr>
              <a:t>「その転職は、</a:t>
            </a:r>
            <a:r>
              <a:rPr sz="3400" b="1">
                <a:solidFill>
                  <a:srgbClr val="BE3A34"/>
                </a:solidFill>
                <a:latin typeface="Yu Gothic"/>
                <a:ea typeface="Yu Gothic"/>
              </a:rPr>
              <a:t>変身</a:t>
            </a:r>
            <a:r>
              <a:rPr sz="3400" b="1">
                <a:solidFill>
                  <a:srgbClr val="20242E"/>
                </a:solidFill>
                <a:latin typeface="Yu Gothic"/>
                <a:ea typeface="Yu Gothic"/>
              </a:rPr>
              <a:t>だ。」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新しい環境に飛び込み、力を得て、仲間とともに戦い続ける。ウルトラマンの物語は、はたらく人のキャリアの物語でもあります。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46120"/>
            <a:ext cx="46634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114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1">
                <a:solidFill>
                  <a:srgbClr val="6E7889"/>
                </a:solidFill>
                <a:latin typeface="Yu Gothic"/>
                <a:ea typeface="Yu Gothic"/>
              </a:rPr>
              <a:t>U L T R A M A 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20242E"/>
                </a:solidFill>
                <a:latin typeface="Yu Gothic"/>
                <a:ea typeface="Yu Gothic"/>
              </a:rPr>
              <a:t>変身して、終わりじゃない。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>
                <a:solidFill>
                  <a:srgbClr val="545B6B"/>
                </a:solidFill>
                <a:latin typeface="Yu Gothic"/>
                <a:ea typeface="Yu Gothic"/>
              </a:rPr>
              <a:t>仲間と、使命のために戦い続けてこそヒーロー。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3794760"/>
            <a:ext cx="1005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2800" b="1">
                <a:solidFill>
                  <a:srgbClr val="BE3A34"/>
                </a:solidFill>
                <a:latin typeface="Yu Gothic"/>
                <a:ea typeface="Yu Gothic"/>
              </a:rPr>
              <a:t>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3246120"/>
            <a:ext cx="466344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3474720"/>
            <a:ext cx="4114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000" b="1">
                <a:solidFill>
                  <a:srgbClr val="BE3A34"/>
                </a:solidFill>
                <a:latin typeface="Yu Gothic"/>
                <a:ea typeface="Yu Gothic"/>
              </a:rPr>
              <a:t>e 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>
                <a:solidFill>
                  <a:srgbClr val="20242E"/>
                </a:solidFill>
                <a:latin typeface="Yu Gothic"/>
                <a:ea typeface="Yu Gothic"/>
              </a:rPr>
              <a:t>入社して、終わりじゃない。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>
                <a:solidFill>
                  <a:srgbClr val="545B6B"/>
                </a:solidFill>
                <a:latin typeface="Yu Gothic"/>
                <a:ea typeface="Yu Gothic"/>
              </a:rPr>
              <a:t>入社後に活躍してこそ、良い転職。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00" b="0">
                <a:solidFill>
                  <a:srgbClr val="545B6B"/>
                </a:solidFill>
                <a:latin typeface="Yu Gothic"/>
                <a:ea typeface="Yu Gothic"/>
              </a:rPr>
              <a:t>2つのブランドが同じ物語を語れる — これがこの協業の核です。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04 — 協業の全体像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4つの協業パッケージ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単発のキャンペーンで終わらせず、採用ブランディングから教育・グローバルまで段階的に広げられる設計です。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PKG A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ブランドキャンペーン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「その転職は、変身だ。」を軸にしたTVCM・交通・SNSキャンペーン。限定コラボコンテンツとノベルティで会員化まで導線設計。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>
                <a:solidFill>
                  <a:srgbClr val="8A92A3"/>
                </a:solidFill>
                <a:latin typeface="Yu Gothic"/>
                <a:ea typeface="Yu Gothic"/>
              </a:rPr>
              <a:t>対象　</a:t>
            </a:r>
            <a:r>
              <a:rPr sz="900" b="0">
                <a:solidFill>
                  <a:srgbClr val="545B6B"/>
                </a:solidFill>
                <a:latin typeface="Yu Gothic"/>
                <a:ea typeface="Yu Gothic"/>
              </a:rPr>
              <a:t>転職メディアの認知・想起・会員獲得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2286000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432304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PKG B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「まちを守る仕事」— 中小企業採用支援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地域を支える中小企業を「まちを守るヒーロー企業」として特集。知名度で戦えない企業の求人に、物語の力を貸す。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>
                <a:solidFill>
                  <a:srgbClr val="8A92A3"/>
                </a:solidFill>
                <a:latin typeface="Yu Gothic"/>
                <a:ea typeface="Yu Gothic"/>
              </a:rPr>
              <a:t>対象　</a:t>
            </a:r>
            <a:r>
              <a:rPr sz="900" b="0">
                <a:solidFill>
                  <a:srgbClr val="545B6B"/>
                </a:solidFill>
                <a:latin typeface="Yu Gothic"/>
                <a:ea typeface="Yu Gothic"/>
              </a:rPr>
              <a:t>採用支援サービスの掲載社数・地方開拓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53128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4599432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PKG C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人材育成・研修コンテンツ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ヒーローの成長物語を題材にしたリーダーシップ/チームビルディング研修、内定者フォロー・新人オンボーディング教材。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>
                <a:solidFill>
                  <a:srgbClr val="8A92A3"/>
                </a:solidFill>
                <a:latin typeface="Yu Gothic"/>
                <a:ea typeface="Yu Gothic"/>
              </a:rPr>
              <a:t>対象　</a:t>
            </a:r>
            <a:r>
              <a:rPr sz="900" b="0">
                <a:solidFill>
                  <a:srgbClr val="545B6B"/>
                </a:solidFill>
                <a:latin typeface="Yu Gothic"/>
                <a:ea typeface="Yu Gothic"/>
              </a:rPr>
              <a:t>教育研修事業・「入社後活躍」支援の商材強化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453128"/>
            <a:ext cx="5175504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4599432"/>
            <a:ext cx="4773168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PKG D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子ども向けキャリア教育・CSR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「はたらくヒーロー」出張授業・親子イベント。未来の働き手に、働くことの意味をヒーローの言葉で届ける。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00" b="1">
                <a:solidFill>
                  <a:srgbClr val="8A92A3"/>
                </a:solidFill>
                <a:latin typeface="Yu Gothic"/>
                <a:ea typeface="Yu Gothic"/>
              </a:rPr>
              <a:t>対象　</a:t>
            </a:r>
            <a:r>
              <a:rPr sz="900" b="0">
                <a:solidFill>
                  <a:srgbClr val="545B6B"/>
                </a:solidFill>
                <a:latin typeface="Yu Gothic"/>
                <a:ea typeface="Yu Gothic"/>
              </a:rPr>
              <a:t>ブランド好意・社会貢献・ファミリー層接点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05 — PKG A 詳細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ブランドキャンペーン「その転職は、変身だ。」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メッセージ展開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TVCM・交通広告・SNSで「変身=転職、活躍=戦い続けること」の物語を展開。転職への不安を、変身への高揚感に書き換える。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参加型コンテンツ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「あなたはどのヒーロータイプ?」適性診断コンテンツで自然に会員登録へ。診断結果と求人レコメンドを接続。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限定コラボ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登録・応募・入社の節目に合わせた限定ノベルティ・デジタル特典。「入社後3ヶ月」の活躍タイミングにも特典を置き、思想を体験に変える。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10543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709160"/>
            <a:ext cx="54864" cy="914400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73752"/>
            <a:ext cx="100401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>
                <a:solidFill>
                  <a:srgbClr val="20242E"/>
                </a:solidFill>
                <a:latin typeface="Yu Gothic"/>
                <a:ea typeface="Yu Gothic"/>
              </a:rPr>
              <a:t>測定　</a:t>
            </a:r>
            <a:r>
              <a:rPr sz="1100" b="0">
                <a:solidFill>
                  <a:srgbClr val="545B6B"/>
                </a:solidFill>
                <a:latin typeface="Yu Gothic"/>
                <a:ea typeface="Yu Gothic"/>
              </a:rPr>
              <a:t>サービス想起率 / 指名検索数 / 新規会員登録 / 応募数 — キャンペーン前後で効果検証し、継続判断。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06 — PKG B 詳細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「まちを守る仕事」— 知名度なき企業に、物語を。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中小企業の採用最大の壁は「知られていないこと」。ウルトラマンの「地域と人々を守る」文脈を借りて、地域を支える企業を主役にします。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52374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ヒーロー企業特集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インフラ・医療・製造・物流など「まちを守る仕事」の特集企画。求人票を「使命の物語」として編集。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37744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252374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自治体・商工会タイアップ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地方自治体・商工会議所と連携した地域採用キャンペーン。地方創生の文脈でPR露出を獲得。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237744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52374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社会テーマとしての発信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人手不足という社会課題への取り組みとして発信し、営業機会とブランド好意を同時に獲得。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120640"/>
            <a:ext cx="10543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5120640"/>
            <a:ext cx="54864" cy="914400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285232"/>
            <a:ext cx="100401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>
                <a:solidFill>
                  <a:srgbClr val="20242E"/>
                </a:solidFill>
                <a:latin typeface="Yu Gothic"/>
                <a:ea typeface="Yu Gothic"/>
              </a:rPr>
              <a:t>測定　</a:t>
            </a:r>
            <a:r>
              <a:rPr sz="1100" b="0">
                <a:solidFill>
                  <a:srgbClr val="545B6B"/>
                </a:solidFill>
                <a:latin typeface="Yu Gothic"/>
                <a:ea typeface="Yu Gothic"/>
              </a:rPr>
              <a:t>特集参画社数 / 地方掲載社数の伸び / 特集経由の応募・入社数 / メディア露出。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07 — PKG C・D 詳細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「入社後活躍」と「次世代」への投資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ヒーローに学ぶ研修シリーズ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チームで戦うこと、使命を持つこと、負けから立ち上がること — ヒーローの物語を教材化したリーダーシップ/チーム研修。記憶に残る研修として差別化。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オンボーディング教材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内定者フォロー・新人育成向けのストーリー教材。「変身直後がいちばん不安」という物語構造は、入社直後の定着支援とそのまま重なる。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965960"/>
            <a:ext cx="3392424" cy="2377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112264"/>
            <a:ext cx="2990088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「はたらくヒーロー」教育プログラム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子ども向けキャリア教育の出張授業・親子イベント。人材教育に力を注いでこられた貴社の思想を、次世代への投資として社会に示す。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10543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709160"/>
            <a:ext cx="54864" cy="914400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73752"/>
            <a:ext cx="100401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1">
                <a:solidFill>
                  <a:srgbClr val="20242E"/>
                </a:solidFill>
                <a:latin typeface="Yu Gothic"/>
                <a:ea typeface="Yu Gothic"/>
              </a:rPr>
              <a:t>測定　</a:t>
            </a:r>
            <a:r>
              <a:rPr sz="1100" b="0">
                <a:solidFill>
                  <a:srgbClr val="545B6B"/>
                </a:solidFill>
                <a:latin typeface="Yu Gothic"/>
                <a:ea typeface="Yu Gothic"/>
              </a:rPr>
              <a:t>研修導入社数 / 受講満足度・定着率への寄与 / 教育プログラム実施校数・参加者数。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08 — 将来展開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600" b="1">
                <a:solidFill>
                  <a:srgbClr val="20242E"/>
                </a:solidFill>
                <a:latin typeface="Yu Gothic"/>
                <a:ea typeface="Yu Gothic"/>
              </a:rPr>
              <a:t>アジアへ — ウルトラマンの熱量が、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600" b="1">
                <a:solidFill>
                  <a:srgbClr val="20242E"/>
                </a:solidFill>
                <a:latin typeface="Yu Gothic"/>
                <a:ea typeface="Yu Gothic"/>
              </a:rPr>
              <a:t>グローバル人材事業の入口になる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ウルトラマンは中国・東南アジアで構造的に強い認知と熱量を持ちます。日本で働きたい外国人材、アジアへ進出する日本企業 — その双方への接点として、日本ブランドの親近感をそのまま採用マーケティングに転用できます。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5175504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803904"/>
            <a:ext cx="47731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外国人材向け発信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「日本で働く」ことへの親近感の入口としてIPを活用。日本語学習・就労情報コンテンツとの組み合わせ。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3657600"/>
            <a:ext cx="5175504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3803904"/>
            <a:ext cx="47731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アジア進出企業の採用支援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現地での知名度が課題となる日本企業の採用ブランディングに、現地で認知のあるIPの物語を貸す。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09 — 進め方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685800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30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700" b="1">
                <a:solidFill>
                  <a:srgbClr val="20242E"/>
                </a:solidFill>
                <a:latin typeface="Yu Gothic"/>
                <a:ea typeface="Yu Gothic"/>
              </a:rPr>
              <a:t>小さく実証し、大きく育てる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514600" cy="41148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07108"/>
            <a:ext cx="251460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53412"/>
            <a:ext cx="211226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STEP 1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企画ワークショップ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貴社×円谷プロダクションの顔合わせ。コンセプトと優先パッケージのすり合わせ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2152" y="1965960"/>
            <a:ext cx="2514600" cy="41148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02152" y="2007108"/>
            <a:ext cx="251460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153412"/>
            <a:ext cx="211226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STEP 2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スキーム設計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期間限定タイアップとしてライセンス条件・監修体制・費用を設計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65960"/>
            <a:ext cx="2514600" cy="41148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81344" y="2007108"/>
            <a:ext cx="251460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53412"/>
            <a:ext cx="211226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STEP 3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パイロット実施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PKG AまたはBから1本を実施し、想起・応募・掲載への効果を測定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0536" y="1965960"/>
            <a:ext cx="2514600" cy="41148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60536" y="2007108"/>
            <a:ext cx="251460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153412"/>
            <a:ext cx="211226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950" b="1">
                <a:solidFill>
                  <a:srgbClr val="BE3A34"/>
                </a:solidFill>
                <a:latin typeface="Yu Gothic"/>
                <a:ea typeface="Yu Gothic"/>
              </a:rPr>
              <a:t>STEP 4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20242E"/>
                </a:solidFill>
                <a:latin typeface="Yu Gothic"/>
                <a:ea typeface="Yu Gothic"/>
              </a:rPr>
              <a:t>拡大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00" b="0">
                <a:solidFill>
                  <a:srgbClr val="545B6B"/>
                </a:solidFill>
                <a:latin typeface="Yu Gothic"/>
                <a:ea typeface="Yu Gothic"/>
              </a:rPr>
              <a:t>効果検証を踏まえ、年間パートナーシップ・複数パッケージへ展開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46320"/>
            <a:ext cx="1054303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1">
                <a:solidFill>
                  <a:srgbClr val="20242E"/>
                </a:solidFill>
                <a:latin typeface="Yu Gothic"/>
                <a:ea typeface="Yu Gothic"/>
              </a:rPr>
              <a:t>ブランド管理　</a:t>
            </a:r>
            <a:r>
              <a:rPr sz="1150" b="0">
                <a:solidFill>
                  <a:srgbClr val="545B6B"/>
                </a:solidFill>
                <a:latin typeface="Yu Gothic"/>
                <a:ea typeface="Yu Gothic"/>
              </a:rPr>
              <a:t>キャラクター使用はすべて円谷プロダクションの監修フローを通します。60年の運用で確立された型があるため、貴社のブランドを傷つけない座組みで進行できます。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BE3A34"/>
                </a:solidFill>
                <a:latin typeface="Yu Gothic"/>
                <a:ea typeface="Yu Gothic"/>
              </a:rPr>
              <a:t>10 — むすび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896112"/>
            <a:ext cx="7251192" cy="12700"/>
          </a:xfrm>
          <a:prstGeom prst="rect">
            <a:avLst/>
          </a:prstGeom>
          <a:solidFill>
            <a:srgbClr val="DC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30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3000" b="1">
                <a:solidFill>
                  <a:srgbClr val="20242E"/>
                </a:solidFill>
                <a:latin typeface="Yu Gothic"/>
                <a:ea typeface="Yu Gothic"/>
              </a:rPr>
              <a:t>「縁」と「光」。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3000" b="1">
                <a:solidFill>
                  <a:srgbClr val="20242E"/>
                </a:solidFill>
                <a:latin typeface="Yu Gothic"/>
                <a:ea typeface="Yu Gothic"/>
              </a:rPr>
              <a:t>人の可能性を信じる者同士の協業を。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545B6B"/>
                </a:solidFill>
                <a:latin typeface="Yu Gothic"/>
                <a:ea typeface="Yu Gothic"/>
              </a:rPr>
              <a:t>エンは「縁」— 人と企業の出会いを、入社後の活躍まで見届ける会社。ウルトラマンは「光」— 人の中にある強さを信じ続けるヒーロー。この2つが組むことは、単なるタイアップではなく、同じ思想の共同表明だと考えています。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0543032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54864" cy="1234440"/>
          </a:xfrm>
          <a:prstGeom prst="rect">
            <a:avLst/>
          </a:prstGeom>
          <a:solidFill>
            <a:srgbClr val="B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325112"/>
            <a:ext cx="10040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00" b="0">
                <a:solidFill>
                  <a:srgbClr val="20242E"/>
                </a:solidFill>
                <a:latin typeface="Yu Gothic"/>
                <a:ea typeface="Yu Gothic"/>
              </a:rPr>
              <a:t>次の一歩として、</a:t>
            </a:r>
            <a:r>
              <a:rPr sz="1300" b="1">
                <a:solidFill>
                  <a:srgbClr val="BE3A34"/>
                </a:solidFill>
                <a:latin typeface="Yu Gothic"/>
                <a:ea typeface="Yu Gothic"/>
              </a:rPr>
              <a:t>円谷プロダクションを交えた企画ワークショップ(初回90分)</a:t>
            </a:r>
            <a:r>
              <a:rPr sz="1300" b="0">
                <a:solidFill>
                  <a:srgbClr val="20242E"/>
                </a:solidFill>
                <a:latin typeface="Yu Gothic"/>
                <a:ea typeface="Yu Gothic"/>
              </a:rPr>
              <a:t> の場を設けさせてください。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00" b="0">
                <a:solidFill>
                  <a:srgbClr val="20242E"/>
                </a:solidFill>
                <a:latin typeface="Yu Gothic"/>
                <a:ea typeface="Yu Gothic"/>
              </a:rPr>
              <a:t>優先パッケージとパイロットの座組みまで、その場で骨格を固めます。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43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8A92A3"/>
                </a:solidFill>
                <a:latin typeface="Yu Gothic"/>
                <a:ea typeface="Yu Gothic"/>
              </a:rPr>
              <a:t>本資料は協業検討のためのご提案であり、キャラクター・作品の使用はすべて権利者の承認・監修を前提とします。記載の施策・スケジュールは提案時点の想定です。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4008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A92A3"/>
                </a:solidFill>
                <a:latin typeface="Yu Gothic"/>
                <a:ea typeface="Yu Gothic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