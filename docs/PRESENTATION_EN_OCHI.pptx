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94360"/>
            <a:ext cx="10543032" cy="640080"/>
          </a:xfrm>
          <a:prstGeom prst="rect">
            <a:avLst/>
          </a:prstGeom>
          <a:noFill/>
        </p:spPr>
        <p:txBody>
          <a:bodyPr wrap="square" anchor="t" lIns="0" rIns="0" tIns="0" bIns="0">
            <a:spAutoFit/>
          </a:bodyPr>
          <a:lstStyle/>
          <a:p>
            <a:pPr algn="l">
              <a:lnSpc>
                <a:spcPct val="125000"/>
              </a:lnSpc>
              <a:spcAft>
                <a:spcPts val="200"/>
              </a:spcAft>
            </a:pPr>
            <a:r>
              <a:rPr sz="1200" b="0">
                <a:solidFill>
                  <a:srgbClr val="545B6B"/>
                </a:solidFill>
                <a:latin typeface="Yu Gothic"/>
                <a:ea typeface="Yu Gothic"/>
              </a:rPr>
              <a:t>エン株式会社</a:t>
            </a:r>
          </a:p>
          <a:p>
            <a:pPr algn="l">
              <a:lnSpc>
                <a:spcPct val="125000"/>
              </a:lnSpc>
              <a:spcAft>
                <a:spcPts val="200"/>
              </a:spcAft>
            </a:pPr>
            <a:r>
              <a:rPr sz="1500" b="1">
                <a:solidFill>
                  <a:srgbClr val="20242E"/>
                </a:solidFill>
                <a:latin typeface="Yu Gothic"/>
                <a:ea typeface="Yu Gothic"/>
              </a:rPr>
              <a:t>代表取締役社長　越智 通勝 様</a:t>
            </a:r>
          </a:p>
        </p:txBody>
      </p:sp>
      <p:sp>
        <p:nvSpPr>
          <p:cNvPr id="3" name="Rectangle 2"/>
          <p:cNvSpPr/>
          <p:nvPr/>
        </p:nvSpPr>
        <p:spPr>
          <a:xfrm>
            <a:off x="822960" y="1371600"/>
            <a:ext cx="1054303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10543032" cy="365760"/>
          </a:xfrm>
          <a:prstGeom prst="rect">
            <a:avLst/>
          </a:prstGeom>
          <a:noFill/>
        </p:spPr>
        <p:txBody>
          <a:bodyPr wrap="square" anchor="t" lIns="0" rIns="0" tIns="0" bIns="0">
            <a:spAutoFit/>
          </a:bodyPr>
          <a:lstStyle/>
          <a:p>
            <a:pPr algn="l">
              <a:lnSpc>
                <a:spcPct val="125000"/>
              </a:lnSpc>
              <a:spcAft>
                <a:spcPts val="400"/>
              </a:spcAft>
            </a:pPr>
            <a:r>
              <a:rPr sz="1200" b="1">
                <a:solidFill>
                  <a:srgbClr val="6E7889"/>
                </a:solidFill>
                <a:latin typeface="Yu Gothic"/>
                <a:ea typeface="Yu Gothic"/>
              </a:rPr>
              <a:t>U L T R A M A N   I P</a:t>
            </a:r>
            <a:r>
              <a:rPr sz="1200" b="1">
                <a:solidFill>
                  <a:srgbClr val="BE3A34"/>
                </a:solidFill>
                <a:latin typeface="Yu Gothic"/>
                <a:ea typeface="Yu Gothic"/>
              </a:rPr>
              <a:t>   ×   </a:t>
            </a:r>
            <a:r>
              <a:rPr sz="1200" b="1">
                <a:solidFill>
                  <a:srgbClr val="6E7889"/>
                </a:solidFill>
                <a:latin typeface="Yu Gothic"/>
                <a:ea typeface="Yu Gothic"/>
              </a:rPr>
              <a:t>e n</a:t>
            </a:r>
          </a:p>
        </p:txBody>
      </p:sp>
      <p:sp>
        <p:nvSpPr>
          <p:cNvPr id="5" name="TextBox 4"/>
          <p:cNvSpPr txBox="1"/>
          <p:nvPr/>
        </p:nvSpPr>
        <p:spPr>
          <a:xfrm>
            <a:off x="822960" y="2423160"/>
            <a:ext cx="10543032" cy="1828800"/>
          </a:xfrm>
          <a:prstGeom prst="rect">
            <a:avLst/>
          </a:prstGeom>
          <a:noFill/>
        </p:spPr>
        <p:txBody>
          <a:bodyPr wrap="square" anchor="t" lIns="0" rIns="0" tIns="0" bIns="0">
            <a:spAutoFit/>
          </a:bodyPr>
          <a:lstStyle/>
          <a:p>
            <a:pPr algn="l">
              <a:lnSpc>
                <a:spcPct val="120000"/>
              </a:lnSpc>
              <a:spcAft>
                <a:spcPts val="400"/>
              </a:spcAft>
            </a:pPr>
            <a:r>
              <a:rPr sz="4000" b="1">
                <a:solidFill>
                  <a:srgbClr val="20242E"/>
                </a:solidFill>
                <a:latin typeface="Yu Gothic"/>
                <a:ea typeface="Yu Gothic"/>
              </a:rPr>
              <a:t>はたらく人を、</a:t>
            </a:r>
          </a:p>
          <a:p>
            <a:pPr algn="l">
              <a:lnSpc>
                <a:spcPct val="120000"/>
              </a:lnSpc>
              <a:spcAft>
                <a:spcPts val="400"/>
              </a:spcAft>
            </a:pPr>
            <a:r>
              <a:rPr sz="4000" b="1">
                <a:solidFill>
                  <a:srgbClr val="BE3A34"/>
                </a:solidFill>
                <a:latin typeface="Yu Gothic"/>
                <a:ea typeface="Yu Gothic"/>
              </a:rPr>
              <a:t>ヒーローに。</a:t>
            </a:r>
          </a:p>
        </p:txBody>
      </p:sp>
      <p:sp>
        <p:nvSpPr>
          <p:cNvPr id="6" name="TextBox 5"/>
          <p:cNvSpPr txBox="1"/>
          <p:nvPr/>
        </p:nvSpPr>
        <p:spPr>
          <a:xfrm>
            <a:off x="822960" y="4434840"/>
            <a:ext cx="8961120" cy="914400"/>
          </a:xfrm>
          <a:prstGeom prst="rect">
            <a:avLst/>
          </a:prstGeom>
          <a:noFill/>
        </p:spPr>
        <p:txBody>
          <a:bodyPr wrap="square" anchor="t" lIns="0" rIns="0" tIns="0" bIns="0">
            <a:spAutoFit/>
          </a:bodyPr>
          <a:lstStyle/>
          <a:p>
            <a:pPr algn="l">
              <a:lnSpc>
                <a:spcPct val="140000"/>
              </a:lnSpc>
              <a:spcAft>
                <a:spcPts val="200"/>
              </a:spcAft>
            </a:pPr>
            <a:r>
              <a:rPr sz="1250" b="0">
                <a:solidFill>
                  <a:srgbClr val="545B6B"/>
                </a:solidFill>
                <a:latin typeface="Yu Gothic"/>
                <a:ea typeface="Yu Gothic"/>
              </a:rPr>
              <a:t>60年にわたり三世代に愛され続けるウルトラマンIPと、「入社後活躍」を掲げるエン。</a:t>
            </a:r>
          </a:p>
          <a:p>
            <a:pPr algn="l">
              <a:lnSpc>
                <a:spcPct val="140000"/>
              </a:lnSpc>
              <a:spcAft>
                <a:spcPts val="200"/>
              </a:spcAft>
            </a:pPr>
            <a:r>
              <a:rPr sz="1250" b="0">
                <a:solidFill>
                  <a:srgbClr val="545B6B"/>
                </a:solidFill>
                <a:latin typeface="Yu Gothic"/>
                <a:ea typeface="Yu Gothic"/>
              </a:rPr>
              <a:t>HR業界初・カテゴリー独占パートナーシップのご提案です。</a:t>
            </a:r>
          </a:p>
        </p:txBody>
      </p:sp>
      <p:sp>
        <p:nvSpPr>
          <p:cNvPr id="7" name="TextBox 6"/>
          <p:cNvSpPr txBox="1"/>
          <p:nvPr/>
        </p:nvSpPr>
        <p:spPr>
          <a:xfrm>
            <a:off x="822960" y="5852160"/>
            <a:ext cx="5486400" cy="320040"/>
          </a:xfrm>
          <a:prstGeom prst="rect">
            <a:avLst/>
          </a:prstGeom>
          <a:noFill/>
        </p:spPr>
        <p:txBody>
          <a:bodyPr wrap="square" anchor="t" lIns="0" rIns="0" tIns="0" bIns="0">
            <a:spAutoFit/>
          </a:bodyPr>
          <a:lstStyle/>
          <a:p>
            <a:pPr algn="l">
              <a:lnSpc>
                <a:spcPct val="125000"/>
              </a:lnSpc>
              <a:spcAft>
                <a:spcPts val="400"/>
              </a:spcAft>
            </a:pPr>
            <a:r>
              <a:rPr sz="1100" b="0">
                <a:solidFill>
                  <a:srgbClr val="8A92A3"/>
                </a:solidFill>
                <a:latin typeface="Yu Gothic"/>
                <a:ea typeface="Yu Gothic"/>
              </a:rPr>
              <a:t>2 0 2 6 . 0 7　ご提案資料</a:t>
            </a:r>
          </a:p>
        </p:txBody>
      </p:sp>
      <p:sp>
        <p:nvSpPr>
          <p:cNvPr id="8" name="TextBox 7"/>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1188720"/>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01 — 問題意識</a:t>
            </a:r>
          </a:p>
        </p:txBody>
      </p:sp>
      <p:sp>
        <p:nvSpPr>
          <p:cNvPr id="3" name="Rectangle 2"/>
          <p:cNvSpPr/>
          <p:nvPr/>
        </p:nvSpPr>
        <p:spPr>
          <a:xfrm>
            <a:off x="4114800" y="1307592"/>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43032" cy="1645920"/>
          </a:xfrm>
          <a:prstGeom prst="rect">
            <a:avLst/>
          </a:prstGeom>
          <a:noFill/>
        </p:spPr>
        <p:txBody>
          <a:bodyPr wrap="square" anchor="t" lIns="0" rIns="0" tIns="0" bIns="0">
            <a:spAutoFit/>
          </a:bodyPr>
          <a:lstStyle/>
          <a:p>
            <a:pPr algn="l">
              <a:lnSpc>
                <a:spcPct val="135000"/>
              </a:lnSpc>
              <a:spcAft>
                <a:spcPts val="400"/>
              </a:spcAft>
            </a:pPr>
            <a:r>
              <a:rPr sz="3000" b="1">
                <a:solidFill>
                  <a:srgbClr val="20242E"/>
                </a:solidFill>
                <a:latin typeface="Yu Gothic"/>
                <a:ea typeface="Yu Gothic"/>
              </a:rPr>
              <a:t>人材サービスは、</a:t>
            </a:r>
          </a:p>
          <a:p>
            <a:pPr algn="l">
              <a:lnSpc>
                <a:spcPct val="135000"/>
              </a:lnSpc>
              <a:spcAft>
                <a:spcPts val="400"/>
              </a:spcAft>
            </a:pPr>
            <a:r>
              <a:rPr sz="3000" b="1">
                <a:solidFill>
                  <a:srgbClr val="20242E"/>
                </a:solidFill>
                <a:latin typeface="Yu Gothic"/>
                <a:ea typeface="Yu Gothic"/>
              </a:rPr>
              <a:t>「機能」では差がつきにくい時代へ。</a:t>
            </a:r>
          </a:p>
        </p:txBody>
      </p:sp>
      <p:sp>
        <p:nvSpPr>
          <p:cNvPr id="5" name="TextBox 4"/>
          <p:cNvSpPr txBox="1"/>
          <p:nvPr/>
        </p:nvSpPr>
        <p:spPr>
          <a:xfrm>
            <a:off x="822960" y="3931920"/>
            <a:ext cx="9692640" cy="1463040"/>
          </a:xfrm>
          <a:prstGeom prst="rect">
            <a:avLst/>
          </a:prstGeom>
          <a:noFill/>
        </p:spPr>
        <p:txBody>
          <a:bodyPr wrap="square" anchor="t" lIns="0" rIns="0" tIns="0" bIns="0">
            <a:spAutoFit/>
          </a:bodyPr>
          <a:lstStyle/>
          <a:p>
            <a:pPr algn="l">
              <a:lnSpc>
                <a:spcPct val="150000"/>
              </a:lnSpc>
              <a:spcAft>
                <a:spcPts val="300"/>
              </a:spcAft>
            </a:pPr>
            <a:r>
              <a:rPr sz="1300" b="0">
                <a:solidFill>
                  <a:srgbClr val="545B6B"/>
                </a:solidFill>
                <a:latin typeface="Yu Gothic"/>
                <a:ea typeface="Yu Gothic"/>
              </a:rPr>
              <a:t>求人数・検索機能・価格 — 機能の戦いは、資本力の消耗戦になりつつあります。</a:t>
            </a:r>
          </a:p>
          <a:p>
            <a:pPr algn="l">
              <a:lnSpc>
                <a:spcPct val="150000"/>
              </a:lnSpc>
              <a:spcAft>
                <a:spcPts val="300"/>
              </a:spcAft>
            </a:pPr>
            <a:r>
              <a:rPr sz="1300" b="0">
                <a:solidFill>
                  <a:srgbClr val="545B6B"/>
                </a:solidFill>
                <a:latin typeface="Yu Gothic"/>
                <a:ea typeface="Yu Gothic"/>
              </a:rPr>
              <a:t>求職者と企業の心に残るのは、最後は「想起」と「好意」。</a:t>
            </a:r>
          </a:p>
          <a:p>
            <a:pPr algn="l">
              <a:lnSpc>
                <a:spcPct val="150000"/>
              </a:lnSpc>
              <a:spcAft>
                <a:spcPts val="300"/>
              </a:spcAft>
            </a:pPr>
            <a:r>
              <a:rPr sz="1300" b="0">
                <a:solidFill>
                  <a:srgbClr val="545B6B"/>
                </a:solidFill>
                <a:latin typeface="Yu Gothic"/>
                <a:ea typeface="Yu Gothic"/>
              </a:rPr>
              <a:t>機能ではなく、</a:t>
            </a:r>
            <a:r>
              <a:rPr sz="1300" b="1">
                <a:solidFill>
                  <a:srgbClr val="20242E"/>
                </a:solidFill>
                <a:latin typeface="Yu Gothic"/>
                <a:ea typeface="Yu Gothic"/>
              </a:rPr>
              <a:t>物語の力で選ばれるブランド</a:t>
            </a:r>
            <a:r>
              <a:rPr sz="1300" b="0">
                <a:solidFill>
                  <a:srgbClr val="545B6B"/>
                </a:solidFill>
                <a:latin typeface="Yu Gothic"/>
                <a:ea typeface="Yu Gothic"/>
              </a:rPr>
              <a:t>をどう作るかが問われています。</a:t>
            </a:r>
          </a:p>
        </p:txBody>
      </p:sp>
      <p:sp>
        <p:nvSpPr>
          <p:cNvPr id="6" name="TextBox 5"/>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02 — 先例</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1440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通信業界が証明した「キャラクターの席」は、</a:t>
            </a:r>
          </a:p>
        </p:txBody>
      </p:sp>
      <p:sp>
        <p:nvSpPr>
          <p:cNvPr id="5" name="TextBox 4"/>
          <p:cNvSpPr txBox="1"/>
          <p:nvPr/>
        </p:nvSpPr>
        <p:spPr>
          <a:xfrm>
            <a:off x="822960" y="14173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HR業界では</a:t>
            </a:r>
            <a:r>
              <a:rPr sz="2700" b="1">
                <a:solidFill>
                  <a:srgbClr val="BE3A34"/>
                </a:solidFill>
                <a:latin typeface="Yu Gothic"/>
                <a:ea typeface="Yu Gothic"/>
              </a:rPr>
              <a:t>まだ空いている</a:t>
            </a:r>
            <a:r>
              <a:rPr sz="2700" b="1">
                <a:solidFill>
                  <a:srgbClr val="20242E"/>
                </a:solidFill>
                <a:latin typeface="Yu Gothic"/>
                <a:ea typeface="Yu Gothic"/>
              </a:rPr>
              <a:t>。</a:t>
            </a:r>
          </a:p>
        </p:txBody>
      </p:sp>
      <p:sp>
        <p:nvSpPr>
          <p:cNvPr id="6" name="TextBox 5"/>
          <p:cNvSpPr txBox="1"/>
          <p:nvPr/>
        </p:nvSpPr>
        <p:spPr>
          <a:xfrm>
            <a:off x="822960" y="2240280"/>
            <a:ext cx="1005840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ソフトバンク「白戸家」、au「三太郎」— 通信各社はキャラクター起点の物語広告に年間数十億円規模を投じ、10年以上にわたりブランド想起の上位を独占してきました。機能で差がつかない業界ほど、物語への投資が効くことを、隣の業界がすでに証明しています。</a:t>
            </a:r>
          </a:p>
        </p:txBody>
      </p:sp>
      <p:sp>
        <p:nvSpPr>
          <p:cNvPr id="7" name="Rounded Rectangle 6"/>
          <p:cNvSpPr/>
          <p:nvPr/>
        </p:nvSpPr>
        <p:spPr>
          <a:xfrm>
            <a:off x="822960" y="3520440"/>
            <a:ext cx="5175504" cy="18288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3666744"/>
            <a:ext cx="4773168" cy="15544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FACT</a:t>
            </a:r>
          </a:p>
          <a:p>
            <a:pPr algn="l">
              <a:lnSpc>
                <a:spcPct val="130000"/>
              </a:lnSpc>
              <a:spcAft>
                <a:spcPts val="500"/>
              </a:spcAft>
            </a:pPr>
            <a:r>
              <a:rPr sz="1300" b="1">
                <a:solidFill>
                  <a:srgbClr val="20242E"/>
                </a:solidFill>
                <a:latin typeface="Yu Gothic"/>
                <a:ea typeface="Yu Gothic"/>
              </a:rPr>
              <a:t>機能均質の業界ほど、物語が効く</a:t>
            </a:r>
          </a:p>
          <a:p>
            <a:pPr algn="l">
              <a:lnSpc>
                <a:spcPct val="130000"/>
              </a:lnSpc>
              <a:spcAft>
                <a:spcPts val="500"/>
              </a:spcAft>
            </a:pPr>
            <a:r>
              <a:rPr sz="1000" b="0">
                <a:solidFill>
                  <a:srgbClr val="545B6B"/>
                </a:solidFill>
                <a:latin typeface="Yu Gothic"/>
                <a:ea typeface="Yu Gothic"/>
              </a:rPr>
              <a:t>通信は料金・回線品質の差が縮まった瞬間に、キャラクター物語がブランド選好の主戦場になった。求人数・機能が均質化するHR業界は、同じ構造の入口に立っている。</a:t>
            </a:r>
          </a:p>
        </p:txBody>
      </p:sp>
      <p:sp>
        <p:nvSpPr>
          <p:cNvPr id="9" name="Rounded Rectangle 8"/>
          <p:cNvSpPr/>
          <p:nvPr/>
        </p:nvSpPr>
        <p:spPr>
          <a:xfrm>
            <a:off x="6181344" y="3520440"/>
            <a:ext cx="5175504" cy="18288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3666744"/>
            <a:ext cx="4773168" cy="15544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OPPORTUNITY</a:t>
            </a:r>
          </a:p>
          <a:p>
            <a:pPr algn="l">
              <a:lnSpc>
                <a:spcPct val="130000"/>
              </a:lnSpc>
              <a:spcAft>
                <a:spcPts val="500"/>
              </a:spcAft>
            </a:pPr>
            <a:r>
              <a:rPr sz="1300" b="1">
                <a:solidFill>
                  <a:srgbClr val="20242E"/>
                </a:solidFill>
                <a:latin typeface="Yu Gothic"/>
                <a:ea typeface="Yu Gothic"/>
              </a:rPr>
              <a:t>最初に座った会社が、連想を独占する</a:t>
            </a:r>
          </a:p>
          <a:p>
            <a:pPr algn="l">
              <a:lnSpc>
                <a:spcPct val="130000"/>
              </a:lnSpc>
              <a:spcAft>
                <a:spcPts val="500"/>
              </a:spcAft>
            </a:pPr>
            <a:r>
              <a:rPr sz="1000" b="0">
                <a:solidFill>
                  <a:srgbClr val="545B6B"/>
                </a:solidFill>
                <a:latin typeface="Yu Gothic"/>
                <a:ea typeface="Yu Gothic"/>
              </a:rPr>
              <a:t>「転職 = このキャラクター = このブランド」の連想は、最初に組んだ一社が取り切る。HR業界に国民的キャラクターの席はまだ空いており、先に座ることに価値がある。</a:t>
            </a:r>
          </a:p>
        </p:txBody>
      </p:sp>
      <p:sp>
        <p:nvSpPr>
          <p:cNvPr id="11" name="Rounded Rectangle 10"/>
          <p:cNvSpPr/>
          <p:nvPr/>
        </p:nvSpPr>
        <p:spPr>
          <a:xfrm>
            <a:off x="822960" y="5623560"/>
            <a:ext cx="10543032" cy="73152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5623560"/>
            <a:ext cx="54864" cy="73152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788152"/>
            <a:ext cx="10040112" cy="411480"/>
          </a:xfrm>
          <a:prstGeom prst="rect">
            <a:avLst/>
          </a:prstGeom>
          <a:noFill/>
        </p:spPr>
        <p:txBody>
          <a:bodyPr wrap="square" anchor="t" lIns="0" rIns="0" tIns="0" bIns="0">
            <a:spAutoFit/>
          </a:bodyPr>
          <a:lstStyle/>
          <a:p>
            <a:pPr algn="l">
              <a:lnSpc>
                <a:spcPct val="140000"/>
              </a:lnSpc>
              <a:spcAft>
                <a:spcPts val="400"/>
              </a:spcAft>
            </a:pPr>
            <a:r>
              <a:rPr sz="1200" b="1">
                <a:solidFill>
                  <a:srgbClr val="20242E"/>
                </a:solidFill>
                <a:latin typeface="Yu Gothic"/>
                <a:ea typeface="Yu Gothic"/>
              </a:rPr>
              <a:t>本提案の金額(エントリー8,000万円/年間2億円)は、この「席」を業界で最初に、独占的に押さえるための投資水準です。</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03 — なぜウルトラマンか</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転職ボリュームゾーンの、ど真ん中にいるIP</a:t>
            </a:r>
          </a:p>
        </p:txBody>
      </p:sp>
      <p:sp>
        <p:nvSpPr>
          <p:cNvPr id="5" name="Rounded Rectangle 4"/>
          <p:cNvSpPr/>
          <p:nvPr/>
        </p:nvSpPr>
        <p:spPr>
          <a:xfrm>
            <a:off x="822960" y="196596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11226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1</a:t>
            </a:r>
          </a:p>
          <a:p>
            <a:pPr algn="l">
              <a:lnSpc>
                <a:spcPct val="130000"/>
              </a:lnSpc>
              <a:spcAft>
                <a:spcPts val="500"/>
              </a:spcAft>
            </a:pPr>
            <a:r>
              <a:rPr sz="1300" b="1">
                <a:solidFill>
                  <a:srgbClr val="20242E"/>
                </a:solidFill>
                <a:latin typeface="Yu Gothic"/>
                <a:ea typeface="Yu Gothic"/>
              </a:rPr>
              <a:t>世代がぴったり重なる</a:t>
            </a:r>
          </a:p>
          <a:p>
            <a:pPr algn="l">
              <a:lnSpc>
                <a:spcPct val="130000"/>
              </a:lnSpc>
              <a:spcAft>
                <a:spcPts val="500"/>
              </a:spcAft>
            </a:pPr>
            <a:r>
              <a:rPr sz="1000" b="0">
                <a:solidFill>
                  <a:srgbClr val="545B6B"/>
                </a:solidFill>
                <a:latin typeface="Yu Gothic"/>
                <a:ea typeface="Yu Gothic"/>
              </a:rPr>
              <a:t>平成ウルトラマンで育った世代は、いま20〜40代 — 転職市場のボリュームゾーンそのもの。さらに親子二世代・三世代で通じる、稀有な国民的IP。</a:t>
            </a:r>
          </a:p>
        </p:txBody>
      </p:sp>
      <p:sp>
        <p:nvSpPr>
          <p:cNvPr id="7" name="Rounded Rectangle 6"/>
          <p:cNvSpPr/>
          <p:nvPr/>
        </p:nvSpPr>
        <p:spPr>
          <a:xfrm>
            <a:off x="6181344" y="196596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82512" y="211226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2</a:t>
            </a:r>
          </a:p>
          <a:p>
            <a:pPr algn="l">
              <a:lnSpc>
                <a:spcPct val="130000"/>
              </a:lnSpc>
              <a:spcAft>
                <a:spcPts val="500"/>
              </a:spcAft>
            </a:pPr>
            <a:r>
              <a:rPr sz="1300" b="1">
                <a:solidFill>
                  <a:srgbClr val="20242E"/>
                </a:solidFill>
                <a:latin typeface="Yu Gothic"/>
                <a:ea typeface="Yu Gothic"/>
              </a:rPr>
              <a:t>物語構造が「入社後活躍」と同型</a:t>
            </a:r>
          </a:p>
          <a:p>
            <a:pPr algn="l">
              <a:lnSpc>
                <a:spcPct val="130000"/>
              </a:lnSpc>
              <a:spcAft>
                <a:spcPts val="500"/>
              </a:spcAft>
            </a:pPr>
            <a:r>
              <a:rPr sz="1000" b="0">
                <a:solidFill>
                  <a:srgbClr val="545B6B"/>
                </a:solidFill>
                <a:latin typeface="Yu Gothic"/>
                <a:ea typeface="Yu Gothic"/>
              </a:rPr>
              <a:t>ウルトラマンは変身して終わりではない。仲間とともに、使命のために戦い続けてこそヒーロー。「入社して終わりではなく、活躍してこそ」というエンの思想と同じ骨格を持つ。</a:t>
            </a:r>
          </a:p>
        </p:txBody>
      </p:sp>
      <p:sp>
        <p:nvSpPr>
          <p:cNvPr id="9" name="Rounded Rectangle 8"/>
          <p:cNvSpPr/>
          <p:nvPr/>
        </p:nvSpPr>
        <p:spPr>
          <a:xfrm>
            <a:off x="822960" y="413308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427939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3</a:t>
            </a:r>
          </a:p>
          <a:p>
            <a:pPr algn="l">
              <a:lnSpc>
                <a:spcPct val="130000"/>
              </a:lnSpc>
              <a:spcAft>
                <a:spcPts val="500"/>
              </a:spcAft>
            </a:pPr>
            <a:r>
              <a:rPr sz="1300" b="1">
                <a:solidFill>
                  <a:srgbClr val="20242E"/>
                </a:solidFill>
                <a:latin typeface="Yu Gothic"/>
                <a:ea typeface="Yu Gothic"/>
              </a:rPr>
              <a:t>アジアでの圧倒的認知</a:t>
            </a:r>
          </a:p>
          <a:p>
            <a:pPr algn="l">
              <a:lnSpc>
                <a:spcPct val="130000"/>
              </a:lnSpc>
              <a:spcAft>
                <a:spcPts val="500"/>
              </a:spcAft>
            </a:pPr>
            <a:r>
              <a:rPr sz="1000" b="0">
                <a:solidFill>
                  <a:srgbClr val="545B6B"/>
                </a:solidFill>
                <a:latin typeface="Yu Gothic"/>
                <a:ea typeface="Yu Gothic"/>
              </a:rPr>
              <a:t>中国・東南アジアで構造的に強い熱量。外国人材・グローバル採用領域(en world)との接続余地がある。</a:t>
            </a:r>
          </a:p>
        </p:txBody>
      </p:sp>
      <p:sp>
        <p:nvSpPr>
          <p:cNvPr id="11" name="Rounded Rectangle 10"/>
          <p:cNvSpPr/>
          <p:nvPr/>
        </p:nvSpPr>
        <p:spPr>
          <a:xfrm>
            <a:off x="6181344" y="413308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82512" y="427939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4</a:t>
            </a:r>
          </a:p>
          <a:p>
            <a:pPr algn="l">
              <a:lnSpc>
                <a:spcPct val="130000"/>
              </a:lnSpc>
              <a:spcAft>
                <a:spcPts val="500"/>
              </a:spcAft>
            </a:pPr>
            <a:r>
              <a:rPr sz="1300" b="1">
                <a:solidFill>
                  <a:srgbClr val="20242E"/>
                </a:solidFill>
                <a:latin typeface="Yu Gothic"/>
                <a:ea typeface="Yu Gothic"/>
              </a:rPr>
              <a:t>ブランドセーフティの高さ</a:t>
            </a:r>
          </a:p>
          <a:p>
            <a:pPr algn="l">
              <a:lnSpc>
                <a:spcPct val="130000"/>
              </a:lnSpc>
              <a:spcAft>
                <a:spcPts val="500"/>
              </a:spcAft>
            </a:pPr>
            <a:r>
              <a:rPr sz="1000" b="0">
                <a:solidFill>
                  <a:srgbClr val="545B6B"/>
                </a:solidFill>
                <a:latin typeface="Yu Gothic"/>
                <a:ea typeface="Yu Gothic"/>
              </a:rPr>
              <a:t>子ども向けから大人向けまで企業タイアップの実績が豊富で、監修の型が確立。タレントと違い、炎上・降板リスクがない。</a:t>
            </a:r>
          </a:p>
        </p:txBody>
      </p:sp>
      <p:sp>
        <p:nvSpPr>
          <p:cNvPr id="13" name="TextBox 12"/>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777240"/>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04 — コンセプト</a:t>
            </a:r>
          </a:p>
        </p:txBody>
      </p:sp>
      <p:sp>
        <p:nvSpPr>
          <p:cNvPr id="3" name="Rectangle 2"/>
          <p:cNvSpPr/>
          <p:nvPr/>
        </p:nvSpPr>
        <p:spPr>
          <a:xfrm>
            <a:off x="4114800" y="896112"/>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543032" cy="914400"/>
          </a:xfrm>
          <a:prstGeom prst="rect">
            <a:avLst/>
          </a:prstGeom>
          <a:noFill/>
        </p:spPr>
        <p:txBody>
          <a:bodyPr wrap="square" anchor="t" lIns="0" rIns="0" tIns="0" bIns="0">
            <a:spAutoFit/>
          </a:bodyPr>
          <a:lstStyle/>
          <a:p>
            <a:pPr algn="l">
              <a:lnSpc>
                <a:spcPct val="125000"/>
              </a:lnSpc>
              <a:spcAft>
                <a:spcPts val="400"/>
              </a:spcAft>
            </a:pPr>
            <a:r>
              <a:rPr sz="3400" b="1">
                <a:solidFill>
                  <a:srgbClr val="20242E"/>
                </a:solidFill>
                <a:latin typeface="Yu Gothic"/>
                <a:ea typeface="Yu Gothic"/>
              </a:rPr>
              <a:t>「その転職は、</a:t>
            </a:r>
            <a:r>
              <a:rPr sz="3400" b="1">
                <a:solidFill>
                  <a:srgbClr val="BE3A34"/>
                </a:solidFill>
                <a:latin typeface="Yu Gothic"/>
                <a:ea typeface="Yu Gothic"/>
              </a:rPr>
              <a:t>変身</a:t>
            </a:r>
            <a:r>
              <a:rPr sz="3400" b="1">
                <a:solidFill>
                  <a:srgbClr val="20242E"/>
                </a:solidFill>
                <a:latin typeface="Yu Gothic"/>
                <a:ea typeface="Yu Gothic"/>
              </a:rPr>
              <a:t>だ。」</a:t>
            </a:r>
          </a:p>
        </p:txBody>
      </p:sp>
      <p:sp>
        <p:nvSpPr>
          <p:cNvPr id="5" name="TextBox 4"/>
          <p:cNvSpPr txBox="1"/>
          <p:nvPr/>
        </p:nvSpPr>
        <p:spPr>
          <a:xfrm>
            <a:off x="822960" y="228600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新しい環境に飛び込み、力を得て、仲間とともに戦い続ける。ウルトラマンの物語は、はたらく人のキャリアの物語でもあります。</a:t>
            </a:r>
          </a:p>
        </p:txBody>
      </p:sp>
      <p:sp>
        <p:nvSpPr>
          <p:cNvPr id="6" name="Rounded Rectangle 5"/>
          <p:cNvSpPr/>
          <p:nvPr/>
        </p:nvSpPr>
        <p:spPr>
          <a:xfrm>
            <a:off x="822960" y="3246120"/>
            <a:ext cx="4663440" cy="17373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474720"/>
            <a:ext cx="4114800" cy="1280160"/>
          </a:xfrm>
          <a:prstGeom prst="rect">
            <a:avLst/>
          </a:prstGeom>
          <a:noFill/>
        </p:spPr>
        <p:txBody>
          <a:bodyPr wrap="square" anchor="t" lIns="0" rIns="0" tIns="0" bIns="0">
            <a:spAutoFit/>
          </a:bodyPr>
          <a:lstStyle/>
          <a:p>
            <a:pPr algn="l">
              <a:lnSpc>
                <a:spcPct val="135000"/>
              </a:lnSpc>
              <a:spcAft>
                <a:spcPts val="600"/>
              </a:spcAft>
            </a:pPr>
            <a:r>
              <a:rPr sz="1000" b="1">
                <a:solidFill>
                  <a:srgbClr val="6E7889"/>
                </a:solidFill>
                <a:latin typeface="Yu Gothic"/>
                <a:ea typeface="Yu Gothic"/>
              </a:rPr>
              <a:t>U L T R A M A N</a:t>
            </a:r>
          </a:p>
          <a:p>
            <a:pPr algn="l">
              <a:lnSpc>
                <a:spcPct val="135000"/>
              </a:lnSpc>
              <a:spcAft>
                <a:spcPts val="600"/>
              </a:spcAft>
            </a:pPr>
            <a:r>
              <a:rPr sz="1500" b="1">
                <a:solidFill>
                  <a:srgbClr val="20242E"/>
                </a:solidFill>
                <a:latin typeface="Yu Gothic"/>
                <a:ea typeface="Yu Gothic"/>
              </a:rPr>
              <a:t>変身して、終わりじゃない。</a:t>
            </a:r>
          </a:p>
          <a:p>
            <a:pPr algn="l">
              <a:lnSpc>
                <a:spcPct val="135000"/>
              </a:lnSpc>
              <a:spcAft>
                <a:spcPts val="600"/>
              </a:spcAft>
            </a:pPr>
            <a:r>
              <a:rPr sz="1100" b="0">
                <a:solidFill>
                  <a:srgbClr val="545B6B"/>
                </a:solidFill>
                <a:latin typeface="Yu Gothic"/>
                <a:ea typeface="Yu Gothic"/>
              </a:rPr>
              <a:t>仲間と、使命のために戦い続けてこそヒーロー。</a:t>
            </a:r>
          </a:p>
        </p:txBody>
      </p:sp>
      <p:sp>
        <p:nvSpPr>
          <p:cNvPr id="8" name="TextBox 7"/>
          <p:cNvSpPr txBox="1"/>
          <p:nvPr/>
        </p:nvSpPr>
        <p:spPr>
          <a:xfrm>
            <a:off x="5577840" y="3794760"/>
            <a:ext cx="1005840" cy="640080"/>
          </a:xfrm>
          <a:prstGeom prst="rect">
            <a:avLst/>
          </a:prstGeom>
          <a:noFill/>
        </p:spPr>
        <p:txBody>
          <a:bodyPr wrap="square" anchor="t" lIns="0" rIns="0" tIns="0" bIns="0">
            <a:spAutoFit/>
          </a:bodyPr>
          <a:lstStyle/>
          <a:p>
            <a:pPr algn="ctr">
              <a:lnSpc>
                <a:spcPct val="125000"/>
              </a:lnSpc>
              <a:spcAft>
                <a:spcPts val="400"/>
              </a:spcAft>
            </a:pPr>
            <a:r>
              <a:rPr sz="2800" b="1">
                <a:solidFill>
                  <a:srgbClr val="BE3A34"/>
                </a:solidFill>
                <a:latin typeface="Yu Gothic"/>
                <a:ea typeface="Yu Gothic"/>
              </a:rPr>
              <a:t>＝</a:t>
            </a:r>
          </a:p>
        </p:txBody>
      </p:sp>
      <p:sp>
        <p:nvSpPr>
          <p:cNvPr id="9" name="Rounded Rectangle 8"/>
          <p:cNvSpPr/>
          <p:nvPr/>
        </p:nvSpPr>
        <p:spPr>
          <a:xfrm>
            <a:off x="6629400" y="3246120"/>
            <a:ext cx="4663440" cy="17373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3474720"/>
            <a:ext cx="4114800" cy="1280160"/>
          </a:xfrm>
          <a:prstGeom prst="rect">
            <a:avLst/>
          </a:prstGeom>
          <a:noFill/>
        </p:spPr>
        <p:txBody>
          <a:bodyPr wrap="square" anchor="t" lIns="0" rIns="0" tIns="0" bIns="0">
            <a:spAutoFit/>
          </a:bodyPr>
          <a:lstStyle/>
          <a:p>
            <a:pPr algn="l">
              <a:lnSpc>
                <a:spcPct val="135000"/>
              </a:lnSpc>
              <a:spcAft>
                <a:spcPts val="600"/>
              </a:spcAft>
            </a:pPr>
            <a:r>
              <a:rPr sz="1000" b="1">
                <a:solidFill>
                  <a:srgbClr val="BE3A34"/>
                </a:solidFill>
                <a:latin typeface="Yu Gothic"/>
                <a:ea typeface="Yu Gothic"/>
              </a:rPr>
              <a:t>e n</a:t>
            </a:r>
          </a:p>
          <a:p>
            <a:pPr algn="l">
              <a:lnSpc>
                <a:spcPct val="135000"/>
              </a:lnSpc>
              <a:spcAft>
                <a:spcPts val="600"/>
              </a:spcAft>
            </a:pPr>
            <a:r>
              <a:rPr sz="1500" b="1">
                <a:solidFill>
                  <a:srgbClr val="20242E"/>
                </a:solidFill>
                <a:latin typeface="Yu Gothic"/>
                <a:ea typeface="Yu Gothic"/>
              </a:rPr>
              <a:t>入社して、終わりじゃない。</a:t>
            </a:r>
          </a:p>
          <a:p>
            <a:pPr algn="l">
              <a:lnSpc>
                <a:spcPct val="135000"/>
              </a:lnSpc>
              <a:spcAft>
                <a:spcPts val="600"/>
              </a:spcAft>
            </a:pPr>
            <a:r>
              <a:rPr sz="1100" b="0">
                <a:solidFill>
                  <a:srgbClr val="545B6B"/>
                </a:solidFill>
                <a:latin typeface="Yu Gothic"/>
                <a:ea typeface="Yu Gothic"/>
              </a:rPr>
              <a:t>入社後に活躍してこそ、良い転職。</a:t>
            </a:r>
          </a:p>
        </p:txBody>
      </p:sp>
      <p:sp>
        <p:nvSpPr>
          <p:cNvPr id="11" name="TextBox 10"/>
          <p:cNvSpPr txBox="1"/>
          <p:nvPr/>
        </p:nvSpPr>
        <p:spPr>
          <a:xfrm>
            <a:off x="822960" y="5349240"/>
            <a:ext cx="9692640" cy="914400"/>
          </a:xfrm>
          <a:prstGeom prst="rect">
            <a:avLst/>
          </a:prstGeom>
          <a:noFill/>
        </p:spPr>
        <p:txBody>
          <a:bodyPr wrap="square" anchor="t" lIns="0" rIns="0" tIns="0" bIns="0">
            <a:spAutoFit/>
          </a:bodyPr>
          <a:lstStyle/>
          <a:p>
            <a:pPr algn="l">
              <a:lnSpc>
                <a:spcPct val="140000"/>
              </a:lnSpc>
              <a:spcAft>
                <a:spcPts val="400"/>
              </a:spcAft>
            </a:pPr>
            <a:r>
              <a:rPr sz="1300" b="0">
                <a:solidFill>
                  <a:srgbClr val="545B6B"/>
                </a:solidFill>
                <a:latin typeface="Yu Gothic"/>
                <a:ea typeface="Yu Gothic"/>
              </a:rPr>
              <a:t>2つのブランドが同じ物語を語れる — これがこの協業の核です。</a:t>
            </a:r>
          </a:p>
        </p:txBody>
      </p:sp>
      <p:sp>
        <p:nvSpPr>
          <p:cNvPr id="12" name="TextBox 11"/>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05 — 協業の全体像</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4つの協業パッケージ</a:t>
            </a:r>
          </a:p>
        </p:txBody>
      </p:sp>
      <p:sp>
        <p:nvSpPr>
          <p:cNvPr id="5" name="TextBox 4"/>
          <p:cNvSpPr txBox="1"/>
          <p:nvPr/>
        </p:nvSpPr>
        <p:spPr>
          <a:xfrm>
            <a:off x="822960" y="160020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エントリーではPKG Aを実施。年間パートナーシップでは4パッケージすべてを展開します。</a:t>
            </a:r>
          </a:p>
        </p:txBody>
      </p:sp>
      <p:sp>
        <p:nvSpPr>
          <p:cNvPr id="6" name="Rounded Rectangle 5"/>
          <p:cNvSpPr/>
          <p:nvPr/>
        </p:nvSpPr>
        <p:spPr>
          <a:xfrm>
            <a:off x="822960" y="228600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A — エントリー対象</a:t>
            </a:r>
          </a:p>
          <a:p>
            <a:pPr algn="l">
              <a:lnSpc>
                <a:spcPct val="130000"/>
              </a:lnSpc>
              <a:spcAft>
                <a:spcPts val="500"/>
              </a:spcAft>
            </a:pPr>
            <a:r>
              <a:rPr sz="1300" b="1">
                <a:solidFill>
                  <a:srgbClr val="20242E"/>
                </a:solidFill>
                <a:latin typeface="Yu Gothic"/>
                <a:ea typeface="Yu Gothic"/>
              </a:rPr>
              <a:t>ブランドキャンペーン</a:t>
            </a:r>
          </a:p>
          <a:p>
            <a:pPr algn="l">
              <a:lnSpc>
                <a:spcPct val="130000"/>
              </a:lnSpc>
              <a:spcAft>
                <a:spcPts val="500"/>
              </a:spcAft>
            </a:pPr>
            <a:r>
              <a:rPr sz="1000" b="0">
                <a:solidFill>
                  <a:srgbClr val="545B6B"/>
                </a:solidFill>
                <a:latin typeface="Yu Gothic"/>
                <a:ea typeface="Yu Gothic"/>
              </a:rPr>
              <a:t>「その転職は、変身だ。」を軸にしたTVCM・交通・SNSキャンペーン。「ヒーロータイプ診断」と限定ノベルティで会員化まで導線設計。</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転職メディアの認知・想起・会員獲得</a:t>
            </a:r>
          </a:p>
        </p:txBody>
      </p:sp>
      <p:sp>
        <p:nvSpPr>
          <p:cNvPr id="8" name="Rounded Rectangle 7"/>
          <p:cNvSpPr/>
          <p:nvPr/>
        </p:nvSpPr>
        <p:spPr>
          <a:xfrm>
            <a:off x="6181344" y="228600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2512" y="243230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B</a:t>
            </a:r>
          </a:p>
          <a:p>
            <a:pPr algn="l">
              <a:lnSpc>
                <a:spcPct val="130000"/>
              </a:lnSpc>
              <a:spcAft>
                <a:spcPts val="500"/>
              </a:spcAft>
            </a:pPr>
            <a:r>
              <a:rPr sz="1300" b="1">
                <a:solidFill>
                  <a:srgbClr val="20242E"/>
                </a:solidFill>
                <a:latin typeface="Yu Gothic"/>
                <a:ea typeface="Yu Gothic"/>
              </a:rPr>
              <a:t>「まちを守る仕事」— 中小企業採用支援</a:t>
            </a:r>
          </a:p>
          <a:p>
            <a:pPr algn="l">
              <a:lnSpc>
                <a:spcPct val="130000"/>
              </a:lnSpc>
              <a:spcAft>
                <a:spcPts val="500"/>
              </a:spcAft>
            </a:pPr>
            <a:r>
              <a:rPr sz="1000" b="0">
                <a:solidFill>
                  <a:srgbClr val="545B6B"/>
                </a:solidFill>
                <a:latin typeface="Yu Gothic"/>
                <a:ea typeface="Yu Gothic"/>
              </a:rPr>
              <a:t>地域を支える中小企業を「まちを守るヒーロー企業」として特集。自治体・商工会と連携し、知名度で戦えない企業の求人に物語の力を貸す。</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採用支援サービスの掲載社数・地方開拓</a:t>
            </a:r>
          </a:p>
        </p:txBody>
      </p:sp>
      <p:sp>
        <p:nvSpPr>
          <p:cNvPr id="10" name="Rounded Rectangle 9"/>
          <p:cNvSpPr/>
          <p:nvPr/>
        </p:nvSpPr>
        <p:spPr>
          <a:xfrm>
            <a:off x="822960" y="445312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59943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C</a:t>
            </a:r>
          </a:p>
          <a:p>
            <a:pPr algn="l">
              <a:lnSpc>
                <a:spcPct val="130000"/>
              </a:lnSpc>
              <a:spcAft>
                <a:spcPts val="500"/>
              </a:spcAft>
            </a:pPr>
            <a:r>
              <a:rPr sz="1300" b="1">
                <a:solidFill>
                  <a:srgbClr val="20242E"/>
                </a:solidFill>
                <a:latin typeface="Yu Gothic"/>
                <a:ea typeface="Yu Gothic"/>
              </a:rPr>
              <a:t>人材育成・研修コンテンツ</a:t>
            </a:r>
          </a:p>
          <a:p>
            <a:pPr algn="l">
              <a:lnSpc>
                <a:spcPct val="130000"/>
              </a:lnSpc>
              <a:spcAft>
                <a:spcPts val="500"/>
              </a:spcAft>
            </a:pPr>
            <a:r>
              <a:rPr sz="1000" b="0">
                <a:solidFill>
                  <a:srgbClr val="545B6B"/>
                </a:solidFill>
                <a:latin typeface="Yu Gothic"/>
                <a:ea typeface="Yu Gothic"/>
              </a:rPr>
              <a:t>ヒーローの成長物語を題材にしたリーダーシップ/チーム研修、内定者フォロー・新人オンボーディング教材。</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教育研修事業・「入社後活躍」支援の商材強化</a:t>
            </a:r>
          </a:p>
        </p:txBody>
      </p:sp>
      <p:sp>
        <p:nvSpPr>
          <p:cNvPr id="12" name="Rounded Rectangle 11"/>
          <p:cNvSpPr/>
          <p:nvPr/>
        </p:nvSpPr>
        <p:spPr>
          <a:xfrm>
            <a:off x="6181344" y="445312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459943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D</a:t>
            </a:r>
          </a:p>
          <a:p>
            <a:pPr algn="l">
              <a:lnSpc>
                <a:spcPct val="130000"/>
              </a:lnSpc>
              <a:spcAft>
                <a:spcPts val="500"/>
              </a:spcAft>
            </a:pPr>
            <a:r>
              <a:rPr sz="1300" b="1">
                <a:solidFill>
                  <a:srgbClr val="20242E"/>
                </a:solidFill>
                <a:latin typeface="Yu Gothic"/>
                <a:ea typeface="Yu Gothic"/>
              </a:rPr>
              <a:t>子ども向けキャリア教育・CSR</a:t>
            </a:r>
          </a:p>
          <a:p>
            <a:pPr algn="l">
              <a:lnSpc>
                <a:spcPct val="130000"/>
              </a:lnSpc>
              <a:spcAft>
                <a:spcPts val="500"/>
              </a:spcAft>
            </a:pPr>
            <a:r>
              <a:rPr sz="1000" b="0">
                <a:solidFill>
                  <a:srgbClr val="545B6B"/>
                </a:solidFill>
                <a:latin typeface="Yu Gothic"/>
                <a:ea typeface="Yu Gothic"/>
              </a:rPr>
              <a:t>「はたらくヒーロー」出張授業・親子イベント。未来の働き手に、働くことの意味をヒーローの言葉で届ける。</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ブランド好意・社会貢献・ファミリー層接点</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06 — ご提案</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2つのプランをご用意しました</a:t>
            </a:r>
          </a:p>
        </p:txBody>
      </p:sp>
      <p:sp>
        <p:nvSpPr>
          <p:cNvPr id="5" name="Rounded Rectangle 4"/>
          <p:cNvSpPr/>
          <p:nvPr/>
        </p:nvSpPr>
        <p:spPr>
          <a:xfrm>
            <a:off x="822960" y="1783080"/>
            <a:ext cx="5175504" cy="3977639"/>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626864" cy="3520439"/>
          </a:xfrm>
          <a:prstGeom prst="rect">
            <a:avLst/>
          </a:prstGeom>
          <a:noFill/>
        </p:spPr>
        <p:txBody>
          <a:bodyPr wrap="square" anchor="t" lIns="0" rIns="0" tIns="0" bIns="0">
            <a:spAutoFit/>
          </a:bodyPr>
          <a:lstStyle/>
          <a:p>
            <a:pPr algn="l">
              <a:lnSpc>
                <a:spcPct val="130000"/>
              </a:lnSpc>
              <a:spcAft>
                <a:spcPts val="600"/>
              </a:spcAft>
            </a:pPr>
            <a:r>
              <a:rPr sz="1000" b="1">
                <a:solidFill>
                  <a:srgbClr val="6E7889"/>
                </a:solidFill>
                <a:latin typeface="Yu Gothic"/>
                <a:ea typeface="Yu Gothic"/>
              </a:rPr>
              <a:t>PLAN A — エントリー</a:t>
            </a:r>
          </a:p>
          <a:p>
            <a:pPr algn="l">
              <a:lnSpc>
                <a:spcPct val="130000"/>
              </a:lnSpc>
              <a:spcAft>
                <a:spcPts val="600"/>
              </a:spcAft>
            </a:pPr>
            <a:r>
              <a:rPr sz="1700" b="1">
                <a:solidFill>
                  <a:srgbClr val="20242E"/>
                </a:solidFill>
                <a:latin typeface="Yu Gothic"/>
                <a:ea typeface="Yu Gothic"/>
              </a:rPr>
              <a:t>「変身」パッケージ</a:t>
            </a:r>
          </a:p>
          <a:p>
            <a:pPr algn="l">
              <a:lnSpc>
                <a:spcPct val="130000"/>
              </a:lnSpc>
              <a:spcAft>
                <a:spcPts val="600"/>
              </a:spcAft>
            </a:pPr>
            <a:r>
              <a:rPr sz="3000" b="1">
                <a:solidFill>
                  <a:srgbClr val="20242E"/>
                </a:solidFill>
                <a:latin typeface="Yu Gothic"/>
                <a:ea typeface="Yu Gothic"/>
              </a:rPr>
              <a:t>8,000万円</a:t>
            </a:r>
            <a:r>
              <a:rPr sz="1200" b="0">
                <a:solidFill>
                  <a:srgbClr val="545B6B"/>
                </a:solidFill>
                <a:latin typeface="Yu Gothic"/>
                <a:ea typeface="Yu Gothic"/>
              </a:rPr>
              <a:t>(税別)/ 6ヶ月</a:t>
            </a:r>
          </a:p>
          <a:p>
            <a:pPr algn="l">
              <a:lnSpc>
                <a:spcPct val="130000"/>
              </a:lnSpc>
              <a:spcAft>
                <a:spcPts val="600"/>
              </a:spcAft>
            </a:pPr>
            <a:r>
              <a:rPr sz="1050" b="0">
                <a:solidFill>
                  <a:srgbClr val="545B6B"/>
                </a:solidFill>
                <a:latin typeface="Yu Gothic"/>
                <a:ea typeface="Yu Gothic"/>
              </a:rPr>
              <a:t>ブランドキャンペーン(PKG A)一式。転職繁忙期(1〜3月)に照準を合わせ、想起・会員獲得への効果を実証する。</a:t>
            </a:r>
          </a:p>
          <a:p>
            <a:pPr algn="l">
              <a:lnSpc>
                <a:spcPct val="130000"/>
              </a:lnSpc>
              <a:spcAft>
                <a:spcPts val="600"/>
              </a:spcAft>
            </a:pPr>
            <a:r>
              <a:rPr sz="1050" b="0">
                <a:solidFill>
                  <a:srgbClr val="545B6B"/>
                </a:solidFill>
                <a:latin typeface="Yu Gothic"/>
                <a:ea typeface="Yu Gothic"/>
              </a:rPr>
              <a:t>・IP使用許諾(転職メディア広告領域・6ヶ月)</a:t>
            </a:r>
          </a:p>
          <a:p>
            <a:pPr algn="l">
              <a:lnSpc>
                <a:spcPct val="130000"/>
              </a:lnSpc>
              <a:spcAft>
                <a:spcPts val="600"/>
              </a:spcAft>
            </a:pPr>
            <a:r>
              <a:rPr sz="1050" b="0">
                <a:solidFill>
                  <a:srgbClr val="545B6B"/>
                </a:solidFill>
                <a:latin typeface="Yu Gothic"/>
                <a:ea typeface="Yu Gothic"/>
              </a:rPr>
              <a:t>・キービジュアル/CM・SNS素材の制作許諾・監修</a:t>
            </a:r>
          </a:p>
          <a:p>
            <a:pPr algn="l">
              <a:lnSpc>
                <a:spcPct val="130000"/>
              </a:lnSpc>
              <a:spcAft>
                <a:spcPts val="600"/>
              </a:spcAft>
            </a:pPr>
            <a:r>
              <a:rPr sz="1050" b="0">
                <a:solidFill>
                  <a:srgbClr val="545B6B"/>
                </a:solidFill>
                <a:latin typeface="Yu Gothic"/>
                <a:ea typeface="Yu Gothic"/>
              </a:rPr>
              <a:t>・「ヒーロータイプ診断」共同開発</a:t>
            </a:r>
          </a:p>
          <a:p>
            <a:pPr algn="l">
              <a:lnSpc>
                <a:spcPct val="130000"/>
              </a:lnSpc>
              <a:spcAft>
                <a:spcPts val="600"/>
              </a:spcAft>
            </a:pPr>
            <a:r>
              <a:rPr sz="1050" b="0">
                <a:solidFill>
                  <a:srgbClr val="545B6B"/>
                </a:solidFill>
                <a:latin typeface="Yu Gothic"/>
                <a:ea typeface="Yu Gothic"/>
              </a:rPr>
              <a:t>・限定ノベルティ商品化許諾(2アイテム)</a:t>
            </a:r>
          </a:p>
        </p:txBody>
      </p:sp>
      <p:sp>
        <p:nvSpPr>
          <p:cNvPr id="7" name="Rounded Rectangle 6"/>
          <p:cNvSpPr/>
          <p:nvPr/>
        </p:nvSpPr>
        <p:spPr>
          <a:xfrm>
            <a:off x="6181344" y="1783080"/>
            <a:ext cx="5175504" cy="3977639"/>
          </a:xfrm>
          <a:prstGeom prst="roundRect">
            <a:avLst>
              <a:gd name="adj" fmla="val 7000"/>
            </a:avLst>
          </a:prstGeom>
          <a:solidFill>
            <a:srgbClr val="FFFFFF"/>
          </a:solidFill>
          <a:ln w="19050">
            <a:solidFill>
              <a:srgbClr val="BE3A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02368" y="1984248"/>
            <a:ext cx="1325880" cy="347472"/>
          </a:xfrm>
          <a:prstGeom prst="roundRect">
            <a:avLst>
              <a:gd name="adj" fmla="val 50000"/>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02368" y="2029968"/>
            <a:ext cx="1325880" cy="274320"/>
          </a:xfrm>
          <a:prstGeom prst="rect">
            <a:avLst/>
          </a:prstGeom>
          <a:noFill/>
        </p:spPr>
        <p:txBody>
          <a:bodyPr wrap="square" anchor="t" lIns="0" rIns="0" tIns="0" bIns="0">
            <a:spAutoFit/>
          </a:bodyPr>
          <a:lstStyle/>
          <a:p>
            <a:pPr algn="ctr">
              <a:lnSpc>
                <a:spcPct val="125000"/>
              </a:lnSpc>
              <a:spcAft>
                <a:spcPts val="400"/>
              </a:spcAft>
            </a:pPr>
            <a:r>
              <a:rPr sz="1100" b="1">
                <a:solidFill>
                  <a:srgbClr val="FFFFFF"/>
                </a:solidFill>
                <a:latin typeface="Yu Gothic"/>
                <a:ea typeface="Yu Gothic"/>
              </a:rPr>
              <a:t>推奨</a:t>
            </a:r>
          </a:p>
        </p:txBody>
      </p:sp>
      <p:sp>
        <p:nvSpPr>
          <p:cNvPr id="10" name="TextBox 9"/>
          <p:cNvSpPr txBox="1"/>
          <p:nvPr/>
        </p:nvSpPr>
        <p:spPr>
          <a:xfrm>
            <a:off x="6455664" y="2011680"/>
            <a:ext cx="4626864" cy="3520439"/>
          </a:xfrm>
          <a:prstGeom prst="rect">
            <a:avLst/>
          </a:prstGeom>
          <a:noFill/>
        </p:spPr>
        <p:txBody>
          <a:bodyPr wrap="square" anchor="t" lIns="0" rIns="0" tIns="0" bIns="0">
            <a:spAutoFit/>
          </a:bodyPr>
          <a:lstStyle/>
          <a:p>
            <a:pPr algn="l">
              <a:lnSpc>
                <a:spcPct val="130000"/>
              </a:lnSpc>
              <a:spcAft>
                <a:spcPts val="600"/>
              </a:spcAft>
            </a:pPr>
            <a:r>
              <a:rPr sz="1000" b="1">
                <a:solidFill>
                  <a:srgbClr val="BE3A34"/>
                </a:solidFill>
                <a:latin typeface="Yu Gothic"/>
                <a:ea typeface="Yu Gothic"/>
              </a:rPr>
              <a:t>PLAN B — 年間パートナーシップ</a:t>
            </a:r>
          </a:p>
          <a:p>
            <a:pPr algn="l">
              <a:lnSpc>
                <a:spcPct val="130000"/>
              </a:lnSpc>
              <a:spcAft>
                <a:spcPts val="600"/>
              </a:spcAft>
            </a:pPr>
            <a:r>
              <a:rPr sz="1700" b="1">
                <a:solidFill>
                  <a:srgbClr val="20242E"/>
                </a:solidFill>
                <a:latin typeface="Yu Gothic"/>
                <a:ea typeface="Yu Gothic"/>
              </a:rPr>
              <a:t>「光の同盟」</a:t>
            </a:r>
          </a:p>
          <a:p>
            <a:pPr algn="l">
              <a:lnSpc>
                <a:spcPct val="130000"/>
              </a:lnSpc>
              <a:spcAft>
                <a:spcPts val="600"/>
              </a:spcAft>
            </a:pPr>
            <a:r>
              <a:rPr sz="3000" b="1">
                <a:solidFill>
                  <a:srgbClr val="BE3A34"/>
                </a:solidFill>
                <a:latin typeface="Yu Gothic"/>
                <a:ea typeface="Yu Gothic"/>
              </a:rPr>
              <a:t>2億円</a:t>
            </a:r>
            <a:r>
              <a:rPr sz="1200" b="0">
                <a:solidFill>
                  <a:srgbClr val="545B6B"/>
                </a:solidFill>
                <a:latin typeface="Yu Gothic"/>
                <a:ea typeface="Yu Gothic"/>
              </a:rPr>
              <a:t>(税別)/ 12ヶ月</a:t>
            </a:r>
          </a:p>
          <a:p>
            <a:pPr algn="l">
              <a:lnSpc>
                <a:spcPct val="130000"/>
              </a:lnSpc>
              <a:spcAft>
                <a:spcPts val="600"/>
              </a:spcAft>
            </a:pPr>
            <a:r>
              <a:rPr sz="1050" b="0">
                <a:solidFill>
                  <a:srgbClr val="545B6B"/>
                </a:solidFill>
                <a:latin typeface="Yu Gothic"/>
                <a:ea typeface="Yu Gothic"/>
              </a:rPr>
              <a:t>4パッケージ全展開 + </a:t>
            </a:r>
            <a:r>
              <a:rPr sz="1050" b="1">
                <a:solidFill>
                  <a:srgbClr val="BE3A34"/>
                </a:solidFill>
                <a:latin typeface="Yu Gothic"/>
                <a:ea typeface="Yu Gothic"/>
              </a:rPr>
              <a:t>HR業界カテゴリー独占</a:t>
            </a:r>
            <a:r>
              <a:rPr sz="1050" b="0">
                <a:solidFill>
                  <a:srgbClr val="545B6B"/>
                </a:solidFill>
                <a:latin typeface="Yu Gothic"/>
                <a:ea typeface="Yu Gothic"/>
              </a:rPr>
              <a:t>。人材サービス業界で唯一のウルトラマンパートナーとなり、「転職=変身=エン」の連想を取り切る。</a:t>
            </a:r>
          </a:p>
          <a:p>
            <a:pPr algn="l">
              <a:lnSpc>
                <a:spcPct val="130000"/>
              </a:lnSpc>
              <a:spcAft>
                <a:spcPts val="600"/>
              </a:spcAft>
            </a:pPr>
            <a:r>
              <a:rPr sz="1050" b="0">
                <a:solidFill>
                  <a:srgbClr val="545B6B"/>
                </a:solidFill>
                <a:latin typeface="Yu Gothic"/>
                <a:ea typeface="Yu Gothic"/>
              </a:rPr>
              <a:t>・PKG A〜D すべての展開権(通年)</a:t>
            </a:r>
          </a:p>
          <a:p>
            <a:pPr algn="l">
              <a:lnSpc>
                <a:spcPct val="130000"/>
              </a:lnSpc>
              <a:spcAft>
                <a:spcPts val="600"/>
              </a:spcAft>
            </a:pPr>
            <a:r>
              <a:rPr sz="1050" b="0">
                <a:solidFill>
                  <a:srgbClr val="545B6B"/>
                </a:solidFill>
                <a:latin typeface="Yu Gothic"/>
                <a:ea typeface="Yu Gothic"/>
              </a:rPr>
              <a:t>・競合他社へのIP広告起用ブロック(独占条項)</a:t>
            </a:r>
          </a:p>
          <a:p>
            <a:pPr algn="l">
              <a:lnSpc>
                <a:spcPct val="130000"/>
              </a:lnSpc>
              <a:spcAft>
                <a:spcPts val="600"/>
              </a:spcAft>
            </a:pPr>
            <a:r>
              <a:rPr sz="1050" b="0">
                <a:solidFill>
                  <a:srgbClr val="545B6B"/>
                </a:solidFill>
                <a:latin typeface="Yu Gothic"/>
                <a:ea typeface="Yu Gothic"/>
              </a:rPr>
              <a:t>・円谷公式連携(公式SNS・イベント・新作タイアップ優先交渉権)</a:t>
            </a:r>
          </a:p>
        </p:txBody>
      </p:sp>
      <p:sp>
        <p:nvSpPr>
          <p:cNvPr id="11" name="TextBox 10"/>
          <p:cNvSpPr txBox="1"/>
          <p:nvPr/>
        </p:nvSpPr>
        <p:spPr>
          <a:xfrm>
            <a:off x="822960" y="5925311"/>
            <a:ext cx="10543032" cy="548640"/>
          </a:xfrm>
          <a:prstGeom prst="rect">
            <a:avLst/>
          </a:prstGeom>
          <a:noFill/>
        </p:spPr>
        <p:txBody>
          <a:bodyPr wrap="square" anchor="t" lIns="0" rIns="0" tIns="0" bIns="0">
            <a:spAutoFit/>
          </a:bodyPr>
          <a:lstStyle/>
          <a:p>
            <a:pPr algn="l">
              <a:lnSpc>
                <a:spcPct val="125000"/>
              </a:lnSpc>
              <a:spcAft>
                <a:spcPts val="400"/>
              </a:spcAft>
            </a:pPr>
            <a:r>
              <a:rPr sz="950" b="0">
                <a:solidFill>
                  <a:srgbClr val="8A92A3"/>
                </a:solidFill>
                <a:latin typeface="Yu Gothic"/>
                <a:ea typeface="Yu Gothic"/>
              </a:rPr>
              <a:t>※ 金額はライセンス・企画・監修費。広告媒体費・制作実費は別途。金額・条件は円谷プロダクションとの最終協議を前提とした想定条件です。</a:t>
            </a:r>
          </a:p>
        </p:txBody>
      </p:sp>
      <p:sp>
        <p:nvSpPr>
          <p:cNvPr id="12" name="TextBox 11"/>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07 — PLAN A 内訳</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400" b="1">
                <a:solidFill>
                  <a:srgbClr val="20242E"/>
                </a:solidFill>
                <a:latin typeface="Yu Gothic"/>
                <a:ea typeface="Yu Gothic"/>
              </a:rPr>
              <a:t>エントリー「変身」パッケージ — </a:t>
            </a:r>
            <a:r>
              <a:rPr sz="2400" b="1">
                <a:solidFill>
                  <a:srgbClr val="BE3A34"/>
                </a:solidFill>
                <a:latin typeface="Yu Gothic"/>
                <a:ea typeface="Yu Gothic"/>
              </a:rPr>
              <a:t>8,000万円</a:t>
            </a:r>
            <a:r>
              <a:rPr sz="2400" b="1">
                <a:solidFill>
                  <a:srgbClr val="20242E"/>
                </a:solidFill>
                <a:latin typeface="Yu Gothic"/>
                <a:ea typeface="Yu Gothic"/>
              </a:rPr>
              <a:t> / 6ヶ月</a:t>
            </a:r>
          </a:p>
        </p:txBody>
      </p:sp>
      <p:sp>
        <p:nvSpPr>
          <p:cNvPr id="5" name="Rounded Rectangle 4"/>
          <p:cNvSpPr/>
          <p:nvPr/>
        </p:nvSpPr>
        <p:spPr>
          <a:xfrm>
            <a:off x="822960" y="1783080"/>
            <a:ext cx="10543032"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20240"/>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ウルトラマンIP使用許諾(国内・転職メディア広告領域・6ヶ月)</a:t>
            </a:r>
          </a:p>
        </p:txBody>
      </p:sp>
      <p:sp>
        <p:nvSpPr>
          <p:cNvPr id="7" name="TextBox 6"/>
          <p:cNvSpPr txBox="1"/>
          <p:nvPr/>
        </p:nvSpPr>
        <p:spPr>
          <a:xfrm>
            <a:off x="8759952" y="1920240"/>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4,000万円</a:t>
            </a:r>
          </a:p>
        </p:txBody>
      </p:sp>
      <p:sp>
        <p:nvSpPr>
          <p:cNvPr id="8" name="Rectangle 7"/>
          <p:cNvSpPr/>
          <p:nvPr/>
        </p:nvSpPr>
        <p:spPr>
          <a:xfrm>
            <a:off x="1051560" y="2276856"/>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340864"/>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キービジュアル・TVCM・交通・SNS素材の制作許諾・監修</a:t>
            </a:r>
          </a:p>
        </p:txBody>
      </p:sp>
      <p:sp>
        <p:nvSpPr>
          <p:cNvPr id="10" name="TextBox 9"/>
          <p:cNvSpPr txBox="1"/>
          <p:nvPr/>
        </p:nvSpPr>
        <p:spPr>
          <a:xfrm>
            <a:off x="8759952" y="2340864"/>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1,500万円</a:t>
            </a:r>
          </a:p>
        </p:txBody>
      </p:sp>
      <p:sp>
        <p:nvSpPr>
          <p:cNvPr id="11" name="Rectangle 10"/>
          <p:cNvSpPr/>
          <p:nvPr/>
        </p:nvSpPr>
        <p:spPr>
          <a:xfrm>
            <a:off x="1051560" y="2697480"/>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761488"/>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「ヒーロータイプ診断」コンテンツ 企画・共同開発</a:t>
            </a:r>
          </a:p>
        </p:txBody>
      </p:sp>
      <p:sp>
        <p:nvSpPr>
          <p:cNvPr id="13" name="TextBox 12"/>
          <p:cNvSpPr txBox="1"/>
          <p:nvPr/>
        </p:nvSpPr>
        <p:spPr>
          <a:xfrm>
            <a:off x="8759952" y="2761488"/>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1,200万円</a:t>
            </a:r>
          </a:p>
        </p:txBody>
      </p:sp>
      <p:sp>
        <p:nvSpPr>
          <p:cNvPr id="14" name="Rectangle 13"/>
          <p:cNvSpPr/>
          <p:nvPr/>
        </p:nvSpPr>
        <p:spPr>
          <a:xfrm>
            <a:off x="1051560" y="3118104"/>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82112"/>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限定ノベルティ商品化許諾(2アイテム)</a:t>
            </a:r>
          </a:p>
        </p:txBody>
      </p:sp>
      <p:sp>
        <p:nvSpPr>
          <p:cNvPr id="16" name="TextBox 15"/>
          <p:cNvSpPr txBox="1"/>
          <p:nvPr/>
        </p:nvSpPr>
        <p:spPr>
          <a:xfrm>
            <a:off x="8759952" y="3182112"/>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800万円</a:t>
            </a:r>
          </a:p>
        </p:txBody>
      </p:sp>
      <p:sp>
        <p:nvSpPr>
          <p:cNvPr id="17" name="Rectangle 16"/>
          <p:cNvSpPr/>
          <p:nvPr/>
        </p:nvSpPr>
        <p:spPr>
          <a:xfrm>
            <a:off x="1051560" y="3538728"/>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602736"/>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プロジェクトマネジメント・監修運用</a:t>
            </a:r>
          </a:p>
        </p:txBody>
      </p:sp>
      <p:sp>
        <p:nvSpPr>
          <p:cNvPr id="19" name="TextBox 18"/>
          <p:cNvSpPr txBox="1"/>
          <p:nvPr/>
        </p:nvSpPr>
        <p:spPr>
          <a:xfrm>
            <a:off x="8759952" y="3602736"/>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500万円</a:t>
            </a:r>
          </a:p>
        </p:txBody>
      </p:sp>
      <p:sp>
        <p:nvSpPr>
          <p:cNvPr id="20" name="Rectangle 19"/>
          <p:cNvSpPr/>
          <p:nvPr/>
        </p:nvSpPr>
        <p:spPr>
          <a:xfrm>
            <a:off x="1051560" y="3959352"/>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069080"/>
            <a:ext cx="7251192" cy="365760"/>
          </a:xfrm>
          <a:prstGeom prst="rect">
            <a:avLst/>
          </a:prstGeom>
          <a:noFill/>
        </p:spPr>
        <p:txBody>
          <a:bodyPr wrap="square" anchor="t" lIns="0" rIns="0" tIns="0" bIns="0">
            <a:spAutoFit/>
          </a:bodyPr>
          <a:lstStyle/>
          <a:p>
            <a:pPr algn="l">
              <a:lnSpc>
                <a:spcPct val="125000"/>
              </a:lnSpc>
              <a:spcAft>
                <a:spcPts val="0"/>
              </a:spcAft>
            </a:pPr>
            <a:r>
              <a:rPr sz="1200" b="1">
                <a:solidFill>
                  <a:srgbClr val="20242E"/>
                </a:solidFill>
                <a:latin typeface="Yu Gothic"/>
                <a:ea typeface="Yu Gothic"/>
              </a:rPr>
              <a:t>エントリーパッケージ 合計</a:t>
            </a:r>
          </a:p>
        </p:txBody>
      </p:sp>
      <p:sp>
        <p:nvSpPr>
          <p:cNvPr id="22" name="TextBox 21"/>
          <p:cNvSpPr txBox="1"/>
          <p:nvPr/>
        </p:nvSpPr>
        <p:spPr>
          <a:xfrm>
            <a:off x="8074152" y="4032504"/>
            <a:ext cx="3017520" cy="365760"/>
          </a:xfrm>
          <a:prstGeom prst="rect">
            <a:avLst/>
          </a:prstGeom>
          <a:noFill/>
        </p:spPr>
        <p:txBody>
          <a:bodyPr wrap="square" anchor="t" lIns="0" rIns="0" tIns="0" bIns="0">
            <a:spAutoFit/>
          </a:bodyPr>
          <a:lstStyle/>
          <a:p>
            <a:pPr algn="r">
              <a:lnSpc>
                <a:spcPct val="125000"/>
              </a:lnSpc>
              <a:spcAft>
                <a:spcPts val="0"/>
              </a:spcAft>
            </a:pPr>
            <a:r>
              <a:rPr sz="1500" b="1">
                <a:solidFill>
                  <a:srgbClr val="BE3A34"/>
                </a:solidFill>
                <a:latin typeface="Yu Gothic"/>
                <a:ea typeface="Yu Gothic"/>
              </a:rPr>
              <a:t>8,000万円(税別)</a:t>
            </a:r>
          </a:p>
        </p:txBody>
      </p:sp>
      <p:sp>
        <p:nvSpPr>
          <p:cNvPr id="23" name="Rounded Rectangle 22"/>
          <p:cNvSpPr/>
          <p:nvPr/>
        </p:nvSpPr>
        <p:spPr>
          <a:xfrm>
            <a:off x="822960" y="4736592"/>
            <a:ext cx="10543032" cy="10515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4736592"/>
            <a:ext cx="54864" cy="105156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901184"/>
            <a:ext cx="10040112" cy="731520"/>
          </a:xfrm>
          <a:prstGeom prst="rect">
            <a:avLst/>
          </a:prstGeom>
          <a:noFill/>
        </p:spPr>
        <p:txBody>
          <a:bodyPr wrap="square" anchor="t" lIns="0" rIns="0" tIns="0" bIns="0">
            <a:spAutoFit/>
          </a:bodyPr>
          <a:lstStyle/>
          <a:p>
            <a:pPr algn="l">
              <a:lnSpc>
                <a:spcPct val="140000"/>
              </a:lnSpc>
              <a:spcAft>
                <a:spcPts val="400"/>
              </a:spcAft>
            </a:pPr>
            <a:r>
              <a:rPr sz="1100" b="1">
                <a:solidFill>
                  <a:srgbClr val="20242E"/>
                </a:solidFill>
                <a:latin typeface="Yu Gothic"/>
                <a:ea typeface="Yu Gothic"/>
              </a:rPr>
              <a:t>スケジュール　</a:t>
            </a:r>
            <a:r>
              <a:rPr sz="1100" b="0">
                <a:solidFill>
                  <a:srgbClr val="545B6B"/>
                </a:solidFill>
                <a:latin typeface="Yu Gothic"/>
                <a:ea typeface="Yu Gothic"/>
              </a:rPr>
              <a:t>2026年10月 契約・制作開始 → 12月 素材完成・ティザー → 2027年1〜3月 転職繁忙期にキャンペーン集中投下 → 3月末 効果検証・年間移行判断。</a:t>
            </a:r>
          </a:p>
          <a:p>
            <a:pPr algn="l">
              <a:lnSpc>
                <a:spcPct val="140000"/>
              </a:lnSpc>
              <a:spcAft>
                <a:spcPts val="400"/>
              </a:spcAft>
            </a:pPr>
            <a:r>
              <a:rPr sz="1100" b="0">
                <a:solidFill>
                  <a:srgbClr val="545B6B"/>
                </a:solidFill>
                <a:latin typeface="Yu Gothic"/>
                <a:ea typeface="Yu Gothic"/>
              </a:rPr>
              <a:t>6ヶ月で「想起・指名検索・会員登録」への効果を実証し、PLAN Bへの移行を判断いただきます。</a:t>
            </a:r>
          </a:p>
        </p:txBody>
      </p:sp>
      <p:sp>
        <p:nvSpPr>
          <p:cNvPr id="26" name="TextBox 25"/>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08 — PLAN B 内訳</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400" b="1">
                <a:solidFill>
                  <a:srgbClr val="20242E"/>
                </a:solidFill>
                <a:latin typeface="Yu Gothic"/>
                <a:ea typeface="Yu Gothic"/>
              </a:rPr>
              <a:t>年間パートナーシップ「光の同盟」 — </a:t>
            </a:r>
            <a:r>
              <a:rPr sz="2400" b="1">
                <a:solidFill>
                  <a:srgbClr val="BE3A34"/>
                </a:solidFill>
                <a:latin typeface="Yu Gothic"/>
                <a:ea typeface="Yu Gothic"/>
              </a:rPr>
              <a:t>2億円</a:t>
            </a:r>
            <a:r>
              <a:rPr sz="2400" b="1">
                <a:solidFill>
                  <a:srgbClr val="20242E"/>
                </a:solidFill>
                <a:latin typeface="Yu Gothic"/>
                <a:ea typeface="Yu Gothic"/>
              </a:rPr>
              <a:t> / 12ヶ月</a:t>
            </a:r>
          </a:p>
        </p:txBody>
      </p:sp>
      <p:sp>
        <p:nvSpPr>
          <p:cNvPr id="5" name="Rounded Rectangle 4"/>
          <p:cNvSpPr/>
          <p:nvPr/>
        </p:nvSpPr>
        <p:spPr>
          <a:xfrm>
            <a:off x="822960" y="1783080"/>
            <a:ext cx="10543032"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20240"/>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年間IP使用許諾 + HR業界カテゴリー独占(広告・販促・研修・教育領域)</a:t>
            </a:r>
          </a:p>
        </p:txBody>
      </p:sp>
      <p:sp>
        <p:nvSpPr>
          <p:cNvPr id="7" name="TextBox 6"/>
          <p:cNvSpPr txBox="1"/>
          <p:nvPr/>
        </p:nvSpPr>
        <p:spPr>
          <a:xfrm>
            <a:off x="8759952" y="1920240"/>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1億1,000万円</a:t>
            </a:r>
          </a:p>
        </p:txBody>
      </p:sp>
      <p:sp>
        <p:nvSpPr>
          <p:cNvPr id="8" name="Rectangle 7"/>
          <p:cNvSpPr/>
          <p:nvPr/>
        </p:nvSpPr>
        <p:spPr>
          <a:xfrm>
            <a:off x="1051560" y="2276856"/>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340864"/>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ブランドキャンペーン権利一式(PKG A・通年)</a:t>
            </a:r>
          </a:p>
        </p:txBody>
      </p:sp>
      <p:sp>
        <p:nvSpPr>
          <p:cNvPr id="10" name="TextBox 9"/>
          <p:cNvSpPr txBox="1"/>
          <p:nvPr/>
        </p:nvSpPr>
        <p:spPr>
          <a:xfrm>
            <a:off x="8759952" y="2340864"/>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上記に含む</a:t>
            </a:r>
          </a:p>
        </p:txBody>
      </p:sp>
      <p:sp>
        <p:nvSpPr>
          <p:cNvPr id="11" name="Rectangle 10"/>
          <p:cNvSpPr/>
          <p:nvPr/>
        </p:nvSpPr>
        <p:spPr>
          <a:xfrm>
            <a:off x="1051560" y="2697480"/>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761488"/>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「まちを守る仕事」共同企画・自治体/商工会連携(PKG B)</a:t>
            </a:r>
          </a:p>
        </p:txBody>
      </p:sp>
      <p:sp>
        <p:nvSpPr>
          <p:cNvPr id="13" name="TextBox 12"/>
          <p:cNvSpPr txBox="1"/>
          <p:nvPr/>
        </p:nvSpPr>
        <p:spPr>
          <a:xfrm>
            <a:off x="8759952" y="2761488"/>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3,000万円</a:t>
            </a:r>
          </a:p>
        </p:txBody>
      </p:sp>
      <p:sp>
        <p:nvSpPr>
          <p:cNvPr id="14" name="Rectangle 13"/>
          <p:cNvSpPr/>
          <p:nvPr/>
        </p:nvSpPr>
        <p:spPr>
          <a:xfrm>
            <a:off x="1051560" y="3118104"/>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82112"/>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研修・子ども向け教育コンテンツ共同開発 各1本(PKG C・D)</a:t>
            </a:r>
          </a:p>
        </p:txBody>
      </p:sp>
      <p:sp>
        <p:nvSpPr>
          <p:cNvPr id="16" name="TextBox 15"/>
          <p:cNvSpPr txBox="1"/>
          <p:nvPr/>
        </p:nvSpPr>
        <p:spPr>
          <a:xfrm>
            <a:off x="8759952" y="3182112"/>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3,500万円</a:t>
            </a:r>
          </a:p>
        </p:txBody>
      </p:sp>
      <p:sp>
        <p:nvSpPr>
          <p:cNvPr id="17" name="Rectangle 16"/>
          <p:cNvSpPr/>
          <p:nvPr/>
        </p:nvSpPr>
        <p:spPr>
          <a:xfrm>
            <a:off x="1051560" y="3538728"/>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602736"/>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円谷公式連携(公式SNS・イベント登壇・新作タイアップ優先交渉権)</a:t>
            </a:r>
          </a:p>
        </p:txBody>
      </p:sp>
      <p:sp>
        <p:nvSpPr>
          <p:cNvPr id="19" name="TextBox 18"/>
          <p:cNvSpPr txBox="1"/>
          <p:nvPr/>
        </p:nvSpPr>
        <p:spPr>
          <a:xfrm>
            <a:off x="8759952" y="3602736"/>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2,500万円</a:t>
            </a:r>
          </a:p>
        </p:txBody>
      </p:sp>
      <p:sp>
        <p:nvSpPr>
          <p:cNvPr id="20" name="Rectangle 19"/>
          <p:cNvSpPr/>
          <p:nvPr/>
        </p:nvSpPr>
        <p:spPr>
          <a:xfrm>
            <a:off x="1051560" y="3959352"/>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069080"/>
            <a:ext cx="7251192" cy="365760"/>
          </a:xfrm>
          <a:prstGeom prst="rect">
            <a:avLst/>
          </a:prstGeom>
          <a:noFill/>
        </p:spPr>
        <p:txBody>
          <a:bodyPr wrap="square" anchor="t" lIns="0" rIns="0" tIns="0" bIns="0">
            <a:spAutoFit/>
          </a:bodyPr>
          <a:lstStyle/>
          <a:p>
            <a:pPr algn="l">
              <a:lnSpc>
                <a:spcPct val="125000"/>
              </a:lnSpc>
              <a:spcAft>
                <a:spcPts val="0"/>
              </a:spcAft>
            </a:pPr>
            <a:r>
              <a:rPr sz="1200" b="1">
                <a:solidFill>
                  <a:srgbClr val="20242E"/>
                </a:solidFill>
                <a:latin typeface="Yu Gothic"/>
                <a:ea typeface="Yu Gothic"/>
              </a:rPr>
              <a:t>年間パートナーシップ 合計</a:t>
            </a:r>
          </a:p>
        </p:txBody>
      </p:sp>
      <p:sp>
        <p:nvSpPr>
          <p:cNvPr id="22" name="TextBox 21"/>
          <p:cNvSpPr txBox="1"/>
          <p:nvPr/>
        </p:nvSpPr>
        <p:spPr>
          <a:xfrm>
            <a:off x="8074152" y="4032504"/>
            <a:ext cx="3017520" cy="365760"/>
          </a:xfrm>
          <a:prstGeom prst="rect">
            <a:avLst/>
          </a:prstGeom>
          <a:noFill/>
        </p:spPr>
        <p:txBody>
          <a:bodyPr wrap="square" anchor="t" lIns="0" rIns="0" tIns="0" bIns="0">
            <a:spAutoFit/>
          </a:bodyPr>
          <a:lstStyle/>
          <a:p>
            <a:pPr algn="r">
              <a:lnSpc>
                <a:spcPct val="125000"/>
              </a:lnSpc>
              <a:spcAft>
                <a:spcPts val="0"/>
              </a:spcAft>
            </a:pPr>
            <a:r>
              <a:rPr sz="1500" b="1">
                <a:solidFill>
                  <a:srgbClr val="BE3A34"/>
                </a:solidFill>
                <a:latin typeface="Yu Gothic"/>
                <a:ea typeface="Yu Gothic"/>
              </a:rPr>
              <a:t>2億円(税別)</a:t>
            </a:r>
          </a:p>
        </p:txBody>
      </p:sp>
      <p:sp>
        <p:nvSpPr>
          <p:cNvPr id="23" name="Rounded Rectangle 22"/>
          <p:cNvSpPr/>
          <p:nvPr/>
        </p:nvSpPr>
        <p:spPr>
          <a:xfrm>
            <a:off x="822960" y="4736592"/>
            <a:ext cx="10543032" cy="10515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4736592"/>
            <a:ext cx="54864" cy="105156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901184"/>
            <a:ext cx="10040112" cy="731520"/>
          </a:xfrm>
          <a:prstGeom prst="rect">
            <a:avLst/>
          </a:prstGeom>
          <a:noFill/>
        </p:spPr>
        <p:txBody>
          <a:bodyPr wrap="square" anchor="t" lIns="0" rIns="0" tIns="0" bIns="0">
            <a:spAutoFit/>
          </a:bodyPr>
          <a:lstStyle/>
          <a:p>
            <a:pPr algn="l">
              <a:lnSpc>
                <a:spcPct val="140000"/>
              </a:lnSpc>
              <a:spcAft>
                <a:spcPts val="400"/>
              </a:spcAft>
            </a:pPr>
            <a:r>
              <a:rPr sz="1100" b="1">
                <a:solidFill>
                  <a:srgbClr val="20242E"/>
                </a:solidFill>
                <a:latin typeface="Yu Gothic"/>
                <a:ea typeface="Yu Gothic"/>
              </a:rPr>
              <a:t>カテゴリー独占の意味　</a:t>
            </a:r>
            <a:r>
              <a:rPr sz="1100" b="0">
                <a:solidFill>
                  <a:srgbClr val="545B6B"/>
                </a:solidFill>
                <a:latin typeface="Yu Gothic"/>
                <a:ea typeface="Yu Gothic"/>
              </a:rPr>
              <a:t>契約期間中、総合求人メディア・人材紹介・派遣の競合他社はウルトラマンIPを広告起用できません。</a:t>
            </a:r>
          </a:p>
          <a:p>
            <a:pPr algn="l">
              <a:lnSpc>
                <a:spcPct val="140000"/>
              </a:lnSpc>
              <a:spcAft>
                <a:spcPts val="400"/>
              </a:spcAft>
            </a:pPr>
            <a:r>
              <a:rPr sz="1100" b="1">
                <a:solidFill>
                  <a:srgbClr val="BE3A34"/>
                </a:solidFill>
                <a:latin typeface="Yu Gothic"/>
                <a:ea typeface="Yu Gothic"/>
              </a:rPr>
              <a:t>「人材サービス業界で唯一のウルトラマンパートナー」の座席そのものが、本プランの最大の価値です。</a:t>
            </a:r>
          </a:p>
        </p:txBody>
      </p:sp>
      <p:sp>
        <p:nvSpPr>
          <p:cNvPr id="26" name="TextBox 25"/>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09 — 投資対効果</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なぜこの金額に、その価値があるのか</a:t>
            </a:r>
          </a:p>
        </p:txBody>
      </p:sp>
      <p:sp>
        <p:nvSpPr>
          <p:cNvPr id="5" name="Rounded Rectangle 4"/>
          <p:cNvSpPr/>
          <p:nvPr/>
        </p:nvSpPr>
        <p:spPr>
          <a:xfrm>
            <a:off x="822960"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比較 1</a:t>
            </a:r>
          </a:p>
          <a:p>
            <a:pPr algn="l">
              <a:lnSpc>
                <a:spcPct val="130000"/>
              </a:lnSpc>
              <a:spcAft>
                <a:spcPts val="500"/>
              </a:spcAft>
            </a:pPr>
            <a:r>
              <a:rPr sz="1300" b="1">
                <a:solidFill>
                  <a:srgbClr val="20242E"/>
                </a:solidFill>
                <a:latin typeface="Yu Gothic"/>
                <a:ea typeface="Yu Gothic"/>
              </a:rPr>
              <a:t>大物タレント起用との比較</a:t>
            </a:r>
          </a:p>
          <a:p>
            <a:pPr algn="l">
              <a:lnSpc>
                <a:spcPct val="130000"/>
              </a:lnSpc>
              <a:spcAft>
                <a:spcPts val="500"/>
              </a:spcAft>
            </a:pPr>
            <a:r>
              <a:rPr sz="1050" b="0">
                <a:solidFill>
                  <a:srgbClr val="545B6B"/>
                </a:solidFill>
                <a:latin typeface="Yu Gothic"/>
                <a:ea typeface="Yu Gothic"/>
              </a:rPr>
              <a:t>トップタレントのCM起用は年間契約料5,000万〜1億円/人+スキャンダル時の差し替えリスク。ウルトラマンは同水準のコストで、複数キャラクター・炎上リスクなし・素材の長期利用が可能。IPは「降板しないブランド資産」になる。</a:t>
            </a:r>
          </a:p>
        </p:txBody>
      </p:sp>
      <p:sp>
        <p:nvSpPr>
          <p:cNvPr id="7" name="Rounded Rectangle 6"/>
          <p:cNvSpPr/>
          <p:nvPr/>
        </p:nvSpPr>
        <p:spPr>
          <a:xfrm>
            <a:off x="4398264"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効果目標(例)</a:t>
            </a:r>
          </a:p>
          <a:p>
            <a:pPr algn="l">
              <a:lnSpc>
                <a:spcPct val="130000"/>
              </a:lnSpc>
              <a:spcAft>
                <a:spcPts val="500"/>
              </a:spcAft>
            </a:pPr>
            <a:r>
              <a:rPr sz="1300" b="1">
                <a:solidFill>
                  <a:srgbClr val="20242E"/>
                </a:solidFill>
                <a:latin typeface="Yu Gothic"/>
                <a:ea typeface="Yu Gothic"/>
              </a:rPr>
              <a:t>キャンペーン前後で第三者調査</a:t>
            </a:r>
          </a:p>
          <a:p>
            <a:pPr algn="l">
              <a:lnSpc>
                <a:spcPct val="130000"/>
              </a:lnSpc>
              <a:spcAft>
                <a:spcPts val="500"/>
              </a:spcAft>
            </a:pPr>
            <a:r>
              <a:rPr sz="1050" b="0">
                <a:solidFill>
                  <a:srgbClr val="545B6B"/>
                </a:solidFill>
                <a:latin typeface="Yu Gothic"/>
                <a:ea typeface="Yu Gothic"/>
              </a:rPr>
              <a:t>サービス想起 +5pt / 指名検索数 +30% / キャンペーン期間の新規会員登録 +20%(前年同期比)。エントリー期間中に効果測定の枠組みを合意し、数字で年間移行を判断いただく。</a:t>
            </a:r>
          </a:p>
        </p:txBody>
      </p:sp>
      <p:sp>
        <p:nvSpPr>
          <p:cNvPr id="9" name="Rounded Rectangle 8"/>
          <p:cNvSpPr/>
          <p:nvPr/>
        </p:nvSpPr>
        <p:spPr>
          <a:xfrm>
            <a:off x="7973568"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防御価値</a:t>
            </a:r>
          </a:p>
          <a:p>
            <a:pPr algn="l">
              <a:lnSpc>
                <a:spcPct val="130000"/>
              </a:lnSpc>
              <a:spcAft>
                <a:spcPts val="500"/>
              </a:spcAft>
            </a:pPr>
            <a:r>
              <a:rPr sz="1300" b="1">
                <a:solidFill>
                  <a:srgbClr val="20242E"/>
                </a:solidFill>
                <a:latin typeface="Yu Gothic"/>
                <a:ea typeface="Yu Gothic"/>
              </a:rPr>
              <a:t>競合ブロックという保険</a:t>
            </a:r>
          </a:p>
          <a:p>
            <a:pPr algn="l">
              <a:lnSpc>
                <a:spcPct val="130000"/>
              </a:lnSpc>
              <a:spcAft>
                <a:spcPts val="500"/>
              </a:spcAft>
            </a:pPr>
            <a:r>
              <a:rPr sz="1050" b="0">
                <a:solidFill>
                  <a:srgbClr val="545B6B"/>
                </a:solidFill>
                <a:latin typeface="Yu Gothic"/>
                <a:ea typeface="Yu Gothic"/>
              </a:rPr>
              <a:t>年間2億円のうち独占権は、リクルート・パーソル・マイナビにこの席を渡さないための防御投資でもある。競合が国民的IPで先に「転職の物語」を取った場合の機会損失は、この金額を大きく上回る。</a:t>
            </a:r>
          </a:p>
        </p:txBody>
      </p:sp>
      <p:sp>
        <p:nvSpPr>
          <p:cNvPr id="11" name="Rounded Rectangle 10"/>
          <p:cNvSpPr/>
          <p:nvPr/>
        </p:nvSpPr>
        <p:spPr>
          <a:xfrm>
            <a:off x="822960" y="4892040"/>
            <a:ext cx="10543032" cy="9144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892040"/>
            <a:ext cx="54864" cy="91440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056632"/>
            <a:ext cx="10040112" cy="594360"/>
          </a:xfrm>
          <a:prstGeom prst="rect">
            <a:avLst/>
          </a:prstGeom>
          <a:noFill/>
        </p:spPr>
        <p:txBody>
          <a:bodyPr wrap="square" anchor="t" lIns="0" rIns="0" tIns="0" bIns="0">
            <a:spAutoFit/>
          </a:bodyPr>
          <a:lstStyle/>
          <a:p>
            <a:pPr algn="l">
              <a:lnSpc>
                <a:spcPct val="140000"/>
              </a:lnSpc>
              <a:spcAft>
                <a:spcPts val="400"/>
              </a:spcAft>
            </a:pPr>
            <a:r>
              <a:rPr sz="1150" b="0">
                <a:solidFill>
                  <a:srgbClr val="545B6B"/>
                </a:solidFill>
                <a:latin typeface="Yu Gothic"/>
                <a:ea typeface="Yu Gothic"/>
              </a:rPr>
              <a:t>通信業界の先例では、キャラクター物語広告への投資は年間数十億円規模。</a:t>
            </a:r>
            <a:r>
              <a:rPr sz="1150" b="1">
                <a:solidFill>
                  <a:srgbClr val="20242E"/>
                </a:solidFill>
                <a:latin typeface="Yu Gothic"/>
                <a:ea typeface="Yu Gothic"/>
              </a:rPr>
              <a:t>2億円は「業界の連想を独占する」投資として、先例対比で保守的な水準です。</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10 — 年間スケジュール(PLAN B)</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転職繁忙期に照準を合わせた12ヶ月</a:t>
            </a:r>
          </a:p>
        </p:txBody>
      </p:sp>
      <p:sp>
        <p:nvSpPr>
          <p:cNvPr id="5" name="Rectangle 4"/>
          <p:cNvSpPr/>
          <p:nvPr/>
        </p:nvSpPr>
        <p:spPr>
          <a:xfrm>
            <a:off x="822960" y="1883664"/>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01952"/>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2026.10</a:t>
            </a:r>
          </a:p>
        </p:txBody>
      </p:sp>
      <p:sp>
        <p:nvSpPr>
          <p:cNvPr id="7" name="TextBox 6"/>
          <p:cNvSpPr txBox="1"/>
          <p:nvPr/>
        </p:nvSpPr>
        <p:spPr>
          <a:xfrm>
            <a:off x="2788920" y="1901952"/>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契約・キックオフ</a:t>
            </a:r>
          </a:p>
        </p:txBody>
      </p:sp>
      <p:sp>
        <p:nvSpPr>
          <p:cNvPr id="8" name="TextBox 7"/>
          <p:cNvSpPr txBox="1"/>
          <p:nvPr/>
        </p:nvSpPr>
        <p:spPr>
          <a:xfrm>
            <a:off x="5303520" y="1920240"/>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全体企画確定・監修体制セットアップ</a:t>
            </a:r>
          </a:p>
        </p:txBody>
      </p:sp>
      <p:sp>
        <p:nvSpPr>
          <p:cNvPr id="9" name="Rectangle 8"/>
          <p:cNvSpPr/>
          <p:nvPr/>
        </p:nvSpPr>
        <p:spPr>
          <a:xfrm>
            <a:off x="822960" y="2542032"/>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560320"/>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2026.11–12</a:t>
            </a:r>
          </a:p>
        </p:txBody>
      </p:sp>
      <p:sp>
        <p:nvSpPr>
          <p:cNvPr id="11" name="TextBox 10"/>
          <p:cNvSpPr txBox="1"/>
          <p:nvPr/>
        </p:nvSpPr>
        <p:spPr>
          <a:xfrm>
            <a:off x="2788920" y="2560320"/>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制作・監修</a:t>
            </a:r>
          </a:p>
        </p:txBody>
      </p:sp>
      <p:sp>
        <p:nvSpPr>
          <p:cNvPr id="12" name="TextBox 11"/>
          <p:cNvSpPr txBox="1"/>
          <p:nvPr/>
        </p:nvSpPr>
        <p:spPr>
          <a:xfrm>
            <a:off x="5303520" y="2578608"/>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キービジュアル/CM/SNS素材の制作、円谷監修、ティザー開始</a:t>
            </a:r>
          </a:p>
        </p:txBody>
      </p:sp>
      <p:sp>
        <p:nvSpPr>
          <p:cNvPr id="13" name="Rectangle 12"/>
          <p:cNvSpPr/>
          <p:nvPr/>
        </p:nvSpPr>
        <p:spPr>
          <a:xfrm>
            <a:off x="822960" y="3200400"/>
            <a:ext cx="82296" cy="54864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218688"/>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BE3A34"/>
                </a:solidFill>
                <a:latin typeface="Yu Gothic"/>
                <a:ea typeface="Yu Gothic"/>
              </a:rPr>
              <a:t>2027.01–03</a:t>
            </a:r>
          </a:p>
        </p:txBody>
      </p:sp>
      <p:sp>
        <p:nvSpPr>
          <p:cNvPr id="15" name="TextBox 14"/>
          <p:cNvSpPr txBox="1"/>
          <p:nvPr/>
        </p:nvSpPr>
        <p:spPr>
          <a:xfrm>
            <a:off x="2788920" y="3218688"/>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キャンペーン集中投下</a:t>
            </a:r>
          </a:p>
        </p:txBody>
      </p:sp>
      <p:sp>
        <p:nvSpPr>
          <p:cNvPr id="16" name="TextBox 15"/>
          <p:cNvSpPr txBox="1"/>
          <p:nvPr/>
        </p:nvSpPr>
        <p:spPr>
          <a:xfrm>
            <a:off x="5303520" y="3236976"/>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転職繁忙期にPKG Aを集中展開。ヒーロータイプ診断ローンチ</a:t>
            </a:r>
          </a:p>
        </p:txBody>
      </p:sp>
      <p:sp>
        <p:nvSpPr>
          <p:cNvPr id="17" name="Rectangle 16"/>
          <p:cNvSpPr/>
          <p:nvPr/>
        </p:nvSpPr>
        <p:spPr>
          <a:xfrm>
            <a:off x="822960" y="3858768"/>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77056"/>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2027.04–06</a:t>
            </a:r>
          </a:p>
        </p:txBody>
      </p:sp>
      <p:sp>
        <p:nvSpPr>
          <p:cNvPr id="19" name="TextBox 18"/>
          <p:cNvSpPr txBox="1"/>
          <p:nvPr/>
        </p:nvSpPr>
        <p:spPr>
          <a:xfrm>
            <a:off x="2788920" y="3877056"/>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まちを守る仕事</a:t>
            </a:r>
          </a:p>
        </p:txBody>
      </p:sp>
      <p:sp>
        <p:nvSpPr>
          <p:cNvPr id="20" name="TextBox 19"/>
          <p:cNvSpPr txBox="1"/>
          <p:nvPr/>
        </p:nvSpPr>
        <p:spPr>
          <a:xfrm>
            <a:off x="5303520" y="3895344"/>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PKG B特集公開・自治体/商工会連携・地方キャラバン</a:t>
            </a:r>
          </a:p>
        </p:txBody>
      </p:sp>
      <p:sp>
        <p:nvSpPr>
          <p:cNvPr id="21" name="Rectangle 20"/>
          <p:cNvSpPr/>
          <p:nvPr/>
        </p:nvSpPr>
        <p:spPr>
          <a:xfrm>
            <a:off x="822960" y="4517136"/>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4535424"/>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2027.07–09</a:t>
            </a:r>
          </a:p>
        </p:txBody>
      </p:sp>
      <p:sp>
        <p:nvSpPr>
          <p:cNvPr id="23" name="TextBox 22"/>
          <p:cNvSpPr txBox="1"/>
          <p:nvPr/>
        </p:nvSpPr>
        <p:spPr>
          <a:xfrm>
            <a:off x="2788920" y="4535424"/>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育成・教育</a:t>
            </a:r>
          </a:p>
        </p:txBody>
      </p:sp>
      <p:sp>
        <p:nvSpPr>
          <p:cNvPr id="24" name="TextBox 23"/>
          <p:cNvSpPr txBox="1"/>
          <p:nvPr/>
        </p:nvSpPr>
        <p:spPr>
          <a:xfrm>
            <a:off x="5303520" y="4553712"/>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PKG C研修ローンチ・PKG D出張授業/夏休み親子イベント</a:t>
            </a:r>
          </a:p>
        </p:txBody>
      </p:sp>
      <p:sp>
        <p:nvSpPr>
          <p:cNvPr id="25" name="Rectangle 24"/>
          <p:cNvSpPr/>
          <p:nvPr/>
        </p:nvSpPr>
        <p:spPr>
          <a:xfrm>
            <a:off x="822960" y="5175504"/>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193792"/>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2027.10</a:t>
            </a:r>
          </a:p>
        </p:txBody>
      </p:sp>
      <p:sp>
        <p:nvSpPr>
          <p:cNvPr id="27" name="TextBox 26"/>
          <p:cNvSpPr txBox="1"/>
          <p:nvPr/>
        </p:nvSpPr>
        <p:spPr>
          <a:xfrm>
            <a:off x="2788920" y="5193792"/>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総括・更新協議</a:t>
            </a:r>
          </a:p>
        </p:txBody>
      </p:sp>
      <p:sp>
        <p:nvSpPr>
          <p:cNvPr id="28" name="TextBox 27"/>
          <p:cNvSpPr txBox="1"/>
          <p:nvPr/>
        </p:nvSpPr>
        <p:spPr>
          <a:xfrm>
            <a:off x="5303520" y="5212080"/>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年間効果総括(第三者調査)・次年度パートナーシップ協議</a:t>
            </a:r>
          </a:p>
        </p:txBody>
      </p:sp>
      <p:sp>
        <p:nvSpPr>
          <p:cNvPr id="29" name="TextBox 28"/>
          <p:cNvSpPr txBox="1"/>
          <p:nvPr/>
        </p:nvSpPr>
        <p:spPr>
          <a:xfrm>
            <a:off x="822960" y="5916168"/>
            <a:ext cx="10543032" cy="457200"/>
          </a:xfrm>
          <a:prstGeom prst="rect">
            <a:avLst/>
          </a:prstGeom>
          <a:noFill/>
        </p:spPr>
        <p:txBody>
          <a:bodyPr wrap="square" anchor="t" lIns="0" rIns="0" tIns="0" bIns="0">
            <a:spAutoFit/>
          </a:bodyPr>
          <a:lstStyle/>
          <a:p>
            <a:pPr algn="l">
              <a:lnSpc>
                <a:spcPct val="125000"/>
              </a:lnSpc>
              <a:spcAft>
                <a:spcPts val="400"/>
              </a:spcAft>
            </a:pPr>
            <a:r>
              <a:rPr sz="950" b="0">
                <a:solidFill>
                  <a:srgbClr val="8A92A3"/>
                </a:solidFill>
                <a:latin typeface="Yu Gothic"/>
                <a:ea typeface="Yu Gothic"/>
              </a:rPr>
              <a:t>※ 赤色 = 投資効果の山場。1〜3月の繁忙期キャンペーンに全体の照準を合わせています。</a:t>
            </a:r>
          </a:p>
        </p:txBody>
      </p:sp>
      <p:sp>
        <p:nvSpPr>
          <p:cNvPr id="30" name="TextBox 29"/>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11 — 体制・契約</a:t>
            </a:r>
          </a:p>
        </p:txBody>
      </p:sp>
      <p:sp>
        <p:nvSpPr>
          <p:cNvPr id="3" name="Rectangle 2"/>
          <p:cNvSpPr/>
          <p:nvPr/>
        </p:nvSpPr>
        <p:spPr>
          <a:xfrm>
            <a:off x="4114800" y="685800"/>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円谷監修のもと、貴社ブランドを守る座組み</a:t>
            </a:r>
          </a:p>
        </p:txBody>
      </p:sp>
      <p:sp>
        <p:nvSpPr>
          <p:cNvPr id="5" name="Rounded Rectangle 4"/>
          <p:cNvSpPr/>
          <p:nvPr/>
        </p:nvSpPr>
        <p:spPr>
          <a:xfrm>
            <a:off x="822960" y="1874519"/>
            <a:ext cx="3392424" cy="22860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020823"/>
            <a:ext cx="2990088" cy="20116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契約形態</a:t>
            </a:r>
          </a:p>
          <a:p>
            <a:pPr algn="l">
              <a:lnSpc>
                <a:spcPct val="130000"/>
              </a:lnSpc>
              <a:spcAft>
                <a:spcPts val="500"/>
              </a:spcAft>
            </a:pPr>
            <a:r>
              <a:rPr sz="1300" b="1">
                <a:solidFill>
                  <a:srgbClr val="20242E"/>
                </a:solidFill>
                <a:latin typeface="Yu Gothic"/>
                <a:ea typeface="Yu Gothic"/>
              </a:rPr>
              <a:t>ライセンス + 企画運用</a:t>
            </a:r>
          </a:p>
          <a:p>
            <a:pPr algn="l">
              <a:lnSpc>
                <a:spcPct val="130000"/>
              </a:lnSpc>
              <a:spcAft>
                <a:spcPts val="500"/>
              </a:spcAft>
            </a:pPr>
            <a:r>
              <a:rPr sz="1050" b="0">
                <a:solidFill>
                  <a:srgbClr val="545B6B"/>
                </a:solidFill>
                <a:latin typeface="Yu Gothic"/>
                <a:ea typeface="Yu Gothic"/>
              </a:rPr>
              <a:t>IP使用許諾は円谷プロダクションとのライセンス契約。企画・プロジェクトマネジメント・権利調整は当方が一気通貫で担当し、貴社の窓口を一本化する。</a:t>
            </a:r>
          </a:p>
        </p:txBody>
      </p:sp>
      <p:sp>
        <p:nvSpPr>
          <p:cNvPr id="7" name="Rounded Rectangle 6"/>
          <p:cNvSpPr/>
          <p:nvPr/>
        </p:nvSpPr>
        <p:spPr>
          <a:xfrm>
            <a:off x="4398264" y="1874519"/>
            <a:ext cx="3392424" cy="22860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2020823"/>
            <a:ext cx="2990088" cy="20116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監修フロー</a:t>
            </a:r>
          </a:p>
          <a:p>
            <a:pPr algn="l">
              <a:lnSpc>
                <a:spcPct val="130000"/>
              </a:lnSpc>
              <a:spcAft>
                <a:spcPts val="500"/>
              </a:spcAft>
            </a:pPr>
            <a:r>
              <a:rPr sz="1300" b="1">
                <a:solidFill>
                  <a:srgbClr val="20242E"/>
                </a:solidFill>
                <a:latin typeface="Yu Gothic"/>
                <a:ea typeface="Yu Gothic"/>
              </a:rPr>
              <a:t>60年の型を活用</a:t>
            </a:r>
          </a:p>
          <a:p>
            <a:pPr algn="l">
              <a:lnSpc>
                <a:spcPct val="130000"/>
              </a:lnSpc>
              <a:spcAft>
                <a:spcPts val="500"/>
              </a:spcAft>
            </a:pPr>
            <a:r>
              <a:rPr sz="1050" b="0">
                <a:solidFill>
                  <a:srgbClr val="545B6B"/>
                </a:solidFill>
                <a:latin typeface="Yu Gothic"/>
                <a:ea typeface="Yu Gothic"/>
              </a:rPr>
              <a:t>キャラクター使用はすべて円谷の監修フローを通す。標準リードタイムを企画段階でスケジュールに織り込み、繁忙期ローンチを確実にする。</a:t>
            </a:r>
          </a:p>
        </p:txBody>
      </p:sp>
      <p:sp>
        <p:nvSpPr>
          <p:cNvPr id="9" name="Rounded Rectangle 8"/>
          <p:cNvSpPr/>
          <p:nvPr/>
        </p:nvSpPr>
        <p:spPr>
          <a:xfrm>
            <a:off x="7973568" y="1874519"/>
            <a:ext cx="3392424" cy="22860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20823"/>
            <a:ext cx="2990088" cy="20116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推進体制</a:t>
            </a:r>
          </a:p>
          <a:p>
            <a:pPr algn="l">
              <a:lnSpc>
                <a:spcPct val="130000"/>
              </a:lnSpc>
              <a:spcAft>
                <a:spcPts val="500"/>
              </a:spcAft>
            </a:pPr>
            <a:r>
              <a:rPr sz="1300" b="1">
                <a:solidFill>
                  <a:srgbClr val="20242E"/>
                </a:solidFill>
                <a:latin typeface="Yu Gothic"/>
                <a:ea typeface="Yu Gothic"/>
              </a:rPr>
              <a:t>3社合同チーム</a:t>
            </a:r>
          </a:p>
          <a:p>
            <a:pPr algn="l">
              <a:lnSpc>
                <a:spcPct val="130000"/>
              </a:lnSpc>
              <a:spcAft>
                <a:spcPts val="500"/>
              </a:spcAft>
            </a:pPr>
            <a:r>
              <a:rPr sz="1050" b="0">
                <a:solidFill>
                  <a:srgbClr val="545B6B"/>
                </a:solidFill>
                <a:latin typeface="Yu Gothic"/>
                <a:ea typeface="Yu Gothic"/>
              </a:rPr>
              <a:t>貴社(宣伝・事業部)× 円谷(監修・公式連携)× 当方(企画・PM)の月次定例で運用。効果測定は第三者調査機関を起用し、数字で更新判断を行う。</a:t>
            </a:r>
          </a:p>
        </p:txBody>
      </p:sp>
      <p:sp>
        <p:nvSpPr>
          <p:cNvPr id="11" name="Rounded Rectangle 10"/>
          <p:cNvSpPr/>
          <p:nvPr/>
        </p:nvSpPr>
        <p:spPr>
          <a:xfrm>
            <a:off x="822960" y="4572000"/>
            <a:ext cx="10543032" cy="9144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572000"/>
            <a:ext cx="54864" cy="91440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736592"/>
            <a:ext cx="10040112" cy="594360"/>
          </a:xfrm>
          <a:prstGeom prst="rect">
            <a:avLst/>
          </a:prstGeom>
          <a:noFill/>
        </p:spPr>
        <p:txBody>
          <a:bodyPr wrap="square" anchor="t" lIns="0" rIns="0" tIns="0" bIns="0">
            <a:spAutoFit/>
          </a:bodyPr>
          <a:lstStyle/>
          <a:p>
            <a:pPr algn="l">
              <a:lnSpc>
                <a:spcPct val="140000"/>
              </a:lnSpc>
              <a:spcAft>
                <a:spcPts val="400"/>
              </a:spcAft>
            </a:pPr>
            <a:r>
              <a:rPr sz="1150" b="0">
                <a:solidFill>
                  <a:srgbClr val="545B6B"/>
                </a:solidFill>
                <a:latin typeface="Yu Gothic"/>
                <a:ea typeface="Yu Gothic"/>
              </a:rPr>
              <a:t>エントリー(PLAN A)は6ヶ月で完結する設計のため、</a:t>
            </a:r>
            <a:r>
              <a:rPr sz="1150" b="1">
                <a:solidFill>
                  <a:srgbClr val="20242E"/>
                </a:solidFill>
                <a:latin typeface="Yu Gothic"/>
                <a:ea typeface="Yu Gothic"/>
              </a:rPr>
              <a:t>「まず8,000万円で実証し、数字を見て2億円の年間独占に進む」</a:t>
            </a:r>
            <a:r>
              <a:rPr sz="1150" b="0">
                <a:solidFill>
                  <a:srgbClr val="545B6B"/>
                </a:solidFill>
                <a:latin typeface="Yu Gothic"/>
                <a:ea typeface="Yu Gothic"/>
              </a:rPr>
              <a:t>という段階投資が可能です。</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777240"/>
            <a:ext cx="54864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12 — むすび</a:t>
            </a:r>
          </a:p>
        </p:txBody>
      </p:sp>
      <p:sp>
        <p:nvSpPr>
          <p:cNvPr id="3" name="Rectangle 2"/>
          <p:cNvSpPr/>
          <p:nvPr/>
        </p:nvSpPr>
        <p:spPr>
          <a:xfrm>
            <a:off x="4114800" y="896112"/>
            <a:ext cx="725119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10543032" cy="1463040"/>
          </a:xfrm>
          <a:prstGeom prst="rect">
            <a:avLst/>
          </a:prstGeom>
          <a:noFill/>
        </p:spPr>
        <p:txBody>
          <a:bodyPr wrap="square" anchor="t" lIns="0" rIns="0" tIns="0" bIns="0">
            <a:spAutoFit/>
          </a:bodyPr>
          <a:lstStyle/>
          <a:p>
            <a:pPr algn="l">
              <a:lnSpc>
                <a:spcPct val="135000"/>
              </a:lnSpc>
              <a:spcAft>
                <a:spcPts val="400"/>
              </a:spcAft>
            </a:pPr>
            <a:r>
              <a:rPr sz="3000" b="1">
                <a:solidFill>
                  <a:srgbClr val="20242E"/>
                </a:solidFill>
                <a:latin typeface="Yu Gothic"/>
                <a:ea typeface="Yu Gothic"/>
              </a:rPr>
              <a:t>HR業界の「キャラクターの席」を、</a:t>
            </a:r>
          </a:p>
          <a:p>
            <a:pPr algn="l">
              <a:lnSpc>
                <a:spcPct val="135000"/>
              </a:lnSpc>
              <a:spcAft>
                <a:spcPts val="400"/>
              </a:spcAft>
            </a:pPr>
            <a:r>
              <a:rPr sz="3000" b="1">
                <a:solidFill>
                  <a:srgbClr val="20242E"/>
                </a:solidFill>
                <a:latin typeface="Yu Gothic"/>
                <a:ea typeface="Yu Gothic"/>
              </a:rPr>
              <a:t>最初に押さえにいきませんか。</a:t>
            </a:r>
          </a:p>
        </p:txBody>
      </p:sp>
      <p:sp>
        <p:nvSpPr>
          <p:cNvPr id="5" name="TextBox 4"/>
          <p:cNvSpPr txBox="1"/>
          <p:nvPr/>
        </p:nvSpPr>
        <p:spPr>
          <a:xfrm>
            <a:off x="822960" y="292608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エンは「縁」— 人と企業の出会いを、入社後の活躍まで見届ける会社。ウルトラマンは「光」— 人の中にある強さを信じ続けるヒーロー。この協業は単なるタイアップではなく、「転職=変身=エン」という業界の連想を独占する先行投資です。</a:t>
            </a:r>
          </a:p>
        </p:txBody>
      </p:sp>
      <p:sp>
        <p:nvSpPr>
          <p:cNvPr id="6" name="Rounded Rectangle 5"/>
          <p:cNvSpPr/>
          <p:nvPr/>
        </p:nvSpPr>
        <p:spPr>
          <a:xfrm>
            <a:off x="822960" y="4160520"/>
            <a:ext cx="10543032" cy="12344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160520"/>
            <a:ext cx="54864" cy="123444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325112"/>
            <a:ext cx="10040112" cy="914400"/>
          </a:xfrm>
          <a:prstGeom prst="rect">
            <a:avLst/>
          </a:prstGeom>
          <a:noFill/>
        </p:spPr>
        <p:txBody>
          <a:bodyPr wrap="square" anchor="t" lIns="0" rIns="0" tIns="0" bIns="0">
            <a:spAutoFit/>
          </a:bodyPr>
          <a:lstStyle/>
          <a:p>
            <a:pPr algn="l">
              <a:lnSpc>
                <a:spcPct val="140000"/>
              </a:lnSpc>
              <a:spcAft>
                <a:spcPts val="400"/>
              </a:spcAft>
            </a:pPr>
            <a:r>
              <a:rPr sz="1300" b="0">
                <a:solidFill>
                  <a:srgbClr val="20242E"/>
                </a:solidFill>
                <a:latin typeface="Yu Gothic"/>
                <a:ea typeface="Yu Gothic"/>
              </a:rPr>
              <a:t>次の一歩として、</a:t>
            </a:r>
            <a:r>
              <a:rPr sz="1300" b="1">
                <a:solidFill>
                  <a:srgbClr val="BE3A34"/>
                </a:solidFill>
                <a:latin typeface="Yu Gothic"/>
                <a:ea typeface="Yu Gothic"/>
              </a:rPr>
              <a:t>円谷プロダクションを交えた条件協議・企画ワークショップ(初回90分)</a:t>
            </a:r>
            <a:r>
              <a:rPr sz="1300" b="0">
                <a:solidFill>
                  <a:srgbClr val="20242E"/>
                </a:solidFill>
                <a:latin typeface="Yu Gothic"/>
                <a:ea typeface="Yu Gothic"/>
              </a:rPr>
              <a:t> の場を設けさせてください。</a:t>
            </a:r>
          </a:p>
          <a:p>
            <a:pPr algn="l">
              <a:lnSpc>
                <a:spcPct val="140000"/>
              </a:lnSpc>
              <a:spcAft>
                <a:spcPts val="400"/>
              </a:spcAft>
            </a:pPr>
            <a:r>
              <a:rPr sz="1300" b="0">
                <a:solidFill>
                  <a:srgbClr val="20242E"/>
                </a:solidFill>
                <a:latin typeface="Yu Gothic"/>
                <a:ea typeface="Yu Gothic"/>
              </a:rPr>
              <a:t>PLAN A/Bの選択、独占条項の範囲、繁忙期ローンチの実現性まで、その場で骨格を固めます。</a:t>
            </a:r>
          </a:p>
        </p:txBody>
      </p:sp>
      <p:sp>
        <p:nvSpPr>
          <p:cNvPr id="9" name="TextBox 8"/>
          <p:cNvSpPr txBox="1"/>
          <p:nvPr/>
        </p:nvSpPr>
        <p:spPr>
          <a:xfrm>
            <a:off x="822960" y="5989320"/>
            <a:ext cx="10543032" cy="548640"/>
          </a:xfrm>
          <a:prstGeom prst="rect">
            <a:avLst/>
          </a:prstGeom>
          <a:noFill/>
        </p:spPr>
        <p:txBody>
          <a:bodyPr wrap="square" anchor="t" lIns="0" rIns="0" tIns="0" bIns="0">
            <a:spAutoFit/>
          </a:bodyPr>
          <a:lstStyle/>
          <a:p>
            <a:pPr algn="l">
              <a:lnSpc>
                <a:spcPct val="130000"/>
              </a:lnSpc>
              <a:spcAft>
                <a:spcPts val="400"/>
              </a:spcAft>
            </a:pPr>
            <a:r>
              <a:rPr sz="900" b="0">
                <a:solidFill>
                  <a:srgbClr val="8A92A3"/>
                </a:solidFill>
                <a:latin typeface="Yu Gothic"/>
                <a:ea typeface="Yu Gothic"/>
              </a:rPr>
              <a:t>本資料は協業検討のためのご提案であり、キャラクター・作品の使用および金額・独占条件はすべて権利者との最終協議・承認を前提とします。記載の施策・スケジュールは提案時点の想定です。</a:t>
            </a:r>
          </a:p>
        </p:txBody>
      </p:sp>
      <p:sp>
        <p:nvSpPr>
          <p:cNvPr id="10" name="TextBox 9"/>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