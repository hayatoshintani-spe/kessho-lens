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  2026.7.14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 進捗共有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山本会長との決議と、ここまでの全体像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2026年7月14日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本日の共有事項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本日お伝えすることは、3つです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決めたこと・進んだこと・今週からのお願い、の順でご説明します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5694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3408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山本会長と決議したこと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改革を動かす体制と、会議の枠組みを固めました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844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9410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7124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ここまでの進捗の全体像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データ・会議・道具立て・今期の数字まで、土台が整いました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560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53126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50840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今週からのお願い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皆さんにご協力いただきたいことを、4つに絞ってお願いします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決議事項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山本会長と、この5点を決めました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048256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75104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営業改革推進室（STO）の発足を承認いただきました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70048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70048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798064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24912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点検会議（月次60分）の議長を、山本会長にお願いすることを内諾いただきました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19856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3547872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会議の流れ（分科会×3 → 戦略会議 → 点検会議）の枠組みを確認しました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69664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24528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体制は新谷・坪井の2名を確定。その他の担務は関係部門と相談のうえ確定します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19472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19472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47488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974336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皆さんからのフィードバック（率直な声を含む37件）を、加工せずそのまま共有済みです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24144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724144"/>
            <a:ext cx="38100" cy="64008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779008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「耳の痛い声もそのまま見せてほしい」という進め方に、会長からご賛同をいただいています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STO体制の現在地 — 全5枠が確定（7/16決定）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621"/>
                <a:gridCol w="1374972"/>
                <a:gridCol w="1741632"/>
                <a:gridCol w="5774885"/>
              </a:tblGrid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中身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優先順位・重要判断・障害の除去・トップ外交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確定（専任）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改革の中身：課題設計・プロセス再設計・意思決定書・パイロット・標準化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実行統制・データリード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改革の完遂：統合計画・KPI・データ品質・決定/リスク/未決の一元管理・エスカレーション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（経営企画）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読み管理原案・経営向け論点整理・HD経企との接続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財務データの定期供給・粗利算定の検証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650992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650992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05856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体制は全枠確定しました（7/16決定）。本改革は円谷プロ単独ではなく、ホールディングスもコミットする取り組みです（グループ経営企画がSTOを支援）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データ基盤 — 土台の整理が、ほぼ完了しました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103120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066544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営業側データが分母。財務データとの突合はこれから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64008" cy="91440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3163824"/>
            <a:ext cx="310896" cy="31089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127248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要確認199件のうち、約150件は「担当者がどなたか」の確認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各部長との確認会（2〜3時間）で解消します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4224528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187952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過去5期の財務分析が完了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65期は売上▲21%・粗利率▲19ポイント。「なぜ今か」を示す実数です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38928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38928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" y="5285232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5248656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今期の通期見込みも分析済み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売上は予算超も、粗利・営業利益は未達の見込み（詳細は次ページ）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今期の数字が示すもの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社外秘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504688" cy="4443984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83664"/>
            <a:ext cx="5504688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通期見込み（営業事業本部）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売上（請求）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7D46"/>
                </a:solidFill>
                <a:latin typeface="Yu Gothic"/>
                <a:ea typeface="Yu Gothic"/>
                <a:cs typeface="Yu Gothic"/>
              </a:rPr>
              <a:t>予算比 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売上総利益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98%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▲1.1億円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97%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▲1.25億円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49560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5522976"/>
            <a:ext cx="46634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見込みの26%は「営業中・未確定」の数字です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883664"/>
            <a:ext cx="5504688" cy="44439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883664"/>
            <a:ext cx="550468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読み取れること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2670048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2615184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売上が伸びても取り分が細る構造が、今期も進行中です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3895344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4" y="3840480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委員会の座組変更で原価率が動く＝「どの作品・どの座組か」で粗利が変わります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55664" y="5120640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4" y="5065776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黒・青・赤の枠組みはそのまま活かします。『青とは何か』の定義だけ明文化してから棚卸しに採用します（原案を作成中）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会議の仕組み — 決める場所を、3段に分けました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48840" y="1920240"/>
            <a:ext cx="78638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48840" y="1920240"/>
            <a:ext cx="914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9736" y="202996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点検会議（月次60分・会長）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会長にしか決められないことだけを、ここで決めます</a:t>
            </a:r>
          </a:p>
        </p:txBody>
      </p:sp>
      <p:sp>
        <p:nvSpPr>
          <p:cNvPr id="8" name="Up Arrow 7"/>
          <p:cNvSpPr/>
          <p:nvPr/>
        </p:nvSpPr>
        <p:spPr>
          <a:xfrm>
            <a:off x="5934456" y="2944368"/>
            <a:ext cx="292608" cy="219456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3218688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3218688"/>
            <a:ext cx="91440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9736" y="3328416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戦略会議（隔週90分・社長）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決め切る場。部門をまたぐ判断は、ここで決めます</a:t>
            </a:r>
          </a:p>
        </p:txBody>
      </p:sp>
      <p:sp>
        <p:nvSpPr>
          <p:cNvPr id="12" name="Up Arrow 11"/>
          <p:cNvSpPr/>
          <p:nvPr/>
        </p:nvSpPr>
        <p:spPr>
          <a:xfrm>
            <a:off x="5934456" y="4242816"/>
            <a:ext cx="292608" cy="219456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4517136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4517136"/>
            <a:ext cx="91440" cy="987552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9736" y="4626864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実務の検討。決められることは、ここで決めます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各会議の分単位の進め方まで設計済み。資料の作り込みは禁止（Word1枚）です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3つの分科会と、扱うテーマ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9311"/>
                <a:gridCol w="1091035"/>
                <a:gridCol w="5182417"/>
                <a:gridCol w="3000347"/>
              </a:tblGrid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リーダー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扱うテーマ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ねらい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黒澤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お客様・ファンとの日常接点づくり：EC・イベント・SNS・ファン施策、接点データの定点観測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「待ちの窓口」から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「接点を作りに行く」への転換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営業改革分科会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南谷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棚卸しとランクの運用、案件の進み具合と停滞の解消、新規開拓、営業資料の強化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改革の本丸。棚卸しシートと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直結する唯一の分科会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強化分科会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指標（KPI）の設計、ルール・ガイドラインづくり、工数の記録、AI活用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他の2つが走るための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道路を敷く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486400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4315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関係する部長・メンバーはテーマに応じて出席をお願いします（全員が毎回ではありません）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961888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907024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部門をまたぐ相談（例：キャラクター稼働の依頼整理、製作と営業の情報連携）は、該当する分科会に論点として持ち込めます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毎週75分の、進め方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75分の時間割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39696"/>
          <a:ext cx="6766559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977"/>
                <a:gridCol w="5316582"/>
              </a:tblGrid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前回の宿題の確認（できた/できていないを機械的に）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5–20分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数字の定点（シートから自動で出る数字だけ。資料は作りません）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20–45分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本日の論点（1〜2件。「問い→現状→選択肢→決める」の順）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45–60分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実行の振り返りと支援の相談（停滞していることの助け合い）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60–70分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決めたことの確認と、上に上げる論点の確定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70–75分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宿題の読み上げ（誰が・何を・いつまでに）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84708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時期によって議題が変わります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231136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231136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1" y="2359152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最初の30日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棚卸しの完成（担当・事実の確認）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383280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3383280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1" y="3511296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30〜60日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採点とランクの目線合わせ、ルールの設計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535424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535424"/>
            <a:ext cx="64008" cy="10058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1" y="4663440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60〜90日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力の入れ直しの実行と振り返り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約束事：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資料の作り込み禁止（Word1枚まで）／個別案件の深掘りは5分で切って担当と部長へ／全部「共有」で終わった回は赤信号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用意した道具立て — 一式そろいました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棚卸し・スコアリングマスター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採点定義込み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工数申告テンプレート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評価には一切使いません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KPI・決定ログ・90日計画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進捗と決定を残す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会議のアジェンダ・議事録様式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会議を軽く回す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STOの設計書と運用指南書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役割別の実務マニュアル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資料一覧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どれが最新版かの正本管理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724144"/>
            <a:ext cx="11183112" cy="6217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724144"/>
            <a:ext cx="38100" cy="6217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79008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すべて一式パッケージで共有します。迷ったら「資料一覧」を見てください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フィードバックへの対応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37件すべてに、回答済みです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3682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396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37件すべてに回答済み（設計に7点を反映）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いただいた声を、その場で終わらせず、改革の設計に取り込みました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7398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5112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回答は、方針と論点の位置づけまで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「策はまだ決めていない」段階のため。具体策は分科会で一緒に設計します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1114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8828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未回答の部門（海外・監修・法務）には個別にお話を伺います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沈黙を合意とみなしません。こちらから出向いてお聞きします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今週から、この4つをお願いします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5798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04825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確認会の日程確保（お一人2〜3時間）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担当者の確認と事実の確認だけ。事前準備は不要です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2369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272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担当確認一覧への対応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事前に配布します。当日冒頭15分で確定します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31596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206240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分科会の初回日程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リーダーの皆さんと今週中に固めます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57216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57216"/>
            <a:ext cx="64008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5394960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5285232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評価・採点はまだ始めません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金額データが揃ってから。順番を守ります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道筋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これからの90日 — 順番を守って進めます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確認会開始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体制の残り確定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72384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〜30日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データ完成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工数計測開始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初回確定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6568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6568" y="2103120"/>
            <a:ext cx="2542032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〜90日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力の入れ直し（資源配分）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の実行と効果検証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577840"/>
            <a:ext cx="11183112" cy="76809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577840"/>
            <a:ext cx="38100" cy="7680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632704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点検会議には毎回「決めること」を3件以内でお持ちします。皆さんの現場の判断（担当替え・時間の使い方）は、会議を待たずに進めてください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691640"/>
            <a:ext cx="10543032" cy="210312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50800" cy="21031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97840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見える化は、管理のためではありません。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皆さんが自分の領域で決められる範囲を、広げるためのものです。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1605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改革の主役は、部長の皆さんです。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STOは、道具と会議を整えます。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詰まったら、24時間以内に新谷まで。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