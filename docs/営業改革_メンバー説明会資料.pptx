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051560"/>
            <a:ext cx="201168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25880"/>
            <a:ext cx="10515600" cy="365760"/>
          </a:xfrm>
          <a:prstGeom prst="rect">
            <a:avLst/>
          </a:prstGeom>
          <a:noFill/>
        </p:spPr>
        <p:txBody>
          <a:bodyPr wrap="square" lIns="0" rIns="0" tIns="0" bIns="0">
            <a:spAutoFit/>
          </a:bodyPr>
          <a:lstStyle/>
          <a:p>
            <a:pPr algn="l">
              <a:spcAft>
                <a:spcPts val="400"/>
              </a:spcAft>
            </a:pPr>
            <a:r>
              <a:rPr sz="1300" b="1" i="0">
                <a:solidFill>
                  <a:srgbClr val="5F5F6E"/>
                </a:solidFill>
                <a:latin typeface="Yu Gothic"/>
                <a:ea typeface="Yu Gothic"/>
                <a:cs typeface="Yu Gothic"/>
              </a:rPr>
              <a:t>営業・関連部門のメンバーの皆さんへ（説明会用・15分）</a:t>
            </a:r>
          </a:p>
        </p:txBody>
      </p:sp>
      <p:sp>
        <p:nvSpPr>
          <p:cNvPr id="5" name="TextBox 4"/>
          <p:cNvSpPr txBox="1"/>
          <p:nvPr/>
        </p:nvSpPr>
        <p:spPr>
          <a:xfrm>
            <a:off x="822960" y="1965960"/>
            <a:ext cx="10789920" cy="1920240"/>
          </a:xfrm>
          <a:prstGeom prst="rect">
            <a:avLst/>
          </a:prstGeom>
          <a:noFill/>
        </p:spPr>
        <p:txBody>
          <a:bodyPr wrap="square" lIns="0" rIns="0" tIns="0" bIns="0">
            <a:spAutoFit/>
          </a:bodyPr>
          <a:lstStyle/>
          <a:p>
            <a:pPr algn="l">
              <a:spcAft>
                <a:spcPts val="1000"/>
              </a:spcAft>
            </a:pPr>
            <a:r>
              <a:rPr sz="4000" b="1" i="0">
                <a:solidFill>
                  <a:srgbClr val="262630"/>
                </a:solidFill>
                <a:latin typeface="Yu Gothic"/>
                <a:ea typeface="Yu Gothic"/>
                <a:cs typeface="Yu Gothic"/>
              </a:rPr>
              <a:t>営業改革、はじめます。</a:t>
            </a:r>
          </a:p>
          <a:p>
            <a:pPr algn="l">
              <a:spcAft>
                <a:spcPts val="600"/>
              </a:spcAft>
            </a:pPr>
            <a:r>
              <a:rPr sz="1800" b="1" i="0">
                <a:solidFill>
                  <a:srgbClr val="7823DC"/>
                </a:solidFill>
                <a:latin typeface="Yu Gothic"/>
                <a:ea typeface="Yu Gothic"/>
                <a:cs typeface="Yu Gothic"/>
              </a:rPr>
              <a:t>——皆さんの時間を、提案・商談・顧客開拓に返すための改革です</a:t>
            </a:r>
          </a:p>
          <a:p>
            <a:pPr algn="l">
              <a:spcAft>
                <a:spcPts val="400"/>
              </a:spcAft>
            </a:pPr>
            <a:r>
              <a:rPr sz="1300" b="1" i="0">
                <a:solidFill>
                  <a:srgbClr val="3A106E"/>
                </a:solidFill>
                <a:latin typeface="Yu Gothic"/>
                <a:ea typeface="Yu Gothic"/>
                <a:cs typeface="Yu Gothic"/>
              </a:rPr>
              <a:t>最初にお伝えします：これは管理強化でも、監視でも、現場批判でもありません</a:t>
            </a:r>
          </a:p>
        </p:txBody>
      </p:sp>
      <p:sp>
        <p:nvSpPr>
          <p:cNvPr id="6" name="TextBox 5"/>
          <p:cNvSpPr txBox="1"/>
          <p:nvPr/>
        </p:nvSpPr>
        <p:spPr>
          <a:xfrm>
            <a:off x="822960" y="4572000"/>
            <a:ext cx="10515600" cy="1280160"/>
          </a:xfrm>
          <a:prstGeom prst="rect">
            <a:avLst/>
          </a:prstGeom>
          <a:noFill/>
        </p:spPr>
        <p:txBody>
          <a:bodyPr wrap="square" lIns="0" rIns="0" tIns="0" bIns="0">
            <a:spAutoFit/>
          </a:bodyPr>
          <a:lstStyle/>
          <a:p>
            <a:pPr algn="l">
              <a:spcAft>
                <a:spcPts val="400"/>
              </a:spcAft>
            </a:pPr>
            <a:r>
              <a:rPr sz="1200" b="1" i="0">
                <a:solidFill>
                  <a:srgbClr val="262630"/>
                </a:solidFill>
                <a:latin typeface="Yu Gothic"/>
                <a:ea typeface="Yu Gothic"/>
                <a:cs typeface="Yu Gothic"/>
              </a:rPr>
              <a:t>円谷プロダクション　専務執行役員　新谷 隼人（改革スポンサー）／ Sales Transformation Office（STO）</a:t>
            </a:r>
          </a:p>
          <a:p>
            <a:pPr algn="l">
              <a:spcAft>
                <a:spcPts val="400"/>
              </a:spcAft>
            </a:pPr>
            <a:r>
              <a:rPr sz="1050" b="0" i="0">
                <a:solidFill>
                  <a:srgbClr val="5F5F6E"/>
                </a:solidFill>
                <a:latin typeface="Yu Gothic"/>
                <a:ea typeface="Yu Gothic"/>
                <a:cs typeface="Yu Gothic"/>
              </a:rPr>
              <a:t>本日の説明：15分＋質疑。詳しい資料と道具はすべて共有フォルダにあります（最後にご案内）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はじめに</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最初に、経営陣として3つの約束をします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この約束が破られたと感じたら、STOまたは新谷まで直接指摘してください。直すのは仕組みの側です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約束①　工数データは人事評価に一切使いません</a:t>
            </a:r>
          </a:p>
          <a:p>
            <a:pPr algn="l">
              <a:spcAft>
                <a:spcPts val="600"/>
              </a:spcAft>
            </a:pPr>
            <a:r>
              <a:rPr sz="1150" b="0" i="0">
                <a:solidFill>
                  <a:srgbClr val="262630"/>
                </a:solidFill>
                <a:latin typeface="Yu Gothic"/>
                <a:ea typeface="Yu Gothic"/>
                <a:cs typeface="Yu Gothic"/>
              </a:rPr>
              <a:t>■ 時間の記録は、皆さんを測るためではなく、皆さんの時間を奪っている案件や社内業務を特定するために使います。個人の明細は本人とSTOのみが見ます。上司に共有されるのはチーム単位の集計だけです</a:t>
            </a:r>
          </a:p>
          <a:p>
            <a:pPr algn="l">
              <a:spcAft>
                <a:spcPts val="300"/>
              </a:spcAft>
            </a:pPr>
            <a:r>
              <a:rPr sz="1200" b="1" i="0">
                <a:solidFill>
                  <a:srgbClr val="3A106E"/>
                </a:solidFill>
                <a:latin typeface="Yu Gothic"/>
                <a:ea typeface="Yu Gothic"/>
                <a:cs typeface="Yu Gothic"/>
              </a:rPr>
              <a:t>約束②　「停滞」や「低スコア」を、責任追及に使いません</a:t>
            </a:r>
          </a:p>
          <a:p>
            <a:pPr algn="l">
              <a:spcAft>
                <a:spcPts val="600"/>
              </a:spcAft>
            </a:pPr>
            <a:r>
              <a:rPr sz="1150" b="0" i="0">
                <a:solidFill>
                  <a:srgbClr val="262630"/>
                </a:solidFill>
                <a:latin typeface="Yu Gothic"/>
                <a:ea typeface="Yu Gothic"/>
                <a:cs typeface="Yu Gothic"/>
              </a:rPr>
              <a:t>■ 停滞案件の表示は「誰が悪いか」ではなく「誰が助けるか」を決めるためのシグナルです。案件のスコアは案件の物差しであって、人の評価ではありません</a:t>
            </a:r>
          </a:p>
          <a:p>
            <a:pPr algn="l">
              <a:spcAft>
                <a:spcPts val="300"/>
              </a:spcAft>
            </a:pPr>
            <a:r>
              <a:rPr sz="1200" b="1" i="0">
                <a:solidFill>
                  <a:srgbClr val="3A106E"/>
                </a:solidFill>
                <a:latin typeface="Yu Gothic"/>
                <a:ea typeface="Yu Gothic"/>
                <a:cs typeface="Yu Gothic"/>
              </a:rPr>
              <a:t>約束③　入力の負荷が増えたら、直すのは仕組みの側です</a:t>
            </a:r>
          </a:p>
          <a:p>
            <a:pPr algn="l">
              <a:spcAft>
                <a:spcPts val="600"/>
              </a:spcAft>
            </a:pPr>
            <a:r>
              <a:rPr sz="1150" b="0" i="0">
                <a:solidFill>
                  <a:srgbClr val="262630"/>
                </a:solidFill>
                <a:latin typeface="Yu Gothic"/>
                <a:ea typeface="Yu Gothic"/>
                <a:cs typeface="Yu Gothic"/>
              </a:rPr>
              <a:t>■ 皆さんにお願いする入力は週15分以内に収まるよう設計しています。超えるようなら、我慢せずSTOに申告してください。仕組みを直します</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困ったら我慢せず言う。直すのは仕組みの側——これがこの改革のルールです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なぜやるのか</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皆さんが忙しいのは、皆さんのせいではありません——仕組みが追いついていないからです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ウルトラマンIPの機会が増えた分、営業の仕事は複雑になりました。これは成長企業が必ずぶつかる壁です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いま起きていること（構造の問題）</a:t>
            </a:r>
          </a:p>
          <a:p>
            <a:pPr algn="l">
              <a:spcAft>
                <a:spcPts val="600"/>
              </a:spcAft>
            </a:pPr>
            <a:r>
              <a:rPr sz="1150" b="0" i="0">
                <a:solidFill>
                  <a:srgbClr val="262630"/>
                </a:solidFill>
                <a:latin typeface="Yu Gothic"/>
                <a:ea typeface="Yu Gothic"/>
                <a:cs typeface="Yu Gothic"/>
              </a:rPr>
              <a:t>■ 海外・カードゲーム・D2C・イベント・AI・教育——機会が増え、案件の型も関係部門も増えた。その結果、監修・契約・社内調整・資料作成が皆さんの時間を圧迫している可能性があります</a:t>
            </a:r>
          </a:p>
          <a:p>
            <a:pPr algn="l">
              <a:spcAft>
                <a:spcPts val="600"/>
              </a:spcAft>
            </a:pPr>
            <a:r>
              <a:rPr sz="1150" b="0" i="0">
                <a:solidFill>
                  <a:srgbClr val="262630"/>
                </a:solidFill>
                <a:latin typeface="Yu Gothic"/>
                <a:ea typeface="Yu Gothic"/>
                <a:cs typeface="Yu Gothic"/>
              </a:rPr>
              <a:t>■ 案件や顧客の情報が個人のExcelやメールに分散し、会社として「全体像」が見えないため、忙しさの正体を誰も証明できず、負荷が偏っても気づけない状態です</a:t>
            </a:r>
          </a:p>
          <a:p>
            <a:pPr algn="l">
              <a:spcAft>
                <a:spcPts val="300"/>
              </a:spcAft>
            </a:pPr>
            <a:r>
              <a:rPr sz="1200" b="1" i="0">
                <a:solidFill>
                  <a:srgbClr val="3A106E"/>
                </a:solidFill>
                <a:latin typeface="Yu Gothic"/>
                <a:ea typeface="Yu Gothic"/>
                <a:cs typeface="Yu Gothic"/>
              </a:rPr>
              <a:t>だから、こうします</a:t>
            </a:r>
          </a:p>
          <a:p>
            <a:pPr algn="l">
              <a:spcAft>
                <a:spcPts val="600"/>
              </a:spcAft>
            </a:pPr>
            <a:r>
              <a:rPr sz="1150" b="0" i="0">
                <a:solidFill>
                  <a:srgbClr val="262630"/>
                </a:solidFill>
                <a:latin typeface="Yu Gothic"/>
                <a:ea typeface="Yu Gothic"/>
                <a:cs typeface="Yu Gothic"/>
              </a:rPr>
              <a:t>■ 全案件・全顧客・時間の使い方を一度「見える化」し、儲からないのに手間ばかりかかる案件は、会社の判断でやめる・省力化する。空いた時間を、提案・商談・新しい顧客づくりに返します</a:t>
            </a:r>
          </a:p>
          <a:p>
            <a:pPr algn="l">
              <a:spcAft>
                <a:spcPts val="300"/>
              </a:spcAft>
            </a:pPr>
            <a:r>
              <a:rPr sz="1000" b="0" i="0">
                <a:solidFill>
                  <a:srgbClr val="8A8A99"/>
                </a:solidFill>
                <a:latin typeface="Yu Gothic"/>
                <a:ea typeface="Yu Gothic"/>
                <a:cs typeface="Yu Gothic"/>
              </a:rPr>
              <a:t>※ 見える化の目的は「再配分」です。誰かを評価するためではありません</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見える化はゴールではなく、皆さんの時間を取り戻すための手段です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目指す姿</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皆さんの1週間を、こう変えたい</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「調整に追われる営業」から「IP収益化プロデューサー」へ——時間の使い方を構造から変えます</a:t>
            </a:r>
          </a:p>
        </p:txBody>
      </p:sp>
      <p:graphicFrame>
        <p:nvGraphicFramePr>
          <p:cNvPr id="6" name="Table 5"/>
          <p:cNvGraphicFramePr>
            <a:graphicFrameLocks noGrp="1"/>
          </p:cNvGraphicFramePr>
          <p:nvPr/>
        </p:nvGraphicFramePr>
        <p:xfrm>
          <a:off x="502920" y="1901952"/>
          <a:ext cx="11183111" cy="3401568"/>
        </p:xfrm>
        <a:graphic>
          <a:graphicData uri="http://schemas.openxmlformats.org/drawingml/2006/table">
            <a:tbl>
              <a:tblPr firstRow="1" bandRow="1">
                <a:tableStyleId>{5C22544A-7EE6-4342-B048-85BDC9FD1C3A}</a:tableStyleId>
              </a:tblPr>
              <a:tblGrid>
                <a:gridCol w="1833297"/>
                <a:gridCol w="4674907"/>
                <a:gridCol w="4674907"/>
              </a:tblGrid>
              <a:tr h="566928">
                <a:tc>
                  <a:txBody>
                    <a:bodyPr wrap="square"/>
                    <a:lstStyle/>
                    <a:p>
                      <a:pPr algn="l">
                        <a:spcAft>
                          <a:spcPts val="0"/>
                        </a:spcAft>
                      </a:pPr>
                      <a:r>
                        <a:rPr sz="950" b="1" i="0">
                          <a:solidFill>
                            <a:srgbClr val="FFFFFF"/>
                          </a:solidFill>
                          <a:latin typeface="Yu Gothic"/>
                          <a:ea typeface="Yu Gothic"/>
                          <a:cs typeface="Yu Gothic"/>
                        </a:rPr>
                        <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いま（仮説・これから計測）</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目指す姿</a:t>
                      </a:r>
                    </a:p>
                  </a:txBody>
                  <a:tcPr marL="54864" marR="54864" marT="18288" marB="18288" anchor="ctr">
                    <a:solidFill>
                      <a:srgbClr val="3A106E"/>
                    </a:solidFill>
                  </a:tcPr>
                </a:tc>
              </a:tr>
              <a:tr h="566928">
                <a:tc>
                  <a:txBody>
                    <a:bodyPr wrap="square"/>
                    <a:lstStyle/>
                    <a:p>
                      <a:pPr algn="l">
                        <a:spcAft>
                          <a:spcPts val="100"/>
                        </a:spcAft>
                      </a:pPr>
                      <a:r>
                        <a:rPr sz="950" b="1" i="0">
                          <a:solidFill>
                            <a:srgbClr val="3A106E"/>
                          </a:solidFill>
                          <a:latin typeface="Yu Gothic"/>
                          <a:ea typeface="Yu Gothic"/>
                          <a:cs typeface="Yu Gothic"/>
                        </a:rPr>
                        <a:t>時間の使い方</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監修対応・契約調整・社内会議・資料作成が過半を占める可能性</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顧客と向き合う時間（商談・提案・開拓）を最大化</a:t>
                      </a:r>
                    </a:p>
                  </a:txBody>
                  <a:tcPr marL="54864" marR="54864" marT="18288" marB="18288" anchor="ctr">
                    <a:solidFill>
                      <a:srgbClr val="FFFFFF"/>
                    </a:solidFill>
                  </a:tcPr>
                </a:tc>
              </a:tr>
              <a:tr h="566928">
                <a:tc>
                  <a:txBody>
                    <a:bodyPr wrap="square"/>
                    <a:lstStyle/>
                    <a:p>
                      <a:pPr algn="l">
                        <a:spcAft>
                          <a:spcPts val="100"/>
                        </a:spcAft>
                      </a:pPr>
                      <a:r>
                        <a:rPr sz="950" b="1" i="0">
                          <a:solidFill>
                            <a:srgbClr val="3A106E"/>
                          </a:solidFill>
                          <a:latin typeface="Yu Gothic"/>
                          <a:ea typeface="Yu Gothic"/>
                          <a:cs typeface="Yu Gothic"/>
                        </a:rPr>
                        <a:t>案件の受け方</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断る基準がなく、依頼された案件をすべて背負う</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会社の物差し（スコア）で、やらない・省力化を会社が決める</a:t>
                      </a:r>
                    </a:p>
                  </a:txBody>
                  <a:tcPr marL="54864" marR="54864" marT="18288" marB="18288" anchor="ctr">
                    <a:solidFill>
                      <a:srgbClr val="F7F7F9"/>
                    </a:solidFill>
                  </a:tcPr>
                </a:tc>
              </a:tr>
              <a:tr h="566928">
                <a:tc>
                  <a:txBody>
                    <a:bodyPr wrap="square"/>
                    <a:lstStyle/>
                    <a:p>
                      <a:pPr algn="l">
                        <a:spcAft>
                          <a:spcPts val="100"/>
                        </a:spcAft>
                      </a:pPr>
                      <a:r>
                        <a:rPr sz="950" b="1" i="0">
                          <a:solidFill>
                            <a:srgbClr val="3A106E"/>
                          </a:solidFill>
                          <a:latin typeface="Yu Gothic"/>
                          <a:ea typeface="Yu Gothic"/>
                          <a:cs typeface="Yu Gothic"/>
                        </a:rPr>
                        <a:t>困ったとき</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個人の調整力・人間関係で何とかする</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停滞は自動で見え、会議で「誰が助けるか」が決まる</a:t>
                      </a:r>
                    </a:p>
                  </a:txBody>
                  <a:tcPr marL="54864" marR="54864" marT="18288" marB="18288" anchor="ctr">
                    <a:solidFill>
                      <a:srgbClr val="FFFFFF"/>
                    </a:solidFill>
                  </a:tcPr>
                </a:tc>
              </a:tr>
              <a:tr h="566928">
                <a:tc>
                  <a:txBody>
                    <a:bodyPr wrap="square"/>
                    <a:lstStyle/>
                    <a:p>
                      <a:pPr algn="l">
                        <a:spcAft>
                          <a:spcPts val="100"/>
                        </a:spcAft>
                      </a:pPr>
                      <a:r>
                        <a:rPr sz="950" b="1" i="0">
                          <a:solidFill>
                            <a:srgbClr val="3A106E"/>
                          </a:solidFill>
                          <a:latin typeface="Yu Gothic"/>
                          <a:ea typeface="Yu Gothic"/>
                          <a:cs typeface="Yu Gothic"/>
                        </a:rPr>
                        <a:t>会議</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報告のための資料作成に時間を使う</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資料作成禁止。データを映して、決めることだけ話す</a:t>
                      </a:r>
                    </a:p>
                  </a:txBody>
                  <a:tcPr marL="54864" marR="54864" marT="18288" marB="18288" anchor="ctr">
                    <a:solidFill>
                      <a:srgbClr val="F7F7F9"/>
                    </a:solidFill>
                  </a:tcPr>
                </a:tc>
              </a:tr>
              <a:tr h="566928">
                <a:tc>
                  <a:txBody>
                    <a:bodyPr wrap="square"/>
                    <a:lstStyle/>
                    <a:p>
                      <a:pPr algn="l">
                        <a:spcAft>
                          <a:spcPts val="100"/>
                        </a:spcAft>
                      </a:pPr>
                      <a:r>
                        <a:rPr sz="950" b="1" i="0">
                          <a:solidFill>
                            <a:srgbClr val="3A106E"/>
                          </a:solidFill>
                          <a:latin typeface="Yu Gothic"/>
                          <a:ea typeface="Yu Gothic"/>
                          <a:cs typeface="Yu Gothic"/>
                        </a:rPr>
                        <a:t>評価される仕事</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売上の大きい案件を回すこと</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粗利・戦略価値・ファンとの絆・海外展開まで含めた価値創出</a:t>
                      </a:r>
                    </a:p>
                  </a:txBody>
                  <a:tcPr marL="54864" marR="54864" marT="18288" marB="18288" anchor="ctr">
                    <a:solidFill>
                      <a:srgbClr val="FFFFFF"/>
                    </a:solidFill>
                  </a:tcPr>
                </a:tc>
              </a:tr>
            </a:tbl>
          </a:graphicData>
        </a:graphic>
      </p:graphicFrame>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改革の成果指標は「売上」ではなく「皆さんの1時間が生む価値」。時間はこの改革でいちばん大事な資源です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全体像</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変わることは5つ。皆さんにお願いすることは、このうち3つだけです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お願い＝①棚卸しの確認 ②週15分の工数メモ ③次アクションを切らさない。残り2つは会社側が変わります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皆さんにお願いすること（次の3枚で説明）</a:t>
            </a:r>
          </a:p>
          <a:p>
            <a:pPr algn="l">
              <a:spcAft>
                <a:spcPts val="600"/>
              </a:spcAft>
            </a:pPr>
            <a:r>
              <a:rPr sz="1150" b="0" i="0">
                <a:solidFill>
                  <a:srgbClr val="262630"/>
                </a:solidFill>
                <a:latin typeface="Yu Gothic"/>
                <a:ea typeface="Yu Gothic"/>
                <a:cs typeface="Yu Gothic"/>
              </a:rPr>
              <a:t>■ ① 案件・顧客リストの確認・修正（初回のみ・2〜3時間）※下書きはSTOが作ります</a:t>
            </a:r>
          </a:p>
          <a:p>
            <a:pPr algn="l">
              <a:spcAft>
                <a:spcPts val="600"/>
              </a:spcAft>
            </a:pPr>
            <a:r>
              <a:rPr sz="1150" b="0" i="0">
                <a:solidFill>
                  <a:srgbClr val="262630"/>
                </a:solidFill>
                <a:latin typeface="Yu Gothic"/>
                <a:ea typeface="Yu Gothic"/>
                <a:cs typeface="Yu Gothic"/>
              </a:rPr>
              <a:t>■ ② 週次の工数メモ（毎週15分・90日間の時限計測）</a:t>
            </a:r>
          </a:p>
          <a:p>
            <a:pPr algn="l">
              <a:spcAft>
                <a:spcPts val="600"/>
              </a:spcAft>
            </a:pPr>
            <a:r>
              <a:rPr sz="1150" b="0" i="0">
                <a:solidFill>
                  <a:srgbClr val="262630"/>
                </a:solidFill>
                <a:latin typeface="Yu Gothic"/>
                <a:ea typeface="Yu Gothic"/>
                <a:cs typeface="Yu Gothic"/>
              </a:rPr>
              <a:t>■ ③ 自分の案件の「次アクションと期限」を切らさない（日々1〜2分）</a:t>
            </a:r>
          </a:p>
          <a:p>
            <a:pPr algn="l">
              <a:spcAft>
                <a:spcPts val="300"/>
              </a:spcAft>
            </a:pPr>
            <a:r>
              <a:rPr sz="1200" b="1" i="0">
                <a:solidFill>
                  <a:srgbClr val="3A106E"/>
                </a:solidFill>
                <a:latin typeface="Yu Gothic"/>
                <a:ea typeface="Yu Gothic"/>
                <a:cs typeface="Yu Gothic"/>
              </a:rPr>
              <a:t>会社側が変わること（後半で説明）</a:t>
            </a:r>
          </a:p>
          <a:p>
            <a:pPr algn="l">
              <a:spcAft>
                <a:spcPts val="600"/>
              </a:spcAft>
            </a:pPr>
            <a:r>
              <a:rPr sz="1150" b="0" i="0">
                <a:solidFill>
                  <a:srgbClr val="262630"/>
                </a:solidFill>
                <a:latin typeface="Yu Gothic"/>
                <a:ea typeface="Yu Gothic"/>
                <a:cs typeface="Yu Gothic"/>
              </a:rPr>
              <a:t>■ ④ 会議が変わる：資料作成禁止・報告廃止・決める場に。監修や契約の「待ち」も見える化して会社が対処</a:t>
            </a:r>
          </a:p>
          <a:p>
            <a:pPr algn="l">
              <a:spcAft>
                <a:spcPts val="600"/>
              </a:spcAft>
            </a:pPr>
            <a:r>
              <a:rPr sz="1150" b="0" i="0">
                <a:solidFill>
                  <a:srgbClr val="262630"/>
                </a:solidFill>
                <a:latin typeface="Yu Gothic"/>
                <a:ea typeface="Yu Gothic"/>
                <a:cs typeface="Yu Gothic"/>
              </a:rPr>
              <a:t>■ ⑤ 支援が増える：案件の物差し導入で「断る理由」を会社が持つ／AIによる提案書ドラフト・監修ナレッジ検索／経営陣によるトップ外交支援</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「現場に入力させて終わり」にはしません。お願いと同じ数だけ、会社側が返します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お願い①</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案件・顧客リストの「確認と修正」をお願いします——書き出すのはSTOの仕事です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初回のみ・お一人あたり2〜3時間以内。締切と手順は領域ごとにSTOから個別にご案内します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何をするのか</a:t>
            </a:r>
          </a:p>
          <a:p>
            <a:pPr algn="l">
              <a:spcAft>
                <a:spcPts val="600"/>
              </a:spcAft>
            </a:pPr>
            <a:r>
              <a:rPr sz="1150" b="0" i="0">
                <a:solidFill>
                  <a:srgbClr val="262630"/>
                </a:solidFill>
                <a:latin typeface="Yu Gothic"/>
                <a:ea typeface="Yu Gothic"/>
                <a:cs typeface="Yu Gothic"/>
              </a:rPr>
              <a:t>■ STOが請求データ・契約データ・既存資料から、皆さんの担当顧客・案件リストの「下書き」を作ります。皆さんにお願いするのは、その下書きを見て、間違いを直し、抜けている案件・顧客・眠っている接点を書き足すことだけです</a:t>
            </a:r>
          </a:p>
          <a:p>
            <a:pPr algn="l">
              <a:spcAft>
                <a:spcPts val="300"/>
              </a:spcAft>
            </a:pPr>
            <a:r>
              <a:rPr sz="1200" b="1" i="0">
                <a:solidFill>
                  <a:srgbClr val="3A106E"/>
                </a:solidFill>
                <a:latin typeface="Yu Gothic"/>
                <a:ea typeface="Yu Gothic"/>
                <a:cs typeface="Yu Gothic"/>
              </a:rPr>
              <a:t>なぜやるのか</a:t>
            </a:r>
          </a:p>
          <a:p>
            <a:pPr algn="l">
              <a:spcAft>
                <a:spcPts val="600"/>
              </a:spcAft>
            </a:pPr>
            <a:r>
              <a:rPr sz="1150" b="0" i="0">
                <a:solidFill>
                  <a:srgbClr val="262630"/>
                </a:solidFill>
                <a:latin typeface="Yu Gothic"/>
                <a:ea typeface="Yu Gothic"/>
                <a:cs typeface="Yu Gothic"/>
              </a:rPr>
              <a:t>■ 会社として「全量」が見えると、負荷の偏りと、手間のわりに儲からない案件を証明できるようになります。皆さんの「忙しさ」がデータで語れるようになる、ということです</a:t>
            </a:r>
          </a:p>
          <a:p>
            <a:pPr algn="l">
              <a:spcAft>
                <a:spcPts val="300"/>
              </a:spcAft>
            </a:pPr>
            <a:r>
              <a:rPr sz="1200" b="1" i="0">
                <a:solidFill>
                  <a:srgbClr val="3A106E"/>
                </a:solidFill>
                <a:latin typeface="Yu Gothic"/>
                <a:ea typeface="Yu Gothic"/>
                <a:cs typeface="Yu Gothic"/>
              </a:rPr>
              <a:t>記入のコツ</a:t>
            </a:r>
          </a:p>
          <a:p>
            <a:pPr algn="l">
              <a:spcAft>
                <a:spcPts val="600"/>
              </a:spcAft>
            </a:pPr>
            <a:r>
              <a:rPr sz="1150" b="0" i="0">
                <a:solidFill>
                  <a:srgbClr val="262630"/>
                </a:solidFill>
                <a:latin typeface="Yu Gothic"/>
                <a:ea typeface="Yu Gothic"/>
                <a:cs typeface="Yu Gothic"/>
              </a:rPr>
              <a:t>■ 金額・粗利は概算でOK（「たしか年間◯◯百万くらい」で十分）／休眠顧客は「なぜ眠ったか」の一言があると再開のヒントになります／迷ったら書く（消すのは簡単、思い出すのは大変）</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皆さんの記憶と関係性こそが円谷の資産。それを会社の資産として守るための棚卸しです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お願い②</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週15分の「時間メモ」をお願いします——精度は7割で十分です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毎週金曜または月曜朝に、専用Excelに1週間分をまとめて入力。90日間の時限計測です（続けるかはDay 90に判断）</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入力は3項目だけ</a:t>
            </a:r>
          </a:p>
          <a:p>
            <a:pPr algn="l">
              <a:spcAft>
                <a:spcPts val="600"/>
              </a:spcAft>
            </a:pPr>
            <a:r>
              <a:rPr sz="1150" b="0" i="0">
                <a:solidFill>
                  <a:srgbClr val="262630"/>
                </a:solidFill>
                <a:latin typeface="Yu Gothic"/>
                <a:ea typeface="Yu Gothic"/>
                <a:cs typeface="Yu Gothic"/>
              </a:rPr>
              <a:t>■ 「案件（プルダウン）」×「活動の種類（10分類プルダウン）」×「時間（0.5時間単位）」。分単位の正確さは不要。記憶ベースで、ざっくりで構いません</a:t>
            </a:r>
          </a:p>
          <a:p>
            <a:pPr algn="l">
              <a:spcAft>
                <a:spcPts val="300"/>
              </a:spcAft>
            </a:pPr>
            <a:r>
              <a:rPr sz="1200" b="1" i="0">
                <a:solidFill>
                  <a:srgbClr val="3A106E"/>
                </a:solidFill>
                <a:latin typeface="Yu Gothic"/>
                <a:ea typeface="Yu Gothic"/>
                <a:cs typeface="Yu Gothic"/>
              </a:rPr>
              <a:t>10分類（プルダウンから選ぶだけ）</a:t>
            </a:r>
          </a:p>
          <a:p>
            <a:pPr algn="l">
              <a:spcAft>
                <a:spcPts val="600"/>
              </a:spcAft>
            </a:pPr>
            <a:r>
              <a:rPr sz="1150" b="0" i="0">
                <a:solidFill>
                  <a:srgbClr val="262630"/>
                </a:solidFill>
                <a:latin typeface="Yu Gothic"/>
                <a:ea typeface="Yu Gothic"/>
                <a:cs typeface="Yu Gothic"/>
              </a:rPr>
              <a:t>■ ①商談・顧客面談　②提案書・企画書作成　③監修対応　④契約・法務対応　⑤社内調整・会議　⑥素材確認・手配　⑦問い合わせ・許諾事務　⑧移動　⑨新規開拓・情報収集　⑩その他管理業務</a:t>
            </a:r>
          </a:p>
          <a:p>
            <a:pPr algn="l">
              <a:spcAft>
                <a:spcPts val="300"/>
              </a:spcAft>
            </a:pPr>
            <a:r>
              <a:rPr sz="1200" b="1" i="0">
                <a:solidFill>
                  <a:srgbClr val="3A106E"/>
                </a:solidFill>
                <a:latin typeface="Yu Gothic"/>
                <a:ea typeface="Yu Gothic"/>
                <a:cs typeface="Yu Gothic"/>
              </a:rPr>
              <a:t>このデータが皆さんの武器になります</a:t>
            </a:r>
          </a:p>
          <a:p>
            <a:pPr algn="l">
              <a:spcAft>
                <a:spcPts val="600"/>
              </a:spcAft>
            </a:pPr>
            <a:r>
              <a:rPr sz="1150" b="0" i="0">
                <a:solidFill>
                  <a:srgbClr val="262630"/>
                </a:solidFill>
                <a:latin typeface="Yu Gothic"/>
                <a:ea typeface="Yu Gothic"/>
                <a:cs typeface="Yu Gothic"/>
              </a:rPr>
              <a:t>■ 「この案件は年間◯◯時間かかっている」と数字で言えるようになると、省力化や増員や撤退の判断を会社に求める根拠になります。データは皆さんを守るために使います</a:t>
            </a:r>
          </a:p>
        </p:txBody>
      </p:sp>
      <p:graphicFrame>
        <p:nvGraphicFramePr>
          <p:cNvPr id="7" name="Table 6"/>
          <p:cNvGraphicFramePr>
            <a:graphicFrameLocks noGrp="1"/>
          </p:cNvGraphicFramePr>
          <p:nvPr/>
        </p:nvGraphicFramePr>
        <p:xfrm>
          <a:off x="6309360" y="4160520"/>
          <a:ext cx="5349237" cy="877824"/>
        </p:xfrm>
        <a:graphic>
          <a:graphicData uri="http://schemas.openxmlformats.org/drawingml/2006/table">
            <a:tbl>
              <a:tblPr firstRow="1" bandRow="1">
                <a:tableStyleId>{5C22544A-7EE6-4342-B048-85BDC9FD1C3A}</a:tableStyleId>
              </a:tblPr>
              <a:tblGrid>
                <a:gridCol w="750770"/>
                <a:gridCol w="1407694"/>
                <a:gridCol w="1595387"/>
                <a:gridCol w="563077"/>
                <a:gridCol w="1032309"/>
              </a:tblGrid>
              <a:tr h="292608">
                <a:tc>
                  <a:txBody>
                    <a:bodyPr wrap="square"/>
                    <a:lstStyle/>
                    <a:p>
                      <a:pPr algn="l">
                        <a:spcAft>
                          <a:spcPts val="0"/>
                        </a:spcAft>
                      </a:pPr>
                      <a:r>
                        <a:rPr sz="950" b="1" i="0">
                          <a:solidFill>
                            <a:srgbClr val="FFFFFF"/>
                          </a:solidFill>
                          <a:latin typeface="Yu Gothic"/>
                          <a:ea typeface="Yu Gothic"/>
                          <a:cs typeface="Yu Gothic"/>
                        </a:rPr>
                        <a:t>日付</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案件</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活動分類</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時間</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メモ（任意）</a:t>
                      </a:r>
                    </a:p>
                  </a:txBody>
                  <a:tcPr marL="54864" marR="54864" marT="18288" marB="18288" anchor="ctr">
                    <a:solidFill>
                      <a:srgbClr val="3A106E"/>
                    </a:solidFill>
                  </a:tcPr>
                </a:tc>
              </a:tr>
              <a:tr h="292608">
                <a:tc>
                  <a:txBody>
                    <a:bodyPr wrap="square"/>
                    <a:lstStyle/>
                    <a:p>
                      <a:pPr algn="l">
                        <a:spcAft>
                          <a:spcPts val="100"/>
                        </a:spcAft>
                      </a:pPr>
                      <a:r>
                        <a:rPr sz="850" b="1" i="0">
                          <a:solidFill>
                            <a:srgbClr val="3A106E"/>
                          </a:solidFill>
                          <a:latin typeface="Yu Gothic"/>
                          <a:ea typeface="Yu Gothic"/>
                          <a:cs typeface="Yu Gothic"/>
                        </a:rPr>
                        <a:t>7/6(月)</a:t>
                      </a:r>
                    </a:p>
                  </a:txBody>
                  <a:tcPr marL="54864" marR="54864" marT="18288" marB="18288" anchor="ctr">
                    <a:solidFill>
                      <a:srgbClr val="FFFFFF"/>
                    </a:solidFill>
                  </a:tcPr>
                </a:tc>
                <a:tc>
                  <a:txBody>
                    <a:bodyPr wrap="square"/>
                    <a:lstStyle/>
                    <a:p>
                      <a:pPr algn="l">
                        <a:spcAft>
                          <a:spcPts val="100"/>
                        </a:spcAft>
                      </a:pPr>
                      <a:r>
                        <a:rPr sz="850" b="0" i="0">
                          <a:solidFill>
                            <a:srgbClr val="262630"/>
                          </a:solidFill>
                          <a:latin typeface="Yu Gothic"/>
                          <a:ea typeface="Yu Gothic"/>
                          <a:cs typeface="Yu Gothic"/>
                        </a:rPr>
                        <a:t>A社 秋商戦ライン</a:t>
                      </a:r>
                    </a:p>
                  </a:txBody>
                  <a:tcPr marL="54864" marR="54864" marT="18288" marB="18288" anchor="ctr">
                    <a:solidFill>
                      <a:srgbClr val="FFFFFF"/>
                    </a:solidFill>
                  </a:tcPr>
                </a:tc>
                <a:tc>
                  <a:txBody>
                    <a:bodyPr wrap="square"/>
                    <a:lstStyle/>
                    <a:p>
                      <a:pPr algn="l">
                        <a:spcAft>
                          <a:spcPts val="100"/>
                        </a:spcAft>
                      </a:pPr>
                      <a:r>
                        <a:rPr sz="850" b="0" i="0">
                          <a:solidFill>
                            <a:srgbClr val="262630"/>
                          </a:solidFill>
                          <a:latin typeface="Yu Gothic"/>
                          <a:ea typeface="Yu Gothic"/>
                          <a:cs typeface="Yu Gothic"/>
                        </a:rPr>
                        <a:t>②提案書・企画書作成</a:t>
                      </a:r>
                    </a:p>
                  </a:txBody>
                  <a:tcPr marL="54864" marR="54864" marT="18288" marB="18288" anchor="ctr">
                    <a:solidFill>
                      <a:srgbClr val="FFFFFF"/>
                    </a:solidFill>
                  </a:tcPr>
                </a:tc>
                <a:tc>
                  <a:txBody>
                    <a:bodyPr wrap="square"/>
                    <a:lstStyle/>
                    <a:p>
                      <a:pPr algn="l">
                        <a:spcAft>
                          <a:spcPts val="100"/>
                        </a:spcAft>
                      </a:pPr>
                      <a:r>
                        <a:rPr sz="850" b="0" i="0">
                          <a:solidFill>
                            <a:srgbClr val="262630"/>
                          </a:solidFill>
                          <a:latin typeface="Yu Gothic"/>
                          <a:ea typeface="Yu Gothic"/>
                          <a:cs typeface="Yu Gothic"/>
                        </a:rPr>
                        <a:t>3.5</a:t>
                      </a:r>
                    </a:p>
                  </a:txBody>
                  <a:tcPr marL="54864" marR="54864" marT="18288" marB="18288" anchor="ctr">
                    <a:solidFill>
                      <a:srgbClr val="FFFFFF"/>
                    </a:solidFill>
                  </a:tcPr>
                </a:tc>
                <a:tc>
                  <a:txBody>
                    <a:bodyPr wrap="square"/>
                    <a:lstStyle/>
                    <a:p>
                      <a:pPr algn="l">
                        <a:spcAft>
                          <a:spcPts val="100"/>
                        </a:spcAft>
                      </a:pPr>
                      <a:r>
                        <a:rPr sz="850" b="0" i="0">
                          <a:solidFill>
                            <a:srgbClr val="262630"/>
                          </a:solidFill>
                          <a:latin typeface="Yu Gothic"/>
                          <a:ea typeface="Yu Gothic"/>
                          <a:cs typeface="Yu Gothic"/>
                        </a:rPr>
                        <a:t>提案書v2</a:t>
                      </a:r>
                    </a:p>
                  </a:txBody>
                  <a:tcPr marL="54864" marR="54864" marT="18288" marB="18288" anchor="ctr">
                    <a:solidFill>
                      <a:srgbClr val="FFFFFF"/>
                    </a:solidFill>
                  </a:tcPr>
                </a:tc>
              </a:tr>
              <a:tr h="292608">
                <a:tc>
                  <a:txBody>
                    <a:bodyPr wrap="square"/>
                    <a:lstStyle/>
                    <a:p>
                      <a:pPr algn="l">
                        <a:spcAft>
                          <a:spcPts val="100"/>
                        </a:spcAft>
                      </a:pPr>
                      <a:r>
                        <a:rPr sz="850" b="1" i="0">
                          <a:solidFill>
                            <a:srgbClr val="3A106E"/>
                          </a:solidFill>
                          <a:latin typeface="Yu Gothic"/>
                          <a:ea typeface="Yu Gothic"/>
                          <a:cs typeface="Yu Gothic"/>
                        </a:rPr>
                        <a:t>7/6(月)</a:t>
                      </a:r>
                    </a:p>
                  </a:txBody>
                  <a:tcPr marL="54864" marR="54864" marT="18288" marB="18288" anchor="ctr">
                    <a:solidFill>
                      <a:srgbClr val="F7F7F9"/>
                    </a:solidFill>
                  </a:tcPr>
                </a:tc>
                <a:tc>
                  <a:txBody>
                    <a:bodyPr wrap="square"/>
                    <a:lstStyle/>
                    <a:p>
                      <a:pPr algn="l">
                        <a:spcAft>
                          <a:spcPts val="100"/>
                        </a:spcAft>
                      </a:pPr>
                      <a:r>
                        <a:rPr sz="850" b="0" i="0">
                          <a:solidFill>
                            <a:srgbClr val="262630"/>
                          </a:solidFill>
                          <a:latin typeface="Yu Gothic"/>
                          <a:ea typeface="Yu Gothic"/>
                          <a:cs typeface="Yu Gothic"/>
                        </a:rPr>
                        <a:t>B社 コラボ</a:t>
                      </a:r>
                    </a:p>
                  </a:txBody>
                  <a:tcPr marL="54864" marR="54864" marT="18288" marB="18288" anchor="ctr">
                    <a:solidFill>
                      <a:srgbClr val="F7F7F9"/>
                    </a:solidFill>
                  </a:tcPr>
                </a:tc>
                <a:tc>
                  <a:txBody>
                    <a:bodyPr wrap="square"/>
                    <a:lstStyle/>
                    <a:p>
                      <a:pPr algn="l">
                        <a:spcAft>
                          <a:spcPts val="100"/>
                        </a:spcAft>
                      </a:pPr>
                      <a:r>
                        <a:rPr sz="850" b="0" i="0">
                          <a:solidFill>
                            <a:srgbClr val="262630"/>
                          </a:solidFill>
                          <a:latin typeface="Yu Gothic"/>
                          <a:ea typeface="Yu Gothic"/>
                          <a:cs typeface="Yu Gothic"/>
                        </a:rPr>
                        <a:t>③監修対応</a:t>
                      </a:r>
                    </a:p>
                  </a:txBody>
                  <a:tcPr marL="54864" marR="54864" marT="18288" marB="18288" anchor="ctr">
                    <a:solidFill>
                      <a:srgbClr val="F7F7F9"/>
                    </a:solidFill>
                  </a:tcPr>
                </a:tc>
                <a:tc>
                  <a:txBody>
                    <a:bodyPr wrap="square"/>
                    <a:lstStyle/>
                    <a:p>
                      <a:pPr algn="l">
                        <a:spcAft>
                          <a:spcPts val="100"/>
                        </a:spcAft>
                      </a:pPr>
                      <a:r>
                        <a:rPr sz="850" b="0" i="0">
                          <a:solidFill>
                            <a:srgbClr val="262630"/>
                          </a:solidFill>
                          <a:latin typeface="Yu Gothic"/>
                          <a:ea typeface="Yu Gothic"/>
                          <a:cs typeface="Yu Gothic"/>
                        </a:rPr>
                        <a:t>1.0</a:t>
                      </a:r>
                    </a:p>
                  </a:txBody>
                  <a:tcPr marL="54864" marR="54864" marT="18288" marB="18288" anchor="ctr">
                    <a:solidFill>
                      <a:srgbClr val="F7F7F9"/>
                    </a:solidFill>
                  </a:tcPr>
                </a:tc>
                <a:tc>
                  <a:txBody>
                    <a:bodyPr wrap="square"/>
                    <a:lstStyle/>
                    <a:p>
                      <a:pPr algn="l">
                        <a:spcAft>
                          <a:spcPts val="100"/>
                        </a:spcAft>
                      </a:pPr>
                      <a:r>
                        <a:rPr sz="850" b="0" i="0">
                          <a:solidFill>
                            <a:srgbClr val="262630"/>
                          </a:solidFill>
                          <a:latin typeface="Yu Gothic"/>
                          <a:ea typeface="Yu Gothic"/>
                          <a:cs typeface="Yu Gothic"/>
                        </a:rPr>
                        <a:t>修正戻し</a:t>
                      </a:r>
                    </a:p>
                  </a:txBody>
                  <a:tcPr marL="54864" marR="54864" marT="18288" marB="18288" anchor="ctr">
                    <a:solidFill>
                      <a:srgbClr val="F7F7F9"/>
                    </a:solidFill>
                  </a:tcPr>
                </a:tc>
              </a:tr>
            </a:tbl>
          </a:graphicData>
        </a:graphic>
      </p:graphicFrame>
      <p:sp>
        <p:nvSpPr>
          <p:cNvPr id="8" name="TextBox 7"/>
          <p:cNvSpPr txBox="1"/>
          <p:nvPr/>
        </p:nvSpPr>
        <p:spPr>
          <a:xfrm>
            <a:off x="6309360" y="3840480"/>
            <a:ext cx="5303520" cy="274320"/>
          </a:xfrm>
          <a:prstGeom prst="rect">
            <a:avLst/>
          </a:prstGeom>
          <a:noFill/>
        </p:spPr>
        <p:txBody>
          <a:bodyPr wrap="square" lIns="0" rIns="0" tIns="0" bIns="0">
            <a:spAutoFit/>
          </a:bodyPr>
          <a:lstStyle/>
          <a:p>
            <a:pPr algn="l">
              <a:spcAft>
                <a:spcPts val="400"/>
              </a:spcAft>
            </a:pPr>
            <a:r>
              <a:rPr sz="950" b="1" i="0">
                <a:solidFill>
                  <a:srgbClr val="3A106E"/>
                </a:solidFill>
                <a:latin typeface="Yu Gothic"/>
                <a:ea typeface="Yu Gothic"/>
                <a:cs typeface="Yu Gothic"/>
              </a:rPr>
              <a:t>記入イメージ（1日2〜3行で十分）</a:t>
            </a:r>
          </a:p>
        </p:txBody>
      </p:sp>
      <p:sp>
        <p:nvSpPr>
          <p:cNvPr id="9" name="Rectangle 8"/>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もう一度お約束　</a:t>
            </a:r>
            <a:r>
              <a:rPr sz="1000" b="0" i="0">
                <a:solidFill>
                  <a:srgbClr val="262630"/>
                </a:solidFill>
                <a:latin typeface="Yu Gothic"/>
                <a:ea typeface="Yu Gothic"/>
                <a:cs typeface="Yu Gothic"/>
              </a:rPr>
              <a:t>このデータは人事評価に一切使いません。個人明細は本人とSTOのみ閲覧。目的は時間を奪う業務の特定だけです</a:t>
            </a:r>
          </a:p>
        </p:txBody>
      </p:sp>
      <p:sp>
        <p:nvSpPr>
          <p:cNvPr id="12" name="Rectangle 11"/>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4" name="TextBox 13"/>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お願い③</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自分の案件の「次アクションと期限」を切らさないでください——1日1〜2分の習慣です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動きがあった案件だけ、その日のうちにマスタの「次アクション」「期限」を一行更新。これだけです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なぜこれが大事なのか</a:t>
            </a:r>
          </a:p>
          <a:p>
            <a:pPr algn="l">
              <a:spcAft>
                <a:spcPts val="600"/>
              </a:spcAft>
            </a:pPr>
            <a:r>
              <a:rPr sz="1150" b="0" i="0">
                <a:solidFill>
                  <a:srgbClr val="262630"/>
                </a:solidFill>
                <a:latin typeface="Yu Gothic"/>
                <a:ea typeface="Yu Gothic"/>
                <a:cs typeface="Yu Gothic"/>
              </a:rPr>
              <a:t>■ 次アクションが30日以上ない案件は「停滞」として自動表示されます。停滞表示は叱られるサインではなく、「会議で誰が助けるかを決める」ためのシグナルです。放置された案件で機会を逃すこと、そして皆さんが一人で抱え込むことを防ぎます</a:t>
            </a:r>
          </a:p>
          <a:p>
            <a:pPr algn="l">
              <a:spcAft>
                <a:spcPts val="300"/>
              </a:spcAft>
            </a:pPr>
            <a:r>
              <a:rPr sz="1200" b="1" i="0">
                <a:solidFill>
                  <a:srgbClr val="3A106E"/>
                </a:solidFill>
                <a:latin typeface="Yu Gothic"/>
                <a:ea typeface="Yu Gothic"/>
                <a:cs typeface="Yu Gothic"/>
              </a:rPr>
              <a:t>報告業務は原則なくなります</a:t>
            </a:r>
          </a:p>
          <a:p>
            <a:pPr algn="l">
              <a:spcAft>
                <a:spcPts val="600"/>
              </a:spcAft>
            </a:pPr>
            <a:r>
              <a:rPr sz="1150" b="0" i="0">
                <a:solidFill>
                  <a:srgbClr val="262630"/>
                </a:solidFill>
                <a:latin typeface="Yu Gothic"/>
                <a:ea typeface="Yu Gothic"/>
                <a:cs typeface="Yu Gothic"/>
              </a:rPr>
              <a:t>■ マスタが最新なら、上司への進捗報告も会議用資料も不要です。「一行更新」が報告の代わりになります。皆さんの報告作成時間をゼロに近づけるための仕組みです</a:t>
            </a:r>
          </a:p>
          <a:p>
            <a:pPr algn="l">
              <a:spcAft>
                <a:spcPts val="300"/>
              </a:spcAft>
            </a:pPr>
            <a:r>
              <a:rPr sz="1200" b="1" i="0">
                <a:solidFill>
                  <a:srgbClr val="3A106E"/>
                </a:solidFill>
                <a:latin typeface="Yu Gothic"/>
                <a:ea typeface="Yu Gothic"/>
                <a:cs typeface="Yu Gothic"/>
              </a:rPr>
              <a:t>監修待ち・契約待ちも入力してください</a:t>
            </a:r>
          </a:p>
          <a:p>
            <a:pPr algn="l">
              <a:spcAft>
                <a:spcPts val="600"/>
              </a:spcAft>
            </a:pPr>
            <a:r>
              <a:rPr sz="1150" b="0" i="0">
                <a:solidFill>
                  <a:srgbClr val="262630"/>
                </a:solidFill>
                <a:latin typeface="Yu Gothic"/>
                <a:ea typeface="Yu Gothic"/>
                <a:cs typeface="Yu Gothic"/>
              </a:rPr>
              <a:t>■ 「自分は待っているだけ」の状態も見える化されます。待ちの責任は皆さんではなく、プロセスの側にあります。待ちが長い工程は会社が直します</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一行更新は自分を守るログ。「動かしている」ことも「待たされている」ことも、証明できるようになります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会社側が変わること①</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会議が変わります——資料づくりのための残業は、もうしなくていい</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報告はマスタ・ダッシュボードの事前共有で完了。会議は「決める」ためだけに開きます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週次パイプライン会議（30分・領域ごと）</a:t>
            </a:r>
          </a:p>
          <a:p>
            <a:pPr algn="l">
              <a:spcAft>
                <a:spcPts val="600"/>
              </a:spcAft>
            </a:pPr>
            <a:r>
              <a:rPr sz="1150" b="0" i="0">
                <a:solidFill>
                  <a:srgbClr val="262630"/>
                </a:solidFill>
                <a:latin typeface="Yu Gothic"/>
                <a:ea typeface="Yu Gothic"/>
                <a:cs typeface="Yu Gothic"/>
              </a:rPr>
              <a:t>■ 画面にマスタを映して、今週の重点商談と停滞案件の次の一手だけを話します。パワポ・Excel資料の作成は禁止です</a:t>
            </a:r>
          </a:p>
          <a:p>
            <a:pPr algn="l">
              <a:spcAft>
                <a:spcPts val="300"/>
              </a:spcAft>
            </a:pPr>
            <a:r>
              <a:rPr sz="1200" b="1" i="0">
                <a:solidFill>
                  <a:srgbClr val="3A106E"/>
                </a:solidFill>
                <a:latin typeface="Yu Gothic"/>
                <a:ea typeface="Yu Gothic"/>
                <a:cs typeface="Yu Gothic"/>
              </a:rPr>
              <a:t>月次ポートフォリオ会議（90分・経営陣出席）</a:t>
            </a:r>
          </a:p>
          <a:p>
            <a:pPr algn="l">
              <a:spcAft>
                <a:spcPts val="600"/>
              </a:spcAft>
            </a:pPr>
            <a:r>
              <a:rPr sz="1150" b="0" i="0">
                <a:solidFill>
                  <a:srgbClr val="262630"/>
                </a:solidFill>
                <a:latin typeface="Yu Gothic"/>
                <a:ea typeface="Yu Gothic"/>
                <a:cs typeface="Yu Gothic"/>
              </a:rPr>
              <a:t>■ 経営陣が出席し、重点案件への支援・停滞打開・撤退や省力化を「その場で決定」します。決まったことは決定ログに記録され、翌月に実行を確認します。D2C・海外・AI・教育・カードゲームなどの新領域には毎回必ず専用の時間枠があります</a:t>
            </a:r>
          </a:p>
          <a:p>
            <a:pPr algn="l">
              <a:spcAft>
                <a:spcPts val="300"/>
              </a:spcAft>
            </a:pPr>
            <a:r>
              <a:rPr sz="1200" b="1" i="0">
                <a:solidFill>
                  <a:srgbClr val="3A106E"/>
                </a:solidFill>
                <a:latin typeface="Yu Gothic"/>
                <a:ea typeface="Yu Gothic"/>
                <a:cs typeface="Yu Gothic"/>
              </a:rPr>
              <a:t>皆さんにとっての変化</a:t>
            </a:r>
          </a:p>
          <a:p>
            <a:pPr algn="l">
              <a:spcAft>
                <a:spcPts val="600"/>
              </a:spcAft>
            </a:pPr>
            <a:r>
              <a:rPr sz="1150" b="0" i="0">
                <a:solidFill>
                  <a:srgbClr val="262630"/>
                </a:solidFill>
                <a:latin typeface="Yu Gothic"/>
                <a:ea typeface="Yu Gothic"/>
                <a:cs typeface="Yu Gothic"/>
              </a:rPr>
              <a:t>■ 「報告したのに何も決まらない会議」がなくなります。支援が必要な案件は、声を上げれば会議のアジェンダに載り、誰が助けるかまで決まります</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会議の準備ゼロ・報告ゼロ・決定は記録される。会議は皆さんの時間を奪う場から、助けを取り付ける場に変わります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会社側が変わること②</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案件に「会社の物差し」がつきます——断る理由・省力化する理由を、会社が持ちます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売上だけでなく、粗利・手間・戦略価値・ファンとの絆・海外展開・ブランドの7つの軸で案件を評価します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これまで：断る基準がなかった</a:t>
            </a:r>
          </a:p>
          <a:p>
            <a:pPr algn="l">
              <a:spcAft>
                <a:spcPts val="600"/>
              </a:spcAft>
            </a:pPr>
            <a:r>
              <a:rPr sz="1150" b="0" i="0">
                <a:solidFill>
                  <a:srgbClr val="262630"/>
                </a:solidFill>
                <a:latin typeface="Yu Gothic"/>
                <a:ea typeface="Yu Gothic"/>
                <a:cs typeface="Yu Gothic"/>
              </a:rPr>
              <a:t>■ 依頼された案件は基本すべて受けるしかなく、手間のわりに儲からない案件も、良い案件と同じ熱量で回すしかありませんでした</a:t>
            </a:r>
          </a:p>
          <a:p>
            <a:pPr algn="l">
              <a:spcAft>
                <a:spcPts val="300"/>
              </a:spcAft>
            </a:pPr>
            <a:r>
              <a:rPr sz="1200" b="1" i="0">
                <a:solidFill>
                  <a:srgbClr val="3A106E"/>
                </a:solidFill>
                <a:latin typeface="Yu Gothic"/>
                <a:ea typeface="Yu Gothic"/>
                <a:cs typeface="Yu Gothic"/>
              </a:rPr>
              <a:t>これから：物差しに基づいて、会社が決めます</a:t>
            </a:r>
          </a:p>
          <a:p>
            <a:pPr algn="l">
              <a:spcAft>
                <a:spcPts val="600"/>
              </a:spcAft>
            </a:pPr>
            <a:r>
              <a:rPr sz="1150" b="0" i="0">
                <a:solidFill>
                  <a:srgbClr val="262630"/>
                </a:solidFill>
                <a:latin typeface="Yu Gothic"/>
                <a:ea typeface="Yu Gothic"/>
                <a:cs typeface="Yu Gothic"/>
              </a:rPr>
              <a:t>■ 手間ばかりかかって利益の出ない案件は、データに基づいてSTOが起案し、経営陣が「やめる・省力化する」を決定します。皆さんが顧客への「言い出しっぺ」になることはありません。お断りする場合の伝え方（誠実な説明・代替案・再開の可能性）も会社として標準を用意します</a:t>
            </a:r>
          </a:p>
          <a:p>
            <a:pPr algn="l">
              <a:spcAft>
                <a:spcPts val="300"/>
              </a:spcAft>
            </a:pPr>
            <a:r>
              <a:rPr sz="1200" b="1" i="0">
                <a:solidFill>
                  <a:srgbClr val="3A106E"/>
                </a:solidFill>
                <a:latin typeface="Yu Gothic"/>
                <a:ea typeface="Yu Gothic"/>
                <a:cs typeface="Yu Gothic"/>
              </a:rPr>
              <a:t>売上が小さくても価値のある案件は、正当に評価されます</a:t>
            </a:r>
          </a:p>
          <a:p>
            <a:pPr algn="l">
              <a:spcAft>
                <a:spcPts val="600"/>
              </a:spcAft>
            </a:pPr>
            <a:r>
              <a:rPr sz="1150" b="0" i="0">
                <a:solidFill>
                  <a:srgbClr val="262630"/>
                </a:solidFill>
                <a:latin typeface="Yu Gothic"/>
                <a:ea typeface="Yu Gothic"/>
                <a:cs typeface="Yu Gothic"/>
              </a:rPr>
              <a:t>■ D2C・CRM・海外布石・新カテゴリなど、金額は小さくても戦略的に大事な案件は、戦略価値・CRM価値のスコアで守られます。「小さいから後回し」にはなりません</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C評価の案件を省力化で上手に回すことは、S案件を回すのと同じくらい価値のある仕事です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会社側が変わること③</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支援が増えます——AI・テンプレート・経営陣の出動</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「見える化」の見返りは支援です。現場が先に楽になる順番で導入します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提案・契約・監修がラクになる</a:t>
            </a:r>
          </a:p>
          <a:p>
            <a:pPr algn="l">
              <a:spcAft>
                <a:spcPts val="600"/>
              </a:spcAft>
            </a:pPr>
            <a:r>
              <a:rPr sz="1150" b="0" i="0">
                <a:solidFill>
                  <a:srgbClr val="262630"/>
                </a:solidFill>
                <a:latin typeface="Yu Gothic"/>
                <a:ea typeface="Yu Gothic"/>
                <a:cs typeface="Yu Gothic"/>
              </a:rPr>
              <a:t>■ AIによる提案書ドラフト自動生成（作成時間半減が目標）／過去の監修指摘を検索できるナレッジDB（差し戻しを事前回避）／案件タイプ別の契約雛形・提案テンプレート</a:t>
            </a:r>
          </a:p>
          <a:p>
            <a:pPr algn="l">
              <a:spcAft>
                <a:spcPts val="300"/>
              </a:spcAft>
            </a:pPr>
            <a:r>
              <a:rPr sz="1200" b="1" i="0">
                <a:solidFill>
                  <a:srgbClr val="3A106E"/>
                </a:solidFill>
                <a:latin typeface="Yu Gothic"/>
                <a:ea typeface="Yu Gothic"/>
                <a:cs typeface="Yu Gothic"/>
              </a:rPr>
              <a:t>重い案件には経営陣が出ます</a:t>
            </a:r>
          </a:p>
          <a:p>
            <a:pPr algn="l">
              <a:spcAft>
                <a:spcPts val="600"/>
              </a:spcAft>
            </a:pPr>
            <a:r>
              <a:rPr sz="1150" b="0" i="0">
                <a:solidFill>
                  <a:srgbClr val="262630"/>
                </a:solidFill>
                <a:latin typeface="Yu Gothic"/>
                <a:ea typeface="Yu Gothic"/>
                <a:cs typeface="Yu Gothic"/>
              </a:rPr>
              <a:t>■ 重点案件・大型案件には、トップ面談・経営スポンサーなど経営リソースを投入します。「トップを出してほしい」は正当な支援要請です。月次会議で言ってください</a:t>
            </a:r>
          </a:p>
          <a:p>
            <a:pPr algn="l">
              <a:spcAft>
                <a:spcPts val="300"/>
              </a:spcAft>
            </a:pPr>
            <a:r>
              <a:rPr sz="1200" b="1" i="0">
                <a:solidFill>
                  <a:srgbClr val="3A106E"/>
                </a:solidFill>
                <a:latin typeface="Yu Gothic"/>
                <a:ea typeface="Yu Gothic"/>
                <a:cs typeface="Yu Gothic"/>
              </a:rPr>
              <a:t>休眠顧客・トップ外交の機会が現場に届く</a:t>
            </a:r>
          </a:p>
          <a:p>
            <a:pPr algn="l">
              <a:spcAft>
                <a:spcPts val="600"/>
              </a:spcAft>
            </a:pPr>
            <a:r>
              <a:rPr sz="1150" b="0" i="0">
                <a:solidFill>
                  <a:srgbClr val="262630"/>
                </a:solidFill>
                <a:latin typeface="Yu Gothic"/>
                <a:ea typeface="Yu Gothic"/>
                <a:cs typeface="Yu Gothic"/>
              </a:rPr>
              <a:t>■ 眠っている顧客の再開リストや、経営陣の面談から生まれた機会が、担当アサインつきで皆さんに渡ります。ゼロから開拓するより早い「温かい案件」が増えます</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お願い（入力）より先に、支援（AI・テンプレ・経営出動）を体感してもらうことをSTOの目標にしています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スケジュール</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90日でここまでやります——皆さんへの影響はこのタイムラインで</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各領域の説明会のあと、STOから個別に締切をご案内します</a:t>
            </a:r>
          </a:p>
        </p:txBody>
      </p:sp>
      <p:graphicFrame>
        <p:nvGraphicFramePr>
          <p:cNvPr id="6" name="Table 5"/>
          <p:cNvGraphicFramePr>
            <a:graphicFrameLocks noGrp="1"/>
          </p:cNvGraphicFramePr>
          <p:nvPr/>
        </p:nvGraphicFramePr>
        <p:xfrm>
          <a:off x="502920" y="1901952"/>
          <a:ext cx="11183111" cy="2971800"/>
        </p:xfrm>
        <a:graphic>
          <a:graphicData uri="http://schemas.openxmlformats.org/drawingml/2006/table">
            <a:tbl>
              <a:tblPr firstRow="1" bandRow="1">
                <a:tableStyleId>{5C22544A-7EE6-4342-B048-85BDC9FD1C3A}</a:tableStyleId>
              </a:tblPr>
              <a:tblGrid>
                <a:gridCol w="1558302"/>
                <a:gridCol w="4949902"/>
                <a:gridCol w="4674907"/>
              </a:tblGrid>
              <a:tr h="594360">
                <a:tc>
                  <a:txBody>
                    <a:bodyPr wrap="square"/>
                    <a:lstStyle/>
                    <a:p>
                      <a:pPr algn="l">
                        <a:spcAft>
                          <a:spcPts val="0"/>
                        </a:spcAft>
                      </a:pPr>
                      <a:r>
                        <a:rPr sz="950" b="1" i="0">
                          <a:solidFill>
                            <a:srgbClr val="FFFFFF"/>
                          </a:solidFill>
                          <a:latin typeface="Yu Gothic"/>
                          <a:ea typeface="Yu Gothic"/>
                          <a:cs typeface="Yu Gothic"/>
                        </a:rPr>
                        <a:t>時期</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会社側で起きること</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皆さんにお願いすること</a:t>
                      </a:r>
                    </a:p>
                  </a:txBody>
                  <a:tcPr marL="54864" marR="54864" marT="18288" marB="18288" anchor="ctr">
                    <a:solidFill>
                      <a:srgbClr val="3A106E"/>
                    </a:solidFill>
                  </a:tcPr>
                </a:tc>
              </a:tr>
              <a:tr h="594360">
                <a:tc>
                  <a:txBody>
                    <a:bodyPr wrap="square"/>
                    <a:lstStyle/>
                    <a:p>
                      <a:pPr algn="l">
                        <a:spcAft>
                          <a:spcPts val="100"/>
                        </a:spcAft>
                      </a:pPr>
                      <a:r>
                        <a:rPr sz="950" b="1" i="0">
                          <a:solidFill>
                            <a:srgbClr val="3A106E"/>
                          </a:solidFill>
                          <a:latin typeface="Yu Gothic"/>
                          <a:ea typeface="Yu Gothic"/>
                          <a:cs typeface="Yu Gothic"/>
                        </a:rPr>
                        <a:t>Day 1〜30</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STOがリストの下書き作成／初期ヒアリング（20〜30名・各30分）</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棚卸しの確認・修正（2〜3時間）／工数メモ開始（週15分）／ヒアリング協力（該当者のみ）</a:t>
                      </a:r>
                    </a:p>
                  </a:txBody>
                  <a:tcPr marL="54864" marR="54864" marT="18288" marB="18288" anchor="ctr">
                    <a:solidFill>
                      <a:srgbClr val="FFFFFF"/>
                    </a:solidFill>
                  </a:tcPr>
                </a:tc>
              </a:tr>
              <a:tr h="594360">
                <a:tc>
                  <a:txBody>
                    <a:bodyPr wrap="square"/>
                    <a:lstStyle/>
                    <a:p>
                      <a:pPr algn="l">
                        <a:spcAft>
                          <a:spcPts val="100"/>
                        </a:spcAft>
                      </a:pPr>
                      <a:r>
                        <a:rPr sz="950" b="1" i="0">
                          <a:solidFill>
                            <a:srgbClr val="3A106E"/>
                          </a:solidFill>
                          <a:latin typeface="Yu Gothic"/>
                          <a:ea typeface="Yu Gothic"/>
                          <a:cs typeface="Yu Gothic"/>
                        </a:rPr>
                        <a:t>Day 31〜60</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案件スコアリング・顧客ランクの初版／ダッシュボード稼働／監修・契約の実態計測</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特に追加なし（工数メモと一行更新の継続のみ）</a:t>
                      </a:r>
                    </a:p>
                  </a:txBody>
                  <a:tcPr marL="54864" marR="54864" marT="18288" marB="18288" anchor="ctr">
                    <a:solidFill>
                      <a:srgbClr val="F7F7F9"/>
                    </a:solidFill>
                  </a:tcPr>
                </a:tc>
              </a:tr>
              <a:tr h="594360">
                <a:tc>
                  <a:txBody>
                    <a:bodyPr wrap="square"/>
                    <a:lstStyle/>
                    <a:p>
                      <a:pPr algn="l">
                        <a:spcAft>
                          <a:spcPts val="100"/>
                        </a:spcAft>
                      </a:pPr>
                      <a:r>
                        <a:rPr sz="950" b="1" i="0">
                          <a:solidFill>
                            <a:srgbClr val="3A106E"/>
                          </a:solidFill>
                          <a:latin typeface="Yu Gothic"/>
                          <a:ea typeface="Yu Gothic"/>
                          <a:cs typeface="Yu Gothic"/>
                        </a:rPr>
                        <a:t>Day 61〜90</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新しい会議の開始（資料レス）／撤退・省力化の初回決定／AI支援のテスト開始／休眠顧客の再開プログラム</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新形式の会議に参加／AIテストへの感想・要望（任意）</a:t>
                      </a:r>
                    </a:p>
                  </a:txBody>
                  <a:tcPr marL="54864" marR="54864" marT="18288" marB="18288" anchor="ctr">
                    <a:solidFill>
                      <a:srgbClr val="FFFFFF"/>
                    </a:solidFill>
                  </a:tcPr>
                </a:tc>
              </a:tr>
              <a:tr h="594360">
                <a:tc>
                  <a:txBody>
                    <a:bodyPr wrap="square"/>
                    <a:lstStyle/>
                    <a:p>
                      <a:pPr algn="l">
                        <a:spcAft>
                          <a:spcPts val="100"/>
                        </a:spcAft>
                      </a:pPr>
                      <a:r>
                        <a:rPr sz="950" b="1" i="0">
                          <a:solidFill>
                            <a:srgbClr val="3A106E"/>
                          </a:solidFill>
                          <a:latin typeface="Yu Gothic"/>
                          <a:ea typeface="Yu Gothic"/>
                          <a:cs typeface="Yu Gothic"/>
                        </a:rPr>
                        <a:t>Day 90</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90日の総括を全社に共有（工数データが示した事実と、次の改善）</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率直なフィードバック</a:t>
                      </a:r>
                    </a:p>
                  </a:txBody>
                  <a:tcPr marL="54864" marR="54864" marT="18288" marB="18288" anchor="ctr">
                    <a:solidFill>
                      <a:srgbClr val="F7F7F9"/>
                    </a:solidFill>
                  </a:tcPr>
                </a:tc>
              </a:tr>
            </a:tbl>
          </a:graphicData>
        </a:graphic>
      </p:graphicFrame>
      <p:sp>
        <p:nvSpPr>
          <p:cNvPr id="7" name="TextBox 6"/>
          <p:cNvSpPr txBox="1"/>
          <p:nvPr/>
        </p:nvSpPr>
        <p:spPr>
          <a:xfrm>
            <a:off x="502920" y="5029200"/>
            <a:ext cx="11155680" cy="640080"/>
          </a:xfrm>
          <a:prstGeom prst="rect">
            <a:avLst/>
          </a:prstGeom>
          <a:noFill/>
        </p:spPr>
        <p:txBody>
          <a:bodyPr wrap="square" lIns="0" rIns="0" tIns="0" bIns="0">
            <a:spAutoFit/>
          </a:bodyPr>
          <a:lstStyle/>
          <a:p>
            <a:pPr algn="l">
              <a:spcAft>
                <a:spcPts val="400"/>
              </a:spcAft>
            </a:pPr>
            <a:r>
              <a:rPr sz="950" b="0" i="0">
                <a:solidFill>
                  <a:srgbClr val="5F5F6E"/>
                </a:solidFill>
                <a:latin typeface="Yu Gothic"/>
                <a:ea typeface="Yu Gothic"/>
                <a:cs typeface="Yu Gothic"/>
              </a:rPr>
              <a:t>※ 90日後、工数メモを続けるかどうかも含めて見直します。「やってみたが効果がない」仕組みは廃止・変更します。形だけ残る仕組みは作りません</a:t>
            </a:r>
          </a:p>
        </p:txBody>
      </p:sp>
      <p:sp>
        <p:nvSpPr>
          <p:cNvPr id="8" name="Rectangle 7"/>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皆さんの初回負荷は「棚卸し2〜3時間＋週15分」。それ以外の重い作業はSTOが巻き取ります</a:t>
            </a:r>
          </a:p>
        </p:txBody>
      </p:sp>
      <p:sp>
        <p:nvSpPr>
          <p:cNvPr id="11" name="Rectangle 10"/>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13" name="TextBox 12"/>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FAQ（1/2）</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よくある質問——評価・監視について</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説明会で必ず出る質問に、先にお答えします</a:t>
            </a:r>
          </a:p>
        </p:txBody>
      </p:sp>
      <p:graphicFrame>
        <p:nvGraphicFramePr>
          <p:cNvPr id="6" name="Table 5"/>
          <p:cNvGraphicFramePr>
            <a:graphicFrameLocks noGrp="1"/>
          </p:cNvGraphicFramePr>
          <p:nvPr/>
        </p:nvGraphicFramePr>
        <p:xfrm>
          <a:off x="502920" y="1828800"/>
          <a:ext cx="11183111" cy="3950208"/>
        </p:xfrm>
        <a:graphic>
          <a:graphicData uri="http://schemas.openxmlformats.org/drawingml/2006/table">
            <a:tbl>
              <a:tblPr firstRow="1" bandRow="1">
                <a:tableStyleId>{5C22544A-7EE6-4342-B048-85BDC9FD1C3A}</a:tableStyleId>
              </a:tblPr>
              <a:tblGrid>
                <a:gridCol w="3299934"/>
                <a:gridCol w="7883177"/>
              </a:tblGrid>
              <a:tr h="658368">
                <a:tc>
                  <a:txBody>
                    <a:bodyPr wrap="square"/>
                    <a:lstStyle/>
                    <a:p>
                      <a:pPr algn="l">
                        <a:spcAft>
                          <a:spcPts val="0"/>
                        </a:spcAft>
                      </a:pPr>
                      <a:r>
                        <a:rPr sz="950" b="1" i="0">
                          <a:solidFill>
                            <a:srgbClr val="FFFFFF"/>
                          </a:solidFill>
                          <a:latin typeface="Yu Gothic"/>
                          <a:ea typeface="Yu Gothic"/>
                          <a:cs typeface="Yu Gothic"/>
                        </a:rPr>
                        <a:t>質問</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答え</a:t>
                      </a:r>
                    </a:p>
                  </a:txBody>
                  <a:tcPr marL="54864" marR="54864" marT="18288" marB="18288" anchor="ctr">
                    <a:solidFill>
                      <a:srgbClr val="3A106E"/>
                    </a:solidFill>
                  </a:tcPr>
                </a:tc>
              </a:tr>
              <a:tr h="658368">
                <a:tc>
                  <a:txBody>
                    <a:bodyPr wrap="square"/>
                    <a:lstStyle/>
                    <a:p>
                      <a:pPr algn="l">
                        <a:spcAft>
                          <a:spcPts val="100"/>
                        </a:spcAft>
                      </a:pPr>
                      <a:r>
                        <a:rPr sz="900" b="1" i="0">
                          <a:solidFill>
                            <a:srgbClr val="3A106E"/>
                          </a:solidFill>
                          <a:latin typeface="Yu Gothic"/>
                          <a:ea typeface="Yu Gothic"/>
                          <a:cs typeface="Yu Gothic"/>
                        </a:rPr>
                        <a:t>工数データは本当に評価に使われない？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使いません。経営陣名義の全社宣言に明記しています。初年度はチーム・領域単位の集計のみをレビューし、個人の明細は本人とSTOしか見ません。もし評価に使われたと感じたら、新谷まで直接ご連絡ください</a:t>
                      </a:r>
                    </a:p>
                  </a:txBody>
                  <a:tcPr marL="54864" marR="54864" marT="18288" marB="18288" anchor="ctr">
                    <a:solidFill>
                      <a:srgbClr val="FFFFFF"/>
                    </a:solidFill>
                  </a:tcPr>
                </a:tc>
              </a:tr>
              <a:tr h="658368">
                <a:tc>
                  <a:txBody>
                    <a:bodyPr wrap="square"/>
                    <a:lstStyle/>
                    <a:p>
                      <a:pPr algn="l">
                        <a:spcAft>
                          <a:spcPts val="100"/>
                        </a:spcAft>
                      </a:pPr>
                      <a:r>
                        <a:rPr sz="900" b="1" i="0">
                          <a:solidFill>
                            <a:srgbClr val="3A106E"/>
                          </a:solidFill>
                          <a:latin typeface="Yu Gothic"/>
                          <a:ea typeface="Yu Gothic"/>
                          <a:cs typeface="Yu Gothic"/>
                        </a:rPr>
                        <a:t>「停滞」と表示されたら詰められるのでは？</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停滞表示は「誰が悪いか」ではなく「誰が助けるか」を決めるための信号です。会議での問いは常に『次の一手は何か、誰が支援するか』であって『なぜ止めたのか』ではありません</a:t>
                      </a:r>
                    </a:p>
                  </a:txBody>
                  <a:tcPr marL="54864" marR="54864" marT="18288" marB="18288" anchor="ctr">
                    <a:solidFill>
                      <a:srgbClr val="F7F7F9"/>
                    </a:solidFill>
                  </a:tcPr>
                </a:tc>
              </a:tr>
              <a:tr h="658368">
                <a:tc>
                  <a:txBody>
                    <a:bodyPr wrap="square"/>
                    <a:lstStyle/>
                    <a:p>
                      <a:pPr algn="l">
                        <a:spcAft>
                          <a:spcPts val="100"/>
                        </a:spcAft>
                      </a:pPr>
                      <a:r>
                        <a:rPr sz="900" b="1" i="0">
                          <a:solidFill>
                            <a:srgbClr val="3A106E"/>
                          </a:solidFill>
                          <a:latin typeface="Yu Gothic"/>
                          <a:ea typeface="Yu Gothic"/>
                          <a:cs typeface="Yu Gothic"/>
                        </a:rPr>
                        <a:t>担当案件のスコアが低いと、自分の評価が下がる？</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下がりません。スコアは案件への資源配分を決める物差しで、人の物差しではありません。低スコア案件を省力化して上手に回すことは、高く評価されるべき仕事です</a:t>
                      </a:r>
                    </a:p>
                  </a:txBody>
                  <a:tcPr marL="54864" marR="54864" marT="18288" marB="18288" anchor="ctr">
                    <a:solidFill>
                      <a:srgbClr val="FFFFFF"/>
                    </a:solidFill>
                  </a:tcPr>
                </a:tc>
              </a:tr>
              <a:tr h="658368">
                <a:tc>
                  <a:txBody>
                    <a:bodyPr wrap="square"/>
                    <a:lstStyle/>
                    <a:p>
                      <a:pPr algn="l">
                        <a:spcAft>
                          <a:spcPts val="100"/>
                        </a:spcAft>
                      </a:pPr>
                      <a:r>
                        <a:rPr sz="900" b="1" i="0">
                          <a:solidFill>
                            <a:srgbClr val="3A106E"/>
                          </a:solidFill>
                          <a:latin typeface="Yu Gothic"/>
                          <a:ea typeface="Yu Gothic"/>
                          <a:cs typeface="Yu Gothic"/>
                        </a:rPr>
                        <a:t>サボっていると思われないよう、細かく盛って書くべき？</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不要です。0.5時間単位・記憶ベース・精度7割で十分。盛られたデータはかえって仕組みの改善を誤らせます。正直に、ざっくりと、が一番役に立ちます</a:t>
                      </a:r>
                    </a:p>
                  </a:txBody>
                  <a:tcPr marL="54864" marR="54864" marT="18288" marB="18288" anchor="ctr">
                    <a:solidFill>
                      <a:srgbClr val="F7F7F9"/>
                    </a:solidFill>
                  </a:tcPr>
                </a:tc>
              </a:tr>
              <a:tr h="658368">
                <a:tc>
                  <a:txBody>
                    <a:bodyPr wrap="square"/>
                    <a:lstStyle/>
                    <a:p>
                      <a:pPr algn="l">
                        <a:spcAft>
                          <a:spcPts val="100"/>
                        </a:spcAft>
                      </a:pPr>
                      <a:r>
                        <a:rPr sz="900" b="1" i="0">
                          <a:solidFill>
                            <a:srgbClr val="3A106E"/>
                          </a:solidFill>
                          <a:latin typeface="Yu Gothic"/>
                          <a:ea typeface="Yu Gothic"/>
                          <a:cs typeface="Yu Gothic"/>
                        </a:rPr>
                        <a:t>顧客との関係は自分の財産。全部共有したくない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皆さんの関係構築力は円谷の強みであり、奪う意図はありません。共有をお願いするのは、異動や不測の事態で顧客に迷惑をかけないための最低限の情報です。関係の中身の細かな記録は求めません</a:t>
                      </a:r>
                    </a:p>
                  </a:txBody>
                  <a:tcPr marL="54864" marR="54864" marT="18288" marB="18288" anchor="ctr">
                    <a:solidFill>
                      <a:srgbClr val="FFFFFF"/>
                    </a:solidFill>
                  </a:tcPr>
                </a:tc>
              </a:tr>
            </a:tbl>
          </a:graphicData>
        </a:graphic>
      </p:graphicFrame>
      <p:sp>
        <p:nvSpPr>
          <p:cNvPr id="7" name="Rectangle 6"/>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9" name="TextBox 8"/>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FAQ（2/2）</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よくある質問——実務について</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91640"/>
          <a:ext cx="11183111" cy="4352544"/>
        </p:xfrm>
        <a:graphic>
          <a:graphicData uri="http://schemas.openxmlformats.org/drawingml/2006/table">
            <a:tbl>
              <a:tblPr firstRow="1" bandRow="1">
                <a:tableStyleId>{5C22544A-7EE6-4342-B048-85BDC9FD1C3A}</a:tableStyleId>
              </a:tblPr>
              <a:tblGrid>
                <a:gridCol w="3299934"/>
                <a:gridCol w="7883177"/>
              </a:tblGrid>
              <a:tr h="621792">
                <a:tc>
                  <a:txBody>
                    <a:bodyPr wrap="square"/>
                    <a:lstStyle/>
                    <a:p>
                      <a:pPr algn="l">
                        <a:spcAft>
                          <a:spcPts val="0"/>
                        </a:spcAft>
                      </a:pPr>
                      <a:r>
                        <a:rPr sz="950" b="1" i="0">
                          <a:solidFill>
                            <a:srgbClr val="FFFFFF"/>
                          </a:solidFill>
                          <a:latin typeface="Yu Gothic"/>
                          <a:ea typeface="Yu Gothic"/>
                          <a:cs typeface="Yu Gothic"/>
                        </a:rPr>
                        <a:t>質問</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答え</a:t>
                      </a:r>
                    </a:p>
                  </a:txBody>
                  <a:tcPr marL="54864" marR="54864" marT="18288" marB="18288" anchor="ctr">
                    <a:solidFill>
                      <a:srgbClr val="3A106E"/>
                    </a:solidFill>
                  </a:tcPr>
                </a:tc>
              </a:tr>
              <a:tr h="621792">
                <a:tc>
                  <a:txBody>
                    <a:bodyPr wrap="square"/>
                    <a:lstStyle/>
                    <a:p>
                      <a:pPr algn="l">
                        <a:spcAft>
                          <a:spcPts val="100"/>
                        </a:spcAft>
                      </a:pPr>
                      <a:r>
                        <a:rPr sz="900" b="1" i="0">
                          <a:solidFill>
                            <a:srgbClr val="3A106E"/>
                          </a:solidFill>
                          <a:latin typeface="Yu Gothic"/>
                          <a:ea typeface="Yu Gothic"/>
                          <a:cs typeface="Yu Gothic"/>
                        </a:rPr>
                        <a:t>忙しくて週15分も取れない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まず粗くてもいいので出してください。それでも15分を超えて負担なら、我慢せずSTOへ。入力項目を減らす・代行するなど、仕組み側を直します（これは約束③です）</a:t>
                      </a:r>
                    </a:p>
                  </a:txBody>
                  <a:tcPr marL="54864" marR="54864" marT="18288" marB="18288" anchor="ctr">
                    <a:solidFill>
                      <a:srgbClr val="FFFFFF"/>
                    </a:solidFill>
                  </a:tcPr>
                </a:tc>
              </a:tr>
              <a:tr h="621792">
                <a:tc>
                  <a:txBody>
                    <a:bodyPr wrap="square"/>
                    <a:lstStyle/>
                    <a:p>
                      <a:pPr algn="l">
                        <a:spcAft>
                          <a:spcPts val="100"/>
                        </a:spcAft>
                      </a:pPr>
                      <a:r>
                        <a:rPr sz="900" b="1" i="0">
                          <a:solidFill>
                            <a:srgbClr val="3A106E"/>
                          </a:solidFill>
                          <a:latin typeface="Yu Gothic"/>
                          <a:ea typeface="Yu Gothic"/>
                          <a:cs typeface="Yu Gothic"/>
                        </a:rPr>
                        <a:t>棚卸しは自分でゼロから書き出すの？</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いいえ。下書きはSTOが請求・契約データから作ります。皆さんは確認・修正・追記の2〜3時間だけです</a:t>
                      </a:r>
                    </a:p>
                  </a:txBody>
                  <a:tcPr marL="54864" marR="54864" marT="18288" marB="18288" anchor="ctr">
                    <a:solidFill>
                      <a:srgbClr val="F7F7F9"/>
                    </a:solidFill>
                  </a:tcPr>
                </a:tc>
              </a:tr>
              <a:tr h="621792">
                <a:tc>
                  <a:txBody>
                    <a:bodyPr wrap="square"/>
                    <a:lstStyle/>
                    <a:p>
                      <a:pPr algn="l">
                        <a:spcAft>
                          <a:spcPts val="100"/>
                        </a:spcAft>
                      </a:pPr>
                      <a:r>
                        <a:rPr sz="900" b="1" i="0">
                          <a:solidFill>
                            <a:srgbClr val="3A106E"/>
                          </a:solidFill>
                          <a:latin typeface="Yu Gothic"/>
                          <a:ea typeface="Yu Gothic"/>
                          <a:cs typeface="Yu Gothic"/>
                        </a:rPr>
                        <a:t>新しいツールを覚えるのが大変そう</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最初は使い慣れたExcelだけです。入力は実質3項目。将来Notionに移す場合も、画面が変わるだけで入力項目は同じです。説明会と個別サポートをSTOが行います</a:t>
                      </a:r>
                    </a:p>
                  </a:txBody>
                  <a:tcPr marL="54864" marR="54864" marT="18288" marB="18288" anchor="ctr">
                    <a:solidFill>
                      <a:srgbClr val="FFFFFF"/>
                    </a:solidFill>
                  </a:tcPr>
                </a:tc>
              </a:tr>
              <a:tr h="621792">
                <a:tc>
                  <a:txBody>
                    <a:bodyPr wrap="square"/>
                    <a:lstStyle/>
                    <a:p>
                      <a:pPr algn="l">
                        <a:spcAft>
                          <a:spcPts val="100"/>
                        </a:spcAft>
                      </a:pPr>
                      <a:r>
                        <a:rPr sz="900" b="1" i="0">
                          <a:solidFill>
                            <a:srgbClr val="3A106E"/>
                          </a:solidFill>
                          <a:latin typeface="Yu Gothic"/>
                          <a:ea typeface="Yu Gothic"/>
                          <a:cs typeface="Yu Gothic"/>
                        </a:rPr>
                        <a:t>会議で本当に報告しなくていい？</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本当です。マスタを最新にしておけば、それが報告の代わりです。会議で聞かれるのは『次にどう動くか』『何を助けてほしいか』だけです</a:t>
                      </a:r>
                    </a:p>
                  </a:txBody>
                  <a:tcPr marL="54864" marR="54864" marT="18288" marB="18288" anchor="ctr">
                    <a:solidFill>
                      <a:srgbClr val="F7F7F9"/>
                    </a:solidFill>
                  </a:tcPr>
                </a:tc>
              </a:tr>
              <a:tr h="621792">
                <a:tc>
                  <a:txBody>
                    <a:bodyPr wrap="square"/>
                    <a:lstStyle/>
                    <a:p>
                      <a:pPr algn="l">
                        <a:spcAft>
                          <a:spcPts val="100"/>
                        </a:spcAft>
                      </a:pPr>
                      <a:r>
                        <a:rPr sz="900" b="1" i="0">
                          <a:solidFill>
                            <a:srgbClr val="3A106E"/>
                          </a:solidFill>
                          <a:latin typeface="Yu Gothic"/>
                          <a:ea typeface="Yu Gothic"/>
                          <a:cs typeface="Yu Gothic"/>
                        </a:rPr>
                        <a:t>撤退なんて顧客に失礼では？関係が壊れない？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壊さない設計にします。誠実な理由の説明・規模を縮めた代替案・将来の再開可能性の3点セット（別れ方の標準）を会社として用意し、判断の責任は経営が持ちます。皆さん個人が悪者になる構図は作りません</a:t>
                      </a:r>
                    </a:p>
                  </a:txBody>
                  <a:tcPr marL="54864" marR="54864" marT="18288" marB="18288" anchor="ctr">
                    <a:solidFill>
                      <a:srgbClr val="FFFFFF"/>
                    </a:solidFill>
                  </a:tcPr>
                </a:tc>
              </a:tr>
              <a:tr h="621792">
                <a:tc>
                  <a:txBody>
                    <a:bodyPr wrap="square"/>
                    <a:lstStyle/>
                    <a:p>
                      <a:pPr algn="l">
                        <a:spcAft>
                          <a:spcPts val="100"/>
                        </a:spcAft>
                      </a:pPr>
                      <a:r>
                        <a:rPr sz="900" b="1" i="0">
                          <a:solidFill>
                            <a:srgbClr val="3A106E"/>
                          </a:solidFill>
                          <a:latin typeface="Yu Gothic"/>
                          <a:ea typeface="Yu Gothic"/>
                          <a:cs typeface="Yu Gothic"/>
                        </a:rPr>
                        <a:t>監修や法務が遅いのは自分ではどうにもできない</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その通りです。だから「待ち」も見える化します。監修・契約のリードタイムは会社のKPIになり、プロセス側の改革（ファストトラック等）で会社が解決します。皆さんの責任にはなりません</a:t>
                      </a:r>
                    </a:p>
                  </a:txBody>
                  <a:tcPr marL="54864" marR="54864" marT="18288" marB="18288" anchor="ctr">
                    <a:solidFill>
                      <a:srgbClr val="F7F7F9"/>
                    </a:solidFill>
                  </a:tcPr>
                </a:tc>
              </a:tr>
            </a:tbl>
          </a:graphicData>
        </a:graphic>
      </p:graphicFrame>
      <p:sp>
        <p:nvSpPr>
          <p:cNvPr id="6" name="Rectangle 5"/>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8" name="TextBox 7"/>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最後に</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困ったら、遠慮なく——窓口と、皆さんへのお願い</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この改革は、皆さんからの指摘で良くなっていきます。仕組みへの文句は、大歓迎です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相談・指摘の窓口</a:t>
            </a:r>
          </a:p>
          <a:p>
            <a:pPr algn="l">
              <a:spcAft>
                <a:spcPts val="600"/>
              </a:spcAft>
            </a:pPr>
            <a:r>
              <a:rPr sz="1150" b="0" i="0">
                <a:solidFill>
                  <a:srgbClr val="262630"/>
                </a:solidFill>
                <a:latin typeface="Yu Gothic"/>
                <a:ea typeface="Yu Gothic"/>
                <a:cs typeface="Yu Gothic"/>
              </a:rPr>
              <a:t>■ STO：【担当者名・チャット/メール連絡先】（棚卸し・工数メモ・ツールの使い方・負荷の申告）／改革全体への意見・約束違反の指摘：新谷まで直接どうぞ</a:t>
            </a:r>
          </a:p>
          <a:p>
            <a:pPr algn="l">
              <a:spcAft>
                <a:spcPts val="300"/>
              </a:spcAft>
            </a:pPr>
            <a:r>
              <a:rPr sz="1200" b="1" i="0">
                <a:solidFill>
                  <a:srgbClr val="3A106E"/>
                </a:solidFill>
                <a:latin typeface="Yu Gothic"/>
                <a:ea typeface="Yu Gothic"/>
                <a:cs typeface="Yu Gothic"/>
              </a:rPr>
              <a:t>共有フォルダにあるもの</a:t>
            </a:r>
          </a:p>
          <a:p>
            <a:pPr algn="l">
              <a:spcAft>
                <a:spcPts val="600"/>
              </a:spcAft>
            </a:pPr>
            <a:r>
              <a:rPr sz="1150" b="0" i="0">
                <a:solidFill>
                  <a:srgbClr val="262630"/>
                </a:solidFill>
                <a:latin typeface="Yu Gothic"/>
                <a:ea typeface="Yu Gothic"/>
                <a:cs typeface="Yu Gothic"/>
              </a:rPr>
              <a:t>■ 本日の資料／記入例つきの工数メモExcel／棚卸しの手順書／FAQ（随時更新）／経営陣のキックオフ宣言全文</a:t>
            </a:r>
          </a:p>
          <a:p>
            <a:pPr algn="l">
              <a:spcAft>
                <a:spcPts val="300"/>
              </a:spcAft>
            </a:pPr>
            <a:r>
              <a:rPr sz="1200" b="1" i="0">
                <a:solidFill>
                  <a:srgbClr val="3A106E"/>
                </a:solidFill>
                <a:latin typeface="Yu Gothic"/>
                <a:ea typeface="Yu Gothic"/>
                <a:cs typeface="Yu Gothic"/>
              </a:rPr>
              <a:t>皆さんへの3つのお願い（再掲）</a:t>
            </a:r>
          </a:p>
          <a:p>
            <a:pPr algn="l">
              <a:spcAft>
                <a:spcPts val="600"/>
              </a:spcAft>
            </a:pPr>
            <a:r>
              <a:rPr sz="1150" b="0" i="0">
                <a:solidFill>
                  <a:srgbClr val="262630"/>
                </a:solidFill>
                <a:latin typeface="Yu Gothic"/>
                <a:ea typeface="Yu Gothic"/>
                <a:cs typeface="Yu Gothic"/>
              </a:rPr>
              <a:t>■ ① 棚卸しの確認・修正（初回2〜3時間）　② 週15分の工数メモ（90日間）　③ 案件の次アクションを切らさない（1日1〜2分）</a:t>
            </a:r>
          </a:p>
          <a:p>
            <a:pPr algn="l">
              <a:spcAft>
                <a:spcPts val="300"/>
              </a:spcAft>
            </a:pPr>
            <a:r>
              <a:rPr sz="1000" b="0" i="0">
                <a:solidFill>
                  <a:srgbClr val="8A8A99"/>
                </a:solidFill>
                <a:latin typeface="Yu Gothic"/>
                <a:ea typeface="Yu Gothic"/>
                <a:cs typeface="Yu Gothic"/>
              </a:rPr>
              <a:t/>
            </a:r>
          </a:p>
          <a:p>
            <a:pPr algn="l">
              <a:spcAft>
                <a:spcPts val="300"/>
              </a:spcAft>
            </a:pPr>
            <a:r>
              <a:rPr sz="1200" b="1" i="0">
                <a:solidFill>
                  <a:srgbClr val="3A106E"/>
                </a:solidFill>
                <a:latin typeface="Yu Gothic"/>
                <a:ea typeface="Yu Gothic"/>
                <a:cs typeface="Yu Gothic"/>
              </a:rPr>
              <a:t>30日後、円谷の営業の全体像が初めて見えるようになります。それは皆さん一人ひとりの入力が作るものです。どうかよろしくお願いします。——新谷</a:t>
            </a:r>
          </a:p>
        </p:txBody>
      </p:sp>
      <p:sp>
        <p:nvSpPr>
          <p:cNvPr id="7" name="Rectangle 6"/>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メンバー説明会資料（社外秘）</a:t>
            </a:r>
          </a:p>
        </p:txBody>
      </p:sp>
      <p:sp>
        <p:nvSpPr>
          <p:cNvPr id="9" name="TextBox 8"/>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