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0689336" cy="7562088"/>
  <p:notesSz cx="7562088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30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TSUBURAYA PRODUCTIONS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7955280" y="411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LVMH</a:t>
            </a:r>
            <a:endParaRPr lang="en-US" sz="1600" dirty="0"/>
          </a:p>
          <a:p>
            <a:pPr algn="ctr" indent="0" marL="0">
              <a:buNone/>
            </a:pPr>
            <a:r>
              <a:rPr lang="en-US" sz="650" b="1" spc="1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MOËT HENNESSY LOUIS VUITTON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ディスカッション資料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58368" y="324612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——「畏怖」という名の、60年熟成された人類の無意識を、貴グループに託す ——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3794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LVMH モエ ヘネシー・ルイ ヴィトン 御中 | 2026年8月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6903720"/>
            <a:ext cx="10689336" cy="109728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7013448"/>
            <a:ext cx="10689336" cy="36576"/>
          </a:xfrm>
          <a:prstGeom prst="rect">
            <a:avLst/>
          </a:prstGeom>
          <a:solidFill>
            <a:srgbClr val="D9C7A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7178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 外 厳 秘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325880" cy="45720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0" y="3840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極 秘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目次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82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5544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オープニング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0" y="15910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80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本提案の位置づけ:キャラクターライセンスではない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235440" y="155448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121408"/>
            <a:ext cx="937260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39572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82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23957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円谷怪獣という資産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0" y="24323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80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成田亨 / 60年間継続する現代アート運動 / 「本物の時間」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235440" y="239572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– 6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962656"/>
            <a:ext cx="937260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23697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82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323697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五体の怪獣と五つの感情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0" y="32735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80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バルタン星人 / ダダ / ゴモラ / メトロン星人 / キングジョー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235440" y="3236976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– 11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803904"/>
            <a:ext cx="937260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07822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82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407822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メタ・ナラティブ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0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80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ウルトラマンは怪獣を「悪」として退治しない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235440" y="4078224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4645152"/>
            <a:ext cx="937260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91947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82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34440" y="49194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共創の三つの階梯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0" y="49560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80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闇のサロン / メゾン × 円谷怪獣 / Kaiju Terroir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235440" y="491947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1520" y="5486400"/>
            <a:ext cx="937260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57607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82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234440" y="57607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クロージング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86400" y="579729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80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本提案が貴グループにおいてこそ成立する理由 / ネクストステップ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9235440" y="576072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– 15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31520" y="6327648"/>
            <a:ext cx="937260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7040880"/>
            <a:ext cx="10689336" cy="52120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7159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30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TSUBURAYA PRODUCTIONS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09360" y="718718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A I J U   T E R R O I R      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37744"/>
            <a:ext cx="1403604" cy="274320"/>
          </a:xfrm>
          <a:prstGeom prst="roundRect">
            <a:avLst>
              <a:gd name="adj" fmla="val 13333"/>
            </a:avLst>
          </a:prstGeom>
          <a:solidFill>
            <a:srgbClr val="17828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37744"/>
            <a:ext cx="14036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オープニング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052560" y="3840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極 秘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40080" y="621792"/>
            <a:ext cx="1325880" cy="45720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49808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本提案の位置づけ:キャラクターライセンスではない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1243584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本日の提案は、よくある「キャラクターコラボ」ではない。掘り起こされるのを待つ、世界最後の神話的アーカイブ ——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60年かけて日本人の無意識の底に堆積した「情緒の鉱脈」の共同開発である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6766560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80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出所:円谷プロダクション作成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0" y="7040880"/>
            <a:ext cx="10689336" cy="52120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7159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30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TSUBURAYA PRODUCTIONS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09360" y="718718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A I J U   T E R R O I R      3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40080" y="19659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「キャラクター」と「怪獣」の本質的な違い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240280"/>
            <a:ext cx="484632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54480" y="2331720"/>
            <a:ext cx="1920240" cy="310896"/>
          </a:xfrm>
          <a:prstGeom prst="rect">
            <a:avLst/>
          </a:prstGeom>
          <a:solidFill>
            <a:srgbClr val="D9C7A9"/>
          </a:solidFill>
          <a:ln/>
        </p:spPr>
      </p:sp>
      <p:sp>
        <p:nvSpPr>
          <p:cNvPr id="15" name="Text 13"/>
          <p:cNvSpPr/>
          <p:nvPr/>
        </p:nvSpPr>
        <p:spPr>
          <a:xfrm>
            <a:off x="1554480" y="233172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キャラクター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11296" y="2331720"/>
            <a:ext cx="2011680" cy="310896"/>
          </a:xfrm>
          <a:prstGeom prst="rect">
            <a:avLst/>
          </a:prstGeom>
          <a:solidFill>
            <a:srgbClr val="17828F"/>
          </a:solidFill>
          <a:ln/>
        </p:spPr>
      </p:sp>
      <p:sp>
        <p:nvSpPr>
          <p:cNvPr id="17" name="Text 15"/>
          <p:cNvSpPr/>
          <p:nvPr/>
        </p:nvSpPr>
        <p:spPr>
          <a:xfrm>
            <a:off x="3511296" y="23317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怪獣(本提案)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2679192"/>
            <a:ext cx="8412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性質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554480" y="2679192"/>
            <a:ext cx="1920240" cy="713232"/>
          </a:xfrm>
          <a:prstGeom prst="rect">
            <a:avLst/>
          </a:prstGeom>
          <a:solidFill>
            <a:srgbClr val="FAFAFA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27632" y="2679192"/>
            <a:ext cx="1773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メディア露出で消費される「使い捨ての記号」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511296" y="2679192"/>
            <a:ext cx="2011680" cy="713232"/>
          </a:xfrm>
          <a:prstGeom prst="rect">
            <a:avLst/>
          </a:prstGeom>
          <a:solidFill>
            <a:srgbClr val="EAF4F8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84448" y="2679192"/>
            <a:ext cx="18653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60年堆積した「情緒の鉱脈」= 神話資産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" y="3429000"/>
            <a:ext cx="8412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寿命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554480" y="3429000"/>
            <a:ext cx="1920240" cy="713232"/>
          </a:xfrm>
          <a:prstGeom prst="rect">
            <a:avLst/>
          </a:prstGeom>
          <a:solidFill>
            <a:srgbClr val="FAFAFA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27632" y="3429000"/>
            <a:ext cx="1773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露出量に比例して摩耗し、やがて飽きられる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511296" y="3429000"/>
            <a:ext cx="2011680" cy="713232"/>
          </a:xfrm>
          <a:prstGeom prst="rect">
            <a:avLst/>
          </a:prstGeom>
          <a:solidFill>
            <a:srgbClr val="EAF4F8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84448" y="3429000"/>
            <a:ext cx="18653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時間の経過が価値をさらに熟成させる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" y="4178808"/>
            <a:ext cx="8412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前例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554480" y="4178808"/>
            <a:ext cx="1920240" cy="713232"/>
          </a:xfrm>
          <a:prstGeom prst="rect">
            <a:avLst/>
          </a:prstGeom>
          <a:solidFill>
            <a:srgbClr val="FAFAFA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27632" y="4178808"/>
            <a:ext cx="1773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無数のコラボが存在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511296" y="4178808"/>
            <a:ext cx="2011680" cy="713232"/>
          </a:xfrm>
          <a:prstGeom prst="rect">
            <a:avLst/>
          </a:prstGeom>
          <a:solidFill>
            <a:srgbClr val="EAF4F8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84448" y="4178808"/>
            <a:ext cx="18653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商品化された前例が世界に存在しない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806440" y="19659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貴グループの事業と本提案の接続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806440" y="2240280"/>
            <a:ext cx="425196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806440" y="2395728"/>
            <a:ext cx="1463040" cy="841248"/>
          </a:xfrm>
          <a:prstGeom prst="rect">
            <a:avLst/>
          </a:prstGeom>
          <a:solidFill>
            <a:srgbClr val="F7F5F1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06440" y="2395728"/>
            <a:ext cx="1463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ワイン&amp;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スピリッツ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269480" y="2395728"/>
            <a:ext cx="27432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79208" y="2395728"/>
            <a:ext cx="25237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モエ・エ・シャンドン、ヘネシー。「時間を味わいに変える」事業を極めてきた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806440" y="3236976"/>
            <a:ext cx="1463040" cy="841248"/>
          </a:xfrm>
          <a:prstGeom prst="rect">
            <a:avLst/>
          </a:prstGeom>
          <a:solidFill>
            <a:srgbClr val="F7F5F1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06440" y="3236976"/>
            <a:ext cx="1463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メゾン各社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269480" y="3236976"/>
            <a:ext cx="27432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79208" y="3236976"/>
            <a:ext cx="25237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原産地と職人の価値を、世界最高のラグジュアリーに結晶させてきた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806440" y="4078224"/>
            <a:ext cx="1463040" cy="841248"/>
          </a:xfrm>
          <a:prstGeom prst="rect">
            <a:avLst/>
          </a:prstGeom>
          <a:solidFill>
            <a:srgbClr val="F7F5F1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06440" y="4078224"/>
            <a:ext cx="1463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本提案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269480" y="4078224"/>
            <a:ext cx="27432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79208" y="4078224"/>
            <a:ext cx="25237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C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世界で誰も商品化したことのない[60年熟成の畏怖]を扱う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760720" y="4032504"/>
            <a:ext cx="4297680" cy="932688"/>
          </a:xfrm>
          <a:prstGeom prst="rect">
            <a:avLst/>
          </a:prstGeom>
          <a:ln w="15875">
            <a:solidFill>
              <a:srgbClr val="C00000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5449824" y="4370832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49824" y="43708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806440" y="52578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C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 </a:t>
            </a:r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本提案は貴グループの事業の延長線上 —— 「時間を価値に変える」商売の最終形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37744"/>
            <a:ext cx="1773936" cy="274320"/>
          </a:xfrm>
          <a:prstGeom prst="roundRect">
            <a:avLst>
              <a:gd name="adj" fmla="val 13333"/>
            </a:avLst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37744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円谷怪獣という資産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052560" y="3840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極 秘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40080" y="621792"/>
            <a:ext cx="1325880" cy="45720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49808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成田亨 —— 現代美術史における円谷怪獣の位置づけ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1243584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1966年、美術家・成田亨は、テレビというメディアの中に『混沌から生まれた抽象彫刻』を持ち込んだ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6766560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80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注:成田亨(1929–2002)。ウルトラQ・ウルトラマン・ウルトラセブンの怪獣・メカデザインを担当した彫刻家・美術家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0" y="7040880"/>
            <a:ext cx="10689336" cy="52120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7159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30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TSUBURAYA PRODUCTIONS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09360" y="718718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A I J U   T E R R O I R      4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40080" y="19659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1966年の世界美術史と成田亨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240280"/>
            <a:ext cx="484632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37744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782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 </a:t>
            </a:r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同時代、ピカソがなお現役で創作を続け、ブランクーシの抽象彫刻が美術館を賑わせていた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080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 –  </a:t>
            </a:r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「美術」は、美術館の中にあった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782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 </a:t>
            </a:r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成田亨は怪獣を、ただの着ぐるみではなく、</a:t>
            </a:r>
            <a:pPr indent="0" marL="0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1782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『宇宙の理不尽』を立体化したアートピース</a:t>
            </a:r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として創造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080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 –  </a:t>
            </a:r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バルタン星人、ゴモラ、ダダ、メトロン星人、キングジョー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782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 </a:t>
            </a:r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テレビの中で始まった、もう一つの彫刻運動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806440" y="19659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成田亨のデザイン哲学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06440" y="2240280"/>
            <a:ext cx="425196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06440" y="2377440"/>
            <a:ext cx="4251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97880" y="23774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355080" y="2606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82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美醜を、超えること。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355080" y="3154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080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—— 怪獣デザインの根本原理、1966年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3886200"/>
            <a:ext cx="4251960" cy="292608"/>
          </a:xfrm>
          <a:prstGeom prst="rect">
            <a:avLst/>
          </a:prstGeom>
          <a:solidFill>
            <a:srgbClr val="17828F"/>
          </a:solidFill>
          <a:ln/>
        </p:spPr>
      </p:sp>
      <p:sp>
        <p:nvSpPr>
          <p:cNvPr id="22" name="Text 20"/>
          <p:cNvSpPr/>
          <p:nvPr/>
        </p:nvSpPr>
        <p:spPr>
          <a:xfrm>
            <a:off x="5806440" y="38862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代表作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936992" y="38862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英名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806440" y="4178808"/>
            <a:ext cx="4251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41788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バルタン星人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936992" y="41788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ALIEN BALTAN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806440" y="4562856"/>
            <a:ext cx="4251960" cy="384048"/>
          </a:xfrm>
          <a:prstGeom prst="rect">
            <a:avLst/>
          </a:prstGeom>
          <a:solidFill>
            <a:srgbClr val="FAFAFA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0" y="456285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ゴモラ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936992" y="456285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GOMORA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806440" y="4946904"/>
            <a:ext cx="4251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0" y="494690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ダダ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936992" y="494690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DADA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806440" y="5330952"/>
            <a:ext cx="4251960" cy="384048"/>
          </a:xfrm>
          <a:prstGeom prst="rect">
            <a:avLst/>
          </a:prstGeom>
          <a:solidFill>
            <a:srgbClr val="FAFAFA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0" y="533095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メトロン星人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936992" y="533095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ALIEN METRON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806440" y="5715000"/>
            <a:ext cx="4251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57150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キングジョー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936992" y="57150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KING JOE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37744"/>
            <a:ext cx="1773936" cy="274320"/>
          </a:xfrm>
          <a:prstGeom prst="roundRect">
            <a:avLst>
              <a:gd name="adj" fmla="val 13333"/>
            </a:avLst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37744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円谷怪獣という資産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052560" y="3840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極 秘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40080" y="621792"/>
            <a:ext cx="1325880" cy="45720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49808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世界で唯一、60年間継続する現代アート運動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1243584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この創造的行為は、2026年の今日まで一度も止まることなく続いている。毎年、新しい怪獣がデザインされ、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毎週、映像の中で生まれ、倒され、悼まれている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6766560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80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出所:円谷プロダクション制作実績より作成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0" y="7040880"/>
            <a:ext cx="10689336" cy="52120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7159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30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TSUBURAYA PRODUCTIONS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09360" y="718718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A I J U   T E R R O I R      5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40080" y="2057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継続する創造のサイクル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331720"/>
            <a:ext cx="484632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468880"/>
            <a:ext cx="48463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782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 </a:t>
            </a:r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1966年の誕生以来、怪獣のデザイン・造形は</a:t>
            </a:r>
            <a:pPr indent="0" marL="0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1782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ノンストップで継続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080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 –  </a:t>
            </a:r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毎年、新しい怪獣がデザインされている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080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 –  </a:t>
            </a:r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毎週、映像の中で生まれ、倒され、そして悼まれている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782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 </a:t>
            </a:r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こんな国は日本だけ。こんなアーカイブは、地球上にここだけ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782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 </a:t>
            </a:r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ラグジュアリーが語る「ヘリテージ」と異なり、マーケティング目的で編集されたものではない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806440" y="20574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円谷怪獣アーカイブの現状(2026年8月時点)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06440" y="2331720"/>
            <a:ext cx="425196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06440" y="2487168"/>
            <a:ext cx="1965960" cy="804672"/>
          </a:xfrm>
          <a:prstGeom prst="rect">
            <a:avLst/>
          </a:prstGeom>
          <a:solidFill>
            <a:srgbClr val="F7F5F1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79592" y="2487168"/>
            <a:ext cx="18196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起点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772400" y="2487168"/>
            <a:ext cx="22860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0" y="2487168"/>
            <a:ext cx="2286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1966年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806440" y="3291840"/>
            <a:ext cx="1965960" cy="804672"/>
          </a:xfrm>
          <a:prstGeom prst="rect">
            <a:avLst/>
          </a:prstGeom>
          <a:solidFill>
            <a:srgbClr val="F7F5F1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79592" y="3291840"/>
            <a:ext cx="18196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C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継続年数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772400" y="3291840"/>
            <a:ext cx="22860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0" y="3291840"/>
            <a:ext cx="2286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[60]年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806440" y="4096512"/>
            <a:ext cx="1965960" cy="804672"/>
          </a:xfrm>
          <a:prstGeom prst="rect">
            <a:avLst/>
          </a:prstGeom>
          <a:solidFill>
            <a:srgbClr val="F7F5F1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79592" y="4096512"/>
            <a:ext cx="18196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新たな怪獣の創造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772400" y="4096512"/>
            <a:ext cx="22860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0" y="4096512"/>
            <a:ext cx="2286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毎年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806440" y="4901184"/>
            <a:ext cx="1965960" cy="804672"/>
          </a:xfrm>
          <a:prstGeom prst="rect">
            <a:avLst/>
          </a:prstGeom>
          <a:solidFill>
            <a:srgbClr val="F7F5F1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79592" y="4901184"/>
            <a:ext cx="18196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C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世界で同等のアーカイブ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772400" y="4901184"/>
            <a:ext cx="22860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0" y="4901184"/>
            <a:ext cx="2286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[0]件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760720" y="3328416"/>
            <a:ext cx="4343400" cy="731520"/>
          </a:xfrm>
          <a:prstGeom prst="rect">
            <a:avLst/>
          </a:prstGeom>
          <a:ln w="15875">
            <a:solidFill>
              <a:srgbClr val="C00000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5449824" y="3566160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49824" y="3566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760720" y="4937760"/>
            <a:ext cx="4343400" cy="731520"/>
          </a:xfrm>
          <a:prstGeom prst="rect">
            <a:avLst/>
          </a:prstGeom>
          <a:ln w="15875">
            <a:solidFill>
              <a:srgbClr val="C00000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5449824" y="5175504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49824" y="51755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806440" y="58064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C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①② </a:t>
            </a:r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「60年 × 唯一無二」—— 時間の希少性こそが本アーカイブの本源的価値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37744"/>
            <a:ext cx="1773936" cy="274320"/>
          </a:xfrm>
          <a:prstGeom prst="roundRect">
            <a:avLst>
              <a:gd name="adj" fmla="val 13333"/>
            </a:avLst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37744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円谷怪獣という資産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052560" y="3840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極 秘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40080" y="621792"/>
            <a:ext cx="1325880" cy="45720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49808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最も贅沢な素材は「本物の時間」である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1243584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最も贅沢な素材は、カシミアでもダイヤモンドでもない。日本人の集合的無意識が60年かけて自然に析出させた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『心の化石』—— この60年分の時間を、貴グループのメゾンに纏わせることを提案する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6766560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80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注:「心の化石」= マーケティング目的ではなく、時間の経過によって自然に形成された情緒的資産を指す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0" y="7040880"/>
            <a:ext cx="10689336" cy="52120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7159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30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TSUBURAYA PRODUCTIONS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09360" y="718718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A I J U   T E R R O I R      6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377440" y="2286000"/>
            <a:ext cx="3749040" cy="365760"/>
          </a:xfrm>
          <a:prstGeom prst="rect">
            <a:avLst/>
          </a:prstGeom>
          <a:solidFill>
            <a:srgbClr val="D9C7A9"/>
          </a:solidFill>
          <a:ln/>
        </p:spPr>
      </p:sp>
      <p:sp>
        <p:nvSpPr>
          <p:cNvPr id="13" name="Text 11"/>
          <p:cNvSpPr/>
          <p:nvPr/>
        </p:nvSpPr>
        <p:spPr>
          <a:xfrm>
            <a:off x="2377440" y="2286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多くのラグジュアリーの「ヘリテージ」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81344" y="2286000"/>
            <a:ext cx="3749040" cy="365760"/>
          </a:xfrm>
          <a:prstGeom prst="rect">
            <a:avLst/>
          </a:prstGeom>
          <a:solidFill>
            <a:srgbClr val="17828F"/>
          </a:solidFill>
          <a:ln/>
        </p:spPr>
      </p:sp>
      <p:sp>
        <p:nvSpPr>
          <p:cNvPr id="15" name="Text 13"/>
          <p:cNvSpPr/>
          <p:nvPr/>
        </p:nvSpPr>
        <p:spPr>
          <a:xfrm>
            <a:off x="6181344" y="2286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ウルトラ怪獣の60年(本提案)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2706624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物語の出所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377440" y="2706624"/>
            <a:ext cx="3749040" cy="868680"/>
          </a:xfrm>
          <a:prstGeom prst="rect">
            <a:avLst/>
          </a:prstGeom>
          <a:solidFill>
            <a:srgbClr val="FAFAFA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06624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8080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△ 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後からマーケティングが付与した物語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81344" y="2706624"/>
            <a:ext cx="3749040" cy="868680"/>
          </a:xfrm>
          <a:prstGeom prst="rect">
            <a:avLst/>
          </a:prstGeom>
          <a:solidFill>
            <a:srgbClr val="EAF4F8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18504" y="2706624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782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○ 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日本人の集合的無意識が自然に析出させた記憶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36118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醸成の時間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377440" y="3611880"/>
            <a:ext cx="3749040" cy="868680"/>
          </a:xfrm>
          <a:prstGeom prst="rect">
            <a:avLst/>
          </a:prstGeom>
          <a:solidFill>
            <a:srgbClr val="FAFAFA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14600" y="36118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8080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△ 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ブランド戦略として編集された数年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81344" y="3611880"/>
            <a:ext cx="3749040" cy="868680"/>
          </a:xfrm>
          <a:prstGeom prst="rect">
            <a:avLst/>
          </a:prstGeom>
          <a:solidFill>
            <a:srgbClr val="EAF4F8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18504" y="36118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782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○ 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1966年から一度も途切れない60年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4517136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その正体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377440" y="4517136"/>
            <a:ext cx="3749040" cy="868680"/>
          </a:xfrm>
          <a:prstGeom prst="rect">
            <a:avLst/>
          </a:prstGeom>
          <a:solidFill>
            <a:srgbClr val="FAFAFA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14600" y="4517136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8080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△ 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演出された「伝統」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81344" y="4517136"/>
            <a:ext cx="3749040" cy="868680"/>
          </a:xfrm>
          <a:prstGeom prst="rect">
            <a:avLst/>
          </a:prstGeom>
          <a:solidFill>
            <a:srgbClr val="EAF4F8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18504" y="4517136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782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○  </a:t>
            </a:r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C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『心の化石』—— 時間そのものが素材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35624" y="4517136"/>
            <a:ext cx="3840480" cy="868680"/>
          </a:xfrm>
          <a:prstGeom prst="rect">
            <a:avLst/>
          </a:prstGeom>
          <a:ln w="15875">
            <a:solidFill>
              <a:srgbClr val="C00000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5824728" y="4823460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24728" y="48234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" y="5650992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 </a:t>
            </a:r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「本物の時間」は再現・模倣が不可能であり、後発者が参入できない唯一の競争優位となる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37744"/>
            <a:ext cx="2020824" cy="274320"/>
          </a:xfrm>
          <a:prstGeom prst="roundRect">
            <a:avLst>
              <a:gd name="adj" fmla="val 13333"/>
            </a:avLst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37744"/>
            <a:ext cx="202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 五体の怪獣と五つの感情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052560" y="3840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極 秘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40080" y="621792"/>
            <a:ext cx="1325880" cy="45720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49808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2-1. バルタン星人 —— すべてを失った者だけが持つ、気高き静寂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1243584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「所有」を超えた「喪失」の象徴。家も、国も、惑星も持たない者だけが纏える、孤高の静けさを商品化する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6766560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80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出所:円谷プロダクション作成。ブランド名は想定される共創パートナーのイメージであり、各社と合意済みのものではない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0" y="7040880"/>
            <a:ext cx="10689336" cy="52120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7159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30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TSUBURAYA PRODUCTIONS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09360" y="718718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A I J U   T E R R O I R      7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58368" y="184708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ALIEN BALTAN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2240280"/>
            <a:ext cx="1554480" cy="1234440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240280"/>
            <a:ext cx="1463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神話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194560" y="2240280"/>
            <a:ext cx="78181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59152" y="2295144"/>
            <a:ext cx="748893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故郷の星を核実験で失い、宇宙を彷徨う流浪の民。目的は侵略ではなく「新たな安住の地」。はさみ状の手は攻撃のためではなく、壊れやすいものをそっと掴むための器官とも言われる。その鳴き声は、言葉にならない哀しみのメロディ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3474720"/>
            <a:ext cx="1554480" cy="1188720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47472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提案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194560" y="3474720"/>
            <a:ext cx="7818120" cy="1188720"/>
          </a:xfrm>
          <a:prstGeom prst="rect">
            <a:avLst/>
          </a:prstGeom>
          <a:solidFill>
            <a:srgbClr val="EAF4F8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59152" y="3529584"/>
            <a:ext cx="748893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すべてを手に入れた顧客に、すべてを失った者だけが知る『軽やかさ』を。最も贅沢なものは「何も持たない自由」—— モノを売るブランドが最後に辿り着く、禅にも似た究極のステートメント。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4663440"/>
            <a:ext cx="155448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66344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具体的商品像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194560" y="4663440"/>
            <a:ext cx="39090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59152" y="4818888"/>
            <a:ext cx="237744" cy="23774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C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59152" y="48188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697480" y="4782312"/>
            <a:ext cx="32689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82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ロロ・ピアーナ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697480" y="5120640"/>
            <a:ext cx="32232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シルエットを極限まで抽象化した、静寂と共鳴するカシミアストール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03620" y="4663440"/>
            <a:ext cx="39090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68212" y="4818888"/>
            <a:ext cx="237744" cy="23774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C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8212" y="48188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606540" y="4782312"/>
            <a:ext cx="32689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82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ティファニー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06540" y="5120640"/>
            <a:ext cx="32232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ダイヤモンドパヴェで描く、故郷を照らす「ただ一つの星」のブローチ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176272" y="3456432"/>
            <a:ext cx="7872984" cy="1225296"/>
          </a:xfrm>
          <a:prstGeom prst="rect">
            <a:avLst/>
          </a:prstGeom>
          <a:ln w="15875">
            <a:solidFill>
              <a:srgbClr val="C00000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1865376" y="3941064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65376" y="39410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" y="6236208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 </a:t>
            </a:r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本ナラティブは既存のキャラクタービジネスでは提供不可能な情緒価値であり、ラグジュアリー文脈でのみ成立する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37744"/>
            <a:ext cx="2020824" cy="274320"/>
          </a:xfrm>
          <a:prstGeom prst="roundRect">
            <a:avLst>
              <a:gd name="adj" fmla="val 13333"/>
            </a:avLst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37744"/>
            <a:ext cx="202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 五体の怪獣と五つの感情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052560" y="3840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極 秘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40080" y="621792"/>
            <a:ext cx="1325880" cy="45720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49808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2-2. ダダ —— 人間の顔を被った、不条理という名の芸術家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1243584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「ダダイズム」の体現者。既存の価値や「良い趣味」を破壊し、混乱の中にこそ美があると叫ぶ、永遠のアヴァンギャルドを商品化する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6766560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80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出所:円谷プロダクション作成。ブランド名は想定される共創パートナーのイメージであり、各社と合意済みのものではない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0" y="7040880"/>
            <a:ext cx="10689336" cy="52120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7159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30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TSUBURAYA PRODUCTIONS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09360" y="718718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A I J U   T E R R O I R      8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58368" y="184708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2240280"/>
            <a:ext cx="1554480" cy="1234440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240280"/>
            <a:ext cx="1463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神話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194560" y="2240280"/>
            <a:ext cx="78181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59152" y="2295144"/>
            <a:ext cx="748893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白黒の幾何学模様に包まれた、人間の顔をした異星人。目的は誰にも理解できず、行動は理不尽で、不気味でありながらどこかユーモラス。成田亨が「ポップアートの怪物」として生み出した、反逆のアイコン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3474720"/>
            <a:ext cx="1554480" cy="1188720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47472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提案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194560" y="3474720"/>
            <a:ext cx="7818120" cy="1188720"/>
          </a:xfrm>
          <a:prstGeom prst="rect">
            <a:avLst/>
          </a:prstGeom>
          <a:solidFill>
            <a:srgbClr val="EAF4F8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59152" y="3529584"/>
            <a:ext cx="748893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『美しいもの』だけを売ることに疲れていませんか。醜さ、不条理、混沌を纏うことで逆説的に自由を得る —— ラグジュアリーが自らの権威を自己批判し、生まれ変わるための「創造的破壊のエンジン」。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4663440"/>
            <a:ext cx="155448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66344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具体的商品像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194560" y="4663440"/>
            <a:ext cx="39090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59152" y="4818888"/>
            <a:ext cx="237744" cy="23774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C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59152" y="48188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697480" y="4782312"/>
            <a:ext cx="32689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82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ルイ・ヴィトン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697480" y="5120640"/>
            <a:ext cx="32232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モノグラムにダダの縞模様が侵入する、21世紀のダダイズム宣言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03620" y="4663440"/>
            <a:ext cx="39090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68212" y="4818888"/>
            <a:ext cx="237744" cy="23774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C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8212" y="48188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606540" y="4782312"/>
            <a:ext cx="32689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82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リモワ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06540" y="5120640"/>
            <a:ext cx="32232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アルミケースにダダの顔をエンボス加工した「異星からの手荷物」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176272" y="3456432"/>
            <a:ext cx="7872984" cy="1225296"/>
          </a:xfrm>
          <a:prstGeom prst="rect">
            <a:avLst/>
          </a:prstGeom>
          <a:ln w="15875">
            <a:solidFill>
              <a:srgbClr val="C00000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1865376" y="3941064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65376" y="39410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" y="6236208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 </a:t>
            </a:r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本ナラティブは既存のキャラクタービジネスでは提供不可能な情緒価値であり、ラグジュアリー文脈でのみ成立する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37744"/>
            <a:ext cx="2020824" cy="274320"/>
          </a:xfrm>
          <a:prstGeom prst="roundRect">
            <a:avLst>
              <a:gd name="adj" fmla="val 13333"/>
            </a:avLst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37744"/>
            <a:ext cx="202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 五体の怪獣と五つの感情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052560" y="3840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極 秘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40080" y="621792"/>
            <a:ext cx="1325880" cy="45720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49808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2-3. ゴモラ —— 人間に乱された太古の守護者、生ける彫刻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1243584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「プリミティブ」かつ「モニュメンタル」。触れることさえ畏れ多い、最も崇高な「自然」の権化を商品化する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6766560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80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出所:円谷プロダクション作成。ブランド名は想定される共創パートナーのイメージであり、各社と合意済みのものではない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0" y="7040880"/>
            <a:ext cx="10689336" cy="52120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7159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30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TSUBURAYA PRODUCTIONS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09360" y="718718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A I J U   T E R R O I R      9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58368" y="184708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GOMORA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2240280"/>
            <a:ext cx="1554480" cy="1234440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240280"/>
            <a:ext cx="1463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神話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194560" y="2240280"/>
            <a:ext cx="78181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59152" y="2295144"/>
            <a:ext cx="748893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太古の昔から地中に眠っていた、生ける伝説。何も悪いことをしていないのに、人間の開発に安眠を妨げられ、怒りと悲しみを抱えて地上に現れる。その咆哮は、自然そのものの慟哭。本来、守られるべき地球の「記憶」だった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3474720"/>
            <a:ext cx="1554480" cy="1188720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47472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提案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194560" y="3474720"/>
            <a:ext cx="7818120" cy="1188720"/>
          </a:xfrm>
          <a:prstGeom prst="rect">
            <a:avLst/>
          </a:prstGeom>
          <a:solidFill>
            <a:srgbClr val="EAF4F8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59152" y="3529584"/>
            <a:ext cx="748893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究極のラグジュアリーとは、二度と触れられない神話の獣の『質感』を所有すること。この獣を纏うことは、もはやファッションではなく「地球の守護者としての宣誓」である。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4663440"/>
            <a:ext cx="155448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66344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具体的商品像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194560" y="4663440"/>
            <a:ext cx="39090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59152" y="4818888"/>
            <a:ext cx="237744" cy="23774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C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59152" y="48188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697480" y="4782312"/>
            <a:ext cx="32689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82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ロエベ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697480" y="5120640"/>
            <a:ext cx="32232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レザークラフト技術で表皮を完全再現した「パズルバッグ」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03620" y="4663440"/>
            <a:ext cx="39090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68212" y="4818888"/>
            <a:ext cx="237744" cy="23774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C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8212" y="48188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606540" y="4782312"/>
            <a:ext cx="32689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82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フェンディ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06540" y="5120640"/>
            <a:ext cx="32232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尻尾の感触を再現したファーストール。纏うことが自然への誓いになる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176272" y="3456432"/>
            <a:ext cx="7872984" cy="1225296"/>
          </a:xfrm>
          <a:prstGeom prst="rect">
            <a:avLst/>
          </a:prstGeom>
          <a:ln w="15875">
            <a:solidFill>
              <a:srgbClr val="C00000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1865376" y="3941064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65376" y="39410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" y="6236208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 </a:t>
            </a:r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本ナラティブは既存のキャラクタービジネスでは提供不可能な情緒価値であり、ラグジュアリー文脈でのみ成立する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37744"/>
            <a:ext cx="2020824" cy="274320"/>
          </a:xfrm>
          <a:prstGeom prst="roundRect">
            <a:avLst>
              <a:gd name="adj" fmla="val 13333"/>
            </a:avLst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37744"/>
            <a:ext cx="202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 五体の怪獣と五つの感情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052560" y="3840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極 秘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40080" y="621792"/>
            <a:ext cx="1325880" cy="45720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49808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2-4. メトロン星人 —— テーブルを挟んだ、最も危険な知性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1243584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「誘惑」「知性」「裏切り」のデザイン。暴力を振るわないからこそ最も危険な、「知的支配者」の寓話を商品化する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6766560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80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出所:円谷プロダクション作成。ブランド名は想定される共創パートナーのイメージであり、各社と合意済みのものではない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0" y="7040880"/>
            <a:ext cx="10689336" cy="52120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7159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30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TSUBURAYA PRODUCTIONS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09360" y="718718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A I J U   T E R R O I R      10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58368" y="184708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ALIEN METRON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2240280"/>
            <a:ext cx="1554480" cy="1234440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240280"/>
            <a:ext cx="1463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神話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194560" y="2240280"/>
            <a:ext cx="78181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59152" y="2295144"/>
            <a:ext cx="748893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『ウルトラセブン』第8話「狙われた街」。人間を一切攻撃せず、心に侵入し、ちゃぶ台を挟んで対話する。目的は暴力ではなく「人間同士の信頼を破壊し、自滅させること」。シリーズ史上最も哲学的で、背筋が凍るほどスタイリッシュ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3474720"/>
            <a:ext cx="1554480" cy="1188720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47472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提案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194560" y="3474720"/>
            <a:ext cx="7818120" cy="1188720"/>
          </a:xfrm>
          <a:prstGeom prst="rect">
            <a:avLst/>
          </a:prstGeom>
          <a:solidFill>
            <a:srgbClr val="EAF4F8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59152" y="3529584"/>
            <a:ext cx="748893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トップVICが集うサロンに、彼のオブジェを。『彼は決して暴力を振るわない。ただ、あなたの内面を全て見透かし、微笑むだけだ』—— 富と権力を手にした者への、最高のスリルと戒め。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4663440"/>
            <a:ext cx="155448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66344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具体的商品像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194560" y="4663440"/>
            <a:ext cx="39090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59152" y="4818888"/>
            <a:ext cx="237744" cy="23774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C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59152" y="48188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697480" y="4782312"/>
            <a:ext cx="32689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82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ディオール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697480" y="5120640"/>
            <a:ext cx="32232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ホームコレクションのテーブルウェア。対話の場に置く、静かなる警告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03620" y="4663440"/>
            <a:ext cx="39090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68212" y="4818888"/>
            <a:ext cx="237744" cy="23774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C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8212" y="48188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606540" y="4782312"/>
            <a:ext cx="32689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82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ゲラン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06540" y="5120640"/>
            <a:ext cx="32232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限定フレグランス ——「誘惑と裏切り」の香り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176272" y="3456432"/>
            <a:ext cx="7872984" cy="1225296"/>
          </a:xfrm>
          <a:prstGeom prst="rect">
            <a:avLst/>
          </a:prstGeom>
          <a:ln w="15875">
            <a:solidFill>
              <a:srgbClr val="C00000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1865376" y="3941064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65376" y="39410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" y="6236208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 </a:t>
            </a:r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本ナラティブは既存のキャラクタービジネスでは提供不可能な情緒価値であり、ラグジュアリー文脈でのみ成立する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37744"/>
            <a:ext cx="2020824" cy="274320"/>
          </a:xfrm>
          <a:prstGeom prst="roundRect">
            <a:avLst>
              <a:gd name="adj" fmla="val 13333"/>
            </a:avLst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37744"/>
            <a:ext cx="202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 五体の怪獣と五つの感情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052560" y="3840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極 秘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40080" y="621792"/>
            <a:ext cx="1325880" cy="45720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49808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2-5. キングジョー —— 分解と再構築。完璧な破壊の美学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1243584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「メカニック」「トランスフォーム」「冷徹な完璧主義」。一切の無駄がない、純粋な機能がもたらす官能を商品化する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6766560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80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出所:円谷プロダクション作成。ブランド名は想定される共創パートナーのイメージであり、各社と合意済みのものではない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0" y="7040880"/>
            <a:ext cx="10689336" cy="52120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7159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30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TSUBURAYA PRODUCTIONS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09360" y="718718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A I J U   T E R R O I R      11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58368" y="184708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KING JOE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2240280"/>
            <a:ext cx="1554480" cy="1234440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240280"/>
            <a:ext cx="1463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神話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194560" y="2240280"/>
            <a:ext cx="78181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59152" y="2295144"/>
            <a:ext cx="748893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ペダン星人が送り込んだ超合金のロボット怪獣。自らをパーツに分解して潜入し、瞬間的に合体して破壊を尽くす。感情はない。高度経済成長期の「無機質な工業力」への畏れと憧れを象徴する、機能美の結晶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3474720"/>
            <a:ext cx="1554480" cy="1188720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47472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提案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194560" y="3474720"/>
            <a:ext cx="7818120" cy="1188720"/>
          </a:xfrm>
          <a:prstGeom prst="rect">
            <a:avLst/>
          </a:prstGeom>
          <a:solidFill>
            <a:srgbClr val="EAF4F8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59152" y="3529584"/>
            <a:ext cx="748893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高級時計ブランドの精神そのもの。分解され、旅をし、合体して完全体となる —— 腕時計のケースに落とし込めば、それは時間を刻む機械ではなく「時間を征服する機械」になる。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4663440"/>
            <a:ext cx="155448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66344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具体的商品像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194560" y="4663440"/>
            <a:ext cx="39090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59152" y="4818888"/>
            <a:ext cx="237744" cy="23774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C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59152" y="48188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697480" y="4782312"/>
            <a:ext cx="32689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82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タグ・ホイヤー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697480" y="5120640"/>
            <a:ext cx="32232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分解可能なモジュール構造ケース × 超合金イメージのヘアライン加工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03620" y="4663440"/>
            <a:ext cx="39090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68212" y="4818888"/>
            <a:ext cx="237744" cy="23774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C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8212" y="48188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606540" y="4782312"/>
            <a:ext cx="32689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82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ウブロ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06540" y="5120640"/>
            <a:ext cx="32232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「ビッグ・バン」に合体機構を内蔵したアートピースウォッチ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176272" y="3456432"/>
            <a:ext cx="7872984" cy="1225296"/>
          </a:xfrm>
          <a:prstGeom prst="rect">
            <a:avLst/>
          </a:prstGeom>
          <a:ln w="15875">
            <a:solidFill>
              <a:srgbClr val="C00000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1865376" y="3941064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65376" y="39410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" y="6236208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 </a:t>
            </a:r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本ナラティブは既存のキャラクタービジネスでは提供不可能な情緒価値であり、ラグジュアリー文脈でのみ成立する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37744"/>
            <a:ext cx="1650492" cy="274320"/>
          </a:xfrm>
          <a:prstGeom prst="roundRect">
            <a:avLst>
              <a:gd name="adj" fmla="val 13333"/>
            </a:avLst>
          </a:prstGeom>
          <a:solidFill>
            <a:srgbClr val="17828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37744"/>
            <a:ext cx="16504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 メタ・ナラティブ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052560" y="3840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極 秘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40080" y="621792"/>
            <a:ext cx="1325880" cy="45720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49808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ウルトラマンは怪獣を「悪」として退治しない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1243584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五体すべてを貫く円谷60年のDNA —— 戦いの後には、常に哀しみと、共生への問いが残る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6766560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80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注:LVMH各ブランドとの過去のコラボレーション実績との比較は、公開情報に基づく当社の見解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0" y="7040880"/>
            <a:ext cx="10689336" cy="52120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7159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30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TSUBURAYA PRODUCTIONS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09360" y="718718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A I J U   T E R R O I R      12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40080" y="19659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怪獣という存在の三類型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240280"/>
            <a:ext cx="484632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377440"/>
            <a:ext cx="48463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850" dirty="0">
                <a:solidFill>
                  <a:srgbClr val="1782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 </a:t>
            </a:r>
            <a:pPr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故郷を奪われた者</a:t>
            </a:r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—— 核実験や環境破壊により、帰る場所を失って地球に現れる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850" dirty="0">
                <a:solidFill>
                  <a:srgbClr val="1782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 </a:t>
            </a:r>
            <a:pPr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生態系を乱された者</a:t>
            </a:r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—— 人間の開発に安眠を妨げられ、怒りと悲しみを抱えて目覚める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850" dirty="0">
                <a:solidFill>
                  <a:srgbClr val="1782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 </a:t>
            </a:r>
            <a:pPr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理解の及ばない者</a:t>
            </a:r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—— 人間の論理が及ばない存在として、ただ、そこにいる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850" dirty="0">
                <a:solidFill>
                  <a:srgbClr val="1782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 </a:t>
            </a:r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</a:t>
            </a:r>
            <a:pPr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1782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『敵を理解し、畏れ、そして哀れむ』</a:t>
            </a:r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という深いヒューマニズムこそが円谷のDNA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806440" y="2377440"/>
            <a:ext cx="4251960" cy="2286000"/>
          </a:xfrm>
          <a:prstGeom prst="rect">
            <a:avLst/>
          </a:prstGeom>
          <a:solidFill>
            <a:srgbClr val="F3EDE0"/>
          </a:solidFill>
          <a:ln w="12700">
            <a:solidFill>
              <a:srgbClr val="D9C7A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2560320"/>
            <a:ext cx="3794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貴グループがこれまで組んできたアーティストやキャラクターに、ここまで深い『存在の哀しみ』と『哲学』が内包されていたでしょうか。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我々が託したいのはデザインではなく、怪獣という名の、人類の無意識と罪の意識である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035040" y="47091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080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—— 円谷プロダクションからの問い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37744"/>
            <a:ext cx="1650492" cy="274320"/>
          </a:xfrm>
          <a:prstGeom prst="roundRect">
            <a:avLst>
              <a:gd name="adj" fmla="val 13333"/>
            </a:avLst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37744"/>
            <a:ext cx="16504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5. 共創の三つの階梯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052560" y="3840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極 秘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40080" y="621792"/>
            <a:ext cx="1325880" cy="45720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49808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共創に向けて取り得る三つの階梯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1243584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一過性のコラボレーションでは終わらせない。1 闇のサロンを起点に、2 メゾンとの共同事業、3 貴グループの販路での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世界展開へと段階的に深化させる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6766560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80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バーカウンターの片隅で、バルタン星人が静かにグラスを見つめている。それはフィギュアではなく、インテリアアート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0" y="7040880"/>
            <a:ext cx="10689336" cy="52120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7159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30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TSUBURAYA PRODUCTIONS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09360" y="718718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A I J U   T E R R O I R      13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40080" y="2286000"/>
            <a:ext cx="2377440" cy="347472"/>
          </a:xfrm>
          <a:prstGeom prst="rect">
            <a:avLst/>
          </a:prstGeom>
          <a:solidFill>
            <a:srgbClr val="17828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2860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階梯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054096" y="2286000"/>
            <a:ext cx="1371600" cy="347472"/>
          </a:xfrm>
          <a:prstGeom prst="rect">
            <a:avLst/>
          </a:prstGeom>
          <a:solidFill>
            <a:srgbClr val="17828F"/>
          </a:solidFill>
          <a:ln/>
        </p:spPr>
      </p:sp>
      <p:sp>
        <p:nvSpPr>
          <p:cNvPr id="15" name="Text 13"/>
          <p:cNvSpPr/>
          <p:nvPr/>
        </p:nvSpPr>
        <p:spPr>
          <a:xfrm>
            <a:off x="3054096" y="22860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時間軸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462272" y="2286000"/>
            <a:ext cx="5660136" cy="347472"/>
          </a:xfrm>
          <a:prstGeom prst="rect">
            <a:avLst/>
          </a:prstGeom>
          <a:solidFill>
            <a:srgbClr val="17828F"/>
          </a:solidFill>
          <a:ln/>
        </p:spPr>
      </p:sp>
      <p:sp>
        <p:nvSpPr>
          <p:cNvPr id="17" name="Text 15"/>
          <p:cNvSpPr/>
          <p:nvPr/>
        </p:nvSpPr>
        <p:spPr>
          <a:xfrm>
            <a:off x="4462272" y="2286000"/>
            <a:ext cx="5660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概要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2688336"/>
            <a:ext cx="237744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136392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136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143000" y="2688336"/>
            <a:ext cx="1783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闇のサロン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054096" y="2688336"/>
            <a:ext cx="1371600" cy="1170432"/>
          </a:xfrm>
          <a:prstGeom prst="rect">
            <a:avLst/>
          </a:prstGeom>
          <a:solidFill>
            <a:srgbClr val="EAF4F8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54096" y="2688336"/>
            <a:ext cx="1371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82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起点・即効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62272" y="2688336"/>
            <a:ext cx="5660136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08576" y="2761488"/>
            <a:ext cx="53675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成田亨の直筆デザイン画、撮影用の実物スーツ、未公開の没デザイン怪獣を、貴グループ首脳と、信頼する最高のゲストだけにご覧いただく非公開サロン。ここから、すべてが始まる。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0080" y="3904488"/>
            <a:ext cx="237744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4352544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4352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143000" y="3904488"/>
            <a:ext cx="1783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メゾン × 円谷怪獣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054096" y="3904488"/>
            <a:ext cx="1371600" cy="1170432"/>
          </a:xfrm>
          <a:prstGeom prst="rect">
            <a:avLst/>
          </a:prstGeom>
          <a:solidFill>
            <a:srgbClr val="FAFAFA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54096" y="3904488"/>
            <a:ext cx="1371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短期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462272" y="3904488"/>
            <a:ext cx="5660136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08576" y="3977640"/>
            <a:ext cx="53675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モエ・エ・シャンドン等のリミテッドエディションに、水や自然にまつわる怪獣をラベルアートとして起用。『この土壌は、太古の怪獣が眠っていた記憶の層と同じ』という物語を添えた共同事業。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40080" y="5120640"/>
            <a:ext cx="237744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77240" y="5568696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5568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143000" y="5120640"/>
            <a:ext cx="1783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Kaiju Terroir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3054096" y="5120640"/>
            <a:ext cx="1371600" cy="1170432"/>
          </a:xfrm>
          <a:prstGeom prst="rect">
            <a:avLst/>
          </a:prstGeom>
          <a:solidFill>
            <a:srgbClr val="FAFAFA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54096" y="5120640"/>
            <a:ext cx="1371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中長期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462272" y="5120640"/>
            <a:ext cx="5660136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08576" y="5193792"/>
            <a:ext cx="53675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量販店には置かない。帝国ホテルのバー、ハイアットのラウンジ、星付きレストランから。物語を語れる営業がソムリエのように怪獣の哲学を手渡す —— 貴グループにしかできない流通戦略。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94360" y="2651760"/>
            <a:ext cx="9610344" cy="1207008"/>
          </a:xfrm>
          <a:prstGeom prst="rect">
            <a:avLst/>
          </a:prstGeom>
          <a:ln w="15875">
            <a:solidFill>
              <a:srgbClr val="C00000"/>
            </a:solidFill>
            <a:prstDash val="dash"/>
          </a:ln>
        </p:spPr>
      </p:sp>
      <p:sp>
        <p:nvSpPr>
          <p:cNvPr id="43" name="Text 41"/>
          <p:cNvSpPr/>
          <p:nvPr/>
        </p:nvSpPr>
        <p:spPr>
          <a:xfrm>
            <a:off x="640080" y="647395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  </a:t>
            </a:r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が意思決定の起点 —— 決断は「闇のサロン」の後で構わない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37744"/>
            <a:ext cx="1403604" cy="274320"/>
          </a:xfrm>
          <a:prstGeom prst="roundRect">
            <a:avLst>
              <a:gd name="adj" fmla="val 13333"/>
            </a:avLst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37744"/>
            <a:ext cx="14036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6. クロージング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052560" y="3840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極 秘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40080" y="621792"/>
            <a:ext cx="1325880" cy="45720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49808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本提案が貴グループにおいてこそ成立する理由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1243584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『いいモノに、人を感動させる物語を与え、適正な価格で、ふさわしい場所で売る』——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そのすべてを体現してきた存在は、貴グループをおいて他にない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6766560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80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出所:円谷プロダクション作成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0" y="7040880"/>
            <a:ext cx="10689336" cy="52120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7159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30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TSUBURAYA PRODUCTIONS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09360" y="718718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A I J U   T E R R O I R      14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40080" y="21031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貴グループの歴史が証明する三つの能力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377440"/>
            <a:ext cx="484632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606040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82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606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82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43000" y="25877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物語を与える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43000" y="29718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いいモノに、人を感動させる物語を与えてきた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0080" y="3383280"/>
            <a:ext cx="475488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566160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82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82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43000" y="35478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適正な価格で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43000" y="39319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時間の価値を、正しい価格に結晶させてきた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" y="4343400"/>
            <a:ext cx="475488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4526280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82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526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82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43000" y="45079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ふさわしい場所で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43000" y="48920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その物語に見合う、世界最高の売り場で売ってきた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806440" y="2606040"/>
            <a:ext cx="4251960" cy="2103120"/>
          </a:xfrm>
          <a:prstGeom prst="rect">
            <a:avLst/>
          </a:prstGeom>
          <a:solidFill>
            <a:srgbClr val="FFFFFF"/>
          </a:solidFill>
          <a:ln w="15875">
            <a:solidFill>
              <a:srgbClr val="9E9E9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80760" y="277063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物語を与える力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189720" y="277063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080760" y="315468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適正な価格をつける力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189720" y="315468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080760" y="353872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ふさわしい場所で売る力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189720" y="353872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035040" y="3995928"/>
            <a:ext cx="379476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80760" y="408736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「畏怖」の商品化 = </a:t>
            </a:r>
            <a:pPr indent="0" marL="0">
              <a:buNone/>
            </a:pPr>
            <a:r>
              <a:rPr lang="en-US" sz="1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LVMH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751576" y="4032504"/>
            <a:ext cx="4361688" cy="621792"/>
          </a:xfrm>
          <a:prstGeom prst="rect">
            <a:avLst/>
          </a:prstGeom>
          <a:ln w="15875">
            <a:solidFill>
              <a:srgbClr val="C00000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5440680" y="4215384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40680" y="42153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806440" y="489204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C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 </a:t>
            </a:r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この価値を、ワインと同じように —— 静かに、深く、適切なグラスで —— 世界の富裕層に注いでほしい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37744"/>
            <a:ext cx="1403604" cy="274320"/>
          </a:xfrm>
          <a:prstGeom prst="roundRect">
            <a:avLst>
              <a:gd name="adj" fmla="val 13333"/>
            </a:avLst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37744"/>
            <a:ext cx="14036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6. クロージング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052560" y="3840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極 秘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40080" y="621792"/>
            <a:ext cx="1325880" cy="45720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49808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畏怖を、商品化してください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1243584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決断は、「闇のサロン」の後で構わない。まずはこの60年物の『畏怖』を、貴グループ自身の目と手で確かめてほしい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6766560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80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注:開催日程・場所は、貴グループのご都合に合わせて個別に調整させていただきたい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0" y="7040880"/>
            <a:ext cx="10689336" cy="52120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7159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30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TSUBURAYA PRODUCTIONS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09360" y="718718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A I J U   T E R R O I R      15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148840" y="2377440"/>
            <a:ext cx="6400800" cy="384048"/>
          </a:xfrm>
          <a:prstGeom prst="rect">
            <a:avLst/>
          </a:prstGeom>
          <a:solidFill>
            <a:srgbClr val="17828F"/>
          </a:solidFill>
          <a:ln/>
        </p:spPr>
      </p:sp>
      <p:sp>
        <p:nvSpPr>
          <p:cNvPr id="13" name="Text 11"/>
          <p:cNvSpPr/>
          <p:nvPr/>
        </p:nvSpPr>
        <p:spPr>
          <a:xfrm>
            <a:off x="2148840" y="23774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NEXT STEP:非公開サロン「闇のサロン」へのご招待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148840" y="2761488"/>
            <a:ext cx="1920240" cy="658368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48840" y="276148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ご覧いただくもの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069080" y="2761488"/>
            <a:ext cx="4480560" cy="658368"/>
          </a:xfrm>
          <a:prstGeom prst="rect">
            <a:avLst/>
          </a:prstGeom>
          <a:solidFill>
            <a:srgbClr val="EAF4F8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33672" y="2761488"/>
            <a:ext cx="4151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成田亨の直筆デザイン画 / 撮影用の実物スーツ / 未公開の没デザイン怪獣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148840" y="3419856"/>
            <a:ext cx="1920240" cy="658368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48840" y="341985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ご参加者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069080" y="3419856"/>
            <a:ext cx="44805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33672" y="3419856"/>
            <a:ext cx="4151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貴グループ首脳と、信頼する最高のゲストのみ(完全非公開)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148840" y="4078224"/>
            <a:ext cx="1920240" cy="658368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48840" y="4078224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位置づけ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069080" y="4078224"/>
            <a:ext cx="44805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33672" y="4078224"/>
            <a:ext cx="4151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共創の第一階梯 —— ここから、すべてが始まる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5239512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この価値を、ワインと同じように —— 静かに、深く、適切なグラスで —— 世界の富裕層に注いでほしい。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2026-08-03T11:27:49Z</dcterms:created>
  <dcterms:modified xsi:type="dcterms:W3CDTF">2026-08-03T11:27:49Z</dcterms:modified>
</cp:coreProperties>
</file>