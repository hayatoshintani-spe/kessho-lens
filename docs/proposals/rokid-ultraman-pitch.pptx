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kessho-lens/63555445-5e6f-583b-ab8a-87e352d31a90/scratchpad/art/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777240"/>
            <a:ext cx="5303520" cy="5303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" y="713232"/>
            <a:ext cx="91440" cy="91440"/>
          </a:xfrm>
          <a:prstGeom prst="ellipse">
            <a:avLst/>
          </a:prstGeom>
          <a:solidFill>
            <a:srgbClr val="2EA8E0"/>
          </a:solidFill>
          <a:ln/>
          <a:effectLst>
            <a:outerShdw sx="100000" sy="100000" kx="0" ky="0" algn="bl" rotWithShape="0" blurRad="101600" dist="50800" dir="16200000">
              <a:srgbClr val="2EA8E0">
                <a:alpha val="8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896112" y="58521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TSUBURAYA PRODUCTIONS  ×  ROKID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ULTRAMAN SERIES 60TH ANNIVERSARY PROJECT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1792" y="219456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視界に、</a:t>
            </a:r>
            <a:endParaRPr lang="en-US" sz="6000" dirty="0"/>
          </a:p>
          <a:p>
            <a:pPr indent="0" marL="0">
              <a:lnSpc>
                <a:spcPts val="7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ヒーローを。</a:t>
            </a:r>
            <a:endParaRPr lang="en-US" sz="6000" dirty="0"/>
          </a:p>
        </p:txBody>
      </p:sp>
      <p:pic>
        <p:nvPicPr>
          <p:cNvPr id="7" name="Image 1" descr="/tmp/claude-0/-home-user-kessho-lens/63555445-5e6f-583b-ab8a-87e352d31a90/scratchpad/art/b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26280"/>
            <a:ext cx="6583680" cy="9875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5440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ULTRAMAN × Rokid Glasses　共同プロモーションのご提案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8368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円谷プロダクション ライセンス事業部　·　2026.07　·　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0" y="32004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spc="600" kern="0" dirty="0">
                <a:solidFill>
                  <a:srgbClr val="181E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1967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676656" y="603504"/>
            <a:ext cx="91440" cy="91440"/>
          </a:xfrm>
          <a:prstGeom prst="ellipse">
            <a:avLst/>
          </a:prstGeom>
          <a:solidFill>
            <a:srgbClr val="2EA8E0"/>
          </a:solidFill>
          <a:ln/>
          <a:effectLst>
            <a:outerShdw sx="100000" sy="100000" kx="0" ky="0" algn="bl" rotWithShape="0" blurRad="101600" dist="50800" dir="16200000">
              <a:srgbClr val="2EA8E0">
                <a:alpha val="8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475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E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STORY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「グラスをかけて変身する」物語を、</a:t>
            </a:r>
            <a:endParaRPr lang="en-US" sz="25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60年前から持つIPは、世界にひとつ。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1967年、ウルトラセブンはメガネ型のデバイス「ウルトラアイ」を装着して変身しました。「グラスをかけると、世界が変わり、自分が変わる」——この物語を60年前から持っているのは、ウルトラマンだけです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これは単なるキャラクターコラボではありません。</a:t>
            </a:r>
            <a:pPr indent="0" marL="0">
              <a:lnSpc>
                <a:spcPts val="23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Rokid Glasses の装着体験そのものに「変身」という物語を与える</a:t>
            </a:r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ご提案です。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8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ウルトラアイ = ウルトラセブンの変身アイテム（1967年放送開始）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223760" y="1417320"/>
            <a:ext cx="4343400" cy="4892040"/>
          </a:xfrm>
          <a:prstGeom prst="roundRect">
            <a:avLst>
              <a:gd name="adj" fmla="val 2105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pic>
        <p:nvPicPr>
          <p:cNvPr id="10" name="Image 0" descr="/tmp/claude-0/-home-user-kessho-lens/63555445-5e6f-583b-ab8a-87e352d31a90/scratchpad/art/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08" y="1600200"/>
            <a:ext cx="1737360" cy="1737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0" y="3429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1967</a:t>
            </a:r>
            <a:pPr algn="ctr" indent="0" marL="0">
              <a:buNone/>
            </a:pPr>
            <a:r>
              <a:rPr lang="en-US" sz="13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ウルトラアイ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498080" y="37856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8080" y="4069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pPr algn="ctr" indent="0" marL="0">
              <a:buNone/>
            </a:pPr>
            <a:r>
              <a:rPr lang="en-US" sz="1300" dirty="0">
                <a:solidFill>
                  <a:srgbClr val="AE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Rokid Glasses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001000" y="4709160"/>
            <a:ext cx="2788920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8463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COPY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360920" y="512064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effectLst>
                  <a:glow rad="114300">
                    <a:srgbClr val="C8102E">
                      <a:alpha val="4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変身は、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effectLst>
                  <a:glow rad="114300">
                    <a:srgbClr val="C8102E">
                      <a:alpha val="4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現実になった。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274320"/>
            <a:ext cx="8321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spc="600" kern="0" dirty="0">
                <a:solidFill>
                  <a:srgbClr val="181E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ROKID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676656" y="603504"/>
            <a:ext cx="91440" cy="91440"/>
          </a:xfrm>
          <a:prstGeom prst="ellipse">
            <a:avLst/>
          </a:prstGeom>
          <a:solidFill>
            <a:srgbClr val="2EA8E0"/>
          </a:solidFill>
          <a:ln/>
          <a:effectLst>
            <a:outerShdw sx="100000" sy="100000" kx="0" ky="0" algn="bl" rotWithShape="0" blurRad="101600" dist="50800" dir="16200000">
              <a:srgbClr val="2EA8E0">
                <a:alpha val="8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475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E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WHERE ROKID STANDS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機能の戦いは、勝ちつつある。次は「物語」の戦い。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31536" cy="3520440"/>
          </a:xfrm>
          <a:prstGeom prst="roundRect">
            <a:avLst>
              <a:gd name="adj" fmla="val 2597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獲得済みのもの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517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Makuake 歴代応援購入額1位の話題性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327355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71600" y="3273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全国約75店舗 + 5都市ポップアップの販路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389534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71600" y="38953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翻訳・AIメモ・ARナビの機能的説得力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4517136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71600" y="451713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109,890円に見合うスペック（49g・両眼表示）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17336" y="1783080"/>
            <a:ext cx="5431536" cy="3520440"/>
          </a:xfrm>
          <a:prstGeom prst="roundRect">
            <a:avLst>
              <a:gd name="adj" fmla="val 2597"/>
            </a:avLst>
          </a:prstGeom>
          <a:solidFill>
            <a:srgbClr val="141926">
              <a:alpha val="86000"/>
            </a:srgbClr>
          </a:solidFill>
          <a:ln w="15875">
            <a:solidFill>
              <a:srgbClr val="5A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これからの課題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28816" y="26517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48856" y="2651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早期採用層の外側に届く「物語」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28816" y="327355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48856" y="3273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店頭で足を止めさせ、装着させる引力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28816" y="389534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48856" y="38953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「毎日かけたい」と思わせる情動的な理由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28816" y="4517136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48856" y="451713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年末商戦、競合スマートグラス攻勢前の差別化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次に必要なのは、かける理由の</a:t>
            </a:r>
            <a:pPr indent="0" marL="0">
              <a:buNone/>
            </a:pPr>
            <a:r>
              <a:rPr lang="en-US" sz="165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「物語化」</a:t>
            </a:r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。そこに最も構造的に噛み合うIPが、ウルトラマンです。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7432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spc="600" kern="0" dirty="0">
                <a:solidFill>
                  <a:srgbClr val="181E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676656" y="603504"/>
            <a:ext cx="91440" cy="91440"/>
          </a:xfrm>
          <a:prstGeom prst="ellipse">
            <a:avLst/>
          </a:prstGeom>
          <a:solidFill>
            <a:srgbClr val="2EA8E0"/>
          </a:solidFill>
          <a:ln/>
          <a:effectLst>
            <a:outerShdw sx="100000" sy="100000" kx="0" ky="0" algn="bl" rotWithShape="0" blurRad="101600" dist="50800" dir="16200000">
              <a:srgbClr val="2EA8E0">
                <a:alpha val="8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475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E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WHY ULTRAMAN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なぜ、ウルトラマンなのか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141926">
              <a:alpha val="86000"/>
            </a:srgbClr>
          </a:solidFill>
          <a:ln w="15875">
            <a:solidFill>
              <a:srgbClr val="5A2430"/>
            </a:solidFill>
            <a:prstDash val="solid"/>
          </a:ln>
          <a:effectLst>
            <a:outerShdw sx="100000" sy="100000" kx="0" ky="0" algn="bl" rotWithShape="0" blurRad="279400" dist="50800" dir="16200000">
              <a:srgbClr val="C8102E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2048256"/>
            <a:ext cx="859536" cy="859536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8" name="Image 0" descr="/tmp/claude-0/-home-user-kessho-lens/63555445-5e6f-583b-ab8a-87e352d31a90/scratchpad/icons/FaGlas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627" y="2280331"/>
            <a:ext cx="395387" cy="3953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1920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01｜</a:t>
            </a:r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「装着して変身する」物語を持つ、世界で唯一のIP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2148840" y="23774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ウルトラアイ（1967年〜）以来、アイウェアの装着は変身の起点。装着デモがそのまま広告になります——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「さあ、変身してください」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456432"/>
            <a:ext cx="5358384" cy="1444752"/>
          </a:xfrm>
          <a:prstGeom prst="roundRect">
            <a:avLst>
              <a:gd name="adj" fmla="val 6329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3730752"/>
            <a:ext cx="548640" cy="548640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13" name="Image 1" descr="/tmp/claude-0/-home-user-kessho-lens/63555445-5e6f-583b-ab8a-87e352d31a90/scratchpad/icons/Fa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3878885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611880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02｜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購買層とファン層の完全一致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645920" y="3986784"/>
            <a:ext cx="4123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ガジェット感度の高い30〜50代は、ウルトラマン直撃世代。親子3世代へ体験が波及します。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90488" y="3456432"/>
            <a:ext cx="5358384" cy="1444752"/>
          </a:xfrm>
          <a:prstGeom prst="roundRect">
            <a:avLst>
              <a:gd name="adj" fmla="val 6329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64808" y="3730752"/>
            <a:ext cx="548640" cy="548640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18" name="Image 2" descr="/tmp/claude-0/-home-user-kessho-lens/63555445-5e6f-583b-ab8a-87e352d31a90/scratchpad/icons/Fa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3878885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96328" y="3611880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03｜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全機能にIP文脈を与えられる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196328" y="3986784"/>
            <a:ext cx="4123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通知・撮影・ナビ・空間表示のすべてが感情体験に変わる。機能デモが物語のデモになります。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5065776"/>
            <a:ext cx="5358384" cy="1444752"/>
          </a:xfrm>
          <a:prstGeom prst="roundRect">
            <a:avLst>
              <a:gd name="adj" fmla="val 6329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4400" y="5340096"/>
            <a:ext cx="548640" cy="548640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23" name="Image 3" descr="/tmp/claude-0/-home-user-kessho-lens/63555445-5e6f-583b-ab8a-87e352d31a90/scratchpad/icons/FaGlobeAsi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3" y="5488229"/>
            <a:ext cx="252374" cy="25237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5221224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04｜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本国・中国での圧倒的地盤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645920" y="5596128"/>
            <a:ext cx="4123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ウルトラマンは中国で世代を超えた人気IP。日本コラボの成功が、グローバル展開の「第1話」に。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190488" y="5065776"/>
            <a:ext cx="5358384" cy="1444752"/>
          </a:xfrm>
          <a:prstGeom prst="roundRect">
            <a:avLst>
              <a:gd name="adj" fmla="val 6329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64808" y="5340096"/>
            <a:ext cx="548640" cy="548640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28" name="Image 4" descr="/tmp/claude-0/-home-user-kessho-lens/63555445-5e6f-583b-ab8a-87e352d31a90/scratchpad/icons/FaShieldA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941" y="5488229"/>
            <a:ext cx="252374" cy="25237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96328" y="5221224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05｜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円谷公式監修 + 3Dアセット供与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196328" y="5596128"/>
            <a:ext cx="4123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表現品質は円谷が公式監修で担保。「本物」であることが、ファンへの最大の品質保証です。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0" y="274320"/>
            <a:ext cx="7406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spc="600" kern="0" dirty="0">
                <a:solidFill>
                  <a:srgbClr val="181E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676656" y="603504"/>
            <a:ext cx="91440" cy="91440"/>
          </a:xfrm>
          <a:prstGeom prst="ellipse">
            <a:avLst/>
          </a:prstGeom>
          <a:solidFill>
            <a:srgbClr val="2EA8E0"/>
          </a:solidFill>
          <a:ln/>
          <a:effectLst>
            <a:outerShdw sx="100000" sy="100000" kx="0" ky="0" algn="bl" rotWithShape="0" blurRad="101600" dist="50800" dir="16200000">
              <a:srgbClr val="2EA8E0">
                <a:alpha val="8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475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E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PRODUCT × IP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機能デモが、そのまま感情体験になる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841248"/>
          </a:xfrm>
          <a:prstGeom prst="roundRect">
            <a:avLst>
              <a:gd name="adj" fmla="val 10870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38528"/>
            <a:ext cx="530352" cy="530352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8" name="Image 0" descr="/tmp/claude-0/-home-user-kessho-lens/63555445-5e6f-583b-ab8a-87e352d31a90/scratchpad/icons/Fa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95" y="2081723"/>
            <a:ext cx="243962" cy="2439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64208" y="178308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通知・ステータス表示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81728" y="178308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321808" y="178308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カラータイマー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366760" y="178308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残量・通知が、あの点滅と音でわかる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734056"/>
            <a:ext cx="10908792" cy="841248"/>
          </a:xfrm>
          <a:prstGeom prst="roundRect">
            <a:avLst>
              <a:gd name="adj" fmla="val 10870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2889504"/>
            <a:ext cx="530352" cy="530352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15" name="Image 1" descr="/tmp/claude-0/-home-user-kessho-lens/63555445-5e6f-583b-ab8a-87e352d31a90/scratchpad/icons/Fa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95" y="3032699"/>
            <a:ext cx="243962" cy="2439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64208" y="273405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12MPカメラ撮影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681728" y="273405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321808" y="273405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光線ポーズ撮影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8366760" y="273405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光線を合成してSNSへ（UGC装置）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" y="3685032"/>
            <a:ext cx="10908792" cy="841248"/>
          </a:xfrm>
          <a:prstGeom prst="roundRect">
            <a:avLst>
              <a:gd name="adj" fmla="val 10870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14400" y="3840480"/>
            <a:ext cx="530352" cy="530352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22" name="Image 2" descr="/tmp/claude-0/-home-user-kessho-lens/63555445-5e6f-583b-ab8a-87e352d31a90/scratchpad/icons/Fa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595" y="3983675"/>
            <a:ext cx="243962" cy="2439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64208" y="3685032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ARナビ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681728" y="368503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5321808" y="3685032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防衛隊HUDモード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8366760" y="3685032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毎日の移動がミッションになる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0080" y="4636008"/>
            <a:ext cx="10908792" cy="841248"/>
          </a:xfrm>
          <a:prstGeom prst="roundRect">
            <a:avLst>
              <a:gd name="adj" fmla="val 10870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14400" y="4791456"/>
            <a:ext cx="530352" cy="530352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29" name="Image 3" descr="/tmp/claude-0/-home-user-kessho-lens/63555445-5e6f-583b-ab8a-87e352d31a90/scratchpad/icons/FaExpandArrowsA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595" y="4934651"/>
            <a:ext cx="243962" cy="24396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64208" y="4636008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空間ディスプレイ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4681728" y="4636008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5321808" y="4636008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巨大ウルトラマン召喚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8366760" y="4636008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都市スケールの空間演出デモ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店頭で人を立ち止まらせるのは、「翻訳できます」より </a:t>
            </a:r>
            <a:pPr indent="0" marL="0">
              <a:buNone/>
            </a:pPr>
            <a:r>
              <a:rPr lang="en-US" sz="1850" b="1" dirty="0">
                <a:solidFill>
                  <a:srgbClr val="E8354F"/>
                </a:solidFill>
                <a:effectLst>
                  <a:glow rad="114300">
                    <a:srgbClr val="C8102E">
                      <a:alpha val="4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「変身できます」。</a:t>
            </a:r>
            <a:endParaRPr lang="en-US" sz="1850" dirty="0"/>
          </a:p>
        </p:txBody>
      </p:sp>
      <p:sp>
        <p:nvSpPr>
          <p:cNvPr id="35" name="Text 29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0" y="274320"/>
            <a:ext cx="7406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spc="600" kern="0" dirty="0">
                <a:solidFill>
                  <a:srgbClr val="181E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676656" y="603504"/>
            <a:ext cx="91440" cy="91440"/>
          </a:xfrm>
          <a:prstGeom prst="ellipse">
            <a:avLst/>
          </a:prstGeom>
          <a:solidFill>
            <a:srgbClr val="2EA8E0"/>
          </a:solidFill>
          <a:ln/>
          <a:effectLst>
            <a:outerShdw sx="100000" sy="100000" kx="0" ky="0" algn="bl" rotWithShape="0" blurRad="101600" dist="50800" dir="16200000">
              <a:srgbClr val="2EA8E0">
                <a:alpha val="8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475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E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WHY NOW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なぜ、今なのか — 2026年にしかない3つの理由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11296" cy="3977640"/>
          </a:xfrm>
          <a:prstGeom prst="roundRect">
            <a:avLst>
              <a:gd name="adj" fmla="val 2604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86000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354F"/>
                </a:solidFill>
                <a:effectLst>
                  <a:glow rad="114300">
                    <a:srgbClr val="C8102E">
                      <a:alpha val="45000"/>
                    </a:srgbClr>
                  </a:glow>
                </a:effectLs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60th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シリーズ60周年イヤー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2907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60周年プロジェクトが進行中。新シリーズ『ウルトラマンティオ』放送中、60周年展が全国巡回中。露出と熱量が60年間で最大の年。公式文脈に入れる枠は、今年だけ。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4256" y="1965960"/>
            <a:ext cx="3511296" cy="3977640"/>
          </a:xfrm>
          <a:prstGeom prst="roundRect">
            <a:avLst>
              <a:gd name="adj" fmla="val 2604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286000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354F"/>
                </a:solidFill>
                <a:effectLst>
                  <a:glow rad="114300">
                    <a:srgbClr val="C8102E">
                      <a:alpha val="45000"/>
                    </a:srgbClr>
                  </a:glow>
                </a:effectLs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7.10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54296" y="329184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運命の発売日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54296" y="3794760"/>
            <a:ext cx="2907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Rokid Glasses の日本発売日は「ウルトラマンの日」と同日。この偶然を必然に変え、毎年7月10日を「変身の日」として更新し続ける記念日設計ができる。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28432" y="1965960"/>
            <a:ext cx="3511296" cy="3977640"/>
          </a:xfrm>
          <a:prstGeom prst="roundRect">
            <a:avLst>
              <a:gd name="adj" fmla="val 2604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286000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354F"/>
                </a:solidFill>
                <a:effectLst>
                  <a:glow rad="114300">
                    <a:srgbClr val="C8102E">
                      <a:alpha val="45000"/>
                    </a:srgbClr>
                  </a:glow>
                </a:effectLs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1st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348472" y="329184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最初のIP体験の定義権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48472" y="3794760"/>
            <a:ext cx="2907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ARグラスは機能訴求から体験訴求へ移る直前。カテゴリ最初の代表的IP体験を作ったブランドが、以後数年の連想を独占する。年末商戦前が最後の窓。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0" y="274320"/>
            <a:ext cx="7406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spc="600" kern="0" dirty="0">
                <a:solidFill>
                  <a:srgbClr val="181E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676656" y="603504"/>
            <a:ext cx="91440" cy="91440"/>
          </a:xfrm>
          <a:prstGeom prst="ellipse">
            <a:avLst/>
          </a:prstGeom>
          <a:solidFill>
            <a:srgbClr val="2EA8E0"/>
          </a:solidFill>
          <a:ln/>
          <a:effectLst>
            <a:outerShdw sx="100000" sy="100000" kx="0" ky="0" algn="bl" rotWithShape="0" blurRad="101600" dist="50800" dir="16200000">
              <a:srgbClr val="2EA8E0">
                <a:alpha val="8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475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E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PROPOSAL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 — 2つのプラン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4389120"/>
          </a:xfrm>
          <a:prstGeom prst="roundRect">
            <a:avLst>
              <a:gd name="adj" fmla="val 2083"/>
            </a:avLst>
          </a:prstGeom>
          <a:solidFill>
            <a:srgbClr val="141926">
              <a:alpha val="86000"/>
            </a:srgbClr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975104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8" name="Image 0" descr="/tmp/claude-0/-home-user-kessho-lens/63555445-5e6f-583b-ab8a-87e352d31a90/scratchpad/icons/Fa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335" y="2128175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9751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</a:t>
            </a:r>
            <a:pPr indent="0" marL="0">
              <a:buNone/>
            </a:pPr>
            <a:r>
              <a:rPr lang="en-US" sz="1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SPARK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pPr indent="0" marL="0">
              <a:buNone/>
            </a:pPr>
            <a:r>
              <a:rPr lang="en-US" sz="1500" b="1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</a:t>
            </a:r>
            <a:pPr indent="0" marL="0">
              <a:buNone/>
            </a:pPr>
            <a:r>
              <a:rPr lang="en-US" sz="1000" dirty="0">
                <a:solidFill>
                  <a:srgbClr val="788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（税別）</a:t>
            </a:r>
            <a:endParaRPr lang="en-US" sz="3500" dirty="0"/>
          </a:p>
        </p:txBody>
      </p:sp>
      <p:sp>
        <p:nvSpPr>
          <p:cNvPr id="11" name="Text 8"/>
          <p:cNvSpPr/>
          <p:nvPr/>
        </p:nvSpPr>
        <p:spPr>
          <a:xfrm>
            <a:off x="969264" y="3383280"/>
            <a:ext cx="4709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AR体験パック「ULTRAMAN MODE」開発・供与（光線撮影／カラータイマー通知／防衛隊ナビ）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5都市ポップアップに「変身体験」コーナー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7月10日「ウルトラマンの日」共同PR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円谷公式監修 + 3Dアセット供与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許諾範囲: プロモ + デジタル／日本国内12ヶ月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150876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141926">
              <a:alpha val="86000"/>
            </a:srgbClr>
          </a:solidFill>
          <a:ln w="19050">
            <a:solidFill>
              <a:srgbClr val="C8102E"/>
            </a:solidFill>
            <a:prstDash val="solid"/>
          </a:ln>
          <a:effectLst>
            <a:outerShdw sx="100000" sy="100000" kx="0" ky="0" algn="bl" rotWithShape="0" blurRad="279400" dist="50800" dir="16200000">
              <a:srgbClr val="C8102E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442448" y="1700784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14" name="Text 11"/>
          <p:cNvSpPr/>
          <p:nvPr/>
        </p:nvSpPr>
        <p:spPr>
          <a:xfrm>
            <a:off x="10442448" y="17007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28816" y="2157984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16" name="Image 1" descr="/tmp/claude-0/-home-user-kessho-lens/63555445-5e6f-583b-ab8a-87e352d31a90/scratchpad/icons/FaG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887" y="2311055"/>
            <a:ext cx="260787" cy="2607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51192" y="215798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U</a:t>
            </a:r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ULTRAMAN EDITION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528816" y="28529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8354F"/>
                </a:solidFill>
                <a:effectLst>
                  <a:glow rad="114300">
                    <a:srgbClr val="C8102E">
                      <a:alpha val="45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8,000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</a:t>
            </a:r>
            <a:pPr indent="0" marL="0">
              <a:buNone/>
            </a:pPr>
            <a:r>
              <a:rPr lang="en-US" sz="10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（税別）</a:t>
            </a:r>
            <a:endParaRPr lang="en-US" sz="3500" dirty="0"/>
          </a:p>
        </p:txBody>
      </p:sp>
      <p:sp>
        <p:nvSpPr>
          <p:cNvPr id="19" name="Text 15"/>
          <p:cNvSpPr/>
          <p:nvPr/>
        </p:nvSpPr>
        <p:spPr>
          <a:xfrm>
            <a:off x="6528816" y="35204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 S のすべて、に加えて——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限定モデル「ULTRAMAN EDITION」3,000台（カラータイマー型ケース・変身音・シリアルNo.・60周年ロゴ）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「ウルトラマンシリーズ60周年展」体験ブース出展枠 ※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TVCM・店頭販促物へのキャラクター使用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『ウルトラマンティオ』放送連動タイアップ ※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中国・北米・欧州 Rokid 販路の優先交渉権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40080" y="630936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788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60周年イベント・番組連動の実施形態は円谷社内の企画枠調整を経て確定。ハード製造原価・アプリ実装費は Rokid 様負担、売上ロイヤリティ設計は別途協議（MG充当方式も可）。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2743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0" b="1" spc="600" kern="0" dirty="0">
                <a:solidFill>
                  <a:srgbClr val="181E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676656" y="603504"/>
            <a:ext cx="91440" cy="91440"/>
          </a:xfrm>
          <a:prstGeom prst="ellipse">
            <a:avLst/>
          </a:prstGeom>
          <a:solidFill>
            <a:srgbClr val="2EA8E0"/>
          </a:solidFill>
          <a:ln/>
          <a:effectLst>
            <a:outerShdw sx="100000" sy="100000" kx="0" ky="0" algn="bl" rotWithShape="0" blurRad="101600" dist="50800" dir="16200000">
              <a:srgbClr val="2EA8E0">
                <a:alpha val="8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475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E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IMPACT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期待効果（初年度目安）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700784" y="2148840"/>
            <a:ext cx="603504" cy="603504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7" name="Image 0" descr="/tmp/claude-0/-home-user-kessho-lens/63555445-5e6f-583b-ab8a-87e352d31a90/scratchpad/icons/FaSt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730" y="2311786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7180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10万</a:t>
            </a:r>
            <a:pPr algn="ctr" indent="0" marL="0">
              <a:buNone/>
            </a:pPr>
            <a:r>
              <a:rPr lang="en-US" sz="170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人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店頭・イベントでの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装着体験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64992" y="2148840"/>
            <a:ext cx="0" cy="265176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25696" y="2148840"/>
            <a:ext cx="603504" cy="603504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12" name="Image 1" descr="/tmp/claude-0/-home-user-kessho-lens/63555445-5e6f-583b-ab8a-87e352d31a90/scratchpad/icons/FaHash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642" y="2311786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297180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1万</a:t>
            </a:r>
            <a:pPr algn="ctr" indent="0" marL="0">
              <a:buNone/>
            </a:pPr>
            <a:r>
              <a:rPr lang="en-US" sz="170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件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3547872" y="379476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光線撮影UGC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（SNS投稿）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89904" y="2148840"/>
            <a:ext cx="0" cy="265176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50608" y="2148840"/>
            <a:ext cx="603504" cy="603504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17" name="Image 2" descr="/tmp/claude-0/-home-user-kessho-lens/63555445-5e6f-583b-ab8a-87e352d31a90/scratchpad/icons/FaYenSig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554" y="2311786"/>
            <a:ext cx="277612" cy="2776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81344" y="297180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3.3億</a:t>
            </a:r>
            <a:pPr algn="ctr" indent="0" marL="0">
              <a:buNone/>
            </a:pPr>
            <a:r>
              <a:rPr lang="en-US" sz="170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円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6272784" y="379476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限定モデル小売規模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（3,000台完売時）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814816" y="2148840"/>
            <a:ext cx="0" cy="265176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875520" y="2148840"/>
            <a:ext cx="603504" cy="603504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50000"/>
              </a:srgbClr>
            </a:outerShdw>
          </a:effectLst>
        </p:spPr>
      </p:sp>
      <p:pic>
        <p:nvPicPr>
          <p:cNvPr id="22" name="Image 3" descr="/tmp/claude-0/-home-user-kessho-lens/63555445-5e6f-583b-ab8a-87e352d31a90/scratchpad/icons/FaBullho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8466" y="2311786"/>
            <a:ext cx="277612" cy="2776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06256" y="297180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5億</a:t>
            </a:r>
            <a:pPr algn="ctr" indent="0" marL="0">
              <a:buNone/>
            </a:pPr>
            <a:r>
              <a:rPr lang="en-US" sz="170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円+</a:t>
            </a:r>
            <a:endParaRPr lang="en-US" sz="3800" dirty="0"/>
          </a:p>
        </p:txBody>
      </p:sp>
      <p:sp>
        <p:nvSpPr>
          <p:cNvPr id="24" name="Text 18"/>
          <p:cNvSpPr/>
          <p:nvPr/>
        </p:nvSpPr>
        <p:spPr>
          <a:xfrm>
            <a:off x="8997696" y="379476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メディア露出換算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（Plan U 実施時）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5212080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0080" y="5440680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収益は入口にすぎません。本質的な価値は、</a:t>
            </a:r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「ARグラスの最初のIP体験」という歴史的ポジション</a:t>
            </a:r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を両社で独占することです。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2743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spc="600" kern="0" dirty="0">
                <a:solidFill>
                  <a:srgbClr val="181E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76656" y="603504"/>
            <a:ext cx="91440" cy="91440"/>
          </a:xfrm>
          <a:prstGeom prst="ellipse">
            <a:avLst/>
          </a:prstGeom>
          <a:solidFill>
            <a:srgbClr val="2EA8E0"/>
          </a:solidFill>
          <a:ln/>
          <a:effectLst>
            <a:outerShdw sx="100000" sy="100000" kx="0" ky="0" algn="bl" rotWithShape="0" blurRad="101600" dist="50800" dir="16200000">
              <a:srgbClr val="2EA8E0">
                <a:alpha val="8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4754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E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TIMELINE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年末商戦から、逆算する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3547872"/>
            <a:ext cx="9966960" cy="0"/>
          </a:xfrm>
          <a:prstGeom prst="line">
            <a:avLst/>
          </a:prstGeom>
          <a:noFill/>
          <a:ln w="19050">
            <a:solidFill>
              <a:srgbClr val="3A42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3429000"/>
            <a:ext cx="237744" cy="237744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8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2624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2026.8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288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基本合意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" y="38679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企画確定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3429000"/>
            <a:ext cx="237744" cy="237744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8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76272" y="2624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2026.9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76272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契約締結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130552" y="38679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監修開始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19472" y="3429000"/>
            <a:ext cx="237744" cy="237744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8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69664" y="2624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69664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開発・製造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23944" y="38679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ULTRAMAN MODE /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限定モデル着手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12864" y="3429000"/>
            <a:ext cx="237744" cy="237744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8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63056" y="2624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2026.11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63056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17336" y="38679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年末商戦 ×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60周年の頂点で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06256" y="3429000"/>
            <a:ext cx="237744" cy="237744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152400" dist="50800" dir="16200000">
              <a:srgbClr val="C8102E">
                <a:alpha val="8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56448" y="2624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56448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発売・配信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110728" y="38679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限定モデル /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体験パック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899648" y="3429000"/>
            <a:ext cx="237744" cy="237744"/>
          </a:xfrm>
          <a:prstGeom prst="ellipse">
            <a:avLst/>
          </a:prstGeom>
          <a:solidFill>
            <a:srgbClr val="2EA8E0"/>
          </a:solidFill>
          <a:ln/>
          <a:effectLst>
            <a:outerShdw sx="100000" sy="100000" kx="0" ky="0" algn="bl" rotWithShape="0" blurRad="152400" dist="50800" dir="16200000">
              <a:srgbClr val="2EA8E0">
                <a:alpha val="8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149840" y="2624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2027.7.10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14984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「変身の日」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104120" y="38679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1周年施策 →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継続契約へ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41926">
              <a:alpha val="86000"/>
            </a:srgbClr>
          </a:solidFill>
          <a:ln w="15875">
            <a:solidFill>
              <a:srgbClr val="5A2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257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83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11月発表に間に合わせるには、8月中の基本合意が必要です。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7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意匠変更をカラー・テンプル・充電ケース・起動音に限定することで、この日程は実現可能です。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8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kessho-lens/63555445-5e6f-583b-ab8a-87e352d31a90/scratchpad/art/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-219456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" y="713232"/>
            <a:ext cx="91440" cy="91440"/>
          </a:xfrm>
          <a:prstGeom prst="ellipse">
            <a:avLst/>
          </a:prstGeom>
          <a:solidFill>
            <a:srgbClr val="2EA8E0"/>
          </a:solidFill>
          <a:ln/>
          <a:effectLst>
            <a:outerShdw sx="100000" sy="100000" kx="0" ky="0" algn="bl" rotWithShape="0" blurRad="101600" dist="50800" dir="16200000">
              <a:srgbClr val="2EA8E0">
                <a:alpha val="8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896112" y="5852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ウルトラアイを装着したかった少年たちは、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いま、購買決定者になった。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3931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E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7月10日生まれ同士、</a:t>
            </a:r>
            <a:pPr indent="0" marL="0">
              <a:buNone/>
            </a:pPr>
            <a:r>
              <a:rPr lang="en-US" sz="2200" b="1" dirty="0">
                <a:solidFill>
                  <a:srgbClr val="E8354F"/>
                </a:solidFill>
                <a:effectLst>
                  <a:glow rad="114300">
                    <a:srgbClr val="C8102E">
                      <a:alpha val="4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一緒に歴史を作りましょう。</a:t>
            </a:r>
            <a:endParaRPr lang="en-US" sz="2200" dirty="0"/>
          </a:p>
        </p:txBody>
      </p:sp>
      <p:pic>
        <p:nvPicPr>
          <p:cNvPr id="7" name="Image 1" descr="/tmp/claude-0/-home-user-kessho-lens/63555445-5e6f-583b-ab8a-87e352d31a90/scratchpad/art/b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663440"/>
            <a:ext cx="6583680" cy="9875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806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88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円谷プロダクション ライセンス事業部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88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本提案の有効期限: 2026年8月31日（年末商戦・60周年展の日程逆算のため）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2026-07-24T00:02:07Z</dcterms:created>
  <dcterms:modified xsi:type="dcterms:W3CDTF">2026-07-24T00:02:07Z</dcterms:modified>
</cp:coreProperties>
</file>