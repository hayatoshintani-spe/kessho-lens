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06640" y="1051560"/>
            <a:ext cx="4754880" cy="4754880"/>
          </a:xfrm>
          <a:prstGeom prst="ellipse">
            <a:avLst/>
          </a:prstGeom>
          <a:ln w="19050">
            <a:solidFill>
              <a:srgbClr val="262C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92440" y="1737360"/>
            <a:ext cx="3383280" cy="3383280"/>
          </a:xfrm>
          <a:prstGeom prst="ellipse">
            <a:avLst/>
          </a:prstGeom>
          <a:ln w="19050">
            <a:solidFill>
              <a:srgbClr val="3941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2423160"/>
            <a:ext cx="2011680" cy="2011680"/>
          </a:xfrm>
          <a:prstGeom prst="ellipse">
            <a:avLst/>
          </a:prstGeom>
          <a:ln w="31750">
            <a:solidFill>
              <a:srgbClr val="C810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3246120"/>
            <a:ext cx="365760" cy="365760"/>
          </a:xfrm>
          <a:prstGeom prst="ellipse">
            <a:avLst/>
          </a:prstGeom>
          <a:solidFill>
            <a:srgbClr val="2EA8E0"/>
          </a:solidFill>
          <a:ln/>
          <a:effectLst>
            <a:outerShdw sx="100000" sy="100000" kx="0" ky="0" algn="bl" rotWithShape="0" blurRad="177800" dist="50800" dir="16200000">
              <a:srgbClr val="2EA8E0">
                <a:alpha val="9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658368"/>
            <a:ext cx="109728" cy="109728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7" name="Text 5"/>
          <p:cNvSpPr/>
          <p:nvPr/>
        </p:nvSpPr>
        <p:spPr>
          <a:xfrm>
            <a:off x="886968" y="5303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ULTRAMAN SERIES 60TH ANNIVERSARY  ×  ROKID GLASSES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1792" y="224028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視界に、ヒーローを。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ULTRAMAN × Rokid Glasses</a:t>
            </a:r>
            <a:pPr indent="0" marL="0">
              <a:buNone/>
            </a:pPr>
            <a:r>
              <a:rPr lang="en-US" sz="190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共同プロモーションのご提案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172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2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円谷プロダクション ライセンス事業部　｜　2026年7月　｜　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5216"/>
            <a:ext cx="100584" cy="100584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「グラスをかけて変身する」物語を、60年前から。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5989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1967年、ウルトラセブンはメガネ型のデバイス「ウルトラアイ」を装着して変身しました。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5989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「グラスをかけると、世界が変わり、自分が変わる」——この物語を60年前から持っているIPは、世界でウルトラマンだけです。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5989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これは単なるキャラクターコラボではありません。Rokid Glasses の装着体験そのものに、「変身」という物語を与えるご提案です。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5806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ウルトラアイ = ウルトラセブンの変身アイテム（1967年放送開始）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995160" y="1508760"/>
            <a:ext cx="4553712" cy="4709160"/>
          </a:xfrm>
          <a:prstGeom prst="roundRect">
            <a:avLst>
              <a:gd name="adj" fmla="val 2410"/>
            </a:avLst>
          </a:prstGeom>
          <a:solidFill>
            <a:srgbClr val="111318"/>
          </a:solidFill>
          <a:ln/>
        </p:spPr>
      </p:sp>
      <p:sp>
        <p:nvSpPr>
          <p:cNvPr id="10" name="Shape 8"/>
          <p:cNvSpPr/>
          <p:nvPr/>
        </p:nvSpPr>
        <p:spPr>
          <a:xfrm>
            <a:off x="8723376" y="1874520"/>
            <a:ext cx="1097280" cy="10972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0" descr="/tmp/claude-0/-home-user-kessho-lens/63555445-5e6f-583b-ab8a-87e352d31a90/scratchpad/icons/FaG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2" y="2170786"/>
            <a:ext cx="504749" cy="504749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69480" y="3200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1967</a:t>
            </a:r>
            <a:pPr algn="ctr" indent="0" marL="0">
              <a:buNone/>
            </a:pPr>
            <a:r>
              <a:rPr lang="en-US" sz="140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ウルトラアイ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69480" y="35844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269480" y="39227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pPr algn="ctr" indent="0" marL="0">
              <a:buNone/>
            </a:pPr>
            <a:r>
              <a:rPr lang="en-US" sz="140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Rokid Glasses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818120" y="4617720"/>
            <a:ext cx="2926080" cy="0"/>
          </a:xfrm>
          <a:prstGeom prst="line">
            <a:avLst/>
          </a:prstGeom>
          <a:noFill/>
          <a:ln w="12700">
            <a:solidFill>
              <a:srgbClr val="3A42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69480" y="4754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想定キーコピー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132320" y="50292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「変身は、現実になった。」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1147572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5216"/>
            <a:ext cx="100584" cy="100584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WHERE ROKID STANDS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Rokid の現在地 — 機能の戦いは、勝ちつつある。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431536" cy="3611880"/>
          </a:xfrm>
          <a:prstGeom prst="roundRect">
            <a:avLst>
              <a:gd name="adj" fmla="val 2532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65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獲得済みのもの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5420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2542032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Makuake 歴代応援購入額1位の話題性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320954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3209544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全国約75店舗 + 5都市ポップアップの販路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3877056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25880" y="387705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翻訳・AIメモ・ARナビの機能的説得力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54456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25880" y="4544568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109,890円に見合うスペック（49g・両眼表示）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17336" y="1691640"/>
            <a:ext cx="5431536" cy="3611880"/>
          </a:xfrm>
          <a:prstGeom prst="roundRect">
            <a:avLst>
              <a:gd name="adj" fmla="val 2532"/>
            </a:avLst>
          </a:prstGeom>
          <a:solidFill>
            <a:srgbClr val="FBECEE"/>
          </a:solidFill>
          <a:ln/>
        </p:spPr>
      </p:sp>
      <p:sp>
        <p:nvSpPr>
          <p:cNvPr id="16" name="Text 14"/>
          <p:cNvSpPr/>
          <p:nvPr/>
        </p:nvSpPr>
        <p:spPr>
          <a:xfrm>
            <a:off x="6483096" y="1965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0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これからの課題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83096" y="25420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03136" y="2542032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早期採用層の外側に届く「物語」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83096" y="3209544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03136" y="3209544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店頭で足を止めさせ、装着させる引力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83096" y="3877056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03136" y="387705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「毎日かけたい」と思わせる情動的な理由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83096" y="454456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03136" y="4544568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年末商戦、競合スマートグラス攻勢前の差別化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6235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次に必要なのは、</a:t>
            </a:r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かける理由の「物語化」</a:t>
            </a:r>
            <a:pPr indent="0" marL="0">
              <a:buNone/>
            </a:pPr>
            <a:r>
              <a:rPr lang="en-US" sz="17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。そこに最も構造的に噛み合うIPが、ウルトラマンです。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47572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5216"/>
            <a:ext cx="100584" cy="100584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WHY ULTRAMAN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なぜ、ウルトラマンなのか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10908792" cy="1572768"/>
          </a:xfrm>
          <a:prstGeom prst="roundRect">
            <a:avLst>
              <a:gd name="adj" fmla="val 5814"/>
            </a:avLst>
          </a:prstGeom>
          <a:solidFill>
            <a:srgbClr val="111318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1975104"/>
            <a:ext cx="914400" cy="9144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7" name="Image 0" descr="/tmp/claude-0/-home-user-kessho-lens/63555445-5e6f-583b-ab8a-87e352d31a90/scratchpad/icons/FaG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221992"/>
            <a:ext cx="420624" cy="4206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148840" y="184708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理由 1｜「装着して変身する」物語を持つ、世界で唯一のIP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2148840" y="230428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ウルトラアイ（1967年〜）以来、アイウェアの装着は変身の起点。装着デモがそのまま広告になります——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「さあ、変身してください」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3401568"/>
            <a:ext cx="5358384" cy="1481328"/>
          </a:xfrm>
          <a:prstGeom prst="roundRect">
            <a:avLst>
              <a:gd name="adj" fmla="val 5556"/>
            </a:avLst>
          </a:prstGeom>
          <a:solidFill>
            <a:srgbClr val="F4F5F7"/>
          </a:solidFill>
          <a:ln/>
        </p:spPr>
      </p:sp>
      <p:sp>
        <p:nvSpPr>
          <p:cNvPr id="11" name="Shape 8"/>
          <p:cNvSpPr/>
          <p:nvPr/>
        </p:nvSpPr>
        <p:spPr>
          <a:xfrm>
            <a:off x="896112" y="3657600"/>
            <a:ext cx="566928" cy="566928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/tmp/claude-0/-home-user-kessho-lens/63555445-5e6f-583b-ab8a-87e352d31a90/scratchpad/icons/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183" y="3810671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45920" y="356616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理由 2｜購買層とファン層の完全一致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645920" y="3950208"/>
            <a:ext cx="4123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中核購買層のガジェット感度が高い30〜50代は、ウルトラマン直撃世代。親子3世代へ体験が波及します。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90488" y="3401568"/>
            <a:ext cx="5358384" cy="1481328"/>
          </a:xfrm>
          <a:prstGeom prst="roundRect">
            <a:avLst>
              <a:gd name="adj" fmla="val 5556"/>
            </a:avLst>
          </a:prstGeom>
          <a:solidFill>
            <a:srgbClr val="F4F5F7"/>
          </a:solidFill>
          <a:ln/>
        </p:spPr>
      </p:sp>
      <p:sp>
        <p:nvSpPr>
          <p:cNvPr id="16" name="Shape 12"/>
          <p:cNvSpPr/>
          <p:nvPr/>
        </p:nvSpPr>
        <p:spPr>
          <a:xfrm>
            <a:off x="6446520" y="3657600"/>
            <a:ext cx="566928" cy="566928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/tmp/claude-0/-home-user-kessho-lens/63555445-5e6f-583b-ab8a-87e352d31a90/scratchpad/icons/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591" y="3810671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196328" y="356616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理由 3｜全機能にIP文脈を与えられる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7196328" y="3950208"/>
            <a:ext cx="4123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通知・撮影・ナビ・空間表示のすべてが感情体験に変わる。機能デモが、そのまま物語のデモになります。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40080" y="5047488"/>
            <a:ext cx="5358384" cy="1481328"/>
          </a:xfrm>
          <a:prstGeom prst="roundRect">
            <a:avLst>
              <a:gd name="adj" fmla="val 5556"/>
            </a:avLst>
          </a:prstGeom>
          <a:solidFill>
            <a:srgbClr val="F4F5F7"/>
          </a:solidFill>
          <a:ln/>
        </p:spPr>
      </p:sp>
      <p:sp>
        <p:nvSpPr>
          <p:cNvPr id="21" name="Shape 16"/>
          <p:cNvSpPr/>
          <p:nvPr/>
        </p:nvSpPr>
        <p:spPr>
          <a:xfrm>
            <a:off x="896112" y="5303520"/>
            <a:ext cx="566928" cy="566928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2" name="Image 3" descr="/tmp/claude-0/-home-user-kessho-lens/63555445-5e6f-583b-ab8a-87e352d31a90/scratchpad/icons/FaGlobeAsi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183" y="5456591"/>
            <a:ext cx="260787" cy="26078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45920" y="521208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理由 4｜本国・中国での圧倒的地盤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645920" y="5596128"/>
            <a:ext cx="4123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ウルトラマンは中国で世代を超えた人気IP。日本コラボの成功が、グローバル展開の「第1話」になります。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190488" y="5047488"/>
            <a:ext cx="5358384" cy="1481328"/>
          </a:xfrm>
          <a:prstGeom prst="roundRect">
            <a:avLst>
              <a:gd name="adj" fmla="val 5556"/>
            </a:avLst>
          </a:prstGeom>
          <a:solidFill>
            <a:srgbClr val="F4F5F7"/>
          </a:solidFill>
          <a:ln/>
        </p:spPr>
      </p:sp>
      <p:sp>
        <p:nvSpPr>
          <p:cNvPr id="26" name="Shape 20"/>
          <p:cNvSpPr/>
          <p:nvPr/>
        </p:nvSpPr>
        <p:spPr>
          <a:xfrm>
            <a:off x="6446520" y="5303520"/>
            <a:ext cx="566928" cy="566928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7" name="Image 4" descr="/tmp/claude-0/-home-user-kessho-lens/63555445-5e6f-583b-ab8a-87e352d31a90/scratchpad/icons/FaShieldAl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591" y="5456591"/>
            <a:ext cx="260787" cy="26078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96328" y="521208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理由 5｜円谷公式監修 + 3Dアセット供与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196328" y="5596128"/>
            <a:ext cx="4123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表現品質は円谷が公式監修で担保。「本物のウルトラマン」であることが、ファンへの最大の品質保証です。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1147572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5216"/>
            <a:ext cx="100584" cy="100584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PRODUCT × IP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機能デモが、そのまま感情体験になる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F4F5F7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92808"/>
            <a:ext cx="548640" cy="54864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7" name="Image 0" descr="/tmp/claude-0/-home-user-kessho-lens/63555445-5e6f-583b-ab8a-87e352d31a90/scratchpad/icons/FaB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2040941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7373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通知・ステータス表示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09160" y="173736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349240" y="17373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カラータイマー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229600" y="17373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残量・通知が、あの点滅と音でわかる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2715768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FAFBFC"/>
          </a:solidFill>
          <a:ln/>
        </p:spPr>
      </p:sp>
      <p:sp>
        <p:nvSpPr>
          <p:cNvPr id="13" name="Shape 10"/>
          <p:cNvSpPr/>
          <p:nvPr/>
        </p:nvSpPr>
        <p:spPr>
          <a:xfrm>
            <a:off x="896112" y="2871216"/>
            <a:ext cx="548640" cy="54864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4" name="Image 1" descr="/tmp/claude-0/-home-user-kessho-lens/63555445-5e6f-583b-ab8a-87e352d31a90/scratchpad/icons/FaCame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5" y="3019349"/>
            <a:ext cx="252374" cy="25237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45920" y="271576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12MPカメラ撮影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09160" y="2715768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349240" y="271576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光線ポーズ撮影</a:t>
            </a:r>
            <a:endParaRPr lang="en-US" sz="1550" dirty="0"/>
          </a:p>
        </p:txBody>
      </p:sp>
      <p:sp>
        <p:nvSpPr>
          <p:cNvPr id="18" name="Text 14"/>
          <p:cNvSpPr/>
          <p:nvPr/>
        </p:nvSpPr>
        <p:spPr>
          <a:xfrm>
            <a:off x="8229600" y="27157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スペシウム光線を合成し、SNS共有へ（UGC装置）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40080" y="3694176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F4F5F7"/>
          </a:solidFill>
          <a:ln/>
        </p:spPr>
      </p:sp>
      <p:sp>
        <p:nvSpPr>
          <p:cNvPr id="20" name="Shape 16"/>
          <p:cNvSpPr/>
          <p:nvPr/>
        </p:nvSpPr>
        <p:spPr>
          <a:xfrm>
            <a:off x="896112" y="3849624"/>
            <a:ext cx="548640" cy="54864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1" name="Image 2" descr="/tmp/claude-0/-home-user-kessho-lens/63555445-5e6f-583b-ab8a-87e352d31a90/scratchpad/icons/FaRou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245" y="3997757"/>
            <a:ext cx="252374" cy="25237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45920" y="3694176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ARナビ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4709160" y="3694176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349240" y="369417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防衛隊HUDモード</a:t>
            </a:r>
            <a:endParaRPr lang="en-US" sz="1550" dirty="0"/>
          </a:p>
        </p:txBody>
      </p:sp>
      <p:sp>
        <p:nvSpPr>
          <p:cNvPr id="25" name="Text 20"/>
          <p:cNvSpPr/>
          <p:nvPr/>
        </p:nvSpPr>
        <p:spPr>
          <a:xfrm>
            <a:off x="8229600" y="3694176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科特隊風UIスキンで毎日の移動がミッションに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40080" y="4672584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FAFBFC"/>
          </a:solidFill>
          <a:ln/>
        </p:spPr>
      </p:sp>
      <p:sp>
        <p:nvSpPr>
          <p:cNvPr id="27" name="Shape 22"/>
          <p:cNvSpPr/>
          <p:nvPr/>
        </p:nvSpPr>
        <p:spPr>
          <a:xfrm>
            <a:off x="896112" y="4828032"/>
            <a:ext cx="548640" cy="54864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8" name="Image 3" descr="/tmp/claude-0/-home-user-kessho-lens/63555445-5e6f-583b-ab8a-87e352d31a90/scratchpad/icons/FaExpandArrows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245" y="4976165"/>
            <a:ext cx="252374" cy="25237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645920" y="4672584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空間ディスプレイ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4709160" y="4672584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5349240" y="467258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巨大ウルトラマン召喚</a:t>
            </a:r>
            <a:endParaRPr lang="en-US" sz="1550" dirty="0"/>
          </a:p>
        </p:txBody>
      </p:sp>
      <p:sp>
        <p:nvSpPr>
          <p:cNvPr id="32" name="Text 26"/>
          <p:cNvSpPr/>
          <p:nvPr/>
        </p:nvSpPr>
        <p:spPr>
          <a:xfrm>
            <a:off x="8229600" y="4672584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都市スケールの空間演出（イベント・店頭デモ）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店頭で人を立ち止まらせるのは、「翻訳できます」より </a:t>
            </a:r>
            <a:pPr indent="0" marL="0">
              <a:buNone/>
            </a:pPr>
            <a:r>
              <a:rPr lang="en-US" sz="19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「変身できます」</a:t>
            </a:r>
            <a:pPr indent="0" marL="0">
              <a:buNone/>
            </a:pPr>
            <a:r>
              <a:rPr lang="en-US" sz="19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。</a:t>
            </a:r>
            <a:endParaRPr lang="en-US" sz="1900" dirty="0"/>
          </a:p>
        </p:txBody>
      </p:sp>
      <p:sp>
        <p:nvSpPr>
          <p:cNvPr id="34" name="Text 28"/>
          <p:cNvSpPr/>
          <p:nvPr/>
        </p:nvSpPr>
        <p:spPr>
          <a:xfrm>
            <a:off x="1147572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5216"/>
            <a:ext cx="100584" cy="100584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WHY NOW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なぜ、今なのか — 2026年にしかない3つの理由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11296" cy="3794760"/>
          </a:xfrm>
          <a:prstGeom prst="roundRect">
            <a:avLst>
              <a:gd name="adj" fmla="val 2604"/>
            </a:avLst>
          </a:prstGeom>
          <a:solidFill>
            <a:srgbClr val="1C213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377440"/>
            <a:ext cx="2871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60th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シリーズ60周年イヤー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60120" y="3749040"/>
            <a:ext cx="290779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5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60周年プロジェクトが進行中。記念新シリーズ『ウルトラマンティオ』が放送中、60周年展が全国巡回中。露出とファン熱量が60年間で最大の年であり、公式文脈に入れるパートナー枠は今年だけです。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34256" y="2057400"/>
            <a:ext cx="3511296" cy="3794760"/>
          </a:xfrm>
          <a:prstGeom prst="roundRect">
            <a:avLst>
              <a:gd name="adj" fmla="val 2604"/>
            </a:avLst>
          </a:prstGeom>
          <a:solidFill>
            <a:srgbClr val="1C2130"/>
          </a:solidFill>
          <a:ln/>
        </p:spPr>
      </p:sp>
      <p:sp>
        <p:nvSpPr>
          <p:cNvPr id="10" name="Text 8"/>
          <p:cNvSpPr/>
          <p:nvPr/>
        </p:nvSpPr>
        <p:spPr>
          <a:xfrm>
            <a:off x="4654296" y="2377440"/>
            <a:ext cx="2871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7.10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654296" y="32461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運命の発売日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54296" y="3749040"/>
            <a:ext cx="290779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5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Rokid Glasses の日本発売日は、「ウルトラマンの日」（1966年7月10日）と同日。この偶然を必然に変え、毎年7月10日を「変身の日」として更新し続ける記念日マーケティングを設計できます。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28432" y="2057400"/>
            <a:ext cx="3511296" cy="3794760"/>
          </a:xfrm>
          <a:prstGeom prst="roundRect">
            <a:avLst>
              <a:gd name="adj" fmla="val 2604"/>
            </a:avLst>
          </a:prstGeom>
          <a:solidFill>
            <a:srgbClr val="1C2130"/>
          </a:solidFill>
          <a:ln/>
        </p:spPr>
      </p:sp>
      <p:sp>
        <p:nvSpPr>
          <p:cNvPr id="14" name="Text 12"/>
          <p:cNvSpPr/>
          <p:nvPr/>
        </p:nvSpPr>
        <p:spPr>
          <a:xfrm>
            <a:off x="8348472" y="2377440"/>
            <a:ext cx="2871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1st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348472" y="32461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最初のIP体験の定義権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8348472" y="3749040"/>
            <a:ext cx="290779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5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ARグラスは機能訴求から体験訴求へ移る直前。カテゴリ最初の代表的IP体験を作ったブランドが、以後数年の連想を独占します。競合攻勢が始まる年末商戦の前——今が最後の窓です。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47572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5216"/>
            <a:ext cx="100584" cy="100584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PROPOSAL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ご提案 — 2つのプラン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349240" cy="4434840"/>
          </a:xfrm>
          <a:prstGeom prst="roundRect">
            <a:avLst>
              <a:gd name="adj" fmla="val 2062"/>
            </a:avLst>
          </a:prstGeom>
          <a:solidFill>
            <a:srgbClr val="F4F5F7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1920240"/>
            <a:ext cx="603504" cy="603504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7" name="Image 0" descr="/tmp/claude-0/-home-user-kessho-lens/63555445-5e6f-583b-ab8a-87e352d31a90/scratchpad/icons/Fa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066" y="2083186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192024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</a:t>
            </a:r>
            <a:pPr indent="0" marL="0">
              <a:buNone/>
            </a:pPr>
            <a:r>
              <a:rPr lang="en-US" sz="19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「SPARK」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26060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pPr indent="0" marL="0">
              <a:buNone/>
            </a:pPr>
            <a:r>
              <a:rPr lang="en-US" sz="16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万円</a:t>
            </a:r>
            <a:pPr indent="0" marL="0">
              <a:buNone/>
            </a:pPr>
            <a:r>
              <a:rPr lang="en-US" sz="110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（税別）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960120" y="333756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7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AR体験パック「ULTRAMAN MODE」開発・供与（光線撮影／カラータイマー通知／防衛隊ナビ）</a:t>
            </a:r>
            <a:endParaRPr lang="en-US" sz="1250" dirty="0"/>
          </a:p>
          <a:p>
            <a:pPr marL="152400" indent="-152400">
              <a:lnSpc>
                <a:spcPts val="17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5都市ポップアップに「変身体験」コーナー</a:t>
            </a:r>
            <a:endParaRPr lang="en-US" sz="1250" dirty="0"/>
          </a:p>
          <a:p>
            <a:pPr marL="152400" indent="-152400">
              <a:lnSpc>
                <a:spcPts val="17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7月10日「ウルトラマンの日」共同PR</a:t>
            </a:r>
            <a:endParaRPr lang="en-US" sz="1250" dirty="0"/>
          </a:p>
          <a:p>
            <a:pPr marL="152400" indent="-152400">
              <a:lnSpc>
                <a:spcPts val="17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円谷公式監修 + 3Dアセット供与</a:t>
            </a:r>
            <a:endParaRPr lang="en-US" sz="1250" dirty="0"/>
          </a:p>
          <a:p>
            <a:pPr marL="152400" indent="-152400">
              <a:lnSpc>
                <a:spcPts val="17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許諾範囲: プロモ + デジタル／日本国内12ヶ月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99632" y="1463040"/>
            <a:ext cx="5349240" cy="4617720"/>
          </a:xfrm>
          <a:prstGeom prst="roundRect">
            <a:avLst>
              <a:gd name="adj" fmla="val 1980"/>
            </a:avLst>
          </a:prstGeom>
          <a:solidFill>
            <a:srgbClr val="111318"/>
          </a:solidFill>
          <a:ln/>
        </p:spPr>
      </p:sp>
      <p:sp>
        <p:nvSpPr>
          <p:cNvPr id="12" name="Shape 9"/>
          <p:cNvSpPr/>
          <p:nvPr/>
        </p:nvSpPr>
        <p:spPr>
          <a:xfrm>
            <a:off x="10378440" y="162763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/>
        </p:spPr>
      </p:sp>
      <p:sp>
        <p:nvSpPr>
          <p:cNvPr id="13" name="Text 10"/>
          <p:cNvSpPr/>
          <p:nvPr/>
        </p:nvSpPr>
        <p:spPr>
          <a:xfrm>
            <a:off x="10378440" y="16276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19672" y="2121408"/>
            <a:ext cx="603504" cy="603504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5" name="Image 1" descr="/tmp/claude-0/-home-user-kessho-lens/63555445-5e6f-583b-ab8a-87e352d31a90/scratchpad/icons/FaG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618" y="2284354"/>
            <a:ext cx="277612" cy="27761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96912" y="2121408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U</a:t>
            </a:r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「ULTRAMAN EDITION」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519672" y="278892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万円</a:t>
            </a:r>
            <a:pPr indent="0" marL="0">
              <a:buNone/>
            </a:pPr>
            <a:r>
              <a:rPr lang="en-US" sz="110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（税別）</a:t>
            </a:r>
            <a:endParaRPr lang="en-US" sz="3600" dirty="0"/>
          </a:p>
        </p:txBody>
      </p:sp>
      <p:sp>
        <p:nvSpPr>
          <p:cNvPr id="18" name="Text 14"/>
          <p:cNvSpPr/>
          <p:nvPr/>
        </p:nvSpPr>
        <p:spPr>
          <a:xfrm>
            <a:off x="6519672" y="3456432"/>
            <a:ext cx="4754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 のすべて、に加えて——</a:t>
            </a:r>
            <a:endParaRPr lang="en-US" sz="1200" dirty="0"/>
          </a:p>
          <a:p>
            <a:pPr marL="152400" indent="-152400">
              <a:lnSpc>
                <a:spcPts val="165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限定モデル「ULTRAMAN EDITION」3,000台（カラータイマー型ケース・変身音・シリアルNo.・60周年ロゴ）</a:t>
            </a:r>
            <a:endParaRPr lang="en-US" sz="1200" dirty="0"/>
          </a:p>
          <a:p>
            <a:pPr marL="152400" indent="-152400">
              <a:lnSpc>
                <a:spcPts val="165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「ウルトラマンシリーズ60周年展」体験ブース出展枠 ※</a:t>
            </a:r>
            <a:endParaRPr lang="en-US" sz="1200" dirty="0"/>
          </a:p>
          <a:p>
            <a:pPr marL="152400" indent="-152400">
              <a:lnSpc>
                <a:spcPts val="165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TVCM・店頭販促物へのキャラクター使用</a:t>
            </a:r>
            <a:endParaRPr lang="en-US" sz="1200" dirty="0"/>
          </a:p>
          <a:p>
            <a:pPr marL="152400" indent="-152400">
              <a:lnSpc>
                <a:spcPts val="165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『ウルトラマンティオ』放送連動タイアップ ※</a:t>
            </a:r>
            <a:endParaRPr lang="en-US" sz="1200" dirty="0"/>
          </a:p>
          <a:p>
            <a:pPr marL="152400" indent="-152400">
              <a:lnSpc>
                <a:spcPts val="165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中国・北米・欧州 Rokid 販路の優先交渉権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40080" y="6263640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60周年イベント・番組連動の実施形態は円谷社内の企画枠調整を経て確定。ハード製造原価・アプリ実装費は Rokid 様負担、売上ロイヤリティ設計は別途協議（MG充当方式も可）。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1147572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5216"/>
            <a:ext cx="100584" cy="100584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期待効果（初年度目安）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2651760" cy="3017520"/>
          </a:xfrm>
          <a:prstGeom prst="roundRect">
            <a:avLst>
              <a:gd name="adj" fmla="val 3448"/>
            </a:avLst>
          </a:prstGeom>
          <a:solidFill>
            <a:srgbClr val="F4F5F7"/>
          </a:solidFill>
          <a:ln/>
        </p:spPr>
      </p:sp>
      <p:sp>
        <p:nvSpPr>
          <p:cNvPr id="6" name="Shape 4"/>
          <p:cNvSpPr/>
          <p:nvPr/>
        </p:nvSpPr>
        <p:spPr>
          <a:xfrm>
            <a:off x="1627632" y="2286000"/>
            <a:ext cx="676656" cy="676656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7" name="Image 0" descr="/tmp/claude-0/-home-user-kessho-lens/63555445-5e6f-583b-ab8a-87e352d31a90/scratchpad/icons/Fa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0329" y="2468697"/>
            <a:ext cx="311262" cy="3112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1546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10万人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77240" y="3931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店頭・イベントでの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装着体験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92424" y="1920240"/>
            <a:ext cx="2651760" cy="3017520"/>
          </a:xfrm>
          <a:prstGeom prst="roundRect">
            <a:avLst>
              <a:gd name="adj" fmla="val 3448"/>
            </a:avLst>
          </a:prstGeom>
          <a:solidFill>
            <a:srgbClr val="F4F5F7"/>
          </a:solidFill>
          <a:ln/>
        </p:spPr>
      </p:sp>
      <p:sp>
        <p:nvSpPr>
          <p:cNvPr id="11" name="Shape 8"/>
          <p:cNvSpPr/>
          <p:nvPr/>
        </p:nvSpPr>
        <p:spPr>
          <a:xfrm>
            <a:off x="4379976" y="2286000"/>
            <a:ext cx="676656" cy="676656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/tmp/claude-0/-home-user-kessho-lens/63555445-5e6f-583b-ab8a-87e352d31a90/scratchpad/icons/FaHasht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673" y="2468697"/>
            <a:ext cx="311262" cy="3112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83864" y="31546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1万件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3529584" y="3931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光線撮影UGC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（SNS投稿）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44768" y="1920240"/>
            <a:ext cx="2651760" cy="3017520"/>
          </a:xfrm>
          <a:prstGeom prst="roundRect">
            <a:avLst>
              <a:gd name="adj" fmla="val 3448"/>
            </a:avLst>
          </a:prstGeom>
          <a:solidFill>
            <a:srgbClr val="F4F5F7"/>
          </a:solidFill>
          <a:ln/>
        </p:spPr>
      </p:sp>
      <p:sp>
        <p:nvSpPr>
          <p:cNvPr id="16" name="Shape 12"/>
          <p:cNvSpPr/>
          <p:nvPr/>
        </p:nvSpPr>
        <p:spPr>
          <a:xfrm>
            <a:off x="7132320" y="2286000"/>
            <a:ext cx="676656" cy="676656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/tmp/claude-0/-home-user-kessho-lens/63555445-5e6f-583b-ab8a-87e352d31a90/scratchpad/icons/FaYenSig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017" y="2468697"/>
            <a:ext cx="311262" cy="31126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36208" y="31546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281928" y="3931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限定モデル小売規模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（3,000台完売時）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8897112" y="1920240"/>
            <a:ext cx="2651760" cy="3017520"/>
          </a:xfrm>
          <a:prstGeom prst="roundRect">
            <a:avLst>
              <a:gd name="adj" fmla="val 3448"/>
            </a:avLst>
          </a:prstGeom>
          <a:solidFill>
            <a:srgbClr val="F4F5F7"/>
          </a:solidFill>
          <a:ln/>
        </p:spPr>
      </p:sp>
      <p:sp>
        <p:nvSpPr>
          <p:cNvPr id="21" name="Shape 16"/>
          <p:cNvSpPr/>
          <p:nvPr/>
        </p:nvSpPr>
        <p:spPr>
          <a:xfrm>
            <a:off x="9884664" y="2286000"/>
            <a:ext cx="676656" cy="676656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2" name="Image 3" descr="/tmp/claude-0/-home-user-kessho-lens/63555445-5e6f-583b-ab8a-87e352d31a90/scratchpad/icons/FaBullho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7361" y="2468697"/>
            <a:ext cx="311262" cy="31126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988552" y="31546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5億円+</a:t>
            </a:r>
            <a:endParaRPr lang="en-US" sz="3400" dirty="0"/>
          </a:p>
        </p:txBody>
      </p:sp>
      <p:sp>
        <p:nvSpPr>
          <p:cNvPr id="24" name="Text 18"/>
          <p:cNvSpPr/>
          <p:nvPr/>
        </p:nvSpPr>
        <p:spPr>
          <a:xfrm>
            <a:off x="9034272" y="3931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メディア露出換算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 U 実施時）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080" y="5440680"/>
            <a:ext cx="10927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収益は入口にすぎません。本質的な価値は、</a:t>
            </a:r>
            <a:pPr indent="0" marL="0">
              <a:lnSpc>
                <a:spcPts val="2300"/>
              </a:lnSpc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「ARグラスの最初のIP体験」という歴史的ポジション</a:t>
            </a:r>
            <a:pPr indent="0" marL="0">
              <a:lnSpc>
                <a:spcPts val="2300"/>
              </a:lnSpc>
              <a:buNone/>
            </a:pPr>
            <a:r>
              <a:rPr lang="en-US" sz="16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を両社で独占することです。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1147572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85216"/>
            <a:ext cx="100584" cy="100584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年末商戦から、逆算する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51560" y="3374136"/>
            <a:ext cx="10058400" cy="0"/>
          </a:xfrm>
          <a:prstGeom prst="line">
            <a:avLst/>
          </a:prstGeom>
          <a:noFill/>
          <a:ln w="25400">
            <a:solidFill>
              <a:srgbClr val="D6DA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544" y="3246120"/>
            <a:ext cx="256032" cy="256032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24688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2026.8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82880" y="2788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基本合意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企画確定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35224" y="3246120"/>
            <a:ext cx="256032" cy="256032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1" name="Text 9"/>
          <p:cNvSpPr/>
          <p:nvPr/>
        </p:nvSpPr>
        <p:spPr>
          <a:xfrm>
            <a:off x="2194560" y="24688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2026.9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194560" y="2788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契約締結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4884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監修開始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46904" y="3246120"/>
            <a:ext cx="256032" cy="256032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24688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206240" y="2788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開発・製造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6052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ULTRAMAN MODE /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限定モデル着手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958584" y="3246120"/>
            <a:ext cx="256032" cy="256032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24688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2026.11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17920" y="2788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発表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7220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年末商戦 ×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60周年の頂点で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70264" y="3246120"/>
            <a:ext cx="256032" cy="256032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0" y="24688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2026.12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0" y="2788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発売・配信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18388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限定モデル /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体験パック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981944" y="3246120"/>
            <a:ext cx="256032" cy="256032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27" name="Text 25"/>
          <p:cNvSpPr/>
          <p:nvPr/>
        </p:nvSpPr>
        <p:spPr>
          <a:xfrm>
            <a:off x="10241280" y="24688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A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2027.7.10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241280" y="2788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「変身の日」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19556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1周年施策 →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継続契約へ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507492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FBECEE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50749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9A0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11月発表に間に合わせるには、8月中の基本合意が必要です。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1D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意匠変更をカラー・テンプル・充電ケース・起動音に限定することで、この日程は実現可能です。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47572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ln w="19050">
            <a:solidFill>
              <a:srgbClr val="262C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95560" y="-685800"/>
            <a:ext cx="2651760" cy="2651760"/>
          </a:xfrm>
          <a:prstGeom prst="ellipse">
            <a:avLst/>
          </a:prstGeom>
          <a:ln w="25400">
            <a:solidFill>
              <a:srgbClr val="C810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58368"/>
            <a:ext cx="109728" cy="109728"/>
          </a:xfrm>
          <a:prstGeom prst="ellipse">
            <a:avLst/>
          </a:prstGeom>
          <a:solidFill>
            <a:srgbClr val="2EA8E0"/>
          </a:solidFill>
          <a:ln/>
        </p:spPr>
      </p:sp>
      <p:sp>
        <p:nvSpPr>
          <p:cNvPr id="5" name="Text 3"/>
          <p:cNvSpPr/>
          <p:nvPr/>
        </p:nvSpPr>
        <p:spPr>
          <a:xfrm>
            <a:off x="886968" y="5303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ウルトラアイを装着したかった少年たちは、</a:t>
            </a:r>
            <a:endParaRPr lang="en-US" sz="31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いま、購買決定者になった。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7月10日生まれ同士、</a:t>
            </a:r>
            <a:pPr indent="0" marL="0">
              <a:buNone/>
            </a:pPr>
            <a:r>
              <a:rPr lang="en-US" sz="23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一緒に歴史を作りましょう。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58368" y="5394960"/>
            <a:ext cx="4754880" cy="0"/>
          </a:xfrm>
          <a:prstGeom prst="line">
            <a:avLst/>
          </a:prstGeom>
          <a:noFill/>
          <a:ln w="12700">
            <a:solidFill>
              <a:srgbClr val="3A42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577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円谷プロダクション ライセンス事業部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本提案の有効期限: 2026年8月31日（年末商戦・60周年展の日程逆算のため）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2026-07-23T23:40:16Z</dcterms:created>
  <dcterms:modified xsi:type="dcterms:W3CDTF">2026-07-23T23:40:16Z</dcterms:modified>
</cp:coreProperties>
</file>