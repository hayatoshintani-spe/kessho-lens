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7635240" y="1051560"/>
            <a:ext cx="4206240" cy="4206240"/>
          </a:xfrm>
          <a:prstGeom prst="ellipse">
            <a:avLst/>
          </a:prstGeom>
          <a:solidFill>
            <a:srgbClr val="1FB6E0">
              <a:alpha val="18000"/>
            </a:srgbClr>
          </a:solidFill>
          <a:ln/>
        </p:spPr>
      </p:sp>
      <p:sp>
        <p:nvSpPr>
          <p:cNvPr id="3" name="Shape 1"/>
          <p:cNvSpPr/>
          <p:nvPr/>
        </p:nvSpPr>
        <p:spPr>
          <a:xfrm>
            <a:off x="8392363" y="1808683"/>
            <a:ext cx="2691994" cy="2691994"/>
          </a:xfrm>
          <a:prstGeom prst="ellipse">
            <a:avLst/>
          </a:prstGeom>
          <a:solidFill>
            <a:srgbClr val="1FB6E0">
              <a:alpha val="45000"/>
            </a:srgbClr>
          </a:solidFill>
          <a:ln/>
        </p:spPr>
      </p:sp>
      <p:sp>
        <p:nvSpPr>
          <p:cNvPr id="4" name="Shape 2"/>
          <p:cNvSpPr/>
          <p:nvPr/>
        </p:nvSpPr>
        <p:spPr>
          <a:xfrm>
            <a:off x="9149486" y="2565806"/>
            <a:ext cx="1177747" cy="1177747"/>
          </a:xfrm>
          <a:prstGeom prst="ellipse">
            <a:avLst/>
          </a:prstGeom>
          <a:solidFill>
            <a:srgbClr val="D7002F"/>
          </a:solidFill>
          <a:ln/>
        </p:spPr>
      </p:sp>
      <p:sp>
        <p:nvSpPr>
          <p:cNvPr id="5" name="Shape 3"/>
          <p:cNvSpPr/>
          <p:nvPr/>
        </p:nvSpPr>
        <p:spPr>
          <a:xfrm>
            <a:off x="10972800" y="5394960"/>
            <a:ext cx="1737360" cy="1737360"/>
          </a:xfrm>
          <a:prstGeom prst="ellipse">
            <a:avLst/>
          </a:prstGeom>
          <a:solidFill>
            <a:srgbClr val="1FB6E0">
              <a:alpha val="12000"/>
            </a:srgbClr>
          </a:solidFill>
          <a:ln/>
        </p:spPr>
      </p:sp>
      <p:sp>
        <p:nvSpPr>
          <p:cNvPr id="6" name="Shape 4"/>
          <p:cNvSpPr/>
          <p:nvPr/>
        </p:nvSpPr>
        <p:spPr>
          <a:xfrm>
            <a:off x="-822960" y="-1005840"/>
            <a:ext cx="2194560" cy="2194560"/>
          </a:xfrm>
          <a:prstGeom prst="ellipse">
            <a:avLst/>
          </a:prstGeom>
          <a:solidFill>
            <a:srgbClr val="D7002F">
              <a:alpha val="20000"/>
            </a:srgbClr>
          </a:solidFill>
          <a:ln/>
        </p:spPr>
      </p:sp>
      <p:sp>
        <p:nvSpPr>
          <p:cNvPr id="7" name="Text 5"/>
          <p:cNvSpPr/>
          <p:nvPr/>
        </p:nvSpPr>
        <p:spPr>
          <a:xfrm>
            <a:off x="640080" y="502920"/>
            <a:ext cx="8229600" cy="320040"/>
          </a:xfrm>
          <a:prstGeom prst="rect">
            <a:avLst/>
          </a:prstGeom>
          <a:noFill/>
          <a:ln/>
        </p:spPr>
        <p:txBody>
          <a:bodyPr wrap="square" lIns="0" tIns="0" rIns="0" bIns="0" rtlCol="0" anchor="ctr"/>
          <a:lstStyle/>
          <a:p>
            <a:pPr indent="0" marL="0">
              <a:buNone/>
            </a:pPr>
            <a:r>
              <a:rPr lang="en-US" sz="1200" dirty="0">
                <a:solidFill>
                  <a:srgbClr val="AEB8C4"/>
                </a:solidFill>
                <a:latin typeface="Yu Gothic" pitchFamily="34" charset="0"/>
                <a:ea typeface="Yu Gothic" pitchFamily="34" charset="-122"/>
                <a:cs typeface="Yu Gothic" pitchFamily="34" charset="-120"/>
              </a:rPr>
              <a:t>ロッテホールディングス 玉塚社長 御中 ｜ 打ち合わせ資料（社外秘）</a:t>
            </a:r>
            <a:endParaRPr lang="en-US" sz="1200" dirty="0"/>
          </a:p>
        </p:txBody>
      </p:sp>
      <p:sp>
        <p:nvSpPr>
          <p:cNvPr id="8" name="Text 6"/>
          <p:cNvSpPr/>
          <p:nvPr/>
        </p:nvSpPr>
        <p:spPr>
          <a:xfrm>
            <a:off x="640080" y="2103120"/>
            <a:ext cx="7863840" cy="1051560"/>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変身を、たべよう。</a:t>
            </a:r>
            <a:endParaRPr lang="en-US" sz="5400" dirty="0"/>
          </a:p>
        </p:txBody>
      </p:sp>
      <p:sp>
        <p:nvSpPr>
          <p:cNvPr id="9" name="Text 7"/>
          <p:cNvSpPr/>
          <p:nvPr/>
        </p:nvSpPr>
        <p:spPr>
          <a:xfrm>
            <a:off x="640080" y="3291840"/>
            <a:ext cx="7863840" cy="548640"/>
          </a:xfrm>
          <a:prstGeom prst="rect">
            <a:avLst/>
          </a:prstGeom>
          <a:noFill/>
          <a:ln/>
        </p:spPr>
        <p:txBody>
          <a:bodyPr wrap="square" lIns="0" tIns="0" rIns="0" bIns="0" rtlCol="0" anchor="ctr"/>
          <a:lstStyle/>
          <a:p>
            <a:pPr indent="0" marL="0">
              <a:buNone/>
            </a:pPr>
            <a:r>
              <a:rPr lang="en-US" sz="2200" b="1" dirty="0">
                <a:solidFill>
                  <a:srgbClr val="1FB6E0"/>
                </a:solidFill>
                <a:latin typeface="Yu Gothic" pitchFamily="34" charset="0"/>
                <a:ea typeface="Yu Gothic" pitchFamily="34" charset="-122"/>
                <a:cs typeface="Yu Gothic" pitchFamily="34" charset="-120"/>
              </a:rPr>
              <a:t>ウルトラマン × ロッテ　新カテゴリー創造のご提案</a:t>
            </a:r>
            <a:endParaRPr lang="en-US" sz="2200" dirty="0"/>
          </a:p>
        </p:txBody>
      </p:sp>
      <p:sp>
        <p:nvSpPr>
          <p:cNvPr id="10" name="Text 8"/>
          <p:cNvSpPr/>
          <p:nvPr/>
        </p:nvSpPr>
        <p:spPr>
          <a:xfrm>
            <a:off x="640080" y="4069080"/>
            <a:ext cx="7589520" cy="914400"/>
          </a:xfrm>
          <a:prstGeom prst="rect">
            <a:avLst/>
          </a:prstGeom>
          <a:noFill/>
          <a:ln/>
        </p:spPr>
        <p:txBody>
          <a:bodyPr wrap="square" lIns="0" tIns="0" rIns="0" bIns="0" rtlCol="0" anchor="ctr"/>
          <a:lstStyle/>
          <a:p>
            <a:pPr indent="0" marL="0">
              <a:lnSpc>
                <a:spcPts val="2400"/>
              </a:lnSpc>
              <a:buNone/>
            </a:pPr>
            <a:r>
              <a:rPr lang="en-US" sz="1400" dirty="0">
                <a:solidFill>
                  <a:srgbClr val="D9E2EC"/>
                </a:solidFill>
                <a:latin typeface="Yu Gothic" pitchFamily="34" charset="0"/>
                <a:ea typeface="Yu Gothic" pitchFamily="34" charset="-122"/>
                <a:cs typeface="Yu Gothic" pitchFamily="34" charset="-120"/>
              </a:rPr>
              <a:t>ビックリマンが「シールを集める文化」を、おーいお茶が「緑茶を買う習慣」を発明したように。</a:t>
            </a:r>
            <a:endParaRPr lang="en-US" sz="1400" dirty="0"/>
          </a:p>
          <a:p>
            <a:pPr indent="0" marL="0">
              <a:lnSpc>
                <a:spcPts val="2400"/>
              </a:lnSpc>
              <a:buNone/>
            </a:pPr>
            <a:r>
              <a:rPr lang="en-US" sz="1400" dirty="0">
                <a:solidFill>
                  <a:srgbClr val="D9E2EC"/>
                </a:solidFill>
                <a:latin typeface="Yu Gothic" pitchFamily="34" charset="0"/>
                <a:ea typeface="Yu Gothic" pitchFamily="34" charset="-122"/>
                <a:cs typeface="Yu Gothic" pitchFamily="34" charset="-120"/>
              </a:rPr>
              <a:t>次のカテゴリーキラーを、ウルトラマンシリーズ60周年のいま、両社で。</a:t>
            </a:r>
            <a:endParaRPr lang="en-US" sz="1400" dirty="0"/>
          </a:p>
        </p:txBody>
      </p:sp>
      <p:sp>
        <p:nvSpPr>
          <p:cNvPr id="11" name="Text 9"/>
          <p:cNvSpPr/>
          <p:nvPr/>
        </p:nvSpPr>
        <p:spPr>
          <a:xfrm>
            <a:off x="640080" y="5989320"/>
            <a:ext cx="5486400" cy="320040"/>
          </a:xfrm>
          <a:prstGeom prst="rect">
            <a:avLst/>
          </a:prstGeom>
          <a:noFill/>
          <a:ln/>
        </p:spPr>
        <p:txBody>
          <a:bodyPr wrap="square" lIns="0" tIns="0" rIns="0" bIns="0" rtlCol="0" anchor="ctr"/>
          <a:lstStyle/>
          <a:p>
            <a:pPr indent="0" marL="0">
              <a:buNone/>
            </a:pPr>
            <a:r>
              <a:rPr lang="en-US" sz="1200" dirty="0">
                <a:solidFill>
                  <a:srgbClr val="AEB8C4"/>
                </a:solidFill>
                <a:latin typeface="Yu Gothic" pitchFamily="34" charset="0"/>
                <a:ea typeface="Yu Gothic" pitchFamily="34" charset="-122"/>
                <a:cs typeface="Yu Gothic" pitchFamily="34" charset="-120"/>
              </a:rPr>
              <a:t>円谷プロダクション ｜ 2026年8月</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EXECUTIVE SUMMARY</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ご提案の骨子 — コラボではなく、カテゴリーを創る</a:t>
            </a:r>
            <a:endParaRPr lang="en-US" sz="2800" dirty="0"/>
          </a:p>
        </p:txBody>
      </p:sp>
      <p:sp>
        <p:nvSpPr>
          <p:cNvPr id="4" name="Shape 2"/>
          <p:cNvSpPr/>
          <p:nvPr/>
        </p:nvSpPr>
        <p:spPr>
          <a:xfrm>
            <a:off x="548640" y="1700784"/>
            <a:ext cx="566928" cy="566928"/>
          </a:xfrm>
          <a:prstGeom prst="ellipse">
            <a:avLst/>
          </a:prstGeom>
          <a:solidFill>
            <a:srgbClr val="D7002F"/>
          </a:solidFill>
          <a:ln/>
        </p:spPr>
      </p:sp>
      <p:pic>
        <p:nvPicPr>
          <p:cNvPr id="5" name="Image 0" descr="preencoded.png">    </p:cNvPr>
          <p:cNvPicPr>
            <a:picLocks noChangeAspect="1"/>
          </p:cNvPicPr>
          <p:nvPr/>
        </p:nvPicPr>
        <p:blipFill>
          <a:blip r:embed="rId1"/>
          <a:stretch>
            <a:fillRect/>
          </a:stretch>
        </p:blipFill>
        <p:spPr>
          <a:xfrm>
            <a:off x="701711" y="1853855"/>
            <a:ext cx="260787" cy="260787"/>
          </a:xfrm>
          <a:prstGeom prst="rect">
            <a:avLst/>
          </a:prstGeom>
        </p:spPr>
      </p:pic>
      <p:sp>
        <p:nvSpPr>
          <p:cNvPr id="6" name="Text 3"/>
          <p:cNvSpPr/>
          <p:nvPr/>
        </p:nvSpPr>
        <p:spPr>
          <a:xfrm>
            <a:off x="1371600" y="1645920"/>
            <a:ext cx="2834640" cy="777240"/>
          </a:xfrm>
          <a:prstGeom prst="rect">
            <a:avLst/>
          </a:prstGeom>
          <a:noFill/>
          <a:ln/>
        </p:spPr>
        <p:txBody>
          <a:bodyPr wrap="square" lIns="0" tIns="0" rIns="0" bIns="0" rtlCol="0" anchor="ctr"/>
          <a:lstStyle/>
          <a:p>
            <a:pPr indent="0" marL="0">
              <a:buNone/>
            </a:pPr>
            <a:r>
              <a:rPr lang="en-US" sz="1700" b="1" dirty="0">
                <a:solidFill>
                  <a:srgbClr val="1B2432"/>
                </a:solidFill>
                <a:latin typeface="Yu Gothic" pitchFamily="34" charset="0"/>
                <a:ea typeface="Yu Gothic" pitchFamily="34" charset="-122"/>
                <a:cs typeface="Yu Gothic" pitchFamily="34" charset="-120"/>
              </a:rPr>
              <a:t>単発コラボの先へ</a:t>
            </a:r>
            <a:endParaRPr lang="en-US" sz="1700" dirty="0"/>
          </a:p>
        </p:txBody>
      </p:sp>
      <p:sp>
        <p:nvSpPr>
          <p:cNvPr id="7" name="Text 4"/>
          <p:cNvSpPr/>
          <p:nvPr/>
        </p:nvSpPr>
        <p:spPr>
          <a:xfrm>
            <a:off x="4343400" y="1591056"/>
            <a:ext cx="7315200" cy="868680"/>
          </a:xfrm>
          <a:prstGeom prst="rect">
            <a:avLst/>
          </a:prstGeom>
          <a:noFill/>
          <a:ln/>
        </p:spPr>
        <p:txBody>
          <a:bodyPr wrap="square" lIns="0" tIns="0" rIns="0" bIns="0" rtlCol="0" anchor="ctr"/>
          <a:lstStyle/>
          <a:p>
            <a:pPr indent="0" marL="0">
              <a:lnSpc>
                <a:spcPts val="1800"/>
              </a:lnSpc>
              <a:buNone/>
            </a:pPr>
            <a:r>
              <a:rPr lang="en-US" sz="1250" dirty="0">
                <a:solidFill>
                  <a:srgbClr val="5A6474"/>
                </a:solidFill>
                <a:latin typeface="Yu Gothic" pitchFamily="34" charset="0"/>
                <a:ea typeface="Yu Gothic" pitchFamily="34" charset="-122"/>
                <a:cs typeface="Yu Gothic" pitchFamily="34" charset="-120"/>
              </a:rPr>
              <a:t>キャラクターを借りた期間限定コラボは百戦錬磨の御社に不要。私たちが提案するのは、ビックリマン・おーいお茶級の「新カテゴリー」を両社の資産で発明することです。</a:t>
            </a:r>
            <a:endParaRPr lang="en-US" sz="1250" dirty="0"/>
          </a:p>
        </p:txBody>
      </p:sp>
      <p:sp>
        <p:nvSpPr>
          <p:cNvPr id="8" name="Shape 5"/>
          <p:cNvSpPr/>
          <p:nvPr/>
        </p:nvSpPr>
        <p:spPr>
          <a:xfrm>
            <a:off x="548640" y="2724912"/>
            <a:ext cx="566928" cy="566928"/>
          </a:xfrm>
          <a:prstGeom prst="ellipse">
            <a:avLst/>
          </a:prstGeom>
          <a:solidFill>
            <a:srgbClr val="0B132B"/>
          </a:solidFill>
          <a:ln/>
        </p:spPr>
      </p:sp>
      <p:pic>
        <p:nvPicPr>
          <p:cNvPr id="9" name="Image 1" descr="preencoded.png">    </p:cNvPr>
          <p:cNvPicPr>
            <a:picLocks noChangeAspect="1"/>
          </p:cNvPicPr>
          <p:nvPr/>
        </p:nvPicPr>
        <p:blipFill>
          <a:blip r:embed="rId2"/>
          <a:stretch>
            <a:fillRect/>
          </a:stretch>
        </p:blipFill>
        <p:spPr>
          <a:xfrm>
            <a:off x="701711" y="2877983"/>
            <a:ext cx="260787" cy="260787"/>
          </a:xfrm>
          <a:prstGeom prst="rect">
            <a:avLst/>
          </a:prstGeom>
        </p:spPr>
      </p:pic>
      <p:sp>
        <p:nvSpPr>
          <p:cNvPr id="10" name="Text 6"/>
          <p:cNvSpPr/>
          <p:nvPr/>
        </p:nvSpPr>
        <p:spPr>
          <a:xfrm>
            <a:off x="1371600" y="2670048"/>
            <a:ext cx="2834640" cy="777240"/>
          </a:xfrm>
          <a:prstGeom prst="rect">
            <a:avLst/>
          </a:prstGeom>
          <a:noFill/>
          <a:ln/>
        </p:spPr>
        <p:txBody>
          <a:bodyPr wrap="square" lIns="0" tIns="0" rIns="0" bIns="0" rtlCol="0" anchor="ctr"/>
          <a:lstStyle/>
          <a:p>
            <a:pPr indent="0" marL="0">
              <a:buNone/>
            </a:pPr>
            <a:r>
              <a:rPr lang="en-US" sz="1700" b="1" dirty="0">
                <a:solidFill>
                  <a:srgbClr val="1B2432"/>
                </a:solidFill>
                <a:latin typeface="Yu Gothic" pitchFamily="34" charset="0"/>
                <a:ea typeface="Yu Gothic" pitchFamily="34" charset="-122"/>
                <a:cs typeface="Yu Gothic" pitchFamily="34" charset="-120"/>
              </a:rPr>
              <a:t>中核は「3分間」の体験</a:t>
            </a:r>
            <a:endParaRPr lang="en-US" sz="1700" dirty="0"/>
          </a:p>
        </p:txBody>
      </p:sp>
      <p:sp>
        <p:nvSpPr>
          <p:cNvPr id="11" name="Text 7"/>
          <p:cNvSpPr/>
          <p:nvPr/>
        </p:nvSpPr>
        <p:spPr>
          <a:xfrm>
            <a:off x="4343400" y="2615184"/>
            <a:ext cx="7315200" cy="868680"/>
          </a:xfrm>
          <a:prstGeom prst="rect">
            <a:avLst/>
          </a:prstGeom>
          <a:noFill/>
          <a:ln/>
        </p:spPr>
        <p:txBody>
          <a:bodyPr wrap="square" lIns="0" tIns="0" rIns="0" bIns="0" rtlCol="0" anchor="ctr"/>
          <a:lstStyle/>
          <a:p>
            <a:pPr indent="0" marL="0">
              <a:lnSpc>
                <a:spcPts val="1800"/>
              </a:lnSpc>
              <a:buNone/>
            </a:pPr>
            <a:r>
              <a:rPr lang="en-US" sz="1250" dirty="0">
                <a:solidFill>
                  <a:srgbClr val="5A6474"/>
                </a:solidFill>
                <a:latin typeface="Yu Gothic" pitchFamily="34" charset="0"/>
                <a:ea typeface="Yu Gothic" pitchFamily="34" charset="-122"/>
                <a:cs typeface="Yu Gothic" pitchFamily="34" charset="-120"/>
              </a:rPr>
              <a:t>本命コンセプト『ULTRA 3MIN.』— 噛んで3分で味と色が変身するガム＆グミ。カラータイマーという国民的体験を、ロッテの咀嚼研究とフレーバー技術で口の中に再現します。</a:t>
            </a:r>
            <a:endParaRPr lang="en-US" sz="1250" dirty="0"/>
          </a:p>
        </p:txBody>
      </p:sp>
      <p:sp>
        <p:nvSpPr>
          <p:cNvPr id="12" name="Shape 8"/>
          <p:cNvSpPr/>
          <p:nvPr/>
        </p:nvSpPr>
        <p:spPr>
          <a:xfrm>
            <a:off x="548640" y="3749040"/>
            <a:ext cx="566928" cy="566928"/>
          </a:xfrm>
          <a:prstGeom prst="ellipse">
            <a:avLst/>
          </a:prstGeom>
          <a:solidFill>
            <a:srgbClr val="1FB6E0"/>
          </a:solidFill>
          <a:ln/>
        </p:spPr>
      </p:sp>
      <p:pic>
        <p:nvPicPr>
          <p:cNvPr id="13" name="Image 2" descr="preencoded.png">    </p:cNvPr>
          <p:cNvPicPr>
            <a:picLocks noChangeAspect="1"/>
          </p:cNvPicPr>
          <p:nvPr/>
        </p:nvPicPr>
        <p:blipFill>
          <a:blip r:embed="rId3"/>
          <a:stretch>
            <a:fillRect/>
          </a:stretch>
        </p:blipFill>
        <p:spPr>
          <a:xfrm>
            <a:off x="701711" y="3902111"/>
            <a:ext cx="260787" cy="260787"/>
          </a:xfrm>
          <a:prstGeom prst="rect">
            <a:avLst/>
          </a:prstGeom>
        </p:spPr>
      </p:pic>
      <p:sp>
        <p:nvSpPr>
          <p:cNvPr id="14" name="Text 9"/>
          <p:cNvSpPr/>
          <p:nvPr/>
        </p:nvSpPr>
        <p:spPr>
          <a:xfrm>
            <a:off x="1371600" y="3694176"/>
            <a:ext cx="2834640" cy="777240"/>
          </a:xfrm>
          <a:prstGeom prst="rect">
            <a:avLst/>
          </a:prstGeom>
          <a:noFill/>
          <a:ln/>
        </p:spPr>
        <p:txBody>
          <a:bodyPr wrap="square" lIns="0" tIns="0" rIns="0" bIns="0" rtlCol="0" anchor="ctr"/>
          <a:lstStyle/>
          <a:p>
            <a:pPr indent="0" marL="0">
              <a:buNone/>
            </a:pPr>
            <a:r>
              <a:rPr lang="en-US" sz="1700" b="1" dirty="0">
                <a:solidFill>
                  <a:srgbClr val="1B2432"/>
                </a:solidFill>
                <a:latin typeface="Yu Gothic" pitchFamily="34" charset="0"/>
                <a:ea typeface="Yu Gothic" pitchFamily="34" charset="-122"/>
                <a:cs typeface="Yu Gothic" pitchFamily="34" charset="-120"/>
              </a:rPr>
              <a:t>追い風は今年だけ</a:t>
            </a:r>
            <a:endParaRPr lang="en-US" sz="1700" dirty="0"/>
          </a:p>
        </p:txBody>
      </p:sp>
      <p:sp>
        <p:nvSpPr>
          <p:cNvPr id="15" name="Text 10"/>
          <p:cNvSpPr/>
          <p:nvPr/>
        </p:nvSpPr>
        <p:spPr>
          <a:xfrm>
            <a:off x="4343400" y="3639312"/>
            <a:ext cx="7315200" cy="868680"/>
          </a:xfrm>
          <a:prstGeom prst="rect">
            <a:avLst/>
          </a:prstGeom>
          <a:noFill/>
          <a:ln/>
        </p:spPr>
        <p:txBody>
          <a:bodyPr wrap="square" lIns="0" tIns="0" rIns="0" bIns="0" rtlCol="0" anchor="ctr"/>
          <a:lstStyle/>
          <a:p>
            <a:pPr indent="0" marL="0">
              <a:lnSpc>
                <a:spcPts val="1800"/>
              </a:lnSpc>
              <a:buNone/>
            </a:pPr>
            <a:r>
              <a:rPr lang="en-US" sz="1250" dirty="0">
                <a:solidFill>
                  <a:srgbClr val="5A6474"/>
                </a:solidFill>
                <a:latin typeface="Yu Gothic" pitchFamily="34" charset="0"/>
                <a:ea typeface="Yu Gothic" pitchFamily="34" charset="-122"/>
                <a:cs typeface="Yu Gothic" pitchFamily="34" charset="-120"/>
              </a:rPr>
              <a:t>2026年はシリーズ放送開始60周年。記念作『ウルトラマンテオ』が世界同時放送・配信中。国内の話題性とグローバル展開の入口が同時に開いている一年です。</a:t>
            </a:r>
            <a:endParaRPr lang="en-US" sz="1250" dirty="0"/>
          </a:p>
        </p:txBody>
      </p:sp>
      <p:sp>
        <p:nvSpPr>
          <p:cNvPr id="16" name="Shape 11"/>
          <p:cNvSpPr/>
          <p:nvPr/>
        </p:nvSpPr>
        <p:spPr>
          <a:xfrm>
            <a:off x="548640" y="4892040"/>
            <a:ext cx="3611880" cy="1371600"/>
          </a:xfrm>
          <a:prstGeom prst="roundRect">
            <a:avLst>
              <a:gd name="adj" fmla="val 6000"/>
            </a:avLst>
          </a:prstGeom>
          <a:solidFill>
            <a:srgbClr val="F2F5F9"/>
          </a:solidFill>
          <a:ln/>
        </p:spPr>
      </p:sp>
      <p:sp>
        <p:nvSpPr>
          <p:cNvPr id="17" name="Text 12"/>
          <p:cNvSpPr/>
          <p:nvPr/>
        </p:nvSpPr>
        <p:spPr>
          <a:xfrm>
            <a:off x="777240" y="5029200"/>
            <a:ext cx="3200400" cy="566928"/>
          </a:xfrm>
          <a:prstGeom prst="rect">
            <a:avLst/>
          </a:prstGeom>
          <a:noFill/>
          <a:ln/>
        </p:spPr>
        <p:txBody>
          <a:bodyPr wrap="square" lIns="0" tIns="0" rIns="0" bIns="0" rtlCol="0" anchor="ctr"/>
          <a:lstStyle/>
          <a:p>
            <a:pPr indent="0" marL="0">
              <a:buNone/>
            </a:pPr>
            <a:r>
              <a:rPr lang="en-US" sz="3400" b="1" dirty="0">
                <a:solidFill>
                  <a:srgbClr val="0B132B"/>
                </a:solidFill>
                <a:latin typeface="Yu Gothic" pitchFamily="34" charset="0"/>
                <a:ea typeface="Yu Gothic" pitchFamily="34" charset="-122"/>
                <a:cs typeface="Yu Gothic" pitchFamily="34" charset="-120"/>
              </a:rPr>
              <a:t>60周年</a:t>
            </a:r>
            <a:endParaRPr lang="en-US" sz="3400" dirty="0"/>
          </a:p>
        </p:txBody>
      </p:sp>
      <p:sp>
        <p:nvSpPr>
          <p:cNvPr id="18" name="Text 13"/>
          <p:cNvSpPr/>
          <p:nvPr/>
        </p:nvSpPr>
        <p:spPr>
          <a:xfrm>
            <a:off x="777240" y="5614416"/>
            <a:ext cx="3200400" cy="548640"/>
          </a:xfrm>
          <a:prstGeom prst="rect">
            <a:avLst/>
          </a:prstGeom>
          <a:noFill/>
          <a:ln/>
        </p:spPr>
        <p:txBody>
          <a:bodyPr wrap="square" lIns="0" tIns="0" rIns="0" bIns="0" rtlCol="0" anchor="ctr"/>
          <a:lstStyle/>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2026年、ウルトラマンシリーズ</a:t>
            </a:r>
            <a:endParaRPr lang="en-US" sz="1050" dirty="0"/>
          </a:p>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放送開始からの節目</a:t>
            </a:r>
            <a:endParaRPr lang="en-US" sz="1050" dirty="0"/>
          </a:p>
        </p:txBody>
      </p:sp>
      <p:sp>
        <p:nvSpPr>
          <p:cNvPr id="19" name="Shape 14"/>
          <p:cNvSpPr/>
          <p:nvPr/>
        </p:nvSpPr>
        <p:spPr>
          <a:xfrm>
            <a:off x="4334256" y="4892040"/>
            <a:ext cx="3611880" cy="1371600"/>
          </a:xfrm>
          <a:prstGeom prst="roundRect">
            <a:avLst>
              <a:gd name="adj" fmla="val 6000"/>
            </a:avLst>
          </a:prstGeom>
          <a:solidFill>
            <a:srgbClr val="F2F5F9"/>
          </a:solidFill>
          <a:ln/>
        </p:spPr>
      </p:sp>
      <p:sp>
        <p:nvSpPr>
          <p:cNvPr id="20" name="Text 15"/>
          <p:cNvSpPr/>
          <p:nvPr/>
        </p:nvSpPr>
        <p:spPr>
          <a:xfrm>
            <a:off x="4562856" y="5029200"/>
            <a:ext cx="3200400" cy="566928"/>
          </a:xfrm>
          <a:prstGeom prst="rect">
            <a:avLst/>
          </a:prstGeom>
          <a:noFill/>
          <a:ln/>
        </p:spPr>
        <p:txBody>
          <a:bodyPr wrap="square" lIns="0" tIns="0" rIns="0" bIns="0" rtlCol="0" anchor="ctr"/>
          <a:lstStyle/>
          <a:p>
            <a:pPr indent="0" marL="0">
              <a:buNone/>
            </a:pPr>
            <a:r>
              <a:rPr lang="en-US" sz="3400" b="1" dirty="0">
                <a:solidFill>
                  <a:srgbClr val="D7002F"/>
                </a:solidFill>
                <a:latin typeface="Yu Gothic" pitchFamily="34" charset="0"/>
                <a:ea typeface="Yu Gothic" pitchFamily="34" charset="-122"/>
                <a:cs typeface="Yu Gothic" pitchFamily="34" charset="-120"/>
              </a:rPr>
              <a:t>4億個</a:t>
            </a:r>
            <a:endParaRPr lang="en-US" sz="3400" dirty="0"/>
          </a:p>
        </p:txBody>
      </p:sp>
      <p:sp>
        <p:nvSpPr>
          <p:cNvPr id="21" name="Text 16"/>
          <p:cNvSpPr/>
          <p:nvPr/>
        </p:nvSpPr>
        <p:spPr>
          <a:xfrm>
            <a:off x="4562856" y="5614416"/>
            <a:ext cx="3200400" cy="548640"/>
          </a:xfrm>
          <a:prstGeom prst="rect">
            <a:avLst/>
          </a:prstGeom>
          <a:noFill/>
          <a:ln/>
        </p:spPr>
        <p:txBody>
          <a:bodyPr wrap="square" lIns="0" tIns="0" rIns="0" bIns="0" rtlCol="0" anchor="ctr"/>
          <a:lstStyle/>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ビックリマン最盛期の</a:t>
            </a:r>
            <a:endParaRPr lang="en-US" sz="1050" dirty="0"/>
          </a:p>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年間販売個数</a:t>
            </a:r>
            <a:endParaRPr lang="en-US" sz="1050" dirty="0"/>
          </a:p>
        </p:txBody>
      </p:sp>
      <p:sp>
        <p:nvSpPr>
          <p:cNvPr id="22" name="Shape 17"/>
          <p:cNvSpPr/>
          <p:nvPr/>
        </p:nvSpPr>
        <p:spPr>
          <a:xfrm>
            <a:off x="8119872" y="4892040"/>
            <a:ext cx="3611880" cy="1371600"/>
          </a:xfrm>
          <a:prstGeom prst="roundRect">
            <a:avLst>
              <a:gd name="adj" fmla="val 6000"/>
            </a:avLst>
          </a:prstGeom>
          <a:solidFill>
            <a:srgbClr val="F2F5F9"/>
          </a:solidFill>
          <a:ln/>
        </p:spPr>
      </p:sp>
      <p:sp>
        <p:nvSpPr>
          <p:cNvPr id="23" name="Text 18"/>
          <p:cNvSpPr/>
          <p:nvPr/>
        </p:nvSpPr>
        <p:spPr>
          <a:xfrm>
            <a:off x="8348472" y="5029200"/>
            <a:ext cx="3200400" cy="566928"/>
          </a:xfrm>
          <a:prstGeom prst="rect">
            <a:avLst/>
          </a:prstGeom>
          <a:noFill/>
          <a:ln/>
        </p:spPr>
        <p:txBody>
          <a:bodyPr wrap="square" lIns="0" tIns="0" rIns="0" bIns="0" rtlCol="0" anchor="ctr"/>
          <a:lstStyle/>
          <a:p>
            <a:pPr indent="0" marL="0">
              <a:buNone/>
            </a:pPr>
            <a:r>
              <a:rPr lang="en-US" sz="3400" b="1" dirty="0">
                <a:solidFill>
                  <a:srgbClr val="1FB6E0"/>
                </a:solidFill>
                <a:latin typeface="Yu Gothic" pitchFamily="34" charset="0"/>
                <a:ea typeface="Yu Gothic" pitchFamily="34" charset="-122"/>
                <a:cs typeface="Yu Gothic" pitchFamily="34" charset="-120"/>
              </a:rPr>
              <a:t>3分</a:t>
            </a:r>
            <a:endParaRPr lang="en-US" sz="3400" dirty="0"/>
          </a:p>
        </p:txBody>
      </p:sp>
      <p:sp>
        <p:nvSpPr>
          <p:cNvPr id="24" name="Text 19"/>
          <p:cNvSpPr/>
          <p:nvPr/>
        </p:nvSpPr>
        <p:spPr>
          <a:xfrm>
            <a:off x="8348472" y="5614416"/>
            <a:ext cx="3200400" cy="548640"/>
          </a:xfrm>
          <a:prstGeom prst="rect">
            <a:avLst/>
          </a:prstGeom>
          <a:noFill/>
          <a:ln/>
        </p:spPr>
        <p:txBody>
          <a:bodyPr wrap="square" lIns="0" tIns="0" rIns="0" bIns="0" rtlCol="0" anchor="ctr"/>
          <a:lstStyle/>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カラータイマー＝</a:t>
            </a:r>
            <a:endParaRPr lang="en-US" sz="1050" dirty="0"/>
          </a:p>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本提案の中核体験</a:t>
            </a:r>
            <a:endParaRPr lang="en-US" sz="1050" dirty="0"/>
          </a:p>
        </p:txBody>
      </p:sp>
      <p:sp>
        <p:nvSpPr>
          <p:cNvPr id="25" name="Text 20"/>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6" name="Text 2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WHY NOW</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なぜ「いま」なのか — 3つの追い風</a:t>
            </a:r>
            <a:endParaRPr lang="en-US" sz="2800" dirty="0"/>
          </a:p>
        </p:txBody>
      </p:sp>
      <p:sp>
        <p:nvSpPr>
          <p:cNvPr id="4" name="Shape 2"/>
          <p:cNvSpPr/>
          <p:nvPr/>
        </p:nvSpPr>
        <p:spPr>
          <a:xfrm>
            <a:off x="548640" y="1691640"/>
            <a:ext cx="3611880" cy="4160520"/>
          </a:xfrm>
          <a:prstGeom prst="roundRect">
            <a:avLst>
              <a:gd name="adj" fmla="val 2532"/>
            </a:avLst>
          </a:prstGeom>
          <a:solidFill>
            <a:srgbClr val="F2F5F9"/>
          </a:solidFill>
          <a:ln/>
        </p:spPr>
      </p:sp>
      <p:sp>
        <p:nvSpPr>
          <p:cNvPr id="5" name="Shape 3"/>
          <p:cNvSpPr/>
          <p:nvPr/>
        </p:nvSpPr>
        <p:spPr>
          <a:xfrm>
            <a:off x="868680" y="2011680"/>
            <a:ext cx="658368" cy="658368"/>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1046439" y="2189439"/>
            <a:ext cx="302849" cy="302849"/>
          </a:xfrm>
          <a:prstGeom prst="rect">
            <a:avLst/>
          </a:prstGeom>
        </p:spPr>
      </p:pic>
      <p:sp>
        <p:nvSpPr>
          <p:cNvPr id="7" name="Text 4"/>
          <p:cNvSpPr/>
          <p:nvPr/>
        </p:nvSpPr>
        <p:spPr>
          <a:xfrm>
            <a:off x="868680" y="2880360"/>
            <a:ext cx="3017520" cy="68580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① 60周年イヤーの熱量</a:t>
            </a:r>
            <a:endParaRPr lang="en-US" sz="1600" dirty="0"/>
          </a:p>
        </p:txBody>
      </p:sp>
      <p:sp>
        <p:nvSpPr>
          <p:cNvPr id="8" name="Text 5"/>
          <p:cNvSpPr/>
          <p:nvPr/>
        </p:nvSpPr>
        <p:spPr>
          <a:xfrm>
            <a:off x="868680" y="3611880"/>
            <a:ext cx="3017520" cy="210312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2026年はウルトラマンシリーズ放送開始60周年。60周年プロジェクトが進行中で、記念作『ウルトラマンテオ』は世界同時放送・同時配信。露出量・ファンの熱量・小売の棚の注目度が、今年から来年にかけて最高潮に達します。</a:t>
            </a:r>
            <a:endParaRPr lang="en-US" sz="1150" dirty="0"/>
          </a:p>
        </p:txBody>
      </p:sp>
      <p:sp>
        <p:nvSpPr>
          <p:cNvPr id="9" name="Shape 6"/>
          <p:cNvSpPr/>
          <p:nvPr/>
        </p:nvSpPr>
        <p:spPr>
          <a:xfrm>
            <a:off x="4334256" y="1691640"/>
            <a:ext cx="3611880" cy="4160520"/>
          </a:xfrm>
          <a:prstGeom prst="roundRect">
            <a:avLst>
              <a:gd name="adj" fmla="val 2532"/>
            </a:avLst>
          </a:prstGeom>
          <a:solidFill>
            <a:srgbClr val="F2F5F9"/>
          </a:solidFill>
          <a:ln/>
        </p:spPr>
      </p:sp>
      <p:sp>
        <p:nvSpPr>
          <p:cNvPr id="10" name="Shape 7"/>
          <p:cNvSpPr/>
          <p:nvPr/>
        </p:nvSpPr>
        <p:spPr>
          <a:xfrm>
            <a:off x="4654296" y="2011680"/>
            <a:ext cx="658368" cy="658368"/>
          </a:xfrm>
          <a:prstGeom prst="ellipse">
            <a:avLst/>
          </a:prstGeom>
          <a:solidFill>
            <a:srgbClr val="0B132B"/>
          </a:solidFill>
          <a:ln/>
        </p:spPr>
      </p:sp>
      <p:pic>
        <p:nvPicPr>
          <p:cNvPr id="11" name="Image 1" descr="preencoded.png">    </p:cNvPr>
          <p:cNvPicPr>
            <a:picLocks noChangeAspect="1"/>
          </p:cNvPicPr>
          <p:nvPr/>
        </p:nvPicPr>
        <p:blipFill>
          <a:blip r:embed="rId2"/>
          <a:stretch>
            <a:fillRect/>
          </a:stretch>
        </p:blipFill>
        <p:spPr>
          <a:xfrm>
            <a:off x="4832055" y="2189439"/>
            <a:ext cx="302849" cy="302849"/>
          </a:xfrm>
          <a:prstGeom prst="rect">
            <a:avLst/>
          </a:prstGeom>
        </p:spPr>
      </p:pic>
      <p:sp>
        <p:nvSpPr>
          <p:cNvPr id="12" name="Text 8"/>
          <p:cNvSpPr/>
          <p:nvPr/>
        </p:nvSpPr>
        <p:spPr>
          <a:xfrm>
            <a:off x="4654296" y="2880360"/>
            <a:ext cx="3017520" cy="68580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② 半世紀ぶりの再タッグ</a:t>
            </a:r>
            <a:endParaRPr lang="en-US" sz="1600" dirty="0"/>
          </a:p>
        </p:txBody>
      </p:sp>
      <p:sp>
        <p:nvSpPr>
          <p:cNvPr id="13" name="Text 9"/>
          <p:cNvSpPr/>
          <p:nvPr/>
        </p:nvSpPr>
        <p:spPr>
          <a:xfrm>
            <a:off x="4654296" y="3611880"/>
            <a:ext cx="3017520" cy="210312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1970年代、ロッテはウルトラマンのアイスを販売していました。「あのロッテとウルトラマンが半世紀ぶりに再会し、今度はカテゴリーを創る」— この物語自体が、発表時の大きなニュースになります。</a:t>
            </a:r>
            <a:endParaRPr lang="en-US" sz="1150" dirty="0"/>
          </a:p>
        </p:txBody>
      </p:sp>
      <p:sp>
        <p:nvSpPr>
          <p:cNvPr id="14" name="Shape 10"/>
          <p:cNvSpPr/>
          <p:nvPr/>
        </p:nvSpPr>
        <p:spPr>
          <a:xfrm>
            <a:off x="8119872" y="1691640"/>
            <a:ext cx="3611880" cy="4160520"/>
          </a:xfrm>
          <a:prstGeom prst="roundRect">
            <a:avLst>
              <a:gd name="adj" fmla="val 2532"/>
            </a:avLst>
          </a:prstGeom>
          <a:solidFill>
            <a:srgbClr val="F2F5F9"/>
          </a:solidFill>
          <a:ln/>
        </p:spPr>
      </p:sp>
      <p:sp>
        <p:nvSpPr>
          <p:cNvPr id="15" name="Shape 11"/>
          <p:cNvSpPr/>
          <p:nvPr/>
        </p:nvSpPr>
        <p:spPr>
          <a:xfrm>
            <a:off x="8439912" y="2011680"/>
            <a:ext cx="658368" cy="658368"/>
          </a:xfrm>
          <a:prstGeom prst="ellipse">
            <a:avLst/>
          </a:prstGeom>
          <a:solidFill>
            <a:srgbClr val="1FB6E0"/>
          </a:solidFill>
          <a:ln/>
        </p:spPr>
      </p:sp>
      <p:pic>
        <p:nvPicPr>
          <p:cNvPr id="16" name="Image 2" descr="preencoded.png">    </p:cNvPr>
          <p:cNvPicPr>
            <a:picLocks noChangeAspect="1"/>
          </p:cNvPicPr>
          <p:nvPr/>
        </p:nvPicPr>
        <p:blipFill>
          <a:blip r:embed="rId3"/>
          <a:stretch>
            <a:fillRect/>
          </a:stretch>
        </p:blipFill>
        <p:spPr>
          <a:xfrm>
            <a:off x="8617671" y="2189439"/>
            <a:ext cx="302849" cy="302849"/>
          </a:xfrm>
          <a:prstGeom prst="rect">
            <a:avLst/>
          </a:prstGeom>
        </p:spPr>
      </p:pic>
      <p:sp>
        <p:nvSpPr>
          <p:cNvPr id="17" name="Text 12"/>
          <p:cNvSpPr/>
          <p:nvPr/>
        </p:nvSpPr>
        <p:spPr>
          <a:xfrm>
            <a:off x="8439912" y="2880360"/>
            <a:ext cx="3017520" cy="68580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③ 菓子売場の構造変化</a:t>
            </a:r>
            <a:endParaRPr lang="en-US" sz="1600" dirty="0"/>
          </a:p>
        </p:txBody>
      </p:sp>
      <p:sp>
        <p:nvSpPr>
          <p:cNvPr id="18" name="Text 13"/>
          <p:cNvSpPr/>
          <p:nvPr/>
        </p:nvSpPr>
        <p:spPr>
          <a:xfrm>
            <a:off x="8439912" y="3611880"/>
            <a:ext cx="3017520" cy="210312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ガム市場はピーク比で4割超縮小する一方、グミは拡大しガムを逆転。御社は「噛むこと」の健康価値研究を推進中です。噛む価値を新しい体験に転換する旗艦カテゴリーが求められる局面と拝察します。</a:t>
            </a:r>
            <a:endParaRPr lang="en-US" sz="1150" dirty="0"/>
          </a:p>
        </p:txBody>
      </p:sp>
      <p:sp>
        <p:nvSpPr>
          <p:cNvPr id="19" name="Text 14"/>
          <p:cNvSpPr/>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5A6474"/>
                </a:solidFill>
                <a:latin typeface="Yu Gothic" pitchFamily="34" charset="0"/>
                <a:ea typeface="Yu Gothic" pitchFamily="34" charset="-122"/>
                <a:cs typeface="Yu Gothic" pitchFamily="34" charset="-120"/>
              </a:rPr>
              <a:t>出典イメージ: ウルトラマンシリーズ60周年記念サイト、東洋経済・日経報道（ガム/グミ市場）、当時のロッテ製品資料</a:t>
            </a:r>
            <a:endParaRPr lang="en-US" sz="900" dirty="0"/>
          </a:p>
        </p:txBody>
      </p:sp>
      <p:sp>
        <p:nvSpPr>
          <p:cNvPr id="20" name="Text 15"/>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1" name="Text 16"/>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REFERENCE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学ぶべきは「コラボ」ではなく「カテゴリー創造」</a:t>
            </a:r>
            <a:endParaRPr lang="en-US" sz="2800" dirty="0"/>
          </a:p>
        </p:txBody>
      </p:sp>
      <p:sp>
        <p:nvSpPr>
          <p:cNvPr id="4" name="Shape 2"/>
          <p:cNvSpPr/>
          <p:nvPr/>
        </p:nvSpPr>
        <p:spPr>
          <a:xfrm>
            <a:off x="548640" y="1691640"/>
            <a:ext cx="5532120" cy="2880360"/>
          </a:xfrm>
          <a:prstGeom prst="roundRect">
            <a:avLst>
              <a:gd name="adj" fmla="val 3175"/>
            </a:avLst>
          </a:prstGeom>
          <a:solidFill>
            <a:srgbClr val="F2F5F9"/>
          </a:solidFill>
          <a:ln/>
        </p:spPr>
      </p:sp>
      <p:sp>
        <p:nvSpPr>
          <p:cNvPr id="5" name="Text 3"/>
          <p:cNvSpPr/>
          <p:nvPr/>
        </p:nvSpPr>
        <p:spPr>
          <a:xfrm>
            <a:off x="914400" y="1965960"/>
            <a:ext cx="4846320" cy="502920"/>
          </a:xfrm>
          <a:prstGeom prst="rect">
            <a:avLst/>
          </a:prstGeom>
          <a:noFill/>
          <a:ln/>
        </p:spPr>
        <p:txBody>
          <a:bodyPr wrap="square" lIns="0" tIns="0" rIns="0" bIns="0" rtlCol="0" anchor="ctr"/>
          <a:lstStyle/>
          <a:p>
            <a:pPr indent="0" marL="0">
              <a:buNone/>
            </a:pPr>
            <a:r>
              <a:rPr lang="en-US" sz="1600" b="1" dirty="0">
                <a:solidFill>
                  <a:srgbClr val="D7002F"/>
                </a:solidFill>
                <a:latin typeface="Yu Gothic" pitchFamily="34" charset="0"/>
                <a:ea typeface="Yu Gothic" pitchFamily="34" charset="-122"/>
                <a:cs typeface="Yu Gothic" pitchFamily="34" charset="-120"/>
              </a:rPr>
              <a:t>ビックリマンチョコ（ロッテ・1977〜）</a:t>
            </a:r>
            <a:endParaRPr lang="en-US" sz="1600" dirty="0"/>
          </a:p>
        </p:txBody>
      </p:sp>
      <p:sp>
        <p:nvSpPr>
          <p:cNvPr id="6" name="Text 4"/>
          <p:cNvSpPr/>
          <p:nvPr/>
        </p:nvSpPr>
        <p:spPr>
          <a:xfrm>
            <a:off x="914400" y="2514600"/>
            <a:ext cx="4846320" cy="137160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チョコにおまけを付けた商品ではなく、「シールを集める」という文化の発明。1985年の悪魔VS天使シールで社会現象化し、最盛期は年間4億個。「お一人様3個まで」が全国に広がりました。</a:t>
            </a:r>
            <a:endParaRPr lang="en-US" sz="1150" dirty="0"/>
          </a:p>
        </p:txBody>
      </p:sp>
      <p:sp>
        <p:nvSpPr>
          <p:cNvPr id="7" name="Shape 5"/>
          <p:cNvSpPr/>
          <p:nvPr/>
        </p:nvSpPr>
        <p:spPr>
          <a:xfrm>
            <a:off x="914400" y="3931920"/>
            <a:ext cx="3108960" cy="402336"/>
          </a:xfrm>
          <a:prstGeom prst="roundRect">
            <a:avLst>
              <a:gd name="adj" fmla="val 50000"/>
            </a:avLst>
          </a:prstGeom>
          <a:solidFill>
            <a:srgbClr val="D7002F"/>
          </a:solidFill>
          <a:ln/>
        </p:spPr>
      </p:sp>
      <p:sp>
        <p:nvSpPr>
          <p:cNvPr id="8" name="Text 6"/>
          <p:cNvSpPr/>
          <p:nvPr/>
        </p:nvSpPr>
        <p:spPr>
          <a:xfrm>
            <a:off x="914400" y="3931920"/>
            <a:ext cx="3108960"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発明したもの＝収集の習慣</a:t>
            </a:r>
            <a:endParaRPr lang="en-US" sz="1150" dirty="0"/>
          </a:p>
        </p:txBody>
      </p:sp>
      <p:sp>
        <p:nvSpPr>
          <p:cNvPr id="9" name="Shape 7"/>
          <p:cNvSpPr/>
          <p:nvPr/>
        </p:nvSpPr>
        <p:spPr>
          <a:xfrm>
            <a:off x="6263640" y="1691640"/>
            <a:ext cx="5532120" cy="2880360"/>
          </a:xfrm>
          <a:prstGeom prst="roundRect">
            <a:avLst>
              <a:gd name="adj" fmla="val 3175"/>
            </a:avLst>
          </a:prstGeom>
          <a:solidFill>
            <a:srgbClr val="F2F5F9"/>
          </a:solidFill>
          <a:ln/>
        </p:spPr>
      </p:sp>
      <p:sp>
        <p:nvSpPr>
          <p:cNvPr id="10" name="Text 8"/>
          <p:cNvSpPr/>
          <p:nvPr/>
        </p:nvSpPr>
        <p:spPr>
          <a:xfrm>
            <a:off x="6629400" y="1965960"/>
            <a:ext cx="4846320" cy="502920"/>
          </a:xfrm>
          <a:prstGeom prst="rect">
            <a:avLst/>
          </a:prstGeom>
          <a:noFill/>
          <a:ln/>
        </p:spPr>
        <p:txBody>
          <a:bodyPr wrap="square" lIns="0" tIns="0" rIns="0" bIns="0" rtlCol="0" anchor="ctr"/>
          <a:lstStyle/>
          <a:p>
            <a:pPr indent="0" marL="0">
              <a:buNone/>
            </a:pPr>
            <a:r>
              <a:rPr lang="en-US" sz="1600" b="1" dirty="0">
                <a:solidFill>
                  <a:srgbClr val="0B132B"/>
                </a:solidFill>
                <a:latin typeface="Yu Gothic" pitchFamily="34" charset="0"/>
                <a:ea typeface="Yu Gothic" pitchFamily="34" charset="-122"/>
                <a:cs typeface="Yu Gothic" pitchFamily="34" charset="-120"/>
              </a:rPr>
              <a:t>おーいお茶（伊藤園・1989〜）</a:t>
            </a:r>
            <a:endParaRPr lang="en-US" sz="1600" dirty="0"/>
          </a:p>
        </p:txBody>
      </p:sp>
      <p:sp>
        <p:nvSpPr>
          <p:cNvPr id="11" name="Text 9"/>
          <p:cNvSpPr/>
          <p:nvPr/>
        </p:nvSpPr>
        <p:spPr>
          <a:xfrm>
            <a:off x="6629400" y="2514600"/>
            <a:ext cx="4846320" cy="137160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お茶という商品を売ったのではなく、「緑茶は缶・ペットボトルで買うもの」という常識の発明。急須の代替ではなく、まったく新しい飲用シーンを創出しました。</a:t>
            </a:r>
            <a:endParaRPr lang="en-US" sz="1150" dirty="0"/>
          </a:p>
        </p:txBody>
      </p:sp>
      <p:sp>
        <p:nvSpPr>
          <p:cNvPr id="12" name="Shape 10"/>
          <p:cNvSpPr/>
          <p:nvPr/>
        </p:nvSpPr>
        <p:spPr>
          <a:xfrm>
            <a:off x="6629400" y="3931920"/>
            <a:ext cx="3108960" cy="402336"/>
          </a:xfrm>
          <a:prstGeom prst="roundRect">
            <a:avLst>
              <a:gd name="adj" fmla="val 50000"/>
            </a:avLst>
          </a:prstGeom>
          <a:solidFill>
            <a:srgbClr val="0B132B"/>
          </a:solidFill>
          <a:ln/>
        </p:spPr>
      </p:sp>
      <p:sp>
        <p:nvSpPr>
          <p:cNvPr id="13" name="Text 11"/>
          <p:cNvSpPr/>
          <p:nvPr/>
        </p:nvSpPr>
        <p:spPr>
          <a:xfrm>
            <a:off x="6629400" y="3931920"/>
            <a:ext cx="3108960"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発明したもの＝購買の習慣</a:t>
            </a:r>
            <a:endParaRPr lang="en-US" sz="1150" dirty="0"/>
          </a:p>
        </p:txBody>
      </p:sp>
      <p:sp>
        <p:nvSpPr>
          <p:cNvPr id="14" name="Shape 12"/>
          <p:cNvSpPr/>
          <p:nvPr/>
        </p:nvSpPr>
        <p:spPr>
          <a:xfrm>
            <a:off x="548640" y="4983480"/>
            <a:ext cx="11064240" cy="1005840"/>
          </a:xfrm>
          <a:prstGeom prst="roundRect">
            <a:avLst>
              <a:gd name="adj" fmla="val 9091"/>
            </a:avLst>
          </a:prstGeom>
          <a:solidFill>
            <a:srgbClr val="0B132B"/>
          </a:solidFill>
          <a:ln/>
        </p:spPr>
      </p:sp>
      <p:sp>
        <p:nvSpPr>
          <p:cNvPr id="15" name="Text 13"/>
          <p:cNvSpPr/>
          <p:nvPr/>
        </p:nvSpPr>
        <p:spPr>
          <a:xfrm>
            <a:off x="914400" y="4983480"/>
            <a:ext cx="10332720" cy="1005840"/>
          </a:xfrm>
          <a:prstGeom prst="rect">
            <a:avLst/>
          </a:prstGeom>
          <a:noFill/>
          <a:ln/>
        </p:spPr>
        <p:txBody>
          <a:bodyPr wrap="square" lIns="0" tIns="0" rIns="0" bIns="0" rtlCol="0" anchor="ctr"/>
          <a:lstStyle/>
          <a:p>
            <a:pPr indent="0" marL="0">
              <a:lnSpc>
                <a:spcPts val="2100"/>
              </a:lnSpc>
              <a:buNone/>
            </a:pPr>
            <a:r>
              <a:rPr lang="en-US" sz="1400" b="1" dirty="0">
                <a:solidFill>
                  <a:srgbClr val="1FB6E0"/>
                </a:solidFill>
                <a:latin typeface="Yu Gothic" pitchFamily="34" charset="0"/>
                <a:ea typeface="Yu Gothic" pitchFamily="34" charset="-122"/>
                <a:cs typeface="Yu Gothic" pitchFamily="34" charset="-120"/>
              </a:rPr>
              <a:t>共通項：</a:t>
            </a:r>
            <a:pPr indent="0" marL="0">
              <a:lnSpc>
                <a:spcPts val="2100"/>
              </a:lnSpc>
              <a:buNone/>
            </a:pPr>
            <a:r>
              <a:rPr lang="en-US" sz="1400" dirty="0">
                <a:solidFill>
                  <a:srgbClr val="FFFFFF"/>
                </a:solidFill>
                <a:latin typeface="Yu Gothic" pitchFamily="34" charset="0"/>
                <a:ea typeface="Yu Gothic" pitchFamily="34" charset="-122"/>
                <a:cs typeface="Yu Gothic" pitchFamily="34" charset="-120"/>
              </a:rPr>
              <a:t>どちらも商品スペックではなく、新しい習慣と文化を発明した。私たちが創るのも「ウルトラマンのお菓子」ではなく、</a:t>
            </a:r>
            <a:pPr indent="0" marL="0">
              <a:lnSpc>
                <a:spcPts val="2100"/>
              </a:lnSpc>
              <a:buNone/>
            </a:pPr>
            <a:r>
              <a:rPr lang="en-US" sz="1400" b="1" dirty="0">
                <a:solidFill>
                  <a:srgbClr val="1FB6E0"/>
                </a:solidFill>
                <a:latin typeface="Yu Gothic" pitchFamily="34" charset="0"/>
                <a:ea typeface="Yu Gothic" pitchFamily="34" charset="-122"/>
                <a:cs typeface="Yu Gothic" pitchFamily="34" charset="-120"/>
              </a:rPr>
              <a:t>ウルトラマンでしか成立しない新しい習慣</a:t>
            </a:r>
            <a:pPr indent="0" marL="0">
              <a:lnSpc>
                <a:spcPts val="2100"/>
              </a:lnSpc>
              <a:buNone/>
            </a:pPr>
            <a:r>
              <a:rPr lang="en-US" sz="1400" dirty="0">
                <a:solidFill>
                  <a:srgbClr val="FFFFFF"/>
                </a:solidFill>
                <a:latin typeface="Yu Gothic" pitchFamily="34" charset="0"/>
                <a:ea typeface="Yu Gothic" pitchFamily="34" charset="-122"/>
                <a:cs typeface="Yu Gothic" pitchFamily="34" charset="-120"/>
              </a:rPr>
              <a:t>です。</a:t>
            </a:r>
            <a:endParaRPr lang="en-US" sz="140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17" name="Text 15"/>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TRACK RECORD</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御社は約10年ごとに、カテゴリーを発明してきた</a:t>
            </a:r>
            <a:endParaRPr lang="en-US" sz="2800" dirty="0"/>
          </a:p>
        </p:txBody>
      </p:sp>
      <p:sp>
        <p:nvSpPr>
          <p:cNvPr id="4" name="Shape 2"/>
          <p:cNvSpPr/>
          <p:nvPr/>
        </p:nvSpPr>
        <p:spPr>
          <a:xfrm>
            <a:off x="548640" y="1691640"/>
            <a:ext cx="2606040" cy="1417320"/>
          </a:xfrm>
          <a:prstGeom prst="roundRect">
            <a:avLst>
              <a:gd name="adj" fmla="val 5161"/>
            </a:avLst>
          </a:prstGeom>
          <a:solidFill>
            <a:srgbClr val="F2F5F9"/>
          </a:solidFill>
          <a:ln/>
        </p:spPr>
      </p:sp>
      <p:sp>
        <p:nvSpPr>
          <p:cNvPr id="5" name="Text 3"/>
          <p:cNvSpPr/>
          <p:nvPr/>
        </p:nvSpPr>
        <p:spPr>
          <a:xfrm>
            <a:off x="777240" y="1837944"/>
            <a:ext cx="2148840" cy="292608"/>
          </a:xfrm>
          <a:prstGeom prst="rect">
            <a:avLst/>
          </a:prstGeom>
          <a:noFill/>
          <a:ln/>
        </p:spPr>
        <p:txBody>
          <a:bodyPr wrap="square" lIns="0" tIns="0" rIns="0" bIns="0" rtlCol="0" anchor="ctr"/>
          <a:lstStyle/>
          <a:p>
            <a:pPr indent="0" marL="0">
              <a:buNone/>
            </a:pPr>
            <a:r>
              <a:rPr lang="en-US" sz="1300" b="1" dirty="0">
                <a:solidFill>
                  <a:srgbClr val="0B132B"/>
                </a:solidFill>
                <a:latin typeface="Yu Gothic" pitchFamily="34" charset="0"/>
                <a:ea typeface="Yu Gothic" pitchFamily="34" charset="-122"/>
                <a:cs typeface="Yu Gothic" pitchFamily="34" charset="-120"/>
              </a:rPr>
              <a:t>1957</a:t>
            </a:r>
            <a:endParaRPr lang="en-US" sz="1300" dirty="0"/>
          </a:p>
        </p:txBody>
      </p:sp>
      <p:sp>
        <p:nvSpPr>
          <p:cNvPr id="6" name="Text 4"/>
          <p:cNvSpPr/>
          <p:nvPr/>
        </p:nvSpPr>
        <p:spPr>
          <a:xfrm>
            <a:off x="777240" y="2148840"/>
            <a:ext cx="2148840" cy="36576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グリーンガム</a:t>
            </a:r>
            <a:endParaRPr lang="en-US" sz="1500" dirty="0"/>
          </a:p>
        </p:txBody>
      </p:sp>
      <p:sp>
        <p:nvSpPr>
          <p:cNvPr id="7" name="Text 5"/>
          <p:cNvSpPr/>
          <p:nvPr/>
        </p:nvSpPr>
        <p:spPr>
          <a:xfrm>
            <a:off x="777240" y="2560320"/>
            <a:ext cx="2148840" cy="320040"/>
          </a:xfrm>
          <a:prstGeom prst="rect">
            <a:avLst/>
          </a:prstGeom>
          <a:noFill/>
          <a:ln/>
        </p:spPr>
        <p:txBody>
          <a:bodyPr wrap="square" lIns="0" tIns="0" rIns="0" bIns="0" rtlCol="0" anchor="ctr"/>
          <a:lstStyle/>
          <a:p>
            <a:pPr indent="0" marL="0">
              <a:buNone/>
            </a:pPr>
            <a:r>
              <a:rPr lang="en-US" sz="1050" dirty="0">
                <a:solidFill>
                  <a:srgbClr val="5A6474"/>
                </a:solidFill>
                <a:latin typeface="Yu Gothic" pitchFamily="34" charset="0"/>
                <a:ea typeface="Yu Gothic" pitchFamily="34" charset="-122"/>
                <a:cs typeface="Yu Gothic" pitchFamily="34" charset="-120"/>
              </a:rPr>
              <a:t>ガム＝ロッテの確立</a:t>
            </a:r>
            <a:endParaRPr lang="en-US" sz="1050" dirty="0"/>
          </a:p>
        </p:txBody>
      </p:sp>
      <p:sp>
        <p:nvSpPr>
          <p:cNvPr id="8" name="Shape 6"/>
          <p:cNvSpPr/>
          <p:nvPr/>
        </p:nvSpPr>
        <p:spPr>
          <a:xfrm>
            <a:off x="3364992" y="1691640"/>
            <a:ext cx="2606040" cy="1417320"/>
          </a:xfrm>
          <a:prstGeom prst="roundRect">
            <a:avLst>
              <a:gd name="adj" fmla="val 5161"/>
            </a:avLst>
          </a:prstGeom>
          <a:solidFill>
            <a:srgbClr val="F2F5F9"/>
          </a:solidFill>
          <a:ln/>
        </p:spPr>
      </p:sp>
      <p:sp>
        <p:nvSpPr>
          <p:cNvPr id="9" name="Text 7"/>
          <p:cNvSpPr/>
          <p:nvPr/>
        </p:nvSpPr>
        <p:spPr>
          <a:xfrm>
            <a:off x="3593592" y="1837944"/>
            <a:ext cx="2148840" cy="292608"/>
          </a:xfrm>
          <a:prstGeom prst="rect">
            <a:avLst/>
          </a:prstGeom>
          <a:noFill/>
          <a:ln/>
        </p:spPr>
        <p:txBody>
          <a:bodyPr wrap="square" lIns="0" tIns="0" rIns="0" bIns="0" rtlCol="0" anchor="ctr"/>
          <a:lstStyle/>
          <a:p>
            <a:pPr indent="0" marL="0">
              <a:buNone/>
            </a:pPr>
            <a:r>
              <a:rPr lang="en-US" sz="1300" b="1" dirty="0">
                <a:solidFill>
                  <a:srgbClr val="D7002F"/>
                </a:solidFill>
                <a:latin typeface="Yu Gothic" pitchFamily="34" charset="0"/>
                <a:ea typeface="Yu Gothic" pitchFamily="34" charset="-122"/>
                <a:cs typeface="Yu Gothic" pitchFamily="34" charset="-120"/>
              </a:rPr>
              <a:t>1964</a:t>
            </a:r>
            <a:endParaRPr lang="en-US" sz="1300" dirty="0"/>
          </a:p>
        </p:txBody>
      </p:sp>
      <p:sp>
        <p:nvSpPr>
          <p:cNvPr id="10" name="Text 8"/>
          <p:cNvSpPr/>
          <p:nvPr/>
        </p:nvSpPr>
        <p:spPr>
          <a:xfrm>
            <a:off x="3593592" y="2148840"/>
            <a:ext cx="2148840" cy="36576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ガーナチョコ</a:t>
            </a:r>
            <a:endParaRPr lang="en-US" sz="1500" dirty="0"/>
          </a:p>
        </p:txBody>
      </p:sp>
      <p:sp>
        <p:nvSpPr>
          <p:cNvPr id="11" name="Text 9"/>
          <p:cNvSpPr/>
          <p:nvPr/>
        </p:nvSpPr>
        <p:spPr>
          <a:xfrm>
            <a:off x="3593592" y="2560320"/>
            <a:ext cx="2148840" cy="320040"/>
          </a:xfrm>
          <a:prstGeom prst="rect">
            <a:avLst/>
          </a:prstGeom>
          <a:noFill/>
          <a:ln/>
        </p:spPr>
        <p:txBody>
          <a:bodyPr wrap="square" lIns="0" tIns="0" rIns="0" bIns="0" rtlCol="0" anchor="ctr"/>
          <a:lstStyle/>
          <a:p>
            <a:pPr indent="0" marL="0">
              <a:buNone/>
            </a:pPr>
            <a:r>
              <a:rPr lang="en-US" sz="1050" dirty="0">
                <a:solidFill>
                  <a:srgbClr val="5A6474"/>
                </a:solidFill>
                <a:latin typeface="Yu Gothic" pitchFamily="34" charset="0"/>
                <a:ea typeface="Yu Gothic" pitchFamily="34" charset="-122"/>
                <a:cs typeface="Yu Gothic" pitchFamily="34" charset="-120"/>
              </a:rPr>
              <a:t>後発からの定番化</a:t>
            </a:r>
            <a:endParaRPr lang="en-US" sz="1050" dirty="0"/>
          </a:p>
        </p:txBody>
      </p:sp>
      <p:sp>
        <p:nvSpPr>
          <p:cNvPr id="12" name="Shape 10"/>
          <p:cNvSpPr/>
          <p:nvPr/>
        </p:nvSpPr>
        <p:spPr>
          <a:xfrm>
            <a:off x="6181344" y="1691640"/>
            <a:ext cx="2606040" cy="1417320"/>
          </a:xfrm>
          <a:prstGeom prst="roundRect">
            <a:avLst>
              <a:gd name="adj" fmla="val 5161"/>
            </a:avLst>
          </a:prstGeom>
          <a:solidFill>
            <a:srgbClr val="F2F5F9"/>
          </a:solidFill>
          <a:ln/>
        </p:spPr>
      </p:sp>
      <p:sp>
        <p:nvSpPr>
          <p:cNvPr id="13" name="Text 11"/>
          <p:cNvSpPr/>
          <p:nvPr/>
        </p:nvSpPr>
        <p:spPr>
          <a:xfrm>
            <a:off x="6409944" y="1837944"/>
            <a:ext cx="2148840" cy="292608"/>
          </a:xfrm>
          <a:prstGeom prst="rect">
            <a:avLst/>
          </a:prstGeom>
          <a:noFill/>
          <a:ln/>
        </p:spPr>
        <p:txBody>
          <a:bodyPr wrap="square" lIns="0" tIns="0" rIns="0" bIns="0" rtlCol="0" anchor="ctr"/>
          <a:lstStyle/>
          <a:p>
            <a:pPr indent="0" marL="0">
              <a:buNone/>
            </a:pPr>
            <a:r>
              <a:rPr lang="en-US" sz="1300" b="1" dirty="0">
                <a:solidFill>
                  <a:srgbClr val="D7002F"/>
                </a:solidFill>
                <a:latin typeface="Yu Gothic" pitchFamily="34" charset="0"/>
                <a:ea typeface="Yu Gothic" pitchFamily="34" charset="-122"/>
                <a:cs typeface="Yu Gothic" pitchFamily="34" charset="-120"/>
              </a:rPr>
              <a:t>1977/85</a:t>
            </a:r>
            <a:endParaRPr lang="en-US" sz="1300" dirty="0"/>
          </a:p>
        </p:txBody>
      </p:sp>
      <p:sp>
        <p:nvSpPr>
          <p:cNvPr id="14" name="Text 12"/>
          <p:cNvSpPr/>
          <p:nvPr/>
        </p:nvSpPr>
        <p:spPr>
          <a:xfrm>
            <a:off x="6409944" y="2148840"/>
            <a:ext cx="2148840" cy="36576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ビックリマン</a:t>
            </a:r>
            <a:endParaRPr lang="en-US" sz="1500" dirty="0"/>
          </a:p>
        </p:txBody>
      </p:sp>
      <p:sp>
        <p:nvSpPr>
          <p:cNvPr id="15" name="Text 13"/>
          <p:cNvSpPr/>
          <p:nvPr/>
        </p:nvSpPr>
        <p:spPr>
          <a:xfrm>
            <a:off x="6409944" y="2560320"/>
            <a:ext cx="2148840" cy="320040"/>
          </a:xfrm>
          <a:prstGeom prst="rect">
            <a:avLst/>
          </a:prstGeom>
          <a:noFill/>
          <a:ln/>
        </p:spPr>
        <p:txBody>
          <a:bodyPr wrap="square" lIns="0" tIns="0" rIns="0" bIns="0" rtlCol="0" anchor="ctr"/>
          <a:lstStyle/>
          <a:p>
            <a:pPr indent="0" marL="0">
              <a:buNone/>
            </a:pPr>
            <a:r>
              <a:rPr lang="en-US" sz="1050" dirty="0">
                <a:solidFill>
                  <a:srgbClr val="5A6474"/>
                </a:solidFill>
                <a:latin typeface="Yu Gothic" pitchFamily="34" charset="0"/>
                <a:ea typeface="Yu Gothic" pitchFamily="34" charset="-122"/>
                <a:cs typeface="Yu Gothic" pitchFamily="34" charset="-120"/>
              </a:rPr>
              <a:t>シール食玩の発明</a:t>
            </a:r>
            <a:endParaRPr lang="en-US" sz="1050" dirty="0"/>
          </a:p>
        </p:txBody>
      </p:sp>
      <p:sp>
        <p:nvSpPr>
          <p:cNvPr id="16" name="Shape 14"/>
          <p:cNvSpPr/>
          <p:nvPr/>
        </p:nvSpPr>
        <p:spPr>
          <a:xfrm>
            <a:off x="8997696" y="1691640"/>
            <a:ext cx="2606040" cy="1417320"/>
          </a:xfrm>
          <a:prstGeom prst="roundRect">
            <a:avLst>
              <a:gd name="adj" fmla="val 5161"/>
            </a:avLst>
          </a:prstGeom>
          <a:solidFill>
            <a:srgbClr val="F2F5F9"/>
          </a:solidFill>
          <a:ln/>
        </p:spPr>
      </p:sp>
      <p:sp>
        <p:nvSpPr>
          <p:cNvPr id="17" name="Text 15"/>
          <p:cNvSpPr/>
          <p:nvPr/>
        </p:nvSpPr>
        <p:spPr>
          <a:xfrm>
            <a:off x="9226296" y="1837944"/>
            <a:ext cx="2148840" cy="292608"/>
          </a:xfrm>
          <a:prstGeom prst="rect">
            <a:avLst/>
          </a:prstGeom>
          <a:noFill/>
          <a:ln/>
        </p:spPr>
        <p:txBody>
          <a:bodyPr wrap="square" lIns="0" tIns="0" rIns="0" bIns="0" rtlCol="0" anchor="ctr"/>
          <a:lstStyle/>
          <a:p>
            <a:pPr indent="0" marL="0">
              <a:buNone/>
            </a:pPr>
            <a:r>
              <a:rPr lang="en-US" sz="1300" b="1" dirty="0">
                <a:solidFill>
                  <a:srgbClr val="0B132B"/>
                </a:solidFill>
                <a:latin typeface="Yu Gothic" pitchFamily="34" charset="0"/>
                <a:ea typeface="Yu Gothic" pitchFamily="34" charset="-122"/>
                <a:cs typeface="Yu Gothic" pitchFamily="34" charset="-120"/>
              </a:rPr>
              <a:t>1978</a:t>
            </a:r>
            <a:endParaRPr lang="en-US" sz="1300" dirty="0"/>
          </a:p>
        </p:txBody>
      </p:sp>
      <p:sp>
        <p:nvSpPr>
          <p:cNvPr id="18" name="Text 16"/>
          <p:cNvSpPr/>
          <p:nvPr/>
        </p:nvSpPr>
        <p:spPr>
          <a:xfrm>
            <a:off x="9226296" y="2148840"/>
            <a:ext cx="2148840" cy="36576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ホカロン</a:t>
            </a:r>
            <a:endParaRPr lang="en-US" sz="1500" dirty="0"/>
          </a:p>
        </p:txBody>
      </p:sp>
      <p:sp>
        <p:nvSpPr>
          <p:cNvPr id="19" name="Text 17"/>
          <p:cNvSpPr/>
          <p:nvPr/>
        </p:nvSpPr>
        <p:spPr>
          <a:xfrm>
            <a:off x="9226296" y="2560320"/>
            <a:ext cx="2148840" cy="320040"/>
          </a:xfrm>
          <a:prstGeom prst="rect">
            <a:avLst/>
          </a:prstGeom>
          <a:noFill/>
          <a:ln/>
        </p:spPr>
        <p:txBody>
          <a:bodyPr wrap="square" lIns="0" tIns="0" rIns="0" bIns="0" rtlCol="0" anchor="ctr"/>
          <a:lstStyle/>
          <a:p>
            <a:pPr indent="0" marL="0">
              <a:buNone/>
            </a:pPr>
            <a:r>
              <a:rPr lang="en-US" sz="1050" dirty="0">
                <a:solidFill>
                  <a:srgbClr val="5A6474"/>
                </a:solidFill>
                <a:latin typeface="Yu Gothic" pitchFamily="34" charset="0"/>
                <a:ea typeface="Yu Gothic" pitchFamily="34" charset="-122"/>
                <a:cs typeface="Yu Gothic" pitchFamily="34" charset="-120"/>
              </a:rPr>
              <a:t>使い捨てカイロ市場</a:t>
            </a:r>
            <a:endParaRPr lang="en-US" sz="1050" dirty="0"/>
          </a:p>
        </p:txBody>
      </p:sp>
      <p:sp>
        <p:nvSpPr>
          <p:cNvPr id="20" name="Shape 18"/>
          <p:cNvSpPr/>
          <p:nvPr/>
        </p:nvSpPr>
        <p:spPr>
          <a:xfrm>
            <a:off x="548640" y="3246120"/>
            <a:ext cx="2606040" cy="1417320"/>
          </a:xfrm>
          <a:prstGeom prst="roundRect">
            <a:avLst>
              <a:gd name="adj" fmla="val 5161"/>
            </a:avLst>
          </a:prstGeom>
          <a:solidFill>
            <a:srgbClr val="F2F5F9"/>
          </a:solidFill>
          <a:ln/>
        </p:spPr>
      </p:sp>
      <p:sp>
        <p:nvSpPr>
          <p:cNvPr id="21" name="Text 19"/>
          <p:cNvSpPr/>
          <p:nvPr/>
        </p:nvSpPr>
        <p:spPr>
          <a:xfrm>
            <a:off x="777240" y="3392424"/>
            <a:ext cx="2148840" cy="292608"/>
          </a:xfrm>
          <a:prstGeom prst="rect">
            <a:avLst/>
          </a:prstGeom>
          <a:noFill/>
          <a:ln/>
        </p:spPr>
        <p:txBody>
          <a:bodyPr wrap="square" lIns="0" tIns="0" rIns="0" bIns="0" rtlCol="0" anchor="ctr"/>
          <a:lstStyle/>
          <a:p>
            <a:pPr indent="0" marL="0">
              <a:buNone/>
            </a:pPr>
            <a:r>
              <a:rPr lang="en-US" sz="1300" b="1" dirty="0">
                <a:solidFill>
                  <a:srgbClr val="1FB6E0"/>
                </a:solidFill>
                <a:latin typeface="Yu Gothic" pitchFamily="34" charset="0"/>
                <a:ea typeface="Yu Gothic" pitchFamily="34" charset="-122"/>
                <a:cs typeface="Yu Gothic" pitchFamily="34" charset="-120"/>
              </a:rPr>
              <a:t>1981</a:t>
            </a:r>
            <a:endParaRPr lang="en-US" sz="1300" dirty="0"/>
          </a:p>
        </p:txBody>
      </p:sp>
      <p:sp>
        <p:nvSpPr>
          <p:cNvPr id="22" name="Text 20"/>
          <p:cNvSpPr/>
          <p:nvPr/>
        </p:nvSpPr>
        <p:spPr>
          <a:xfrm>
            <a:off x="777240" y="3703320"/>
            <a:ext cx="2148840" cy="36576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雪見だいふく</a:t>
            </a:r>
            <a:endParaRPr lang="en-US" sz="1500" dirty="0"/>
          </a:p>
        </p:txBody>
      </p:sp>
      <p:sp>
        <p:nvSpPr>
          <p:cNvPr id="23" name="Text 21"/>
          <p:cNvSpPr/>
          <p:nvPr/>
        </p:nvSpPr>
        <p:spPr>
          <a:xfrm>
            <a:off x="777240" y="4114800"/>
            <a:ext cx="2148840" cy="320040"/>
          </a:xfrm>
          <a:prstGeom prst="rect">
            <a:avLst/>
          </a:prstGeom>
          <a:noFill/>
          <a:ln/>
        </p:spPr>
        <p:txBody>
          <a:bodyPr wrap="square" lIns="0" tIns="0" rIns="0" bIns="0" rtlCol="0" anchor="ctr"/>
          <a:lstStyle/>
          <a:p>
            <a:pPr indent="0" marL="0">
              <a:buNone/>
            </a:pPr>
            <a:r>
              <a:rPr lang="en-US" sz="1050" dirty="0">
                <a:solidFill>
                  <a:srgbClr val="5A6474"/>
                </a:solidFill>
                <a:latin typeface="Yu Gothic" pitchFamily="34" charset="0"/>
                <a:ea typeface="Yu Gothic" pitchFamily="34" charset="-122"/>
                <a:cs typeface="Yu Gothic" pitchFamily="34" charset="-120"/>
              </a:rPr>
              <a:t>冬アイスの発明</a:t>
            </a:r>
            <a:endParaRPr lang="en-US" sz="1050" dirty="0"/>
          </a:p>
        </p:txBody>
      </p:sp>
      <p:sp>
        <p:nvSpPr>
          <p:cNvPr id="24" name="Shape 22"/>
          <p:cNvSpPr/>
          <p:nvPr/>
        </p:nvSpPr>
        <p:spPr>
          <a:xfrm>
            <a:off x="3364992" y="3246120"/>
            <a:ext cx="2606040" cy="1417320"/>
          </a:xfrm>
          <a:prstGeom prst="roundRect">
            <a:avLst>
              <a:gd name="adj" fmla="val 5161"/>
            </a:avLst>
          </a:prstGeom>
          <a:solidFill>
            <a:srgbClr val="F2F5F9"/>
          </a:solidFill>
          <a:ln/>
        </p:spPr>
      </p:sp>
      <p:sp>
        <p:nvSpPr>
          <p:cNvPr id="25" name="Text 23"/>
          <p:cNvSpPr/>
          <p:nvPr/>
        </p:nvSpPr>
        <p:spPr>
          <a:xfrm>
            <a:off x="3593592" y="3392424"/>
            <a:ext cx="2148840" cy="292608"/>
          </a:xfrm>
          <a:prstGeom prst="rect">
            <a:avLst/>
          </a:prstGeom>
          <a:noFill/>
          <a:ln/>
        </p:spPr>
        <p:txBody>
          <a:bodyPr wrap="square" lIns="0" tIns="0" rIns="0" bIns="0" rtlCol="0" anchor="ctr"/>
          <a:lstStyle/>
          <a:p>
            <a:pPr indent="0" marL="0">
              <a:buNone/>
            </a:pPr>
            <a:r>
              <a:rPr lang="en-US" sz="1300" b="1" dirty="0">
                <a:solidFill>
                  <a:srgbClr val="0B132B"/>
                </a:solidFill>
                <a:latin typeface="Yu Gothic" pitchFamily="34" charset="0"/>
                <a:ea typeface="Yu Gothic" pitchFamily="34" charset="-122"/>
                <a:cs typeface="Yu Gothic" pitchFamily="34" charset="-120"/>
              </a:rPr>
              <a:t>1997</a:t>
            </a:r>
            <a:endParaRPr lang="en-US" sz="1300" dirty="0"/>
          </a:p>
        </p:txBody>
      </p:sp>
      <p:sp>
        <p:nvSpPr>
          <p:cNvPr id="26" name="Text 24"/>
          <p:cNvSpPr/>
          <p:nvPr/>
        </p:nvSpPr>
        <p:spPr>
          <a:xfrm>
            <a:off x="3593592" y="3703320"/>
            <a:ext cx="2148840" cy="36576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キシリトール</a:t>
            </a:r>
            <a:endParaRPr lang="en-US" sz="1500" dirty="0"/>
          </a:p>
        </p:txBody>
      </p:sp>
      <p:sp>
        <p:nvSpPr>
          <p:cNvPr id="27" name="Text 25"/>
          <p:cNvSpPr/>
          <p:nvPr/>
        </p:nvSpPr>
        <p:spPr>
          <a:xfrm>
            <a:off x="3593592" y="4114800"/>
            <a:ext cx="2148840" cy="320040"/>
          </a:xfrm>
          <a:prstGeom prst="rect">
            <a:avLst/>
          </a:prstGeom>
          <a:noFill/>
          <a:ln/>
        </p:spPr>
        <p:txBody>
          <a:bodyPr wrap="square" lIns="0" tIns="0" rIns="0" bIns="0" rtlCol="0" anchor="ctr"/>
          <a:lstStyle/>
          <a:p>
            <a:pPr indent="0" marL="0">
              <a:buNone/>
            </a:pPr>
            <a:r>
              <a:rPr lang="en-US" sz="1050" dirty="0">
                <a:solidFill>
                  <a:srgbClr val="5A6474"/>
                </a:solidFill>
                <a:latin typeface="Yu Gothic" pitchFamily="34" charset="0"/>
                <a:ea typeface="Yu Gothic" pitchFamily="34" charset="-122"/>
                <a:cs typeface="Yu Gothic" pitchFamily="34" charset="-120"/>
              </a:rPr>
              <a:t>機能性ガムの創造</a:t>
            </a:r>
            <a:endParaRPr lang="en-US" sz="1050" dirty="0"/>
          </a:p>
        </p:txBody>
      </p:sp>
      <p:sp>
        <p:nvSpPr>
          <p:cNvPr id="28" name="Shape 26"/>
          <p:cNvSpPr/>
          <p:nvPr/>
        </p:nvSpPr>
        <p:spPr>
          <a:xfrm>
            <a:off x="6181344" y="3246120"/>
            <a:ext cx="2606040" cy="1417320"/>
          </a:xfrm>
          <a:prstGeom prst="roundRect">
            <a:avLst>
              <a:gd name="adj" fmla="val 5161"/>
            </a:avLst>
          </a:prstGeom>
          <a:solidFill>
            <a:srgbClr val="F2F5F9"/>
          </a:solidFill>
          <a:ln/>
        </p:spPr>
      </p:sp>
      <p:sp>
        <p:nvSpPr>
          <p:cNvPr id="29" name="Text 27"/>
          <p:cNvSpPr/>
          <p:nvPr/>
        </p:nvSpPr>
        <p:spPr>
          <a:xfrm>
            <a:off x="6409944" y="3392424"/>
            <a:ext cx="2148840" cy="292608"/>
          </a:xfrm>
          <a:prstGeom prst="rect">
            <a:avLst/>
          </a:prstGeom>
          <a:noFill/>
          <a:ln/>
        </p:spPr>
        <p:txBody>
          <a:bodyPr wrap="square" lIns="0" tIns="0" rIns="0" bIns="0" rtlCol="0" anchor="ctr"/>
          <a:lstStyle/>
          <a:p>
            <a:pPr indent="0" marL="0">
              <a:buNone/>
            </a:pPr>
            <a:r>
              <a:rPr lang="en-US" sz="1300" b="1" dirty="0">
                <a:solidFill>
                  <a:srgbClr val="1FB6E0"/>
                </a:solidFill>
                <a:latin typeface="Yu Gothic" pitchFamily="34" charset="0"/>
                <a:ea typeface="Yu Gothic" pitchFamily="34" charset="-122"/>
                <a:cs typeface="Yu Gothic" pitchFamily="34" charset="-120"/>
              </a:rPr>
              <a:t>2003</a:t>
            </a:r>
            <a:endParaRPr lang="en-US" sz="1300" dirty="0"/>
          </a:p>
        </p:txBody>
      </p:sp>
      <p:sp>
        <p:nvSpPr>
          <p:cNvPr id="30" name="Text 28"/>
          <p:cNvSpPr/>
          <p:nvPr/>
        </p:nvSpPr>
        <p:spPr>
          <a:xfrm>
            <a:off x="6409944" y="3703320"/>
            <a:ext cx="2148840" cy="36576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クーリッシュ</a:t>
            </a:r>
            <a:endParaRPr lang="en-US" sz="1500" dirty="0"/>
          </a:p>
        </p:txBody>
      </p:sp>
      <p:sp>
        <p:nvSpPr>
          <p:cNvPr id="31" name="Text 29"/>
          <p:cNvSpPr/>
          <p:nvPr/>
        </p:nvSpPr>
        <p:spPr>
          <a:xfrm>
            <a:off x="6409944" y="4114800"/>
            <a:ext cx="2148840" cy="320040"/>
          </a:xfrm>
          <a:prstGeom prst="rect">
            <a:avLst/>
          </a:prstGeom>
          <a:noFill/>
          <a:ln/>
        </p:spPr>
        <p:txBody>
          <a:bodyPr wrap="square" lIns="0" tIns="0" rIns="0" bIns="0" rtlCol="0" anchor="ctr"/>
          <a:lstStyle/>
          <a:p>
            <a:pPr indent="0" marL="0">
              <a:buNone/>
            </a:pPr>
            <a:r>
              <a:rPr lang="en-US" sz="1050" dirty="0">
                <a:solidFill>
                  <a:srgbClr val="5A6474"/>
                </a:solidFill>
                <a:latin typeface="Yu Gothic" pitchFamily="34" charset="0"/>
                <a:ea typeface="Yu Gothic" pitchFamily="34" charset="-122"/>
                <a:cs typeface="Yu Gothic" pitchFamily="34" charset="-120"/>
              </a:rPr>
              <a:t>飲むアイスの発明</a:t>
            </a:r>
            <a:endParaRPr lang="en-US" sz="1050" dirty="0"/>
          </a:p>
        </p:txBody>
      </p:sp>
      <p:sp>
        <p:nvSpPr>
          <p:cNvPr id="32" name="Shape 30"/>
          <p:cNvSpPr/>
          <p:nvPr/>
        </p:nvSpPr>
        <p:spPr>
          <a:xfrm>
            <a:off x="8997696" y="3246120"/>
            <a:ext cx="2606040" cy="1417320"/>
          </a:xfrm>
          <a:prstGeom prst="roundRect">
            <a:avLst>
              <a:gd name="adj" fmla="val 5161"/>
            </a:avLst>
          </a:prstGeom>
          <a:solidFill>
            <a:srgbClr val="F2F5F9"/>
          </a:solidFill>
          <a:ln/>
        </p:spPr>
      </p:sp>
      <p:sp>
        <p:nvSpPr>
          <p:cNvPr id="33" name="Text 31"/>
          <p:cNvSpPr/>
          <p:nvPr/>
        </p:nvSpPr>
        <p:spPr>
          <a:xfrm>
            <a:off x="9226296" y="3392424"/>
            <a:ext cx="2148840" cy="292608"/>
          </a:xfrm>
          <a:prstGeom prst="rect">
            <a:avLst/>
          </a:prstGeom>
          <a:noFill/>
          <a:ln/>
        </p:spPr>
        <p:txBody>
          <a:bodyPr wrap="square" lIns="0" tIns="0" rIns="0" bIns="0" rtlCol="0" anchor="ctr"/>
          <a:lstStyle/>
          <a:p>
            <a:pPr indent="0" marL="0">
              <a:buNone/>
            </a:pPr>
            <a:r>
              <a:rPr lang="en-US" sz="1300" b="1" dirty="0">
                <a:solidFill>
                  <a:srgbClr val="D7002F"/>
                </a:solidFill>
                <a:latin typeface="Yu Gothic" pitchFamily="34" charset="0"/>
                <a:ea typeface="Yu Gothic" pitchFamily="34" charset="-122"/>
                <a:cs typeface="Yu Gothic" pitchFamily="34" charset="-120"/>
              </a:rPr>
              <a:t>2015</a:t>
            </a:r>
            <a:endParaRPr lang="en-US" sz="1300" dirty="0"/>
          </a:p>
        </p:txBody>
      </p:sp>
      <p:sp>
        <p:nvSpPr>
          <p:cNvPr id="34" name="Text 32"/>
          <p:cNvSpPr/>
          <p:nvPr/>
        </p:nvSpPr>
        <p:spPr>
          <a:xfrm>
            <a:off x="9226296" y="3703320"/>
            <a:ext cx="2148840" cy="36576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乳酸菌ショコラ</a:t>
            </a:r>
            <a:endParaRPr lang="en-US" sz="1500" dirty="0"/>
          </a:p>
        </p:txBody>
      </p:sp>
      <p:sp>
        <p:nvSpPr>
          <p:cNvPr id="35" name="Text 33"/>
          <p:cNvSpPr/>
          <p:nvPr/>
        </p:nvSpPr>
        <p:spPr>
          <a:xfrm>
            <a:off x="9226296" y="4114800"/>
            <a:ext cx="2148840" cy="320040"/>
          </a:xfrm>
          <a:prstGeom prst="rect">
            <a:avLst/>
          </a:prstGeom>
          <a:noFill/>
          <a:ln/>
        </p:spPr>
        <p:txBody>
          <a:bodyPr wrap="square" lIns="0" tIns="0" rIns="0" bIns="0" rtlCol="0" anchor="ctr"/>
          <a:lstStyle/>
          <a:p>
            <a:pPr indent="0" marL="0">
              <a:buNone/>
            </a:pPr>
            <a:r>
              <a:rPr lang="en-US" sz="1050" dirty="0">
                <a:solidFill>
                  <a:srgbClr val="5A6474"/>
                </a:solidFill>
                <a:latin typeface="Yu Gothic" pitchFamily="34" charset="0"/>
                <a:ea typeface="Yu Gothic" pitchFamily="34" charset="-122"/>
                <a:cs typeface="Yu Gothic" pitchFamily="34" charset="-120"/>
              </a:rPr>
              <a:t>機能性チョコの創造</a:t>
            </a:r>
            <a:endParaRPr lang="en-US" sz="1050" dirty="0"/>
          </a:p>
        </p:txBody>
      </p:sp>
      <p:sp>
        <p:nvSpPr>
          <p:cNvPr id="36" name="Shape 34"/>
          <p:cNvSpPr/>
          <p:nvPr/>
        </p:nvSpPr>
        <p:spPr>
          <a:xfrm>
            <a:off x="548640" y="5074920"/>
            <a:ext cx="11064240" cy="960120"/>
          </a:xfrm>
          <a:prstGeom prst="roundRect">
            <a:avLst>
              <a:gd name="adj" fmla="val 9524"/>
            </a:avLst>
          </a:prstGeom>
          <a:solidFill>
            <a:srgbClr val="0B132B"/>
          </a:solidFill>
          <a:ln/>
        </p:spPr>
      </p:sp>
      <p:sp>
        <p:nvSpPr>
          <p:cNvPr id="37" name="Text 35"/>
          <p:cNvSpPr/>
          <p:nvPr/>
        </p:nvSpPr>
        <p:spPr>
          <a:xfrm>
            <a:off x="914400" y="5074920"/>
            <a:ext cx="10332720" cy="960120"/>
          </a:xfrm>
          <a:prstGeom prst="rect">
            <a:avLst/>
          </a:prstGeom>
          <a:noFill/>
          <a:ln/>
        </p:spPr>
        <p:txBody>
          <a:bodyPr wrap="square" lIns="0" tIns="0" rIns="0" bIns="0" rtlCol="0" anchor="ctr"/>
          <a:lstStyle/>
          <a:p>
            <a:pPr indent="0" marL="0">
              <a:buNone/>
            </a:pPr>
            <a:r>
              <a:rPr lang="en-US" sz="1500" b="1" dirty="0">
                <a:solidFill>
                  <a:srgbClr val="1FB6E0"/>
                </a:solidFill>
                <a:latin typeface="Yu Gothic" pitchFamily="34" charset="0"/>
                <a:ea typeface="Yu Gothic" pitchFamily="34" charset="-122"/>
                <a:cs typeface="Yu Gothic" pitchFamily="34" charset="-120"/>
              </a:rPr>
              <a:t>クーリッシュから20年。</a:t>
            </a:r>
            <a:pPr indent="0" marL="0">
              <a:buNone/>
            </a:pPr>
            <a:r>
              <a:rPr lang="en-US" sz="1500" dirty="0">
                <a:solidFill>
                  <a:srgbClr val="FFFFFF"/>
                </a:solidFill>
                <a:latin typeface="Yu Gothic" pitchFamily="34" charset="0"/>
                <a:ea typeface="Yu Gothic" pitchFamily="34" charset="-122"/>
                <a:cs typeface="Yu Gothic" pitchFamily="34" charset="-120"/>
              </a:rPr>
              <a:t>次の10年の発明を、ウルトラマンシリーズ60周年と一緒に打ちませんか。</a:t>
            </a:r>
            <a:endParaRPr lang="en-US" sz="1500" dirty="0"/>
          </a:p>
        </p:txBody>
      </p:sp>
      <p:sp>
        <p:nvSpPr>
          <p:cNvPr id="38" name="Text 36"/>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39" name="Text 3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FRAMEWORK</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カテゴリー創造の方程式</a:t>
            </a:r>
            <a:endParaRPr lang="en-US" sz="2800" dirty="0"/>
          </a:p>
        </p:txBody>
      </p:sp>
      <p:sp>
        <p:nvSpPr>
          <p:cNvPr id="4" name="Shape 2"/>
          <p:cNvSpPr/>
          <p:nvPr/>
        </p:nvSpPr>
        <p:spPr>
          <a:xfrm>
            <a:off x="548640" y="1737360"/>
            <a:ext cx="3291840" cy="2651760"/>
          </a:xfrm>
          <a:prstGeom prst="roundRect">
            <a:avLst>
              <a:gd name="adj" fmla="val 3448"/>
            </a:avLst>
          </a:prstGeom>
          <a:solidFill>
            <a:srgbClr val="F2F5F9"/>
          </a:solidFill>
          <a:ln/>
        </p:spPr>
      </p:sp>
      <p:sp>
        <p:nvSpPr>
          <p:cNvPr id="5" name="Shape 3"/>
          <p:cNvSpPr/>
          <p:nvPr/>
        </p:nvSpPr>
        <p:spPr>
          <a:xfrm>
            <a:off x="822960" y="1965960"/>
            <a:ext cx="548640" cy="548640"/>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971093" y="2114093"/>
            <a:ext cx="252374" cy="252374"/>
          </a:xfrm>
          <a:prstGeom prst="rect">
            <a:avLst/>
          </a:prstGeom>
        </p:spPr>
      </p:pic>
      <p:sp>
        <p:nvSpPr>
          <p:cNvPr id="7" name="Text 4"/>
          <p:cNvSpPr/>
          <p:nvPr/>
        </p:nvSpPr>
        <p:spPr>
          <a:xfrm>
            <a:off x="1508760" y="1965960"/>
            <a:ext cx="2194560" cy="54864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IPの本質体験</a:t>
            </a:r>
            <a:endParaRPr lang="en-US" sz="1500" dirty="0"/>
          </a:p>
        </p:txBody>
      </p:sp>
      <p:sp>
        <p:nvSpPr>
          <p:cNvPr id="8" name="Text 5"/>
          <p:cNvSpPr/>
          <p:nvPr/>
        </p:nvSpPr>
        <p:spPr>
          <a:xfrm>
            <a:off x="822960" y="2697480"/>
            <a:ext cx="2743200" cy="155448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ウルトラマンの本質は「変身」と「3分間の活動限界」。世代を超えて誰もが体で覚えている、世界で最も有名な時間制限。</a:t>
            </a:r>
            <a:endParaRPr lang="en-US" sz="1100" dirty="0"/>
          </a:p>
        </p:txBody>
      </p:sp>
      <p:sp>
        <p:nvSpPr>
          <p:cNvPr id="9" name="Text 6"/>
          <p:cNvSpPr/>
          <p:nvPr/>
        </p:nvSpPr>
        <p:spPr>
          <a:xfrm>
            <a:off x="3840480" y="2743200"/>
            <a:ext cx="457200" cy="640080"/>
          </a:xfrm>
          <a:prstGeom prst="rect">
            <a:avLst/>
          </a:prstGeom>
          <a:noFill/>
          <a:ln/>
        </p:spPr>
        <p:txBody>
          <a:bodyPr wrap="square" lIns="0" tIns="0" rIns="0" bIns="0" rtlCol="0" anchor="ctr"/>
          <a:lstStyle/>
          <a:p>
            <a:pPr algn="ctr" indent="0" marL="0">
              <a:buNone/>
            </a:pPr>
            <a:r>
              <a:rPr lang="en-US" sz="2800" b="1" dirty="0">
                <a:solidFill>
                  <a:srgbClr val="AEB8C4"/>
                </a:solidFill>
                <a:latin typeface="Yu Gothic" pitchFamily="34" charset="0"/>
                <a:ea typeface="Yu Gothic" pitchFamily="34" charset="-122"/>
                <a:cs typeface="Yu Gothic" pitchFamily="34" charset="-120"/>
              </a:rPr>
              <a:t>×</a:t>
            </a:r>
            <a:endParaRPr lang="en-US" sz="2800" dirty="0"/>
          </a:p>
        </p:txBody>
      </p:sp>
      <p:sp>
        <p:nvSpPr>
          <p:cNvPr id="10" name="Shape 7"/>
          <p:cNvSpPr/>
          <p:nvPr/>
        </p:nvSpPr>
        <p:spPr>
          <a:xfrm>
            <a:off x="4297680" y="1737360"/>
            <a:ext cx="3291840" cy="2651760"/>
          </a:xfrm>
          <a:prstGeom prst="roundRect">
            <a:avLst>
              <a:gd name="adj" fmla="val 3448"/>
            </a:avLst>
          </a:prstGeom>
          <a:solidFill>
            <a:srgbClr val="F2F5F9"/>
          </a:solidFill>
          <a:ln/>
        </p:spPr>
      </p:sp>
      <p:sp>
        <p:nvSpPr>
          <p:cNvPr id="11" name="Shape 8"/>
          <p:cNvSpPr/>
          <p:nvPr/>
        </p:nvSpPr>
        <p:spPr>
          <a:xfrm>
            <a:off x="4572000" y="1965960"/>
            <a:ext cx="548640" cy="548640"/>
          </a:xfrm>
          <a:prstGeom prst="ellipse">
            <a:avLst/>
          </a:prstGeom>
          <a:solidFill>
            <a:srgbClr val="0B132B"/>
          </a:solidFill>
          <a:ln/>
        </p:spPr>
      </p:sp>
      <p:pic>
        <p:nvPicPr>
          <p:cNvPr id="12" name="Image 1" descr="preencoded.png">    </p:cNvPr>
          <p:cNvPicPr>
            <a:picLocks noChangeAspect="1"/>
          </p:cNvPicPr>
          <p:nvPr/>
        </p:nvPicPr>
        <p:blipFill>
          <a:blip r:embed="rId2"/>
          <a:stretch>
            <a:fillRect/>
          </a:stretch>
        </p:blipFill>
        <p:spPr>
          <a:xfrm>
            <a:off x="4720133" y="2114093"/>
            <a:ext cx="252374" cy="252374"/>
          </a:xfrm>
          <a:prstGeom prst="rect">
            <a:avLst/>
          </a:prstGeom>
        </p:spPr>
      </p:pic>
      <p:sp>
        <p:nvSpPr>
          <p:cNvPr id="13" name="Text 9"/>
          <p:cNvSpPr/>
          <p:nvPr/>
        </p:nvSpPr>
        <p:spPr>
          <a:xfrm>
            <a:off x="5257800" y="1965960"/>
            <a:ext cx="2194560" cy="54864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食の物理体験</a:t>
            </a:r>
            <a:endParaRPr lang="en-US" sz="1500" dirty="0"/>
          </a:p>
        </p:txBody>
      </p:sp>
      <p:sp>
        <p:nvSpPr>
          <p:cNvPr id="14" name="Text 10"/>
          <p:cNvSpPr/>
          <p:nvPr/>
        </p:nvSpPr>
        <p:spPr>
          <a:xfrm>
            <a:off x="4572000" y="2697480"/>
            <a:ext cx="2743200" cy="155448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味・色・食感が時間で変化する菓子設計。御社の咀嚼研究、キシリトールで培った機能性表現、フレーバーカプセル技術で実装可能。</a:t>
            </a:r>
            <a:endParaRPr lang="en-US" sz="1100" dirty="0"/>
          </a:p>
        </p:txBody>
      </p:sp>
      <p:sp>
        <p:nvSpPr>
          <p:cNvPr id="15" name="Text 11"/>
          <p:cNvSpPr/>
          <p:nvPr/>
        </p:nvSpPr>
        <p:spPr>
          <a:xfrm>
            <a:off x="7589520" y="2743200"/>
            <a:ext cx="457200" cy="640080"/>
          </a:xfrm>
          <a:prstGeom prst="rect">
            <a:avLst/>
          </a:prstGeom>
          <a:noFill/>
          <a:ln/>
        </p:spPr>
        <p:txBody>
          <a:bodyPr wrap="square" lIns="0" tIns="0" rIns="0" bIns="0" rtlCol="0" anchor="ctr"/>
          <a:lstStyle/>
          <a:p>
            <a:pPr algn="ctr" indent="0" marL="0">
              <a:buNone/>
            </a:pPr>
            <a:r>
              <a:rPr lang="en-US" sz="2800" b="1" dirty="0">
                <a:solidFill>
                  <a:srgbClr val="AEB8C4"/>
                </a:solidFill>
                <a:latin typeface="Yu Gothic" pitchFamily="34" charset="0"/>
                <a:ea typeface="Yu Gothic" pitchFamily="34" charset="-122"/>
                <a:cs typeface="Yu Gothic" pitchFamily="34" charset="-120"/>
              </a:rPr>
              <a:t>×</a:t>
            </a:r>
            <a:endParaRPr lang="en-US" sz="2800" dirty="0"/>
          </a:p>
        </p:txBody>
      </p:sp>
      <p:sp>
        <p:nvSpPr>
          <p:cNvPr id="16" name="Shape 12"/>
          <p:cNvSpPr/>
          <p:nvPr/>
        </p:nvSpPr>
        <p:spPr>
          <a:xfrm>
            <a:off x="8046720" y="1737360"/>
            <a:ext cx="3291840" cy="2651760"/>
          </a:xfrm>
          <a:prstGeom prst="roundRect">
            <a:avLst>
              <a:gd name="adj" fmla="val 3448"/>
            </a:avLst>
          </a:prstGeom>
          <a:solidFill>
            <a:srgbClr val="F2F5F9"/>
          </a:solidFill>
          <a:ln/>
        </p:spPr>
      </p:sp>
      <p:sp>
        <p:nvSpPr>
          <p:cNvPr id="17" name="Shape 13"/>
          <p:cNvSpPr/>
          <p:nvPr/>
        </p:nvSpPr>
        <p:spPr>
          <a:xfrm>
            <a:off x="8321040" y="1965960"/>
            <a:ext cx="548640" cy="548640"/>
          </a:xfrm>
          <a:prstGeom prst="ellipse">
            <a:avLst/>
          </a:prstGeom>
          <a:solidFill>
            <a:srgbClr val="1FB6E0"/>
          </a:solidFill>
          <a:ln/>
        </p:spPr>
      </p:sp>
      <p:pic>
        <p:nvPicPr>
          <p:cNvPr id="18" name="Image 2" descr="preencoded.png">    </p:cNvPr>
          <p:cNvPicPr>
            <a:picLocks noChangeAspect="1"/>
          </p:cNvPicPr>
          <p:nvPr/>
        </p:nvPicPr>
        <p:blipFill>
          <a:blip r:embed="rId3"/>
          <a:stretch>
            <a:fillRect/>
          </a:stretch>
        </p:blipFill>
        <p:spPr>
          <a:xfrm>
            <a:off x="8469173" y="2114093"/>
            <a:ext cx="252374" cy="252374"/>
          </a:xfrm>
          <a:prstGeom prst="rect">
            <a:avLst/>
          </a:prstGeom>
        </p:spPr>
      </p:pic>
      <p:sp>
        <p:nvSpPr>
          <p:cNvPr id="19" name="Text 14"/>
          <p:cNvSpPr/>
          <p:nvPr/>
        </p:nvSpPr>
        <p:spPr>
          <a:xfrm>
            <a:off x="9006840" y="1965960"/>
            <a:ext cx="2194560" cy="54864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収集・継続の仕掛け</a:t>
            </a:r>
            <a:endParaRPr lang="en-US" sz="1500" dirty="0"/>
          </a:p>
        </p:txBody>
      </p:sp>
      <p:sp>
        <p:nvSpPr>
          <p:cNvPr id="20" name="Text 15"/>
          <p:cNvSpPr/>
          <p:nvPr/>
        </p:nvSpPr>
        <p:spPr>
          <a:xfrm>
            <a:off x="8321040" y="2697480"/>
            <a:ext cx="2743200" cy="155448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ビックリマンで磨いた収集エンジンと、デジタル図鑑の連動。1回の驚きを、毎週の習慣に変える装置。</a:t>
            </a:r>
            <a:endParaRPr lang="en-US" sz="1100" dirty="0"/>
          </a:p>
        </p:txBody>
      </p:sp>
      <p:sp>
        <p:nvSpPr>
          <p:cNvPr id="21" name="Text 16"/>
          <p:cNvSpPr/>
          <p:nvPr/>
        </p:nvSpPr>
        <p:spPr>
          <a:xfrm>
            <a:off x="5532120" y="4434840"/>
            <a:ext cx="1097280" cy="548640"/>
          </a:xfrm>
          <a:prstGeom prst="rect">
            <a:avLst/>
          </a:prstGeom>
          <a:noFill/>
          <a:ln/>
        </p:spPr>
        <p:txBody>
          <a:bodyPr wrap="square" lIns="0" tIns="0" rIns="0" bIns="0" rtlCol="0" anchor="ctr"/>
          <a:lstStyle/>
          <a:p>
            <a:pPr algn="ctr" indent="0" marL="0">
              <a:buNone/>
            </a:pPr>
            <a:r>
              <a:rPr lang="en-US" sz="3000" b="1" dirty="0">
                <a:solidFill>
                  <a:srgbClr val="AEB8C4"/>
                </a:solidFill>
                <a:latin typeface="Yu Gothic" pitchFamily="34" charset="0"/>
                <a:ea typeface="Yu Gothic" pitchFamily="34" charset="-122"/>
                <a:cs typeface="Yu Gothic" pitchFamily="34" charset="-120"/>
              </a:rPr>
              <a:t>＝</a:t>
            </a:r>
            <a:endParaRPr lang="en-US" sz="3000" dirty="0"/>
          </a:p>
        </p:txBody>
      </p:sp>
      <p:sp>
        <p:nvSpPr>
          <p:cNvPr id="22" name="Shape 17"/>
          <p:cNvSpPr/>
          <p:nvPr/>
        </p:nvSpPr>
        <p:spPr>
          <a:xfrm>
            <a:off x="2194560" y="5029200"/>
            <a:ext cx="7772400" cy="1051560"/>
          </a:xfrm>
          <a:prstGeom prst="roundRect">
            <a:avLst>
              <a:gd name="adj" fmla="val 10435"/>
            </a:avLst>
          </a:prstGeom>
          <a:solidFill>
            <a:srgbClr val="0B132B"/>
          </a:solidFill>
          <a:ln/>
        </p:spPr>
      </p:sp>
      <p:sp>
        <p:nvSpPr>
          <p:cNvPr id="23" name="Text 18"/>
          <p:cNvSpPr/>
          <p:nvPr/>
        </p:nvSpPr>
        <p:spPr>
          <a:xfrm>
            <a:off x="2606040" y="5029200"/>
            <a:ext cx="7040880" cy="1051560"/>
          </a:xfrm>
          <a:prstGeom prst="rect">
            <a:avLst/>
          </a:prstGeom>
          <a:noFill/>
          <a:ln/>
        </p:spPr>
        <p:txBody>
          <a:bodyPr wrap="square" lIns="0" tIns="0" rIns="0" bIns="0" rtlCol="0" anchor="ctr"/>
          <a:lstStyle/>
          <a:p>
            <a:pPr algn="ctr" indent="0" marL="0">
              <a:spcAft>
                <a:spcPts val="400"/>
              </a:spcAft>
              <a:buNone/>
            </a:pPr>
            <a:r>
              <a:rPr lang="en-US" sz="2000" b="1" dirty="0">
                <a:solidFill>
                  <a:srgbClr val="FFFFFF"/>
                </a:solidFill>
                <a:latin typeface="Yu Gothic" pitchFamily="34" charset="0"/>
                <a:ea typeface="Yu Gothic" pitchFamily="34" charset="-122"/>
                <a:cs typeface="Yu Gothic" pitchFamily="34" charset="-120"/>
              </a:rPr>
              <a:t>新カテゴリー『変身菓子』</a:t>
            </a:r>
            <a:endParaRPr lang="en-US" sz="2000" dirty="0"/>
          </a:p>
          <a:p>
            <a:pPr algn="ctr" indent="0" marL="0">
              <a:buNone/>
            </a:pPr>
            <a:r>
              <a:rPr lang="en-US" sz="1250" dirty="0">
                <a:solidFill>
                  <a:srgbClr val="1FB6E0"/>
                </a:solidFill>
                <a:latin typeface="Yu Gothic" pitchFamily="34" charset="0"/>
                <a:ea typeface="Yu Gothic" pitchFamily="34" charset="-122"/>
                <a:cs typeface="Yu Gothic" pitchFamily="34" charset="-120"/>
              </a:rPr>
              <a:t>時間で変わることを楽しむ、世界初のお菓子カテゴリー</a:t>
            </a:r>
            <a:endParaRPr lang="en-US" sz="2000" dirty="0"/>
          </a:p>
        </p:txBody>
      </p:sp>
      <p:sp>
        <p:nvSpPr>
          <p:cNvPr id="24" name="Text 19"/>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5" name="Text 20"/>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8321040" y="3108960"/>
            <a:ext cx="3474720" cy="3474720"/>
          </a:xfrm>
          <a:prstGeom prst="ellipse">
            <a:avLst/>
          </a:prstGeom>
          <a:solidFill>
            <a:srgbClr val="1FB6E0">
              <a:alpha val="18000"/>
            </a:srgbClr>
          </a:solidFill>
          <a:ln/>
        </p:spPr>
      </p:sp>
      <p:sp>
        <p:nvSpPr>
          <p:cNvPr id="3" name="Shape 1"/>
          <p:cNvSpPr/>
          <p:nvPr/>
        </p:nvSpPr>
        <p:spPr>
          <a:xfrm>
            <a:off x="8946490" y="3734410"/>
            <a:ext cx="2223821" cy="2223821"/>
          </a:xfrm>
          <a:prstGeom prst="ellipse">
            <a:avLst/>
          </a:prstGeom>
          <a:solidFill>
            <a:srgbClr val="1FB6E0">
              <a:alpha val="45000"/>
            </a:srgbClr>
          </a:solidFill>
          <a:ln/>
        </p:spPr>
      </p:sp>
      <p:sp>
        <p:nvSpPr>
          <p:cNvPr id="4" name="Shape 2"/>
          <p:cNvSpPr/>
          <p:nvPr/>
        </p:nvSpPr>
        <p:spPr>
          <a:xfrm>
            <a:off x="9571939" y="4359859"/>
            <a:ext cx="972922" cy="972922"/>
          </a:xfrm>
          <a:prstGeom prst="ellipse">
            <a:avLst/>
          </a:prstGeom>
          <a:solidFill>
            <a:srgbClr val="D7002F"/>
          </a:solidFill>
          <a:ln/>
        </p:spPr>
      </p:sp>
      <p:sp>
        <p:nvSpPr>
          <p:cNvPr id="5" name="Text 3"/>
          <p:cNvSpPr/>
          <p:nvPr/>
        </p:nvSpPr>
        <p:spPr>
          <a:xfrm>
            <a:off x="548640" y="411480"/>
            <a:ext cx="7315200" cy="292608"/>
          </a:xfrm>
          <a:prstGeom prst="rect">
            <a:avLst/>
          </a:prstGeom>
          <a:noFill/>
          <a:ln/>
        </p:spPr>
        <p:txBody>
          <a:bodyPr wrap="square" lIns="0" tIns="0" rIns="0" bIns="0" rtlCol="0" anchor="ctr"/>
          <a:lstStyle/>
          <a:p>
            <a:pPr indent="0" marL="0">
              <a:buNone/>
            </a:pPr>
            <a:r>
              <a:rPr lang="en-US" sz="1200" b="1" spc="200" kern="0" dirty="0">
                <a:solidFill>
                  <a:srgbClr val="1FB6E0"/>
                </a:solidFill>
                <a:latin typeface="Yu Gothic" pitchFamily="34" charset="0"/>
                <a:ea typeface="Yu Gothic" pitchFamily="34" charset="-122"/>
                <a:cs typeface="Yu Gothic" pitchFamily="34" charset="-120"/>
              </a:rPr>
              <a:t>FLAGSHIP CONCEPT</a:t>
            </a:r>
            <a:endParaRPr lang="en-US" sz="1200" dirty="0"/>
          </a:p>
        </p:txBody>
      </p:sp>
      <p:sp>
        <p:nvSpPr>
          <p:cNvPr id="6" name="Text 4"/>
          <p:cNvSpPr/>
          <p:nvPr/>
        </p:nvSpPr>
        <p:spPr>
          <a:xfrm>
            <a:off x="548640" y="777240"/>
            <a:ext cx="9144000" cy="91440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『ULTRA 3MIN.』</a:t>
            </a:r>
            <a:endParaRPr lang="en-US" sz="4400" dirty="0"/>
          </a:p>
        </p:txBody>
      </p:sp>
      <p:sp>
        <p:nvSpPr>
          <p:cNvPr id="7" name="Text 5"/>
          <p:cNvSpPr/>
          <p:nvPr/>
        </p:nvSpPr>
        <p:spPr>
          <a:xfrm>
            <a:off x="548640" y="1783080"/>
            <a:ext cx="8229600" cy="502920"/>
          </a:xfrm>
          <a:prstGeom prst="rect">
            <a:avLst/>
          </a:prstGeom>
          <a:noFill/>
          <a:ln/>
        </p:spPr>
        <p:txBody>
          <a:bodyPr wrap="square" lIns="0" tIns="0" rIns="0" bIns="0" rtlCol="0" anchor="ctr"/>
          <a:lstStyle/>
          <a:p>
            <a:pPr indent="0" marL="0">
              <a:buNone/>
            </a:pPr>
            <a:r>
              <a:rPr lang="en-US" sz="2000" b="1" dirty="0">
                <a:solidFill>
                  <a:srgbClr val="1FB6E0"/>
                </a:solidFill>
                <a:latin typeface="Yu Gothic" pitchFamily="34" charset="0"/>
                <a:ea typeface="Yu Gothic" pitchFamily="34" charset="-122"/>
                <a:cs typeface="Yu Gothic" pitchFamily="34" charset="-120"/>
              </a:rPr>
              <a:t>噛んで3分。味と色が、変身する。</a:t>
            </a:r>
            <a:endParaRPr lang="en-US" sz="2000" dirty="0"/>
          </a:p>
        </p:txBody>
      </p:sp>
      <p:sp>
        <p:nvSpPr>
          <p:cNvPr id="8" name="Shape 6"/>
          <p:cNvSpPr/>
          <p:nvPr/>
        </p:nvSpPr>
        <p:spPr>
          <a:xfrm>
            <a:off x="548640" y="2606040"/>
            <a:ext cx="3200400" cy="1737360"/>
          </a:xfrm>
          <a:prstGeom prst="roundRect">
            <a:avLst>
              <a:gd name="adj" fmla="val 5263"/>
            </a:avLst>
          </a:prstGeom>
          <a:solidFill>
            <a:srgbClr val="16213E"/>
          </a:solidFill>
          <a:ln w="19050">
            <a:solidFill>
              <a:srgbClr val="1FB6E0"/>
            </a:solidFill>
            <a:prstDash val="solid"/>
          </a:ln>
        </p:spPr>
      </p:sp>
      <p:sp>
        <p:nvSpPr>
          <p:cNvPr id="9" name="Text 7"/>
          <p:cNvSpPr/>
          <p:nvPr/>
        </p:nvSpPr>
        <p:spPr>
          <a:xfrm>
            <a:off x="822960" y="2788920"/>
            <a:ext cx="2651760" cy="365760"/>
          </a:xfrm>
          <a:prstGeom prst="rect">
            <a:avLst/>
          </a:prstGeom>
          <a:noFill/>
          <a:ln/>
        </p:spPr>
        <p:txBody>
          <a:bodyPr wrap="square" lIns="0" tIns="0" rIns="0" bIns="0" rtlCol="0" anchor="ctr"/>
          <a:lstStyle/>
          <a:p>
            <a:pPr indent="0" marL="0">
              <a:buNone/>
            </a:pPr>
            <a:r>
              <a:rPr lang="en-US" sz="1300" b="1" dirty="0">
                <a:solidFill>
                  <a:srgbClr val="1FB6E0"/>
                </a:solidFill>
                <a:latin typeface="Yu Gothic" pitchFamily="34" charset="0"/>
                <a:ea typeface="Yu Gothic" pitchFamily="34" charset="-122"/>
                <a:cs typeface="Yu Gothic" pitchFamily="34" charset="-120"/>
              </a:rPr>
              <a:t>第1形態</a:t>
            </a:r>
            <a:endParaRPr lang="en-US" sz="1300" dirty="0"/>
          </a:p>
        </p:txBody>
      </p:sp>
      <p:sp>
        <p:nvSpPr>
          <p:cNvPr id="10" name="Text 8"/>
          <p:cNvSpPr/>
          <p:nvPr/>
        </p:nvSpPr>
        <p:spPr>
          <a:xfrm>
            <a:off x="822960" y="3200400"/>
            <a:ext cx="2651760" cy="868680"/>
          </a:xfrm>
          <a:prstGeom prst="rect">
            <a:avLst/>
          </a:prstGeom>
          <a:noFill/>
          <a:ln/>
        </p:spPr>
        <p:txBody>
          <a:bodyPr wrap="square" lIns="0" tIns="0" rIns="0" bIns="0" rtlCol="0" anchor="ctr"/>
          <a:lstStyle/>
          <a:p>
            <a:pPr indent="0" marL="0">
              <a:lnSpc>
                <a:spcPts val="2200"/>
              </a:lnSpc>
              <a:buNone/>
            </a:pPr>
            <a:r>
              <a:rPr lang="en-US" sz="1500" b="1" dirty="0">
                <a:solidFill>
                  <a:srgbClr val="FFFFFF"/>
                </a:solidFill>
                <a:latin typeface="Yu Gothic" pitchFamily="34" charset="0"/>
                <a:ea typeface="Yu Gothic" pitchFamily="34" charset="-122"/>
                <a:cs typeface="Yu Gothic" pitchFamily="34" charset="-120"/>
              </a:rPr>
              <a:t>スカイブルー</a:t>
            </a:r>
            <a:endParaRPr lang="en-US" sz="1500" dirty="0"/>
          </a:p>
          <a:p>
            <a:pPr indent="0" marL="0">
              <a:lnSpc>
                <a:spcPts val="2200"/>
              </a:lnSpc>
              <a:buNone/>
            </a:pPr>
            <a:r>
              <a:rPr lang="en-US" sz="1500" b="1" dirty="0">
                <a:solidFill>
                  <a:srgbClr val="FFFFFF"/>
                </a:solidFill>
                <a:latin typeface="Yu Gothic" pitchFamily="34" charset="0"/>
                <a:ea typeface="Yu Gothic" pitchFamily="34" charset="-122"/>
                <a:cs typeface="Yu Gothic" pitchFamily="34" charset="-120"/>
              </a:rPr>
              <a:t>クールソーダ味</a:t>
            </a:r>
            <a:endParaRPr lang="en-US" sz="1500" dirty="0"/>
          </a:p>
        </p:txBody>
      </p:sp>
      <p:sp>
        <p:nvSpPr>
          <p:cNvPr id="11" name="Text 9"/>
          <p:cNvSpPr/>
          <p:nvPr/>
        </p:nvSpPr>
        <p:spPr>
          <a:xfrm>
            <a:off x="3840480" y="3246120"/>
            <a:ext cx="1051560" cy="457200"/>
          </a:xfrm>
          <a:prstGeom prst="rect">
            <a:avLst/>
          </a:prstGeom>
          <a:noFill/>
          <a:ln/>
        </p:spPr>
        <p:txBody>
          <a:bodyPr wrap="square" lIns="0" tIns="0" rIns="0" bIns="0" rtlCol="0" anchor="ctr"/>
          <a:lstStyle/>
          <a:p>
            <a:pPr algn="ctr" indent="0" marL="0">
              <a:buNone/>
            </a:pPr>
            <a:r>
              <a:rPr lang="en-US" sz="1300" b="1" dirty="0">
                <a:solidFill>
                  <a:srgbClr val="AEB8C4"/>
                </a:solidFill>
                <a:latin typeface="Yu Gothic" pitchFamily="34" charset="0"/>
                <a:ea typeface="Yu Gothic" pitchFamily="34" charset="-122"/>
                <a:cs typeface="Yu Gothic" pitchFamily="34" charset="-120"/>
              </a:rPr>
              <a:t>3分後…</a:t>
            </a:r>
            <a:endParaRPr lang="en-US" sz="1300" dirty="0"/>
          </a:p>
        </p:txBody>
      </p:sp>
      <p:sp>
        <p:nvSpPr>
          <p:cNvPr id="12" name="Shape 10"/>
          <p:cNvSpPr/>
          <p:nvPr/>
        </p:nvSpPr>
        <p:spPr>
          <a:xfrm>
            <a:off x="4983480" y="2606040"/>
            <a:ext cx="3200400" cy="1737360"/>
          </a:xfrm>
          <a:prstGeom prst="roundRect">
            <a:avLst>
              <a:gd name="adj" fmla="val 5263"/>
            </a:avLst>
          </a:prstGeom>
          <a:solidFill>
            <a:srgbClr val="16213E"/>
          </a:solidFill>
          <a:ln w="19050">
            <a:solidFill>
              <a:srgbClr val="D7002F"/>
            </a:solidFill>
            <a:prstDash val="solid"/>
          </a:ln>
        </p:spPr>
      </p:sp>
      <p:sp>
        <p:nvSpPr>
          <p:cNvPr id="13" name="Text 11"/>
          <p:cNvSpPr/>
          <p:nvPr/>
        </p:nvSpPr>
        <p:spPr>
          <a:xfrm>
            <a:off x="5257800" y="2788920"/>
            <a:ext cx="2651760" cy="365760"/>
          </a:xfrm>
          <a:prstGeom prst="rect">
            <a:avLst/>
          </a:prstGeom>
          <a:noFill/>
          <a:ln/>
        </p:spPr>
        <p:txBody>
          <a:bodyPr wrap="square" lIns="0" tIns="0" rIns="0" bIns="0" rtlCol="0" anchor="ctr"/>
          <a:lstStyle/>
          <a:p>
            <a:pPr indent="0" marL="0">
              <a:buNone/>
            </a:pPr>
            <a:r>
              <a:rPr lang="en-US" sz="1300" b="1" dirty="0">
                <a:solidFill>
                  <a:srgbClr val="D7002F"/>
                </a:solidFill>
                <a:latin typeface="Yu Gothic" pitchFamily="34" charset="0"/>
                <a:ea typeface="Yu Gothic" pitchFamily="34" charset="-122"/>
                <a:cs typeface="Yu Gothic" pitchFamily="34" charset="-120"/>
              </a:rPr>
              <a:t>変身（3分経過）</a:t>
            </a:r>
            <a:endParaRPr lang="en-US" sz="1300" dirty="0"/>
          </a:p>
        </p:txBody>
      </p:sp>
      <p:sp>
        <p:nvSpPr>
          <p:cNvPr id="14" name="Text 12"/>
          <p:cNvSpPr/>
          <p:nvPr/>
        </p:nvSpPr>
        <p:spPr>
          <a:xfrm>
            <a:off x="5257800" y="3200400"/>
            <a:ext cx="2651760" cy="868680"/>
          </a:xfrm>
          <a:prstGeom prst="rect">
            <a:avLst/>
          </a:prstGeom>
          <a:noFill/>
          <a:ln/>
        </p:spPr>
        <p:txBody>
          <a:bodyPr wrap="square" lIns="0" tIns="0" rIns="0" bIns="0" rtlCol="0" anchor="ctr"/>
          <a:lstStyle/>
          <a:p>
            <a:pPr indent="0" marL="0">
              <a:lnSpc>
                <a:spcPts val="2200"/>
              </a:lnSpc>
              <a:buNone/>
            </a:pPr>
            <a:r>
              <a:rPr lang="en-US" sz="1500" b="1" dirty="0">
                <a:solidFill>
                  <a:srgbClr val="FFFFFF"/>
                </a:solidFill>
                <a:latin typeface="Yu Gothic" pitchFamily="34" charset="0"/>
                <a:ea typeface="Yu Gothic" pitchFamily="34" charset="-122"/>
                <a:cs typeface="Yu Gothic" pitchFamily="34" charset="-120"/>
              </a:rPr>
              <a:t>バーニングレッド</a:t>
            </a:r>
            <a:endParaRPr lang="en-US" sz="1500" dirty="0"/>
          </a:p>
          <a:p>
            <a:pPr indent="0" marL="0">
              <a:lnSpc>
                <a:spcPts val="2200"/>
              </a:lnSpc>
              <a:buNone/>
            </a:pPr>
            <a:r>
              <a:rPr lang="en-US" sz="1500" b="1" dirty="0">
                <a:solidFill>
                  <a:srgbClr val="FFFFFF"/>
                </a:solidFill>
                <a:latin typeface="Yu Gothic" pitchFamily="34" charset="0"/>
                <a:ea typeface="Yu Gothic" pitchFamily="34" charset="-122"/>
                <a:cs typeface="Yu Gothic" pitchFamily="34" charset="-120"/>
              </a:rPr>
              <a:t>エナジーフレーバー</a:t>
            </a:r>
            <a:endParaRPr lang="en-US" sz="1500" dirty="0"/>
          </a:p>
        </p:txBody>
      </p:sp>
      <p:sp>
        <p:nvSpPr>
          <p:cNvPr id="15" name="Text 13"/>
          <p:cNvSpPr/>
          <p:nvPr/>
        </p:nvSpPr>
        <p:spPr>
          <a:xfrm>
            <a:off x="548640" y="4709160"/>
            <a:ext cx="7863840" cy="1554480"/>
          </a:xfrm>
          <a:prstGeom prst="rect">
            <a:avLst/>
          </a:prstGeom>
          <a:noFill/>
          <a:ln/>
        </p:spPr>
        <p:txBody>
          <a:bodyPr wrap="square" lIns="0" tIns="0" rIns="0" bIns="0" rtlCol="0" anchor="ctr"/>
          <a:lstStyle/>
          <a:p>
            <a:pPr marL="177800" indent="-177800">
              <a:lnSpc>
                <a:spcPts val="1900"/>
              </a:lnSpc>
              <a:spcAft>
                <a:spcPts val="800"/>
              </a:spcAft>
              <a:buSzPct val="100000"/>
              <a:buChar char="■"/>
            </a:pPr>
            <a:r>
              <a:rPr lang="en-US" sz="1300" dirty="0">
                <a:solidFill>
                  <a:srgbClr val="D9E2EC"/>
                </a:solidFill>
                <a:latin typeface="Yu Gothic" pitchFamily="34" charset="0"/>
                <a:ea typeface="Yu Gothic" pitchFamily="34" charset="-122"/>
                <a:cs typeface="Yu Gothic" pitchFamily="34" charset="-120"/>
              </a:rPr>
              <a:t>口の中でカラータイマーが点滅する — IPの中核体験をそのまま食体験に翻訳</a:t>
            </a:r>
            <a:endParaRPr lang="en-US" sz="1300" dirty="0"/>
          </a:p>
          <a:p>
            <a:pPr marL="177800" indent="-177800">
              <a:lnSpc>
                <a:spcPts val="1900"/>
              </a:lnSpc>
              <a:spcAft>
                <a:spcPts val="800"/>
              </a:spcAft>
              <a:buSzPct val="100000"/>
              <a:buChar char="■"/>
            </a:pPr>
            <a:r>
              <a:rPr lang="en-US" sz="1300" dirty="0">
                <a:solidFill>
                  <a:srgbClr val="D9E2EC"/>
                </a:solidFill>
                <a:latin typeface="Yu Gothic" pitchFamily="34" charset="0"/>
                <a:ea typeface="Yu Gothic" pitchFamily="34" charset="-122"/>
                <a:cs typeface="Yu Gothic" pitchFamily="34" charset="-120"/>
              </a:rPr>
              <a:t>実装は御社の独壇場：咀嚼研究 × 時限フレーバーカプセル × 色素設計</a:t>
            </a:r>
            <a:endParaRPr lang="en-US" sz="1300" dirty="0"/>
          </a:p>
          <a:p>
            <a:pPr marL="177800" indent="-177800">
              <a:lnSpc>
                <a:spcPts val="1900"/>
              </a:lnSpc>
              <a:spcAft>
                <a:spcPts val="800"/>
              </a:spcAft>
              <a:buSzPct val="100000"/>
              <a:buChar char="■"/>
            </a:pPr>
            <a:r>
              <a:rPr lang="en-US" sz="1300" dirty="0">
                <a:solidFill>
                  <a:srgbClr val="D9E2EC"/>
                </a:solidFill>
                <a:latin typeface="Yu Gothic" pitchFamily="34" charset="0"/>
                <a:ea typeface="Yu Gothic" pitchFamily="34" charset="-122"/>
                <a:cs typeface="Yu Gothic" pitchFamily="34" charset="-120"/>
              </a:rPr>
              <a:t>ガム・グミの両形態で展開し、子ども（グミ）と大人（ガム）を同時に取る</a:t>
            </a:r>
            <a:endParaRPr lang="en-US" sz="1300" dirty="0"/>
          </a:p>
        </p:txBody>
      </p:sp>
      <p:sp>
        <p:nvSpPr>
          <p:cNvPr id="16" name="Text 14"/>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AEB8C4"/>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EXPERIENCE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体験設計 — 「1日3分のヒーロータイム」という習慣</a:t>
            </a:r>
            <a:endParaRPr lang="en-US" sz="2800" dirty="0"/>
          </a:p>
        </p:txBody>
      </p:sp>
      <p:sp>
        <p:nvSpPr>
          <p:cNvPr id="4" name="Shape 2"/>
          <p:cNvSpPr/>
          <p:nvPr/>
        </p:nvSpPr>
        <p:spPr>
          <a:xfrm>
            <a:off x="548640" y="1691640"/>
            <a:ext cx="11064240" cy="1024128"/>
          </a:xfrm>
          <a:prstGeom prst="roundRect">
            <a:avLst>
              <a:gd name="adj" fmla="val 7143"/>
            </a:avLst>
          </a:prstGeom>
          <a:solidFill>
            <a:srgbClr val="F2F5F9"/>
          </a:solidFill>
          <a:ln/>
        </p:spPr>
      </p:sp>
      <p:sp>
        <p:nvSpPr>
          <p:cNvPr id="5" name="Shape 3"/>
          <p:cNvSpPr/>
          <p:nvPr/>
        </p:nvSpPr>
        <p:spPr>
          <a:xfrm>
            <a:off x="777240" y="1920240"/>
            <a:ext cx="566928" cy="566928"/>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930311" y="2073311"/>
            <a:ext cx="260787" cy="260787"/>
          </a:xfrm>
          <a:prstGeom prst="rect">
            <a:avLst/>
          </a:prstGeom>
        </p:spPr>
      </p:pic>
      <p:sp>
        <p:nvSpPr>
          <p:cNvPr id="7" name="Text 4"/>
          <p:cNvSpPr/>
          <p:nvPr/>
        </p:nvSpPr>
        <p:spPr>
          <a:xfrm>
            <a:off x="1600200" y="1691640"/>
            <a:ext cx="2286000" cy="1024128"/>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集中のスイッチ</a:t>
            </a:r>
            <a:endParaRPr lang="en-US" sz="1500" dirty="0"/>
          </a:p>
        </p:txBody>
      </p:sp>
      <p:sp>
        <p:nvSpPr>
          <p:cNvPr id="8" name="Text 5"/>
          <p:cNvSpPr/>
          <p:nvPr/>
        </p:nvSpPr>
        <p:spPr>
          <a:xfrm>
            <a:off x="4023360" y="1691640"/>
            <a:ext cx="7315200" cy="1024128"/>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勉強前・会議前・試合前の「3分間ルーティン」として設計。噛むことによる集中・リフレッシュ効果の知見（御社の噛むこと研究）をそのまま価値訴求に接続できます。</a:t>
            </a:r>
            <a:endParaRPr lang="en-US" sz="1150" dirty="0"/>
          </a:p>
        </p:txBody>
      </p:sp>
      <p:sp>
        <p:nvSpPr>
          <p:cNvPr id="9" name="Shape 6"/>
          <p:cNvSpPr/>
          <p:nvPr/>
        </p:nvSpPr>
        <p:spPr>
          <a:xfrm>
            <a:off x="548640" y="2852928"/>
            <a:ext cx="11064240" cy="1024128"/>
          </a:xfrm>
          <a:prstGeom prst="roundRect">
            <a:avLst>
              <a:gd name="adj" fmla="val 7143"/>
            </a:avLst>
          </a:prstGeom>
          <a:solidFill>
            <a:srgbClr val="F2F5F9"/>
          </a:solidFill>
          <a:ln/>
        </p:spPr>
      </p:sp>
      <p:sp>
        <p:nvSpPr>
          <p:cNvPr id="10" name="Shape 7"/>
          <p:cNvSpPr/>
          <p:nvPr/>
        </p:nvSpPr>
        <p:spPr>
          <a:xfrm>
            <a:off x="777240" y="3081528"/>
            <a:ext cx="566928" cy="566928"/>
          </a:xfrm>
          <a:prstGeom prst="ellipse">
            <a:avLst/>
          </a:prstGeom>
          <a:solidFill>
            <a:srgbClr val="0B132B"/>
          </a:solidFill>
          <a:ln/>
        </p:spPr>
      </p:sp>
      <p:pic>
        <p:nvPicPr>
          <p:cNvPr id="11" name="Image 1" descr="preencoded.png">    </p:cNvPr>
          <p:cNvPicPr>
            <a:picLocks noChangeAspect="1"/>
          </p:cNvPicPr>
          <p:nvPr/>
        </p:nvPicPr>
        <p:blipFill>
          <a:blip r:embed="rId2"/>
          <a:stretch>
            <a:fillRect/>
          </a:stretch>
        </p:blipFill>
        <p:spPr>
          <a:xfrm>
            <a:off x="930311" y="3234599"/>
            <a:ext cx="260787" cy="260787"/>
          </a:xfrm>
          <a:prstGeom prst="rect">
            <a:avLst/>
          </a:prstGeom>
        </p:spPr>
      </p:pic>
      <p:sp>
        <p:nvSpPr>
          <p:cNvPr id="12" name="Text 8"/>
          <p:cNvSpPr/>
          <p:nvPr/>
        </p:nvSpPr>
        <p:spPr>
          <a:xfrm>
            <a:off x="1600200" y="2852928"/>
            <a:ext cx="2286000" cy="1024128"/>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見せたくなる変化</a:t>
            </a:r>
            <a:endParaRPr lang="en-US" sz="1500" dirty="0"/>
          </a:p>
        </p:txBody>
      </p:sp>
      <p:sp>
        <p:nvSpPr>
          <p:cNvPr id="13" name="Text 9"/>
          <p:cNvSpPr/>
          <p:nvPr/>
        </p:nvSpPr>
        <p:spPr>
          <a:xfrm>
            <a:off x="4023360" y="2852928"/>
            <a:ext cx="7315200" cy="1024128"/>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菓子と舌の色が変わる様子はショート動画と相性抜群。「変身チャレンジ」としてSNSで自走する仕掛けを初期設計に組み込みます。</a:t>
            </a:r>
            <a:endParaRPr lang="en-US" sz="1150" dirty="0"/>
          </a:p>
        </p:txBody>
      </p:sp>
      <p:sp>
        <p:nvSpPr>
          <p:cNvPr id="14" name="Shape 10"/>
          <p:cNvSpPr/>
          <p:nvPr/>
        </p:nvSpPr>
        <p:spPr>
          <a:xfrm>
            <a:off x="548640" y="4014216"/>
            <a:ext cx="11064240" cy="1024128"/>
          </a:xfrm>
          <a:prstGeom prst="roundRect">
            <a:avLst>
              <a:gd name="adj" fmla="val 7143"/>
            </a:avLst>
          </a:prstGeom>
          <a:solidFill>
            <a:srgbClr val="F2F5F9"/>
          </a:solidFill>
          <a:ln/>
        </p:spPr>
      </p:sp>
      <p:sp>
        <p:nvSpPr>
          <p:cNvPr id="15" name="Shape 11"/>
          <p:cNvSpPr/>
          <p:nvPr/>
        </p:nvSpPr>
        <p:spPr>
          <a:xfrm>
            <a:off x="777240" y="4242816"/>
            <a:ext cx="566928" cy="566928"/>
          </a:xfrm>
          <a:prstGeom prst="ellipse">
            <a:avLst/>
          </a:prstGeom>
          <a:solidFill>
            <a:srgbClr val="1FB6E0"/>
          </a:solidFill>
          <a:ln/>
        </p:spPr>
      </p:sp>
      <p:pic>
        <p:nvPicPr>
          <p:cNvPr id="16" name="Image 2" descr="preencoded.png">    </p:cNvPr>
          <p:cNvPicPr>
            <a:picLocks noChangeAspect="1"/>
          </p:cNvPicPr>
          <p:nvPr/>
        </p:nvPicPr>
        <p:blipFill>
          <a:blip r:embed="rId3"/>
          <a:stretch>
            <a:fillRect/>
          </a:stretch>
        </p:blipFill>
        <p:spPr>
          <a:xfrm>
            <a:off x="930311" y="4395887"/>
            <a:ext cx="260787" cy="260787"/>
          </a:xfrm>
          <a:prstGeom prst="rect">
            <a:avLst/>
          </a:prstGeom>
        </p:spPr>
      </p:pic>
      <p:sp>
        <p:nvSpPr>
          <p:cNvPr id="17" name="Text 12"/>
          <p:cNvSpPr/>
          <p:nvPr/>
        </p:nvSpPr>
        <p:spPr>
          <a:xfrm>
            <a:off x="1600200" y="4014216"/>
            <a:ext cx="2286000" cy="1024128"/>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健康・育成の文脈</a:t>
            </a:r>
            <a:endParaRPr lang="en-US" sz="1500" dirty="0"/>
          </a:p>
        </p:txBody>
      </p:sp>
      <p:sp>
        <p:nvSpPr>
          <p:cNvPr id="18" name="Text 13"/>
          <p:cNvSpPr/>
          <p:nvPr/>
        </p:nvSpPr>
        <p:spPr>
          <a:xfrm>
            <a:off x="4023360" y="4014216"/>
            <a:ext cx="7315200" cy="1024128"/>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ガムの健康価値訴求と完全に整合。子どもの咀嚼力育成、大人のオーラルケア・ストレスケアまで、家族全員に「噛む理由」を提供します。</a:t>
            </a:r>
            <a:endParaRPr lang="en-US" sz="1150" dirty="0"/>
          </a:p>
        </p:txBody>
      </p:sp>
      <p:sp>
        <p:nvSpPr>
          <p:cNvPr id="19" name="Shape 14"/>
          <p:cNvSpPr/>
          <p:nvPr/>
        </p:nvSpPr>
        <p:spPr>
          <a:xfrm>
            <a:off x="548640" y="5175504"/>
            <a:ext cx="11064240" cy="1024128"/>
          </a:xfrm>
          <a:prstGeom prst="roundRect">
            <a:avLst>
              <a:gd name="adj" fmla="val 7143"/>
            </a:avLst>
          </a:prstGeom>
          <a:solidFill>
            <a:srgbClr val="F2F5F9"/>
          </a:solidFill>
          <a:ln/>
        </p:spPr>
      </p:sp>
      <p:sp>
        <p:nvSpPr>
          <p:cNvPr id="20" name="Shape 15"/>
          <p:cNvSpPr/>
          <p:nvPr/>
        </p:nvSpPr>
        <p:spPr>
          <a:xfrm>
            <a:off x="777240" y="5404104"/>
            <a:ext cx="566928" cy="566928"/>
          </a:xfrm>
          <a:prstGeom prst="ellipse">
            <a:avLst/>
          </a:prstGeom>
          <a:solidFill>
            <a:srgbClr val="D7002F"/>
          </a:solidFill>
          <a:ln/>
        </p:spPr>
      </p:sp>
      <p:pic>
        <p:nvPicPr>
          <p:cNvPr id="21" name="Image 3" descr="preencoded.png">    </p:cNvPr>
          <p:cNvPicPr>
            <a:picLocks noChangeAspect="1"/>
          </p:cNvPicPr>
          <p:nvPr/>
        </p:nvPicPr>
        <p:blipFill>
          <a:blip r:embed="rId4"/>
          <a:stretch>
            <a:fillRect/>
          </a:stretch>
        </p:blipFill>
        <p:spPr>
          <a:xfrm>
            <a:off x="930311" y="5557175"/>
            <a:ext cx="260787" cy="260787"/>
          </a:xfrm>
          <a:prstGeom prst="rect">
            <a:avLst/>
          </a:prstGeom>
        </p:spPr>
      </p:pic>
      <p:sp>
        <p:nvSpPr>
          <p:cNvPr id="22" name="Text 16"/>
          <p:cNvSpPr/>
          <p:nvPr/>
        </p:nvSpPr>
        <p:spPr>
          <a:xfrm>
            <a:off x="1600200" y="5175504"/>
            <a:ext cx="2286000" cy="1024128"/>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変身の儀式性</a:t>
            </a:r>
            <a:endParaRPr lang="en-US" sz="1500" dirty="0"/>
          </a:p>
        </p:txBody>
      </p:sp>
      <p:sp>
        <p:nvSpPr>
          <p:cNvPr id="23" name="Text 17"/>
          <p:cNvSpPr/>
          <p:nvPr/>
        </p:nvSpPr>
        <p:spPr>
          <a:xfrm>
            <a:off x="4023360" y="5175504"/>
            <a:ext cx="7315200" cy="1024128"/>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パッケージは「開ける＝変身する」演出（変身音・カラータイマー窓など）。飲むおーいお茶が日常の相棒であるように、3分の儀式を毎日の相棒にします。</a:t>
            </a:r>
            <a:endParaRPr lang="en-US" sz="11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5" name="Text 19"/>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COLLECTION ENGINE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収集の仕掛け — ビックリマンの遺伝子 × ウルトラの資産</a:t>
            </a:r>
            <a:endParaRPr lang="en-US" sz="2800" dirty="0"/>
          </a:p>
        </p:txBody>
      </p:sp>
      <p:sp>
        <p:nvSpPr>
          <p:cNvPr id="4" name="Shape 2"/>
          <p:cNvSpPr/>
          <p:nvPr/>
        </p:nvSpPr>
        <p:spPr>
          <a:xfrm>
            <a:off x="548640" y="1691640"/>
            <a:ext cx="3611880" cy="3931920"/>
          </a:xfrm>
          <a:prstGeom prst="roundRect">
            <a:avLst>
              <a:gd name="adj" fmla="val 2532"/>
            </a:avLst>
          </a:prstGeom>
          <a:solidFill>
            <a:srgbClr val="F2F5F9"/>
          </a:solidFill>
          <a:ln/>
        </p:spPr>
      </p:sp>
      <p:sp>
        <p:nvSpPr>
          <p:cNvPr id="5" name="Shape 3"/>
          <p:cNvSpPr/>
          <p:nvPr/>
        </p:nvSpPr>
        <p:spPr>
          <a:xfrm>
            <a:off x="868680" y="1965960"/>
            <a:ext cx="621792" cy="621792"/>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1036564" y="2133844"/>
            <a:ext cx="286024" cy="286024"/>
          </a:xfrm>
          <a:prstGeom prst="rect">
            <a:avLst/>
          </a:prstGeom>
        </p:spPr>
      </p:pic>
      <p:sp>
        <p:nvSpPr>
          <p:cNvPr id="7" name="Text 4"/>
          <p:cNvSpPr/>
          <p:nvPr/>
        </p:nvSpPr>
        <p:spPr>
          <a:xfrm>
            <a:off x="868680" y="2788920"/>
            <a:ext cx="3017520" cy="640080"/>
          </a:xfrm>
          <a:prstGeom prst="rect">
            <a:avLst/>
          </a:prstGeom>
          <a:noFill/>
          <a:ln/>
        </p:spPr>
        <p:txBody>
          <a:bodyPr wrap="square" lIns="0" tIns="0" rIns="0" bIns="0" rtlCol="0" anchor="ctr"/>
          <a:lstStyle/>
          <a:p>
            <a:pPr indent="0" marL="0">
              <a:lnSpc>
                <a:spcPts val="1900"/>
              </a:lnSpc>
              <a:buNone/>
            </a:pPr>
            <a:r>
              <a:rPr lang="en-US" sz="1550" b="1" dirty="0">
                <a:solidFill>
                  <a:srgbClr val="1B2432"/>
                </a:solidFill>
                <a:latin typeface="Yu Gothic" pitchFamily="34" charset="0"/>
                <a:ea typeface="Yu Gothic" pitchFamily="34" charset="-122"/>
                <a:cs typeface="Yu Gothic" pitchFamily="34" charset="-120"/>
              </a:rPr>
              <a:t>変身ホロシール 全60種</a:t>
            </a:r>
            <a:endParaRPr lang="en-US" sz="1550" dirty="0"/>
          </a:p>
        </p:txBody>
      </p:sp>
      <p:sp>
        <p:nvSpPr>
          <p:cNvPr id="8" name="Text 5"/>
          <p:cNvSpPr/>
          <p:nvPr/>
        </p:nvSpPr>
        <p:spPr>
          <a:xfrm>
            <a:off x="868680" y="3474720"/>
            <a:ext cx="3017520" cy="201168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60周年にちなんだ全60種。傾けると「変身前→変身後」が切り替わるホログラム仕様。ビックリマンで磨かれたシール文化の正統進化形です。</a:t>
            </a:r>
            <a:endParaRPr lang="en-US" sz="1150" dirty="0"/>
          </a:p>
        </p:txBody>
      </p:sp>
      <p:sp>
        <p:nvSpPr>
          <p:cNvPr id="9" name="Shape 6"/>
          <p:cNvSpPr/>
          <p:nvPr/>
        </p:nvSpPr>
        <p:spPr>
          <a:xfrm>
            <a:off x="4334256" y="1691640"/>
            <a:ext cx="3611880" cy="3931920"/>
          </a:xfrm>
          <a:prstGeom prst="roundRect">
            <a:avLst>
              <a:gd name="adj" fmla="val 2532"/>
            </a:avLst>
          </a:prstGeom>
          <a:solidFill>
            <a:srgbClr val="F2F5F9"/>
          </a:solidFill>
          <a:ln/>
        </p:spPr>
      </p:sp>
      <p:sp>
        <p:nvSpPr>
          <p:cNvPr id="10" name="Shape 7"/>
          <p:cNvSpPr/>
          <p:nvPr/>
        </p:nvSpPr>
        <p:spPr>
          <a:xfrm>
            <a:off x="4654296" y="1965960"/>
            <a:ext cx="621792" cy="621792"/>
          </a:xfrm>
          <a:prstGeom prst="ellipse">
            <a:avLst/>
          </a:prstGeom>
          <a:solidFill>
            <a:srgbClr val="0B132B"/>
          </a:solidFill>
          <a:ln/>
        </p:spPr>
      </p:sp>
      <p:pic>
        <p:nvPicPr>
          <p:cNvPr id="11" name="Image 1" descr="preencoded.png">    </p:cNvPr>
          <p:cNvPicPr>
            <a:picLocks noChangeAspect="1"/>
          </p:cNvPicPr>
          <p:nvPr/>
        </p:nvPicPr>
        <p:blipFill>
          <a:blip r:embed="rId2"/>
          <a:stretch>
            <a:fillRect/>
          </a:stretch>
        </p:blipFill>
        <p:spPr>
          <a:xfrm>
            <a:off x="4822180" y="2133844"/>
            <a:ext cx="286024" cy="286024"/>
          </a:xfrm>
          <a:prstGeom prst="rect">
            <a:avLst/>
          </a:prstGeom>
        </p:spPr>
      </p:pic>
      <p:sp>
        <p:nvSpPr>
          <p:cNvPr id="12" name="Text 8"/>
          <p:cNvSpPr/>
          <p:nvPr/>
        </p:nvSpPr>
        <p:spPr>
          <a:xfrm>
            <a:off x="4654296" y="2788920"/>
            <a:ext cx="3017520" cy="640080"/>
          </a:xfrm>
          <a:prstGeom prst="rect">
            <a:avLst/>
          </a:prstGeom>
          <a:noFill/>
          <a:ln/>
        </p:spPr>
        <p:txBody>
          <a:bodyPr wrap="square" lIns="0" tIns="0" rIns="0" bIns="0" rtlCol="0" anchor="ctr"/>
          <a:lstStyle/>
          <a:p>
            <a:pPr indent="0" marL="0">
              <a:lnSpc>
                <a:spcPts val="1900"/>
              </a:lnSpc>
              <a:buNone/>
            </a:pPr>
            <a:r>
              <a:rPr lang="en-US" sz="1550" b="1" dirty="0">
                <a:solidFill>
                  <a:srgbClr val="1B2432"/>
                </a:solidFill>
                <a:latin typeface="Yu Gothic" pitchFamily="34" charset="0"/>
                <a:ea typeface="Yu Gothic" pitchFamily="34" charset="-122"/>
                <a:cs typeface="Yu Gothic" pitchFamily="34" charset="-120"/>
              </a:rPr>
              <a:t>数百体のキャラクター資産</a:t>
            </a:r>
            <a:endParaRPr lang="en-US" sz="1550" dirty="0"/>
          </a:p>
        </p:txBody>
      </p:sp>
      <p:sp>
        <p:nvSpPr>
          <p:cNvPr id="13" name="Text 9"/>
          <p:cNvSpPr/>
          <p:nvPr/>
        </p:nvSpPr>
        <p:spPr>
          <a:xfrm>
            <a:off x="4654296" y="3474720"/>
            <a:ext cx="3017520" cy="201168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ヒーローに加え、ゼットン、バルタン星人など大人が名前を言える怪獣文化はウルトラマン固有の資産。悪魔VS天使と同じ「善と悪の宇宙」を最初から持っています。</a:t>
            </a:r>
            <a:endParaRPr lang="en-US" sz="1150" dirty="0"/>
          </a:p>
        </p:txBody>
      </p:sp>
      <p:sp>
        <p:nvSpPr>
          <p:cNvPr id="14" name="Shape 10"/>
          <p:cNvSpPr/>
          <p:nvPr/>
        </p:nvSpPr>
        <p:spPr>
          <a:xfrm>
            <a:off x="8119872" y="1691640"/>
            <a:ext cx="3611880" cy="3931920"/>
          </a:xfrm>
          <a:prstGeom prst="roundRect">
            <a:avLst>
              <a:gd name="adj" fmla="val 2532"/>
            </a:avLst>
          </a:prstGeom>
          <a:solidFill>
            <a:srgbClr val="F2F5F9"/>
          </a:solidFill>
          <a:ln/>
        </p:spPr>
      </p:sp>
      <p:sp>
        <p:nvSpPr>
          <p:cNvPr id="15" name="Shape 11"/>
          <p:cNvSpPr/>
          <p:nvPr/>
        </p:nvSpPr>
        <p:spPr>
          <a:xfrm>
            <a:off x="8439912" y="1965960"/>
            <a:ext cx="621792" cy="621792"/>
          </a:xfrm>
          <a:prstGeom prst="ellipse">
            <a:avLst/>
          </a:prstGeom>
          <a:solidFill>
            <a:srgbClr val="1FB6E0"/>
          </a:solidFill>
          <a:ln/>
        </p:spPr>
      </p:sp>
      <p:pic>
        <p:nvPicPr>
          <p:cNvPr id="16" name="Image 2" descr="preencoded.png">    </p:cNvPr>
          <p:cNvPicPr>
            <a:picLocks noChangeAspect="1"/>
          </p:cNvPicPr>
          <p:nvPr/>
        </p:nvPicPr>
        <p:blipFill>
          <a:blip r:embed="rId3"/>
          <a:stretch>
            <a:fillRect/>
          </a:stretch>
        </p:blipFill>
        <p:spPr>
          <a:xfrm>
            <a:off x="8607796" y="2133844"/>
            <a:ext cx="286024" cy="286024"/>
          </a:xfrm>
          <a:prstGeom prst="rect">
            <a:avLst/>
          </a:prstGeom>
        </p:spPr>
      </p:pic>
      <p:sp>
        <p:nvSpPr>
          <p:cNvPr id="17" name="Text 12"/>
          <p:cNvSpPr/>
          <p:nvPr/>
        </p:nvSpPr>
        <p:spPr>
          <a:xfrm>
            <a:off x="8439912" y="2788920"/>
            <a:ext cx="3017520" cy="640080"/>
          </a:xfrm>
          <a:prstGeom prst="rect">
            <a:avLst/>
          </a:prstGeom>
          <a:noFill/>
          <a:ln/>
        </p:spPr>
        <p:txBody>
          <a:bodyPr wrap="square" lIns="0" tIns="0" rIns="0" bIns="0" rtlCol="0" anchor="ctr"/>
          <a:lstStyle/>
          <a:p>
            <a:pPr indent="0" marL="0">
              <a:lnSpc>
                <a:spcPts val="1900"/>
              </a:lnSpc>
              <a:buNone/>
            </a:pPr>
            <a:r>
              <a:rPr lang="en-US" sz="1550" b="1" dirty="0">
                <a:solidFill>
                  <a:srgbClr val="1B2432"/>
                </a:solidFill>
                <a:latin typeface="Yu Gothic" pitchFamily="34" charset="0"/>
                <a:ea typeface="Yu Gothic" pitchFamily="34" charset="-122"/>
                <a:cs typeface="Yu Gothic" pitchFamily="34" charset="-120"/>
              </a:rPr>
              <a:t>レア設計と二世代購買</a:t>
            </a:r>
            <a:endParaRPr lang="en-US" sz="1550" dirty="0"/>
          </a:p>
        </p:txBody>
      </p:sp>
      <p:sp>
        <p:nvSpPr>
          <p:cNvPr id="18" name="Text 13"/>
          <p:cNvSpPr/>
          <p:nvPr/>
        </p:nvSpPr>
        <p:spPr>
          <a:xfrm>
            <a:off x="8439912" y="3474720"/>
            <a:ext cx="3017520" cy="201168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シークレット枠に「ゾフィー」「ウルトラの父」。買うのは直撃世代の40〜60代の親、集めるのは子。ビックリマン同様の親子二世代構造を最初から狙えます。</a:t>
            </a:r>
            <a:endParaRPr lang="en-US" sz="1150" dirty="0"/>
          </a:p>
        </p:txBody>
      </p:sp>
      <p:sp>
        <p:nvSpPr>
          <p:cNvPr id="19" name="Text 14"/>
          <p:cNvSpPr/>
          <p:nvPr/>
        </p:nvSpPr>
        <p:spPr>
          <a:xfrm>
            <a:off x="548640" y="5897880"/>
            <a:ext cx="11064240" cy="320040"/>
          </a:xfrm>
          <a:prstGeom prst="rect">
            <a:avLst/>
          </a:prstGeom>
          <a:noFill/>
          <a:ln/>
        </p:spPr>
        <p:txBody>
          <a:bodyPr wrap="square" lIns="0" tIns="0" rIns="0" bIns="0" rtlCol="0" anchor="ctr"/>
          <a:lstStyle/>
          <a:p>
            <a:pPr indent="0" marL="0">
              <a:buNone/>
            </a:pPr>
            <a:r>
              <a:rPr lang="en-US" sz="1050" i="1" dirty="0">
                <a:solidFill>
                  <a:srgbClr val="5A6474"/>
                </a:solidFill>
                <a:latin typeface="Yu Gothic" pitchFamily="34" charset="0"/>
                <a:ea typeface="Yu Gothic" pitchFamily="34" charset="-122"/>
                <a:cs typeface="Yu Gothic" pitchFamily="34" charset="-120"/>
              </a:rPr>
              <a:t>※ シール・パッケージの世界観は円谷プロが全面監修。歴代デザイナー・怪獣造形の一次資産を提供します。</a:t>
            </a:r>
            <a:endParaRPr lang="en-US" sz="1050" dirty="0"/>
          </a:p>
        </p:txBody>
      </p:sp>
      <p:sp>
        <p:nvSpPr>
          <p:cNvPr id="20" name="Text 15"/>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1" name="Text 16"/>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PHYGITAL</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デジタル連動 — 1回の驚きを、毎週の習慣に</a:t>
            </a:r>
            <a:endParaRPr lang="en-US" sz="2800" dirty="0"/>
          </a:p>
        </p:txBody>
      </p:sp>
      <p:sp>
        <p:nvSpPr>
          <p:cNvPr id="4" name="Shape 2"/>
          <p:cNvSpPr/>
          <p:nvPr/>
        </p:nvSpPr>
        <p:spPr>
          <a:xfrm>
            <a:off x="548640" y="1737360"/>
            <a:ext cx="5440680" cy="1920240"/>
          </a:xfrm>
          <a:prstGeom prst="roundRect">
            <a:avLst>
              <a:gd name="adj" fmla="val 4762"/>
            </a:avLst>
          </a:prstGeom>
          <a:solidFill>
            <a:srgbClr val="F2F5F9"/>
          </a:solidFill>
          <a:ln/>
        </p:spPr>
      </p:sp>
      <p:sp>
        <p:nvSpPr>
          <p:cNvPr id="5" name="Shape 3"/>
          <p:cNvSpPr/>
          <p:nvPr/>
        </p:nvSpPr>
        <p:spPr>
          <a:xfrm>
            <a:off x="868680" y="2029968"/>
            <a:ext cx="566928" cy="566928"/>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1021751" y="2183039"/>
            <a:ext cx="260787" cy="260787"/>
          </a:xfrm>
          <a:prstGeom prst="rect">
            <a:avLst/>
          </a:prstGeom>
        </p:spPr>
      </p:pic>
      <p:sp>
        <p:nvSpPr>
          <p:cNvPr id="7" name="Text 4"/>
          <p:cNvSpPr/>
          <p:nvPr/>
        </p:nvSpPr>
        <p:spPr>
          <a:xfrm>
            <a:off x="1645920" y="1993392"/>
            <a:ext cx="4023360" cy="640080"/>
          </a:xfrm>
          <a:prstGeom prst="rect">
            <a:avLst/>
          </a:prstGeom>
          <a:noFill/>
          <a:ln/>
        </p:spPr>
        <p:txBody>
          <a:bodyPr wrap="square" lIns="0" tIns="0" rIns="0" bIns="0" rtlCol="0" anchor="ctr"/>
          <a:lstStyle/>
          <a:p>
            <a:pPr indent="0" marL="0">
              <a:buNone/>
            </a:pPr>
            <a:r>
              <a:rPr lang="en-US" sz="1600" b="1" dirty="0">
                <a:solidFill>
                  <a:srgbClr val="1B2432"/>
                </a:solidFill>
                <a:latin typeface="Yu Gothic" pitchFamily="34" charset="0"/>
                <a:ea typeface="Yu Gothic" pitchFamily="34" charset="-122"/>
                <a:cs typeface="Yu Gothic" pitchFamily="34" charset="-120"/>
              </a:rPr>
              <a:t>ウルトラ図鑑アプリ</a:t>
            </a:r>
            <a:endParaRPr lang="en-US" sz="1600" dirty="0"/>
          </a:p>
        </p:txBody>
      </p:sp>
      <p:sp>
        <p:nvSpPr>
          <p:cNvPr id="8" name="Text 5"/>
          <p:cNvSpPr/>
          <p:nvPr/>
        </p:nvSpPr>
        <p:spPr>
          <a:xfrm>
            <a:off x="868680" y="269748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シール封入のシリアルコードで、自分だけの怪獣・ヒーロー図鑑が育つ。集めるほど強くなる、やめられない構造。</a:t>
            </a:r>
            <a:endParaRPr lang="en-US" sz="1150" dirty="0"/>
          </a:p>
        </p:txBody>
      </p:sp>
      <p:sp>
        <p:nvSpPr>
          <p:cNvPr id="9" name="Shape 6"/>
          <p:cNvSpPr/>
          <p:nvPr/>
        </p:nvSpPr>
        <p:spPr>
          <a:xfrm>
            <a:off x="6172200" y="1737360"/>
            <a:ext cx="5440680" cy="1920240"/>
          </a:xfrm>
          <a:prstGeom prst="roundRect">
            <a:avLst>
              <a:gd name="adj" fmla="val 4762"/>
            </a:avLst>
          </a:prstGeom>
          <a:solidFill>
            <a:srgbClr val="F2F5F9"/>
          </a:solidFill>
          <a:ln/>
        </p:spPr>
      </p:sp>
      <p:sp>
        <p:nvSpPr>
          <p:cNvPr id="10" name="Shape 7"/>
          <p:cNvSpPr/>
          <p:nvPr/>
        </p:nvSpPr>
        <p:spPr>
          <a:xfrm>
            <a:off x="6492240" y="2029968"/>
            <a:ext cx="566928" cy="566928"/>
          </a:xfrm>
          <a:prstGeom prst="ellipse">
            <a:avLst/>
          </a:prstGeom>
          <a:solidFill>
            <a:srgbClr val="0B132B"/>
          </a:solidFill>
          <a:ln/>
        </p:spPr>
      </p:sp>
      <p:pic>
        <p:nvPicPr>
          <p:cNvPr id="11" name="Image 1" descr="preencoded.png">    </p:cNvPr>
          <p:cNvPicPr>
            <a:picLocks noChangeAspect="1"/>
          </p:cNvPicPr>
          <p:nvPr/>
        </p:nvPicPr>
        <p:blipFill>
          <a:blip r:embed="rId2"/>
          <a:stretch>
            <a:fillRect/>
          </a:stretch>
        </p:blipFill>
        <p:spPr>
          <a:xfrm>
            <a:off x="6645311" y="2183039"/>
            <a:ext cx="260787" cy="260787"/>
          </a:xfrm>
          <a:prstGeom prst="rect">
            <a:avLst/>
          </a:prstGeom>
        </p:spPr>
      </p:pic>
      <p:sp>
        <p:nvSpPr>
          <p:cNvPr id="12" name="Text 8"/>
          <p:cNvSpPr/>
          <p:nvPr/>
        </p:nvSpPr>
        <p:spPr>
          <a:xfrm>
            <a:off x="7269480" y="1993392"/>
            <a:ext cx="4023360" cy="640080"/>
          </a:xfrm>
          <a:prstGeom prst="rect">
            <a:avLst/>
          </a:prstGeom>
          <a:noFill/>
          <a:ln/>
        </p:spPr>
        <p:txBody>
          <a:bodyPr wrap="square" lIns="0" tIns="0" rIns="0" bIns="0" rtlCol="0" anchor="ctr"/>
          <a:lstStyle/>
          <a:p>
            <a:pPr indent="0" marL="0">
              <a:buNone/>
            </a:pPr>
            <a:r>
              <a:rPr lang="en-US" sz="1600" b="1" dirty="0">
                <a:solidFill>
                  <a:srgbClr val="1B2432"/>
                </a:solidFill>
                <a:latin typeface="Yu Gothic" pitchFamily="34" charset="0"/>
                <a:ea typeface="Yu Gothic" pitchFamily="34" charset="-122"/>
                <a:cs typeface="Yu Gothic" pitchFamily="34" charset="-120"/>
              </a:rPr>
              <a:t>週替わりのリズム</a:t>
            </a:r>
            <a:endParaRPr lang="en-US" sz="1600" dirty="0"/>
          </a:p>
        </p:txBody>
      </p:sp>
      <p:sp>
        <p:nvSpPr>
          <p:cNvPr id="13" name="Text 9"/>
          <p:cNvSpPr/>
          <p:nvPr/>
        </p:nvSpPr>
        <p:spPr>
          <a:xfrm>
            <a:off x="6492240" y="269748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「今週の怪獣」を毎週入れ替え。買う日が決まっている＝売場の定番化。飲料の日常頻度に近づける設計です。</a:t>
            </a:r>
            <a:endParaRPr lang="en-US" sz="1150" dirty="0"/>
          </a:p>
        </p:txBody>
      </p:sp>
      <p:sp>
        <p:nvSpPr>
          <p:cNvPr id="14" name="Shape 10"/>
          <p:cNvSpPr/>
          <p:nvPr/>
        </p:nvSpPr>
        <p:spPr>
          <a:xfrm>
            <a:off x="548640" y="3840480"/>
            <a:ext cx="5440680" cy="1920240"/>
          </a:xfrm>
          <a:prstGeom prst="roundRect">
            <a:avLst>
              <a:gd name="adj" fmla="val 4762"/>
            </a:avLst>
          </a:prstGeom>
          <a:solidFill>
            <a:srgbClr val="F2F5F9"/>
          </a:solidFill>
          <a:ln/>
        </p:spPr>
      </p:sp>
      <p:sp>
        <p:nvSpPr>
          <p:cNvPr id="15" name="Shape 11"/>
          <p:cNvSpPr/>
          <p:nvPr/>
        </p:nvSpPr>
        <p:spPr>
          <a:xfrm>
            <a:off x="868680" y="4133088"/>
            <a:ext cx="566928" cy="566928"/>
          </a:xfrm>
          <a:prstGeom prst="ellipse">
            <a:avLst/>
          </a:prstGeom>
          <a:solidFill>
            <a:srgbClr val="1FB6E0"/>
          </a:solidFill>
          <a:ln/>
        </p:spPr>
      </p:sp>
      <p:pic>
        <p:nvPicPr>
          <p:cNvPr id="16" name="Image 2" descr="preencoded.png">    </p:cNvPr>
          <p:cNvPicPr>
            <a:picLocks noChangeAspect="1"/>
          </p:cNvPicPr>
          <p:nvPr/>
        </p:nvPicPr>
        <p:blipFill>
          <a:blip r:embed="rId3"/>
          <a:stretch>
            <a:fillRect/>
          </a:stretch>
        </p:blipFill>
        <p:spPr>
          <a:xfrm>
            <a:off x="1021751" y="4286159"/>
            <a:ext cx="260787" cy="260787"/>
          </a:xfrm>
          <a:prstGeom prst="rect">
            <a:avLst/>
          </a:prstGeom>
        </p:spPr>
      </p:pic>
      <p:sp>
        <p:nvSpPr>
          <p:cNvPr id="17" name="Text 12"/>
          <p:cNvSpPr/>
          <p:nvPr/>
        </p:nvSpPr>
        <p:spPr>
          <a:xfrm>
            <a:off x="1645920" y="4096512"/>
            <a:ext cx="4023360" cy="640080"/>
          </a:xfrm>
          <a:prstGeom prst="rect">
            <a:avLst/>
          </a:prstGeom>
          <a:noFill/>
          <a:ln/>
        </p:spPr>
        <p:txBody>
          <a:bodyPr wrap="square" lIns="0" tIns="0" rIns="0" bIns="0" rtlCol="0" anchor="ctr"/>
          <a:lstStyle/>
          <a:p>
            <a:pPr indent="0" marL="0">
              <a:buNone/>
            </a:pPr>
            <a:r>
              <a:rPr lang="en-US" sz="1600" b="1" dirty="0">
                <a:solidFill>
                  <a:srgbClr val="1B2432"/>
                </a:solidFill>
                <a:latin typeface="Yu Gothic" pitchFamily="34" charset="0"/>
                <a:ea typeface="Yu Gothic" pitchFamily="34" charset="-122"/>
                <a:cs typeface="Yu Gothic" pitchFamily="34" charset="-120"/>
              </a:rPr>
              <a:t>放送との同期</a:t>
            </a:r>
            <a:endParaRPr lang="en-US" sz="1600" dirty="0"/>
          </a:p>
        </p:txBody>
      </p:sp>
      <p:sp>
        <p:nvSpPr>
          <p:cNvPr id="18" name="Text 13"/>
          <p:cNvSpPr/>
          <p:nvPr/>
        </p:nvSpPr>
        <p:spPr>
          <a:xfrm>
            <a:off x="868680" y="480060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『ウルトラマンテオ』最新話に登場した怪獣が、翌週の商品に登場。テレビ→売場→アプリの循環を作ります。</a:t>
            </a:r>
            <a:endParaRPr lang="en-US" sz="1150" dirty="0"/>
          </a:p>
        </p:txBody>
      </p:sp>
      <p:sp>
        <p:nvSpPr>
          <p:cNvPr id="19" name="Shape 14"/>
          <p:cNvSpPr/>
          <p:nvPr/>
        </p:nvSpPr>
        <p:spPr>
          <a:xfrm>
            <a:off x="6172200" y="3840480"/>
            <a:ext cx="5440680" cy="1920240"/>
          </a:xfrm>
          <a:prstGeom prst="roundRect">
            <a:avLst>
              <a:gd name="adj" fmla="val 4762"/>
            </a:avLst>
          </a:prstGeom>
          <a:solidFill>
            <a:srgbClr val="F2F5F9"/>
          </a:solidFill>
          <a:ln/>
        </p:spPr>
      </p:sp>
      <p:sp>
        <p:nvSpPr>
          <p:cNvPr id="20" name="Shape 15"/>
          <p:cNvSpPr/>
          <p:nvPr/>
        </p:nvSpPr>
        <p:spPr>
          <a:xfrm>
            <a:off x="6492240" y="4133088"/>
            <a:ext cx="566928" cy="566928"/>
          </a:xfrm>
          <a:prstGeom prst="ellipse">
            <a:avLst/>
          </a:prstGeom>
          <a:solidFill>
            <a:srgbClr val="0B132B"/>
          </a:solidFill>
          <a:ln/>
        </p:spPr>
      </p:sp>
      <p:pic>
        <p:nvPicPr>
          <p:cNvPr id="21" name="Image 3" descr="preencoded.png">    </p:cNvPr>
          <p:cNvPicPr>
            <a:picLocks noChangeAspect="1"/>
          </p:cNvPicPr>
          <p:nvPr/>
        </p:nvPicPr>
        <p:blipFill>
          <a:blip r:embed="rId4"/>
          <a:stretch>
            <a:fillRect/>
          </a:stretch>
        </p:blipFill>
        <p:spPr>
          <a:xfrm>
            <a:off x="6645311" y="4286159"/>
            <a:ext cx="260787" cy="260787"/>
          </a:xfrm>
          <a:prstGeom prst="rect">
            <a:avLst/>
          </a:prstGeom>
        </p:spPr>
      </p:pic>
      <p:sp>
        <p:nvSpPr>
          <p:cNvPr id="22" name="Text 16"/>
          <p:cNvSpPr/>
          <p:nvPr/>
        </p:nvSpPr>
        <p:spPr>
          <a:xfrm>
            <a:off x="7269480" y="4096512"/>
            <a:ext cx="4023360" cy="640080"/>
          </a:xfrm>
          <a:prstGeom prst="rect">
            <a:avLst/>
          </a:prstGeom>
          <a:noFill/>
          <a:ln/>
        </p:spPr>
        <p:txBody>
          <a:bodyPr wrap="square" lIns="0" tIns="0" rIns="0" bIns="0" rtlCol="0" anchor="ctr"/>
          <a:lstStyle/>
          <a:p>
            <a:pPr indent="0" marL="0">
              <a:buNone/>
            </a:pPr>
            <a:r>
              <a:rPr lang="en-US" sz="1600" b="1" dirty="0">
                <a:solidFill>
                  <a:srgbClr val="1B2432"/>
                </a:solidFill>
                <a:latin typeface="Yu Gothic" pitchFamily="34" charset="0"/>
                <a:ea typeface="Yu Gothic" pitchFamily="34" charset="-122"/>
                <a:cs typeface="Yu Gothic" pitchFamily="34" charset="-120"/>
              </a:rPr>
              <a:t>共同マーケ資産</a:t>
            </a:r>
            <a:endParaRPr lang="en-US" sz="1600" dirty="0"/>
          </a:p>
        </p:txBody>
      </p:sp>
      <p:sp>
        <p:nvSpPr>
          <p:cNvPr id="23" name="Text 17"/>
          <p:cNvSpPr/>
          <p:nvPr/>
        </p:nvSpPr>
        <p:spPr>
          <a:xfrm>
            <a:off x="6492240" y="480060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購買データ×視聴・アプリ行動データを両社の共同資産に。次の商品企画・番組企画に還流します。</a:t>
            </a:r>
            <a:endParaRPr lang="en-US" sz="11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5" name="Text 19"/>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PORTFOLIO</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第2・第3の矢 — 本命を支えるサブコンセプト</a:t>
            </a:r>
            <a:endParaRPr lang="en-US" sz="2800" dirty="0"/>
          </a:p>
        </p:txBody>
      </p:sp>
      <p:sp>
        <p:nvSpPr>
          <p:cNvPr id="4" name="Shape 2"/>
          <p:cNvSpPr/>
          <p:nvPr/>
        </p:nvSpPr>
        <p:spPr>
          <a:xfrm>
            <a:off x="548640" y="1691640"/>
            <a:ext cx="5532120" cy="3931920"/>
          </a:xfrm>
          <a:prstGeom prst="roundRect">
            <a:avLst>
              <a:gd name="adj" fmla="val 2326"/>
            </a:avLst>
          </a:prstGeom>
          <a:solidFill>
            <a:srgbClr val="F2F5F9"/>
          </a:solidFill>
          <a:ln/>
        </p:spPr>
      </p:sp>
      <p:sp>
        <p:nvSpPr>
          <p:cNvPr id="5" name="Shape 3"/>
          <p:cNvSpPr/>
          <p:nvPr/>
        </p:nvSpPr>
        <p:spPr>
          <a:xfrm>
            <a:off x="914400" y="2011680"/>
            <a:ext cx="621792" cy="621792"/>
          </a:xfrm>
          <a:prstGeom prst="ellipse">
            <a:avLst/>
          </a:prstGeom>
          <a:solidFill>
            <a:srgbClr val="0B132B"/>
          </a:solidFill>
          <a:ln/>
        </p:spPr>
      </p:sp>
      <p:pic>
        <p:nvPicPr>
          <p:cNvPr id="6" name="Image 0" descr="preencoded.png">    </p:cNvPr>
          <p:cNvPicPr>
            <a:picLocks noChangeAspect="1"/>
          </p:cNvPicPr>
          <p:nvPr/>
        </p:nvPicPr>
        <p:blipFill>
          <a:blip r:embed="rId1"/>
          <a:stretch>
            <a:fillRect/>
          </a:stretch>
        </p:blipFill>
        <p:spPr>
          <a:xfrm>
            <a:off x="1082284" y="2179564"/>
            <a:ext cx="286024" cy="286024"/>
          </a:xfrm>
          <a:prstGeom prst="rect">
            <a:avLst/>
          </a:prstGeom>
        </p:spPr>
      </p:pic>
      <p:sp>
        <p:nvSpPr>
          <p:cNvPr id="7" name="Text 4"/>
          <p:cNvSpPr/>
          <p:nvPr/>
        </p:nvSpPr>
        <p:spPr>
          <a:xfrm>
            <a:off x="1737360" y="1965960"/>
            <a:ext cx="4160520" cy="73152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『ULTRA CHARGE』— 大人の機能性ガム・グミ</a:t>
            </a:r>
            <a:endParaRPr lang="en-US" sz="1600" dirty="0"/>
          </a:p>
        </p:txBody>
      </p:sp>
      <p:sp>
        <p:nvSpPr>
          <p:cNvPr id="8" name="Text 5"/>
          <p:cNvSpPr/>
          <p:nvPr/>
        </p:nvSpPr>
        <p:spPr>
          <a:xfrm>
            <a:off x="914400" y="2926080"/>
            <a:ext cx="4800600" cy="2468880"/>
          </a:xfrm>
          <a:prstGeom prst="rect">
            <a:avLst/>
          </a:prstGeom>
          <a:noFill/>
          <a:ln/>
        </p:spPr>
        <p:txBody>
          <a:bodyPr wrap="square" lIns="0" tIns="0" rIns="0" bIns="0" rtlCol="0" anchor="ctr"/>
          <a:lstStyle/>
          <a:p>
            <a:pPr indent="0" marL="0">
              <a:lnSpc>
                <a:spcPts val="1700"/>
              </a:lnSpc>
              <a:spcAft>
                <a:spcPts val="1000"/>
              </a:spcAft>
              <a:buNone/>
            </a:pPr>
            <a:r>
              <a:rPr lang="en-US" sz="1150" dirty="0">
                <a:solidFill>
                  <a:srgbClr val="5A6474"/>
                </a:solidFill>
                <a:latin typeface="Yu Gothic" pitchFamily="34" charset="0"/>
                <a:ea typeface="Yu Gothic" pitchFamily="34" charset="-122"/>
                <a:cs typeface="Yu Gothic" pitchFamily="34" charset="-120"/>
              </a:rPr>
              <a:t>直撃世代の40〜60代は、いま可処分所得のピーク。「昼13時、会議前のシュワッチ。」を合言葉に、ビタミン・カフェイン等の機能性素材で"働く人の変身"を支えます。</a:t>
            </a:r>
            <a:endParaRPr lang="en-US" sz="1150" dirty="0"/>
          </a:p>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キシリトールで機能性ガム市場を創った御社の勝ち筋を、エンタメ×機能性で再現する商品です。</a:t>
            </a:r>
            <a:endParaRPr lang="en-US" sz="1150" dirty="0"/>
          </a:p>
        </p:txBody>
      </p:sp>
      <p:sp>
        <p:nvSpPr>
          <p:cNvPr id="9" name="Shape 6"/>
          <p:cNvSpPr/>
          <p:nvPr/>
        </p:nvSpPr>
        <p:spPr>
          <a:xfrm>
            <a:off x="6263640" y="1691640"/>
            <a:ext cx="5532120" cy="3931920"/>
          </a:xfrm>
          <a:prstGeom prst="roundRect">
            <a:avLst>
              <a:gd name="adj" fmla="val 2326"/>
            </a:avLst>
          </a:prstGeom>
          <a:solidFill>
            <a:srgbClr val="F2F5F9"/>
          </a:solidFill>
          <a:ln/>
        </p:spPr>
      </p:sp>
      <p:sp>
        <p:nvSpPr>
          <p:cNvPr id="10" name="Shape 7"/>
          <p:cNvSpPr/>
          <p:nvPr/>
        </p:nvSpPr>
        <p:spPr>
          <a:xfrm>
            <a:off x="6629400" y="2011680"/>
            <a:ext cx="621792" cy="621792"/>
          </a:xfrm>
          <a:prstGeom prst="ellipse">
            <a:avLst/>
          </a:prstGeom>
          <a:solidFill>
            <a:srgbClr val="D7002F"/>
          </a:solidFill>
          <a:ln/>
        </p:spPr>
      </p:sp>
      <p:pic>
        <p:nvPicPr>
          <p:cNvPr id="11" name="Image 1" descr="preencoded.png">    </p:cNvPr>
          <p:cNvPicPr>
            <a:picLocks noChangeAspect="1"/>
          </p:cNvPicPr>
          <p:nvPr/>
        </p:nvPicPr>
        <p:blipFill>
          <a:blip r:embed="rId2"/>
          <a:stretch>
            <a:fillRect/>
          </a:stretch>
        </p:blipFill>
        <p:spPr>
          <a:xfrm>
            <a:off x="6797284" y="2179564"/>
            <a:ext cx="286024" cy="286024"/>
          </a:xfrm>
          <a:prstGeom prst="rect">
            <a:avLst/>
          </a:prstGeom>
        </p:spPr>
      </p:pic>
      <p:sp>
        <p:nvSpPr>
          <p:cNvPr id="12" name="Text 8"/>
          <p:cNvSpPr/>
          <p:nvPr/>
        </p:nvSpPr>
        <p:spPr>
          <a:xfrm>
            <a:off x="7452360" y="1965960"/>
            <a:ext cx="4160520" cy="73152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『ウルトラマンマンチョコ』— 先行の一手</a:t>
            </a:r>
            <a:endParaRPr lang="en-US" sz="1600" dirty="0"/>
          </a:p>
        </p:txBody>
      </p:sp>
      <p:sp>
        <p:nvSpPr>
          <p:cNvPr id="13" name="Text 9"/>
          <p:cNvSpPr/>
          <p:nvPr/>
        </p:nvSpPr>
        <p:spPr>
          <a:xfrm>
            <a:off x="6629400" y="2926080"/>
            <a:ext cx="4800600" cy="2468880"/>
          </a:xfrm>
          <a:prstGeom prst="rect">
            <a:avLst/>
          </a:prstGeom>
          <a:noFill/>
          <a:ln/>
        </p:spPr>
        <p:txBody>
          <a:bodyPr wrap="square" lIns="0" tIns="0" rIns="0" bIns="0" rtlCol="0" anchor="ctr"/>
          <a:lstStyle/>
          <a:p>
            <a:pPr indent="0" marL="0">
              <a:lnSpc>
                <a:spcPts val="1700"/>
              </a:lnSpc>
              <a:spcAft>
                <a:spcPts val="1000"/>
              </a:spcAft>
              <a:buNone/>
            </a:pPr>
            <a:r>
              <a:rPr lang="en-US" sz="1150" dirty="0">
                <a:solidFill>
                  <a:srgbClr val="5A6474"/>
                </a:solidFill>
                <a:latin typeface="Yu Gothic" pitchFamily="34" charset="0"/>
                <a:ea typeface="Yu Gothic" pitchFamily="34" charset="-122"/>
                <a:cs typeface="Yu Gothic" pitchFamily="34" charset="-120"/>
              </a:rPr>
              <a:t>ビックリマン×ウルトラマンの公式コラボ。既存の生産・流通ラインに乗るため低リスク・即効で、60周年商戦（2026年度内）に間に合います。</a:t>
            </a:r>
            <a:endParaRPr lang="en-US" sz="1150" dirty="0"/>
          </a:p>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ミャクミャクマンチョコ等で実証済みのコラボ枠を使い、話題化と購買意向データを取得。本命『ULTRA 3MIN.』への橋頭堡にします。</a:t>
            </a:r>
            <a:endParaRPr lang="en-US" sz="1150" dirty="0"/>
          </a:p>
        </p:txBody>
      </p:sp>
      <p:sp>
        <p:nvSpPr>
          <p:cNvPr id="14" name="Text 10"/>
          <p:cNvSpPr/>
          <p:nvPr/>
        </p:nvSpPr>
        <p:spPr>
          <a:xfrm>
            <a:off x="548640" y="5852160"/>
            <a:ext cx="11064240" cy="365760"/>
          </a:xfrm>
          <a:prstGeom prst="rect">
            <a:avLst/>
          </a:prstGeom>
          <a:noFill/>
          <a:ln/>
        </p:spPr>
        <p:txBody>
          <a:bodyPr wrap="square" lIns="0" tIns="0" rIns="0" bIns="0" rtlCol="0" anchor="ctr"/>
          <a:lstStyle/>
          <a:p>
            <a:pPr indent="0" marL="0">
              <a:buNone/>
            </a:pPr>
            <a:r>
              <a:rPr lang="en-US" sz="1250" b="1" dirty="0">
                <a:solidFill>
                  <a:srgbClr val="0B132B"/>
                </a:solidFill>
                <a:latin typeface="Yu Gothic" pitchFamily="34" charset="0"/>
                <a:ea typeface="Yu Gothic" pitchFamily="34" charset="-122"/>
                <a:cs typeface="Yu Gothic" pitchFamily="34" charset="-120"/>
              </a:rPr>
              <a:t>3つのコンセプトは独立ではなく、「先行弾 → 本命 → 大人市場」の順に接続する一つの物語です。</a:t>
            </a:r>
            <a:endParaRPr lang="en-US" sz="1250" dirty="0"/>
          </a:p>
        </p:txBody>
      </p:sp>
      <p:sp>
        <p:nvSpPr>
          <p:cNvPr id="15" name="Text 11"/>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16" name="Text 12"/>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ROADMAP</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展開ロードマップ — 60周年から、アジアの定番へ</a:t>
            </a:r>
            <a:endParaRPr lang="en-US" sz="2800" dirty="0"/>
          </a:p>
        </p:txBody>
      </p:sp>
      <p:sp>
        <p:nvSpPr>
          <p:cNvPr id="4" name="Shape 2"/>
          <p:cNvSpPr/>
          <p:nvPr/>
        </p:nvSpPr>
        <p:spPr>
          <a:xfrm>
            <a:off x="548640" y="1828800"/>
            <a:ext cx="3520440" cy="3566160"/>
          </a:xfrm>
          <a:prstGeom prst="roundRect">
            <a:avLst>
              <a:gd name="adj" fmla="val 2597"/>
            </a:avLst>
          </a:prstGeom>
          <a:solidFill>
            <a:srgbClr val="F2F5F9"/>
          </a:solidFill>
          <a:ln/>
        </p:spPr>
      </p:sp>
      <p:sp>
        <p:nvSpPr>
          <p:cNvPr id="5" name="Shape 3"/>
          <p:cNvSpPr/>
          <p:nvPr/>
        </p:nvSpPr>
        <p:spPr>
          <a:xfrm>
            <a:off x="822960" y="2103120"/>
            <a:ext cx="2971800" cy="457200"/>
          </a:xfrm>
          <a:prstGeom prst="roundRect">
            <a:avLst>
              <a:gd name="adj" fmla="val 50000"/>
            </a:avLst>
          </a:prstGeom>
          <a:solidFill>
            <a:srgbClr val="D7002F"/>
          </a:solidFill>
          <a:ln/>
        </p:spPr>
      </p:sp>
      <p:sp>
        <p:nvSpPr>
          <p:cNvPr id="6" name="Text 4"/>
          <p:cNvSpPr/>
          <p:nvPr/>
        </p:nvSpPr>
        <p:spPr>
          <a:xfrm>
            <a:off x="822960" y="2103120"/>
            <a:ext cx="29718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PHASE 1｜2026年度下期</a:t>
            </a:r>
            <a:endParaRPr lang="en-US" sz="1250" dirty="0"/>
          </a:p>
        </p:txBody>
      </p:sp>
      <p:sp>
        <p:nvSpPr>
          <p:cNvPr id="7" name="Text 5"/>
          <p:cNvSpPr/>
          <p:nvPr/>
        </p:nvSpPr>
        <p:spPr>
          <a:xfrm>
            <a:off x="822960" y="2697480"/>
            <a:ext cx="2971800" cy="548640"/>
          </a:xfrm>
          <a:prstGeom prst="rect">
            <a:avLst/>
          </a:prstGeom>
          <a:noFill/>
          <a:ln/>
        </p:spPr>
        <p:txBody>
          <a:bodyPr wrap="square" lIns="0" tIns="0" rIns="0" bIns="0" rtlCol="0" anchor="ctr"/>
          <a:lstStyle/>
          <a:p>
            <a:pPr indent="0" marL="0">
              <a:buNone/>
            </a:pPr>
            <a:r>
              <a:rPr lang="en-US" sz="2000" b="1" dirty="0">
                <a:solidFill>
                  <a:srgbClr val="D7002F"/>
                </a:solidFill>
                <a:latin typeface="Yu Gothic" pitchFamily="34" charset="0"/>
                <a:ea typeface="Yu Gothic" pitchFamily="34" charset="-122"/>
                <a:cs typeface="Yu Gothic" pitchFamily="34" charset="-120"/>
              </a:rPr>
              <a:t>話題化</a:t>
            </a:r>
            <a:endParaRPr lang="en-US" sz="2000" dirty="0"/>
          </a:p>
        </p:txBody>
      </p:sp>
      <p:sp>
        <p:nvSpPr>
          <p:cNvPr id="8" name="Text 6"/>
          <p:cNvSpPr/>
          <p:nvPr/>
        </p:nvSpPr>
        <p:spPr>
          <a:xfrm>
            <a:off x="822960" y="3291840"/>
            <a:ext cx="2971800" cy="192024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『ウルトラマンマンチョコ』を60周年商戦に投入。半世紀ぶり再タッグを共同発表し、購買意向・ファン層データを取得。</a:t>
            </a:r>
            <a:endParaRPr lang="en-US" sz="1150" dirty="0"/>
          </a:p>
        </p:txBody>
      </p:sp>
      <p:sp>
        <p:nvSpPr>
          <p:cNvPr id="9" name="Text 7"/>
          <p:cNvSpPr/>
          <p:nvPr/>
        </p:nvSpPr>
        <p:spPr>
          <a:xfrm>
            <a:off x="4069080" y="3291840"/>
            <a:ext cx="411480" cy="640080"/>
          </a:xfrm>
          <a:prstGeom prst="rect">
            <a:avLst/>
          </a:prstGeom>
          <a:noFill/>
          <a:ln/>
        </p:spPr>
        <p:txBody>
          <a:bodyPr wrap="square" lIns="0" tIns="0" rIns="0" bIns="0" rtlCol="0" anchor="ctr"/>
          <a:lstStyle/>
          <a:p>
            <a:pPr algn="ctr" indent="0" marL="0">
              <a:buNone/>
            </a:pPr>
            <a:r>
              <a:rPr lang="en-US" sz="2400" b="1" dirty="0">
                <a:solidFill>
                  <a:srgbClr val="AEB8C4"/>
                </a:solidFill>
                <a:latin typeface="Yu Gothic" pitchFamily="34" charset="0"/>
                <a:ea typeface="Yu Gothic" pitchFamily="34" charset="-122"/>
                <a:cs typeface="Yu Gothic" pitchFamily="34" charset="-120"/>
              </a:rPr>
              <a:t>→</a:t>
            </a:r>
            <a:endParaRPr lang="en-US" sz="2400" dirty="0"/>
          </a:p>
        </p:txBody>
      </p:sp>
      <p:sp>
        <p:nvSpPr>
          <p:cNvPr id="10" name="Shape 8"/>
          <p:cNvSpPr/>
          <p:nvPr/>
        </p:nvSpPr>
        <p:spPr>
          <a:xfrm>
            <a:off x="4480560" y="1828800"/>
            <a:ext cx="3520440" cy="3566160"/>
          </a:xfrm>
          <a:prstGeom prst="roundRect">
            <a:avLst>
              <a:gd name="adj" fmla="val 2597"/>
            </a:avLst>
          </a:prstGeom>
          <a:solidFill>
            <a:srgbClr val="F2F5F9"/>
          </a:solidFill>
          <a:ln/>
        </p:spPr>
      </p:sp>
      <p:sp>
        <p:nvSpPr>
          <p:cNvPr id="11" name="Shape 9"/>
          <p:cNvSpPr/>
          <p:nvPr/>
        </p:nvSpPr>
        <p:spPr>
          <a:xfrm>
            <a:off x="4754880" y="2103120"/>
            <a:ext cx="2971800" cy="457200"/>
          </a:xfrm>
          <a:prstGeom prst="roundRect">
            <a:avLst>
              <a:gd name="adj" fmla="val 50000"/>
            </a:avLst>
          </a:prstGeom>
          <a:solidFill>
            <a:srgbClr val="0B132B"/>
          </a:solidFill>
          <a:ln/>
        </p:spPr>
      </p:sp>
      <p:sp>
        <p:nvSpPr>
          <p:cNvPr id="12" name="Text 10"/>
          <p:cNvSpPr/>
          <p:nvPr/>
        </p:nvSpPr>
        <p:spPr>
          <a:xfrm>
            <a:off x="4754880" y="2103120"/>
            <a:ext cx="29718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PHASE 2｜2027年</a:t>
            </a:r>
            <a:endParaRPr lang="en-US" sz="1250" dirty="0"/>
          </a:p>
        </p:txBody>
      </p:sp>
      <p:sp>
        <p:nvSpPr>
          <p:cNvPr id="13" name="Text 11"/>
          <p:cNvSpPr/>
          <p:nvPr/>
        </p:nvSpPr>
        <p:spPr>
          <a:xfrm>
            <a:off x="4754880" y="2697480"/>
            <a:ext cx="2971800" cy="548640"/>
          </a:xfrm>
          <a:prstGeom prst="rect">
            <a:avLst/>
          </a:prstGeom>
          <a:noFill/>
          <a:ln/>
        </p:spPr>
        <p:txBody>
          <a:bodyPr wrap="square" lIns="0" tIns="0" rIns="0" bIns="0" rtlCol="0" anchor="ctr"/>
          <a:lstStyle/>
          <a:p>
            <a:pPr indent="0" marL="0">
              <a:buNone/>
            </a:pPr>
            <a:r>
              <a:rPr lang="en-US" sz="2000" b="1" dirty="0">
                <a:solidFill>
                  <a:srgbClr val="0B132B"/>
                </a:solidFill>
                <a:latin typeface="Yu Gothic" pitchFamily="34" charset="0"/>
                <a:ea typeface="Yu Gothic" pitchFamily="34" charset="-122"/>
                <a:cs typeface="Yu Gothic" pitchFamily="34" charset="-120"/>
              </a:rPr>
              <a:t>カテゴリー宣言</a:t>
            </a:r>
            <a:endParaRPr lang="en-US" sz="2000" dirty="0"/>
          </a:p>
        </p:txBody>
      </p:sp>
      <p:sp>
        <p:nvSpPr>
          <p:cNvPr id="14" name="Text 12"/>
          <p:cNvSpPr/>
          <p:nvPr/>
        </p:nvSpPr>
        <p:spPr>
          <a:xfrm>
            <a:off x="4754880" y="3291840"/>
            <a:ext cx="2971800" cy="192024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『ULTRA 3MIN.』全国発売。新TVシリーズ・アプリと連動し、「変身菓子」カテゴリーを市場に宣言。売場の定番棚を獲得。</a:t>
            </a:r>
            <a:endParaRPr lang="en-US" sz="1150" dirty="0"/>
          </a:p>
        </p:txBody>
      </p:sp>
      <p:sp>
        <p:nvSpPr>
          <p:cNvPr id="15" name="Text 13"/>
          <p:cNvSpPr/>
          <p:nvPr/>
        </p:nvSpPr>
        <p:spPr>
          <a:xfrm>
            <a:off x="8001000" y="3291840"/>
            <a:ext cx="411480" cy="640080"/>
          </a:xfrm>
          <a:prstGeom prst="rect">
            <a:avLst/>
          </a:prstGeom>
          <a:noFill/>
          <a:ln/>
        </p:spPr>
        <p:txBody>
          <a:bodyPr wrap="square" lIns="0" tIns="0" rIns="0" bIns="0" rtlCol="0" anchor="ctr"/>
          <a:lstStyle/>
          <a:p>
            <a:pPr algn="ctr" indent="0" marL="0">
              <a:buNone/>
            </a:pPr>
            <a:r>
              <a:rPr lang="en-US" sz="2400" b="1" dirty="0">
                <a:solidFill>
                  <a:srgbClr val="AEB8C4"/>
                </a:solidFill>
                <a:latin typeface="Yu Gothic" pitchFamily="34" charset="0"/>
                <a:ea typeface="Yu Gothic" pitchFamily="34" charset="-122"/>
                <a:cs typeface="Yu Gothic" pitchFamily="34" charset="-120"/>
              </a:rPr>
              <a:t>→</a:t>
            </a:r>
            <a:endParaRPr lang="en-US" sz="2400" dirty="0"/>
          </a:p>
        </p:txBody>
      </p:sp>
      <p:sp>
        <p:nvSpPr>
          <p:cNvPr id="16" name="Shape 14"/>
          <p:cNvSpPr/>
          <p:nvPr/>
        </p:nvSpPr>
        <p:spPr>
          <a:xfrm>
            <a:off x="8412480" y="1828800"/>
            <a:ext cx="3520440" cy="3566160"/>
          </a:xfrm>
          <a:prstGeom prst="roundRect">
            <a:avLst>
              <a:gd name="adj" fmla="val 2597"/>
            </a:avLst>
          </a:prstGeom>
          <a:solidFill>
            <a:srgbClr val="F2F5F9"/>
          </a:solidFill>
          <a:ln/>
        </p:spPr>
      </p:sp>
      <p:sp>
        <p:nvSpPr>
          <p:cNvPr id="17" name="Shape 15"/>
          <p:cNvSpPr/>
          <p:nvPr/>
        </p:nvSpPr>
        <p:spPr>
          <a:xfrm>
            <a:off x="8686800" y="2103120"/>
            <a:ext cx="2971800" cy="457200"/>
          </a:xfrm>
          <a:prstGeom prst="roundRect">
            <a:avLst>
              <a:gd name="adj" fmla="val 50000"/>
            </a:avLst>
          </a:prstGeom>
          <a:solidFill>
            <a:srgbClr val="1FB6E0"/>
          </a:solidFill>
          <a:ln/>
        </p:spPr>
      </p:sp>
      <p:sp>
        <p:nvSpPr>
          <p:cNvPr id="18" name="Text 16"/>
          <p:cNvSpPr/>
          <p:nvPr/>
        </p:nvSpPr>
        <p:spPr>
          <a:xfrm>
            <a:off x="8686800" y="2103120"/>
            <a:ext cx="29718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PHASE 3｜2028年〜</a:t>
            </a:r>
            <a:endParaRPr lang="en-US" sz="1250" dirty="0"/>
          </a:p>
        </p:txBody>
      </p:sp>
      <p:sp>
        <p:nvSpPr>
          <p:cNvPr id="19" name="Text 17"/>
          <p:cNvSpPr/>
          <p:nvPr/>
        </p:nvSpPr>
        <p:spPr>
          <a:xfrm>
            <a:off x="8686800" y="2697480"/>
            <a:ext cx="2971800" cy="548640"/>
          </a:xfrm>
          <a:prstGeom prst="rect">
            <a:avLst/>
          </a:prstGeom>
          <a:noFill/>
          <a:ln/>
        </p:spPr>
        <p:txBody>
          <a:bodyPr wrap="square" lIns="0" tIns="0" rIns="0" bIns="0" rtlCol="0" anchor="ctr"/>
          <a:lstStyle/>
          <a:p>
            <a:pPr indent="0" marL="0">
              <a:buNone/>
            </a:pPr>
            <a:r>
              <a:rPr lang="en-US" sz="2000" b="1" dirty="0">
                <a:solidFill>
                  <a:srgbClr val="1FB6E0"/>
                </a:solidFill>
                <a:latin typeface="Yu Gothic" pitchFamily="34" charset="0"/>
                <a:ea typeface="Yu Gothic" pitchFamily="34" charset="-122"/>
                <a:cs typeface="Yu Gothic" pitchFamily="34" charset="-120"/>
              </a:rPr>
              <a:t>アジア展開</a:t>
            </a:r>
            <a:endParaRPr lang="en-US" sz="2000" dirty="0"/>
          </a:p>
        </p:txBody>
      </p:sp>
      <p:sp>
        <p:nvSpPr>
          <p:cNvPr id="20" name="Text 18"/>
          <p:cNvSpPr/>
          <p:nvPr/>
        </p:nvSpPr>
        <p:spPr>
          <a:xfrm>
            <a:off x="8686800" y="3291840"/>
            <a:ext cx="2971800" cy="192024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御社の韓国・アジア流通網 × ウルトラマンの中国・東南アジア人気で海外展開。『ULTRA CHARGE』で大人市場にも拡張。</a:t>
            </a:r>
            <a:endParaRPr lang="en-US" sz="1150" dirty="0"/>
          </a:p>
        </p:txBody>
      </p:sp>
      <p:sp>
        <p:nvSpPr>
          <p:cNvPr id="21" name="Text 19"/>
          <p:cNvSpPr/>
          <p:nvPr/>
        </p:nvSpPr>
        <p:spPr>
          <a:xfrm>
            <a:off x="548640" y="5760720"/>
            <a:ext cx="11064240" cy="365760"/>
          </a:xfrm>
          <a:prstGeom prst="rect">
            <a:avLst/>
          </a:prstGeom>
          <a:noFill/>
          <a:ln/>
        </p:spPr>
        <p:txBody>
          <a:bodyPr wrap="square" lIns="0" tIns="0" rIns="0" bIns="0" rtlCol="0" anchor="ctr"/>
          <a:lstStyle/>
          <a:p>
            <a:pPr indent="0" marL="0">
              <a:buNone/>
            </a:pPr>
            <a:r>
              <a:rPr lang="en-US" sz="1250" b="1" dirty="0">
                <a:solidFill>
                  <a:srgbClr val="0B132B"/>
                </a:solidFill>
                <a:latin typeface="Yu Gothic" pitchFamily="34" charset="0"/>
                <a:ea typeface="Yu Gothic" pitchFamily="34" charset="-122"/>
                <a:cs typeface="Yu Gothic" pitchFamily="34" charset="-120"/>
              </a:rPr>
              <a:t>目標：発売初年度で「変身菓子」の売場定番化、5年でビックリマン級のカテゴリー確立とアジア展開。</a:t>
            </a:r>
            <a:endParaRPr lang="en-US" sz="1250" dirty="0"/>
          </a:p>
        </p:txBody>
      </p:sp>
      <p:sp>
        <p:nvSpPr>
          <p:cNvPr id="22" name="Text 20"/>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3" name="Text 2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PARTNERSHIP</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両社の持ち味と事業スキーム</a:t>
            </a:r>
            <a:endParaRPr lang="en-US" sz="2800" dirty="0"/>
          </a:p>
        </p:txBody>
      </p:sp>
      <p:sp>
        <p:nvSpPr>
          <p:cNvPr id="4" name="Shape 2"/>
          <p:cNvSpPr/>
          <p:nvPr/>
        </p:nvSpPr>
        <p:spPr>
          <a:xfrm>
            <a:off x="548640" y="1691640"/>
            <a:ext cx="5120640" cy="3017520"/>
          </a:xfrm>
          <a:prstGeom prst="roundRect">
            <a:avLst>
              <a:gd name="adj" fmla="val 3030"/>
            </a:avLst>
          </a:prstGeom>
          <a:solidFill>
            <a:srgbClr val="F2F5F9"/>
          </a:solidFill>
          <a:ln/>
        </p:spPr>
      </p:sp>
      <p:sp>
        <p:nvSpPr>
          <p:cNvPr id="5" name="Text 3"/>
          <p:cNvSpPr/>
          <p:nvPr/>
        </p:nvSpPr>
        <p:spPr>
          <a:xfrm>
            <a:off x="914400" y="1920240"/>
            <a:ext cx="4389120" cy="457200"/>
          </a:xfrm>
          <a:prstGeom prst="rect">
            <a:avLst/>
          </a:prstGeom>
          <a:noFill/>
          <a:ln/>
        </p:spPr>
        <p:txBody>
          <a:bodyPr wrap="square" lIns="0" tIns="0" rIns="0" bIns="0" rtlCol="0" anchor="ctr"/>
          <a:lstStyle/>
          <a:p>
            <a:pPr indent="0" marL="0">
              <a:buNone/>
            </a:pPr>
            <a:r>
              <a:rPr lang="en-US" sz="1700" b="1" dirty="0">
                <a:solidFill>
                  <a:srgbClr val="D7002F"/>
                </a:solidFill>
                <a:latin typeface="Yu Gothic" pitchFamily="34" charset="0"/>
                <a:ea typeface="Yu Gothic" pitchFamily="34" charset="-122"/>
                <a:cs typeface="Yu Gothic" pitchFamily="34" charset="-120"/>
              </a:rPr>
              <a:t>円谷プロダクション</a:t>
            </a:r>
            <a:endParaRPr lang="en-US" sz="1700" dirty="0"/>
          </a:p>
        </p:txBody>
      </p:sp>
      <p:sp>
        <p:nvSpPr>
          <p:cNvPr id="6" name="Text 4"/>
          <p:cNvSpPr/>
          <p:nvPr/>
        </p:nvSpPr>
        <p:spPr>
          <a:xfrm>
            <a:off x="914400" y="2468880"/>
            <a:ext cx="4389120" cy="2011680"/>
          </a:xfrm>
          <a:prstGeom prst="rect">
            <a:avLst/>
          </a:prstGeom>
          <a:noFill/>
          <a:ln/>
        </p:spPr>
        <p:txBody>
          <a:bodyPr wrap="square" lIns="0" tIns="0" rIns="0" bIns="0" rtlCol="0" anchor="ctr"/>
          <a:lstStyle/>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60年のIP・数百体のキャラクター資産</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世界観・デザインの全面監修体制</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『ウルトラマンテオ』等の映像・イベント連動</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国内外のファンダムとグローバル配信網</a:t>
            </a:r>
            <a:endParaRPr lang="en-US" sz="1200" dirty="0"/>
          </a:p>
        </p:txBody>
      </p:sp>
      <p:sp>
        <p:nvSpPr>
          <p:cNvPr id="7" name="Shape 5"/>
          <p:cNvSpPr/>
          <p:nvPr/>
        </p:nvSpPr>
        <p:spPr>
          <a:xfrm>
            <a:off x="6537960" y="1691640"/>
            <a:ext cx="5120640" cy="3017520"/>
          </a:xfrm>
          <a:prstGeom prst="roundRect">
            <a:avLst>
              <a:gd name="adj" fmla="val 3030"/>
            </a:avLst>
          </a:prstGeom>
          <a:solidFill>
            <a:srgbClr val="F2F5F9"/>
          </a:solidFill>
          <a:ln/>
        </p:spPr>
      </p:sp>
      <p:sp>
        <p:nvSpPr>
          <p:cNvPr id="8" name="Text 6"/>
          <p:cNvSpPr/>
          <p:nvPr/>
        </p:nvSpPr>
        <p:spPr>
          <a:xfrm>
            <a:off x="6903720" y="1920240"/>
            <a:ext cx="4389120" cy="457200"/>
          </a:xfrm>
          <a:prstGeom prst="rect">
            <a:avLst/>
          </a:prstGeom>
          <a:noFill/>
          <a:ln/>
        </p:spPr>
        <p:txBody>
          <a:bodyPr wrap="square" lIns="0" tIns="0" rIns="0" bIns="0" rtlCol="0" anchor="ctr"/>
          <a:lstStyle/>
          <a:p>
            <a:pPr indent="0" marL="0">
              <a:buNone/>
            </a:pPr>
            <a:r>
              <a:rPr lang="en-US" sz="1700" b="1" dirty="0">
                <a:solidFill>
                  <a:srgbClr val="0B132B"/>
                </a:solidFill>
                <a:latin typeface="Yu Gothic" pitchFamily="34" charset="0"/>
                <a:ea typeface="Yu Gothic" pitchFamily="34" charset="-122"/>
                <a:cs typeface="Yu Gothic" pitchFamily="34" charset="-120"/>
              </a:rPr>
              <a:t>ロッテ</a:t>
            </a:r>
            <a:endParaRPr lang="en-US" sz="1700" dirty="0"/>
          </a:p>
        </p:txBody>
      </p:sp>
      <p:sp>
        <p:nvSpPr>
          <p:cNvPr id="9" name="Text 7"/>
          <p:cNvSpPr/>
          <p:nvPr/>
        </p:nvSpPr>
        <p:spPr>
          <a:xfrm>
            <a:off x="6903720" y="2468880"/>
            <a:ext cx="4389120" cy="2011680"/>
          </a:xfrm>
          <a:prstGeom prst="rect">
            <a:avLst/>
          </a:prstGeom>
          <a:noFill/>
          <a:ln/>
        </p:spPr>
        <p:txBody>
          <a:bodyPr wrap="square" lIns="0" tIns="0" rIns="0" bIns="0" rtlCol="0" anchor="ctr"/>
          <a:lstStyle/>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チョコ・ガム・グミ・アイスの総合開発力</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噛むこと研究・キシリトールの機能性知見</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ビックリマンで培った収集型商品の運営術</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国内小売の棚とアジアの流通網</a:t>
            </a:r>
            <a:endParaRPr lang="en-US" sz="1200" dirty="0"/>
          </a:p>
        </p:txBody>
      </p:sp>
      <p:sp>
        <p:nvSpPr>
          <p:cNvPr id="10" name="Shape 8"/>
          <p:cNvSpPr/>
          <p:nvPr/>
        </p:nvSpPr>
        <p:spPr>
          <a:xfrm>
            <a:off x="5760720" y="2834640"/>
            <a:ext cx="685800" cy="685800"/>
          </a:xfrm>
          <a:prstGeom prst="ellipse">
            <a:avLst/>
          </a:prstGeom>
          <a:solidFill>
            <a:srgbClr val="1FB6E0"/>
          </a:solidFill>
          <a:ln/>
        </p:spPr>
      </p:sp>
      <p:pic>
        <p:nvPicPr>
          <p:cNvPr id="11" name="Image 0" descr="preencoded.png">    </p:cNvPr>
          <p:cNvPicPr>
            <a:picLocks noChangeAspect="1"/>
          </p:cNvPicPr>
          <p:nvPr/>
        </p:nvPicPr>
        <p:blipFill>
          <a:blip r:embed="rId1"/>
          <a:stretch>
            <a:fillRect/>
          </a:stretch>
        </p:blipFill>
        <p:spPr>
          <a:xfrm>
            <a:off x="5945886" y="3019806"/>
            <a:ext cx="315468" cy="315468"/>
          </a:xfrm>
          <a:prstGeom prst="rect">
            <a:avLst/>
          </a:prstGeom>
        </p:spPr>
      </p:pic>
      <p:sp>
        <p:nvSpPr>
          <p:cNvPr id="12" name="Shape 9"/>
          <p:cNvSpPr/>
          <p:nvPr/>
        </p:nvSpPr>
        <p:spPr>
          <a:xfrm>
            <a:off x="548640" y="4983480"/>
            <a:ext cx="11064240" cy="1051560"/>
          </a:xfrm>
          <a:prstGeom prst="roundRect">
            <a:avLst>
              <a:gd name="adj" fmla="val 8696"/>
            </a:avLst>
          </a:prstGeom>
          <a:solidFill>
            <a:srgbClr val="0B132B"/>
          </a:solidFill>
          <a:ln/>
        </p:spPr>
      </p:sp>
      <p:sp>
        <p:nvSpPr>
          <p:cNvPr id="13" name="Text 10"/>
          <p:cNvSpPr/>
          <p:nvPr/>
        </p:nvSpPr>
        <p:spPr>
          <a:xfrm>
            <a:off x="914400" y="4983480"/>
            <a:ext cx="10332720" cy="1051560"/>
          </a:xfrm>
          <a:prstGeom prst="rect">
            <a:avLst/>
          </a:prstGeom>
          <a:noFill/>
          <a:ln/>
        </p:spPr>
        <p:txBody>
          <a:bodyPr wrap="square" lIns="0" tIns="0" rIns="0" bIns="0" rtlCol="0" anchor="ctr"/>
          <a:lstStyle/>
          <a:p>
            <a:pPr indent="0" marL="0">
              <a:lnSpc>
                <a:spcPts val="2000"/>
              </a:lnSpc>
              <a:buNone/>
            </a:pPr>
            <a:r>
              <a:rPr lang="en-US" sz="1350" b="1" dirty="0">
                <a:solidFill>
                  <a:srgbClr val="1FB6E0"/>
                </a:solidFill>
                <a:latin typeface="Yu Gothic" pitchFamily="34" charset="0"/>
                <a:ea typeface="Yu Gothic" pitchFamily="34" charset="-122"/>
                <a:cs typeface="Yu Gothic" pitchFamily="34" charset="-120"/>
              </a:rPr>
              <a:t>スキーム案：</a:t>
            </a:r>
            <a:pPr indent="0" marL="0">
              <a:lnSpc>
                <a:spcPts val="2000"/>
              </a:lnSpc>
              <a:buNone/>
            </a:pPr>
            <a:r>
              <a:rPr lang="en-US" sz="1350" dirty="0">
                <a:solidFill>
                  <a:srgbClr val="FFFFFF"/>
                </a:solidFill>
                <a:latin typeface="Yu Gothic" pitchFamily="34" charset="0"/>
                <a:ea typeface="Yu Gothic" pitchFamily="34" charset="-122"/>
                <a:cs typeface="Yu Gothic" pitchFamily="34" charset="-120"/>
              </a:rPr>
              <a:t>ライセンス＋共同マーケティング契約。60周年公式商品認定、映像・アプリ連動は円谷プロが主導し、商品開発・製造・流通はロッテ主導。詳細条件は次回ワークショップにて協議。</a:t>
            </a:r>
            <a:endParaRPr lang="en-US" sz="1350" dirty="0"/>
          </a:p>
        </p:txBody>
      </p:sp>
      <p:sp>
        <p:nvSpPr>
          <p:cNvPr id="14" name="Text 11"/>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15" name="Text 12"/>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WHY US TOGETHER</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両社相補マトリクス — 片方では作れないカテゴリー</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4572000"/>
                <a:gridCol w="4572000"/>
              </a:tblGrid>
              <a:tr h="384048">
                <a:tc>
                  <a:txBody>
                    <a:bodyPr/>
                    <a:lstStyle/>
                    <a:p>
                      <a:pPr algn="l" indent="0" marL="0">
                        <a:buNone/>
                      </a:pPr>
                      <a:r>
                        <a:rPr lang="en-US" sz="1100" b="1" dirty="0">
                          <a:solidFill>
                            <a:srgbClr val="FFFFFF"/>
                          </a:solidFill>
                          <a:latin typeface="Yu Gothic" pitchFamily="34" charset="0"/>
                          <a:ea typeface="Yu Gothic" pitchFamily="34" charset="-122"/>
                          <a:cs typeface="Yu Gothic" pitchFamily="34" charset="-120"/>
                        </a:rPr>
                        <a:t>領域</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0B132B"/>
                    </a:solidFill>
                  </a:tcPr>
                </a:tc>
                <a:tc>
                  <a:txBody>
                    <a:bodyPr/>
                    <a:lstStyle/>
                    <a:p>
                      <a:pPr algn="l" indent="0" marL="0">
                        <a:buNone/>
                      </a:pPr>
                      <a:r>
                        <a:rPr lang="en-US" sz="1100" b="1" dirty="0">
                          <a:solidFill>
                            <a:srgbClr val="FFFFFF"/>
                          </a:solidFill>
                          <a:latin typeface="Yu Gothic" pitchFamily="34" charset="0"/>
                          <a:ea typeface="Yu Gothic" pitchFamily="34" charset="-122"/>
                          <a:cs typeface="Yu Gothic" pitchFamily="34" charset="-120"/>
                        </a:rPr>
                        <a:t>円谷プロ</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D7002F"/>
                    </a:solidFill>
                  </a:tcPr>
                </a:tc>
                <a:tc>
                  <a:txBody>
                    <a:bodyPr/>
                    <a:lstStyle/>
                    <a:p>
                      <a:pPr algn="l" indent="0" marL="0">
                        <a:buNone/>
                      </a:pPr>
                      <a:r>
                        <a:rPr lang="en-US" sz="1100" b="1" dirty="0">
                          <a:solidFill>
                            <a:srgbClr val="FFFFFF"/>
                          </a:solidFill>
                          <a:latin typeface="Yu Gothic" pitchFamily="34" charset="0"/>
                          <a:ea typeface="Yu Gothic" pitchFamily="34" charset="-122"/>
                          <a:cs typeface="Yu Gothic" pitchFamily="34" charset="-120"/>
                        </a:rPr>
                        <a:t>ロッテ</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0B132B"/>
                    </a:solidFill>
                  </a:tcPr>
                </a:tc>
              </a:tr>
              <a:tr h="384048">
                <a:tc>
                  <a:txBody>
                    <a:bodyPr/>
                    <a:lstStyle/>
                    <a:p>
                      <a:pPr algn="l" indent="0" marL="0">
                        <a:buNone/>
                      </a:pPr>
                      <a:r>
                        <a:rPr lang="en-US" sz="1100" b="1" dirty="0">
                          <a:solidFill>
                            <a:srgbClr val="1B2432"/>
                          </a:solidFill>
                          <a:latin typeface="Yu Gothic" pitchFamily="34" charset="0"/>
                          <a:ea typeface="Yu Gothic" pitchFamily="34" charset="-122"/>
                          <a:cs typeface="Yu Gothic" pitchFamily="34" charset="-120"/>
                        </a:rPr>
                        <a:t>コンテンツ</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60年・毎年更新のシリーズ構造（ギネス認定）</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ビックリマン等の商品IP運営経験</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r>
              <a:tr h="384048">
                <a:tc>
                  <a:txBody>
                    <a:bodyPr/>
                    <a:lstStyle/>
                    <a:p>
                      <a:pPr algn="l" indent="0" marL="0">
                        <a:buNone/>
                      </a:pPr>
                      <a:r>
                        <a:rPr lang="en-US" sz="1100" b="1" dirty="0">
                          <a:solidFill>
                            <a:srgbClr val="1B2432"/>
                          </a:solidFill>
                          <a:latin typeface="Yu Gothic" pitchFamily="34" charset="0"/>
                          <a:ea typeface="Yu Gothic" pitchFamily="34" charset="-122"/>
                          <a:cs typeface="Yu Gothic" pitchFamily="34" charset="-120"/>
                        </a:rPr>
                        <a:t>体験の素材</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変身・3分・カラータイマーという共通言語</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咀嚼研究・時限フレーバー・色変化の技術</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B2432"/>
                          </a:solidFill>
                          <a:latin typeface="Yu Gothic" pitchFamily="34" charset="0"/>
                          <a:ea typeface="Yu Gothic" pitchFamily="34" charset="-122"/>
                          <a:cs typeface="Yu Gothic" pitchFamily="34" charset="-120"/>
                        </a:rPr>
                        <a:t>エビデンス</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—（機能の科学は持たない）</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噛むこと研究・キシリトールの実績</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r>
              <a:tr h="384048">
                <a:tc>
                  <a:txBody>
                    <a:bodyPr/>
                    <a:lstStyle/>
                    <a:p>
                      <a:pPr algn="l" indent="0" marL="0">
                        <a:buNone/>
                      </a:pPr>
                      <a:r>
                        <a:rPr lang="en-US" sz="1100" b="1" dirty="0">
                          <a:solidFill>
                            <a:srgbClr val="1B2432"/>
                          </a:solidFill>
                          <a:latin typeface="Yu Gothic" pitchFamily="34" charset="0"/>
                          <a:ea typeface="Yu Gothic" pitchFamily="34" charset="-122"/>
                          <a:cs typeface="Yu Gothic" pitchFamily="34" charset="-120"/>
                        </a:rPr>
                        <a:t>収集の仕掛け</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カードゲーム世界展開・デジタル図鑑基盤</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シール食玩の発明と売場ノウハウ</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B2432"/>
                          </a:solidFill>
                          <a:latin typeface="Yu Gothic" pitchFamily="34" charset="0"/>
                          <a:ea typeface="Yu Gothic" pitchFamily="34" charset="-122"/>
                          <a:cs typeface="Yu Gothic" pitchFamily="34" charset="-120"/>
                        </a:rPr>
                        <a:t>売場</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—（毎日の棚を持たない）</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国内全域の菓子棚＋アジア流通網</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r>
              <a:tr h="384048">
                <a:tc>
                  <a:txBody>
                    <a:bodyPr/>
                    <a:lstStyle/>
                    <a:p>
                      <a:pPr algn="l" indent="0" marL="0">
                        <a:buNone/>
                      </a:pPr>
                      <a:r>
                        <a:rPr lang="en-US" sz="1100" b="1" dirty="0">
                          <a:solidFill>
                            <a:srgbClr val="1B2432"/>
                          </a:solidFill>
                          <a:latin typeface="Yu Gothic" pitchFamily="34" charset="0"/>
                          <a:ea typeface="Yu Gothic" pitchFamily="34" charset="-122"/>
                          <a:cs typeface="Yu Gothic" pitchFamily="34" charset="-120"/>
                        </a:rPr>
                        <a:t>海外</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中国・東南アジアの熱量（権利クリア済み）</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アジア製造拠点・海外比率3割目標</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B2432"/>
                          </a:solidFill>
                          <a:latin typeface="Yu Gothic" pitchFamily="34" charset="0"/>
                          <a:ea typeface="Yu Gothic" pitchFamily="34" charset="-122"/>
                          <a:cs typeface="Yu Gothic" pitchFamily="34" charset="-120"/>
                        </a:rPr>
                        <a:t>顧客接点</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子ども＋三世代ノスタルジー</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c>
                  <a:txBody>
                    <a:bodyPr/>
                    <a:lstStyle/>
                    <a:p>
                      <a:pPr algn="l" indent="0" marL="0">
                        <a:buNone/>
                      </a:pPr>
                      <a:r>
                        <a:rPr lang="en-US" sz="1100" dirty="0">
                          <a:solidFill>
                            <a:srgbClr val="5A6474"/>
                          </a:solidFill>
                          <a:latin typeface="Yu Gothic" pitchFamily="34" charset="0"/>
                          <a:ea typeface="Yu Gothic" pitchFamily="34" charset="-122"/>
                          <a:cs typeface="Yu Gothic" pitchFamily="34" charset="-120"/>
                        </a:rPr>
                        <a:t>日常の購買頻度（コンビニ・スーパー）</a:t>
                      </a:r>
                      <a:endParaRPr lang="en-US" sz="1100" dirty="0">
                        <a:latin typeface="Yu Gothic" charset="0"/>
                        <a:ea typeface="Yu Gothic" charset="0"/>
                        <a:cs typeface="Yu Gothic" charset="0"/>
                      </a:endParaRPr>
                    </a:p>
                  </a:txBody>
                  <a:tcPr marL="54864" marR="54864" marT="54864" marB="54864" anchor="ctr">
                    <a:lnL w="12700" cap="flat" cmpd="sng" algn="ctr">
                      <a:solidFill>
                        <a:srgbClr val="E1E6EC"/>
                      </a:solidFill>
                      <a:prstDash val="solid"/>
                      <a:round/>
                      <a:headEnd type="none" w="med" len="med"/>
                      <a:tailEnd type="none" w="med" len="med"/>
                    </a:lnL>
                    <a:lnR w="12700" cap="flat" cmpd="sng" algn="ctr">
                      <a:solidFill>
                        <a:srgbClr val="E1E6EC"/>
                      </a:solidFill>
                      <a:prstDash val="solid"/>
                      <a:round/>
                      <a:headEnd type="none" w="med" len="med"/>
                      <a:tailEnd type="none" w="med" len="med"/>
                    </a:lnR>
                    <a:lnT w="12700" cap="flat" cmpd="sng" algn="ctr">
                      <a:solidFill>
                        <a:srgbClr val="E1E6EC"/>
                      </a:solidFill>
                      <a:prstDash val="solid"/>
                      <a:round/>
                      <a:headEnd type="none" w="med" len="med"/>
                      <a:tailEnd type="none" w="med" len="med"/>
                    </a:lnT>
                    <a:lnB w="12700" cap="flat" cmpd="sng" algn="ctr">
                      <a:solidFill>
                        <a:srgbClr val="E1E6EC"/>
                      </a:solidFill>
                      <a:prstDash val="solid"/>
                      <a:round/>
                      <a:headEnd type="none" w="med" len="med"/>
                      <a:tailEnd type="none" w="med" len="med"/>
                    </a:lnB>
                    <a:solidFill>
                      <a:srgbClr val="F2F5F9"/>
                    </a:solidFill>
                  </a:tcPr>
                </a:tc>
              </a:tr>
            </a:tbl>
          </a:graphicData>
        </a:graphic>
      </p:graphicFrame>
      <p:sp>
        <p:nvSpPr>
          <p:cNvPr id="5" name="Text 2"/>
          <p:cNvSpPr/>
          <p:nvPr/>
        </p:nvSpPr>
        <p:spPr>
          <a:xfrm>
            <a:off x="548640" y="5806440"/>
            <a:ext cx="11064240" cy="411480"/>
          </a:xfrm>
          <a:prstGeom prst="rect">
            <a:avLst/>
          </a:prstGeom>
          <a:noFill/>
          <a:ln/>
        </p:spPr>
        <p:txBody>
          <a:bodyPr wrap="square" lIns="0" tIns="0" rIns="0" bIns="0" rtlCol="0" anchor="ctr"/>
          <a:lstStyle/>
          <a:p>
            <a:pPr indent="0" marL="0">
              <a:buNone/>
            </a:pPr>
            <a:r>
              <a:rPr lang="en-US" sz="1250" b="1" dirty="0">
                <a:solidFill>
                  <a:srgbClr val="0B132B"/>
                </a:solidFill>
                <a:latin typeface="Yu Gothic" pitchFamily="34" charset="0"/>
                <a:ea typeface="Yu Gothic" pitchFamily="34" charset="-122"/>
                <a:cs typeface="Yu Gothic" pitchFamily="34" charset="-120"/>
              </a:rPr>
              <a:t>7つの領域すべてで欠けが噛み合う。どちらか一方では「変身菓子」は作れない — それが、他社に真似されない理由です。</a:t>
            </a:r>
            <a:endParaRPr lang="en-US" sz="1250" dirty="0"/>
          </a:p>
        </p:txBody>
      </p:sp>
      <p:sp>
        <p:nvSpPr>
          <p:cNvPr id="6" name="Text 3"/>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7" name="Text 4"/>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Q&amp;A</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想定されるご懸念への先回り</a:t>
            </a:r>
            <a:endParaRPr lang="en-US" sz="2800" dirty="0"/>
          </a:p>
        </p:txBody>
      </p:sp>
      <p:sp>
        <p:nvSpPr>
          <p:cNvPr id="4" name="Shape 2"/>
          <p:cNvSpPr/>
          <p:nvPr/>
        </p:nvSpPr>
        <p:spPr>
          <a:xfrm>
            <a:off x="548640" y="1691640"/>
            <a:ext cx="5440680" cy="2011680"/>
          </a:xfrm>
          <a:prstGeom prst="roundRect">
            <a:avLst>
              <a:gd name="adj" fmla="val 4545"/>
            </a:avLst>
          </a:prstGeom>
          <a:solidFill>
            <a:srgbClr val="F2F5F9"/>
          </a:solidFill>
          <a:ln/>
        </p:spPr>
      </p:sp>
      <p:sp>
        <p:nvSpPr>
          <p:cNvPr id="5" name="Text 3"/>
          <p:cNvSpPr/>
          <p:nvPr/>
        </p:nvSpPr>
        <p:spPr>
          <a:xfrm>
            <a:off x="868680" y="1892808"/>
            <a:ext cx="4800600" cy="411480"/>
          </a:xfrm>
          <a:prstGeom prst="rect">
            <a:avLst/>
          </a:prstGeom>
          <a:noFill/>
          <a:ln/>
        </p:spPr>
        <p:txBody>
          <a:bodyPr wrap="square" lIns="0" tIns="0" rIns="0" bIns="0" rtlCol="0" anchor="ctr"/>
          <a:lstStyle/>
          <a:p>
            <a:pPr indent="0" marL="0">
              <a:buNone/>
            </a:pPr>
            <a:r>
              <a:rPr lang="en-US" sz="1500" b="1" dirty="0">
                <a:solidFill>
                  <a:srgbClr val="D7002F"/>
                </a:solidFill>
                <a:latin typeface="Yu Gothic" pitchFamily="34" charset="0"/>
                <a:ea typeface="Yu Gothic" pitchFamily="34" charset="-122"/>
                <a:cs typeface="Yu Gothic" pitchFamily="34" charset="-120"/>
              </a:rPr>
              <a:t>「IPコラボは水物では？」</a:t>
            </a:r>
            <a:endParaRPr lang="en-US" sz="1500" dirty="0"/>
          </a:p>
        </p:txBody>
      </p:sp>
      <p:sp>
        <p:nvSpPr>
          <p:cNvPr id="6" name="Text 4"/>
          <p:cNvSpPr/>
          <p:nvPr/>
        </p:nvSpPr>
        <p:spPr>
          <a:xfrm>
            <a:off x="868680" y="2377440"/>
            <a:ext cx="4800600" cy="123444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妖怪メダルは単一タイトル依存でピークの9分の1に。ウルトラマンは毎年新ヒーロー×歴代60年資産の「終わらないコンテンツ」構造で、プロ野球チップス型の長寿設計が可能です。</a:t>
            </a:r>
            <a:endParaRPr lang="en-US" sz="1100" dirty="0"/>
          </a:p>
        </p:txBody>
      </p:sp>
      <p:sp>
        <p:nvSpPr>
          <p:cNvPr id="7" name="Shape 5"/>
          <p:cNvSpPr/>
          <p:nvPr/>
        </p:nvSpPr>
        <p:spPr>
          <a:xfrm>
            <a:off x="6172200" y="1691640"/>
            <a:ext cx="5440680" cy="2011680"/>
          </a:xfrm>
          <a:prstGeom prst="roundRect">
            <a:avLst>
              <a:gd name="adj" fmla="val 4545"/>
            </a:avLst>
          </a:prstGeom>
          <a:solidFill>
            <a:srgbClr val="F2F5F9"/>
          </a:solidFill>
          <a:ln/>
        </p:spPr>
      </p:sp>
      <p:sp>
        <p:nvSpPr>
          <p:cNvPr id="8" name="Text 6"/>
          <p:cNvSpPr/>
          <p:nvPr/>
        </p:nvSpPr>
        <p:spPr>
          <a:xfrm>
            <a:off x="6492240" y="1892808"/>
            <a:ext cx="4800600" cy="411480"/>
          </a:xfrm>
          <a:prstGeom prst="rect">
            <a:avLst/>
          </a:prstGeom>
          <a:noFill/>
          <a:ln/>
        </p:spPr>
        <p:txBody>
          <a:bodyPr wrap="square" lIns="0" tIns="0" rIns="0" bIns="0" rtlCol="0" anchor="ctr"/>
          <a:lstStyle/>
          <a:p>
            <a:pPr indent="0" marL="0">
              <a:buNone/>
            </a:pPr>
            <a:r>
              <a:rPr lang="en-US" sz="1500" b="1" dirty="0">
                <a:solidFill>
                  <a:srgbClr val="0B132B"/>
                </a:solidFill>
                <a:latin typeface="Yu Gothic" pitchFamily="34" charset="0"/>
                <a:ea typeface="Yu Gothic" pitchFamily="34" charset="-122"/>
                <a:cs typeface="Yu Gothic" pitchFamily="34" charset="-120"/>
              </a:rPr>
              <a:t>「ビックリマンの規制の記憶」</a:t>
            </a:r>
            <a:endParaRPr lang="en-US" sz="1500" dirty="0"/>
          </a:p>
        </p:txBody>
      </p:sp>
      <p:sp>
        <p:nvSpPr>
          <p:cNvPr id="9" name="Text 7"/>
          <p:cNvSpPr/>
          <p:nvPr/>
        </p:nvSpPr>
        <p:spPr>
          <a:xfrm>
            <a:off x="6492240" y="2377440"/>
            <a:ext cx="4800600" cy="123444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1988年の公取委勧告は私たちも研究済み。レアは射幸性でなく物語性（歴代60種の意味）に置き、封入率の透明化とデジタル図鑑での重複救済など、令和の健全設計を初期から組み込みます。</a:t>
            </a:r>
            <a:endParaRPr lang="en-US" sz="1100" dirty="0"/>
          </a:p>
        </p:txBody>
      </p:sp>
      <p:sp>
        <p:nvSpPr>
          <p:cNvPr id="10" name="Shape 8"/>
          <p:cNvSpPr/>
          <p:nvPr/>
        </p:nvSpPr>
        <p:spPr>
          <a:xfrm>
            <a:off x="548640" y="3886200"/>
            <a:ext cx="5440680" cy="2011680"/>
          </a:xfrm>
          <a:prstGeom prst="roundRect">
            <a:avLst>
              <a:gd name="adj" fmla="val 4545"/>
            </a:avLst>
          </a:prstGeom>
          <a:solidFill>
            <a:srgbClr val="F2F5F9"/>
          </a:solidFill>
          <a:ln/>
        </p:spPr>
      </p:sp>
      <p:sp>
        <p:nvSpPr>
          <p:cNvPr id="11" name="Text 9"/>
          <p:cNvSpPr/>
          <p:nvPr/>
        </p:nvSpPr>
        <p:spPr>
          <a:xfrm>
            <a:off x="868680" y="4087368"/>
            <a:ext cx="4800600" cy="411480"/>
          </a:xfrm>
          <a:prstGeom prst="rect">
            <a:avLst/>
          </a:prstGeom>
          <a:noFill/>
          <a:ln/>
        </p:spPr>
        <p:txBody>
          <a:bodyPr wrap="square" lIns="0" tIns="0" rIns="0" bIns="0" rtlCol="0" anchor="ctr"/>
          <a:lstStyle/>
          <a:p>
            <a:pPr indent="0" marL="0">
              <a:buNone/>
            </a:pPr>
            <a:r>
              <a:rPr lang="en-US" sz="1500" b="1" dirty="0">
                <a:solidFill>
                  <a:srgbClr val="1FB6E0"/>
                </a:solidFill>
                <a:latin typeface="Yu Gothic" pitchFamily="34" charset="0"/>
                <a:ea typeface="Yu Gothic" pitchFamily="34" charset="-122"/>
                <a:cs typeface="Yu Gothic" pitchFamily="34" charset="-120"/>
              </a:rPr>
              <a:t>「海外権利は大丈夫か」</a:t>
            </a:r>
            <a:endParaRPr lang="en-US" sz="1500" dirty="0"/>
          </a:p>
        </p:txBody>
      </p:sp>
      <p:sp>
        <p:nvSpPr>
          <p:cNvPr id="12" name="Text 10"/>
          <p:cNvSpPr/>
          <p:nvPr/>
        </p:nvSpPr>
        <p:spPr>
          <a:xfrm>
            <a:off x="868680" y="4572000"/>
            <a:ext cx="4800600" cy="123444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約30年に及んだ海外版権紛争は2019年の米控訴審で完全決着。現在は全世界で権利関係がクリーンで、御社に法務リスクを持ち込みません。むしろアジアは手つかずの伸びしろです。</a:t>
            </a:r>
            <a:endParaRPr lang="en-US" sz="1100" dirty="0"/>
          </a:p>
        </p:txBody>
      </p:sp>
      <p:sp>
        <p:nvSpPr>
          <p:cNvPr id="13" name="Shape 11"/>
          <p:cNvSpPr/>
          <p:nvPr/>
        </p:nvSpPr>
        <p:spPr>
          <a:xfrm>
            <a:off x="6172200" y="3886200"/>
            <a:ext cx="5440680" cy="2011680"/>
          </a:xfrm>
          <a:prstGeom prst="roundRect">
            <a:avLst>
              <a:gd name="adj" fmla="val 4545"/>
            </a:avLst>
          </a:prstGeom>
          <a:solidFill>
            <a:srgbClr val="F2F5F9"/>
          </a:solidFill>
          <a:ln/>
        </p:spPr>
      </p:sp>
      <p:sp>
        <p:nvSpPr>
          <p:cNvPr id="14" name="Text 12"/>
          <p:cNvSpPr/>
          <p:nvPr/>
        </p:nvSpPr>
        <p:spPr>
          <a:xfrm>
            <a:off x="6492240" y="4087368"/>
            <a:ext cx="4800600" cy="411480"/>
          </a:xfrm>
          <a:prstGeom prst="rect">
            <a:avLst/>
          </a:prstGeom>
          <a:noFill/>
          <a:ln/>
        </p:spPr>
        <p:txBody>
          <a:bodyPr wrap="square" lIns="0" tIns="0" rIns="0" bIns="0" rtlCol="0" anchor="ctr"/>
          <a:lstStyle/>
          <a:p>
            <a:pPr indent="0" marL="0">
              <a:buNone/>
            </a:pPr>
            <a:r>
              <a:rPr lang="en-US" sz="1500" b="1" dirty="0">
                <a:solidFill>
                  <a:srgbClr val="0B132B"/>
                </a:solidFill>
                <a:latin typeface="Yu Gothic" pitchFamily="34" charset="0"/>
                <a:ea typeface="Yu Gothic" pitchFamily="34" charset="-122"/>
                <a:cs typeface="Yu Gothic" pitchFamily="34" charset="-120"/>
              </a:rPr>
              <a:t>「機能訴求の表示リスク」</a:t>
            </a:r>
            <a:endParaRPr lang="en-US" sz="1500" dirty="0"/>
          </a:p>
        </p:txBody>
      </p:sp>
      <p:sp>
        <p:nvSpPr>
          <p:cNvPr id="15" name="Text 13"/>
          <p:cNvSpPr/>
          <p:nvPr/>
        </p:nvSpPr>
        <p:spPr>
          <a:xfrm>
            <a:off x="6492240" y="4572000"/>
            <a:ext cx="4800600" cy="123444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機能表現は御社の噛むこと研究のエビデンスと表示規制の範囲で設計し、円谷は世界観表現に徹します。科学はロッテ、物語は円谷という役割分担を契約で明確化します。</a:t>
            </a:r>
            <a:endParaRPr lang="en-US" sz="110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17" name="Text 15"/>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9646920" y="4160520"/>
            <a:ext cx="3108960" cy="3108960"/>
          </a:xfrm>
          <a:prstGeom prst="ellipse">
            <a:avLst/>
          </a:prstGeom>
          <a:solidFill>
            <a:srgbClr val="1FB6E0">
              <a:alpha val="18000"/>
            </a:srgbClr>
          </a:solidFill>
          <a:ln/>
        </p:spPr>
      </p:sp>
      <p:sp>
        <p:nvSpPr>
          <p:cNvPr id="3" name="Shape 1"/>
          <p:cNvSpPr/>
          <p:nvPr/>
        </p:nvSpPr>
        <p:spPr>
          <a:xfrm>
            <a:off x="10206533" y="4720133"/>
            <a:ext cx="1989734" cy="1989734"/>
          </a:xfrm>
          <a:prstGeom prst="ellipse">
            <a:avLst/>
          </a:prstGeom>
          <a:solidFill>
            <a:srgbClr val="1FB6E0">
              <a:alpha val="45000"/>
            </a:srgbClr>
          </a:solidFill>
          <a:ln/>
        </p:spPr>
      </p:sp>
      <p:sp>
        <p:nvSpPr>
          <p:cNvPr id="4" name="Shape 2"/>
          <p:cNvSpPr/>
          <p:nvPr/>
        </p:nvSpPr>
        <p:spPr>
          <a:xfrm>
            <a:off x="10766146" y="5279746"/>
            <a:ext cx="870509" cy="870509"/>
          </a:xfrm>
          <a:prstGeom prst="ellipse">
            <a:avLst/>
          </a:prstGeom>
          <a:solidFill>
            <a:srgbClr val="D7002F"/>
          </a:solidFill>
          <a:ln/>
        </p:spPr>
      </p:sp>
      <p:sp>
        <p:nvSpPr>
          <p:cNvPr id="5" name="Shape 3"/>
          <p:cNvSpPr/>
          <p:nvPr/>
        </p:nvSpPr>
        <p:spPr>
          <a:xfrm>
            <a:off x="10789920" y="-822960"/>
            <a:ext cx="2377440" cy="2377440"/>
          </a:xfrm>
          <a:prstGeom prst="ellipse">
            <a:avLst/>
          </a:prstGeom>
          <a:solidFill>
            <a:srgbClr val="1FB6E0">
              <a:alpha val="15000"/>
            </a:srgbClr>
          </a:solidFill>
          <a:ln/>
        </p:spPr>
      </p:sp>
      <p:sp>
        <p:nvSpPr>
          <p:cNvPr id="6" name="Text 4"/>
          <p:cNvSpPr/>
          <p:nvPr/>
        </p:nvSpPr>
        <p:spPr>
          <a:xfrm>
            <a:off x="640080" y="914400"/>
            <a:ext cx="10972800" cy="868680"/>
          </a:xfrm>
          <a:prstGeom prst="rect">
            <a:avLst/>
          </a:prstGeom>
          <a:noFill/>
          <a:ln/>
        </p:spPr>
        <p:txBody>
          <a:bodyPr wrap="square" lIns="0" tIns="0" rIns="0" bIns="0" rtlCol="0" anchor="ctr"/>
          <a:lstStyle/>
          <a:p>
            <a:pPr indent="0" marL="0">
              <a:buNone/>
            </a:pPr>
            <a:r>
              <a:rPr lang="en-US" sz="4000" b="1" dirty="0">
                <a:solidFill>
                  <a:srgbClr val="FFFFFF"/>
                </a:solidFill>
                <a:latin typeface="Yu Gothic" pitchFamily="34" charset="0"/>
                <a:ea typeface="Yu Gothic" pitchFamily="34" charset="-122"/>
                <a:cs typeface="Yu Gothic" pitchFamily="34" charset="-120"/>
              </a:rPr>
              <a:t>少年の日の3分間を、もう一度。</a:t>
            </a:r>
            <a:endParaRPr lang="en-US" sz="4000" dirty="0"/>
          </a:p>
        </p:txBody>
      </p:sp>
      <p:sp>
        <p:nvSpPr>
          <p:cNvPr id="7" name="Text 5"/>
          <p:cNvSpPr/>
          <p:nvPr/>
        </p:nvSpPr>
        <p:spPr>
          <a:xfrm>
            <a:off x="640080" y="1965960"/>
            <a:ext cx="10515600" cy="457200"/>
          </a:xfrm>
          <a:prstGeom prst="rect">
            <a:avLst/>
          </a:prstGeom>
          <a:noFill/>
          <a:ln/>
        </p:spPr>
        <p:txBody>
          <a:bodyPr wrap="square" lIns="0" tIns="0" rIns="0" bIns="0" rtlCol="0" anchor="ctr"/>
          <a:lstStyle/>
          <a:p>
            <a:pPr indent="0" marL="0">
              <a:buNone/>
            </a:pPr>
            <a:r>
              <a:rPr lang="en-US" sz="1600" dirty="0">
                <a:solidFill>
                  <a:srgbClr val="1FB6E0"/>
                </a:solidFill>
                <a:latin typeface="Yu Gothic" pitchFamily="34" charset="0"/>
                <a:ea typeface="Yu Gothic" pitchFamily="34" charset="-122"/>
                <a:cs typeface="Yu Gothic" pitchFamily="34" charset="-120"/>
              </a:rPr>
              <a:t>ビックリマンを生んだロッテと、変身を発明したウルトラマンなら、次のカテゴリーキラーを創れます。</a:t>
            </a:r>
            <a:endParaRPr lang="en-US" sz="1600" dirty="0"/>
          </a:p>
        </p:txBody>
      </p:sp>
      <p:sp>
        <p:nvSpPr>
          <p:cNvPr id="8" name="Shape 6"/>
          <p:cNvSpPr/>
          <p:nvPr/>
        </p:nvSpPr>
        <p:spPr>
          <a:xfrm>
            <a:off x="640080" y="2834640"/>
            <a:ext cx="8778240" cy="777240"/>
          </a:xfrm>
          <a:prstGeom prst="roundRect">
            <a:avLst>
              <a:gd name="adj" fmla="val 9412"/>
            </a:avLst>
          </a:prstGeom>
          <a:solidFill>
            <a:srgbClr val="16213E"/>
          </a:solidFill>
          <a:ln/>
        </p:spPr>
      </p:sp>
      <p:sp>
        <p:nvSpPr>
          <p:cNvPr id="9" name="Shape 7"/>
          <p:cNvSpPr/>
          <p:nvPr/>
        </p:nvSpPr>
        <p:spPr>
          <a:xfrm>
            <a:off x="868680" y="2990088"/>
            <a:ext cx="457200" cy="457200"/>
          </a:xfrm>
          <a:prstGeom prst="ellipse">
            <a:avLst/>
          </a:prstGeom>
          <a:solidFill>
            <a:srgbClr val="D7002F"/>
          </a:solidFill>
          <a:ln/>
        </p:spPr>
      </p:sp>
      <p:sp>
        <p:nvSpPr>
          <p:cNvPr id="10" name="Text 8"/>
          <p:cNvSpPr/>
          <p:nvPr/>
        </p:nvSpPr>
        <p:spPr>
          <a:xfrm>
            <a:off x="868680" y="29900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11" name="Text 9"/>
          <p:cNvSpPr/>
          <p:nvPr/>
        </p:nvSpPr>
        <p:spPr>
          <a:xfrm>
            <a:off x="1554480" y="2834640"/>
            <a:ext cx="1554480" cy="777240"/>
          </a:xfrm>
          <a:prstGeom prst="rect">
            <a:avLst/>
          </a:prstGeom>
          <a:noFill/>
          <a:ln/>
        </p:spPr>
        <p:txBody>
          <a:bodyPr wrap="square" lIns="0" tIns="0" rIns="0" bIns="0" rtlCol="0" anchor="ctr"/>
          <a:lstStyle/>
          <a:p>
            <a:pPr indent="0" marL="0">
              <a:buNone/>
            </a:pPr>
            <a:r>
              <a:rPr lang="en-US" sz="1350" b="1" dirty="0">
                <a:solidFill>
                  <a:srgbClr val="1FB6E0"/>
                </a:solidFill>
                <a:latin typeface="Yu Gothic" pitchFamily="34" charset="0"/>
                <a:ea typeface="Yu Gothic" pitchFamily="34" charset="-122"/>
                <a:cs typeface="Yu Gothic" pitchFamily="34" charset="-120"/>
              </a:rPr>
              <a:t>本日</a:t>
            </a:r>
            <a:endParaRPr lang="en-US" sz="1350" dirty="0"/>
          </a:p>
        </p:txBody>
      </p:sp>
      <p:sp>
        <p:nvSpPr>
          <p:cNvPr id="12" name="Text 10"/>
          <p:cNvSpPr/>
          <p:nvPr/>
        </p:nvSpPr>
        <p:spPr>
          <a:xfrm>
            <a:off x="3200400" y="2834640"/>
            <a:ext cx="6035040" cy="777240"/>
          </a:xfrm>
          <a:prstGeom prst="rect">
            <a:avLst/>
          </a:prstGeom>
          <a:noFill/>
          <a:ln/>
        </p:spPr>
        <p:txBody>
          <a:bodyPr wrap="square" lIns="0" tIns="0" rIns="0" bIns="0" rtlCol="0" anchor="ctr"/>
          <a:lstStyle/>
          <a:p>
            <a:pPr indent="0" marL="0">
              <a:buNone/>
            </a:pPr>
            <a:r>
              <a:rPr lang="en-US" sz="1300" dirty="0">
                <a:solidFill>
                  <a:srgbClr val="D9E2EC"/>
                </a:solidFill>
                <a:latin typeface="Yu Gothic" pitchFamily="34" charset="0"/>
                <a:ea typeface="Yu Gothic" pitchFamily="34" charset="-122"/>
                <a:cs typeface="Yu Gothic" pitchFamily="34" charset="-120"/>
              </a:rPr>
              <a:t>方向性のご合意と、NDA・共同ワークショップの設定</a:t>
            </a:r>
            <a:endParaRPr lang="en-US" sz="1300" dirty="0"/>
          </a:p>
        </p:txBody>
      </p:sp>
      <p:sp>
        <p:nvSpPr>
          <p:cNvPr id="13" name="Shape 11"/>
          <p:cNvSpPr/>
          <p:nvPr/>
        </p:nvSpPr>
        <p:spPr>
          <a:xfrm>
            <a:off x="640080" y="3749040"/>
            <a:ext cx="8778240" cy="777240"/>
          </a:xfrm>
          <a:prstGeom prst="roundRect">
            <a:avLst>
              <a:gd name="adj" fmla="val 9412"/>
            </a:avLst>
          </a:prstGeom>
          <a:solidFill>
            <a:srgbClr val="16213E"/>
          </a:solidFill>
          <a:ln/>
        </p:spPr>
      </p:sp>
      <p:sp>
        <p:nvSpPr>
          <p:cNvPr id="14" name="Shape 12"/>
          <p:cNvSpPr/>
          <p:nvPr/>
        </p:nvSpPr>
        <p:spPr>
          <a:xfrm>
            <a:off x="868680" y="3904488"/>
            <a:ext cx="457200" cy="457200"/>
          </a:xfrm>
          <a:prstGeom prst="ellipse">
            <a:avLst/>
          </a:prstGeom>
          <a:solidFill>
            <a:srgbClr val="D7002F"/>
          </a:solidFill>
          <a:ln/>
        </p:spPr>
      </p:sp>
      <p:sp>
        <p:nvSpPr>
          <p:cNvPr id="15" name="Text 13"/>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6" name="Text 14"/>
          <p:cNvSpPr/>
          <p:nvPr/>
        </p:nvSpPr>
        <p:spPr>
          <a:xfrm>
            <a:off x="1554480" y="3749040"/>
            <a:ext cx="1554480" cy="777240"/>
          </a:xfrm>
          <a:prstGeom prst="rect">
            <a:avLst/>
          </a:prstGeom>
          <a:noFill/>
          <a:ln/>
        </p:spPr>
        <p:txBody>
          <a:bodyPr wrap="square" lIns="0" tIns="0" rIns="0" bIns="0" rtlCol="0" anchor="ctr"/>
          <a:lstStyle/>
          <a:p>
            <a:pPr indent="0" marL="0">
              <a:buNone/>
            </a:pPr>
            <a:r>
              <a:rPr lang="en-US" sz="1350" b="1" dirty="0">
                <a:solidFill>
                  <a:srgbClr val="1FB6E0"/>
                </a:solidFill>
                <a:latin typeface="Yu Gothic" pitchFamily="34" charset="0"/>
                <a:ea typeface="Yu Gothic" pitchFamily="34" charset="-122"/>
                <a:cs typeface="Yu Gothic" pitchFamily="34" charset="-120"/>
              </a:rPr>
              <a:t>2026年内</a:t>
            </a:r>
            <a:endParaRPr lang="en-US" sz="1350" dirty="0"/>
          </a:p>
        </p:txBody>
      </p:sp>
      <p:sp>
        <p:nvSpPr>
          <p:cNvPr id="17" name="Text 15"/>
          <p:cNvSpPr/>
          <p:nvPr/>
        </p:nvSpPr>
        <p:spPr>
          <a:xfrm>
            <a:off x="3200400" y="3749040"/>
            <a:ext cx="6035040" cy="777240"/>
          </a:xfrm>
          <a:prstGeom prst="rect">
            <a:avLst/>
          </a:prstGeom>
          <a:noFill/>
          <a:ln/>
        </p:spPr>
        <p:txBody>
          <a:bodyPr wrap="square" lIns="0" tIns="0" rIns="0" bIns="0" rtlCol="0" anchor="ctr"/>
          <a:lstStyle/>
          <a:p>
            <a:pPr indent="0" marL="0">
              <a:buNone/>
            </a:pPr>
            <a:r>
              <a:rPr lang="en-US" sz="1300" dirty="0">
                <a:solidFill>
                  <a:srgbClr val="D9E2EC"/>
                </a:solidFill>
                <a:latin typeface="Yu Gothic" pitchFamily="34" charset="0"/>
                <a:ea typeface="Yu Gothic" pitchFamily="34" charset="-122"/>
                <a:cs typeface="Yu Gothic" pitchFamily="34" charset="-120"/>
              </a:rPr>
              <a:t>『ウルトラマンマンチョコ』の企画合意（60周年商戦へ）</a:t>
            </a:r>
            <a:endParaRPr lang="en-US" sz="1300" dirty="0"/>
          </a:p>
        </p:txBody>
      </p:sp>
      <p:sp>
        <p:nvSpPr>
          <p:cNvPr id="18" name="Shape 16"/>
          <p:cNvSpPr/>
          <p:nvPr/>
        </p:nvSpPr>
        <p:spPr>
          <a:xfrm>
            <a:off x="640080" y="4663440"/>
            <a:ext cx="8778240" cy="777240"/>
          </a:xfrm>
          <a:prstGeom prst="roundRect">
            <a:avLst>
              <a:gd name="adj" fmla="val 9412"/>
            </a:avLst>
          </a:prstGeom>
          <a:solidFill>
            <a:srgbClr val="16213E"/>
          </a:solidFill>
          <a:ln/>
        </p:spPr>
      </p:sp>
      <p:sp>
        <p:nvSpPr>
          <p:cNvPr id="19" name="Shape 17"/>
          <p:cNvSpPr/>
          <p:nvPr/>
        </p:nvSpPr>
        <p:spPr>
          <a:xfrm>
            <a:off x="868680" y="4818888"/>
            <a:ext cx="457200" cy="457200"/>
          </a:xfrm>
          <a:prstGeom prst="ellipse">
            <a:avLst/>
          </a:prstGeom>
          <a:solidFill>
            <a:srgbClr val="D7002F"/>
          </a:solidFill>
          <a:ln/>
        </p:spPr>
      </p:sp>
      <p:sp>
        <p:nvSpPr>
          <p:cNvPr id="20" name="Text 18"/>
          <p:cNvSpPr/>
          <p:nvPr/>
        </p:nvSpPr>
        <p:spPr>
          <a:xfrm>
            <a:off x="86868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1" name="Text 19"/>
          <p:cNvSpPr/>
          <p:nvPr/>
        </p:nvSpPr>
        <p:spPr>
          <a:xfrm>
            <a:off x="1554480" y="4663440"/>
            <a:ext cx="1554480" cy="777240"/>
          </a:xfrm>
          <a:prstGeom prst="rect">
            <a:avLst/>
          </a:prstGeom>
          <a:noFill/>
          <a:ln/>
        </p:spPr>
        <p:txBody>
          <a:bodyPr wrap="square" lIns="0" tIns="0" rIns="0" bIns="0" rtlCol="0" anchor="ctr"/>
          <a:lstStyle/>
          <a:p>
            <a:pPr indent="0" marL="0">
              <a:buNone/>
            </a:pPr>
            <a:r>
              <a:rPr lang="en-US" sz="1350" b="1" dirty="0">
                <a:solidFill>
                  <a:srgbClr val="1FB6E0"/>
                </a:solidFill>
                <a:latin typeface="Yu Gothic" pitchFamily="34" charset="0"/>
                <a:ea typeface="Yu Gothic" pitchFamily="34" charset="-122"/>
                <a:cs typeface="Yu Gothic" pitchFamily="34" charset="-120"/>
              </a:rPr>
              <a:t>2027年春</a:t>
            </a:r>
            <a:endParaRPr lang="en-US" sz="1350" dirty="0"/>
          </a:p>
        </p:txBody>
      </p:sp>
      <p:sp>
        <p:nvSpPr>
          <p:cNvPr id="22" name="Text 20"/>
          <p:cNvSpPr/>
          <p:nvPr/>
        </p:nvSpPr>
        <p:spPr>
          <a:xfrm>
            <a:off x="3200400" y="4663440"/>
            <a:ext cx="6035040" cy="777240"/>
          </a:xfrm>
          <a:prstGeom prst="rect">
            <a:avLst/>
          </a:prstGeom>
          <a:noFill/>
          <a:ln/>
        </p:spPr>
        <p:txBody>
          <a:bodyPr wrap="square" lIns="0" tIns="0" rIns="0" bIns="0" rtlCol="0" anchor="ctr"/>
          <a:lstStyle/>
          <a:p>
            <a:pPr indent="0" marL="0">
              <a:buNone/>
            </a:pPr>
            <a:r>
              <a:rPr lang="en-US" sz="1300" dirty="0">
                <a:solidFill>
                  <a:srgbClr val="D9E2EC"/>
                </a:solidFill>
                <a:latin typeface="Yu Gothic" pitchFamily="34" charset="0"/>
                <a:ea typeface="Yu Gothic" pitchFamily="34" charset="-122"/>
                <a:cs typeface="Yu Gothic" pitchFamily="34" charset="-120"/>
              </a:rPr>
              <a:t>『ULTRA 3MIN.』試作・テスト販売 → 全国展開判断</a:t>
            </a:r>
            <a:endParaRPr lang="en-US" sz="1300" dirty="0"/>
          </a:p>
        </p:txBody>
      </p:sp>
      <p:sp>
        <p:nvSpPr>
          <p:cNvPr id="23" name="Text 21"/>
          <p:cNvSpPr/>
          <p:nvPr/>
        </p:nvSpPr>
        <p:spPr>
          <a:xfrm>
            <a:off x="640080" y="6035040"/>
            <a:ext cx="10972800" cy="320040"/>
          </a:xfrm>
          <a:prstGeom prst="rect">
            <a:avLst/>
          </a:prstGeom>
          <a:noFill/>
          <a:ln/>
        </p:spPr>
        <p:txBody>
          <a:bodyPr wrap="square" lIns="0" tIns="0" rIns="0" bIns="0" rtlCol="0" anchor="ctr"/>
          <a:lstStyle/>
          <a:p>
            <a:pPr indent="0" marL="0">
              <a:buNone/>
            </a:pPr>
            <a:r>
              <a:rPr lang="en-US" sz="1000" dirty="0">
                <a:solidFill>
                  <a:srgbClr val="AEB8C4"/>
                </a:solidFill>
                <a:latin typeface="Yu Gothic" pitchFamily="34" charset="0"/>
                <a:ea typeface="Yu Gothic" pitchFamily="34" charset="-122"/>
                <a:cs typeface="Yu Gothic" pitchFamily="34" charset="-120"/>
              </a:rPr>
              <a:t>円谷プロダクション ｜ 2026年8月 ｜ 本資料の内容は両社間の検討用であり、記載の商品名・時期はすべて仮称・仮案です。</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2026-08-08T09:01:03Z</dcterms:created>
  <dcterms:modified xsi:type="dcterms:W3CDTF">2026-08-08T09:01:03Z</dcterms:modified>
</cp:coreProperties>
</file>