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486400" cy="411480"/>
          </a:xfrm>
          <a:prstGeom prst="rect">
            <a:avLst/>
          </a:prstGeom>
          <a:noFill/>
          <a:ln/>
        </p:spPr>
        <p:txBody>
          <a:bodyPr wrap="square" lIns="0" tIns="0" rIns="0" bIns="0" rtlCol="0" anchor="ctr"/>
          <a:lstStyle/>
          <a:p>
            <a:pPr indent="0" marL="0">
              <a:buNone/>
            </a:pPr>
            <a:r>
              <a:rPr lang="en-US" sz="1700" b="1" dirty="0">
                <a:solidFill>
                  <a:srgbClr val="3B3028"/>
                </a:solidFill>
                <a:latin typeface="Times New Roman" pitchFamily="34" charset="0"/>
                <a:ea typeface="Times New Roman" pitchFamily="34" charset="-122"/>
                <a:cs typeface="Times New Roman" pitchFamily="34" charset="-120"/>
              </a:rPr>
              <a:t>TSUBURAYA PRODUCTIONS</a:t>
            </a:r>
            <a:endParaRPr lang="en-US" sz="1700" dirty="0"/>
          </a:p>
        </p:txBody>
      </p:sp>
      <p:sp>
        <p:nvSpPr>
          <p:cNvPr id="3" name="Text 1"/>
          <p:cNvSpPr/>
          <p:nvPr/>
        </p:nvSpPr>
        <p:spPr>
          <a:xfrm>
            <a:off x="8778240" y="502920"/>
            <a:ext cx="2743200" cy="640080"/>
          </a:xfrm>
          <a:prstGeom prst="rect">
            <a:avLst/>
          </a:prstGeom>
          <a:noFill/>
          <a:ln/>
        </p:spPr>
        <p:txBody>
          <a:bodyPr wrap="square" lIns="0" tIns="0" rIns="0" bIns="0" rtlCol="0" anchor="ctr"/>
          <a:lstStyle/>
          <a:p>
            <a:pPr algn="r" indent="0" marL="0">
              <a:buNone/>
            </a:pPr>
            <a:r>
              <a:rPr lang="en-US" sz="1500" b="1" spc="600" kern="0" dirty="0">
                <a:solidFill>
                  <a:srgbClr val="595959"/>
                </a:solidFill>
                <a:latin typeface="Arial" pitchFamily="34" charset="0"/>
                <a:ea typeface="Arial" pitchFamily="34" charset="-122"/>
                <a:cs typeface="Arial" pitchFamily="34" charset="-120"/>
              </a:rPr>
              <a:t>LOTTE</a:t>
            </a:r>
            <a:endParaRPr lang="en-US" sz="1500" dirty="0"/>
          </a:p>
          <a:p>
            <a:pPr algn="r" indent="0" marL="0">
              <a:buNone/>
            </a:pPr>
            <a:r>
              <a:rPr lang="en-US" sz="750" spc="300" kern="0" dirty="0">
                <a:solidFill>
                  <a:srgbClr val="808080"/>
                </a:solidFill>
                <a:latin typeface="Arial" pitchFamily="34" charset="0"/>
                <a:ea typeface="Arial" pitchFamily="34" charset="-122"/>
                <a:cs typeface="Arial" pitchFamily="34" charset="-120"/>
              </a:rPr>
              <a:t>LOTTE HOLDINGS</a:t>
            </a:r>
            <a:endParaRPr lang="en-US" sz="1500" dirty="0"/>
          </a:p>
        </p:txBody>
      </p:sp>
      <p:sp>
        <p:nvSpPr>
          <p:cNvPr id="4" name="Text 2"/>
          <p:cNvSpPr/>
          <p:nvPr/>
        </p:nvSpPr>
        <p:spPr>
          <a:xfrm>
            <a:off x="685800" y="2468880"/>
            <a:ext cx="10058400" cy="777240"/>
          </a:xfrm>
          <a:prstGeom prst="rect">
            <a:avLst/>
          </a:prstGeom>
          <a:noFill/>
          <a:ln/>
        </p:spPr>
        <p:txBody>
          <a:bodyPr wrap="square" lIns="0" tIns="0" rIns="0" bIns="0" rtlCol="0" anchor="ctr"/>
          <a:lstStyle/>
          <a:p>
            <a:pPr indent="0" marL="0">
              <a:buNone/>
            </a:pPr>
            <a:r>
              <a:rPr lang="en-US" sz="4000" b="1" dirty="0">
                <a:solidFill>
                  <a:srgbClr val="333333"/>
                </a:solidFill>
                <a:latin typeface="游ゴシック" pitchFamily="34" charset="0"/>
                <a:ea typeface="游ゴシック" pitchFamily="34" charset="-122"/>
                <a:cs typeface="游ゴシック" pitchFamily="34" charset="-120"/>
              </a:rPr>
              <a:t>ご提案資料</a:t>
            </a:r>
            <a:endParaRPr lang="en-US" sz="4000" dirty="0"/>
          </a:p>
        </p:txBody>
      </p:sp>
      <p:sp>
        <p:nvSpPr>
          <p:cNvPr id="5" name="Text 3"/>
          <p:cNvSpPr/>
          <p:nvPr/>
        </p:nvSpPr>
        <p:spPr>
          <a:xfrm>
            <a:off x="685800" y="3401568"/>
            <a:ext cx="10515600" cy="411480"/>
          </a:xfrm>
          <a:prstGeom prst="rect">
            <a:avLst/>
          </a:prstGeom>
          <a:noFill/>
          <a:ln/>
        </p:spPr>
        <p:txBody>
          <a:bodyPr wrap="square" lIns="0" tIns="0" rIns="0" bIns="0" rtlCol="0" anchor="ctr"/>
          <a:lstStyle/>
          <a:p>
            <a:pPr indent="0" marL="0">
              <a:buNone/>
            </a:pPr>
            <a:r>
              <a:rPr lang="en-US" sz="1500" dirty="0">
                <a:solidFill>
                  <a:srgbClr val="404040"/>
                </a:solidFill>
                <a:latin typeface="游ゴシック" pitchFamily="34" charset="0"/>
                <a:ea typeface="游ゴシック" pitchFamily="34" charset="-122"/>
                <a:cs typeface="游ゴシック" pitchFamily="34" charset="-120"/>
              </a:rPr>
              <a:t>── 「変身を、たべよう。」 ウルトラマン × ロッテ 新カテゴリー創造の検討 ──</a:t>
            </a:r>
            <a:endParaRPr lang="en-US" sz="1500" dirty="0"/>
          </a:p>
        </p:txBody>
      </p:sp>
      <p:sp>
        <p:nvSpPr>
          <p:cNvPr id="6" name="Text 4"/>
          <p:cNvSpPr/>
          <p:nvPr/>
        </p:nvSpPr>
        <p:spPr>
          <a:xfrm>
            <a:off x="685800" y="3977640"/>
            <a:ext cx="9144000" cy="365760"/>
          </a:xfrm>
          <a:prstGeom prst="rect">
            <a:avLst/>
          </a:prstGeom>
          <a:noFill/>
          <a:ln/>
        </p:spPr>
        <p:txBody>
          <a:bodyPr wrap="square" lIns="0" tIns="0" rIns="0" bIns="0" rtlCol="0" anchor="ctr"/>
          <a:lstStyle/>
          <a:p>
            <a:pPr indent="0" marL="0">
              <a:buNone/>
            </a:pPr>
            <a:r>
              <a:rPr lang="en-US" sz="1300" dirty="0">
                <a:solidFill>
                  <a:srgbClr val="404040"/>
                </a:solidFill>
                <a:latin typeface="游ゴシック" pitchFamily="34" charset="0"/>
                <a:ea typeface="游ゴシック" pitchFamily="34" charset="-122"/>
                <a:cs typeface="游ゴシック" pitchFamily="34" charset="-120"/>
              </a:rPr>
              <a:t>ロッテホールディングス 玉塚社長 御中  | 2026年8月</a:t>
            </a:r>
            <a:endParaRPr lang="en-US" sz="1300" dirty="0"/>
          </a:p>
        </p:txBody>
      </p:sp>
      <p:sp>
        <p:nvSpPr>
          <p:cNvPr id="7" name="Shape 5"/>
          <p:cNvSpPr/>
          <p:nvPr/>
        </p:nvSpPr>
        <p:spPr>
          <a:xfrm>
            <a:off x="0" y="6263640"/>
            <a:ext cx="12191695" cy="91440"/>
          </a:xfrm>
          <a:prstGeom prst="rect">
            <a:avLst/>
          </a:prstGeom>
          <a:solidFill>
            <a:srgbClr val="7A4521"/>
          </a:solidFill>
          <a:ln/>
        </p:spPr>
      </p:sp>
      <p:sp>
        <p:nvSpPr>
          <p:cNvPr id="8" name="Shape 6"/>
          <p:cNvSpPr/>
          <p:nvPr/>
        </p:nvSpPr>
        <p:spPr>
          <a:xfrm>
            <a:off x="0" y="6355080"/>
            <a:ext cx="12191695" cy="45720"/>
          </a:xfrm>
          <a:prstGeom prst="rect">
            <a:avLst/>
          </a:prstGeom>
          <a:solidFill>
            <a:srgbClr val="D9C7A9"/>
          </a:solidFill>
          <a:ln/>
        </p:spPr>
      </p:sp>
      <p:sp>
        <p:nvSpPr>
          <p:cNvPr id="9" name="Text 7"/>
          <p:cNvSpPr/>
          <p:nvPr/>
        </p:nvSpPr>
        <p:spPr>
          <a:xfrm>
            <a:off x="685800" y="6510528"/>
            <a:ext cx="2743200" cy="274320"/>
          </a:xfrm>
          <a:prstGeom prst="rect">
            <a:avLst/>
          </a:prstGeom>
          <a:noFill/>
          <a:ln/>
        </p:spPr>
        <p:txBody>
          <a:bodyPr wrap="square" lIns="0" tIns="0" rIns="0" bIns="0" rtlCol="0" anchor="ctr"/>
          <a:lstStyle/>
          <a:p>
            <a:pPr indent="0" marL="0">
              <a:buNone/>
            </a:pPr>
            <a:r>
              <a:rPr lang="en-US" sz="900" spc="400" kern="0" dirty="0">
                <a:solidFill>
                  <a:srgbClr val="595959"/>
                </a:solidFill>
                <a:latin typeface="游ゴシック" pitchFamily="34" charset="0"/>
                <a:ea typeface="游ゴシック" pitchFamily="34" charset="-122"/>
                <a:cs typeface="游ゴシック" pitchFamily="34" charset="-120"/>
              </a:rPr>
              <a:t>対 外 厳 秘</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48640"/>
            <a:ext cx="3657600" cy="457200"/>
          </a:xfrm>
          <a:prstGeom prst="rect">
            <a:avLst/>
          </a:prstGeom>
          <a:noFill/>
          <a:ln/>
        </p:spPr>
        <p:txBody>
          <a:bodyPr wrap="square" lIns="0" tIns="0" rIns="0" bIns="0" rtlCol="0" anchor="ctr"/>
          <a:lstStyle/>
          <a:p>
            <a:pPr indent="0" marL="0">
              <a:buNone/>
            </a:pPr>
            <a:r>
              <a:rPr lang="en-US" sz="2000" b="1" dirty="0">
                <a:solidFill>
                  <a:srgbClr val="333333"/>
                </a:solidFill>
                <a:latin typeface="游ゴシック" pitchFamily="34" charset="0"/>
                <a:ea typeface="游ゴシック" pitchFamily="34" charset="-122"/>
                <a:cs typeface="游ゴシック" pitchFamily="34" charset="-120"/>
              </a:rPr>
              <a:t>目次</a:t>
            </a:r>
            <a:endParaRPr lang="en-US" sz="2000" dirty="0"/>
          </a:p>
        </p:txBody>
      </p:sp>
      <p:sp>
        <p:nvSpPr>
          <p:cNvPr id="3" name="Text 1"/>
          <p:cNvSpPr/>
          <p:nvPr/>
        </p:nvSpPr>
        <p:spPr>
          <a:xfrm>
            <a:off x="10332720" y="566928"/>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4" name="Text 2"/>
          <p:cNvSpPr/>
          <p:nvPr/>
        </p:nvSpPr>
        <p:spPr>
          <a:xfrm>
            <a:off x="685800" y="1417320"/>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1.</a:t>
            </a:r>
            <a:endParaRPr lang="en-US" sz="1300" dirty="0"/>
          </a:p>
        </p:txBody>
      </p:sp>
      <p:sp>
        <p:nvSpPr>
          <p:cNvPr id="5" name="Text 3"/>
          <p:cNvSpPr/>
          <p:nvPr/>
        </p:nvSpPr>
        <p:spPr>
          <a:xfrm>
            <a:off x="1188720" y="1417320"/>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オープニング</a:t>
            </a:r>
            <a:endParaRPr lang="en-US" sz="1300" dirty="0"/>
          </a:p>
        </p:txBody>
      </p:sp>
      <p:sp>
        <p:nvSpPr>
          <p:cNvPr id="6" name="Text 4"/>
          <p:cNvSpPr/>
          <p:nvPr/>
        </p:nvSpPr>
        <p:spPr>
          <a:xfrm>
            <a:off x="5486400" y="1417320"/>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ご提案の骨子 ── コラボではなく、カテゴリーを創る</a:t>
            </a:r>
            <a:endParaRPr lang="en-US" sz="1050" dirty="0"/>
          </a:p>
        </p:txBody>
      </p:sp>
      <p:sp>
        <p:nvSpPr>
          <p:cNvPr id="7" name="Text 5"/>
          <p:cNvSpPr/>
          <p:nvPr/>
        </p:nvSpPr>
        <p:spPr>
          <a:xfrm>
            <a:off x="10515600" y="1417320"/>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3</a:t>
            </a:r>
            <a:endParaRPr lang="en-US" sz="1100" dirty="0"/>
          </a:p>
        </p:txBody>
      </p:sp>
      <p:sp>
        <p:nvSpPr>
          <p:cNvPr id="8" name="Shape 6"/>
          <p:cNvSpPr/>
          <p:nvPr/>
        </p:nvSpPr>
        <p:spPr>
          <a:xfrm>
            <a:off x="685800" y="1920240"/>
            <a:ext cx="10817352" cy="0"/>
          </a:xfrm>
          <a:prstGeom prst="line">
            <a:avLst/>
          </a:prstGeom>
          <a:noFill/>
          <a:ln w="9525">
            <a:solidFill>
              <a:srgbClr val="E0E0E0"/>
            </a:solidFill>
            <a:prstDash val="solid"/>
          </a:ln>
        </p:spPr>
      </p:sp>
      <p:sp>
        <p:nvSpPr>
          <p:cNvPr id="9" name="Text 7"/>
          <p:cNvSpPr/>
          <p:nvPr/>
        </p:nvSpPr>
        <p:spPr>
          <a:xfrm>
            <a:off x="685800" y="2130552"/>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2.</a:t>
            </a:r>
            <a:endParaRPr lang="en-US" sz="1300" dirty="0"/>
          </a:p>
        </p:txBody>
      </p:sp>
      <p:sp>
        <p:nvSpPr>
          <p:cNvPr id="10" name="Text 8"/>
          <p:cNvSpPr/>
          <p:nvPr/>
        </p:nvSpPr>
        <p:spPr>
          <a:xfrm>
            <a:off x="1188720" y="2130552"/>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なぜ、いまか</a:t>
            </a:r>
            <a:endParaRPr lang="en-US" sz="1300" dirty="0"/>
          </a:p>
        </p:txBody>
      </p:sp>
      <p:sp>
        <p:nvSpPr>
          <p:cNvPr id="11" name="Text 9"/>
          <p:cNvSpPr/>
          <p:nvPr/>
        </p:nvSpPr>
        <p:spPr>
          <a:xfrm>
            <a:off x="5486400" y="2130552"/>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60周年・再タッグ・売場の構造変化という3つの追い風</a:t>
            </a:r>
            <a:endParaRPr lang="en-US" sz="1050" dirty="0"/>
          </a:p>
        </p:txBody>
      </p:sp>
      <p:sp>
        <p:nvSpPr>
          <p:cNvPr id="12" name="Text 10"/>
          <p:cNvSpPr/>
          <p:nvPr/>
        </p:nvSpPr>
        <p:spPr>
          <a:xfrm>
            <a:off x="10515600" y="2130552"/>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4</a:t>
            </a:r>
            <a:endParaRPr lang="en-US" sz="1100" dirty="0"/>
          </a:p>
        </p:txBody>
      </p:sp>
      <p:sp>
        <p:nvSpPr>
          <p:cNvPr id="13" name="Shape 11"/>
          <p:cNvSpPr/>
          <p:nvPr/>
        </p:nvSpPr>
        <p:spPr>
          <a:xfrm>
            <a:off x="685800" y="2633472"/>
            <a:ext cx="10817352" cy="0"/>
          </a:xfrm>
          <a:prstGeom prst="line">
            <a:avLst/>
          </a:prstGeom>
          <a:noFill/>
          <a:ln w="9525">
            <a:solidFill>
              <a:srgbClr val="E0E0E0"/>
            </a:solidFill>
            <a:prstDash val="solid"/>
          </a:ln>
        </p:spPr>
      </p:sp>
      <p:sp>
        <p:nvSpPr>
          <p:cNvPr id="14" name="Text 12"/>
          <p:cNvSpPr/>
          <p:nvPr/>
        </p:nvSpPr>
        <p:spPr>
          <a:xfrm>
            <a:off x="685800" y="2843784"/>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3.</a:t>
            </a:r>
            <a:endParaRPr lang="en-US" sz="1300" dirty="0"/>
          </a:p>
        </p:txBody>
      </p:sp>
      <p:sp>
        <p:nvSpPr>
          <p:cNvPr id="15" name="Text 13"/>
          <p:cNvSpPr/>
          <p:nvPr/>
        </p:nvSpPr>
        <p:spPr>
          <a:xfrm>
            <a:off x="1188720" y="2843784"/>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カテゴリー創造の方法論</a:t>
            </a:r>
            <a:endParaRPr lang="en-US" sz="1300" dirty="0"/>
          </a:p>
        </p:txBody>
      </p:sp>
      <p:sp>
        <p:nvSpPr>
          <p:cNvPr id="16" name="Text 14"/>
          <p:cNvSpPr/>
          <p:nvPr/>
        </p:nvSpPr>
        <p:spPr>
          <a:xfrm>
            <a:off x="5486400" y="2843784"/>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ビックリマン・おーいお茶の先例と、御社自身の発明史</a:t>
            </a:r>
            <a:endParaRPr lang="en-US" sz="1050" dirty="0"/>
          </a:p>
        </p:txBody>
      </p:sp>
      <p:sp>
        <p:nvSpPr>
          <p:cNvPr id="17" name="Text 15"/>
          <p:cNvSpPr/>
          <p:nvPr/>
        </p:nvSpPr>
        <p:spPr>
          <a:xfrm>
            <a:off x="10515600" y="2843784"/>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5 – 7</a:t>
            </a:r>
            <a:endParaRPr lang="en-US" sz="1100" dirty="0"/>
          </a:p>
        </p:txBody>
      </p:sp>
      <p:sp>
        <p:nvSpPr>
          <p:cNvPr id="18" name="Shape 16"/>
          <p:cNvSpPr/>
          <p:nvPr/>
        </p:nvSpPr>
        <p:spPr>
          <a:xfrm>
            <a:off x="685800" y="3346704"/>
            <a:ext cx="10817352" cy="0"/>
          </a:xfrm>
          <a:prstGeom prst="line">
            <a:avLst/>
          </a:prstGeom>
          <a:noFill/>
          <a:ln w="9525">
            <a:solidFill>
              <a:srgbClr val="E0E0E0"/>
            </a:solidFill>
            <a:prstDash val="solid"/>
          </a:ln>
        </p:spPr>
      </p:sp>
      <p:sp>
        <p:nvSpPr>
          <p:cNvPr id="19" name="Text 17"/>
          <p:cNvSpPr/>
          <p:nvPr/>
        </p:nvSpPr>
        <p:spPr>
          <a:xfrm>
            <a:off x="685800" y="3557016"/>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4.</a:t>
            </a:r>
            <a:endParaRPr lang="en-US" sz="1300" dirty="0"/>
          </a:p>
        </p:txBody>
      </p:sp>
      <p:sp>
        <p:nvSpPr>
          <p:cNvPr id="20" name="Text 18"/>
          <p:cNvSpPr/>
          <p:nvPr/>
        </p:nvSpPr>
        <p:spPr>
          <a:xfrm>
            <a:off x="1188720" y="3557016"/>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本命コンセプト『ULTRA 3MIN.』</a:t>
            </a:r>
            <a:endParaRPr lang="en-US" sz="1300" dirty="0"/>
          </a:p>
        </p:txBody>
      </p:sp>
      <p:sp>
        <p:nvSpPr>
          <p:cNvPr id="21" name="Text 19"/>
          <p:cNvSpPr/>
          <p:nvPr/>
        </p:nvSpPr>
        <p:spPr>
          <a:xfrm>
            <a:off x="5486400" y="3557016"/>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噛んで3分、味と色が変身する ── 体験・収集・デジタルの設計</a:t>
            </a:r>
            <a:endParaRPr lang="en-US" sz="1050" dirty="0"/>
          </a:p>
        </p:txBody>
      </p:sp>
      <p:sp>
        <p:nvSpPr>
          <p:cNvPr id="22" name="Text 20"/>
          <p:cNvSpPr/>
          <p:nvPr/>
        </p:nvSpPr>
        <p:spPr>
          <a:xfrm>
            <a:off x="10515600" y="3557016"/>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8 – 11</a:t>
            </a:r>
            <a:endParaRPr lang="en-US" sz="1100" dirty="0"/>
          </a:p>
        </p:txBody>
      </p:sp>
      <p:sp>
        <p:nvSpPr>
          <p:cNvPr id="23" name="Shape 21"/>
          <p:cNvSpPr/>
          <p:nvPr/>
        </p:nvSpPr>
        <p:spPr>
          <a:xfrm>
            <a:off x="685800" y="4059936"/>
            <a:ext cx="10817352" cy="0"/>
          </a:xfrm>
          <a:prstGeom prst="line">
            <a:avLst/>
          </a:prstGeom>
          <a:noFill/>
          <a:ln w="9525">
            <a:solidFill>
              <a:srgbClr val="E0E0E0"/>
            </a:solidFill>
            <a:prstDash val="solid"/>
          </a:ln>
        </p:spPr>
      </p:sp>
      <p:sp>
        <p:nvSpPr>
          <p:cNvPr id="24" name="Text 22"/>
          <p:cNvSpPr/>
          <p:nvPr/>
        </p:nvSpPr>
        <p:spPr>
          <a:xfrm>
            <a:off x="685800" y="4270248"/>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5.</a:t>
            </a:r>
            <a:endParaRPr lang="en-US" sz="1300" dirty="0"/>
          </a:p>
        </p:txBody>
      </p:sp>
      <p:sp>
        <p:nvSpPr>
          <p:cNvPr id="25" name="Text 23"/>
          <p:cNvSpPr/>
          <p:nvPr/>
        </p:nvSpPr>
        <p:spPr>
          <a:xfrm>
            <a:off x="1188720" y="4270248"/>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展開構想</a:t>
            </a:r>
            <a:endParaRPr lang="en-US" sz="1300" dirty="0"/>
          </a:p>
        </p:txBody>
      </p:sp>
      <p:sp>
        <p:nvSpPr>
          <p:cNvPr id="26" name="Text 24"/>
          <p:cNvSpPr/>
          <p:nvPr/>
        </p:nvSpPr>
        <p:spPr>
          <a:xfrm>
            <a:off x="5486400" y="4270248"/>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商品群・ロードマップ・両社の体制と相補性</a:t>
            </a:r>
            <a:endParaRPr lang="en-US" sz="1050" dirty="0"/>
          </a:p>
        </p:txBody>
      </p:sp>
      <p:sp>
        <p:nvSpPr>
          <p:cNvPr id="27" name="Text 25"/>
          <p:cNvSpPr/>
          <p:nvPr/>
        </p:nvSpPr>
        <p:spPr>
          <a:xfrm>
            <a:off x="10515600" y="4270248"/>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12 – 15</a:t>
            </a:r>
            <a:endParaRPr lang="en-US" sz="1100" dirty="0"/>
          </a:p>
        </p:txBody>
      </p:sp>
      <p:sp>
        <p:nvSpPr>
          <p:cNvPr id="28" name="Shape 26"/>
          <p:cNvSpPr/>
          <p:nvPr/>
        </p:nvSpPr>
        <p:spPr>
          <a:xfrm>
            <a:off x="685800" y="4773168"/>
            <a:ext cx="10817352" cy="0"/>
          </a:xfrm>
          <a:prstGeom prst="line">
            <a:avLst/>
          </a:prstGeom>
          <a:noFill/>
          <a:ln w="9525">
            <a:solidFill>
              <a:srgbClr val="E0E0E0"/>
            </a:solidFill>
            <a:prstDash val="solid"/>
          </a:ln>
        </p:spPr>
      </p:sp>
      <p:sp>
        <p:nvSpPr>
          <p:cNvPr id="29" name="Text 27"/>
          <p:cNvSpPr/>
          <p:nvPr/>
        </p:nvSpPr>
        <p:spPr>
          <a:xfrm>
            <a:off x="685800" y="4983480"/>
            <a:ext cx="411480" cy="45720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6.</a:t>
            </a:r>
            <a:endParaRPr lang="en-US" sz="1300" dirty="0"/>
          </a:p>
        </p:txBody>
      </p:sp>
      <p:sp>
        <p:nvSpPr>
          <p:cNvPr id="30" name="Text 28"/>
          <p:cNvSpPr/>
          <p:nvPr/>
        </p:nvSpPr>
        <p:spPr>
          <a:xfrm>
            <a:off x="1188720" y="4983480"/>
            <a:ext cx="4206240" cy="45720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クロージング</a:t>
            </a:r>
            <a:endParaRPr lang="en-US" sz="1300" dirty="0"/>
          </a:p>
        </p:txBody>
      </p:sp>
      <p:sp>
        <p:nvSpPr>
          <p:cNvPr id="31" name="Text 29"/>
          <p:cNvSpPr/>
          <p:nvPr/>
        </p:nvSpPr>
        <p:spPr>
          <a:xfrm>
            <a:off x="5486400" y="4983480"/>
            <a:ext cx="4846320" cy="457200"/>
          </a:xfrm>
          <a:prstGeom prst="rect">
            <a:avLst/>
          </a:prstGeom>
          <a:noFill/>
          <a:ln/>
        </p:spPr>
        <p:txBody>
          <a:bodyPr wrap="square" lIns="0" tIns="0" rIns="0" bIns="0" rtlCol="0" anchor="ct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想定されるご懸念への先回りと、次の一歩</a:t>
            </a:r>
            <a:endParaRPr lang="en-US" sz="1050" dirty="0"/>
          </a:p>
        </p:txBody>
      </p:sp>
      <p:sp>
        <p:nvSpPr>
          <p:cNvPr id="32" name="Text 30"/>
          <p:cNvSpPr/>
          <p:nvPr/>
        </p:nvSpPr>
        <p:spPr>
          <a:xfrm>
            <a:off x="10515600" y="4983480"/>
            <a:ext cx="987552" cy="457200"/>
          </a:xfrm>
          <a:prstGeom prst="rect">
            <a:avLst/>
          </a:prstGeom>
          <a:noFill/>
          <a:ln/>
        </p:spPr>
        <p:txBody>
          <a:bodyPr wrap="square" lIns="0" tIns="0" rIns="0" bIns="0" rtlCol="0" anchor="ctr"/>
          <a:lstStyle/>
          <a:p>
            <a:pPr algn="r" indent="0" marL="0">
              <a:buNone/>
            </a:pPr>
            <a:r>
              <a:rPr lang="en-US" sz="1100" dirty="0">
                <a:solidFill>
                  <a:srgbClr val="595959"/>
                </a:solidFill>
                <a:latin typeface="游ゴシック" pitchFamily="34" charset="0"/>
                <a:ea typeface="游ゴシック" pitchFamily="34" charset="-122"/>
                <a:cs typeface="游ゴシック" pitchFamily="34" charset="-120"/>
              </a:rPr>
              <a:t>16 – 17</a:t>
            </a:r>
            <a:endParaRPr lang="en-US" sz="1100" dirty="0"/>
          </a:p>
        </p:txBody>
      </p:sp>
      <p:sp>
        <p:nvSpPr>
          <p:cNvPr id="33" name="Shape 31"/>
          <p:cNvSpPr/>
          <p:nvPr/>
        </p:nvSpPr>
        <p:spPr>
          <a:xfrm>
            <a:off x="685800" y="5486400"/>
            <a:ext cx="10817352" cy="0"/>
          </a:xfrm>
          <a:prstGeom prst="line">
            <a:avLst/>
          </a:prstGeom>
          <a:noFill/>
          <a:ln w="9525">
            <a:solidFill>
              <a:srgbClr val="E0E0E0"/>
            </a:solidFill>
            <a:prstDash val="solid"/>
          </a:ln>
        </p:spPr>
      </p:sp>
      <p:sp>
        <p:nvSpPr>
          <p:cNvPr id="34" name="Shape 32"/>
          <p:cNvSpPr/>
          <p:nvPr/>
        </p:nvSpPr>
        <p:spPr>
          <a:xfrm>
            <a:off x="685800" y="6382512"/>
            <a:ext cx="10817352" cy="0"/>
          </a:xfrm>
          <a:prstGeom prst="line">
            <a:avLst/>
          </a:prstGeom>
          <a:noFill/>
          <a:ln w="9525">
            <a:solidFill>
              <a:srgbClr val="E9E9E9"/>
            </a:solidFill>
            <a:prstDash val="solid"/>
          </a:ln>
        </p:spPr>
      </p:sp>
      <p:sp>
        <p:nvSpPr>
          <p:cNvPr id="35" name="Text 33"/>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36" name="Text 34"/>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1．オープニング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ご提案の骨子：コラボではなく、カテゴリーを創る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本日の提案は、期間限定のキャラクターコラボではない。ビックリマン・おーいお茶がそうであったように、</a:t>
            </a:r>
            <a:endParaRPr lang="en-US" sz="1250" dirty="0"/>
          </a:p>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「新しい習慣」を発明し、売場に新カテゴリーを定義する共同事業の検討をお願いしたい</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3</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17352" cy="914400"/>
        </p:xfrm>
        <a:graphic>
          <a:graphicData uri="http://schemas.openxmlformats.org/drawingml/2006/table">
            <a:tbl>
              <a:tblPr/>
              <a:tblGrid>
                <a:gridCol w="2834640"/>
                <a:gridCol w="7982712"/>
              </a:tblGrid>
              <a:tr h="749808">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単発コラボの先へ</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キャラクターを借りた期間限定コラボは、百戦錬磨の御社に不要。両社の資産を掛け合わせ、ビックリマン・おーいお茶級の「新カテゴリー」を発明することを提案する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②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中核は「3分間」の体験</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本命コンセプト『ULTRA 3MIN.』── 噛んで3分で味と色が変身するガム＆グミ。カラータイマーという国民的体験を、御社の咀嚼研究とフレーバー技術で口の中に再現する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49808">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③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追い風は今年だけ</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2026年はシリーズ放送開始60周年。記念作『ウルトラマンテオ』が世界同時放送・配信中であり、国内の話題性とグローバル展開の入口が同時に開いている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85800" y="4892040"/>
          <a:ext cx="10817352" cy="914400"/>
        </p:xfrm>
        <a:graphic>
          <a:graphicData uri="http://schemas.openxmlformats.org/drawingml/2006/table">
            <a:tbl>
              <a:tblPr/>
              <a:tblGrid>
                <a:gridCol w="3602736"/>
                <a:gridCol w="3602736"/>
                <a:gridCol w="3611880"/>
              </a:tblGrid>
              <a:tr h="365760">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60周年</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4億個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3分</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502920">
                <a:tc>
                  <a:txBody>
                    <a:bodyPr/>
                    <a:lstStyle/>
                    <a:p>
                      <a:pPr algn="ctr" indent="0" marL="0">
                        <a:buNone/>
                      </a:pPr>
                      <a:r>
                        <a:rPr lang="en-US" sz="950" dirty="0">
                          <a:solidFill>
                            <a:srgbClr val="808080"/>
                          </a:solidFill>
                          <a:latin typeface="游ゴシック" pitchFamily="34" charset="0"/>
                          <a:ea typeface="游ゴシック" pitchFamily="34" charset="-122"/>
                          <a:cs typeface="游ゴシック" pitchFamily="34" charset="-120"/>
                        </a:rPr>
                        <a:t>2026年、ウルトラマンシリーズ放送開始からの節目</a:t>
                      </a:r>
                      <a:endParaRPr lang="en-US" sz="9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808080"/>
                          </a:solidFill>
                          <a:latin typeface="游ゴシック" pitchFamily="34" charset="0"/>
                          <a:ea typeface="游ゴシック" pitchFamily="34" charset="-122"/>
                          <a:cs typeface="游ゴシック" pitchFamily="34" charset="-120"/>
                        </a:rPr>
                        <a:t>ビックリマン最盛期の年間販売個数</a:t>
                      </a:r>
                      <a:endParaRPr lang="en-US" sz="9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808080"/>
                          </a:solidFill>
                          <a:latin typeface="游ゴシック" pitchFamily="34" charset="0"/>
                          <a:ea typeface="游ゴシック" pitchFamily="34" charset="-122"/>
                          <a:cs typeface="游ゴシック" pitchFamily="34" charset="-120"/>
                        </a:rPr>
                        <a:t>カラータイマー ＝ 本提案の中核体験</a:t>
                      </a:r>
                      <a:endParaRPr lang="en-US" sz="9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3" name="Shape 9"/>
          <p:cNvSpPr/>
          <p:nvPr/>
        </p:nvSpPr>
        <p:spPr>
          <a:xfrm>
            <a:off x="7845552" y="4828032"/>
            <a:ext cx="3739896" cy="1042416"/>
          </a:xfrm>
          <a:prstGeom prst="rect">
            <a:avLst/>
          </a:prstGeom>
          <a:ln w="15875">
            <a:solidFill>
              <a:srgbClr val="C00000"/>
            </a:solidFill>
            <a:prstDash val="dash"/>
          </a:ln>
        </p:spPr>
      </p:sp>
      <p:sp>
        <p:nvSpPr>
          <p:cNvPr id="14" name="Text 10"/>
          <p:cNvSpPr/>
          <p:nvPr/>
        </p:nvSpPr>
        <p:spPr>
          <a:xfrm>
            <a:off x="685800" y="6035040"/>
            <a:ext cx="10817352" cy="274320"/>
          </a:xfrm>
          <a:prstGeom prst="rect">
            <a:avLst/>
          </a:prstGeom>
          <a:noFill/>
          <a:ln/>
        </p:spPr>
        <p:txBody>
          <a:bodyPr wrap="square" lIns="0" tIns="0" rIns="0" bIns="0" rtlCol="0" anchor="ctr"/>
          <a:lstStyle/>
          <a:p>
            <a:pPr indent="0" marL="0">
              <a:buNone/>
            </a:pPr>
            <a:r>
              <a:rPr lang="en-US" sz="100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00" dirty="0">
                <a:solidFill>
                  <a:srgbClr val="404040"/>
                </a:solidFill>
                <a:latin typeface="游ゴシック" pitchFamily="34" charset="0"/>
                <a:ea typeface="游ゴシック" pitchFamily="34" charset="-122"/>
                <a:cs typeface="游ゴシック" pitchFamily="34" charset="-120"/>
              </a:rPr>
              <a:t>「3分」── 誰もが体で覚えている、世界で最も有名な時間制限を食体験に翻訳する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2．なぜ、いまか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なぜ「いま」なのか ── 3つの追い風</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話題性・物語性・売場の構造変化が同時に揃うのは2026〜27年だけ。意思決定のタイミングそのものが本提案の価値である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4</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60周年イヤーの熱量</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2026年はウルトラマンシリーズ放送開始60周年。60周年プロジェクトが進行中で、記念作『ウルトラマンテオ』は世界同時放送・同時配信。露出量・ファンの熱量・小売の棚の注目度が今年から来年にかけて最高潮に達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半世紀ぶりの再タッグ</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1970年代、ロッテはウルトラマンのアイスを販売していた。「あのロッテとウルトラマンが半世紀ぶりに再会し、今度はカテゴリーを創る」── この物語自体が発表時の大きなニュースになる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菓子売場の構造変化</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ガム市場はピーク比4割超縮小する一方、グミは拡大しガムを逆転。御社は「噛むこと」の健康価値研究を推進中であり、噛む価値を新しい体験に転換する旗艦カテゴリーが求められる局面にある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4151376"/>
            <a:ext cx="10927080" cy="1024128"/>
          </a:xfrm>
          <a:prstGeom prst="rect">
            <a:avLst/>
          </a:prstGeom>
          <a:ln w="15875">
            <a:solidFill>
              <a:srgbClr val="C00000"/>
            </a:solidFill>
            <a:prstDash val="dash"/>
          </a:ln>
        </p:spPr>
      </p:sp>
      <p:sp>
        <p:nvSpPr>
          <p:cNvPr id="13" name="Text 10"/>
          <p:cNvSpPr/>
          <p:nvPr/>
        </p:nvSpPr>
        <p:spPr>
          <a:xfrm>
            <a:off x="685800" y="534924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③ </a:t>
            </a:r>
            <a:pPr indent="0" marL="0">
              <a:buNone/>
            </a:pPr>
            <a:r>
              <a:rPr lang="en-US" sz="1050" dirty="0">
                <a:solidFill>
                  <a:srgbClr val="404040"/>
                </a:solidFill>
                <a:latin typeface="游ゴシック" pitchFamily="34" charset="0"/>
                <a:ea typeface="游ゴシック" pitchFamily="34" charset="-122"/>
                <a:cs typeface="游ゴシック" pitchFamily="34" charset="-120"/>
              </a:rPr>
              <a:t>が本提案の主戦場 ── 縮小するガムの技術資産と、拡大するグミの勢いを「一つの新カテゴリー」に束ね直す</a:t>
            </a:r>
            <a:endParaRPr lang="en-US" sz="1050" dirty="0"/>
          </a:p>
        </p:txBody>
      </p:sp>
      <p:sp>
        <p:nvSpPr>
          <p:cNvPr id="14" name="Text 11"/>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出所：ウルトラマンシリーズ60周年記念サイト、東洋経済・日経報道（ガム／グミ市場）、当時のロッテ製品資料より作成</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404872" cy="310896"/>
          </a:xfrm>
          <a:prstGeom prst="rect">
            <a:avLst/>
          </a:prstGeom>
          <a:solidFill>
            <a:srgbClr val="C4761B"/>
          </a:solidFill>
          <a:ln/>
        </p:spPr>
      </p:sp>
      <p:sp>
        <p:nvSpPr>
          <p:cNvPr id="3" name="Text 1"/>
          <p:cNvSpPr/>
          <p:nvPr/>
        </p:nvSpPr>
        <p:spPr>
          <a:xfrm>
            <a:off x="795528" y="384048"/>
            <a:ext cx="229514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3．カテゴリー創造の方法論</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学ぶべきは「コラボ」ではなく「カテゴリー創造」</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参照すべき先例は2つ。どちらも商品スペックではなく、「新しい習慣」を発明したことで数十年続く市場を作った</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5</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1554480"/>
                <a:gridCol w="4626864"/>
                <a:gridCol w="4636008"/>
              </a:tblGrid>
              <a:tr h="384048">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ビックリマンチョコ（ロッテ・1977〜）</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おーいお茶（伊藤園・1989〜）</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137160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何をしたか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チョコにおまけを付けたのではなく、「シールを集める」という文化を発明。1985年の悪魔VS天使シールで社会現象化し、最盛期は年間4億個。「お一人様3個まで」が全国に広がった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お茶という商品を売ったのではなく、「緑茶は缶・ペットボトルで買うもの」という常識を発明。急須の代替ではなく、まったく新しい飲用シーンを創出した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発明したもの</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収集の習慣</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購買の習慣</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2185416" y="3986784"/>
            <a:ext cx="9317736" cy="566928"/>
          </a:xfrm>
          <a:prstGeom prst="rect">
            <a:avLst/>
          </a:prstGeom>
          <a:ln w="15875">
            <a:solidFill>
              <a:srgbClr val="C00000"/>
            </a:solidFill>
            <a:prstDash val="dash"/>
          </a:ln>
        </p:spPr>
      </p:sp>
      <p:sp>
        <p:nvSpPr>
          <p:cNvPr id="13" name="Shape 10"/>
          <p:cNvSpPr/>
          <p:nvPr/>
        </p:nvSpPr>
        <p:spPr>
          <a:xfrm>
            <a:off x="685800" y="5029200"/>
            <a:ext cx="10817352" cy="868680"/>
          </a:xfrm>
          <a:prstGeom prst="rect">
            <a:avLst/>
          </a:prstGeom>
          <a:solidFill>
            <a:srgbClr val="EAF4F8"/>
          </a:solidFill>
          <a:ln/>
        </p:spPr>
      </p:sp>
      <p:sp>
        <p:nvSpPr>
          <p:cNvPr id="14" name="Text 11"/>
          <p:cNvSpPr/>
          <p:nvPr/>
        </p:nvSpPr>
        <p:spPr>
          <a:xfrm>
            <a:off x="960120" y="5029200"/>
            <a:ext cx="10268712" cy="868680"/>
          </a:xfrm>
          <a:prstGeom prst="rect">
            <a:avLst/>
          </a:prstGeom>
          <a:noFill/>
          <a:ln/>
        </p:spPr>
        <p:txBody>
          <a:bodyPr wrap="square" lIns="0" tIns="0" rIns="0" bIns="0" rtlCol="0" anchor="ctr"/>
          <a:lstStyle/>
          <a:p>
            <a:pPr indent="0" marL="0">
              <a:lnSpc>
                <a:spcPts val="1900"/>
              </a:lnSpc>
              <a:buNone/>
            </a:pPr>
            <a:r>
              <a:rPr lang="en-US" sz="1250" b="1" dirty="0">
                <a:solidFill>
                  <a:srgbClr val="17828F"/>
                </a:solidFill>
                <a:latin typeface="游ゴシック" pitchFamily="34" charset="0"/>
                <a:ea typeface="游ゴシック" pitchFamily="34" charset="-122"/>
                <a:cs typeface="游ゴシック" pitchFamily="34" charset="-120"/>
              </a:rPr>
              <a:t>共通項：</a:t>
            </a:r>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新しい習慣と文化の発明。私たちが創るのも「ウルトラマンのお菓子」ではなく、</a:t>
            </a:r>
            <a:pPr indent="0" marL="0">
              <a:lnSpc>
                <a:spcPts val="1900"/>
              </a:lnSpc>
              <a:buNone/>
            </a:pPr>
            <a:r>
              <a:rPr lang="en-US" sz="1250" b="1" dirty="0">
                <a:solidFill>
                  <a:srgbClr val="17828F"/>
                </a:solidFill>
                <a:latin typeface="游ゴシック" pitchFamily="34" charset="0"/>
                <a:ea typeface="游ゴシック" pitchFamily="34" charset="-122"/>
                <a:cs typeface="游ゴシック" pitchFamily="34" charset="-120"/>
              </a:rPr>
              <a:t>ウルトラマンでしか成立しない新しい習慣</a:t>
            </a:r>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である</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404872" cy="310896"/>
          </a:xfrm>
          <a:prstGeom prst="rect">
            <a:avLst/>
          </a:prstGeom>
          <a:solidFill>
            <a:srgbClr val="C4761B"/>
          </a:solidFill>
          <a:ln/>
        </p:spPr>
      </p:sp>
      <p:sp>
        <p:nvSpPr>
          <p:cNvPr id="3" name="Text 1"/>
          <p:cNvSpPr/>
          <p:nvPr/>
        </p:nvSpPr>
        <p:spPr>
          <a:xfrm>
            <a:off x="795528" y="384048"/>
            <a:ext cx="229514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3．カテゴリー創造の方法論</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御社は約10年ごとに、カテゴリーを発明してきた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カテゴリー創造は外部の成功例ではなく、御社自身の勝ちパターンである。本提案はその再現にほかならない</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6</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371600"/>
                <a:gridCol w="3291840"/>
                <a:gridCol w="6153912"/>
              </a:tblGrid>
              <a:tr h="329184">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商品</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発明したカテゴリー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1957</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グリーンガム</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「ガム＝ロッテ」の確立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1964</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ガーナミルクチョコレート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半世紀遅れの後発からチョコの定番へ</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1977 / 85</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b="1" dirty="0">
                          <a:solidFill>
                            <a:srgbClr val="404040"/>
                          </a:solidFill>
                          <a:latin typeface="游ゴシック" pitchFamily="34" charset="0"/>
                          <a:ea typeface="游ゴシック" pitchFamily="34" charset="-122"/>
                          <a:cs typeface="游ゴシック" pitchFamily="34" charset="-120"/>
                        </a:rPr>
                        <a:t>ビックリマンチョコ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シール食玩 ── 収集文化の発明</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1978</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ホカロン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使い捨てカイロ市場の定義</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1981</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雪見だいふく</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冬アイス・餅アイス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1997</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キシリトールガム</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機能性ガム（現在もシェア6割の源泉）</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2003</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クーリッシュ</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飲むアイス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050" b="1" dirty="0">
                          <a:solidFill>
                            <a:srgbClr val="404040"/>
                          </a:solidFill>
                          <a:latin typeface="游ゴシック" pitchFamily="34" charset="0"/>
                          <a:ea typeface="游ゴシック" pitchFamily="34" charset="-122"/>
                          <a:cs typeface="游ゴシック" pitchFamily="34" charset="-120"/>
                        </a:rPr>
                        <a:t>2015</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乳酸菌ショコラ</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機能性チョコレート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3246120"/>
            <a:ext cx="10927080" cy="429768"/>
          </a:xfrm>
          <a:prstGeom prst="rect">
            <a:avLst/>
          </a:prstGeom>
          <a:ln w="15875">
            <a:solidFill>
              <a:srgbClr val="C00000"/>
            </a:solidFill>
            <a:prstDash val="dash"/>
          </a:ln>
        </p:spPr>
      </p:sp>
      <p:sp>
        <p:nvSpPr>
          <p:cNvPr id="13" name="Text 10"/>
          <p:cNvSpPr/>
          <p:nvPr/>
        </p:nvSpPr>
        <p:spPr>
          <a:xfrm>
            <a:off x="685800" y="5806440"/>
            <a:ext cx="10817352" cy="320040"/>
          </a:xfrm>
          <a:prstGeom prst="rect">
            <a:avLst/>
          </a:prstGeom>
          <a:noFill/>
          <a:ln/>
        </p:spPr>
        <p:txBody>
          <a:bodyPr wrap="square" lIns="0" tIns="0" rIns="0" bIns="0" rtlCol="0" anchor="ctr"/>
          <a:lstStyle/>
          <a:p>
            <a:pPr indent="0" marL="0">
              <a:buNone/>
            </a:pPr>
            <a:r>
              <a:rPr lang="en-US" sz="1250" b="1" dirty="0">
                <a:solidFill>
                  <a:srgbClr val="7A4521"/>
                </a:solidFill>
                <a:latin typeface="游ゴシック" pitchFamily="34" charset="0"/>
                <a:ea typeface="游ゴシック" pitchFamily="34" charset="-122"/>
                <a:cs typeface="游ゴシック" pitchFamily="34" charset="-120"/>
              </a:rPr>
              <a:t>クーリッシュから20年。</a:t>
            </a:r>
            <a:pPr indent="0" marL="0">
              <a:buNone/>
            </a:pPr>
            <a:r>
              <a:rPr lang="en-US" sz="1250" dirty="0">
                <a:solidFill>
                  <a:srgbClr val="404040"/>
                </a:solidFill>
                <a:latin typeface="游ゴシック" pitchFamily="34" charset="0"/>
                <a:ea typeface="游ゴシック" pitchFamily="34" charset="-122"/>
                <a:cs typeface="游ゴシック" pitchFamily="34" charset="-120"/>
              </a:rPr>
              <a:t>次の10年の発明を、ウルトラマンシリーズ60周年と一緒に打ちませんか</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404872" cy="310896"/>
          </a:xfrm>
          <a:prstGeom prst="rect">
            <a:avLst/>
          </a:prstGeom>
          <a:solidFill>
            <a:srgbClr val="C4761B"/>
          </a:solidFill>
          <a:ln/>
        </p:spPr>
      </p:sp>
      <p:sp>
        <p:nvSpPr>
          <p:cNvPr id="3" name="Text 1"/>
          <p:cNvSpPr/>
          <p:nvPr/>
        </p:nvSpPr>
        <p:spPr>
          <a:xfrm>
            <a:off x="795528" y="384048"/>
            <a:ext cx="229514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3．カテゴリー創造の方法論</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カテゴリー創造の方程式</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3つの要素が揃ったときだけ、コラボはカテゴリーに変わる。ウルトラマン × ロッテはその全てを最初から持っている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77724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IPの本質体験</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ウルトラマンの本質は「変身」と「3分間の活動限界」。世代を超えて誰もが体で覚えている、世界で最も有名な時間制限</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7724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食の物理体験</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味・色・食感が時間で変化する菓子設計。御社の咀嚼研究、キシリトールで培った機能性表現、フレーバーカプセル技術で実装可能</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7724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収集・継続の仕掛け</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ビックリマンで磨いた収集エンジンと、デジタル図鑑の連動。1回の驚きを、毎週の習慣に変える装置</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10881360" y="2286000"/>
            <a:ext cx="914" cy="914"/>
          </a:xfrm>
          <a:prstGeom prst="rect">
            <a:avLst/>
          </a:prstGeom>
          <a:noFill/>
          <a:ln/>
        </p:spPr>
        <p:txBody>
          <a:bodyPr wrap="square" lIns="0" tIns="0" rIns="0" bIns="0" rtlCol="0" anchor="ctr"/>
          <a:lstStyle/>
          <a:p>
            <a:pPr indent="0" marL="0">
              <a:buNone/>
            </a:pPr>
            <a:r>
              <a:rPr lang="en-US" sz="100" dirty="0">
                <a:solidFill>
                  <a:srgbClr val="FFFFFF"/>
                </a:solidFill>
              </a:rPr>
              <a:t>×  ×  ＝</a:t>
            </a:r>
            <a:endParaRPr lang="en-US" sz="100" dirty="0"/>
          </a:p>
        </p:txBody>
      </p:sp>
      <p:sp>
        <p:nvSpPr>
          <p:cNvPr id="13" name="Shape 10"/>
          <p:cNvSpPr/>
          <p:nvPr/>
        </p:nvSpPr>
        <p:spPr>
          <a:xfrm>
            <a:off x="685800" y="4892040"/>
            <a:ext cx="10817352" cy="914400"/>
          </a:xfrm>
          <a:prstGeom prst="rect">
            <a:avLst/>
          </a:prstGeom>
          <a:solidFill>
            <a:srgbClr val="F3EDE0"/>
          </a:solidFill>
          <a:ln w="12700">
            <a:solidFill>
              <a:srgbClr val="7A4521"/>
            </a:solidFill>
            <a:prstDash val="solid"/>
          </a:ln>
        </p:spPr>
      </p:sp>
      <p:sp>
        <p:nvSpPr>
          <p:cNvPr id="14" name="Text 11"/>
          <p:cNvSpPr/>
          <p:nvPr/>
        </p:nvSpPr>
        <p:spPr>
          <a:xfrm>
            <a:off x="960120" y="4892040"/>
            <a:ext cx="10268712" cy="914400"/>
          </a:xfrm>
          <a:prstGeom prst="rect">
            <a:avLst/>
          </a:prstGeom>
          <a:noFill/>
          <a:ln/>
        </p:spPr>
        <p:txBody>
          <a:bodyPr wrap="square" lIns="0" tIns="0" rIns="0" bIns="0" rtlCol="0" anchor="ctr"/>
          <a:lstStyle/>
          <a:p>
            <a:pPr indent="0" marL="0">
              <a:buNone/>
            </a:pPr>
            <a:r>
              <a:rPr lang="en-US" sz="1600" b="1" dirty="0">
                <a:solidFill>
                  <a:srgbClr val="333333"/>
                </a:solidFill>
                <a:latin typeface="游ゴシック" pitchFamily="34" charset="0"/>
                <a:ea typeface="游ゴシック" pitchFamily="34" charset="-122"/>
                <a:cs typeface="游ゴシック" pitchFamily="34" charset="-120"/>
              </a:rPr>
              <a:t>＝ 新カテゴリー『変身菓子』</a:t>
            </a:r>
            <a:pPr indent="0" marL="0">
              <a:buNone/>
            </a:pPr>
            <a:r>
              <a:rPr lang="en-US" sz="1150" dirty="0">
                <a:solidFill>
                  <a:srgbClr val="404040"/>
                </a:solidFill>
                <a:latin typeface="游ゴシック" pitchFamily="34" charset="0"/>
                <a:ea typeface="游ゴシック" pitchFamily="34" charset="-122"/>
                <a:cs typeface="游ゴシック" pitchFamily="34" charset="-120"/>
              </a:rPr>
              <a:t>　── 時間で変わることを楽しむ、世界初のお菓子カテゴリー。名前を握った者が棚を握る</a:t>
            </a:r>
            <a:endParaRPr lang="en-US" sz="1600" dirty="0"/>
          </a:p>
        </p:txBody>
      </p:sp>
      <p:sp>
        <p:nvSpPr>
          <p:cNvPr id="15" name="Text 12"/>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「バランス栄養食」（カロリーメイト）「ゼリー飲料」（inゼリー）「飲むアイス」（クーリッシュ）── カテゴリー名を自ら命名した商品が市場を定義してきた</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『ULTRA 3MIN.』── 噛んで3分。味と色が、変身する。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カラータイマーの3分間を、口の中で体験するガム＆グミ。IPの中核体験をそのまま食体験に翻訳する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8</a:t>
            </a:r>
            <a:endParaRPr lang="en-US" sz="950" dirty="0"/>
          </a:p>
        </p:txBody>
      </p:sp>
      <p:sp>
        <p:nvSpPr>
          <p:cNvPr id="11" name="Text 9"/>
          <p:cNvSpPr/>
          <p:nvPr/>
        </p:nvSpPr>
        <p:spPr>
          <a:xfrm>
            <a:off x="685800" y="2240280"/>
            <a:ext cx="4846320" cy="310896"/>
          </a:xfrm>
          <a:prstGeom prst="rect">
            <a:avLst/>
          </a:prstGeom>
          <a:noFill/>
          <a:ln/>
        </p:spPr>
        <p:txBody>
          <a:bodyPr wrap="square" lIns="0" tIns="0" rIns="0" bIns="0" rtlCol="0" anchor="ctr"/>
          <a:lstStyle/>
          <a:p>
            <a:pPr indent="0" marL="0">
              <a:buNone/>
            </a:pPr>
            <a:r>
              <a:rPr lang="en-US" sz="1250" b="1" dirty="0">
                <a:solidFill>
                  <a:srgbClr val="333333"/>
                </a:solidFill>
                <a:latin typeface="游ゴシック" pitchFamily="34" charset="0"/>
                <a:ea typeface="游ゴシック" pitchFamily="34" charset="-122"/>
                <a:cs typeface="游ゴシック" pitchFamily="34" charset="-120"/>
              </a:rPr>
              <a:t>体験の中核</a:t>
            </a:r>
            <a:endParaRPr lang="en-US" sz="1250" dirty="0"/>
          </a:p>
        </p:txBody>
      </p:sp>
      <p:sp>
        <p:nvSpPr>
          <p:cNvPr id="12" name="Shape 10"/>
          <p:cNvSpPr/>
          <p:nvPr/>
        </p:nvSpPr>
        <p:spPr>
          <a:xfrm>
            <a:off x="685800" y="2587752"/>
            <a:ext cx="4846320" cy="0"/>
          </a:xfrm>
          <a:prstGeom prst="line">
            <a:avLst/>
          </a:prstGeom>
          <a:noFill/>
          <a:ln w="12700">
            <a:solidFill>
              <a:srgbClr val="333333"/>
            </a:solidFill>
            <a:prstDash val="solid"/>
          </a:ln>
        </p:spPr>
      </p:sp>
      <p:sp>
        <p:nvSpPr>
          <p:cNvPr id="13" name="Text 11"/>
          <p:cNvSpPr/>
          <p:nvPr/>
        </p:nvSpPr>
        <p:spPr>
          <a:xfrm>
            <a:off x="685800" y="2743200"/>
            <a:ext cx="4846320" cy="2377440"/>
          </a:xfrm>
          <a:prstGeom prst="rect">
            <a:avLst/>
          </a:prstGeom>
          <a:noFill/>
          <a:ln/>
        </p:spPr>
        <p:txBody>
          <a:bodyPr wrap="square" lIns="0" tIns="0" rIns="0" bIns="0" rtlCol="0" anchor="ctr"/>
          <a:lstStyle/>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噛み始めは第1形態。3分経つと味と色が「変身」する時限設計</a:t>
            </a:r>
            <a:endParaRPr lang="en-US" sz="1150" dirty="0"/>
          </a:p>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口の中でカラータイマーが点滅する ── 説明不要の商品コンセプト</a:t>
            </a:r>
            <a:endParaRPr lang="en-US" sz="1150" dirty="0"/>
          </a:p>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実装は御社の独壇場：咀嚼研究 × 時限フレーバーカプセル × 色素設計</a:t>
            </a:r>
            <a:endParaRPr lang="en-US" sz="1150" dirty="0"/>
          </a:p>
          <a:p>
            <a:pPr marL="152400" indent="-152400">
              <a:lnSpc>
                <a:spcPts val="1700"/>
              </a:lnSpc>
              <a:spcAft>
                <a:spcPts val="7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ガム（大人）・グミ（子ども）の両形態で同時展開し、家族全員を取る</a:t>
            </a:r>
            <a:endParaRPr lang="en-US" sz="1150" dirty="0"/>
          </a:p>
        </p:txBody>
      </p:sp>
      <p:sp>
        <p:nvSpPr>
          <p:cNvPr id="14" name="Text 12"/>
          <p:cNvSpPr/>
          <p:nvPr/>
        </p:nvSpPr>
        <p:spPr>
          <a:xfrm>
            <a:off x="5989320" y="2240280"/>
            <a:ext cx="5513832" cy="310896"/>
          </a:xfrm>
          <a:prstGeom prst="rect">
            <a:avLst/>
          </a:prstGeom>
          <a:noFill/>
          <a:ln/>
        </p:spPr>
        <p:txBody>
          <a:bodyPr wrap="square" lIns="0" tIns="0" rIns="0" bIns="0" rtlCol="0" anchor="ctr"/>
          <a:lstStyle/>
          <a:p>
            <a:pPr indent="0" marL="0">
              <a:buNone/>
            </a:pPr>
            <a:r>
              <a:rPr lang="en-US" sz="1250" b="1" dirty="0">
                <a:solidFill>
                  <a:srgbClr val="333333"/>
                </a:solidFill>
                <a:latin typeface="游ゴシック" pitchFamily="34" charset="0"/>
                <a:ea typeface="游ゴシック" pitchFamily="34" charset="-122"/>
                <a:cs typeface="游ゴシック" pitchFamily="34" charset="-120"/>
              </a:rPr>
              <a:t>変身の設計</a:t>
            </a:r>
            <a:endParaRPr lang="en-US" sz="1250" dirty="0"/>
          </a:p>
        </p:txBody>
      </p:sp>
      <p:sp>
        <p:nvSpPr>
          <p:cNvPr id="15" name="Shape 13"/>
          <p:cNvSpPr/>
          <p:nvPr/>
        </p:nvSpPr>
        <p:spPr>
          <a:xfrm>
            <a:off x="5989320" y="2587752"/>
            <a:ext cx="5513832" cy="0"/>
          </a:xfrm>
          <a:prstGeom prst="line">
            <a:avLst/>
          </a:prstGeom>
          <a:noFill/>
          <a:ln w="12700">
            <a:solidFill>
              <a:srgbClr val="333333"/>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89320" y="2697480"/>
          <a:ext cx="5513832" cy="914400"/>
        </p:xfrm>
        <a:graphic>
          <a:graphicData uri="http://schemas.openxmlformats.org/drawingml/2006/table">
            <a:tbl>
              <a:tblPr/>
              <a:tblGrid>
                <a:gridCol w="1124712"/>
                <a:gridCol w="2194560"/>
                <a:gridCol w="2194560"/>
              </a:tblGrid>
              <a:tr h="365760">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第1形態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変身（3分経過）</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75488">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スカイブルー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バーニングレッド</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クールソーダ</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エナジーフレーバー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意味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集中スイッチON</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ヒーロータイムの完走</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7" name="Shape 14"/>
          <p:cNvSpPr/>
          <p:nvPr/>
        </p:nvSpPr>
        <p:spPr>
          <a:xfrm>
            <a:off x="9253728" y="2633472"/>
            <a:ext cx="2304288" cy="1984248"/>
          </a:xfrm>
          <a:prstGeom prst="rect">
            <a:avLst/>
          </a:prstGeom>
          <a:ln w="15875">
            <a:solidFill>
              <a:srgbClr val="C00000"/>
            </a:solidFill>
            <a:prstDash val="dash"/>
          </a:ln>
        </p:spPr>
      </p:sp>
      <p:sp>
        <p:nvSpPr>
          <p:cNvPr id="18" name="Text 15"/>
          <p:cNvSpPr/>
          <p:nvPr/>
        </p:nvSpPr>
        <p:spPr>
          <a:xfrm>
            <a:off x="5989320" y="4846320"/>
            <a:ext cx="5513832" cy="502920"/>
          </a:xfrm>
          <a:prstGeom prst="rect">
            <a:avLst/>
          </a:prstGeom>
          <a:noFill/>
          <a:ln/>
        </p:spPr>
        <p:txBody>
          <a:bodyPr wrap="square" lIns="0" tIns="0" rIns="0" bIns="0" rtlCol="0" anchor="ctr"/>
          <a:lstStyle/>
          <a:p>
            <a:pPr indent="0" marL="0">
              <a:lnSpc>
                <a:spcPts val="1500"/>
              </a:lnSpc>
              <a:buNone/>
            </a:pPr>
            <a:r>
              <a:rPr lang="en-US" sz="1000" b="1" dirty="0">
                <a:solidFill>
                  <a:srgbClr val="C00000"/>
                </a:solidFill>
                <a:latin typeface="游ゴシック" pitchFamily="34" charset="0"/>
                <a:ea typeface="游ゴシック" pitchFamily="34" charset="-122"/>
                <a:cs typeface="游ゴシック" pitchFamily="34" charset="-120"/>
              </a:rPr>
              <a:t>① </a:t>
            </a:r>
            <a:pPr indent="0" marL="0">
              <a:lnSpc>
                <a:spcPts val="1500"/>
              </a:lnSpc>
              <a:buNone/>
            </a:pPr>
            <a:r>
              <a:rPr lang="en-US" sz="1000" dirty="0">
                <a:solidFill>
                  <a:srgbClr val="404040"/>
                </a:solidFill>
                <a:latin typeface="游ゴシック" pitchFamily="34" charset="0"/>
                <a:ea typeface="游ゴシック" pitchFamily="34" charset="-122"/>
                <a:cs typeface="游ゴシック" pitchFamily="34" charset="-120"/>
              </a:rPr>
              <a:t>「3分後の変身」がこの商品の発明。1日3分のヒーロータイムという新しい習慣を作る</a:t>
            </a:r>
            <a:endParaRPr lang="en-US" sz="1000" dirty="0"/>
          </a:p>
        </p:txBody>
      </p:sp>
      <p:sp>
        <p:nvSpPr>
          <p:cNvPr id="19" name="Text 16"/>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商品名・フレーバーはすべて仮称。時限変化の実装方式は御社中央研究所との共同検討事項</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体験設計 ──「1日3分のヒーロータイム」という習慣</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飲料のような日常頻度に近づけるため、機能・共有・健康・儀式の4方向から「毎日噛む理由」を設計する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9</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集中のスイッチ</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勉強前・会議前・試合前の「3分間ルーティン」として設計。噛むことによる集中・リフレッシュ効果の知見（御社の噛むこと研究）をそのまま価値訴求に接続できる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見せたくなる変化</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菓子と舌の色が変わる様子はショート動画と相性抜群。「変身チャレンジ」としてSNSで自走する仕掛けを初期設計に組み込む</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健康・育成の文脈</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ガムの健康価値訴求と完全に整合。子どもの咀嚼力育成、大人のオーラルケア・ストレスケアまで、家族全員に「噛む理由」を提供する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412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変身の儀式性</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パッケージは「開ける＝変身する」演出（変身音・カラータイマー窓など）。3分の儀式を毎日の相棒にする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効能に関する表現は、噛むこと健康研究会の知見と食品表示規制の範囲内で設計する（詳細はP.16）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収集の仕掛け ── ビックリマンの遺伝子 × ウルトラの資産</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御社が発明した「開封のドキドキ」を、60年分のキャラクター資産で正統進化させる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10</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3017520"/>
                <a:gridCol w="7799832"/>
              </a:tblGrid>
              <a:tr h="86868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変身ホロシール 全60種</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60周年にちなんだ全60種。傾けると「変身前 → 変身後」が切り替わるホログラム仕様。シール文化の正統進化形</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数百体のキャラクター資産</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ヒーローに加え、ゼットン、バルタン星人など大人が名前を言える怪獣文化はウルトラマン固有の資産。悪魔VS天使と同じ「善と悪の宇宙」を最初から持っている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レア設計と二世代購買</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シークレット枠に「ゾフィー」「ウルトラの父」。買うのは直撃世代の40〜60代の親、集めるのは子。ビックリマン同様の親子二世代構造を最初から狙える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85800" y="5120640"/>
            <a:ext cx="10817352" cy="777240"/>
          </a:xfrm>
          <a:prstGeom prst="rect">
            <a:avLst/>
          </a:prstGeom>
          <a:solidFill>
            <a:srgbClr val="EAF4F8"/>
          </a:solidFill>
          <a:ln/>
        </p:spPr>
      </p:sp>
      <p:sp>
        <p:nvSpPr>
          <p:cNvPr id="13" name="Text 10"/>
          <p:cNvSpPr/>
          <p:nvPr/>
        </p:nvSpPr>
        <p:spPr>
          <a:xfrm>
            <a:off x="960120" y="5120640"/>
            <a:ext cx="10268712" cy="777240"/>
          </a:xfrm>
          <a:prstGeom prst="rect">
            <a:avLst/>
          </a:prstGeom>
          <a:noFill/>
          <a:ln/>
        </p:spPr>
        <p:txBody>
          <a:bodyPr wrap="square" lIns="0" tIns="0" rIns="0" bIns="0" rtlCol="0" anchor="ctr"/>
          <a:lstStyle/>
          <a:p>
            <a:pPr indent="0" marL="0">
              <a:buNone/>
            </a:pPr>
            <a:r>
              <a:rPr lang="en-US" sz="1150" b="1" dirty="0">
                <a:solidFill>
                  <a:srgbClr val="17828F"/>
                </a:solidFill>
                <a:latin typeface="游ゴシック" pitchFamily="34" charset="0"/>
                <a:ea typeface="游ゴシック" pitchFamily="34" charset="-122"/>
                <a:cs typeface="游ゴシック" pitchFamily="34" charset="-120"/>
              </a:rPr>
              <a:t>健全設計：</a:t>
            </a:r>
            <a:pPr indent="0" marL="0">
              <a:buNone/>
            </a:pPr>
            <a:r>
              <a:rPr lang="en-US" sz="1150" dirty="0">
                <a:solidFill>
                  <a:srgbClr val="404040"/>
                </a:solidFill>
                <a:latin typeface="游ゴシック" pitchFamily="34" charset="0"/>
                <a:ea typeface="游ゴシック" pitchFamily="34" charset="-122"/>
                <a:cs typeface="游ゴシック" pitchFamily="34" charset="-120"/>
              </a:rPr>
              <a:t>レアは射幸性でなく物語性（歴代60種の意味）に置き、封入率の透明化とデジタル図鑑での重複救済を初期から組み込む</a:t>
            </a:r>
            <a:endParaRPr lang="en-US" sz="1150" dirty="0"/>
          </a:p>
        </p:txBody>
      </p:sp>
      <p:sp>
        <p:nvSpPr>
          <p:cNvPr id="14" name="Text 11"/>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シール・パッケージの世界観は円谷プロが全面監修。歴代デザイナー・怪獣造形の一次資産を提供する</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4．本命コンセプト</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デジタル連動 ── 1回の驚きを、毎週の習慣に</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「今週の怪獣」が毎週入れ替わる ── 買う日が決まっている菓子は、売場の定番になる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11</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651760"/>
                <a:gridCol w="8165592"/>
              </a:tblGrid>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ウルトラ図鑑アプリ</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シール封入のシリアルコードで、自分だけの怪獣・ヒーロー図鑑が育つ。集めるほど強くなる、やめられない構造</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週替わりのリズム</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「今週の怪獣」を毎週入れ替え。買う日が決まっている＝売場の定番化。飲料の日常頻度に近づける設計</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放送との同期</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『ウルトラマンテオ』最新話に登場した怪獣が、翌週の商品に登場。テレビ → 売場 → アプリの循環を作る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共同マーケ資産</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購買データ × 視聴・アプリ行動データを両社の共同資産に。次の商品企画・番組企画に還流する</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3054096"/>
            <a:ext cx="10927080" cy="886968"/>
          </a:xfrm>
          <a:prstGeom prst="rect">
            <a:avLst/>
          </a:prstGeom>
          <a:ln w="15875">
            <a:solidFill>
              <a:srgbClr val="C00000"/>
            </a:solidFill>
            <a:prstDash val="dash"/>
          </a:ln>
        </p:spPr>
      </p:sp>
      <p:sp>
        <p:nvSpPr>
          <p:cNvPr id="13" name="Text 10"/>
          <p:cNvSpPr/>
          <p:nvPr/>
        </p:nvSpPr>
        <p:spPr>
          <a:xfrm>
            <a:off x="685800" y="571500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50" dirty="0">
                <a:solidFill>
                  <a:srgbClr val="404040"/>
                </a:solidFill>
                <a:latin typeface="游ゴシック" pitchFamily="34" charset="0"/>
                <a:ea typeface="游ゴシック" pitchFamily="34" charset="-122"/>
                <a:cs typeface="游ゴシック" pitchFamily="34" charset="-120"/>
              </a:rPr>
              <a:t>週次リズムが本提案の生命線 ── ブームで終わらせず「習慣」として売場に定着させる装置</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第2・第3の矢 ── 本命を支えるサブコンセプト</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3つのコンセプトは独立ではなく、「先行弾 → 本命 → 大人市場」の順に接続する一つの物語である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12</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1188720"/>
                <a:gridCol w="4809744"/>
                <a:gridCol w="4818888"/>
              </a:tblGrid>
              <a:tr h="384048">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『ウルトラマンマンチョコ』── 先行の一手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『ULTRA CHARGE』── 大人の機能性ガム・グミ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123444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概要</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ビックリマン × ウルトラマンの公式コラボ。既存の生産・流通ラインに乗るため低リスク・即効で、60周年商戦（2026年度内）に間に合う</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直撃世代の40〜60代はいま可処分所得のピーク。「昼13時、会議前のシュワッチ。」を合言葉に、ビタミン・カフェイン等の機能性素材で〝働く人の変身〟を支える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100584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役割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ミャクミャクマンチョコ等で実証済みのコラボ枠で話題化と購買意向データを取得し、本命への橋頭堡とする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キシリトールで機能性ガム市場を創った御社の勝ち筋を、エンタメ × 機能性で再現する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1819656" y="2706624"/>
            <a:ext cx="4864608" cy="2258568"/>
          </a:xfrm>
          <a:prstGeom prst="rect">
            <a:avLst/>
          </a:prstGeom>
          <a:ln w="15875">
            <a:solidFill>
              <a:srgbClr val="C00000"/>
            </a:solidFill>
            <a:prstDash val="dash"/>
          </a:ln>
        </p:spPr>
      </p:sp>
      <p:sp>
        <p:nvSpPr>
          <p:cNvPr id="13" name="Text 10"/>
          <p:cNvSpPr/>
          <p:nvPr/>
        </p:nvSpPr>
        <p:spPr>
          <a:xfrm>
            <a:off x="685800" y="553212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50" dirty="0">
                <a:solidFill>
                  <a:srgbClr val="404040"/>
                </a:solidFill>
                <a:latin typeface="游ゴシック" pitchFamily="34" charset="0"/>
                <a:ea typeface="游ゴシック" pitchFamily="34" charset="-122"/>
                <a:cs typeface="游ゴシック" pitchFamily="34" charset="-120"/>
              </a:rPr>
              <a:t>意思決定の起点はウルトラマンマンチョコ ── 決断は小さく、学びは速く</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展開ロードマップ ── 60周年から、アジアの定番へ</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一過性のコラボレーションでは終わらせない。話題化を起点に、カテゴリー宣言、アジア展開へと段階的に深化させる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13</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377440"/>
                <a:gridCol w="1737360"/>
                <a:gridCol w="6702552"/>
              </a:tblGrid>
              <a:tr h="365760">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階梯</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時間軸</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概要</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91440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話題化</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17828F"/>
                          </a:solidFill>
                          <a:latin typeface="游ゴシック" pitchFamily="34" charset="0"/>
                          <a:ea typeface="游ゴシック" pitchFamily="34" charset="-122"/>
                          <a:cs typeface="游ゴシック" pitchFamily="34" charset="-120"/>
                        </a:rPr>
                        <a:t>2026年度下期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『ウルトラマンマンチョコ』を60周年商戦に投入。半世紀ぶり再タッグを共同発表し、購買意向・ファン層データを取得する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1440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② </a:t>
                      </a:r>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カテゴリー宣言</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2027年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『ULTRA 3MIN.』全国発売。新TVシリーズ・アプリと連動し、「変身菓子」カテゴリーを市場に宣言。売場の定番棚を獲得する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14400">
                <a:tc>
                  <a:txBody>
                    <a:bodyPr/>
                    <a:lstStyle/>
                    <a:p>
                      <a:pPr algn="ctr" indent="0" marL="0">
                        <a:buNone/>
                      </a:pPr>
                      <a:r>
                        <a:rPr lang="en-US" sz="1050" b="1" dirty="0">
                          <a:solidFill>
                            <a:srgbClr val="C00000"/>
                          </a:solidFill>
                          <a:latin typeface="游ゴシック" pitchFamily="34" charset="0"/>
                          <a:ea typeface="游ゴシック" pitchFamily="34" charset="-122"/>
                          <a:cs typeface="游ゴシック" pitchFamily="34" charset="-120"/>
                        </a:rPr>
                        <a:t>③ </a:t>
                      </a:r>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アジア展開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404040"/>
                          </a:solidFill>
                          <a:latin typeface="游ゴシック" pitchFamily="34" charset="0"/>
                          <a:ea typeface="游ゴシック" pitchFamily="34" charset="-122"/>
                          <a:cs typeface="游ゴシック" pitchFamily="34" charset="-120"/>
                        </a:rPr>
                        <a:t>2028年〜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御社のアジア製造・流通網 × ウルトラマンの中国・東南アジア人気で海外展開。『ULTRA CHARGE』で大人市場にも拡張する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606040"/>
            <a:ext cx="10927080" cy="1005840"/>
          </a:xfrm>
          <a:prstGeom prst="rect">
            <a:avLst/>
          </a:prstGeom>
          <a:ln w="15875">
            <a:solidFill>
              <a:srgbClr val="C00000"/>
            </a:solidFill>
            <a:prstDash val="dash"/>
          </a:ln>
        </p:spPr>
      </p:sp>
      <p:sp>
        <p:nvSpPr>
          <p:cNvPr id="13" name="Text 10"/>
          <p:cNvSpPr/>
          <p:nvPr/>
        </p:nvSpPr>
        <p:spPr>
          <a:xfrm>
            <a:off x="685800" y="562356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050" dirty="0">
                <a:solidFill>
                  <a:srgbClr val="404040"/>
                </a:solidFill>
                <a:latin typeface="游ゴシック" pitchFamily="34" charset="0"/>
                <a:ea typeface="游ゴシック" pitchFamily="34" charset="-122"/>
                <a:cs typeface="游ゴシック" pitchFamily="34" charset="-120"/>
              </a:rPr>
              <a:t>が意思決定の起点 ── 目標は発売初年度で「変身菓子」の売場定番化、5年でビックリマン級のカテゴリー確立</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両社の持ち味と事業スキーム</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ライセンス＋共同マーケティング契約を想定。世界観と映像は円谷プロが、商品と売場はロッテが主導する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14</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1371600"/>
                <a:gridCol w="4718304"/>
                <a:gridCol w="4727448"/>
              </a:tblGrid>
              <a:tr h="365760">
                <a:tc>
                  <a:txBody>
                    <a:bodyPr/>
                    <a:lstStyle/>
                    <a:p>
                      <a:pPr indent="0" marL="0">
                        <a:buNone/>
                      </a:pP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円谷プロダクション</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ロッテ</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105156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資産</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60年のIP・数百体のキャラクター資産、『ウルトラマンテオ』等の映像・イベント、国内外のファンダムとグローバル配信網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チョコ・ガム・グミ・アイスの総合開発力、噛むこと研究・キシリトールの機能性知見、国内小売の棚とアジアの流通網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主導領域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世界観・デザインの全面監修、映像・アプリ・イベント連動、60周年公式商品認定</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商品開発・製造・品質管理、流通・売場獲得、機能性表現のエビデンス設計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85800" y="4892040"/>
            <a:ext cx="10817352" cy="868680"/>
          </a:xfrm>
          <a:prstGeom prst="rect">
            <a:avLst/>
          </a:prstGeom>
          <a:solidFill>
            <a:srgbClr val="F3EDE0"/>
          </a:solidFill>
          <a:ln w="12700">
            <a:solidFill>
              <a:srgbClr val="7A4521"/>
            </a:solidFill>
            <a:prstDash val="solid"/>
          </a:ln>
        </p:spPr>
      </p:sp>
      <p:sp>
        <p:nvSpPr>
          <p:cNvPr id="13" name="Text 10"/>
          <p:cNvSpPr/>
          <p:nvPr/>
        </p:nvSpPr>
        <p:spPr>
          <a:xfrm>
            <a:off x="960120" y="4892040"/>
            <a:ext cx="10268712" cy="868680"/>
          </a:xfrm>
          <a:prstGeom prst="rect">
            <a:avLst/>
          </a:prstGeom>
          <a:noFill/>
          <a:ln/>
        </p:spPr>
        <p:txBody>
          <a:bodyPr wrap="square" lIns="0" tIns="0" rIns="0" bIns="0" rtlCol="0" anchor="ctr"/>
          <a:lstStyle/>
          <a:p>
            <a:pPr indent="0" marL="0">
              <a:buNone/>
            </a:pPr>
            <a:r>
              <a:rPr lang="en-US" sz="1150" b="1" dirty="0">
                <a:solidFill>
                  <a:srgbClr val="7A4521"/>
                </a:solidFill>
                <a:latin typeface="游ゴシック" pitchFamily="34" charset="0"/>
                <a:ea typeface="游ゴシック" pitchFamily="34" charset="-122"/>
                <a:cs typeface="游ゴシック" pitchFamily="34" charset="-120"/>
              </a:rPr>
              <a:t>スキーム案：</a:t>
            </a:r>
            <a:pPr indent="0" marL="0">
              <a:buNone/>
            </a:pPr>
            <a:r>
              <a:rPr lang="en-US" sz="1150" dirty="0">
                <a:solidFill>
                  <a:srgbClr val="404040"/>
                </a:solidFill>
                <a:latin typeface="游ゴシック" pitchFamily="34" charset="0"/>
                <a:ea typeface="游ゴシック" pitchFamily="34" charset="-122"/>
                <a:cs typeface="游ゴシック" pitchFamily="34" charset="-120"/>
              </a:rPr>
              <a:t>ライセンス＋共同マーケティング契約。詳細条件（料率・独占範囲・地域）は次回ワークショップにて協議したい</a:t>
            </a:r>
            <a:endParaRPr lang="en-US" sz="1150" dirty="0"/>
          </a:p>
        </p:txBody>
      </p:sp>
      <p:sp>
        <p:nvSpPr>
          <p:cNvPr id="14" name="Text 11"/>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両社とも同族経営の危機をプロ経営で再生した会社である ── 「新しい体制の旗艦プロジェクト」として社内を動かす物語を共有できる</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380744" cy="310896"/>
          </a:xfrm>
          <a:prstGeom prst="rect">
            <a:avLst/>
          </a:prstGeom>
          <a:solidFill>
            <a:srgbClr val="C4761B"/>
          </a:solidFill>
          <a:ln/>
        </p:spPr>
      </p:sp>
      <p:sp>
        <p:nvSpPr>
          <p:cNvPr id="3" name="Text 1"/>
          <p:cNvSpPr/>
          <p:nvPr/>
        </p:nvSpPr>
        <p:spPr>
          <a:xfrm>
            <a:off x="795528" y="384048"/>
            <a:ext cx="1271016"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5．展開構想</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両社相補マトリクス ── 片方では作れないカテゴリー</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7つの領域すべてで欠けが噛み合う。どちらか一方では「変身菓子」は作れない ── それが他社に真似されない理由である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15</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828800"/>
                <a:gridCol w="4489704"/>
                <a:gridCol w="4498848"/>
              </a:tblGrid>
              <a:tr h="32918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領域</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円谷プロ</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ロッテ</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コンテンツ</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60年・毎年更新のシリーズ構造（ギネス認定）</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ビックリマン等の商品IP運営経験</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体験の素材</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変身・3分・カラータイマーという共通言語</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咀嚼研究・時限フレーバー・色変化の技術</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エビデンス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──（機能の科学は持たない）</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噛むこと研究・キシリトールの実績</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収集の仕掛け</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カードゲーム世界展開・デジタル図鑑基盤</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シール食玩の発明と売場ノウハウ</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売場</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808080"/>
                          </a:solidFill>
                          <a:latin typeface="游ゴシック" pitchFamily="34" charset="0"/>
                          <a:ea typeface="游ゴシック" pitchFamily="34" charset="-122"/>
                          <a:cs typeface="游ゴシック" pitchFamily="34" charset="-120"/>
                        </a:rPr>
                        <a:t>──（毎日の棚を持たない）</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国内全域の菓子棚＋アジア流通網</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海外</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中国・東南アジアの熱量（権利クリア済み）</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アジア製造拠点・海外比率3割目標</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顧客接点</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子ども＋三世代ノスタルジー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日常の購買頻度（コンビニ・スーパー）</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2459736" y="3392424"/>
            <a:ext cx="4544568" cy="484632"/>
          </a:xfrm>
          <a:prstGeom prst="rect">
            <a:avLst/>
          </a:prstGeom>
          <a:ln w="15875">
            <a:solidFill>
              <a:srgbClr val="C00000"/>
            </a:solidFill>
            <a:prstDash val="dash"/>
          </a:ln>
        </p:spPr>
      </p:sp>
      <p:sp>
        <p:nvSpPr>
          <p:cNvPr id="13" name="Shape 10"/>
          <p:cNvSpPr/>
          <p:nvPr/>
        </p:nvSpPr>
        <p:spPr>
          <a:xfrm>
            <a:off x="2459736" y="4233672"/>
            <a:ext cx="4544568" cy="484632"/>
          </a:xfrm>
          <a:prstGeom prst="rect">
            <a:avLst/>
          </a:prstGeom>
          <a:ln w="15875">
            <a:solidFill>
              <a:srgbClr val="C00000"/>
            </a:solidFill>
            <a:prstDash val="dash"/>
          </a:ln>
        </p:spPr>
      </p:sp>
      <p:sp>
        <p:nvSpPr>
          <p:cNvPr id="14" name="Text 11"/>
          <p:cNvSpPr/>
          <p:nvPr/>
        </p:nvSpPr>
        <p:spPr>
          <a:xfrm>
            <a:off x="685800" y="5806440"/>
            <a:ext cx="10817352" cy="274320"/>
          </a:xfrm>
          <a:prstGeom prst="rect">
            <a:avLst/>
          </a:prstGeom>
          <a:noFill/>
          <a:ln/>
        </p:spPr>
        <p:txBody>
          <a:bodyPr wrap="square" lIns="0" tIns="0" rIns="0" bIns="0" rtlCol="0" anchor="ctr"/>
          <a:lstStyle/>
          <a:p>
            <a:pPr indent="0" marL="0">
              <a:buNone/>
            </a:pPr>
            <a:r>
              <a:rPr lang="en-US" sz="1050" b="1" dirty="0">
                <a:solidFill>
                  <a:srgbClr val="C00000"/>
                </a:solidFill>
                <a:latin typeface="游ゴシック" pitchFamily="34" charset="0"/>
                <a:ea typeface="游ゴシック" pitchFamily="34" charset="-122"/>
                <a:cs typeface="游ゴシック" pitchFamily="34" charset="-120"/>
              </a:rPr>
              <a:t>①② </a:t>
            </a:r>
            <a:pPr indent="0" marL="0">
              <a:buNone/>
            </a:pPr>
            <a:r>
              <a:rPr lang="en-US" sz="1050" dirty="0">
                <a:solidFill>
                  <a:srgbClr val="404040"/>
                </a:solidFill>
                <a:latin typeface="游ゴシック" pitchFamily="34" charset="0"/>
                <a:ea typeface="游ゴシック" pitchFamily="34" charset="-122"/>
                <a:cs typeface="游ゴシック" pitchFamily="34" charset="-120"/>
              </a:rPr>
              <a:t>円谷の「持たないもの」こそ、御社にとって未開拓の一等地である</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6．クロージング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想定されるご懸念への先回り</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IPコラボの典型的な失敗は研究済み。4つの懸念に、構造で答える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16</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17520"/>
                <a:gridCol w="7799832"/>
              </a:tblGrid>
              <a:tr h="329184">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想定されるご懸念</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私たちの答え</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86868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「IPコラボは水物では？」</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妖怪メダルは単一タイトル依存でピークの9分の1に。ウルトラマンは毎年新ヒーロー × 歴代60年資産の「終わらないコンテンツ」構造で、プロ野球チップス型の長寿設計が可能</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「ビックリマンの規制の記憶」</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1988年の公取委勧告は研究済み。レアは射幸性でなく物語性に置き、封入率の透明化とデジタル図鑑での重複救済など、令和の健全設計を初期から組み込む</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「海外権利は大丈夫か」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約30年に及んだ海外版権紛争は2019年の米控訴審で完全決着。現在は全世界で権利関係がクリーンで、御社に法務リスクを持ち込まない。むしろアジアは手つかずの伸びしろ</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050" b="1" dirty="0">
                          <a:solidFill>
                            <a:srgbClr val="333333"/>
                          </a:solidFill>
                          <a:latin typeface="游ゴシック" pitchFamily="34" charset="0"/>
                          <a:ea typeface="游ゴシック" pitchFamily="34" charset="-122"/>
                          <a:cs typeface="游ゴシック" pitchFamily="34" charset="-120"/>
                        </a:rPr>
                        <a:t>「機能訴求の表示リスク」</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機能表現は御社の噛むこと研究のエビデンスと表示規制の範囲で設計し、円谷は世界観表現に徹する。科学はロッテ、物語は円谷という役割分担を契約で明確化する</a:t>
                      </a:r>
                      <a:endParaRPr lang="en-US" sz="105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6．クロージング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少年の日の3分間を、もう一度。</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ビックリマンを生んだ御社と、変身を発明したウルトラマンなら、次のカテゴリーキラーを創れる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Times New Roman" pitchFamily="34" charset="0"/>
                <a:ea typeface="Times New Roman" pitchFamily="34" charset="-122"/>
                <a:cs typeface="Times New Roman"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Arial" pitchFamily="34" charset="0"/>
                <a:ea typeface="Arial" pitchFamily="34" charset="-122"/>
                <a:cs typeface="Arial" pitchFamily="34" charset="-120"/>
              </a:rPr>
              <a:t>ULTRA 3MIN.</a:t>
            </a:r>
            <a:pPr algn="r" indent="0" marL="0">
              <a:buNone/>
            </a:pPr>
            <a:r>
              <a:rPr lang="en-US" sz="950" dirty="0">
                <a:solidFill>
                  <a:srgbClr val="595959"/>
                </a:solidFill>
                <a:latin typeface="Arial" pitchFamily="34" charset="0"/>
                <a:ea typeface="Arial" pitchFamily="34" charset="-122"/>
                <a:cs typeface="Arial" pitchFamily="34" charset="-120"/>
              </a:rPr>
              <a:t>    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17352" cy="914400"/>
        </p:xfrm>
        <a:graphic>
          <a:graphicData uri="http://schemas.openxmlformats.org/drawingml/2006/table">
            <a:tbl>
              <a:tblPr/>
              <a:tblGrid>
                <a:gridCol w="2194560"/>
                <a:gridCol w="8622792"/>
              </a:tblGrid>
              <a:tr h="402336">
                <a:tc gridSpan="2">
                  <a:txBody>
                    <a:bodyP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NEXT STEP：本日ご合意いただきたい三つのこと</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hMerge="1">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本日</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方向性のご合意と、NDA・共同ワークショップの設定</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2026年内</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『ウルトラマンマンチョコ』の企画合意（60周年商戦へ）</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2027年春</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『ULTRA 3MIN.』試作・テスト販売 → 全国展開判断</a:t>
                      </a:r>
                      <a:endParaRPr lang="en-US" sz="1100" dirty="0">
                        <a:latin typeface="游ゴシック" charset="0"/>
                        <a:ea typeface="游ゴシック" charset="0"/>
                        <a:cs typeface="游ゴシック" charset="0"/>
                      </a:endParaRPr>
                    </a:p>
                  </a:txBody>
                  <a:tcPr marL="64008" marR="64008" marT="64008" marB="6400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743200"/>
            <a:ext cx="10927080" cy="658368"/>
          </a:xfrm>
          <a:prstGeom prst="rect">
            <a:avLst/>
          </a:prstGeom>
          <a:ln w="15875">
            <a:solidFill>
              <a:srgbClr val="C00000"/>
            </a:solidFill>
            <a:prstDash val="dash"/>
          </a:ln>
        </p:spPr>
      </p:sp>
      <p:sp>
        <p:nvSpPr>
          <p:cNvPr id="13" name="Text 10"/>
          <p:cNvSpPr/>
          <p:nvPr/>
        </p:nvSpPr>
        <p:spPr>
          <a:xfrm>
            <a:off x="685800" y="5120640"/>
            <a:ext cx="10817352" cy="365760"/>
          </a:xfrm>
          <a:prstGeom prst="rect">
            <a:avLst/>
          </a:prstGeom>
          <a:noFill/>
          <a:ln/>
        </p:spPr>
        <p:txBody>
          <a:bodyPr wrap="square" lIns="0" tIns="0" rIns="0" bIns="0" rtlCol="0" anchor="ctr"/>
          <a:lstStyle/>
          <a:p>
            <a:pPr indent="0" marL="0">
              <a:buNone/>
            </a:pPr>
            <a:r>
              <a:rPr lang="en-US" sz="1300" b="1" dirty="0">
                <a:solidFill>
                  <a:srgbClr val="333333"/>
                </a:solidFill>
                <a:latin typeface="游ゴシック" pitchFamily="34" charset="0"/>
                <a:ea typeface="游ゴシック" pitchFamily="34" charset="-122"/>
                <a:cs typeface="游ゴシック" pitchFamily="34" charset="-120"/>
              </a:rPr>
              <a:t>この提案は、御社のガムと同じです ── 噛めば噛むほど、味が出ます。まずは3分間だけ、ご検討ください。</a:t>
            </a:r>
            <a:endParaRPr lang="en-US" sz="1300" dirty="0"/>
          </a:p>
        </p:txBody>
      </p:sp>
      <p:sp>
        <p:nvSpPr>
          <p:cNvPr id="14" name="Text 11"/>
          <p:cNvSpPr/>
          <p:nvPr/>
        </p:nvSpPr>
        <p:spPr>
          <a:xfrm>
            <a:off x="685800" y="5623560"/>
            <a:ext cx="10817352" cy="274320"/>
          </a:xfrm>
          <a:prstGeom prst="rect">
            <a:avLst/>
          </a:prstGeom>
          <a:noFill/>
          <a:ln/>
        </p:spPr>
        <p:txBody>
          <a:bodyPr wrap="square" lIns="0" tIns="0" rIns="0" bIns="0" rtlCol="0" anchor="ct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円谷プロダクション ｜ 2026年8月 ｜ 本資料の内容は両社間の検討用であり、記載の商品名・時期はすべて仮称・仮案です</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游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2026-08-10T00:01:21Z</dcterms:created>
  <dcterms:modified xsi:type="dcterms:W3CDTF">2026-08-10T00:01:21Z</dcterms:modified>
</cp:coreProperties>
</file>