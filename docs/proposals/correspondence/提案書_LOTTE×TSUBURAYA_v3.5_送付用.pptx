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本日はウルトラマンの売り込みではなく、生活者データから見えたロッテの成長テーマを一緒に議論しに来た、と冒頭で宣言する。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「本日は売り込みではない」と最初に言い切る。3ステップの順番（データ→実証→カテゴリー）だけ覚えて帰ってもらえれば十分。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手法説明に時間を使わない。「思い込みでなくデータで見た」ことだけ伝え、詳細質問はAppendixで受ける。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このページが最初の山場。「思っていた以上に、データ上の重なりがあった」という驚きを丁寧に。スコアの読み方を聞かれたらAppendixへ。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「特撮ファン向けのIP」という先入観をデータで外すページ。+179%（ヤングのイベント参加）は口頭でも強調。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結論を先に：「本命はコアラのマーチでした」。BEST FITカードだけ説明し、他2枚は「目的次第で次点」と流す。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ガーナは「純粋な幸福感」の1点だけ話す。バレンタイン軸は明治が強い＝だからこそ別の文脈で戦う、という読み。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雪見は「勝てる文脈（家族）」と「勝てない文脈（夏・味変）」を正直に見せる。データで語る姿勢の証明になる。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資料全体のビジュアルピーク。+9.57の突出ぶりと「食べるウルトラ図鑑」の一言で覚えて帰ってもらう。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企画の細部判断は求めない。「歴代復刻は業界に実績がない＝データが示す空白」とだけ言い、細部はWSへ。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ストーリーを一段上げる転換点。「売って終わりではなく、学びを買いに行く」という言い方が効く。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4例に絞って手短に。最後の問い「次の習慣は何か」で一拍置いてから次ページへ。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ここで初めてULTRA 3MIN.を出す。主軸は「3分で気分が変わる」（キリッとする・落ち着く）。味や色の変化は検証仮説として添える程度に。形態はグミ第一候補（ロッテのグミシフトと整合）。「実現できます」とは絶対に言わ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7項目の詳細比較はやらない。物語×実装、の一言で相補性を伝える。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アライドは主役にしない。「検証の仕組みが最初から入っている」ことが従来コラボとの違い、と伝える。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「今日決めるのは①だけ」でハードルを下げる。②③はデータを見て一緒に判断＝経営リスクが小さいことを強調。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お願いは3つだけ、①が本丸。最後は「まず一つ売る。そこで学ぶ。」で締めて余韻を残す。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02920"/>
            <a:ext cx="5486400" cy="411480"/>
          </a:xfrm>
          <a:prstGeom prst="rect">
            <a:avLst/>
          </a:prstGeom>
          <a:noFill/>
          <a:ln/>
        </p:spPr>
        <p:txBody>
          <a:bodyPr wrap="square" lIns="0" tIns="0" rIns="0" bIns="0" rtlCol="0" anchor="ctr"/>
          <a:lstStyle/>
          <a:p>
            <a:pPr indent="0" marL="0">
              <a:buNone/>
            </a:pPr>
            <a:r>
              <a:rPr lang="en-US" sz="1600" b="1" dirty="0">
                <a:solidFill>
                  <a:srgbClr val="3B3028"/>
                </a:solidFill>
                <a:latin typeface="游ゴシック" pitchFamily="34" charset="0"/>
                <a:ea typeface="游ゴシック" pitchFamily="34" charset="-122"/>
                <a:cs typeface="游ゴシック" pitchFamily="34" charset="-120"/>
              </a:rPr>
              <a:t>TSUBURAYA PRODUCTIONS</a:t>
            </a:r>
            <a:endParaRPr lang="en-US" sz="1600" dirty="0"/>
          </a:p>
        </p:txBody>
      </p:sp>
      <p:sp>
        <p:nvSpPr>
          <p:cNvPr id="3" name="Text 1"/>
          <p:cNvSpPr/>
          <p:nvPr/>
        </p:nvSpPr>
        <p:spPr>
          <a:xfrm>
            <a:off x="8778240" y="502920"/>
            <a:ext cx="2743200" cy="640080"/>
          </a:xfrm>
          <a:prstGeom prst="rect">
            <a:avLst/>
          </a:prstGeom>
          <a:noFill/>
          <a:ln/>
        </p:spPr>
        <p:txBody>
          <a:bodyPr wrap="square" lIns="0" tIns="0" rIns="0" bIns="0" rtlCol="0" anchor="ctr"/>
          <a:lstStyle/>
          <a:p>
            <a:pPr algn="r" indent="0" marL="0">
              <a:buNone/>
            </a:pPr>
            <a:r>
              <a:rPr lang="en-US" sz="1500" b="1" spc="600" kern="0" dirty="0">
                <a:solidFill>
                  <a:srgbClr val="595959"/>
                </a:solidFill>
                <a:latin typeface="游ゴシック" pitchFamily="34" charset="0"/>
                <a:ea typeface="游ゴシック" pitchFamily="34" charset="-122"/>
                <a:cs typeface="游ゴシック" pitchFamily="34" charset="-120"/>
              </a:rPr>
              <a:t>LOTTE</a:t>
            </a:r>
            <a:endParaRPr lang="en-US" sz="1500" dirty="0"/>
          </a:p>
          <a:p>
            <a:pPr algn="r" indent="0" marL="0">
              <a:buNone/>
            </a:pPr>
            <a:r>
              <a:rPr lang="en-US" sz="750" spc="300" kern="0" dirty="0">
                <a:solidFill>
                  <a:srgbClr val="808080"/>
                </a:solidFill>
                <a:latin typeface="游ゴシック" pitchFamily="34" charset="0"/>
                <a:ea typeface="游ゴシック" pitchFamily="34" charset="-122"/>
                <a:cs typeface="游ゴシック" pitchFamily="34" charset="-120"/>
              </a:rPr>
              <a:t>LOTTE HOLDINGS</a:t>
            </a:r>
            <a:endParaRPr lang="en-US" sz="1500" dirty="0"/>
          </a:p>
        </p:txBody>
      </p:sp>
      <p:sp>
        <p:nvSpPr>
          <p:cNvPr id="4" name="Text 2"/>
          <p:cNvSpPr/>
          <p:nvPr/>
        </p:nvSpPr>
        <p:spPr>
          <a:xfrm>
            <a:off x="685800" y="2148840"/>
            <a:ext cx="10058400" cy="365760"/>
          </a:xfrm>
          <a:prstGeom prst="rect">
            <a:avLst/>
          </a:prstGeom>
          <a:noFill/>
          <a:ln/>
        </p:spPr>
        <p:txBody>
          <a:bodyPr wrap="square" lIns="0" tIns="0" rIns="0" bIns="0" rtlCol="0" anchor="ctr"/>
          <a:lstStyle/>
          <a:p>
            <a:pPr indent="0" marL="0">
              <a:buNone/>
            </a:pPr>
            <a:r>
              <a:rPr lang="en-US" sz="1400" b="1" spc="200" kern="0" dirty="0">
                <a:solidFill>
                  <a:srgbClr val="7A4521"/>
                </a:solidFill>
                <a:latin typeface="游ゴシック" pitchFamily="34" charset="0"/>
                <a:ea typeface="游ゴシック" pitchFamily="34" charset="-122"/>
                <a:cs typeface="游ゴシック" pitchFamily="34" charset="-120"/>
              </a:rPr>
              <a:t>LOTTE × TSUBURAYA PRODUCTIONS</a:t>
            </a:r>
            <a:endParaRPr lang="en-US" sz="1400" dirty="0"/>
          </a:p>
        </p:txBody>
      </p:sp>
      <p:sp>
        <p:nvSpPr>
          <p:cNvPr id="5" name="Text 3"/>
          <p:cNvSpPr/>
          <p:nvPr/>
        </p:nvSpPr>
        <p:spPr>
          <a:xfrm>
            <a:off x="685800" y="2606040"/>
            <a:ext cx="10515600" cy="1600200"/>
          </a:xfrm>
          <a:prstGeom prst="rect">
            <a:avLst/>
          </a:prstGeom>
          <a:noFill/>
          <a:ln/>
        </p:spPr>
        <p:txBody>
          <a:bodyPr wrap="square" lIns="0" tIns="0" rIns="0" bIns="0" rtlCol="0" anchor="ctr"/>
          <a:lstStyle/>
          <a:p>
            <a:pPr indent="0" marL="0">
              <a:lnSpc>
                <a:spcPts val="5200"/>
              </a:lnSpc>
              <a:buNone/>
            </a:pPr>
            <a:r>
              <a:rPr lang="en-US" sz="4000" b="1" dirty="0">
                <a:solidFill>
                  <a:srgbClr val="333333"/>
                </a:solidFill>
                <a:latin typeface="游ゴシック" pitchFamily="34" charset="0"/>
                <a:ea typeface="游ゴシック" pitchFamily="34" charset="-122"/>
                <a:cs typeface="游ゴシック" pitchFamily="34" charset="-120"/>
              </a:rPr>
              <a:t>生活者データから、</a:t>
            </a:r>
            <a:endParaRPr lang="en-US" sz="4000" dirty="0"/>
          </a:p>
          <a:p>
            <a:pPr indent="0" marL="0">
              <a:lnSpc>
                <a:spcPts val="5200"/>
              </a:lnSpc>
              <a:buNone/>
            </a:pPr>
            <a:r>
              <a:rPr lang="en-US" sz="4000" b="1" dirty="0">
                <a:solidFill>
                  <a:srgbClr val="333333"/>
                </a:solidFill>
                <a:latin typeface="游ゴシック" pitchFamily="34" charset="0"/>
                <a:ea typeface="游ゴシック" pitchFamily="34" charset="-122"/>
                <a:cs typeface="游ゴシック" pitchFamily="34" charset="-120"/>
              </a:rPr>
              <a:t>次のカテゴリーをつくる。</a:t>
            </a:r>
            <a:endParaRPr lang="en-US" sz="4000" dirty="0"/>
          </a:p>
        </p:txBody>
      </p:sp>
      <p:sp>
        <p:nvSpPr>
          <p:cNvPr id="6" name="Text 4"/>
          <p:cNvSpPr/>
          <p:nvPr/>
        </p:nvSpPr>
        <p:spPr>
          <a:xfrm>
            <a:off x="685800" y="4343400"/>
            <a:ext cx="10515600" cy="411480"/>
          </a:xfrm>
          <a:prstGeom prst="rect">
            <a:avLst/>
          </a:prstGeom>
          <a:noFill/>
          <a:ln/>
        </p:spPr>
        <p:txBody>
          <a:bodyPr wrap="square" lIns="0" tIns="0" rIns="0" bIns="0" rtlCol="0" anchor="ctr"/>
          <a:lstStyle/>
          <a:p>
            <a:pPr indent="0" marL="0">
              <a:buNone/>
            </a:pPr>
            <a:r>
              <a:rPr lang="en-US" sz="1500" dirty="0">
                <a:solidFill>
                  <a:srgbClr val="404040"/>
                </a:solidFill>
                <a:latin typeface="游ゴシック" pitchFamily="34" charset="0"/>
                <a:ea typeface="游ゴシック" pitchFamily="34" charset="-122"/>
                <a:cs typeface="游ゴシック" pitchFamily="34" charset="-120"/>
              </a:rPr>
              <a:t>ウルトラマンIPを活用した既存ブランド成長と新カテゴリー創造のご提案</a:t>
            </a:r>
            <a:endParaRPr lang="en-US" sz="1500" dirty="0"/>
          </a:p>
        </p:txBody>
      </p:sp>
      <p:sp>
        <p:nvSpPr>
          <p:cNvPr id="7" name="Text 5"/>
          <p:cNvSpPr/>
          <p:nvPr/>
        </p:nvSpPr>
        <p:spPr>
          <a:xfrm>
            <a:off x="685800" y="4892040"/>
            <a:ext cx="9144000" cy="365760"/>
          </a:xfrm>
          <a:prstGeom prst="rect">
            <a:avLst/>
          </a:prstGeom>
          <a:noFill/>
          <a:ln/>
        </p:spPr>
        <p:txBody>
          <a:bodyPr wrap="square" lIns="0" tIns="0" rIns="0" bIns="0" rtlCol="0" anchor="ctr"/>
          <a:lstStyle/>
          <a:p>
            <a:pPr indent="0" marL="0">
              <a:buNone/>
            </a:pPr>
            <a:r>
              <a:rPr lang="en-US" sz="1300" dirty="0">
                <a:solidFill>
                  <a:srgbClr val="404040"/>
                </a:solidFill>
                <a:latin typeface="游ゴシック" pitchFamily="34" charset="0"/>
                <a:ea typeface="游ゴシック" pitchFamily="34" charset="-122"/>
                <a:cs typeface="游ゴシック" pitchFamily="34" charset="-120"/>
              </a:rPr>
              <a:t>ロッテホールディングス 玉塚社長 御中  | 2026年8月</a:t>
            </a:r>
            <a:endParaRPr lang="en-US" sz="1300" dirty="0"/>
          </a:p>
        </p:txBody>
      </p:sp>
      <p:sp>
        <p:nvSpPr>
          <p:cNvPr id="8" name="Shape 6"/>
          <p:cNvSpPr/>
          <p:nvPr/>
        </p:nvSpPr>
        <p:spPr>
          <a:xfrm>
            <a:off x="0" y="6263640"/>
            <a:ext cx="12191695" cy="91440"/>
          </a:xfrm>
          <a:prstGeom prst="rect">
            <a:avLst/>
          </a:prstGeom>
          <a:solidFill>
            <a:srgbClr val="7A4521"/>
          </a:solidFill>
          <a:ln/>
        </p:spPr>
      </p:sp>
      <p:sp>
        <p:nvSpPr>
          <p:cNvPr id="9" name="Shape 7"/>
          <p:cNvSpPr/>
          <p:nvPr/>
        </p:nvSpPr>
        <p:spPr>
          <a:xfrm>
            <a:off x="0" y="6355080"/>
            <a:ext cx="12191695" cy="45720"/>
          </a:xfrm>
          <a:prstGeom prst="rect">
            <a:avLst/>
          </a:prstGeom>
          <a:solidFill>
            <a:srgbClr val="D9C7A9"/>
          </a:solidFill>
          <a:ln/>
        </p:spPr>
      </p:sp>
      <p:sp>
        <p:nvSpPr>
          <p:cNvPr id="10" name="Text 8"/>
          <p:cNvSpPr/>
          <p:nvPr/>
        </p:nvSpPr>
        <p:spPr>
          <a:xfrm>
            <a:off x="685800" y="6510528"/>
            <a:ext cx="2743200" cy="274320"/>
          </a:xfrm>
          <a:prstGeom prst="rect">
            <a:avLst/>
          </a:prstGeom>
          <a:noFill/>
          <a:ln/>
        </p:spPr>
        <p:txBody>
          <a:bodyPr wrap="square" lIns="0" tIns="0" rIns="0" bIns="0" rtlCol="0" anchor="ctr"/>
          <a:lstStyle/>
          <a:p>
            <a:pPr indent="0" marL="0">
              <a:buNone/>
            </a:pPr>
            <a:r>
              <a:rPr lang="en-US" sz="900" spc="400" kern="0" dirty="0">
                <a:solidFill>
                  <a:srgbClr val="595959"/>
                </a:solidFill>
                <a:latin typeface="游ゴシック" pitchFamily="34" charset="0"/>
                <a:ea typeface="游ゴシック" pitchFamily="34" charset="-122"/>
                <a:cs typeface="游ゴシック" pitchFamily="34" charset="-120"/>
              </a:rPr>
              <a:t>貴 社 限 り</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1．オープニング</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貴社限り</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今回お願いしたいのは、「ウルトラマンを使うこと」ではありません</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ロッテがこれまで何度も行ってきたように、生活者の新しい欲求を捉え、新しい食べ方・買い方・習慣を生み出すこと。</a:t>
            </a:r>
            <a:endParaRPr lang="en-US" sz="1250" dirty="0"/>
          </a:p>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そのパートナーとしてウルトラマンIPを活用できないか、というご提案です</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2</a:t>
            </a:r>
            <a:endParaRPr lang="en-US" sz="9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85800" y="2377440"/>
          <a:ext cx="10817352" cy="914400"/>
        </p:xfrm>
        <a:graphic>
          <a:graphicData uri="http://schemas.openxmlformats.org/drawingml/2006/table">
            <a:tbl>
              <a:tblPr/>
              <a:tblGrid>
                <a:gridCol w="2926080"/>
                <a:gridCol w="7891272"/>
              </a:tblGrid>
              <a:tr h="868680">
                <a:tc>
                  <a:txBody>
                    <a:bodyPr/>
                    <a:lstStyle/>
                    <a:p>
                      <a:pPr indent="0" marL="0">
                        <a:buNone/>
                      </a:pPr>
                      <a:r>
                        <a:rPr lang="en-US" sz="1100" b="1" dirty="0">
                          <a:solidFill>
                            <a:srgbClr val="C00000"/>
                          </a:solidFill>
                          <a:latin typeface="游ゴシック" pitchFamily="34" charset="0"/>
                          <a:ea typeface="游ゴシック" pitchFamily="34" charset="-122"/>
                          <a:cs typeface="游ゴシック" pitchFamily="34" charset="-120"/>
                        </a:rPr>
                        <a:t>① </a:t>
                      </a:r>
                      <a:pPr indent="0" marL="0">
                        <a:buNone/>
                      </a:pPr>
                      <a:r>
                        <a:rPr lang="en-US" sz="1100" b="1" dirty="0">
                          <a:solidFill>
                            <a:srgbClr val="333333"/>
                          </a:solidFill>
                          <a:latin typeface="游ゴシック" pitchFamily="34" charset="0"/>
                          <a:ea typeface="游ゴシック" pitchFamily="34" charset="-122"/>
                          <a:cs typeface="游ゴシック" pitchFamily="34" charset="-120"/>
                        </a:rPr>
                        <a:t>データから始める</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キャラクターの人気や記念年を売り込むのではなく、生活者のVOC（SNS上の声）を分析した結果からお話しする。ロッテ3ブランドとウルトラマンには、データ上の意外な相性が見つかった</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68680">
                <a:tc>
                  <a:txBody>
                    <a:bodyPr/>
                    <a:lstStyle/>
                    <a:p>
                      <a:pPr indent="0" marL="0">
                        <a:buNone/>
                      </a:pPr>
                      <a:r>
                        <a:rPr lang="en-US" sz="1100" b="1" dirty="0">
                          <a:solidFill>
                            <a:srgbClr val="C00000"/>
                          </a:solidFill>
                          <a:latin typeface="游ゴシック" pitchFamily="34" charset="0"/>
                          <a:ea typeface="游ゴシック" pitchFamily="34" charset="-122"/>
                          <a:cs typeface="游ゴシック" pitchFamily="34" charset="-120"/>
                        </a:rPr>
                        <a:t>② </a:t>
                      </a:r>
                      <a:pPr indent="0" marL="0">
                        <a:buNone/>
                      </a:pPr>
                      <a:r>
                        <a:rPr lang="en-US" sz="1100" b="1" dirty="0">
                          <a:solidFill>
                            <a:srgbClr val="333333"/>
                          </a:solidFill>
                          <a:latin typeface="游ゴシック" pitchFamily="34" charset="0"/>
                          <a:ea typeface="游ゴシック" pitchFamily="34" charset="-122"/>
                          <a:cs typeface="游ゴシック" pitchFamily="34" charset="-120"/>
                        </a:rPr>
                        <a:t>まず既存ブランドで実証</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新商品をいきなり作るのではなく、既存ブランドの新規顧客・新規界隈の開拓で小さく実証し、購買・VOCデータで学習する</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68680">
                <a:tc>
                  <a:txBody>
                    <a:bodyPr/>
                    <a:lstStyle/>
                    <a:p>
                      <a:pPr indent="0" marL="0">
                        <a:buNone/>
                      </a:pPr>
                      <a:r>
                        <a:rPr lang="en-US" sz="1100" b="1" dirty="0">
                          <a:solidFill>
                            <a:srgbClr val="C00000"/>
                          </a:solidFill>
                          <a:latin typeface="游ゴシック" pitchFamily="34" charset="0"/>
                          <a:ea typeface="游ゴシック" pitchFamily="34" charset="-122"/>
                          <a:cs typeface="游ゴシック" pitchFamily="34" charset="-120"/>
                        </a:rPr>
                        <a:t>③ </a:t>
                      </a:r>
                      <a:pPr indent="0" marL="0">
                        <a:buNone/>
                      </a:pPr>
                      <a:r>
                        <a:rPr lang="en-US" sz="1100" b="1" dirty="0">
                          <a:solidFill>
                            <a:srgbClr val="333333"/>
                          </a:solidFill>
                          <a:latin typeface="游ゴシック" pitchFamily="34" charset="0"/>
                          <a:ea typeface="游ゴシック" pitchFamily="34" charset="-122"/>
                          <a:cs typeface="游ゴシック" pitchFamily="34" charset="-120"/>
                        </a:rPr>
                        <a:t>その先に、カテゴリー創造</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実証で得た学びを起点に、ロッテ×円谷プロで次の新カテゴリーの共同開発まで検討する。本日はその入口の議論をお願いしたい</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Text 9"/>
          <p:cNvSpPr/>
          <p:nvPr/>
        </p:nvSpPr>
        <p:spPr>
          <a:xfrm>
            <a:off x="685800" y="5532120"/>
            <a:ext cx="10817352" cy="365760"/>
          </a:xfrm>
          <a:prstGeom prst="rect">
            <a:avLst/>
          </a:prstGeom>
          <a:noFill/>
          <a:ln/>
        </p:spPr>
        <p:txBody>
          <a:bodyPr wrap="square" lIns="0" tIns="0" rIns="0" bIns="0" rtlCol="0" anchor="ctr"/>
          <a:lstStyle/>
          <a:p>
            <a:pPr indent="0" marL="0">
              <a:buNone/>
            </a:pPr>
            <a:r>
              <a:rPr lang="en-US" sz="1300" b="1" dirty="0">
                <a:solidFill>
                  <a:srgbClr val="7A4521"/>
                </a:solidFill>
                <a:latin typeface="游ゴシック" pitchFamily="34" charset="0"/>
                <a:ea typeface="游ゴシック" pitchFamily="34" charset="-122"/>
                <a:cs typeface="游ゴシック" pitchFamily="34" charset="-120"/>
              </a:rPr>
              <a:t>データ → 発見 → 実証 → 学習 → カテゴリー創造。この順番でお話しします。</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1．オープニング</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貴社限り</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「ロッテ × ウルトラマン」は、本当に相性が良いのか</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思い込みを排するため、アライドアーキテクツ社とともに、ロッテ3ブランドとウルトラマンIPの生活者VOCを</a:t>
            </a:r>
            <a:endParaRPr lang="en-US" sz="1250" dirty="0"/>
          </a:p>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CEPs（カテゴリーエントリーポイント）の枠組みで分析した</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3</a:t>
            </a:r>
            <a:endParaRPr lang="en-US" sz="950" dirty="0"/>
          </a:p>
        </p:txBody>
      </p:sp>
      <p:sp>
        <p:nvSpPr>
          <p:cNvPr id="11" name="Text 9"/>
          <p:cNvSpPr/>
          <p:nvPr/>
        </p:nvSpPr>
        <p:spPr>
          <a:xfrm>
            <a:off x="685800" y="2286000"/>
            <a:ext cx="4937760"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分析の枠組み</a:t>
            </a:r>
            <a:endParaRPr lang="en-US" sz="1200" dirty="0"/>
          </a:p>
        </p:txBody>
      </p:sp>
      <p:sp>
        <p:nvSpPr>
          <p:cNvPr id="12" name="Shape 10"/>
          <p:cNvSpPr/>
          <p:nvPr/>
        </p:nvSpPr>
        <p:spPr>
          <a:xfrm>
            <a:off x="685800" y="2615184"/>
            <a:ext cx="4937760" cy="0"/>
          </a:xfrm>
          <a:prstGeom prst="line">
            <a:avLst/>
          </a:prstGeom>
          <a:noFill/>
          <a:ln w="12700">
            <a:solidFill>
              <a:srgbClr val="333333"/>
            </a:solidFill>
            <a:prstDash val="solid"/>
          </a:ln>
        </p:spPr>
      </p:sp>
      <p:sp>
        <p:nvSpPr>
          <p:cNvPr id="13" name="Shape 11"/>
          <p:cNvSpPr/>
          <p:nvPr/>
        </p:nvSpPr>
        <p:spPr>
          <a:xfrm>
            <a:off x="685800" y="2743200"/>
            <a:ext cx="4937760" cy="960120"/>
          </a:xfrm>
          <a:prstGeom prst="roundRect">
            <a:avLst>
              <a:gd name="adj" fmla="val 7619"/>
            </a:avLst>
          </a:prstGeom>
          <a:solidFill>
            <a:srgbClr val="EAF4F8"/>
          </a:solidFill>
          <a:ln/>
        </p:spPr>
      </p:sp>
      <p:sp>
        <p:nvSpPr>
          <p:cNvPr id="14" name="Text 12"/>
          <p:cNvSpPr/>
          <p:nvPr/>
        </p:nvSpPr>
        <p:spPr>
          <a:xfrm>
            <a:off x="914400" y="2743200"/>
            <a:ext cx="4480560" cy="960120"/>
          </a:xfrm>
          <a:prstGeom prst="rect">
            <a:avLst/>
          </a:prstGeom>
          <a:noFill/>
          <a:ln/>
        </p:spPr>
        <p:txBody>
          <a:bodyPr wrap="square" lIns="0" tIns="0" rIns="0" bIns="0" rtlCol="0" anchor="ctr"/>
          <a:lstStyle/>
          <a:p>
            <a:pPr indent="0" marL="0">
              <a:lnSpc>
                <a:spcPts val="1600"/>
              </a:lnSpc>
              <a:buNone/>
            </a:pPr>
            <a:r>
              <a:rPr lang="en-US" sz="1100" b="1" dirty="0">
                <a:solidFill>
                  <a:srgbClr val="17828F"/>
                </a:solidFill>
                <a:latin typeface="游ゴシック" pitchFamily="34" charset="0"/>
                <a:ea typeface="游ゴシック" pitchFamily="34" charset="-122"/>
                <a:cs typeface="游ゴシック" pitchFamily="34" charset="-120"/>
              </a:rPr>
              <a:t>CEPs とは：</a:t>
            </a:r>
            <a:pPr indent="0" marL="0">
              <a:lnSpc>
                <a:spcPts val="1600"/>
              </a:lnSpc>
              <a:buNone/>
            </a:pPr>
            <a:r>
              <a:rPr lang="en-US" sz="1100" dirty="0">
                <a:solidFill>
                  <a:srgbClr val="404040"/>
                </a:solidFill>
                <a:latin typeface="游ゴシック" pitchFamily="34" charset="0"/>
                <a:ea typeface="游ゴシック" pitchFamily="34" charset="-122"/>
                <a:cs typeface="游ゴシック" pitchFamily="34" charset="-120"/>
              </a:rPr>
              <a:t>生活者がそのカテゴリーを想起・購入する「きっかけ」のこと。SNS上のVOCから文脈を抽出し、スコアリングできる</a:t>
            </a:r>
            <a:endParaRPr lang="en-US" sz="1100" dirty="0"/>
          </a:p>
        </p:txBody>
      </p:sp>
      <p:sp>
        <p:nvSpPr>
          <p:cNvPr id="15" name="Shape 13"/>
          <p:cNvSpPr/>
          <p:nvPr/>
        </p:nvSpPr>
        <p:spPr>
          <a:xfrm>
            <a:off x="685800" y="3977640"/>
            <a:ext cx="1115568" cy="457200"/>
          </a:xfrm>
          <a:prstGeom prst="roundRect">
            <a:avLst>
              <a:gd name="adj" fmla="val 12000"/>
            </a:avLst>
          </a:prstGeom>
          <a:solidFill>
            <a:srgbClr val="F7F5F1"/>
          </a:solidFill>
          <a:ln w="9525">
            <a:solidFill>
              <a:srgbClr val="BFBFBF"/>
            </a:solidFill>
            <a:prstDash val="solid"/>
          </a:ln>
        </p:spPr>
      </p:sp>
      <p:sp>
        <p:nvSpPr>
          <p:cNvPr id="16" name="Text 14"/>
          <p:cNvSpPr/>
          <p:nvPr/>
        </p:nvSpPr>
        <p:spPr>
          <a:xfrm>
            <a:off x="685800" y="3977640"/>
            <a:ext cx="1115568" cy="457200"/>
          </a:xfrm>
          <a:prstGeom prst="rect">
            <a:avLst/>
          </a:prstGeom>
          <a:noFill/>
          <a:ln/>
        </p:spPr>
        <p:txBody>
          <a:bodyPr wrap="square" lIns="0" tIns="0" rIns="0" bIns="0" rtlCol="0" anchor="ctr"/>
          <a:lstStyle/>
          <a:p>
            <a:pPr algn="ctr" indent="0" marL="0">
              <a:buNone/>
            </a:pPr>
            <a:r>
              <a:rPr lang="en-US" sz="850" b="1" dirty="0">
                <a:solidFill>
                  <a:srgbClr val="333333"/>
                </a:solidFill>
                <a:latin typeface="游ゴシック" pitchFamily="34" charset="0"/>
                <a:ea typeface="游ゴシック" pitchFamily="34" charset="-122"/>
                <a:cs typeface="游ゴシック" pitchFamily="34" charset="-120"/>
              </a:rPr>
              <a:t>VOC収集</a:t>
            </a:r>
            <a:endParaRPr lang="en-US" sz="850" dirty="0"/>
          </a:p>
        </p:txBody>
      </p:sp>
      <p:sp>
        <p:nvSpPr>
          <p:cNvPr id="17" name="Text 15"/>
          <p:cNvSpPr/>
          <p:nvPr/>
        </p:nvSpPr>
        <p:spPr>
          <a:xfrm>
            <a:off x="1801368" y="3977640"/>
            <a:ext cx="164592" cy="457200"/>
          </a:xfrm>
          <a:prstGeom prst="rect">
            <a:avLst/>
          </a:prstGeom>
          <a:noFill/>
          <a:ln/>
        </p:spPr>
        <p:txBody>
          <a:bodyPr wrap="square" lIns="0" tIns="0" rIns="0" bIns="0" rtlCol="0" anchor="ctr"/>
          <a:lstStyle/>
          <a:p>
            <a:pPr algn="ctr" indent="0" marL="0">
              <a:buNone/>
            </a:pPr>
            <a:r>
              <a:rPr lang="en-US" sz="1100" dirty="0">
                <a:solidFill>
                  <a:srgbClr val="808080"/>
                </a:solidFill>
                <a:latin typeface="游ゴシック" pitchFamily="34" charset="0"/>
                <a:ea typeface="游ゴシック" pitchFamily="34" charset="-122"/>
                <a:cs typeface="游ゴシック" pitchFamily="34" charset="-120"/>
              </a:rPr>
              <a:t>→</a:t>
            </a:r>
            <a:endParaRPr lang="en-US" sz="1100" dirty="0"/>
          </a:p>
        </p:txBody>
      </p:sp>
      <p:sp>
        <p:nvSpPr>
          <p:cNvPr id="18" name="Shape 16"/>
          <p:cNvSpPr/>
          <p:nvPr/>
        </p:nvSpPr>
        <p:spPr>
          <a:xfrm>
            <a:off x="1965960" y="3977640"/>
            <a:ext cx="1115568" cy="457200"/>
          </a:xfrm>
          <a:prstGeom prst="roundRect">
            <a:avLst>
              <a:gd name="adj" fmla="val 12000"/>
            </a:avLst>
          </a:prstGeom>
          <a:solidFill>
            <a:srgbClr val="F7F5F1"/>
          </a:solidFill>
          <a:ln w="9525">
            <a:solidFill>
              <a:srgbClr val="BFBFBF"/>
            </a:solidFill>
            <a:prstDash val="solid"/>
          </a:ln>
        </p:spPr>
      </p:sp>
      <p:sp>
        <p:nvSpPr>
          <p:cNvPr id="19" name="Text 17"/>
          <p:cNvSpPr/>
          <p:nvPr/>
        </p:nvSpPr>
        <p:spPr>
          <a:xfrm>
            <a:off x="1965960" y="3977640"/>
            <a:ext cx="1115568" cy="457200"/>
          </a:xfrm>
          <a:prstGeom prst="rect">
            <a:avLst/>
          </a:prstGeom>
          <a:noFill/>
          <a:ln/>
        </p:spPr>
        <p:txBody>
          <a:bodyPr wrap="square" lIns="0" tIns="0" rIns="0" bIns="0" rtlCol="0" anchor="ctr"/>
          <a:lstStyle/>
          <a:p>
            <a:pPr algn="ctr" indent="0" marL="0">
              <a:buNone/>
            </a:pPr>
            <a:r>
              <a:rPr lang="en-US" sz="850" b="1" dirty="0">
                <a:solidFill>
                  <a:srgbClr val="333333"/>
                </a:solidFill>
                <a:latin typeface="游ゴシック" pitchFamily="34" charset="0"/>
                <a:ea typeface="游ゴシック" pitchFamily="34" charset="-122"/>
                <a:cs typeface="游ゴシック" pitchFamily="34" charset="-120"/>
              </a:rPr>
              <a:t>クリーニング</a:t>
            </a:r>
            <a:endParaRPr lang="en-US" sz="850" dirty="0"/>
          </a:p>
        </p:txBody>
      </p:sp>
      <p:sp>
        <p:nvSpPr>
          <p:cNvPr id="20" name="Text 18"/>
          <p:cNvSpPr/>
          <p:nvPr/>
        </p:nvSpPr>
        <p:spPr>
          <a:xfrm>
            <a:off x="3081528" y="3977640"/>
            <a:ext cx="164592" cy="457200"/>
          </a:xfrm>
          <a:prstGeom prst="rect">
            <a:avLst/>
          </a:prstGeom>
          <a:noFill/>
          <a:ln/>
        </p:spPr>
        <p:txBody>
          <a:bodyPr wrap="square" lIns="0" tIns="0" rIns="0" bIns="0" rtlCol="0" anchor="ctr"/>
          <a:lstStyle/>
          <a:p>
            <a:pPr algn="ctr" indent="0" marL="0">
              <a:buNone/>
            </a:pPr>
            <a:r>
              <a:rPr lang="en-US" sz="1100" dirty="0">
                <a:solidFill>
                  <a:srgbClr val="808080"/>
                </a:solidFill>
                <a:latin typeface="游ゴシック" pitchFamily="34" charset="0"/>
                <a:ea typeface="游ゴシック" pitchFamily="34" charset="-122"/>
                <a:cs typeface="游ゴシック" pitchFamily="34" charset="-120"/>
              </a:rPr>
              <a:t>→</a:t>
            </a:r>
            <a:endParaRPr lang="en-US" sz="1100" dirty="0"/>
          </a:p>
        </p:txBody>
      </p:sp>
      <p:sp>
        <p:nvSpPr>
          <p:cNvPr id="21" name="Shape 19"/>
          <p:cNvSpPr/>
          <p:nvPr/>
        </p:nvSpPr>
        <p:spPr>
          <a:xfrm>
            <a:off x="3246120" y="3977640"/>
            <a:ext cx="1115568" cy="457200"/>
          </a:xfrm>
          <a:prstGeom prst="roundRect">
            <a:avLst>
              <a:gd name="adj" fmla="val 12000"/>
            </a:avLst>
          </a:prstGeom>
          <a:solidFill>
            <a:srgbClr val="F7F5F1"/>
          </a:solidFill>
          <a:ln w="9525">
            <a:solidFill>
              <a:srgbClr val="BFBFBF"/>
            </a:solidFill>
            <a:prstDash val="solid"/>
          </a:ln>
        </p:spPr>
      </p:sp>
      <p:sp>
        <p:nvSpPr>
          <p:cNvPr id="22" name="Text 20"/>
          <p:cNvSpPr/>
          <p:nvPr/>
        </p:nvSpPr>
        <p:spPr>
          <a:xfrm>
            <a:off x="3246120" y="3977640"/>
            <a:ext cx="1115568" cy="457200"/>
          </a:xfrm>
          <a:prstGeom prst="rect">
            <a:avLst/>
          </a:prstGeom>
          <a:noFill/>
          <a:ln/>
        </p:spPr>
        <p:txBody>
          <a:bodyPr wrap="square" lIns="0" tIns="0" rIns="0" bIns="0" rtlCol="0" anchor="ctr"/>
          <a:lstStyle/>
          <a:p>
            <a:pPr algn="ctr" indent="0" marL="0">
              <a:buNone/>
            </a:pPr>
            <a:r>
              <a:rPr lang="en-US" sz="850" b="1" dirty="0">
                <a:solidFill>
                  <a:srgbClr val="333333"/>
                </a:solidFill>
                <a:latin typeface="游ゴシック" pitchFamily="34" charset="0"/>
                <a:ea typeface="游ゴシック" pitchFamily="34" charset="-122"/>
                <a:cs typeface="游ゴシック" pitchFamily="34" charset="-120"/>
              </a:rPr>
              <a:t>CEPs特定・集計</a:t>
            </a:r>
            <a:endParaRPr lang="en-US" sz="850" dirty="0"/>
          </a:p>
        </p:txBody>
      </p:sp>
      <p:sp>
        <p:nvSpPr>
          <p:cNvPr id="23" name="Text 21"/>
          <p:cNvSpPr/>
          <p:nvPr/>
        </p:nvSpPr>
        <p:spPr>
          <a:xfrm>
            <a:off x="4361688" y="3977640"/>
            <a:ext cx="164592" cy="457200"/>
          </a:xfrm>
          <a:prstGeom prst="rect">
            <a:avLst/>
          </a:prstGeom>
          <a:noFill/>
          <a:ln/>
        </p:spPr>
        <p:txBody>
          <a:bodyPr wrap="square" lIns="0" tIns="0" rIns="0" bIns="0" rtlCol="0" anchor="ctr"/>
          <a:lstStyle/>
          <a:p>
            <a:pPr algn="ctr" indent="0" marL="0">
              <a:buNone/>
            </a:pPr>
            <a:r>
              <a:rPr lang="en-US" sz="1100" dirty="0">
                <a:solidFill>
                  <a:srgbClr val="808080"/>
                </a:solidFill>
                <a:latin typeface="游ゴシック" pitchFamily="34" charset="0"/>
                <a:ea typeface="游ゴシック" pitchFamily="34" charset="-122"/>
                <a:cs typeface="游ゴシック" pitchFamily="34" charset="-120"/>
              </a:rPr>
              <a:t>→</a:t>
            </a:r>
            <a:endParaRPr lang="en-US" sz="1100" dirty="0"/>
          </a:p>
        </p:txBody>
      </p:sp>
      <p:sp>
        <p:nvSpPr>
          <p:cNvPr id="24" name="Shape 22"/>
          <p:cNvSpPr/>
          <p:nvPr/>
        </p:nvSpPr>
        <p:spPr>
          <a:xfrm>
            <a:off x="4526280" y="3977640"/>
            <a:ext cx="1115568" cy="457200"/>
          </a:xfrm>
          <a:prstGeom prst="roundRect">
            <a:avLst>
              <a:gd name="adj" fmla="val 12000"/>
            </a:avLst>
          </a:prstGeom>
          <a:solidFill>
            <a:srgbClr val="F7F5F1"/>
          </a:solidFill>
          <a:ln w="9525">
            <a:solidFill>
              <a:srgbClr val="BFBFBF"/>
            </a:solidFill>
            <a:prstDash val="solid"/>
          </a:ln>
        </p:spPr>
      </p:sp>
      <p:sp>
        <p:nvSpPr>
          <p:cNvPr id="25" name="Text 23"/>
          <p:cNvSpPr/>
          <p:nvPr/>
        </p:nvSpPr>
        <p:spPr>
          <a:xfrm>
            <a:off x="4526280" y="3977640"/>
            <a:ext cx="1115568" cy="457200"/>
          </a:xfrm>
          <a:prstGeom prst="rect">
            <a:avLst/>
          </a:prstGeom>
          <a:noFill/>
          <a:ln/>
        </p:spPr>
        <p:txBody>
          <a:bodyPr wrap="square" lIns="0" tIns="0" rIns="0" bIns="0" rtlCol="0" anchor="ctr"/>
          <a:lstStyle/>
          <a:p>
            <a:pPr algn="ctr" indent="0" marL="0">
              <a:buNone/>
            </a:pPr>
            <a:r>
              <a:rPr lang="en-US" sz="850" b="1" dirty="0">
                <a:solidFill>
                  <a:srgbClr val="333333"/>
                </a:solidFill>
                <a:latin typeface="游ゴシック" pitchFamily="34" charset="0"/>
                <a:ea typeface="游ゴシック" pitchFamily="34" charset="-122"/>
                <a:cs typeface="游ゴシック" pitchFamily="34" charset="-120"/>
              </a:rPr>
              <a:t>CEPs診断</a:t>
            </a:r>
            <a:endParaRPr lang="en-US" sz="850" dirty="0"/>
          </a:p>
        </p:txBody>
      </p:sp>
      <p:sp>
        <p:nvSpPr>
          <p:cNvPr id="26" name="Text 24"/>
          <p:cNvSpPr/>
          <p:nvPr/>
        </p:nvSpPr>
        <p:spPr>
          <a:xfrm>
            <a:off x="685800" y="4572000"/>
            <a:ext cx="4937760" cy="320040"/>
          </a:xfrm>
          <a:prstGeom prst="rect">
            <a:avLst/>
          </a:prstGeom>
          <a:noFill/>
          <a:ln/>
        </p:spPr>
        <p:txBody>
          <a:bodyPr wrap="square" lIns="0" tIns="0" rIns="0" bIns="0" rtlCol="0" anchor="ctr"/>
          <a:lstStyle/>
          <a:p>
            <a:pPr indent="0" marL="0">
              <a:buNone/>
            </a:pPr>
            <a:r>
              <a:rPr lang="en-US" sz="950" dirty="0">
                <a:solidFill>
                  <a:srgbClr val="808080"/>
                </a:solidFill>
                <a:latin typeface="游ゴシック" pitchFamily="34" charset="0"/>
                <a:ea typeface="游ゴシック" pitchFamily="34" charset="-122"/>
                <a:cs typeface="游ゴシック" pitchFamily="34" charset="-120"/>
              </a:rPr>
              <a:t>アライド社データソリューション「Kaname.ax」によるAI文脈抽出 × アナリストの妥当性チェック（詳細はAppendix）</a:t>
            </a:r>
            <a:endParaRPr lang="en-US" sz="950" dirty="0"/>
          </a:p>
        </p:txBody>
      </p:sp>
      <p:sp>
        <p:nvSpPr>
          <p:cNvPr id="27" name="Text 25"/>
          <p:cNvSpPr/>
          <p:nvPr/>
        </p:nvSpPr>
        <p:spPr>
          <a:xfrm>
            <a:off x="6172200" y="2286000"/>
            <a:ext cx="5330952"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分析対象</a:t>
            </a:r>
            <a:endParaRPr lang="en-US" sz="1200" dirty="0"/>
          </a:p>
        </p:txBody>
      </p:sp>
      <p:sp>
        <p:nvSpPr>
          <p:cNvPr id="28" name="Shape 26"/>
          <p:cNvSpPr/>
          <p:nvPr/>
        </p:nvSpPr>
        <p:spPr>
          <a:xfrm>
            <a:off x="6172200" y="2615184"/>
            <a:ext cx="5330952" cy="0"/>
          </a:xfrm>
          <a:prstGeom prst="line">
            <a:avLst/>
          </a:prstGeom>
          <a:noFill/>
          <a:ln w="12700">
            <a:solidFill>
              <a:srgbClr val="333333"/>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172200" y="2743200"/>
          <a:ext cx="5330952" cy="914400"/>
        </p:xfrm>
        <a:graphic>
          <a:graphicData uri="http://schemas.openxmlformats.org/drawingml/2006/table">
            <a:tbl>
              <a:tblPr/>
              <a:tblGrid>
                <a:gridCol w="1554480"/>
                <a:gridCol w="3776472"/>
              </a:tblGrid>
              <a:tr h="329184">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カテゴリー</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分析ブランド（競合含む）</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56692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チョコレート</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ガーナ／明治ミルクチョコレート／meiji THE Chocolate／DARS</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56692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ビスケット菓子</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コアラのマーチ／ポッキー／たけのこの里／アルフォート</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56692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アイス</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雪見だいふく／ハーゲンダッツ／ピノ／パルム</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56692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ヒーローIP</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ウルトラマン／仮面ライダー／スーパー戦隊／ゴジラ／ドラゴンボール</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30" name="Text 27"/>
          <p:cNvSpPr/>
          <p:nvPr/>
        </p:nvSpPr>
        <p:spPr>
          <a:xfrm>
            <a:off x="6172200" y="5486400"/>
            <a:ext cx="5330952" cy="457200"/>
          </a:xfrm>
          <a:prstGeom prst="rect">
            <a:avLst/>
          </a:prstGeom>
          <a:noFill/>
          <a:ln/>
        </p:spPr>
        <p:txBody>
          <a:bodyPr wrap="square" lIns="0" tIns="0" rIns="0" bIns="0" rtlCol="0" anchor="ctr"/>
          <a:lstStyle/>
          <a:p>
            <a:pPr indent="0" marL="0">
              <a:lnSpc>
                <a:spcPts val="1400"/>
              </a:lnSpc>
              <a:buNone/>
            </a:pPr>
            <a:r>
              <a:rPr lang="en-US" sz="950" dirty="0">
                <a:solidFill>
                  <a:srgbClr val="808080"/>
                </a:solidFill>
                <a:latin typeface="游ゴシック" pitchFamily="34" charset="0"/>
                <a:ea typeface="游ゴシック" pitchFamily="34" charset="-122"/>
                <a:cs typeface="游ゴシック" pitchFamily="34" charset="-120"/>
              </a:rPr>
              <a:t>収集期間：2025/8/1–2026/7/31（12ヶ月）。ノイズ除外後、各ブランド最大1,000件を分析</a:t>
            </a:r>
            <a:endParaRPr lang="en-US" sz="950" dirty="0"/>
          </a:p>
        </p:txBody>
      </p:sp>
      <p:sp>
        <p:nvSpPr>
          <p:cNvPr id="31" name="Text 28"/>
          <p:cNvSpPr/>
          <p:nvPr/>
        </p:nvSpPr>
        <p:spPr>
          <a:xfrm>
            <a:off x="685800" y="598932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出所：アライドアーキテクツ社 VOC分析。収集条件・件数・クリーニング工程の詳細はAppendix</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2258568" cy="310896"/>
          </a:xfrm>
          <a:prstGeom prst="rect">
            <a:avLst/>
          </a:prstGeom>
          <a:solidFill>
            <a:srgbClr val="C4761B"/>
          </a:solidFill>
          <a:ln/>
        </p:spPr>
      </p:sp>
      <p:sp>
        <p:nvSpPr>
          <p:cNvPr id="3" name="Text 1"/>
          <p:cNvSpPr/>
          <p:nvPr/>
        </p:nvSpPr>
        <p:spPr>
          <a:xfrm>
            <a:off x="795528" y="384048"/>
            <a:ext cx="2148840"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2．データが見つけた相性</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貴社限り</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ロッテの強い購買文脈と、ウルトラマンの強い文脈が重なっていた</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競合より強く想起される「購買シーン」を比較すると、ロッテ3ブランドとウルトラマンには複数の重なりが見つかった ── 人気の量ではなく、想起の偏りの重なりである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4</a:t>
            </a:r>
            <a:endParaRPr lang="en-US" sz="950" dirty="0"/>
          </a:p>
        </p:txBody>
      </p:sp>
      <p:sp>
        <p:nvSpPr>
          <p:cNvPr id="11" name="Text 9"/>
          <p:cNvSpPr/>
          <p:nvPr/>
        </p:nvSpPr>
        <p:spPr>
          <a:xfrm>
            <a:off x="685800" y="2121408"/>
            <a:ext cx="7315200"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 発話量を同一条件に補正し、各CEPへの言及構成比が期待値をどれだけ上回るかを比較（読み方はAppendix P.21）</a:t>
            </a:r>
            <a:endParaRPr lang="en-US" sz="900" dirty="0"/>
          </a:p>
        </p:txBody>
      </p:sp>
      <p:sp>
        <p:nvSpPr>
          <p:cNvPr id="12" name="Shape 10"/>
          <p:cNvSpPr/>
          <p:nvPr/>
        </p:nvSpPr>
        <p:spPr>
          <a:xfrm>
            <a:off x="8275320" y="2084832"/>
            <a:ext cx="1371600" cy="777240"/>
          </a:xfrm>
          <a:prstGeom prst="ellipse">
            <a:avLst/>
          </a:prstGeom>
          <a:ln w="12700">
            <a:solidFill>
              <a:srgbClr val="C00000"/>
            </a:solidFill>
            <a:prstDash val="solid"/>
          </a:ln>
        </p:spPr>
      </p:sp>
      <p:sp>
        <p:nvSpPr>
          <p:cNvPr id="13" name="Shape 11"/>
          <p:cNvSpPr/>
          <p:nvPr/>
        </p:nvSpPr>
        <p:spPr>
          <a:xfrm>
            <a:off x="9098280" y="2084832"/>
            <a:ext cx="1371600" cy="777240"/>
          </a:xfrm>
          <a:prstGeom prst="ellipse">
            <a:avLst/>
          </a:prstGeom>
          <a:ln w="12700">
            <a:solidFill>
              <a:srgbClr val="595959"/>
            </a:solidFill>
            <a:prstDash val="solid"/>
          </a:ln>
        </p:spPr>
      </p:sp>
      <p:sp>
        <p:nvSpPr>
          <p:cNvPr id="14" name="Shape 12"/>
          <p:cNvSpPr/>
          <p:nvPr/>
        </p:nvSpPr>
        <p:spPr>
          <a:xfrm>
            <a:off x="9098280" y="2212848"/>
            <a:ext cx="548640" cy="521208"/>
          </a:xfrm>
          <a:prstGeom prst="ellipse">
            <a:avLst/>
          </a:prstGeom>
          <a:ln w="15875">
            <a:solidFill>
              <a:srgbClr val="C4761B"/>
            </a:solidFill>
            <a:prstDash val="dash"/>
          </a:ln>
        </p:spPr>
      </p:sp>
      <p:sp>
        <p:nvSpPr>
          <p:cNvPr id="15" name="Text 13"/>
          <p:cNvSpPr/>
          <p:nvPr/>
        </p:nvSpPr>
        <p:spPr>
          <a:xfrm>
            <a:off x="8229600" y="2926080"/>
            <a:ext cx="3291840"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適合ゾーン ＝ 双方が独占するCEPs</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85800" y="3383280"/>
          <a:ext cx="10817352" cy="914400"/>
        </p:xfrm>
        <a:graphic>
          <a:graphicData uri="http://schemas.openxmlformats.org/drawingml/2006/table">
            <a:tbl>
              <a:tblPr/>
              <a:tblGrid>
                <a:gridCol w="1737360"/>
                <a:gridCol w="5120640"/>
                <a:gridCol w="3959352"/>
              </a:tblGrid>
              <a:tr h="365760">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ブランド</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ブランドが独占するCEPs（競合とのスコア差）</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対応するウルトラマンの資産</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65836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ガーナ</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333333"/>
                          </a:solidFill>
                          <a:latin typeface="游ゴシック" pitchFamily="34" charset="0"/>
                          <a:ea typeface="游ゴシック" pitchFamily="34" charset="-122"/>
                          <a:cs typeface="游ゴシック" pitchFamily="34" charset="-120"/>
                        </a:rPr>
                        <a:t>「純粋な幸福感を得たいとき」 </a:t>
                      </a:r>
                      <a:pPr indent="0" marL="0">
                        <a:buNone/>
                      </a:pPr>
                      <a:r>
                        <a:rPr lang="en-US" sz="1050" b="1" dirty="0">
                          <a:solidFill>
                            <a:srgbClr val="C00000"/>
                          </a:solidFill>
                          <a:latin typeface="游ゴシック" pitchFamily="34" charset="0"/>
                          <a:ea typeface="游ゴシック" pitchFamily="34" charset="-122"/>
                          <a:cs typeface="游ゴシック" pitchFamily="34" charset="-120"/>
                        </a:rPr>
                        <a:t>+2.61</a:t>
                      </a:r>
                      <a:pPr indent="0" marL="0">
                        <a:buNone/>
                      </a:pPr>
                      <a:r>
                        <a:rPr lang="en-US" sz="900" dirty="0">
                          <a:solidFill>
                            <a:srgbClr val="808080"/>
                          </a:solidFill>
                          <a:latin typeface="游ゴシック" pitchFamily="34" charset="0"/>
                          <a:ea typeface="游ゴシック" pitchFamily="34" charset="-122"/>
                          <a:cs typeface="游ゴシック" pitchFamily="34" charset="-120"/>
                        </a:rPr>
                        <a:t>（4社中1位）</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応援・希望の物語。「テンションを上げたい」文脈 +1.49</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65836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コアラのマーチ</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333333"/>
                          </a:solidFill>
                          <a:latin typeface="游ゴシック" pitchFamily="34" charset="0"/>
                          <a:ea typeface="游ゴシック" pitchFamily="34" charset="-122"/>
                          <a:cs typeface="游ゴシック" pitchFamily="34" charset="-120"/>
                        </a:rPr>
                        <a:t>「絵柄を楽しみながら食べたいとき」 </a:t>
                      </a:r>
                      <a:pPr indent="0" marL="0">
                        <a:buNone/>
                      </a:pPr>
                      <a:r>
                        <a:rPr lang="en-US" sz="1050" b="1" dirty="0">
                          <a:solidFill>
                            <a:srgbClr val="C00000"/>
                          </a:solidFill>
                          <a:latin typeface="游ゴシック" pitchFamily="34" charset="0"/>
                          <a:ea typeface="游ゴシック" pitchFamily="34" charset="-122"/>
                          <a:cs typeface="游ゴシック" pitchFamily="34" charset="-120"/>
                        </a:rPr>
                        <a:t>+9.57</a:t>
                      </a:r>
                      <a:pPr indent="0" marL="0">
                        <a:buNone/>
                      </a:pPr>
                      <a:r>
                        <a:rPr lang="en-US" sz="900" dirty="0">
                          <a:solidFill>
                            <a:srgbClr val="808080"/>
                          </a:solidFill>
                          <a:latin typeface="游ゴシック" pitchFamily="34" charset="0"/>
                          <a:ea typeface="游ゴシック" pitchFamily="34" charset="-122"/>
                          <a:cs typeface="游ゴシック" pitchFamily="34" charset="-120"/>
                        </a:rPr>
                        <a:t>（3ブランド中最強・突出）</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0F0"/>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60年 × 約2,500種のヒーロー・怪獣のキャラクター絵柄資産</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0F0"/>
                    </a:solidFill>
                  </a:tcPr>
                </a:tc>
              </a:tr>
              <a:tr h="65836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雪見だいふく</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333333"/>
                          </a:solidFill>
                          <a:latin typeface="游ゴシック" pitchFamily="34" charset="0"/>
                          <a:ea typeface="游ゴシック" pitchFamily="34" charset="-122"/>
                          <a:cs typeface="游ゴシック" pitchFamily="34" charset="-120"/>
                        </a:rPr>
                        <a:t>「友達や家族に分け合いながら食べたいとき」 </a:t>
                      </a:r>
                      <a:pPr indent="0" marL="0">
                        <a:buNone/>
                      </a:pPr>
                      <a:r>
                        <a:rPr lang="en-US" sz="1050" b="1" dirty="0">
                          <a:solidFill>
                            <a:srgbClr val="C00000"/>
                          </a:solidFill>
                          <a:latin typeface="游ゴシック" pitchFamily="34" charset="0"/>
                          <a:ea typeface="游ゴシック" pitchFamily="34" charset="-122"/>
                          <a:cs typeface="游ゴシック" pitchFamily="34" charset="-120"/>
                        </a:rPr>
                        <a:t>+4.55</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昭和・平成・令和の三世代IP。「世代を超えた絆」 +0.66</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7" name="Shape 14"/>
          <p:cNvSpPr/>
          <p:nvPr/>
        </p:nvSpPr>
        <p:spPr>
          <a:xfrm>
            <a:off x="630936" y="4370832"/>
            <a:ext cx="10927080" cy="777240"/>
          </a:xfrm>
          <a:prstGeom prst="rect">
            <a:avLst/>
          </a:prstGeom>
          <a:ln w="15875">
            <a:solidFill>
              <a:srgbClr val="C00000"/>
            </a:solidFill>
            <a:prstDash val="dash"/>
          </a:ln>
        </p:spPr>
      </p:sp>
      <p:sp>
        <p:nvSpPr>
          <p:cNvPr id="18" name="Text 15"/>
          <p:cNvSpPr/>
          <p:nvPr/>
        </p:nvSpPr>
        <p:spPr>
          <a:xfrm>
            <a:off x="685800" y="5797296"/>
            <a:ext cx="10817352" cy="292608"/>
          </a:xfrm>
          <a:prstGeom prst="rect">
            <a:avLst/>
          </a:prstGeom>
          <a:noFill/>
          <a:ln/>
        </p:spPr>
        <p:txBody>
          <a:bodyPr wrap="square" lIns="0" tIns="0" rIns="0" bIns="0" rtlCol="0" anchor="ctr"/>
          <a:lstStyle/>
          <a:p>
            <a:pPr indent="0" marL="0">
              <a:buNone/>
            </a:pPr>
            <a:r>
              <a:rPr lang="en-US" sz="1150" dirty="0">
                <a:solidFill>
                  <a:srgbClr val="404040"/>
                </a:solidFill>
                <a:latin typeface="游ゴシック" pitchFamily="34" charset="0"/>
                <a:ea typeface="游ゴシック" pitchFamily="34" charset="-122"/>
                <a:cs typeface="游ゴシック" pitchFamily="34" charset="-120"/>
              </a:rPr>
              <a:t>さらに、</a:t>
            </a:r>
            <a:pPr indent="0" marL="0">
              <a:buNone/>
            </a:pPr>
            <a:r>
              <a:rPr lang="en-US" sz="1150" b="1" dirty="0">
                <a:solidFill>
                  <a:srgbClr val="C00000"/>
                </a:solidFill>
                <a:latin typeface="游ゴシック" pitchFamily="34" charset="0"/>
                <a:ea typeface="游ゴシック" pitchFamily="34" charset="-122"/>
                <a:cs typeface="游ゴシック" pitchFamily="34" charset="-120"/>
              </a:rPr>
              <a:t>「周年・節目を祝いたいとき」はウルトラマン +7.46 で、3ブランド共通の追い風</a:t>
            </a:r>
            <a:pPr indent="0" marL="0">
              <a:buNone/>
            </a:pPr>
            <a:r>
              <a:rPr lang="en-US" sz="1150" dirty="0">
                <a:solidFill>
                  <a:srgbClr val="404040"/>
                </a:solidFill>
                <a:latin typeface="游ゴシック" pitchFamily="34" charset="0"/>
                <a:ea typeface="游ゴシック" pitchFamily="34" charset="-122"/>
                <a:cs typeface="游ゴシック" pitchFamily="34" charset="-120"/>
              </a:rPr>
              <a:t>（2026年＝シリーズ60周年）</a:t>
            </a:r>
            <a:endParaRPr lang="en-US" sz="1150" dirty="0"/>
          </a:p>
        </p:txBody>
      </p:sp>
      <p:sp>
        <p:nvSpPr>
          <p:cNvPr id="19" name="Text 16"/>
          <p:cNvSpPr/>
          <p:nvPr/>
        </p:nvSpPr>
        <p:spPr>
          <a:xfrm>
            <a:off x="685800" y="6108192"/>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スコア＝メンタルアドバンテージスコア（0基準・±5が目安、正＝その場面で想起されやすい。読み方はAppendix参照）。出所：アライドアーキテクツ社 VOC分析（X上の生活者投稿、2025/8–2026/7）※分析の一部を抜粋</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2258568" cy="310896"/>
          </a:xfrm>
          <a:prstGeom prst="rect">
            <a:avLst/>
          </a:prstGeom>
          <a:solidFill>
            <a:srgbClr val="C4761B"/>
          </a:solidFill>
          <a:ln/>
        </p:spPr>
      </p:sp>
      <p:sp>
        <p:nvSpPr>
          <p:cNvPr id="3" name="Text 1"/>
          <p:cNvSpPr/>
          <p:nvPr/>
        </p:nvSpPr>
        <p:spPr>
          <a:xfrm>
            <a:off x="795528" y="384048"/>
            <a:ext cx="2148840"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2．データが見つけた相性</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貴社限り</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ウルトラマンは、従来の“特撮ファン”だけのIPではない</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各界隈のSNS発話に既にウルトラマンが自然に登場しており、発話の伸長とIP資産（60周年・キャラ約2,500種・三世代性）が噛み合っている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5</a:t>
            </a:r>
            <a:endParaRPr lang="en-US" sz="950" dirty="0"/>
          </a:p>
        </p:txBody>
      </p:sp>
      <p:sp>
        <p:nvSpPr>
          <p:cNvPr id="11" name="Shape 9"/>
          <p:cNvSpPr/>
          <p:nvPr/>
        </p:nvSpPr>
        <p:spPr>
          <a:xfrm>
            <a:off x="685800" y="2240280"/>
            <a:ext cx="3520440" cy="3520440"/>
          </a:xfrm>
          <a:prstGeom prst="roundRect">
            <a:avLst>
              <a:gd name="adj" fmla="val 2597"/>
            </a:avLst>
          </a:prstGeom>
          <a:solidFill>
            <a:srgbClr val="FFFFFF"/>
          </a:solidFill>
          <a:ln w="15875">
            <a:solidFill>
              <a:srgbClr val="C4761B"/>
            </a:solidFill>
            <a:prstDash val="solid"/>
          </a:ln>
        </p:spPr>
      </p:sp>
      <p:sp>
        <p:nvSpPr>
          <p:cNvPr id="12" name="Text 10"/>
          <p:cNvSpPr/>
          <p:nvPr/>
        </p:nvSpPr>
        <p:spPr>
          <a:xfrm>
            <a:off x="914400" y="2395728"/>
            <a:ext cx="1828800" cy="256032"/>
          </a:xfrm>
          <a:prstGeom prst="rect">
            <a:avLst/>
          </a:prstGeom>
          <a:noFill/>
          <a:ln/>
        </p:spPr>
        <p:txBody>
          <a:bodyPr wrap="square" lIns="0" tIns="0" rIns="0" bIns="0" rtlCol="0" anchor="ctr"/>
          <a:lstStyle/>
          <a:p>
            <a:pPr indent="0" marL="0">
              <a:buNone/>
            </a:pPr>
            <a:r>
              <a:rPr lang="en-US" sz="950" b="1" spc="200" kern="0" dirty="0">
                <a:solidFill>
                  <a:srgbClr val="C4761B"/>
                </a:solidFill>
                <a:latin typeface="游ゴシック" pitchFamily="34" charset="0"/>
                <a:ea typeface="游ゴシック" pitchFamily="34" charset="-122"/>
                <a:cs typeface="游ゴシック" pitchFamily="34" charset="-120"/>
              </a:rPr>
              <a:t>界隈 01</a:t>
            </a:r>
            <a:endParaRPr lang="en-US" sz="950" dirty="0"/>
          </a:p>
        </p:txBody>
      </p:sp>
      <p:sp>
        <p:nvSpPr>
          <p:cNvPr id="13" name="Text 11"/>
          <p:cNvSpPr/>
          <p:nvPr/>
        </p:nvSpPr>
        <p:spPr>
          <a:xfrm>
            <a:off x="914400" y="2670048"/>
            <a:ext cx="3063240" cy="347472"/>
          </a:xfrm>
          <a:prstGeom prst="rect">
            <a:avLst/>
          </a:prstGeom>
          <a:noFill/>
          <a:ln/>
        </p:spPr>
        <p:txBody>
          <a:bodyPr wrap="square" lIns="0" tIns="0" rIns="0" bIns="0" rtlCol="0" anchor="ctr"/>
          <a:lstStyle/>
          <a:p>
            <a:pPr indent="0" marL="0">
              <a:buNone/>
            </a:pPr>
            <a:r>
              <a:rPr lang="en-US" sz="1500" b="1" dirty="0">
                <a:solidFill>
                  <a:srgbClr val="333333"/>
                </a:solidFill>
                <a:latin typeface="游ゴシック" pitchFamily="34" charset="0"/>
                <a:ea typeface="游ゴシック" pitchFamily="34" charset="-122"/>
                <a:cs typeface="游ゴシック" pitchFamily="34" charset="-120"/>
              </a:rPr>
              <a:t>推し活女子・ママ</a:t>
            </a:r>
            <a:endParaRPr lang="en-US" sz="1500" dirty="0"/>
          </a:p>
        </p:txBody>
      </p:sp>
      <p:sp>
        <p:nvSpPr>
          <p:cNvPr id="14" name="Text 12"/>
          <p:cNvSpPr/>
          <p:nvPr/>
        </p:nvSpPr>
        <p:spPr>
          <a:xfrm>
            <a:off x="914400" y="3090672"/>
            <a:ext cx="3063240" cy="237744"/>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既に語られている（言及件数／2,000件中）</a:t>
            </a:r>
            <a:endParaRPr lang="en-US" sz="850" dirty="0"/>
          </a:p>
        </p:txBody>
      </p:sp>
      <p:sp>
        <p:nvSpPr>
          <p:cNvPr id="15" name="Text 13"/>
          <p:cNvSpPr/>
          <p:nvPr/>
        </p:nvSpPr>
        <p:spPr>
          <a:xfrm>
            <a:off x="914400" y="3328416"/>
            <a:ext cx="3063240" cy="914400"/>
          </a:xfrm>
          <a:prstGeom prst="rect">
            <a:avLst/>
          </a:prstGeom>
          <a:noFill/>
          <a:ln/>
        </p:spPr>
        <p:txBody>
          <a:bodyPr wrap="square" lIns="0" tIns="0" rIns="0" bIns="0" rtlCol="0" anchor="ctr"/>
          <a:lstStyle/>
          <a:p>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推しのウルトラマン作品を見たい　</a:t>
            </a:r>
            <a:pPr indent="0" marL="0">
              <a:lnSpc>
                <a:spcPts val="1350"/>
              </a:lnSpc>
              <a:buNone/>
            </a:pPr>
            <a:r>
              <a:rPr lang="en-US" sz="900" b="1" dirty="0">
                <a:solidFill>
                  <a:srgbClr val="17828F"/>
                </a:solidFill>
                <a:latin typeface="游ゴシック" pitchFamily="34" charset="0"/>
                <a:ea typeface="游ゴシック" pitchFamily="34" charset="-122"/>
                <a:cs typeface="游ゴシック" pitchFamily="34" charset="-120"/>
              </a:rPr>
              <a:t>447件
</a:t>
            </a:r>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子どもと一緒に楽しみたい　</a:t>
            </a:r>
            <a:pPr indent="0" marL="0">
              <a:lnSpc>
                <a:spcPts val="1350"/>
              </a:lnSpc>
              <a:buNone/>
            </a:pPr>
            <a:r>
              <a:rPr lang="en-US" sz="900" b="1" dirty="0">
                <a:solidFill>
                  <a:srgbClr val="17828F"/>
                </a:solidFill>
                <a:latin typeface="游ゴシック" pitchFamily="34" charset="0"/>
                <a:ea typeface="游ゴシック" pitchFamily="34" charset="-122"/>
                <a:cs typeface="游ゴシック" pitchFamily="34" charset="-120"/>
              </a:rPr>
              <a:t>335件
</a:t>
            </a:r>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推しのグッズを集めたい　</a:t>
            </a:r>
            <a:pPr indent="0" marL="0">
              <a:lnSpc>
                <a:spcPts val="1350"/>
              </a:lnSpc>
              <a:buNone/>
            </a:pPr>
            <a:r>
              <a:rPr lang="en-US" sz="900" b="1" dirty="0">
                <a:solidFill>
                  <a:srgbClr val="17828F"/>
                </a:solidFill>
                <a:latin typeface="游ゴシック" pitchFamily="34" charset="0"/>
                <a:ea typeface="游ゴシック" pitchFamily="34" charset="-122"/>
                <a:cs typeface="游ゴシック" pitchFamily="34" charset="-120"/>
              </a:rPr>
              <a:t>312件</a:t>
            </a:r>
            <a:endParaRPr lang="en-US" sz="900" dirty="0"/>
          </a:p>
        </p:txBody>
      </p:sp>
      <p:sp>
        <p:nvSpPr>
          <p:cNvPr id="16" name="Text 14"/>
          <p:cNvSpPr/>
          <p:nvPr/>
        </p:nvSpPr>
        <p:spPr>
          <a:xfrm>
            <a:off x="914400" y="4315968"/>
            <a:ext cx="3063240" cy="237744"/>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伸長中の需要（YoY）</a:t>
            </a:r>
            <a:endParaRPr lang="en-US" sz="850" dirty="0"/>
          </a:p>
        </p:txBody>
      </p:sp>
      <p:sp>
        <p:nvSpPr>
          <p:cNvPr id="17" name="Text 15"/>
          <p:cNvSpPr/>
          <p:nvPr/>
        </p:nvSpPr>
        <p:spPr>
          <a:xfrm>
            <a:off x="914400" y="4553712"/>
            <a:ext cx="3063240" cy="658368"/>
          </a:xfrm>
          <a:prstGeom prst="rect">
            <a:avLst/>
          </a:prstGeom>
          <a:noFill/>
          <a:ln/>
        </p:spPr>
        <p:txBody>
          <a:bodyPr wrap="square" lIns="0" tIns="0" rIns="0" bIns="0" rtlCol="0" anchor="ctr"/>
          <a:lstStyle/>
          <a:p>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周年イベントを楽しみたい　</a:t>
            </a:r>
            <a:pPr indent="0" marL="0">
              <a:lnSpc>
                <a:spcPts val="1350"/>
              </a:lnSpc>
              <a:buNone/>
            </a:pPr>
            <a:r>
              <a:rPr lang="en-US" sz="900" b="1" dirty="0">
                <a:solidFill>
                  <a:srgbClr val="C00000"/>
                </a:solidFill>
                <a:latin typeface="游ゴシック" pitchFamily="34" charset="0"/>
                <a:ea typeface="游ゴシック" pitchFamily="34" charset="-122"/>
                <a:cs typeface="游ゴシック" pitchFamily="34" charset="-120"/>
              </a:rPr>
              <a:t>+84%
</a:t>
            </a:r>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推し旅をしたい　</a:t>
            </a:r>
            <a:pPr indent="0" marL="0">
              <a:lnSpc>
                <a:spcPts val="1350"/>
              </a:lnSpc>
              <a:buNone/>
            </a:pPr>
            <a:r>
              <a:rPr lang="en-US" sz="900" b="1" dirty="0">
                <a:solidFill>
                  <a:srgbClr val="C00000"/>
                </a:solidFill>
                <a:latin typeface="游ゴシック" pitchFamily="34" charset="0"/>
                <a:ea typeface="游ゴシック" pitchFamily="34" charset="-122"/>
                <a:cs typeface="游ゴシック" pitchFamily="34" charset="-120"/>
              </a:rPr>
              <a:t>+80%</a:t>
            </a:r>
            <a:endParaRPr lang="en-US" sz="900" dirty="0"/>
          </a:p>
        </p:txBody>
      </p:sp>
      <p:sp>
        <p:nvSpPr>
          <p:cNvPr id="18" name="Text 16"/>
          <p:cNvSpPr/>
          <p:nvPr/>
        </p:nvSpPr>
        <p:spPr>
          <a:xfrm>
            <a:off x="914400" y="5321808"/>
            <a:ext cx="3063240" cy="274320"/>
          </a:xfrm>
          <a:prstGeom prst="rect">
            <a:avLst/>
          </a:prstGeom>
          <a:noFill/>
          <a:ln/>
        </p:spPr>
        <p:txBody>
          <a:bodyPr wrap="square" lIns="0" tIns="0" rIns="0" bIns="0" rtlCol="0" anchor="ctr"/>
          <a:lstStyle/>
          <a:p>
            <a:pPr indent="0" marL="0">
              <a:buNone/>
            </a:pPr>
            <a:r>
              <a:rPr lang="en-US" sz="950" b="1" dirty="0">
                <a:solidFill>
                  <a:srgbClr val="C00000"/>
                </a:solidFill>
                <a:latin typeface="游ゴシック" pitchFamily="34" charset="0"/>
                <a:ea typeface="游ゴシック" pitchFamily="34" charset="-122"/>
                <a:cs typeface="游ゴシック" pitchFamily="34" charset="-120"/>
              </a:rPr>
              <a:t>CONNECT → ガーナ／コアラのマーチ</a:t>
            </a:r>
            <a:endParaRPr lang="en-US" sz="950" dirty="0"/>
          </a:p>
        </p:txBody>
      </p:sp>
      <p:sp>
        <p:nvSpPr>
          <p:cNvPr id="19" name="Shape 17"/>
          <p:cNvSpPr/>
          <p:nvPr/>
        </p:nvSpPr>
        <p:spPr>
          <a:xfrm>
            <a:off x="4334256" y="2240280"/>
            <a:ext cx="3520440" cy="3520440"/>
          </a:xfrm>
          <a:prstGeom prst="roundRect">
            <a:avLst>
              <a:gd name="adj" fmla="val 2597"/>
            </a:avLst>
          </a:prstGeom>
          <a:solidFill>
            <a:srgbClr val="FFFFFF"/>
          </a:solidFill>
          <a:ln w="15875">
            <a:solidFill>
              <a:srgbClr val="C4761B"/>
            </a:solidFill>
            <a:prstDash val="solid"/>
          </a:ln>
        </p:spPr>
      </p:sp>
      <p:sp>
        <p:nvSpPr>
          <p:cNvPr id="20" name="Text 18"/>
          <p:cNvSpPr/>
          <p:nvPr/>
        </p:nvSpPr>
        <p:spPr>
          <a:xfrm>
            <a:off x="4562856" y="2395728"/>
            <a:ext cx="1828800" cy="256032"/>
          </a:xfrm>
          <a:prstGeom prst="rect">
            <a:avLst/>
          </a:prstGeom>
          <a:noFill/>
          <a:ln/>
        </p:spPr>
        <p:txBody>
          <a:bodyPr wrap="square" lIns="0" tIns="0" rIns="0" bIns="0" rtlCol="0" anchor="ctr"/>
          <a:lstStyle/>
          <a:p>
            <a:pPr indent="0" marL="0">
              <a:buNone/>
            </a:pPr>
            <a:r>
              <a:rPr lang="en-US" sz="950" b="1" spc="200" kern="0" dirty="0">
                <a:solidFill>
                  <a:srgbClr val="C4761B"/>
                </a:solidFill>
                <a:latin typeface="游ゴシック" pitchFamily="34" charset="0"/>
                <a:ea typeface="游ゴシック" pitchFamily="34" charset="-122"/>
                <a:cs typeface="游ゴシック" pitchFamily="34" charset="-120"/>
              </a:rPr>
              <a:t>界隈 02</a:t>
            </a:r>
            <a:endParaRPr lang="en-US" sz="950" dirty="0"/>
          </a:p>
        </p:txBody>
      </p:sp>
      <p:sp>
        <p:nvSpPr>
          <p:cNvPr id="21" name="Text 19"/>
          <p:cNvSpPr/>
          <p:nvPr/>
        </p:nvSpPr>
        <p:spPr>
          <a:xfrm>
            <a:off x="4562856" y="2670048"/>
            <a:ext cx="3063240" cy="347472"/>
          </a:xfrm>
          <a:prstGeom prst="rect">
            <a:avLst/>
          </a:prstGeom>
          <a:noFill/>
          <a:ln/>
        </p:spPr>
        <p:txBody>
          <a:bodyPr wrap="square" lIns="0" tIns="0" rIns="0" bIns="0" rtlCol="0" anchor="ctr"/>
          <a:lstStyle/>
          <a:p>
            <a:pPr indent="0" marL="0">
              <a:buNone/>
            </a:pPr>
            <a:r>
              <a:rPr lang="en-US" sz="1500" b="1" dirty="0">
                <a:solidFill>
                  <a:srgbClr val="333333"/>
                </a:solidFill>
                <a:latin typeface="游ゴシック" pitchFamily="34" charset="0"/>
                <a:ea typeface="游ゴシック" pitchFamily="34" charset="-122"/>
                <a:cs typeface="游ゴシック" pitchFamily="34" charset="-120"/>
              </a:rPr>
              <a:t>ヤング懐かし配信</a:t>
            </a:r>
            <a:endParaRPr lang="en-US" sz="1500" dirty="0"/>
          </a:p>
        </p:txBody>
      </p:sp>
      <p:sp>
        <p:nvSpPr>
          <p:cNvPr id="22" name="Text 20"/>
          <p:cNvSpPr/>
          <p:nvPr/>
        </p:nvSpPr>
        <p:spPr>
          <a:xfrm>
            <a:off x="4562856" y="3090672"/>
            <a:ext cx="3063240" cy="237744"/>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既に語られている（言及件数／2,000件中）</a:t>
            </a:r>
            <a:endParaRPr lang="en-US" sz="850" dirty="0"/>
          </a:p>
        </p:txBody>
      </p:sp>
      <p:sp>
        <p:nvSpPr>
          <p:cNvPr id="23" name="Text 21"/>
          <p:cNvSpPr/>
          <p:nvPr/>
        </p:nvSpPr>
        <p:spPr>
          <a:xfrm>
            <a:off x="4562856" y="3328416"/>
            <a:ext cx="3063240" cy="914400"/>
          </a:xfrm>
          <a:prstGeom prst="rect">
            <a:avLst/>
          </a:prstGeom>
          <a:noFill/>
          <a:ln/>
        </p:spPr>
        <p:txBody>
          <a:bodyPr wrap="square" lIns="0" tIns="0" rIns="0" bIns="0" rtlCol="0" anchor="ctr"/>
          <a:lstStyle/>
          <a:p>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懐かしさ・子どもの頃を振り返りたい　</a:t>
            </a:r>
            <a:pPr indent="0" marL="0">
              <a:lnSpc>
                <a:spcPts val="1350"/>
              </a:lnSpc>
              <a:buNone/>
            </a:pPr>
            <a:r>
              <a:rPr lang="en-US" sz="900" b="1" dirty="0">
                <a:solidFill>
                  <a:srgbClr val="17828F"/>
                </a:solidFill>
                <a:latin typeface="游ゴシック" pitchFamily="34" charset="0"/>
                <a:ea typeface="游ゴシック" pitchFamily="34" charset="-122"/>
                <a:cs typeface="游ゴシック" pitchFamily="34" charset="-120"/>
              </a:rPr>
              <a:t>539件
</a:t>
            </a:r>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SNSで感想や考察をシェアしたい　</a:t>
            </a:r>
            <a:pPr indent="0" marL="0">
              <a:lnSpc>
                <a:spcPts val="1350"/>
              </a:lnSpc>
              <a:buNone/>
            </a:pPr>
            <a:r>
              <a:rPr lang="en-US" sz="900" b="1" dirty="0">
                <a:solidFill>
                  <a:srgbClr val="17828F"/>
                </a:solidFill>
                <a:latin typeface="游ゴシック" pitchFamily="34" charset="0"/>
                <a:ea typeface="游ゴシック" pitchFamily="34" charset="-122"/>
                <a:cs typeface="游ゴシック" pitchFamily="34" charset="-120"/>
              </a:rPr>
              <a:t>452件
</a:t>
            </a:r>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昭和・平成・令和を一から履修したい　</a:t>
            </a:r>
            <a:pPr indent="0" marL="0">
              <a:lnSpc>
                <a:spcPts val="1350"/>
              </a:lnSpc>
              <a:buNone/>
            </a:pPr>
            <a:r>
              <a:rPr lang="en-US" sz="900" b="1" dirty="0">
                <a:solidFill>
                  <a:srgbClr val="17828F"/>
                </a:solidFill>
                <a:latin typeface="游ゴシック" pitchFamily="34" charset="0"/>
                <a:ea typeface="游ゴシック" pitchFamily="34" charset="-122"/>
                <a:cs typeface="游ゴシック" pitchFamily="34" charset="-120"/>
              </a:rPr>
              <a:t>278件</a:t>
            </a:r>
            <a:endParaRPr lang="en-US" sz="900" dirty="0"/>
          </a:p>
        </p:txBody>
      </p:sp>
      <p:sp>
        <p:nvSpPr>
          <p:cNvPr id="24" name="Text 22"/>
          <p:cNvSpPr/>
          <p:nvPr/>
        </p:nvSpPr>
        <p:spPr>
          <a:xfrm>
            <a:off x="4562856" y="4315968"/>
            <a:ext cx="3063240" cy="237744"/>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伸長中の需要（YoY）</a:t>
            </a:r>
            <a:endParaRPr lang="en-US" sz="850" dirty="0"/>
          </a:p>
        </p:txBody>
      </p:sp>
      <p:sp>
        <p:nvSpPr>
          <p:cNvPr id="25" name="Text 23"/>
          <p:cNvSpPr/>
          <p:nvPr/>
        </p:nvSpPr>
        <p:spPr>
          <a:xfrm>
            <a:off x="4562856" y="4553712"/>
            <a:ext cx="3063240" cy="658368"/>
          </a:xfrm>
          <a:prstGeom prst="rect">
            <a:avLst/>
          </a:prstGeom>
          <a:noFill/>
          <a:ln/>
        </p:spPr>
        <p:txBody>
          <a:bodyPr wrap="square" lIns="0" tIns="0" rIns="0" bIns="0" rtlCol="0" anchor="ctr"/>
          <a:lstStyle/>
          <a:p>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イベント・展示会に参加したい　</a:t>
            </a:r>
            <a:pPr indent="0" marL="0">
              <a:lnSpc>
                <a:spcPts val="1350"/>
              </a:lnSpc>
              <a:buNone/>
            </a:pPr>
            <a:r>
              <a:rPr lang="en-US" sz="900" b="1" dirty="0">
                <a:solidFill>
                  <a:srgbClr val="C00000"/>
                </a:solidFill>
                <a:latin typeface="游ゴシック" pitchFamily="34" charset="0"/>
                <a:ea typeface="游ゴシック" pitchFamily="34" charset="-122"/>
                <a:cs typeface="游ゴシック" pitchFamily="34" charset="-120"/>
              </a:rPr>
              <a:t>+179%
</a:t>
            </a:r>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ヒーローから勇気を得られる　</a:t>
            </a:r>
            <a:pPr indent="0" marL="0">
              <a:lnSpc>
                <a:spcPts val="1350"/>
              </a:lnSpc>
              <a:buNone/>
            </a:pPr>
            <a:r>
              <a:rPr lang="en-US" sz="900" b="1" dirty="0">
                <a:solidFill>
                  <a:srgbClr val="C00000"/>
                </a:solidFill>
                <a:latin typeface="游ゴシック" pitchFamily="34" charset="0"/>
                <a:ea typeface="游ゴシック" pitchFamily="34" charset="-122"/>
                <a:cs typeface="游ゴシック" pitchFamily="34" charset="-120"/>
              </a:rPr>
              <a:t>+35%</a:t>
            </a:r>
            <a:endParaRPr lang="en-US" sz="900" dirty="0"/>
          </a:p>
        </p:txBody>
      </p:sp>
      <p:sp>
        <p:nvSpPr>
          <p:cNvPr id="26" name="Text 24"/>
          <p:cNvSpPr/>
          <p:nvPr/>
        </p:nvSpPr>
        <p:spPr>
          <a:xfrm>
            <a:off x="4562856" y="5321808"/>
            <a:ext cx="3063240" cy="274320"/>
          </a:xfrm>
          <a:prstGeom prst="rect">
            <a:avLst/>
          </a:prstGeom>
          <a:noFill/>
          <a:ln/>
        </p:spPr>
        <p:txBody>
          <a:bodyPr wrap="square" lIns="0" tIns="0" rIns="0" bIns="0" rtlCol="0" anchor="ctr"/>
          <a:lstStyle/>
          <a:p>
            <a:pPr indent="0" marL="0">
              <a:buNone/>
            </a:pPr>
            <a:r>
              <a:rPr lang="en-US" sz="950" b="1" dirty="0">
                <a:solidFill>
                  <a:srgbClr val="C00000"/>
                </a:solidFill>
                <a:latin typeface="游ゴシック" pitchFamily="34" charset="0"/>
                <a:ea typeface="游ゴシック" pitchFamily="34" charset="-122"/>
                <a:cs typeface="游ゴシック" pitchFamily="34" charset="-120"/>
              </a:rPr>
              <a:t>CONNECT → コアラのマーチ／雪見だいふく</a:t>
            </a:r>
            <a:endParaRPr lang="en-US" sz="950" dirty="0"/>
          </a:p>
        </p:txBody>
      </p:sp>
      <p:sp>
        <p:nvSpPr>
          <p:cNvPr id="27" name="Shape 25"/>
          <p:cNvSpPr/>
          <p:nvPr/>
        </p:nvSpPr>
        <p:spPr>
          <a:xfrm>
            <a:off x="7982712" y="2240280"/>
            <a:ext cx="3520440" cy="3520440"/>
          </a:xfrm>
          <a:prstGeom prst="roundRect">
            <a:avLst>
              <a:gd name="adj" fmla="val 2597"/>
            </a:avLst>
          </a:prstGeom>
          <a:solidFill>
            <a:srgbClr val="FFFFFF"/>
          </a:solidFill>
          <a:ln w="15875">
            <a:solidFill>
              <a:srgbClr val="C4761B"/>
            </a:solidFill>
            <a:prstDash val="solid"/>
          </a:ln>
        </p:spPr>
      </p:sp>
      <p:sp>
        <p:nvSpPr>
          <p:cNvPr id="28" name="Text 26"/>
          <p:cNvSpPr/>
          <p:nvPr/>
        </p:nvSpPr>
        <p:spPr>
          <a:xfrm>
            <a:off x="8211312" y="2395728"/>
            <a:ext cx="1828800" cy="256032"/>
          </a:xfrm>
          <a:prstGeom prst="rect">
            <a:avLst/>
          </a:prstGeom>
          <a:noFill/>
          <a:ln/>
        </p:spPr>
        <p:txBody>
          <a:bodyPr wrap="square" lIns="0" tIns="0" rIns="0" bIns="0" rtlCol="0" anchor="ctr"/>
          <a:lstStyle/>
          <a:p>
            <a:pPr indent="0" marL="0">
              <a:buNone/>
            </a:pPr>
            <a:r>
              <a:rPr lang="en-US" sz="950" b="1" spc="200" kern="0" dirty="0">
                <a:solidFill>
                  <a:srgbClr val="C4761B"/>
                </a:solidFill>
                <a:latin typeface="游ゴシック" pitchFamily="34" charset="0"/>
                <a:ea typeface="游ゴシック" pitchFamily="34" charset="-122"/>
                <a:cs typeface="游ゴシック" pitchFamily="34" charset="-120"/>
              </a:rPr>
              <a:t>界隈 03</a:t>
            </a:r>
            <a:endParaRPr lang="en-US" sz="950" dirty="0"/>
          </a:p>
        </p:txBody>
      </p:sp>
      <p:sp>
        <p:nvSpPr>
          <p:cNvPr id="29" name="Text 27"/>
          <p:cNvSpPr/>
          <p:nvPr/>
        </p:nvSpPr>
        <p:spPr>
          <a:xfrm>
            <a:off x="8211312" y="2670048"/>
            <a:ext cx="3063240" cy="347472"/>
          </a:xfrm>
          <a:prstGeom prst="rect">
            <a:avLst/>
          </a:prstGeom>
          <a:noFill/>
          <a:ln/>
        </p:spPr>
        <p:txBody>
          <a:bodyPr wrap="square" lIns="0" tIns="0" rIns="0" bIns="0" rtlCol="0" anchor="ctr"/>
          <a:lstStyle/>
          <a:p>
            <a:pPr indent="0" marL="0">
              <a:buNone/>
            </a:pPr>
            <a:r>
              <a:rPr lang="en-US" sz="1500" b="1" dirty="0">
                <a:solidFill>
                  <a:srgbClr val="333333"/>
                </a:solidFill>
                <a:latin typeface="游ゴシック" pitchFamily="34" charset="0"/>
                <a:ea typeface="游ゴシック" pitchFamily="34" charset="-122"/>
                <a:cs typeface="游ゴシック" pitchFamily="34" charset="-120"/>
              </a:rPr>
              <a:t>コレクター</a:t>
            </a:r>
            <a:endParaRPr lang="en-US" sz="1500" dirty="0"/>
          </a:p>
        </p:txBody>
      </p:sp>
      <p:sp>
        <p:nvSpPr>
          <p:cNvPr id="30" name="Text 28"/>
          <p:cNvSpPr/>
          <p:nvPr/>
        </p:nvSpPr>
        <p:spPr>
          <a:xfrm>
            <a:off x="8211312" y="3090672"/>
            <a:ext cx="3063240" cy="237744"/>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既に語られている（言及件数／2,000件中）</a:t>
            </a:r>
            <a:endParaRPr lang="en-US" sz="850" dirty="0"/>
          </a:p>
        </p:txBody>
      </p:sp>
      <p:sp>
        <p:nvSpPr>
          <p:cNvPr id="31" name="Text 29"/>
          <p:cNvSpPr/>
          <p:nvPr/>
        </p:nvSpPr>
        <p:spPr>
          <a:xfrm>
            <a:off x="8211312" y="3328416"/>
            <a:ext cx="3063240" cy="914400"/>
          </a:xfrm>
          <a:prstGeom prst="rect">
            <a:avLst/>
          </a:prstGeom>
          <a:noFill/>
          <a:ln/>
        </p:spPr>
        <p:txBody>
          <a:bodyPr wrap="square" lIns="0" tIns="0" rIns="0" bIns="0" rtlCol="0" anchor="ctr"/>
          <a:lstStyle/>
          <a:p>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子供の頃好きだったキャラのソフビ　</a:t>
            </a:r>
            <a:pPr indent="0" marL="0">
              <a:lnSpc>
                <a:spcPts val="1350"/>
              </a:lnSpc>
              <a:buNone/>
            </a:pPr>
            <a:r>
              <a:rPr lang="en-US" sz="900" b="1" dirty="0">
                <a:solidFill>
                  <a:srgbClr val="17828F"/>
                </a:solidFill>
                <a:latin typeface="游ゴシック" pitchFamily="34" charset="0"/>
                <a:ea typeface="游ゴシック" pitchFamily="34" charset="-122"/>
                <a:cs typeface="游ゴシック" pitchFamily="34" charset="-120"/>
              </a:rPr>
              <a:t>379件
</a:t>
            </a:r>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造形を眺めて名シーンを思い出す　</a:t>
            </a:r>
            <a:pPr indent="0" marL="0">
              <a:lnSpc>
                <a:spcPts val="1350"/>
              </a:lnSpc>
              <a:buNone/>
            </a:pPr>
            <a:r>
              <a:rPr lang="en-US" sz="900" b="1" dirty="0">
                <a:solidFill>
                  <a:srgbClr val="17828F"/>
                </a:solidFill>
                <a:latin typeface="游ゴシック" pitchFamily="34" charset="0"/>
                <a:ea typeface="游ゴシック" pitchFamily="34" charset="-122"/>
                <a:cs typeface="游ゴシック" pitchFamily="34" charset="-120"/>
              </a:rPr>
              <a:t>261件
</a:t>
            </a:r>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コレクションを並べて飾りたい　</a:t>
            </a:r>
            <a:pPr indent="0" marL="0">
              <a:lnSpc>
                <a:spcPts val="1350"/>
              </a:lnSpc>
              <a:buNone/>
            </a:pPr>
            <a:r>
              <a:rPr lang="en-US" sz="900" b="1" dirty="0">
                <a:solidFill>
                  <a:srgbClr val="17828F"/>
                </a:solidFill>
                <a:latin typeface="游ゴシック" pitchFamily="34" charset="0"/>
                <a:ea typeface="游ゴシック" pitchFamily="34" charset="-122"/>
                <a:cs typeface="游ゴシック" pitchFamily="34" charset="-120"/>
              </a:rPr>
              <a:t>235件</a:t>
            </a:r>
            <a:endParaRPr lang="en-US" sz="900" dirty="0"/>
          </a:p>
        </p:txBody>
      </p:sp>
      <p:sp>
        <p:nvSpPr>
          <p:cNvPr id="32" name="Text 30"/>
          <p:cNvSpPr/>
          <p:nvPr/>
        </p:nvSpPr>
        <p:spPr>
          <a:xfrm>
            <a:off x="8211312" y="4315968"/>
            <a:ext cx="3063240" cy="237744"/>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伸長中の需要（YoY）</a:t>
            </a:r>
            <a:endParaRPr lang="en-US" sz="850" dirty="0"/>
          </a:p>
        </p:txBody>
      </p:sp>
      <p:sp>
        <p:nvSpPr>
          <p:cNvPr id="33" name="Text 31"/>
          <p:cNvSpPr/>
          <p:nvPr/>
        </p:nvSpPr>
        <p:spPr>
          <a:xfrm>
            <a:off x="8211312" y="4553712"/>
            <a:ext cx="3063240" cy="658368"/>
          </a:xfrm>
          <a:prstGeom prst="rect">
            <a:avLst/>
          </a:prstGeom>
          <a:noFill/>
          <a:ln/>
        </p:spPr>
        <p:txBody>
          <a:bodyPr wrap="square" lIns="0" tIns="0" rIns="0" bIns="0" rtlCol="0" anchor="ctr"/>
          <a:lstStyle/>
          <a:p>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昭和・平成の復刻版ソフビを揃えたい　</a:t>
            </a:r>
            <a:pPr indent="0" marL="0">
              <a:lnSpc>
                <a:spcPts val="1350"/>
              </a:lnSpc>
              <a:buNone/>
            </a:pPr>
            <a:r>
              <a:rPr lang="en-US" sz="900" b="1" dirty="0">
                <a:solidFill>
                  <a:srgbClr val="C00000"/>
                </a:solidFill>
                <a:latin typeface="游ゴシック" pitchFamily="34" charset="0"/>
                <a:ea typeface="游ゴシック" pitchFamily="34" charset="-122"/>
                <a:cs typeface="游ゴシック" pitchFamily="34" charset="-120"/>
              </a:rPr>
              <a:t>+73%
</a:t>
            </a:r>
            <a:pPr indent="0" marL="0">
              <a:lnSpc>
                <a:spcPts val="1350"/>
              </a:lnSpc>
              <a:buNone/>
            </a:pPr>
            <a:r>
              <a:rPr lang="en-US" sz="900" dirty="0">
                <a:solidFill>
                  <a:srgbClr val="404040"/>
                </a:solidFill>
                <a:latin typeface="游ゴシック" pitchFamily="34" charset="0"/>
                <a:ea typeface="游ゴシック" pitchFamily="34" charset="-122"/>
                <a:cs typeface="游ゴシック" pitchFamily="34" charset="-120"/>
              </a:rPr>
              <a:t>好きなキャラへの愛を形にしたい　</a:t>
            </a:r>
            <a:pPr indent="0" marL="0">
              <a:lnSpc>
                <a:spcPts val="1350"/>
              </a:lnSpc>
              <a:buNone/>
            </a:pPr>
            <a:r>
              <a:rPr lang="en-US" sz="900" b="1" dirty="0">
                <a:solidFill>
                  <a:srgbClr val="C00000"/>
                </a:solidFill>
                <a:latin typeface="游ゴシック" pitchFamily="34" charset="0"/>
                <a:ea typeface="游ゴシック" pitchFamily="34" charset="-122"/>
                <a:cs typeface="游ゴシック" pitchFamily="34" charset="-120"/>
              </a:rPr>
              <a:t>+53%</a:t>
            </a:r>
            <a:endParaRPr lang="en-US" sz="900" dirty="0"/>
          </a:p>
        </p:txBody>
      </p:sp>
      <p:sp>
        <p:nvSpPr>
          <p:cNvPr id="34" name="Text 32"/>
          <p:cNvSpPr/>
          <p:nvPr/>
        </p:nvSpPr>
        <p:spPr>
          <a:xfrm>
            <a:off x="8211312" y="5321808"/>
            <a:ext cx="3063240" cy="274320"/>
          </a:xfrm>
          <a:prstGeom prst="rect">
            <a:avLst/>
          </a:prstGeom>
          <a:noFill/>
          <a:ln/>
        </p:spPr>
        <p:txBody>
          <a:bodyPr wrap="square" lIns="0" tIns="0" rIns="0" bIns="0" rtlCol="0" anchor="ctr"/>
          <a:lstStyle/>
          <a:p>
            <a:pPr indent="0" marL="0">
              <a:buNone/>
            </a:pPr>
            <a:r>
              <a:rPr lang="en-US" sz="950" b="1" dirty="0">
                <a:solidFill>
                  <a:srgbClr val="C00000"/>
                </a:solidFill>
                <a:latin typeface="游ゴシック" pitchFamily="34" charset="0"/>
                <a:ea typeface="游ゴシック" pitchFamily="34" charset="-122"/>
                <a:cs typeface="游ゴシック" pitchFamily="34" charset="-120"/>
              </a:rPr>
              <a:t>CONNECT → コアラのマーチ</a:t>
            </a:r>
            <a:endParaRPr lang="en-US" sz="950" dirty="0"/>
          </a:p>
        </p:txBody>
      </p:sp>
      <p:sp>
        <p:nvSpPr>
          <p:cNvPr id="35" name="Text 33"/>
          <p:cNvSpPr/>
          <p:nvPr/>
        </p:nvSpPr>
        <p:spPr>
          <a:xfrm>
            <a:off x="685800" y="5870448"/>
            <a:ext cx="8229600" cy="320040"/>
          </a:xfrm>
          <a:prstGeom prst="rect">
            <a:avLst/>
          </a:prstGeom>
          <a:noFill/>
          <a:ln/>
        </p:spPr>
        <p:txBody>
          <a:bodyPr wrap="square" lIns="0" tIns="0" rIns="0" bIns="0" rtlCol="0" anchor="ctr"/>
          <a:lstStyle/>
          <a:p>
            <a:pPr indent="0" marL="0">
              <a:buNone/>
            </a:pPr>
            <a:r>
              <a:rPr lang="en-US" sz="1200" b="1" dirty="0">
                <a:solidFill>
                  <a:srgbClr val="7A4521"/>
                </a:solidFill>
                <a:latin typeface="游ゴシック" pitchFamily="34" charset="0"/>
                <a:ea typeface="游ゴシック" pitchFamily="34" charset="-122"/>
                <a:cs typeface="游ゴシック" pitchFamily="34" charset="-120"/>
              </a:rPr>
              <a:t>ロッテの既存ブランドを、新しい顧客・新しい界隈へ運ぶ「橋」になれる。</a:t>
            </a:r>
            <a:endParaRPr lang="en-US" sz="1200" dirty="0"/>
          </a:p>
        </p:txBody>
      </p:sp>
      <p:sp>
        <p:nvSpPr>
          <p:cNvPr id="36" name="Text 34"/>
          <p:cNvSpPr/>
          <p:nvPr/>
        </p:nvSpPr>
        <p:spPr>
          <a:xfrm>
            <a:off x="685800" y="6199632"/>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出所：アライドアーキテクツ社 VOC分析。言及件数は各界隈2,000件中／YoY＝ウルトラマン関連発話における当該文脈の発話数の前年比（2024年→2025年）</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965960" cy="310896"/>
          </a:xfrm>
          <a:prstGeom prst="rect">
            <a:avLst/>
          </a:prstGeom>
          <a:solidFill>
            <a:srgbClr val="C4761B"/>
          </a:solidFill>
          <a:ln/>
        </p:spPr>
      </p:sp>
      <p:sp>
        <p:nvSpPr>
          <p:cNvPr id="3" name="Text 1"/>
          <p:cNvSpPr/>
          <p:nvPr/>
        </p:nvSpPr>
        <p:spPr>
          <a:xfrm>
            <a:off x="795528" y="384048"/>
            <a:ext cx="1856232"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3．どこから始めるか</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貴社限り</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本命は、コアラのマーチでした</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4つの評価軸で3ブランドを比較すると、コアラのマーチが全軸で最高評価。次点はガーナ or 雪見だいふくで、目的に応じて選択できる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6</a:t>
            </a:r>
            <a:endParaRPr lang="en-US" sz="950" dirty="0"/>
          </a:p>
        </p:txBody>
      </p:sp>
      <p:sp>
        <p:nvSpPr>
          <p:cNvPr id="11" name="Shape 9"/>
          <p:cNvSpPr/>
          <p:nvPr/>
        </p:nvSpPr>
        <p:spPr>
          <a:xfrm>
            <a:off x="685800" y="2194560"/>
            <a:ext cx="3520440" cy="3794760"/>
          </a:xfrm>
          <a:prstGeom prst="roundRect">
            <a:avLst>
              <a:gd name="adj" fmla="val 2597"/>
            </a:avLst>
          </a:prstGeom>
          <a:solidFill>
            <a:srgbClr val="FFFFFF"/>
          </a:solidFill>
          <a:ln w="25400">
            <a:solidFill>
              <a:srgbClr val="C4761B"/>
            </a:solidFill>
            <a:prstDash val="solid"/>
          </a:ln>
        </p:spPr>
      </p:sp>
      <p:sp>
        <p:nvSpPr>
          <p:cNvPr id="12" name="Shape 10"/>
          <p:cNvSpPr/>
          <p:nvPr/>
        </p:nvSpPr>
        <p:spPr>
          <a:xfrm>
            <a:off x="2971800" y="2066544"/>
            <a:ext cx="1097280" cy="292608"/>
          </a:xfrm>
          <a:prstGeom prst="roundRect">
            <a:avLst>
              <a:gd name="adj" fmla="val 50000"/>
            </a:avLst>
          </a:prstGeom>
          <a:solidFill>
            <a:srgbClr val="C4761B"/>
          </a:solidFill>
          <a:ln/>
        </p:spPr>
      </p:sp>
      <p:sp>
        <p:nvSpPr>
          <p:cNvPr id="13" name="Text 11"/>
          <p:cNvSpPr/>
          <p:nvPr/>
        </p:nvSpPr>
        <p:spPr>
          <a:xfrm>
            <a:off x="2971800" y="2066544"/>
            <a:ext cx="10972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BEST FIT</a:t>
            </a:r>
            <a:endParaRPr lang="en-US" sz="1050" dirty="0"/>
          </a:p>
        </p:txBody>
      </p:sp>
      <p:sp>
        <p:nvSpPr>
          <p:cNvPr id="14" name="Text 12"/>
          <p:cNvSpPr/>
          <p:nvPr/>
        </p:nvSpPr>
        <p:spPr>
          <a:xfrm>
            <a:off x="886968" y="2331720"/>
            <a:ext cx="3118104" cy="237744"/>
          </a:xfrm>
          <a:prstGeom prst="rect">
            <a:avLst/>
          </a:prstGeom>
          <a:noFill/>
          <a:ln/>
        </p:spPr>
        <p:txBody>
          <a:bodyPr wrap="square" lIns="0" tIns="0" rIns="0" bIns="0" rtlCol="0" anchor="ctr"/>
          <a:lstStyle/>
          <a:p>
            <a:pPr indent="0" marL="0">
              <a:buNone/>
            </a:pPr>
            <a:r>
              <a:rPr lang="en-US" sz="850" b="1" spc="100" kern="0" dirty="0">
                <a:solidFill>
                  <a:srgbClr val="C4761B"/>
                </a:solidFill>
                <a:latin typeface="游ゴシック" pitchFamily="34" charset="0"/>
                <a:ea typeface="游ゴシック" pitchFamily="34" charset="-122"/>
                <a:cs typeface="游ゴシック" pitchFamily="34" charset="-120"/>
              </a:rPr>
              <a:t>1st ／ 本命</a:t>
            </a:r>
            <a:endParaRPr lang="en-US" sz="850" dirty="0"/>
          </a:p>
        </p:txBody>
      </p:sp>
      <p:sp>
        <p:nvSpPr>
          <p:cNvPr id="15" name="Text 13"/>
          <p:cNvSpPr/>
          <p:nvPr/>
        </p:nvSpPr>
        <p:spPr>
          <a:xfrm>
            <a:off x="886968" y="2578608"/>
            <a:ext cx="3118104" cy="365760"/>
          </a:xfrm>
          <a:prstGeom prst="rect">
            <a:avLst/>
          </a:prstGeom>
          <a:noFill/>
          <a:ln/>
        </p:spPr>
        <p:txBody>
          <a:bodyPr wrap="square" lIns="0" tIns="0" rIns="0" bIns="0" rtlCol="0" anchor="ctr"/>
          <a:lstStyle/>
          <a:p>
            <a:pPr indent="0" marL="0">
              <a:buNone/>
            </a:pPr>
            <a:r>
              <a:rPr lang="en-US" sz="1700" b="1" dirty="0">
                <a:solidFill>
                  <a:srgbClr val="333333"/>
                </a:solidFill>
                <a:latin typeface="游ゴシック" pitchFamily="34" charset="0"/>
                <a:ea typeface="游ゴシック" pitchFamily="34" charset="-122"/>
                <a:cs typeface="游ゴシック" pitchFamily="34" charset="-120"/>
              </a:rPr>
              <a:t>コアラのマーチ</a:t>
            </a:r>
            <a:endParaRPr lang="en-US" sz="1700" dirty="0"/>
          </a:p>
        </p:txBody>
      </p:sp>
      <p:sp>
        <p:nvSpPr>
          <p:cNvPr id="16" name="Text 14"/>
          <p:cNvSpPr/>
          <p:nvPr/>
        </p:nvSpPr>
        <p:spPr>
          <a:xfrm>
            <a:off x="886968" y="2962656"/>
            <a:ext cx="3118104" cy="256032"/>
          </a:xfrm>
          <a:prstGeom prst="rect">
            <a:avLst/>
          </a:prstGeom>
          <a:noFill/>
          <a:ln/>
        </p:spPr>
        <p:txBody>
          <a:bodyPr wrap="square" lIns="0" tIns="0" rIns="0" bIns="0" rtlCol="0" anchor="ctr"/>
          <a:lstStyle/>
          <a:p>
            <a:pPr indent="0" marL="0">
              <a:buNone/>
            </a:pPr>
            <a:r>
              <a:rPr lang="en-US" sz="900" b="1" dirty="0">
                <a:solidFill>
                  <a:srgbClr val="C4761B"/>
                </a:solidFill>
                <a:latin typeface="游ゴシック" pitchFamily="34" charset="0"/>
                <a:ea typeface="游ゴシック" pitchFamily="34" charset="-122"/>
                <a:cs typeface="游ゴシック" pitchFamily="34" charset="-120"/>
              </a:rPr>
              <a:t>絵柄コレクション × 60周年造形資産</a:t>
            </a:r>
            <a:endParaRPr lang="en-US" sz="900" dirty="0"/>
          </a:p>
        </p:txBody>
      </p:sp>
      <p:sp>
        <p:nvSpPr>
          <p:cNvPr id="17" name="Text 15"/>
          <p:cNvSpPr/>
          <p:nvPr/>
        </p:nvSpPr>
        <p:spPr>
          <a:xfrm>
            <a:off x="886968" y="3291840"/>
            <a:ext cx="3118104" cy="219456"/>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CEP独占度  </a:t>
            </a:r>
            <a:pPr indent="0" marL="0">
              <a:buNone/>
            </a:pPr>
            <a:r>
              <a:rPr lang="en-US" sz="1000" b="1" dirty="0">
                <a:solidFill>
                  <a:srgbClr val="C00000"/>
                </a:solidFill>
                <a:latin typeface="游ゴシック" pitchFamily="34" charset="0"/>
                <a:ea typeface="游ゴシック" pitchFamily="34" charset="-122"/>
                <a:cs typeface="游ゴシック" pitchFamily="34" charset="-120"/>
              </a:rPr>
              <a:t>◎</a:t>
            </a:r>
            <a:endParaRPr lang="en-US" sz="850" dirty="0"/>
          </a:p>
        </p:txBody>
      </p:sp>
      <p:sp>
        <p:nvSpPr>
          <p:cNvPr id="18" name="Text 16"/>
          <p:cNvSpPr/>
          <p:nvPr/>
        </p:nvSpPr>
        <p:spPr>
          <a:xfrm>
            <a:off x="886968" y="3502152"/>
            <a:ext cx="3118104" cy="365760"/>
          </a:xfrm>
          <a:prstGeom prst="rect">
            <a:avLst/>
          </a:prstGeom>
          <a:noFill/>
          <a:ln/>
        </p:spPr>
        <p:txBody>
          <a:bodyPr wrap="square" lIns="0" tIns="0" rIns="0" bIns="0" rtlCol="0" anchor="ctr"/>
          <a:lstStyle/>
          <a:p>
            <a:pPr indent="0" marL="0">
              <a:lnSpc>
                <a:spcPts val="1000"/>
              </a:lnSpc>
              <a:buNone/>
            </a:pPr>
            <a:r>
              <a:rPr lang="en-US" sz="750" dirty="0">
                <a:solidFill>
                  <a:srgbClr val="808080"/>
                </a:solidFill>
                <a:latin typeface="游ゴシック" pitchFamily="34" charset="0"/>
                <a:ea typeface="游ゴシック" pitchFamily="34" charset="-122"/>
                <a:cs typeface="游ゴシック" pitchFamily="34" charset="-120"/>
              </a:rPr>
              <a:t>「絵柄を楽しみながら食べたい」+9.57（突出／3ブランド最強）</a:t>
            </a:r>
            <a:endParaRPr lang="en-US" sz="750" dirty="0"/>
          </a:p>
        </p:txBody>
      </p:sp>
      <p:sp>
        <p:nvSpPr>
          <p:cNvPr id="19" name="Text 17"/>
          <p:cNvSpPr/>
          <p:nvPr/>
        </p:nvSpPr>
        <p:spPr>
          <a:xfrm>
            <a:off x="886968" y="3895344"/>
            <a:ext cx="3118104" cy="219456"/>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既存コラボ実績との整合性  </a:t>
            </a:r>
            <a:pPr indent="0" marL="0">
              <a:buNone/>
            </a:pPr>
            <a:r>
              <a:rPr lang="en-US" sz="1000" b="1" dirty="0">
                <a:solidFill>
                  <a:srgbClr val="C00000"/>
                </a:solidFill>
                <a:latin typeface="游ゴシック" pitchFamily="34" charset="0"/>
                <a:ea typeface="游ゴシック" pitchFamily="34" charset="-122"/>
                <a:cs typeface="游ゴシック" pitchFamily="34" charset="-120"/>
              </a:rPr>
              <a:t>◎</a:t>
            </a:r>
            <a:endParaRPr lang="en-US" sz="850" dirty="0"/>
          </a:p>
        </p:txBody>
      </p:sp>
      <p:sp>
        <p:nvSpPr>
          <p:cNvPr id="20" name="Text 18"/>
          <p:cNvSpPr/>
          <p:nvPr/>
        </p:nvSpPr>
        <p:spPr>
          <a:xfrm>
            <a:off x="886968" y="4105656"/>
            <a:ext cx="3118104" cy="365760"/>
          </a:xfrm>
          <a:prstGeom prst="rect">
            <a:avLst/>
          </a:prstGeom>
          <a:noFill/>
          <a:ln/>
        </p:spPr>
        <p:txBody>
          <a:bodyPr wrap="square" lIns="0" tIns="0" rIns="0" bIns="0" rtlCol="0" anchor="ctr"/>
          <a:lstStyle/>
          <a:p>
            <a:pPr indent="0" marL="0">
              <a:lnSpc>
                <a:spcPts val="1000"/>
              </a:lnSpc>
              <a:buNone/>
            </a:pPr>
            <a:r>
              <a:rPr lang="en-US" sz="750" dirty="0">
                <a:solidFill>
                  <a:srgbClr val="808080"/>
                </a:solidFill>
                <a:latin typeface="游ゴシック" pitchFamily="34" charset="0"/>
                <a:ea typeface="游ゴシック" pitchFamily="34" charset="-122"/>
                <a:cs typeface="游ゴシック" pitchFamily="34" charset="-120"/>
              </a:rPr>
              <a:t>絵柄コレクション型が既に標準フォーマット</a:t>
            </a:r>
            <a:endParaRPr lang="en-US" sz="750" dirty="0"/>
          </a:p>
        </p:txBody>
      </p:sp>
      <p:sp>
        <p:nvSpPr>
          <p:cNvPr id="21" name="Text 19"/>
          <p:cNvSpPr/>
          <p:nvPr/>
        </p:nvSpPr>
        <p:spPr>
          <a:xfrm>
            <a:off x="886968" y="4498848"/>
            <a:ext cx="3118104" cy="219456"/>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3界隈カバレッジ  </a:t>
            </a:r>
            <a:pPr indent="0" marL="0">
              <a:buNone/>
            </a:pPr>
            <a:r>
              <a:rPr lang="en-US" sz="1000" b="1" dirty="0">
                <a:solidFill>
                  <a:srgbClr val="C00000"/>
                </a:solidFill>
                <a:latin typeface="游ゴシック" pitchFamily="34" charset="0"/>
                <a:ea typeface="游ゴシック" pitchFamily="34" charset="-122"/>
                <a:cs typeface="游ゴシック" pitchFamily="34" charset="-120"/>
              </a:rPr>
              <a:t>◎</a:t>
            </a:r>
            <a:endParaRPr lang="en-US" sz="850" dirty="0"/>
          </a:p>
        </p:txBody>
      </p:sp>
      <p:sp>
        <p:nvSpPr>
          <p:cNvPr id="22" name="Text 20"/>
          <p:cNvSpPr/>
          <p:nvPr/>
        </p:nvSpPr>
        <p:spPr>
          <a:xfrm>
            <a:off x="886968" y="4709160"/>
            <a:ext cx="3118104" cy="365760"/>
          </a:xfrm>
          <a:prstGeom prst="rect">
            <a:avLst/>
          </a:prstGeom>
          <a:noFill/>
          <a:ln/>
        </p:spPr>
        <p:txBody>
          <a:bodyPr wrap="square" lIns="0" tIns="0" rIns="0" bIns="0" rtlCol="0" anchor="ctr"/>
          <a:lstStyle/>
          <a:p>
            <a:pPr indent="0" marL="0">
              <a:lnSpc>
                <a:spcPts val="1000"/>
              </a:lnSpc>
              <a:buNone/>
            </a:pPr>
            <a:r>
              <a:rPr lang="en-US" sz="750" dirty="0">
                <a:solidFill>
                  <a:srgbClr val="808080"/>
                </a:solidFill>
                <a:latin typeface="游ゴシック" pitchFamily="34" charset="0"/>
                <a:ea typeface="游ゴシック" pitchFamily="34" charset="-122"/>
                <a:cs typeface="游ゴシック" pitchFamily="34" charset="-120"/>
              </a:rPr>
              <a:t>推し活・ヤング懐かし・コレクター全てに接続可能</a:t>
            </a:r>
            <a:endParaRPr lang="en-US" sz="750" dirty="0"/>
          </a:p>
        </p:txBody>
      </p:sp>
      <p:sp>
        <p:nvSpPr>
          <p:cNvPr id="23" name="Text 21"/>
          <p:cNvSpPr/>
          <p:nvPr/>
        </p:nvSpPr>
        <p:spPr>
          <a:xfrm>
            <a:off x="886968" y="5102352"/>
            <a:ext cx="3118104" cy="219456"/>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60周年タイミング活用  </a:t>
            </a:r>
            <a:pPr indent="0" marL="0">
              <a:buNone/>
            </a:pPr>
            <a:r>
              <a:rPr lang="en-US" sz="1000" b="1" dirty="0">
                <a:solidFill>
                  <a:srgbClr val="C00000"/>
                </a:solidFill>
                <a:latin typeface="游ゴシック" pitchFamily="34" charset="0"/>
                <a:ea typeface="游ゴシック" pitchFamily="34" charset="-122"/>
                <a:cs typeface="游ゴシック" pitchFamily="34" charset="-120"/>
              </a:rPr>
              <a:t>◎</a:t>
            </a:r>
            <a:endParaRPr lang="en-US" sz="850" dirty="0"/>
          </a:p>
        </p:txBody>
      </p:sp>
      <p:sp>
        <p:nvSpPr>
          <p:cNvPr id="24" name="Text 22"/>
          <p:cNvSpPr/>
          <p:nvPr/>
        </p:nvSpPr>
        <p:spPr>
          <a:xfrm>
            <a:off x="886968" y="5312664"/>
            <a:ext cx="3118104" cy="365760"/>
          </a:xfrm>
          <a:prstGeom prst="rect">
            <a:avLst/>
          </a:prstGeom>
          <a:noFill/>
          <a:ln/>
        </p:spPr>
        <p:txBody>
          <a:bodyPr wrap="square" lIns="0" tIns="0" rIns="0" bIns="0" rtlCol="0" anchor="ctr"/>
          <a:lstStyle/>
          <a:p>
            <a:pPr indent="0" marL="0">
              <a:lnSpc>
                <a:spcPts val="1000"/>
              </a:lnSpc>
              <a:buNone/>
            </a:pPr>
            <a:r>
              <a:rPr lang="en-US" sz="750" dirty="0">
                <a:solidFill>
                  <a:srgbClr val="808080"/>
                </a:solidFill>
                <a:latin typeface="游ゴシック" pitchFamily="34" charset="0"/>
                <a:ea typeface="游ゴシック" pitchFamily="34" charset="-122"/>
                <a:cs typeface="游ゴシック" pitchFamily="34" charset="-120"/>
              </a:rPr>
              <a:t>60年×2,500種の造形資産が「絵柄で楽しむ」に直結</a:t>
            </a:r>
            <a:endParaRPr lang="en-US" sz="750" dirty="0"/>
          </a:p>
        </p:txBody>
      </p:sp>
      <p:sp>
        <p:nvSpPr>
          <p:cNvPr id="25" name="Text 23"/>
          <p:cNvSpPr/>
          <p:nvPr/>
        </p:nvSpPr>
        <p:spPr>
          <a:xfrm>
            <a:off x="886968" y="5705856"/>
            <a:ext cx="3118104" cy="274320"/>
          </a:xfrm>
          <a:prstGeom prst="rect">
            <a:avLst/>
          </a:prstGeom>
          <a:noFill/>
          <a:ln/>
        </p:spPr>
        <p:txBody>
          <a:bodyPr wrap="square" lIns="0" tIns="0" rIns="0" bIns="0" rtlCol="0" anchor="ctr"/>
          <a:lstStyle/>
          <a:p>
            <a:pPr indent="0" marL="0">
              <a:buNone/>
            </a:pPr>
            <a:r>
              <a:rPr lang="en-US" sz="850" b="1" dirty="0">
                <a:solidFill>
                  <a:srgbClr val="C4761B"/>
                </a:solidFill>
                <a:latin typeface="游ゴシック" pitchFamily="34" charset="0"/>
                <a:ea typeface="游ゴシック" pitchFamily="34" charset="-122"/>
                <a:cs typeface="游ゴシック" pitchFamily="34" charset="-120"/>
              </a:rPr>
              <a:t>→ 4軸全てで最高評価。実装リスクも低い</a:t>
            </a:r>
            <a:endParaRPr lang="en-US" sz="850" dirty="0"/>
          </a:p>
        </p:txBody>
      </p:sp>
      <p:sp>
        <p:nvSpPr>
          <p:cNvPr id="26" name="Shape 24"/>
          <p:cNvSpPr/>
          <p:nvPr/>
        </p:nvSpPr>
        <p:spPr>
          <a:xfrm>
            <a:off x="4334256" y="2194560"/>
            <a:ext cx="3520440" cy="3794760"/>
          </a:xfrm>
          <a:prstGeom prst="roundRect">
            <a:avLst>
              <a:gd name="adj" fmla="val 2597"/>
            </a:avLst>
          </a:prstGeom>
          <a:solidFill>
            <a:srgbClr val="F7F5F1"/>
          </a:solidFill>
          <a:ln w="9525">
            <a:solidFill>
              <a:srgbClr val="BFBFBF"/>
            </a:solidFill>
            <a:prstDash val="solid"/>
          </a:ln>
        </p:spPr>
      </p:sp>
      <p:sp>
        <p:nvSpPr>
          <p:cNvPr id="27" name="Text 25"/>
          <p:cNvSpPr/>
          <p:nvPr/>
        </p:nvSpPr>
        <p:spPr>
          <a:xfrm>
            <a:off x="4535424" y="2331720"/>
            <a:ext cx="3118104" cy="237744"/>
          </a:xfrm>
          <a:prstGeom prst="rect">
            <a:avLst/>
          </a:prstGeom>
          <a:noFill/>
          <a:ln/>
        </p:spPr>
        <p:txBody>
          <a:bodyPr wrap="square" lIns="0" tIns="0" rIns="0" bIns="0" rtlCol="0" anchor="ctr"/>
          <a:lstStyle/>
          <a:p>
            <a:pPr indent="0" marL="0">
              <a:buNone/>
            </a:pPr>
            <a:r>
              <a:rPr lang="en-US" sz="850" b="1" spc="100" kern="0" dirty="0">
                <a:solidFill>
                  <a:srgbClr val="808080"/>
                </a:solidFill>
                <a:latin typeface="游ゴシック" pitchFamily="34" charset="0"/>
                <a:ea typeface="游ゴシック" pitchFamily="34" charset="-122"/>
                <a:cs typeface="游ゴシック" pitchFamily="34" charset="-120"/>
              </a:rPr>
              <a:t>2nd 候補 ／ 話題性重視</a:t>
            </a:r>
            <a:endParaRPr lang="en-US" sz="850" dirty="0"/>
          </a:p>
        </p:txBody>
      </p:sp>
      <p:sp>
        <p:nvSpPr>
          <p:cNvPr id="28" name="Text 26"/>
          <p:cNvSpPr/>
          <p:nvPr/>
        </p:nvSpPr>
        <p:spPr>
          <a:xfrm>
            <a:off x="4535424" y="2578608"/>
            <a:ext cx="3118104" cy="365760"/>
          </a:xfrm>
          <a:prstGeom prst="rect">
            <a:avLst/>
          </a:prstGeom>
          <a:noFill/>
          <a:ln/>
        </p:spPr>
        <p:txBody>
          <a:bodyPr wrap="square" lIns="0" tIns="0" rIns="0" bIns="0" rtlCol="0" anchor="ctr"/>
          <a:lstStyle/>
          <a:p>
            <a:pPr indent="0" marL="0">
              <a:buNone/>
            </a:pPr>
            <a:r>
              <a:rPr lang="en-US" sz="1700" b="1" dirty="0">
                <a:solidFill>
                  <a:srgbClr val="333333"/>
                </a:solidFill>
                <a:latin typeface="游ゴシック" pitchFamily="34" charset="0"/>
                <a:ea typeface="游ゴシック" pitchFamily="34" charset="-122"/>
                <a:cs typeface="游ゴシック" pitchFamily="34" charset="-120"/>
              </a:rPr>
              <a:t>ガーナ</a:t>
            </a:r>
            <a:endParaRPr lang="en-US" sz="1700" dirty="0"/>
          </a:p>
        </p:txBody>
      </p:sp>
      <p:sp>
        <p:nvSpPr>
          <p:cNvPr id="29" name="Text 27"/>
          <p:cNvSpPr/>
          <p:nvPr/>
        </p:nvSpPr>
        <p:spPr>
          <a:xfrm>
            <a:off x="4535424" y="2962656"/>
            <a:ext cx="3118104" cy="256032"/>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実写特撮ヒーロー 初コラボ</a:t>
            </a:r>
            <a:endParaRPr lang="en-US" sz="900" dirty="0"/>
          </a:p>
        </p:txBody>
      </p:sp>
      <p:sp>
        <p:nvSpPr>
          <p:cNvPr id="30" name="Text 28"/>
          <p:cNvSpPr/>
          <p:nvPr/>
        </p:nvSpPr>
        <p:spPr>
          <a:xfrm>
            <a:off x="4535424" y="3291840"/>
            <a:ext cx="3118104" cy="219456"/>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CEP独占度  </a:t>
            </a:r>
            <a:pPr indent="0" marL="0">
              <a:buNone/>
            </a:pPr>
            <a:r>
              <a:rPr lang="en-US" sz="1000" b="1" dirty="0">
                <a:solidFill>
                  <a:srgbClr val="17828F"/>
                </a:solidFill>
                <a:latin typeface="游ゴシック" pitchFamily="34" charset="0"/>
                <a:ea typeface="游ゴシック" pitchFamily="34" charset="-122"/>
                <a:cs typeface="游ゴシック" pitchFamily="34" charset="-120"/>
              </a:rPr>
              <a:t>○</a:t>
            </a:r>
            <a:endParaRPr lang="en-US" sz="850" dirty="0"/>
          </a:p>
        </p:txBody>
      </p:sp>
      <p:sp>
        <p:nvSpPr>
          <p:cNvPr id="31" name="Text 29"/>
          <p:cNvSpPr/>
          <p:nvPr/>
        </p:nvSpPr>
        <p:spPr>
          <a:xfrm>
            <a:off x="4535424" y="3502152"/>
            <a:ext cx="3118104" cy="365760"/>
          </a:xfrm>
          <a:prstGeom prst="rect">
            <a:avLst/>
          </a:prstGeom>
          <a:noFill/>
          <a:ln/>
        </p:spPr>
        <p:txBody>
          <a:bodyPr wrap="square" lIns="0" tIns="0" rIns="0" bIns="0" rtlCol="0" anchor="ctr"/>
          <a:lstStyle/>
          <a:p>
            <a:pPr indent="0" marL="0">
              <a:lnSpc>
                <a:spcPts val="1000"/>
              </a:lnSpc>
              <a:buNone/>
            </a:pPr>
            <a:r>
              <a:rPr lang="en-US" sz="750" dirty="0">
                <a:solidFill>
                  <a:srgbClr val="808080"/>
                </a:solidFill>
                <a:latin typeface="游ゴシック" pitchFamily="34" charset="0"/>
                <a:ea typeface="游ゴシック" pitchFamily="34" charset="-122"/>
                <a:cs typeface="游ゴシック" pitchFamily="34" charset="-120"/>
              </a:rPr>
              <a:t>「純粋な幸福感」+2.61（4社中1位）／「甘いもの」+6.19</a:t>
            </a:r>
            <a:endParaRPr lang="en-US" sz="750" dirty="0"/>
          </a:p>
        </p:txBody>
      </p:sp>
      <p:sp>
        <p:nvSpPr>
          <p:cNvPr id="32" name="Text 30"/>
          <p:cNvSpPr/>
          <p:nvPr/>
        </p:nvSpPr>
        <p:spPr>
          <a:xfrm>
            <a:off x="4535424" y="3895344"/>
            <a:ext cx="3118104" cy="219456"/>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既存コラボ実績との整合性  </a:t>
            </a:r>
            <a:pPr indent="0" marL="0">
              <a:buNone/>
            </a:pPr>
            <a:r>
              <a:rPr lang="en-US" sz="1000" b="1" dirty="0">
                <a:solidFill>
                  <a:srgbClr val="C4761B"/>
                </a:solidFill>
                <a:latin typeface="游ゴシック" pitchFamily="34" charset="0"/>
                <a:ea typeface="游ゴシック" pitchFamily="34" charset="-122"/>
                <a:cs typeface="游ゴシック" pitchFamily="34" charset="-120"/>
              </a:rPr>
              <a:t>△</a:t>
            </a:r>
            <a:endParaRPr lang="en-US" sz="850" dirty="0"/>
          </a:p>
        </p:txBody>
      </p:sp>
      <p:sp>
        <p:nvSpPr>
          <p:cNvPr id="33" name="Text 31"/>
          <p:cNvSpPr/>
          <p:nvPr/>
        </p:nvSpPr>
        <p:spPr>
          <a:xfrm>
            <a:off x="4535424" y="4105656"/>
            <a:ext cx="3118104" cy="365760"/>
          </a:xfrm>
          <a:prstGeom prst="rect">
            <a:avLst/>
          </a:prstGeom>
          <a:noFill/>
          <a:ln/>
        </p:spPr>
        <p:txBody>
          <a:bodyPr wrap="square" lIns="0" tIns="0" rIns="0" bIns="0" rtlCol="0" anchor="ctr"/>
          <a:lstStyle/>
          <a:p>
            <a:pPr indent="0" marL="0">
              <a:lnSpc>
                <a:spcPts val="1000"/>
              </a:lnSpc>
              <a:buNone/>
            </a:pPr>
            <a:r>
              <a:rPr lang="en-US" sz="750" dirty="0">
                <a:solidFill>
                  <a:srgbClr val="808080"/>
                </a:solidFill>
                <a:latin typeface="游ゴシック" pitchFamily="34" charset="0"/>
                <a:ea typeface="游ゴシック" pitchFamily="34" charset="-122"/>
                <a:cs typeface="游ゴシック" pitchFamily="34" charset="-120"/>
              </a:rPr>
              <a:t>バレンタイン軸中心。特撮初コラボで新規性◎だが実装工数増</a:t>
            </a:r>
            <a:endParaRPr lang="en-US" sz="750" dirty="0"/>
          </a:p>
        </p:txBody>
      </p:sp>
      <p:sp>
        <p:nvSpPr>
          <p:cNvPr id="34" name="Text 32"/>
          <p:cNvSpPr/>
          <p:nvPr/>
        </p:nvSpPr>
        <p:spPr>
          <a:xfrm>
            <a:off x="4535424" y="4498848"/>
            <a:ext cx="3118104" cy="219456"/>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3界隈カバレッジ  </a:t>
            </a:r>
            <a:pPr indent="0" marL="0">
              <a:buNone/>
            </a:pPr>
            <a:r>
              <a:rPr lang="en-US" sz="1000" b="1" dirty="0">
                <a:solidFill>
                  <a:srgbClr val="17828F"/>
                </a:solidFill>
                <a:latin typeface="游ゴシック" pitchFamily="34" charset="0"/>
                <a:ea typeface="游ゴシック" pitchFamily="34" charset="-122"/>
                <a:cs typeface="游ゴシック" pitchFamily="34" charset="-120"/>
              </a:rPr>
              <a:t>○</a:t>
            </a:r>
            <a:endParaRPr lang="en-US" sz="850" dirty="0"/>
          </a:p>
        </p:txBody>
      </p:sp>
      <p:sp>
        <p:nvSpPr>
          <p:cNvPr id="35" name="Text 33"/>
          <p:cNvSpPr/>
          <p:nvPr/>
        </p:nvSpPr>
        <p:spPr>
          <a:xfrm>
            <a:off x="4535424" y="4709160"/>
            <a:ext cx="3118104" cy="365760"/>
          </a:xfrm>
          <a:prstGeom prst="rect">
            <a:avLst/>
          </a:prstGeom>
          <a:noFill/>
          <a:ln/>
        </p:spPr>
        <p:txBody>
          <a:bodyPr wrap="square" lIns="0" tIns="0" rIns="0" bIns="0" rtlCol="0" anchor="ctr"/>
          <a:lstStyle/>
          <a:p>
            <a:pPr indent="0" marL="0">
              <a:lnSpc>
                <a:spcPts val="1000"/>
              </a:lnSpc>
              <a:buNone/>
            </a:pPr>
            <a:r>
              <a:rPr lang="en-US" sz="750" dirty="0">
                <a:solidFill>
                  <a:srgbClr val="808080"/>
                </a:solidFill>
                <a:latin typeface="游ゴシック" pitchFamily="34" charset="0"/>
                <a:ea typeface="游ゴシック" pitchFamily="34" charset="-122"/>
                <a:cs typeface="游ゴシック" pitchFamily="34" charset="-120"/>
              </a:rPr>
              <a:t>推し活・ヤング中心。コレクター界隈への接続は限定的</a:t>
            </a:r>
            <a:endParaRPr lang="en-US" sz="750" dirty="0"/>
          </a:p>
        </p:txBody>
      </p:sp>
      <p:sp>
        <p:nvSpPr>
          <p:cNvPr id="36" name="Text 34"/>
          <p:cNvSpPr/>
          <p:nvPr/>
        </p:nvSpPr>
        <p:spPr>
          <a:xfrm>
            <a:off x="4535424" y="5102352"/>
            <a:ext cx="3118104" cy="219456"/>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60周年タイミング活用  </a:t>
            </a:r>
            <a:pPr indent="0" marL="0">
              <a:buNone/>
            </a:pPr>
            <a:r>
              <a:rPr lang="en-US" sz="1000" b="1" dirty="0">
                <a:solidFill>
                  <a:srgbClr val="17828F"/>
                </a:solidFill>
                <a:latin typeface="游ゴシック" pitchFamily="34" charset="0"/>
                <a:ea typeface="游ゴシック" pitchFamily="34" charset="-122"/>
                <a:cs typeface="游ゴシック" pitchFamily="34" charset="-120"/>
              </a:rPr>
              <a:t>○</a:t>
            </a:r>
            <a:endParaRPr lang="en-US" sz="850" dirty="0"/>
          </a:p>
        </p:txBody>
      </p:sp>
      <p:sp>
        <p:nvSpPr>
          <p:cNvPr id="37" name="Text 35"/>
          <p:cNvSpPr/>
          <p:nvPr/>
        </p:nvSpPr>
        <p:spPr>
          <a:xfrm>
            <a:off x="4535424" y="5312664"/>
            <a:ext cx="3118104" cy="365760"/>
          </a:xfrm>
          <a:prstGeom prst="rect">
            <a:avLst/>
          </a:prstGeom>
          <a:noFill/>
          <a:ln/>
        </p:spPr>
        <p:txBody>
          <a:bodyPr wrap="square" lIns="0" tIns="0" rIns="0" bIns="0" rtlCol="0" anchor="ctr"/>
          <a:lstStyle/>
          <a:p>
            <a:pPr indent="0" marL="0">
              <a:lnSpc>
                <a:spcPts val="1000"/>
              </a:lnSpc>
              <a:buNone/>
            </a:pPr>
            <a:r>
              <a:rPr lang="en-US" sz="750" dirty="0">
                <a:solidFill>
                  <a:srgbClr val="808080"/>
                </a:solidFill>
                <a:latin typeface="游ゴシック" pitchFamily="34" charset="0"/>
                <a:ea typeface="游ゴシック" pitchFamily="34" charset="-122"/>
                <a:cs typeface="游ゴシック" pitchFamily="34" charset="-120"/>
              </a:rPr>
              <a:t>周年限定パッケージ・応援ムービー等で展開可能</a:t>
            </a:r>
            <a:endParaRPr lang="en-US" sz="750" dirty="0"/>
          </a:p>
        </p:txBody>
      </p:sp>
      <p:sp>
        <p:nvSpPr>
          <p:cNvPr id="38" name="Text 36"/>
          <p:cNvSpPr/>
          <p:nvPr/>
        </p:nvSpPr>
        <p:spPr>
          <a:xfrm>
            <a:off x="4535424" y="5705856"/>
            <a:ext cx="3118104" cy="274320"/>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 新規性・話題性を狙う場合に選択</a:t>
            </a:r>
            <a:endParaRPr lang="en-US" sz="850" dirty="0"/>
          </a:p>
        </p:txBody>
      </p:sp>
      <p:sp>
        <p:nvSpPr>
          <p:cNvPr id="39" name="Shape 37"/>
          <p:cNvSpPr/>
          <p:nvPr/>
        </p:nvSpPr>
        <p:spPr>
          <a:xfrm>
            <a:off x="7982712" y="2194560"/>
            <a:ext cx="3520440" cy="3794760"/>
          </a:xfrm>
          <a:prstGeom prst="roundRect">
            <a:avLst>
              <a:gd name="adj" fmla="val 2597"/>
            </a:avLst>
          </a:prstGeom>
          <a:solidFill>
            <a:srgbClr val="F7F5F1"/>
          </a:solidFill>
          <a:ln w="9525">
            <a:solidFill>
              <a:srgbClr val="BFBFBF"/>
            </a:solidFill>
            <a:prstDash val="solid"/>
          </a:ln>
        </p:spPr>
      </p:sp>
      <p:sp>
        <p:nvSpPr>
          <p:cNvPr id="40" name="Text 38"/>
          <p:cNvSpPr/>
          <p:nvPr/>
        </p:nvSpPr>
        <p:spPr>
          <a:xfrm>
            <a:off x="8183880" y="2331720"/>
            <a:ext cx="3118104" cy="237744"/>
          </a:xfrm>
          <a:prstGeom prst="rect">
            <a:avLst/>
          </a:prstGeom>
          <a:noFill/>
          <a:ln/>
        </p:spPr>
        <p:txBody>
          <a:bodyPr wrap="square" lIns="0" tIns="0" rIns="0" bIns="0" rtlCol="0" anchor="ctr"/>
          <a:lstStyle/>
          <a:p>
            <a:pPr indent="0" marL="0">
              <a:buNone/>
            </a:pPr>
            <a:r>
              <a:rPr lang="en-US" sz="850" b="1" spc="100" kern="0" dirty="0">
                <a:solidFill>
                  <a:srgbClr val="808080"/>
                </a:solidFill>
                <a:latin typeface="游ゴシック" pitchFamily="34" charset="0"/>
                <a:ea typeface="游ゴシック" pitchFamily="34" charset="-122"/>
                <a:cs typeface="游ゴシック" pitchFamily="34" charset="-120"/>
              </a:rPr>
              <a:t>2nd 候補 ／ 世代継承重視</a:t>
            </a:r>
            <a:endParaRPr lang="en-US" sz="850" dirty="0"/>
          </a:p>
        </p:txBody>
      </p:sp>
      <p:sp>
        <p:nvSpPr>
          <p:cNvPr id="41" name="Text 39"/>
          <p:cNvSpPr/>
          <p:nvPr/>
        </p:nvSpPr>
        <p:spPr>
          <a:xfrm>
            <a:off x="8183880" y="2578608"/>
            <a:ext cx="3118104" cy="365760"/>
          </a:xfrm>
          <a:prstGeom prst="rect">
            <a:avLst/>
          </a:prstGeom>
          <a:noFill/>
          <a:ln/>
        </p:spPr>
        <p:txBody>
          <a:bodyPr wrap="square" lIns="0" tIns="0" rIns="0" bIns="0" rtlCol="0" anchor="ctr"/>
          <a:lstStyle/>
          <a:p>
            <a:pPr indent="0" marL="0">
              <a:buNone/>
            </a:pPr>
            <a:r>
              <a:rPr lang="en-US" sz="1700" b="1" dirty="0">
                <a:solidFill>
                  <a:srgbClr val="333333"/>
                </a:solidFill>
                <a:latin typeface="游ゴシック" pitchFamily="34" charset="0"/>
                <a:ea typeface="游ゴシック" pitchFamily="34" charset="-122"/>
                <a:cs typeface="游ゴシック" pitchFamily="34" charset="-120"/>
              </a:rPr>
              <a:t>雪見だいふく</a:t>
            </a:r>
            <a:endParaRPr lang="en-US" sz="1700" dirty="0"/>
          </a:p>
        </p:txBody>
      </p:sp>
      <p:sp>
        <p:nvSpPr>
          <p:cNvPr id="42" name="Text 40"/>
          <p:cNvSpPr/>
          <p:nvPr/>
        </p:nvSpPr>
        <p:spPr>
          <a:xfrm>
            <a:off x="8183880" y="2962656"/>
            <a:ext cx="3118104" cy="256032"/>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家族団らん × 冬ホリデーシーズン</a:t>
            </a:r>
            <a:endParaRPr lang="en-US" sz="900" dirty="0"/>
          </a:p>
        </p:txBody>
      </p:sp>
      <p:sp>
        <p:nvSpPr>
          <p:cNvPr id="43" name="Text 41"/>
          <p:cNvSpPr/>
          <p:nvPr/>
        </p:nvSpPr>
        <p:spPr>
          <a:xfrm>
            <a:off x="8183880" y="3291840"/>
            <a:ext cx="3118104" cy="219456"/>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CEP独占度  </a:t>
            </a:r>
            <a:pPr indent="0" marL="0">
              <a:buNone/>
            </a:pPr>
            <a:r>
              <a:rPr lang="en-US" sz="1000" b="1" dirty="0">
                <a:solidFill>
                  <a:srgbClr val="C00000"/>
                </a:solidFill>
                <a:latin typeface="游ゴシック" pitchFamily="34" charset="0"/>
                <a:ea typeface="游ゴシック" pitchFamily="34" charset="-122"/>
                <a:cs typeface="游ゴシック" pitchFamily="34" charset="-120"/>
              </a:rPr>
              <a:t>◎</a:t>
            </a:r>
            <a:endParaRPr lang="en-US" sz="850" dirty="0"/>
          </a:p>
        </p:txBody>
      </p:sp>
      <p:sp>
        <p:nvSpPr>
          <p:cNvPr id="44" name="Text 42"/>
          <p:cNvSpPr/>
          <p:nvPr/>
        </p:nvSpPr>
        <p:spPr>
          <a:xfrm>
            <a:off x="8183880" y="3502152"/>
            <a:ext cx="3118104" cy="365760"/>
          </a:xfrm>
          <a:prstGeom prst="rect">
            <a:avLst/>
          </a:prstGeom>
          <a:noFill/>
          <a:ln/>
        </p:spPr>
        <p:txBody>
          <a:bodyPr wrap="square" lIns="0" tIns="0" rIns="0" bIns="0" rtlCol="0" anchor="ctr"/>
          <a:lstStyle/>
          <a:p>
            <a:pPr indent="0" marL="0">
              <a:lnSpc>
                <a:spcPts val="1000"/>
              </a:lnSpc>
              <a:buNone/>
            </a:pPr>
            <a:r>
              <a:rPr lang="en-US" sz="750" dirty="0">
                <a:solidFill>
                  <a:srgbClr val="808080"/>
                </a:solidFill>
                <a:latin typeface="游ゴシック" pitchFamily="34" charset="0"/>
                <a:ea typeface="游ゴシック" pitchFamily="34" charset="-122"/>
                <a:cs typeface="游ゴシック" pitchFamily="34" charset="-120"/>
              </a:rPr>
              <a:t>「家族と分け合いながら」+4.55／「こたつでくつろぎ」+21.16</a:t>
            </a:r>
            <a:endParaRPr lang="en-US" sz="750" dirty="0"/>
          </a:p>
        </p:txBody>
      </p:sp>
      <p:sp>
        <p:nvSpPr>
          <p:cNvPr id="45" name="Text 43"/>
          <p:cNvSpPr/>
          <p:nvPr/>
        </p:nvSpPr>
        <p:spPr>
          <a:xfrm>
            <a:off x="8183880" y="3895344"/>
            <a:ext cx="3118104" cy="219456"/>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既存コラボ実績との整合性  </a:t>
            </a:r>
            <a:pPr indent="0" marL="0">
              <a:buNone/>
            </a:pPr>
            <a:r>
              <a:rPr lang="en-US" sz="1000" b="1" dirty="0">
                <a:solidFill>
                  <a:srgbClr val="C4761B"/>
                </a:solidFill>
                <a:latin typeface="游ゴシック" pitchFamily="34" charset="0"/>
                <a:ea typeface="游ゴシック" pitchFamily="34" charset="-122"/>
                <a:cs typeface="游ゴシック" pitchFamily="34" charset="-120"/>
              </a:rPr>
              <a:t>△</a:t>
            </a:r>
            <a:endParaRPr lang="en-US" sz="850" dirty="0"/>
          </a:p>
        </p:txBody>
      </p:sp>
      <p:sp>
        <p:nvSpPr>
          <p:cNvPr id="46" name="Text 44"/>
          <p:cNvSpPr/>
          <p:nvPr/>
        </p:nvSpPr>
        <p:spPr>
          <a:xfrm>
            <a:off x="8183880" y="4105656"/>
            <a:ext cx="3118104" cy="365760"/>
          </a:xfrm>
          <a:prstGeom prst="rect">
            <a:avLst/>
          </a:prstGeom>
          <a:noFill/>
          <a:ln/>
        </p:spPr>
        <p:txBody>
          <a:bodyPr wrap="square" lIns="0" tIns="0" rIns="0" bIns="0" rtlCol="0" anchor="ctr"/>
          <a:lstStyle/>
          <a:p>
            <a:pPr indent="0" marL="0">
              <a:lnSpc>
                <a:spcPts val="1000"/>
              </a:lnSpc>
              <a:buNone/>
            </a:pPr>
            <a:r>
              <a:rPr lang="en-US" sz="750" dirty="0">
                <a:solidFill>
                  <a:srgbClr val="808080"/>
                </a:solidFill>
                <a:latin typeface="游ゴシック" pitchFamily="34" charset="0"/>
                <a:ea typeface="游ゴシック" pitchFamily="34" charset="-122"/>
                <a:cs typeface="游ゴシック" pitchFamily="34" charset="-120"/>
              </a:rPr>
              <a:t>個人向けおまけ・タレント起用中心。三世代家族軸は未実施</a:t>
            </a:r>
            <a:endParaRPr lang="en-US" sz="750" dirty="0"/>
          </a:p>
        </p:txBody>
      </p:sp>
      <p:sp>
        <p:nvSpPr>
          <p:cNvPr id="47" name="Text 45"/>
          <p:cNvSpPr/>
          <p:nvPr/>
        </p:nvSpPr>
        <p:spPr>
          <a:xfrm>
            <a:off x="8183880" y="4498848"/>
            <a:ext cx="3118104" cy="219456"/>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3界隈カバレッジ  </a:t>
            </a:r>
            <a:pPr indent="0" marL="0">
              <a:buNone/>
            </a:pPr>
            <a:r>
              <a:rPr lang="en-US" sz="1000" b="1" dirty="0">
                <a:solidFill>
                  <a:srgbClr val="17828F"/>
                </a:solidFill>
                <a:latin typeface="游ゴシック" pitchFamily="34" charset="0"/>
                <a:ea typeface="游ゴシック" pitchFamily="34" charset="-122"/>
                <a:cs typeface="游ゴシック" pitchFamily="34" charset="-120"/>
              </a:rPr>
              <a:t>○</a:t>
            </a:r>
            <a:endParaRPr lang="en-US" sz="850" dirty="0"/>
          </a:p>
        </p:txBody>
      </p:sp>
      <p:sp>
        <p:nvSpPr>
          <p:cNvPr id="48" name="Text 46"/>
          <p:cNvSpPr/>
          <p:nvPr/>
        </p:nvSpPr>
        <p:spPr>
          <a:xfrm>
            <a:off x="8183880" y="4709160"/>
            <a:ext cx="3118104" cy="365760"/>
          </a:xfrm>
          <a:prstGeom prst="rect">
            <a:avLst/>
          </a:prstGeom>
          <a:noFill/>
          <a:ln/>
        </p:spPr>
        <p:txBody>
          <a:bodyPr wrap="square" lIns="0" tIns="0" rIns="0" bIns="0" rtlCol="0" anchor="ctr"/>
          <a:lstStyle/>
          <a:p>
            <a:pPr indent="0" marL="0">
              <a:lnSpc>
                <a:spcPts val="1000"/>
              </a:lnSpc>
              <a:buNone/>
            </a:pPr>
            <a:r>
              <a:rPr lang="en-US" sz="750" dirty="0">
                <a:solidFill>
                  <a:srgbClr val="808080"/>
                </a:solidFill>
                <a:latin typeface="游ゴシック" pitchFamily="34" charset="0"/>
                <a:ea typeface="游ゴシック" pitchFamily="34" charset="-122"/>
                <a:cs typeface="游ゴシック" pitchFamily="34" charset="-120"/>
              </a:rPr>
              <a:t>ヤング懐かし・家族軸に接続。コレクターとの相性は限定的</a:t>
            </a:r>
            <a:endParaRPr lang="en-US" sz="750" dirty="0"/>
          </a:p>
        </p:txBody>
      </p:sp>
      <p:sp>
        <p:nvSpPr>
          <p:cNvPr id="49" name="Text 47"/>
          <p:cNvSpPr/>
          <p:nvPr/>
        </p:nvSpPr>
        <p:spPr>
          <a:xfrm>
            <a:off x="8183880" y="5102352"/>
            <a:ext cx="3118104" cy="219456"/>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60周年タイミング活用  </a:t>
            </a:r>
            <a:pPr indent="0" marL="0">
              <a:buNone/>
            </a:pPr>
            <a:r>
              <a:rPr lang="en-US" sz="1000" b="1" dirty="0">
                <a:solidFill>
                  <a:srgbClr val="C4761B"/>
                </a:solidFill>
                <a:latin typeface="游ゴシック" pitchFamily="34" charset="0"/>
                <a:ea typeface="游ゴシック" pitchFamily="34" charset="-122"/>
                <a:cs typeface="游ゴシック" pitchFamily="34" charset="-120"/>
              </a:rPr>
              <a:t>△</a:t>
            </a:r>
            <a:endParaRPr lang="en-US" sz="850" dirty="0"/>
          </a:p>
        </p:txBody>
      </p:sp>
      <p:sp>
        <p:nvSpPr>
          <p:cNvPr id="50" name="Text 48"/>
          <p:cNvSpPr/>
          <p:nvPr/>
        </p:nvSpPr>
        <p:spPr>
          <a:xfrm>
            <a:off x="8183880" y="5312664"/>
            <a:ext cx="3118104" cy="365760"/>
          </a:xfrm>
          <a:prstGeom prst="rect">
            <a:avLst/>
          </a:prstGeom>
          <a:noFill/>
          <a:ln/>
        </p:spPr>
        <p:txBody>
          <a:bodyPr wrap="square" lIns="0" tIns="0" rIns="0" bIns="0" rtlCol="0" anchor="ctr"/>
          <a:lstStyle/>
          <a:p>
            <a:pPr indent="0" marL="0">
              <a:lnSpc>
                <a:spcPts val="1000"/>
              </a:lnSpc>
              <a:buNone/>
            </a:pPr>
            <a:r>
              <a:rPr lang="en-US" sz="750" dirty="0">
                <a:solidFill>
                  <a:srgbClr val="808080"/>
                </a:solidFill>
                <a:latin typeface="游ゴシック" pitchFamily="34" charset="0"/>
                <a:ea typeface="游ゴシック" pitchFamily="34" charset="-122"/>
                <a:cs typeface="游ゴシック" pitchFamily="34" charset="-120"/>
              </a:rPr>
              <a:t>冬季限定のためタイミング依存（2026年冬）</a:t>
            </a:r>
            <a:endParaRPr lang="en-US" sz="750" dirty="0"/>
          </a:p>
        </p:txBody>
      </p:sp>
      <p:sp>
        <p:nvSpPr>
          <p:cNvPr id="51" name="Text 49"/>
          <p:cNvSpPr/>
          <p:nvPr/>
        </p:nvSpPr>
        <p:spPr>
          <a:xfrm>
            <a:off x="8183880" y="5705856"/>
            <a:ext cx="3118104" cy="274320"/>
          </a:xfrm>
          <a:prstGeom prst="rect">
            <a:avLst/>
          </a:prstGeom>
          <a:noFill/>
          <a:ln/>
        </p:spPr>
        <p:txBody>
          <a:bodyPr wrap="square" lIns="0" tIns="0" rIns="0" bIns="0" rtlCol="0" anchor="ctr"/>
          <a:lstStyle/>
          <a:p>
            <a:pPr indent="0" marL="0">
              <a:buNone/>
            </a:pPr>
            <a:r>
              <a:rPr lang="en-US" sz="850" b="1" dirty="0">
                <a:solidFill>
                  <a:srgbClr val="595959"/>
                </a:solidFill>
                <a:latin typeface="游ゴシック" pitchFamily="34" charset="0"/>
                <a:ea typeface="游ゴシック" pitchFamily="34" charset="-122"/>
                <a:cs typeface="游ゴシック" pitchFamily="34" charset="-120"/>
              </a:rPr>
              <a:t>→ 世代継承・家族団らん訴求／ホリデーシーズンに選択</a:t>
            </a:r>
            <a:endParaRPr lang="en-US" sz="850" dirty="0"/>
          </a:p>
        </p:txBody>
      </p:sp>
      <p:sp>
        <p:nvSpPr>
          <p:cNvPr id="52" name="Text 50"/>
          <p:cNvSpPr/>
          <p:nvPr/>
        </p:nvSpPr>
        <p:spPr>
          <a:xfrm>
            <a:off x="685800" y="6144768"/>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出所：アライドアーキテクツ社 VOC分析に基づく4軸評価。スコアは各CEPの全体規模（言及数）とセットで評価しており、スコア単独で推奨順位を決めていない（詳細データはAppendix）</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965960" cy="310896"/>
          </a:xfrm>
          <a:prstGeom prst="rect">
            <a:avLst/>
          </a:prstGeom>
          <a:solidFill>
            <a:srgbClr val="C4761B"/>
          </a:solidFill>
          <a:ln/>
        </p:spPr>
      </p:sp>
      <p:sp>
        <p:nvSpPr>
          <p:cNvPr id="3" name="Text 1"/>
          <p:cNvSpPr/>
          <p:nvPr/>
        </p:nvSpPr>
        <p:spPr>
          <a:xfrm>
            <a:off x="795528" y="384048"/>
            <a:ext cx="1856232"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3．どこから始めるか</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貴社限り</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ガーナなら、「応援」と「幸福感」を広げられる</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ガーナは「純粋な幸福感」の文脈で競合を引き離し、「甘いもの」でも上位。過去5年のIPコラボはアニメ・タレント中心で、実写特撮ヒーローとの連携は空白</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7</a:t>
            </a:r>
            <a:endParaRPr lang="en-US" sz="950" dirty="0"/>
          </a:p>
        </p:txBody>
      </p:sp>
      <p:sp>
        <p:nvSpPr>
          <p:cNvPr id="11" name="Shape 9"/>
          <p:cNvSpPr/>
          <p:nvPr/>
        </p:nvSpPr>
        <p:spPr>
          <a:xfrm>
            <a:off x="685800" y="2286000"/>
            <a:ext cx="2011680" cy="292608"/>
          </a:xfrm>
          <a:prstGeom prst="roundRect">
            <a:avLst>
              <a:gd name="adj" fmla="val 50000"/>
            </a:avLst>
          </a:prstGeom>
          <a:solidFill>
            <a:srgbClr val="C00000"/>
          </a:solidFill>
          <a:ln/>
        </p:spPr>
      </p:sp>
      <p:sp>
        <p:nvSpPr>
          <p:cNvPr id="12" name="Text 10"/>
          <p:cNvSpPr/>
          <p:nvPr/>
        </p:nvSpPr>
        <p:spPr>
          <a:xfrm>
            <a:off x="685800" y="2286000"/>
            <a:ext cx="20116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ガーナ競合比較</a:t>
            </a:r>
            <a:endParaRPr lang="en-US" sz="1050" dirty="0"/>
          </a:p>
        </p:txBody>
      </p:sp>
      <p:sp>
        <p:nvSpPr>
          <p:cNvPr id="13" name="Text 11"/>
          <p:cNvSpPr/>
          <p:nvPr/>
        </p:nvSpPr>
        <p:spPr>
          <a:xfrm>
            <a:off x="2834640" y="2304288"/>
            <a:ext cx="2286000" cy="256032"/>
          </a:xfrm>
          <a:prstGeom prst="rect">
            <a:avLst/>
          </a:prstGeom>
          <a:noFill/>
          <a:ln/>
        </p:spPr>
        <p:txBody>
          <a:bodyPr wrap="square" lIns="0" tIns="0" rIns="0" bIns="0" rtlCol="0" anchor="ctr"/>
          <a:lstStyle/>
          <a:p>
            <a:pPr indent="0" marL="0">
              <a:buNone/>
            </a:pPr>
            <a:r>
              <a:rPr lang="en-US" sz="850" dirty="0">
                <a:solidFill>
                  <a:srgbClr val="808080"/>
                </a:solidFill>
                <a:latin typeface="游ゴシック" pitchFamily="34" charset="0"/>
                <a:ea typeface="游ゴシック" pitchFamily="34" charset="-122"/>
                <a:cs typeface="游ゴシック" pitchFamily="34" charset="-120"/>
              </a:rPr>
              <a:t>※分析の一部を抜粋</a:t>
            </a:r>
            <a:endParaRPr lang="en-US" sz="8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5800" y="2670048"/>
          <a:ext cx="10817352" cy="914400"/>
        </p:xfrm>
        <a:graphic>
          <a:graphicData uri="http://schemas.openxmlformats.org/drawingml/2006/table">
            <a:tbl>
              <a:tblPr/>
              <a:tblGrid>
                <a:gridCol w="3017520"/>
                <a:gridCol w="914400"/>
                <a:gridCol w="914400"/>
                <a:gridCol w="914400"/>
                <a:gridCol w="914400"/>
                <a:gridCol w="758952"/>
                <a:gridCol w="3383280"/>
              </a:tblGrid>
              <a:tr h="310896">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状況のCEPs</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ガーナ</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明治ミルク</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meiji THE</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DARS</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言及数</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 ウルトラマンの対応CEP</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420624">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甘いものが食べたいとき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b="1" dirty="0">
                          <a:solidFill>
                            <a:srgbClr val="333333"/>
                          </a:solidFill>
                          <a:latin typeface="游ゴシック" pitchFamily="34" charset="0"/>
                          <a:ea typeface="游ゴシック" pitchFamily="34" charset="-122"/>
                          <a:cs typeface="游ゴシック" pitchFamily="34" charset="-120"/>
                        </a:rPr>
                        <a:t>6.19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-6.6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-6.54</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9.21</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270</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800" dirty="0">
                          <a:solidFill>
                            <a:srgbClr val="C00000"/>
                          </a:solidFill>
                          <a:latin typeface="游ゴシック" pitchFamily="34" charset="0"/>
                          <a:ea typeface="游ゴシック" pitchFamily="34" charset="-122"/>
                          <a:cs typeface="游ゴシック" pitchFamily="34" charset="-120"/>
                        </a:rPr>
                        <a:t>「テンションを上げたい」+1.49</a:t>
                      </a: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20624">
                <a:tc>
                  <a:txBody>
                    <a:bodyPr/>
                    <a:lstStyle/>
                    <a:p>
                      <a:pPr indent="0" marL="0">
                        <a:buNone/>
                      </a:pPr>
                      <a:r>
                        <a:rPr lang="en-US" sz="900" b="1" dirty="0">
                          <a:solidFill>
                            <a:srgbClr val="C00000"/>
                          </a:solidFill>
                          <a:latin typeface="游ゴシック" pitchFamily="34" charset="0"/>
                          <a:ea typeface="游ゴシック" pitchFamily="34" charset="-122"/>
                          <a:cs typeface="游ゴシック" pitchFamily="34" charset="-120"/>
                        </a:rPr>
                        <a:t>◎ </a:t>
                      </a:r>
                      <a:pPr indent="0" marL="0">
                        <a:buNone/>
                      </a:pPr>
                      <a:r>
                        <a:rPr lang="en-US" sz="900" b="1" dirty="0">
                          <a:solidFill>
                            <a:srgbClr val="C00000"/>
                          </a:solidFill>
                          <a:latin typeface="游ゴシック" pitchFamily="34" charset="0"/>
                          <a:ea typeface="游ゴシック" pitchFamily="34" charset="-122"/>
                          <a:cs typeface="游ゴシック" pitchFamily="34" charset="-120"/>
                        </a:rPr>
                        <a:t>純粋な幸福感を得たいとき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0F0"/>
                    </a:solidFill>
                  </a:tcPr>
                </a:tc>
                <a:tc>
                  <a:txBody>
                    <a:bodyPr/>
                    <a:lstStyle/>
                    <a:p>
                      <a:pPr algn="ctr" indent="0" marL="0">
                        <a:buNone/>
                      </a:pPr>
                      <a:r>
                        <a:rPr lang="en-US" sz="900" b="1" dirty="0">
                          <a:solidFill>
                            <a:srgbClr val="C00000"/>
                          </a:solidFill>
                          <a:latin typeface="游ゴシック" pitchFamily="34" charset="0"/>
                          <a:ea typeface="游ゴシック" pitchFamily="34" charset="-122"/>
                          <a:cs typeface="游ゴシック" pitchFamily="34" charset="-120"/>
                        </a:rPr>
                        <a:t>2.61</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808080"/>
                          </a:solidFill>
                          <a:latin typeface="游ゴシック" pitchFamily="34" charset="0"/>
                          <a:ea typeface="游ゴシック" pitchFamily="34" charset="-122"/>
                          <a:cs typeface="游ゴシック" pitchFamily="34" charset="-120"/>
                        </a:rPr>
                        <a:t>—</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808080"/>
                          </a:solidFill>
                          <a:latin typeface="游ゴシック" pitchFamily="34" charset="0"/>
                          <a:ea typeface="游ゴシック" pitchFamily="34" charset="-122"/>
                          <a:cs typeface="游ゴシック" pitchFamily="34" charset="-120"/>
                        </a:rPr>
                        <a:t>—</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808080"/>
                          </a:solidFill>
                          <a:latin typeface="游ゴシック" pitchFamily="34" charset="0"/>
                          <a:ea typeface="游ゴシック" pitchFamily="34" charset="-122"/>
                          <a:cs typeface="游ゴシック" pitchFamily="34" charset="-120"/>
                        </a:rPr>
                        <a:t>—</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808080"/>
                          </a:solidFill>
                          <a:latin typeface="游ゴシック" pitchFamily="34" charset="0"/>
                          <a:ea typeface="游ゴシック" pitchFamily="34" charset="-122"/>
                          <a:cs typeface="游ゴシック" pitchFamily="34" charset="-120"/>
                        </a:rPr>
                        <a:t>—</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800" dirty="0">
                          <a:solidFill>
                            <a:srgbClr val="C00000"/>
                          </a:solidFill>
                          <a:latin typeface="游ゴシック" pitchFamily="34" charset="0"/>
                          <a:ea typeface="游ゴシック" pitchFamily="34" charset="-122"/>
                          <a:cs typeface="游ゴシック" pitchFamily="34" charset="-120"/>
                        </a:rPr>
                        <a:t>「幼少期の純粋な興奮」と適合。+2.61は4軸評価より（4社中1位）</a:t>
                      </a: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20624">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自分のご褒美として食べたいとき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-0.19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-1.56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-1.45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48</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20624">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バレンタインに好きな人へ渡したいとき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-9.18</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12.05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-8.01</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-11.34</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315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800" dirty="0">
                          <a:solidFill>
                            <a:srgbClr val="C00000"/>
                          </a:solidFill>
                          <a:latin typeface="游ゴシック" pitchFamily="34" charset="0"/>
                          <a:ea typeface="游ゴシック" pitchFamily="34" charset="-122"/>
                          <a:cs typeface="游ゴシック" pitchFamily="34" charset="-120"/>
                        </a:rPr>
                        <a:t>既存の主戦場は明治が優位</a:t>
                      </a: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5" name="Shape 12"/>
          <p:cNvSpPr/>
          <p:nvPr/>
        </p:nvSpPr>
        <p:spPr>
          <a:xfrm>
            <a:off x="685800" y="4892040"/>
            <a:ext cx="10817352" cy="960120"/>
          </a:xfrm>
          <a:prstGeom prst="roundRect">
            <a:avLst>
              <a:gd name="adj" fmla="val 7619"/>
            </a:avLst>
          </a:prstGeom>
          <a:solidFill>
            <a:srgbClr val="FDF0F0"/>
          </a:solidFill>
          <a:ln w="12700">
            <a:solidFill>
              <a:srgbClr val="C00000"/>
            </a:solidFill>
            <a:prstDash val="solid"/>
          </a:ln>
        </p:spPr>
      </p:sp>
      <p:sp>
        <p:nvSpPr>
          <p:cNvPr id="16" name="Text 13"/>
          <p:cNvSpPr/>
          <p:nvPr/>
        </p:nvSpPr>
        <p:spPr>
          <a:xfrm>
            <a:off x="960120" y="4892040"/>
            <a:ext cx="10268712" cy="960120"/>
          </a:xfrm>
          <a:prstGeom prst="rect">
            <a:avLst/>
          </a:prstGeom>
          <a:noFill/>
          <a:ln/>
        </p:spPr>
        <p:txBody>
          <a:bodyPr wrap="square" lIns="0" tIns="0" rIns="0" bIns="0" rtlCol="0" anchor="ctr"/>
          <a:lstStyle/>
          <a:p>
            <a:pPr indent="0" marL="0">
              <a:lnSpc>
                <a:spcPts val="1700"/>
              </a:lnSpc>
              <a:buNone/>
            </a:pPr>
            <a:r>
              <a:rPr lang="en-US" sz="1100" b="1" dirty="0">
                <a:solidFill>
                  <a:srgbClr val="C00000"/>
                </a:solidFill>
                <a:latin typeface="游ゴシック" pitchFamily="34" charset="0"/>
                <a:ea typeface="游ゴシック" pitchFamily="34" charset="-122"/>
                <a:cs typeface="游ゴシック" pitchFamily="34" charset="-120"/>
              </a:rPr>
              <a:t>◆ 適合ゾーンに応える新規の切り口（例・1案のみ）：</a:t>
            </a:r>
            <a:endParaRPr lang="en-US" sz="1100" dirty="0"/>
          </a:p>
          <a:p>
            <a:pPr indent="0" marL="0">
              <a:lnSpc>
                <a:spcPts val="1700"/>
              </a:lnSpc>
              <a:buNone/>
            </a:pPr>
            <a:r>
              <a:rPr lang="en-US" sz="1100" dirty="0">
                <a:solidFill>
                  <a:srgbClr val="404040"/>
                </a:solidFill>
                <a:latin typeface="游ゴシック" pitchFamily="34" charset="0"/>
                <a:ea typeface="游ゴシック" pitchFamily="34" charset="-122"/>
                <a:cs typeface="游ゴシック" pitchFamily="34" charset="-120"/>
              </a:rPr>
              <a:t>ウルトラマン60周年 × 応援ムービー付き限定パッケージ ── 「純粋な幸福感を得たいとき」に、実写特撮ヒーロー初コラボで応える</a:t>
            </a:r>
            <a:endParaRPr lang="en-US" sz="1100" dirty="0"/>
          </a:p>
        </p:txBody>
      </p:sp>
      <p:sp>
        <p:nvSpPr>
          <p:cNvPr id="17" name="Text 14"/>
          <p:cNvSpPr/>
          <p:nvPr/>
        </p:nvSpPr>
        <p:spPr>
          <a:xfrm>
            <a:off x="685800" y="603504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スコア＝メンタルアドバンテージスコア（0基準・±5が目安、正＝その場面で想起されやすい。読み方はAppendix参照）。出所：アライドアーキテクツ社 VOC分析（X上の生活者投稿、2025/8–2026/7）※分析の一部を抜粋。「純粋な幸福感」の競合別スコアは元資料の抜粋表に含まれないため評価記載のみを表示</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965960" cy="310896"/>
          </a:xfrm>
          <a:prstGeom prst="rect">
            <a:avLst/>
          </a:prstGeom>
          <a:solidFill>
            <a:srgbClr val="C4761B"/>
          </a:solidFill>
          <a:ln/>
        </p:spPr>
      </p:sp>
      <p:sp>
        <p:nvSpPr>
          <p:cNvPr id="3" name="Text 1"/>
          <p:cNvSpPr/>
          <p:nvPr/>
        </p:nvSpPr>
        <p:spPr>
          <a:xfrm>
            <a:off x="795528" y="384048"/>
            <a:ext cx="1856232"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3．どこから始めるか</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貴社限り</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雪見だいふくなら、「三世代の団らん」を取りにいける</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雪見だいふくは「家族と分け合う」文脈で独占的。三世代の家族団らん軸のIPコラボは過去5年に実績がなく、三世代IPのウルトラマンと噛み合う</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8</a:t>
            </a:r>
            <a:endParaRPr lang="en-US" sz="950" dirty="0"/>
          </a:p>
        </p:txBody>
      </p:sp>
      <p:sp>
        <p:nvSpPr>
          <p:cNvPr id="11" name="Shape 9"/>
          <p:cNvSpPr/>
          <p:nvPr/>
        </p:nvSpPr>
        <p:spPr>
          <a:xfrm>
            <a:off x="685800" y="2286000"/>
            <a:ext cx="2377440" cy="292608"/>
          </a:xfrm>
          <a:prstGeom prst="roundRect">
            <a:avLst>
              <a:gd name="adj" fmla="val 50000"/>
            </a:avLst>
          </a:prstGeom>
          <a:solidFill>
            <a:srgbClr val="C00000"/>
          </a:solidFill>
          <a:ln/>
        </p:spPr>
      </p:sp>
      <p:sp>
        <p:nvSpPr>
          <p:cNvPr id="12" name="Text 10"/>
          <p:cNvSpPr/>
          <p:nvPr/>
        </p:nvSpPr>
        <p:spPr>
          <a:xfrm>
            <a:off x="685800" y="2286000"/>
            <a:ext cx="23774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游ゴシック" pitchFamily="34" charset="0"/>
                <a:ea typeface="游ゴシック" pitchFamily="34" charset="-122"/>
                <a:cs typeface="游ゴシック" pitchFamily="34" charset="-120"/>
              </a:rPr>
              <a:t>雪見だいふく競合比較</a:t>
            </a:r>
            <a:endParaRPr lang="en-US" sz="1050" dirty="0"/>
          </a:p>
        </p:txBody>
      </p:sp>
      <p:sp>
        <p:nvSpPr>
          <p:cNvPr id="13" name="Text 11"/>
          <p:cNvSpPr/>
          <p:nvPr/>
        </p:nvSpPr>
        <p:spPr>
          <a:xfrm>
            <a:off x="3200400" y="2304288"/>
            <a:ext cx="2286000" cy="256032"/>
          </a:xfrm>
          <a:prstGeom prst="rect">
            <a:avLst/>
          </a:prstGeom>
          <a:noFill/>
          <a:ln/>
        </p:spPr>
        <p:txBody>
          <a:bodyPr wrap="square" lIns="0" tIns="0" rIns="0" bIns="0" rtlCol="0" anchor="ctr"/>
          <a:lstStyle/>
          <a:p>
            <a:pPr indent="0" marL="0">
              <a:buNone/>
            </a:pPr>
            <a:r>
              <a:rPr lang="en-US" sz="850" dirty="0">
                <a:solidFill>
                  <a:srgbClr val="808080"/>
                </a:solidFill>
                <a:latin typeface="游ゴシック" pitchFamily="34" charset="0"/>
                <a:ea typeface="游ゴシック" pitchFamily="34" charset="-122"/>
                <a:cs typeface="游ゴシック" pitchFamily="34" charset="-120"/>
              </a:rPr>
              <a:t>※分析の一部を抜粋</a:t>
            </a:r>
            <a:endParaRPr lang="en-US" sz="8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5800" y="2670048"/>
          <a:ext cx="10817352" cy="914400"/>
        </p:xfrm>
        <a:graphic>
          <a:graphicData uri="http://schemas.openxmlformats.org/drawingml/2006/table">
            <a:tbl>
              <a:tblPr/>
              <a:tblGrid>
                <a:gridCol w="3017520"/>
                <a:gridCol w="1005840"/>
                <a:gridCol w="1051560"/>
                <a:gridCol w="777240"/>
                <a:gridCol w="822960"/>
                <a:gridCol w="758952"/>
                <a:gridCol w="3383280"/>
              </a:tblGrid>
              <a:tr h="310896">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状況のCEPs</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雪見だいふく</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ハーゲンダッツ</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ピノ</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パルム</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言及数</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 ウルトラマンの対応CEP</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420624">
                <a:tc>
                  <a:txBody>
                    <a:bodyPr/>
                    <a:lstStyle/>
                    <a:p>
                      <a:pPr indent="0" marL="0">
                        <a:buNone/>
                      </a:pPr>
                      <a:r>
                        <a:rPr lang="en-US" sz="900" b="1" dirty="0">
                          <a:solidFill>
                            <a:srgbClr val="C00000"/>
                          </a:solidFill>
                          <a:latin typeface="游ゴシック" pitchFamily="34" charset="0"/>
                          <a:ea typeface="游ゴシック" pitchFamily="34" charset="-122"/>
                          <a:cs typeface="游ゴシック" pitchFamily="34" charset="-120"/>
                        </a:rPr>
                        <a:t>◎ </a:t>
                      </a:r>
                      <a:pPr indent="0" marL="0">
                        <a:buNone/>
                      </a:pPr>
                      <a:r>
                        <a:rPr lang="en-US" sz="900" b="1" dirty="0">
                          <a:solidFill>
                            <a:srgbClr val="C00000"/>
                          </a:solidFill>
                          <a:latin typeface="游ゴシック" pitchFamily="34" charset="0"/>
                          <a:ea typeface="游ゴシック" pitchFamily="34" charset="-122"/>
                          <a:cs typeface="游ゴシック" pitchFamily="34" charset="-120"/>
                        </a:rPr>
                        <a:t>友達や家族に分け合いながら食べたいとき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0F0"/>
                    </a:solidFill>
                  </a:tcPr>
                </a:tc>
                <a:tc>
                  <a:txBody>
                    <a:bodyPr/>
                    <a:lstStyle/>
                    <a:p>
                      <a:pPr algn="ctr" indent="0" marL="0">
                        <a:buNone/>
                      </a:pPr>
                      <a:r>
                        <a:rPr lang="en-US" sz="900" b="1" dirty="0">
                          <a:solidFill>
                            <a:srgbClr val="C00000"/>
                          </a:solidFill>
                          <a:latin typeface="游ゴシック" pitchFamily="34" charset="0"/>
                          <a:ea typeface="游ゴシック" pitchFamily="34" charset="-122"/>
                          <a:cs typeface="游ゴシック" pitchFamily="34" charset="-120"/>
                        </a:rPr>
                        <a:t>4.55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0.76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-6.2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452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800" dirty="0">
                          <a:solidFill>
                            <a:srgbClr val="C00000"/>
                          </a:solidFill>
                          <a:latin typeface="游ゴシック" pitchFamily="34" charset="0"/>
                          <a:ea typeface="游ゴシック" pitchFamily="34" charset="-122"/>
                          <a:cs typeface="游ゴシック" pitchFamily="34" charset="-120"/>
                        </a:rPr>
                        <a:t>「世代を超えた絆」+0.66</a:t>
                      </a: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20624">
                <a:tc>
                  <a:txBody>
                    <a:bodyPr/>
                    <a:lstStyle/>
                    <a:p>
                      <a:pPr indent="0" marL="0">
                        <a:buNone/>
                      </a:pPr>
                      <a:r>
                        <a:rPr lang="en-US" sz="900" b="1" dirty="0">
                          <a:solidFill>
                            <a:srgbClr val="C00000"/>
                          </a:solidFill>
                          <a:latin typeface="游ゴシック" pitchFamily="34" charset="0"/>
                          <a:ea typeface="游ゴシック" pitchFamily="34" charset="-122"/>
                          <a:cs typeface="游ゴシック" pitchFamily="34" charset="-120"/>
                        </a:rPr>
                        <a:t>◎ </a:t>
                      </a:r>
                      <a:pPr indent="0" marL="0">
                        <a:buNone/>
                      </a:pPr>
                      <a:r>
                        <a:rPr lang="en-US" sz="900" b="1" dirty="0">
                          <a:solidFill>
                            <a:srgbClr val="C00000"/>
                          </a:solidFill>
                          <a:latin typeface="游ゴシック" pitchFamily="34" charset="0"/>
                          <a:ea typeface="游ゴシック" pitchFamily="34" charset="-122"/>
                          <a:cs typeface="游ゴシック" pitchFamily="34" charset="-120"/>
                        </a:rPr>
                        <a:t>子供と一緒に食べたいとき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0F0"/>
                    </a:solidFill>
                  </a:tcPr>
                </a:tc>
                <a:tc>
                  <a:txBody>
                    <a:bodyPr/>
                    <a:lstStyle/>
                    <a:p>
                      <a:pPr algn="ctr" indent="0" marL="0">
                        <a:buNone/>
                      </a:pPr>
                      <a:r>
                        <a:rPr lang="en-US" sz="900" b="1" dirty="0">
                          <a:solidFill>
                            <a:srgbClr val="C00000"/>
                          </a:solidFill>
                          <a:latin typeface="游ゴシック" pitchFamily="34" charset="0"/>
                          <a:ea typeface="游ゴシック" pitchFamily="34" charset="-122"/>
                          <a:cs typeface="游ゴシック" pitchFamily="34" charset="-120"/>
                        </a:rPr>
                        <a:t>1.68</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-1.07</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1.52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-2.53</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217</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800" dirty="0">
                          <a:solidFill>
                            <a:srgbClr val="C00000"/>
                          </a:solidFill>
                          <a:latin typeface="游ゴシック" pitchFamily="34" charset="0"/>
                          <a:ea typeface="游ゴシック" pitchFamily="34" charset="-122"/>
                          <a:cs typeface="游ゴシック" pitchFamily="34" charset="-120"/>
                        </a:rPr>
                        <a:t>「子どもと一緒に楽しみたい」+1.45</a:t>
                      </a: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20624">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暑い時に涼みながら食べたいとき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-10.6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0.07</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4.71</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5.82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895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800" dirty="0">
                          <a:solidFill>
                            <a:srgbClr val="C00000"/>
                          </a:solidFill>
                          <a:latin typeface="游ゴシック" pitchFamily="34" charset="0"/>
                          <a:ea typeface="游ゴシック" pitchFamily="34" charset="-122"/>
                          <a:cs typeface="游ゴシック" pitchFamily="34" charset="-120"/>
                        </a:rPr>
                        <a:t>夏場はピノ・パルムが優位 ＝ 冬が主戦場</a:t>
                      </a: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20624">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期間限定フレーバーを試したいとき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-11.08</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9.22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-8.63</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10.5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1291</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800" dirty="0">
                          <a:solidFill>
                            <a:srgbClr val="C00000"/>
                          </a:solidFill>
                          <a:latin typeface="游ゴシック" pitchFamily="34" charset="0"/>
                          <a:ea typeface="游ゴシック" pitchFamily="34" charset="-122"/>
                          <a:cs typeface="游ゴシック" pitchFamily="34" charset="-120"/>
                        </a:rPr>
                        <a:t>味変軸は競合が優位</a:t>
                      </a: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5" name="Shape 12"/>
          <p:cNvSpPr/>
          <p:nvPr/>
        </p:nvSpPr>
        <p:spPr>
          <a:xfrm>
            <a:off x="685800" y="4892040"/>
            <a:ext cx="10817352" cy="960120"/>
          </a:xfrm>
          <a:prstGeom prst="roundRect">
            <a:avLst>
              <a:gd name="adj" fmla="val 7619"/>
            </a:avLst>
          </a:prstGeom>
          <a:solidFill>
            <a:srgbClr val="FDF0F0"/>
          </a:solidFill>
          <a:ln w="12700">
            <a:solidFill>
              <a:srgbClr val="C00000"/>
            </a:solidFill>
            <a:prstDash val="solid"/>
          </a:ln>
        </p:spPr>
      </p:sp>
      <p:sp>
        <p:nvSpPr>
          <p:cNvPr id="16" name="Text 13"/>
          <p:cNvSpPr/>
          <p:nvPr/>
        </p:nvSpPr>
        <p:spPr>
          <a:xfrm>
            <a:off x="960120" y="4892040"/>
            <a:ext cx="10268712" cy="960120"/>
          </a:xfrm>
          <a:prstGeom prst="rect">
            <a:avLst/>
          </a:prstGeom>
          <a:noFill/>
          <a:ln/>
        </p:spPr>
        <p:txBody>
          <a:bodyPr wrap="square" lIns="0" tIns="0" rIns="0" bIns="0" rtlCol="0" anchor="ctr"/>
          <a:lstStyle/>
          <a:p>
            <a:pPr indent="0" marL="0">
              <a:lnSpc>
                <a:spcPts val="1700"/>
              </a:lnSpc>
              <a:buNone/>
            </a:pPr>
            <a:r>
              <a:rPr lang="en-US" sz="1100" b="1" dirty="0">
                <a:solidFill>
                  <a:srgbClr val="C00000"/>
                </a:solidFill>
                <a:latin typeface="游ゴシック" pitchFamily="34" charset="0"/>
                <a:ea typeface="游ゴシック" pitchFamily="34" charset="-122"/>
                <a:cs typeface="游ゴシック" pitchFamily="34" charset="-120"/>
              </a:rPr>
              <a:t>◆ 適合ゾーンに応える新規の切り口（例・1案のみ）：</a:t>
            </a:r>
            <a:endParaRPr lang="en-US" sz="1100" dirty="0"/>
          </a:p>
          <a:p>
            <a:pPr indent="0" marL="0">
              <a:lnSpc>
                <a:spcPts val="1700"/>
              </a:lnSpc>
              <a:buNone/>
            </a:pPr>
            <a:r>
              <a:rPr lang="en-US" sz="1100" dirty="0">
                <a:solidFill>
                  <a:srgbClr val="404040"/>
                </a:solidFill>
                <a:latin typeface="游ゴシック" pitchFamily="34" charset="0"/>
                <a:ea typeface="游ゴシック" pitchFamily="34" charset="-122"/>
                <a:cs typeface="游ゴシック" pitchFamily="34" charset="-120"/>
              </a:rPr>
              <a:t>昭和・平成・令和のウルトラファミリーと囲む冬 ── 三世代でこたつを囲む「家族と分け合いたいとき」に応える（2026年冬）</a:t>
            </a:r>
            <a:endParaRPr lang="en-US" sz="1100" dirty="0"/>
          </a:p>
        </p:txBody>
      </p:sp>
      <p:sp>
        <p:nvSpPr>
          <p:cNvPr id="17" name="Text 14"/>
          <p:cNvSpPr/>
          <p:nvPr/>
        </p:nvSpPr>
        <p:spPr>
          <a:xfrm>
            <a:off x="685800" y="603504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スコア＝メンタルアドバンテージスコア（0基準・±5が目安、正＝その場面で想起されやすい。読み方はAppendix参照）。出所：アライドアーキテクツ社 VOC分析（X上の生活者投稿、2025/8–2026/7）※分析の一部を抜粋</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965960" cy="310896"/>
          </a:xfrm>
          <a:prstGeom prst="rect">
            <a:avLst/>
          </a:prstGeom>
          <a:solidFill>
            <a:srgbClr val="C4761B"/>
          </a:solidFill>
          <a:ln/>
        </p:spPr>
      </p:sp>
      <p:sp>
        <p:nvSpPr>
          <p:cNvPr id="3" name="Text 1"/>
          <p:cNvSpPr/>
          <p:nvPr/>
        </p:nvSpPr>
        <p:spPr>
          <a:xfrm>
            <a:off x="795528" y="384048"/>
            <a:ext cx="1856232"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3．どこから始めるか</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貴社限り</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コアラのマーチ ×「食べるウルトラ図鑑」</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「絵柄を楽しみながら食べたい」はコアラのマーチが突出して独占するCEPs。60年×約2,500種の絵柄資産との掛け合わせ</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9</a:t>
            </a:r>
            <a:endParaRPr lang="en-US" sz="950" dirty="0"/>
          </a:p>
        </p:txBody>
      </p:sp>
      <p:sp>
        <p:nvSpPr>
          <p:cNvPr id="11" name="Text 9"/>
          <p:cNvSpPr/>
          <p:nvPr/>
        </p:nvSpPr>
        <p:spPr>
          <a:xfrm>
            <a:off x="685800" y="2194560"/>
            <a:ext cx="3108960" cy="914400"/>
          </a:xfrm>
          <a:prstGeom prst="rect">
            <a:avLst/>
          </a:prstGeom>
          <a:noFill/>
          <a:ln/>
        </p:spPr>
        <p:txBody>
          <a:bodyPr wrap="square" lIns="0" tIns="0" rIns="0" bIns="0" rtlCol="0" anchor="ctr"/>
          <a:lstStyle/>
          <a:p>
            <a:pPr indent="0" marL="0">
              <a:buNone/>
            </a:pPr>
            <a:r>
              <a:rPr lang="en-US" sz="5200" b="1" dirty="0">
                <a:solidFill>
                  <a:srgbClr val="C00000"/>
                </a:solidFill>
                <a:latin typeface="游ゴシック" pitchFamily="34" charset="0"/>
                <a:ea typeface="游ゴシック" pitchFamily="34" charset="-122"/>
                <a:cs typeface="游ゴシック" pitchFamily="34" charset="-120"/>
              </a:rPr>
              <a:t>+9.57</a:t>
            </a:r>
            <a:endParaRPr lang="en-US" sz="5200" dirty="0"/>
          </a:p>
        </p:txBody>
      </p:sp>
      <p:sp>
        <p:nvSpPr>
          <p:cNvPr id="12" name="Text 10"/>
          <p:cNvSpPr/>
          <p:nvPr/>
        </p:nvSpPr>
        <p:spPr>
          <a:xfrm>
            <a:off x="685800" y="3127248"/>
            <a:ext cx="3291840" cy="640080"/>
          </a:xfrm>
          <a:prstGeom prst="rect">
            <a:avLst/>
          </a:prstGeom>
          <a:noFill/>
          <a:ln/>
        </p:spPr>
        <p:txBody>
          <a:bodyPr wrap="square" lIns="0" tIns="0" rIns="0" bIns="0" rtlCol="0" anchor="ctr"/>
          <a:lstStyle/>
          <a:p>
            <a:pPr indent="0" marL="0">
              <a:lnSpc>
                <a:spcPts val="1400"/>
              </a:lnSpc>
              <a:buNone/>
            </a:pPr>
            <a:r>
              <a:rPr lang="en-US" sz="950" dirty="0">
                <a:solidFill>
                  <a:srgbClr val="808080"/>
                </a:solidFill>
                <a:latin typeface="游ゴシック" pitchFamily="34" charset="0"/>
                <a:ea typeface="游ゴシック" pitchFamily="34" charset="-122"/>
                <a:cs typeface="游ゴシック" pitchFamily="34" charset="-120"/>
              </a:rPr>
              <a:t>「絵柄を楽しみながら食べたいとき」</a:t>
            </a:r>
            <a:endParaRPr lang="en-US" sz="950" dirty="0"/>
          </a:p>
          <a:p>
            <a:pPr indent="0" marL="0">
              <a:lnSpc>
                <a:spcPts val="1400"/>
              </a:lnSpc>
              <a:buNone/>
            </a:pPr>
            <a:r>
              <a:rPr lang="en-US" sz="950" dirty="0">
                <a:solidFill>
                  <a:srgbClr val="808080"/>
                </a:solidFill>
                <a:latin typeface="游ゴシック" pitchFamily="34" charset="0"/>
                <a:ea typeface="游ゴシック" pitchFamily="34" charset="-122"/>
                <a:cs typeface="游ゴシック" pitchFamily="34" charset="-120"/>
              </a:rPr>
              <a:t>コアラのマーチのスコア差（3ブランド中最強・突出）</a:t>
            </a:r>
            <a:endParaRPr lang="en-US" sz="950" dirty="0"/>
          </a:p>
        </p:txBody>
      </p:sp>
      <p:sp>
        <p:nvSpPr>
          <p:cNvPr id="13" name="Shape 11"/>
          <p:cNvSpPr/>
          <p:nvPr/>
        </p:nvSpPr>
        <p:spPr>
          <a:xfrm>
            <a:off x="4206240" y="2194560"/>
            <a:ext cx="2743200" cy="1234440"/>
          </a:xfrm>
          <a:prstGeom prst="roundRect">
            <a:avLst>
              <a:gd name="adj" fmla="val 7407"/>
            </a:avLst>
          </a:prstGeom>
          <a:solidFill>
            <a:srgbClr val="F7F5F1"/>
          </a:solidFill>
          <a:ln w="19050">
            <a:solidFill>
              <a:srgbClr val="17828F"/>
            </a:solidFill>
            <a:prstDash val="solid"/>
          </a:ln>
        </p:spPr>
      </p:sp>
      <p:sp>
        <p:nvSpPr>
          <p:cNvPr id="14" name="Text 12"/>
          <p:cNvSpPr/>
          <p:nvPr/>
        </p:nvSpPr>
        <p:spPr>
          <a:xfrm>
            <a:off x="4389120" y="2304288"/>
            <a:ext cx="2377440" cy="320040"/>
          </a:xfrm>
          <a:prstGeom prst="rect">
            <a:avLst/>
          </a:prstGeom>
          <a:noFill/>
          <a:ln/>
        </p:spPr>
        <p:txBody>
          <a:bodyPr wrap="square" lIns="0" tIns="0" rIns="0" bIns="0" rtlCol="0" anchor="ctr"/>
          <a:lstStyle/>
          <a:p>
            <a:pPr indent="0" marL="0">
              <a:buNone/>
            </a:pPr>
            <a:r>
              <a:rPr lang="en-US" sz="1300" b="1" dirty="0">
                <a:solidFill>
                  <a:srgbClr val="17828F"/>
                </a:solidFill>
                <a:latin typeface="游ゴシック" pitchFamily="34" charset="0"/>
                <a:ea typeface="游ゴシック" pitchFamily="34" charset="-122"/>
                <a:cs typeface="游ゴシック" pitchFamily="34" charset="-120"/>
              </a:rPr>
              <a:t>コアラのマーチ</a:t>
            </a:r>
            <a:endParaRPr lang="en-US" sz="1300" dirty="0"/>
          </a:p>
        </p:txBody>
      </p:sp>
      <p:sp>
        <p:nvSpPr>
          <p:cNvPr id="15" name="Text 13"/>
          <p:cNvSpPr/>
          <p:nvPr/>
        </p:nvSpPr>
        <p:spPr>
          <a:xfrm>
            <a:off x="4389120" y="2670048"/>
            <a:ext cx="2377440" cy="685800"/>
          </a:xfrm>
          <a:prstGeom prst="rect">
            <a:avLst/>
          </a:prstGeom>
          <a:noFill/>
          <a:ln/>
        </p:spPr>
        <p:txBody>
          <a:bodyPr wrap="square" lIns="0" tIns="0" rIns="0" bIns="0" rtlCol="0" anchor="ctr"/>
          <a:lstStyle/>
          <a:p>
            <a:pPr indent="0" marL="0">
              <a:lnSpc>
                <a:spcPts val="1500"/>
              </a:lnSpc>
              <a:buNone/>
            </a:pPr>
            <a:r>
              <a:rPr lang="en-US" sz="1050" dirty="0">
                <a:solidFill>
                  <a:srgbClr val="404040"/>
                </a:solidFill>
                <a:latin typeface="游ゴシック" pitchFamily="34" charset="0"/>
                <a:ea typeface="游ゴシック" pitchFamily="34" charset="-122"/>
                <a:cs typeface="游ゴシック" pitchFamily="34" charset="-120"/>
              </a:rPr>
              <a:t>絵柄を見る楽しさ</a:t>
            </a:r>
            <a:endParaRPr lang="en-US" sz="1050" dirty="0"/>
          </a:p>
          <a:p>
            <a:pPr indent="0" marL="0">
              <a:lnSpc>
                <a:spcPts val="1500"/>
              </a:lnSpc>
              <a:buNone/>
            </a:pPr>
            <a:r>
              <a:rPr lang="en-US" sz="1050" dirty="0">
                <a:solidFill>
                  <a:srgbClr val="404040"/>
                </a:solidFill>
                <a:latin typeface="游ゴシック" pitchFamily="34" charset="0"/>
                <a:ea typeface="游ゴシック" pitchFamily="34" charset="-122"/>
                <a:cs typeface="游ゴシック" pitchFamily="34" charset="-120"/>
              </a:rPr>
              <a:t>（CEPs独占 +9.57）</a:t>
            </a:r>
            <a:endParaRPr lang="en-US" sz="1050" dirty="0"/>
          </a:p>
        </p:txBody>
      </p:sp>
      <p:sp>
        <p:nvSpPr>
          <p:cNvPr id="16" name="Shape 14"/>
          <p:cNvSpPr/>
          <p:nvPr/>
        </p:nvSpPr>
        <p:spPr>
          <a:xfrm>
            <a:off x="7498080" y="2194560"/>
            <a:ext cx="2743200" cy="1234440"/>
          </a:xfrm>
          <a:prstGeom prst="roundRect">
            <a:avLst>
              <a:gd name="adj" fmla="val 7407"/>
            </a:avLst>
          </a:prstGeom>
          <a:solidFill>
            <a:srgbClr val="F7F5F1"/>
          </a:solidFill>
          <a:ln w="19050">
            <a:solidFill>
              <a:srgbClr val="C00000"/>
            </a:solidFill>
            <a:prstDash val="solid"/>
          </a:ln>
        </p:spPr>
      </p:sp>
      <p:sp>
        <p:nvSpPr>
          <p:cNvPr id="17" name="Text 15"/>
          <p:cNvSpPr/>
          <p:nvPr/>
        </p:nvSpPr>
        <p:spPr>
          <a:xfrm>
            <a:off x="7680960" y="2304288"/>
            <a:ext cx="2377440" cy="320040"/>
          </a:xfrm>
          <a:prstGeom prst="rect">
            <a:avLst/>
          </a:prstGeom>
          <a:noFill/>
          <a:ln/>
        </p:spPr>
        <p:txBody>
          <a:bodyPr wrap="square" lIns="0" tIns="0" rIns="0" bIns="0" rtlCol="0" anchor="ctr"/>
          <a:lstStyle/>
          <a:p>
            <a:pPr indent="0" marL="0">
              <a:buNone/>
            </a:pPr>
            <a:r>
              <a:rPr lang="en-US" sz="1300" b="1" dirty="0">
                <a:solidFill>
                  <a:srgbClr val="C00000"/>
                </a:solidFill>
                <a:latin typeface="游ゴシック" pitchFamily="34" charset="0"/>
                <a:ea typeface="游ゴシック" pitchFamily="34" charset="-122"/>
                <a:cs typeface="游ゴシック" pitchFamily="34" charset="-120"/>
              </a:rPr>
              <a:t>ウルトラマン</a:t>
            </a:r>
            <a:endParaRPr lang="en-US" sz="1300" dirty="0"/>
          </a:p>
        </p:txBody>
      </p:sp>
      <p:sp>
        <p:nvSpPr>
          <p:cNvPr id="18" name="Text 16"/>
          <p:cNvSpPr/>
          <p:nvPr/>
        </p:nvSpPr>
        <p:spPr>
          <a:xfrm>
            <a:off x="7680960" y="2670048"/>
            <a:ext cx="2377440" cy="685800"/>
          </a:xfrm>
          <a:prstGeom prst="rect">
            <a:avLst/>
          </a:prstGeom>
          <a:noFill/>
          <a:ln/>
        </p:spPr>
        <p:txBody>
          <a:bodyPr wrap="square" lIns="0" tIns="0" rIns="0" bIns="0" rtlCol="0" anchor="ctr"/>
          <a:lstStyle/>
          <a:p>
            <a:pPr indent="0" marL="0">
              <a:lnSpc>
                <a:spcPts val="1500"/>
              </a:lnSpc>
              <a:buNone/>
            </a:pPr>
            <a:r>
              <a:rPr lang="en-US" sz="1050" dirty="0">
                <a:solidFill>
                  <a:srgbClr val="404040"/>
                </a:solidFill>
                <a:latin typeface="游ゴシック" pitchFamily="34" charset="0"/>
                <a:ea typeface="游ゴシック" pitchFamily="34" charset="-122"/>
                <a:cs typeface="游ゴシック" pitchFamily="34" charset="-120"/>
              </a:rPr>
              <a:t>60年 × 約2,500種の</a:t>
            </a:r>
            <a:endParaRPr lang="en-US" sz="1050" dirty="0"/>
          </a:p>
          <a:p>
            <a:pPr indent="0" marL="0">
              <a:lnSpc>
                <a:spcPts val="1500"/>
              </a:lnSpc>
              <a:buNone/>
            </a:pPr>
            <a:r>
              <a:rPr lang="en-US" sz="1050" dirty="0">
                <a:solidFill>
                  <a:srgbClr val="404040"/>
                </a:solidFill>
                <a:latin typeface="游ゴシック" pitchFamily="34" charset="0"/>
                <a:ea typeface="游ゴシック" pitchFamily="34" charset="-122"/>
                <a:cs typeface="游ゴシック" pitchFamily="34" charset="-120"/>
              </a:rPr>
              <a:t>ヒーロー・怪獣</a:t>
            </a:r>
            <a:endParaRPr lang="en-US" sz="1050" dirty="0"/>
          </a:p>
        </p:txBody>
      </p:sp>
      <p:sp>
        <p:nvSpPr>
          <p:cNvPr id="19" name="Text 17"/>
          <p:cNvSpPr/>
          <p:nvPr/>
        </p:nvSpPr>
        <p:spPr>
          <a:xfrm>
            <a:off x="6949440" y="2194560"/>
            <a:ext cx="548640" cy="1234440"/>
          </a:xfrm>
          <a:prstGeom prst="rect">
            <a:avLst/>
          </a:prstGeom>
          <a:noFill/>
          <a:ln/>
        </p:spPr>
        <p:txBody>
          <a:bodyPr wrap="square" lIns="0" tIns="0" rIns="0" bIns="0" rtlCol="0" anchor="ctr"/>
          <a:lstStyle/>
          <a:p>
            <a:pPr algn="ctr" indent="0" marL="0">
              <a:buNone/>
            </a:pPr>
            <a:r>
              <a:rPr lang="en-US" sz="2400" b="1" dirty="0">
                <a:solidFill>
                  <a:srgbClr val="808080"/>
                </a:solidFill>
                <a:latin typeface="游ゴシック" pitchFamily="34" charset="0"/>
                <a:ea typeface="游ゴシック" pitchFamily="34" charset="-122"/>
                <a:cs typeface="游ゴシック" pitchFamily="34" charset="-120"/>
              </a:rPr>
              <a:t>×</a:t>
            </a:r>
            <a:endParaRPr lang="en-US" sz="2400" dirty="0"/>
          </a:p>
        </p:txBody>
      </p:sp>
      <p:sp>
        <p:nvSpPr>
          <p:cNvPr id="20" name="Shape 18"/>
          <p:cNvSpPr/>
          <p:nvPr/>
        </p:nvSpPr>
        <p:spPr>
          <a:xfrm>
            <a:off x="4206240" y="3657600"/>
            <a:ext cx="7296912" cy="868680"/>
          </a:xfrm>
          <a:prstGeom prst="roundRect">
            <a:avLst>
              <a:gd name="adj" fmla="val 10526"/>
            </a:avLst>
          </a:prstGeom>
          <a:solidFill>
            <a:srgbClr val="3B3028"/>
          </a:solidFill>
          <a:ln/>
        </p:spPr>
      </p:sp>
      <p:sp>
        <p:nvSpPr>
          <p:cNvPr id="21" name="Text 19"/>
          <p:cNvSpPr/>
          <p:nvPr/>
        </p:nvSpPr>
        <p:spPr>
          <a:xfrm>
            <a:off x="4526280" y="3657600"/>
            <a:ext cx="6675120" cy="868680"/>
          </a:xfrm>
          <a:prstGeom prst="rect">
            <a:avLst/>
          </a:prstGeom>
          <a:noFill/>
          <a:ln/>
        </p:spPr>
        <p:txBody>
          <a:bodyPr wrap="square" lIns="0" tIns="0" rIns="0" bIns="0" rtlCol="0" anchor="ctr"/>
          <a:lstStyle/>
          <a:p>
            <a:pPr indent="0" marL="0">
              <a:spcAft>
                <a:spcPts val="300"/>
              </a:spcAft>
              <a:buNone/>
            </a:pPr>
            <a:r>
              <a:rPr lang="en-US" sz="1900" b="1" dirty="0">
                <a:solidFill>
                  <a:srgbClr val="FFFFFF"/>
                </a:solidFill>
                <a:latin typeface="游ゴシック" pitchFamily="34" charset="0"/>
                <a:ea typeface="游ゴシック" pitchFamily="34" charset="-122"/>
                <a:cs typeface="游ゴシック" pitchFamily="34" charset="-120"/>
              </a:rPr>
              <a:t>＝ 「食べるウルトラ図鑑」</a:t>
            </a:r>
            <a:endParaRPr lang="en-US" sz="1900" dirty="0"/>
          </a:p>
          <a:p>
            <a:pPr indent="0" marL="0">
              <a:buNone/>
            </a:pPr>
            <a:r>
              <a:rPr lang="en-US" sz="1050" dirty="0">
                <a:solidFill>
                  <a:srgbClr val="D9C7A9"/>
                </a:solidFill>
                <a:latin typeface="游ゴシック" pitchFamily="34" charset="0"/>
                <a:ea typeface="游ゴシック" pitchFamily="34" charset="-122"/>
                <a:cs typeface="游ゴシック" pitchFamily="34" charset="-120"/>
              </a:rPr>
              <a:t>一枚ごとに絵柄と出会い、集め、語りたくなる新しいおやつ体験</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 y="4754880"/>
          <a:ext cx="10817352" cy="914400"/>
        </p:xfrm>
        <a:graphic>
          <a:graphicData uri="http://schemas.openxmlformats.org/drawingml/2006/table">
            <a:tbl>
              <a:tblPr/>
              <a:tblGrid>
                <a:gridCol w="4206240"/>
                <a:gridCol w="2377440"/>
                <a:gridCol w="4233672"/>
              </a:tblGrid>
              <a:tr h="274320">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補強するCEPs</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スコア</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位置づけ</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329184">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限定やコラボ商品を試したいとき</a:t>
                      </a:r>
                      <a:endParaRPr lang="en-US" sz="9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b="1" dirty="0">
                          <a:solidFill>
                            <a:srgbClr val="C00000"/>
                          </a:solidFill>
                          <a:latin typeface="游ゴシック" pitchFamily="34" charset="0"/>
                          <a:ea typeface="游ゴシック" pitchFamily="34" charset="-122"/>
                          <a:cs typeface="游ゴシック" pitchFamily="34" charset="-120"/>
                        </a:rPr>
                        <a:t>+4.48（738件）</a:t>
                      </a:r>
                      <a:endParaRPr lang="en-US" sz="9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50" dirty="0">
                          <a:solidFill>
                            <a:srgbClr val="808080"/>
                          </a:solidFill>
                          <a:latin typeface="游ゴシック" pitchFamily="34" charset="0"/>
                          <a:ea typeface="游ゴシック" pitchFamily="34" charset="-122"/>
                          <a:cs typeface="游ゴシック" pitchFamily="34" charset="-120"/>
                        </a:rPr>
                        <a:t>コアラのマーチ側の第2の独占CEPs</a:t>
                      </a:r>
                      <a:endParaRPr lang="en-US" sz="9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29184">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周年記念を祝いたいとき</a:t>
                      </a:r>
                      <a:endParaRPr lang="en-US" sz="9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b="1" dirty="0">
                          <a:solidFill>
                            <a:srgbClr val="C00000"/>
                          </a:solidFill>
                          <a:latin typeface="游ゴシック" pitchFamily="34" charset="0"/>
                          <a:ea typeface="游ゴシック" pitchFamily="34" charset="-122"/>
                          <a:cs typeface="游ゴシック" pitchFamily="34" charset="-120"/>
                        </a:rPr>
                        <a:t>+7.46（210件）</a:t>
                      </a:r>
                      <a:endParaRPr lang="en-US" sz="9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50" dirty="0">
                          <a:solidFill>
                            <a:srgbClr val="808080"/>
                          </a:solidFill>
                          <a:latin typeface="游ゴシック" pitchFamily="34" charset="0"/>
                          <a:ea typeface="游ゴシック" pitchFamily="34" charset="-122"/>
                          <a:cs typeface="游ゴシック" pitchFamily="34" charset="-120"/>
                        </a:rPr>
                        <a:t>ウルトラマン側・全IP中で突出</a:t>
                      </a:r>
                      <a:endParaRPr lang="en-US" sz="9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29184">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コラボ情報を知ってワクワクしたとき</a:t>
                      </a:r>
                      <a:endParaRPr lang="en-US" sz="9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b="1" dirty="0">
                          <a:solidFill>
                            <a:srgbClr val="C00000"/>
                          </a:solidFill>
                          <a:latin typeface="游ゴシック" pitchFamily="34" charset="0"/>
                          <a:ea typeface="游ゴシック" pitchFamily="34" charset="-122"/>
                          <a:cs typeface="游ゴシック" pitchFamily="34" charset="-120"/>
                        </a:rPr>
                        <a:t>+4.56（1,150件）</a:t>
                      </a:r>
                      <a:endParaRPr lang="en-US" sz="9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950" dirty="0">
                          <a:solidFill>
                            <a:srgbClr val="808080"/>
                          </a:solidFill>
                          <a:latin typeface="游ゴシック" pitchFamily="34" charset="0"/>
                          <a:ea typeface="游ゴシック" pitchFamily="34" charset="-122"/>
                          <a:cs typeface="游ゴシック" pitchFamily="34" charset="-120"/>
                        </a:rPr>
                        <a:t>ウルトラマン側・発話量も最大級</a:t>
                      </a:r>
                      <a:endParaRPr lang="en-US" sz="9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23" name="Text 20"/>
          <p:cNvSpPr/>
          <p:nvPr/>
        </p:nvSpPr>
        <p:spPr>
          <a:xfrm>
            <a:off x="685800" y="6089904"/>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スコア＝メンタルアドバンテージスコア（0基準・±5が目安、正＝その場面で想起されやすい。読み方はAppendix参照）。出所：アライドアーキテクツ社 VOC分析（X上の生活者投稿、2025/8–2026/7）※分析の一部を抜粋</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965960" cy="310896"/>
          </a:xfrm>
          <a:prstGeom prst="rect">
            <a:avLst/>
          </a:prstGeom>
          <a:solidFill>
            <a:srgbClr val="C4761B"/>
          </a:solidFill>
          <a:ln/>
        </p:spPr>
      </p:sp>
      <p:sp>
        <p:nvSpPr>
          <p:cNvPr id="3" name="Text 1"/>
          <p:cNvSpPr/>
          <p:nvPr/>
        </p:nvSpPr>
        <p:spPr>
          <a:xfrm>
            <a:off x="795528" y="384048"/>
            <a:ext cx="1856232"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3．どこから始めるか</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貴社限り</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一箱ごとに、60年の宇宙へ</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データから導かれた具体化イメージ（決定事項ではない）。シリーズを段階的に展開し、パッケージから店頭・SNS・デジタル図鑑までを一つの体験として設計する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10</a:t>
            </a:r>
            <a:endParaRPr lang="en-US" sz="950" dirty="0"/>
          </a:p>
        </p:txBody>
      </p:sp>
      <p:sp>
        <p:nvSpPr>
          <p:cNvPr id="11" name="Text 9"/>
          <p:cNvSpPr/>
          <p:nvPr/>
        </p:nvSpPr>
        <p:spPr>
          <a:xfrm>
            <a:off x="685800" y="2286000"/>
            <a:ext cx="10817352"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シリーズ構成（歴代デザインの段階的復刻）</a:t>
            </a:r>
            <a:endParaRPr lang="en-US" sz="1200" dirty="0"/>
          </a:p>
        </p:txBody>
      </p:sp>
      <p:sp>
        <p:nvSpPr>
          <p:cNvPr id="12" name="Shape 10"/>
          <p:cNvSpPr/>
          <p:nvPr/>
        </p:nvSpPr>
        <p:spPr>
          <a:xfrm>
            <a:off x="685800" y="2615184"/>
            <a:ext cx="10817352" cy="0"/>
          </a:xfrm>
          <a:prstGeom prst="line">
            <a:avLst/>
          </a:prstGeom>
          <a:noFill/>
          <a:ln w="12700">
            <a:solidFill>
              <a:srgbClr val="333333"/>
            </a:solidFill>
            <a:prstDash val="solid"/>
          </a:ln>
        </p:spPr>
      </p:sp>
      <p:sp>
        <p:nvSpPr>
          <p:cNvPr id="13" name="Shape 11"/>
          <p:cNvSpPr/>
          <p:nvPr/>
        </p:nvSpPr>
        <p:spPr>
          <a:xfrm>
            <a:off x="685800" y="2743200"/>
            <a:ext cx="1719072" cy="475488"/>
          </a:xfrm>
          <a:prstGeom prst="roundRect">
            <a:avLst>
              <a:gd name="adj" fmla="val 50000"/>
            </a:avLst>
          </a:prstGeom>
          <a:solidFill>
            <a:srgbClr val="17828F"/>
          </a:solidFill>
          <a:ln/>
        </p:spPr>
      </p:sp>
      <p:sp>
        <p:nvSpPr>
          <p:cNvPr id="14" name="Text 12"/>
          <p:cNvSpPr/>
          <p:nvPr/>
        </p:nvSpPr>
        <p:spPr>
          <a:xfrm>
            <a:off x="685800" y="2743200"/>
            <a:ext cx="1719072"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游ゴシック" pitchFamily="34" charset="0"/>
                <a:ea typeface="游ゴシック" pitchFamily="34" charset="-122"/>
                <a:cs typeface="游ゴシック" pitchFamily="34" charset="-120"/>
              </a:rPr>
              <a:t>昭和ウルトラマン編</a:t>
            </a:r>
            <a:endParaRPr lang="en-US" sz="1000" dirty="0"/>
          </a:p>
        </p:txBody>
      </p:sp>
      <p:sp>
        <p:nvSpPr>
          <p:cNvPr id="15" name="Shape 13"/>
          <p:cNvSpPr/>
          <p:nvPr/>
        </p:nvSpPr>
        <p:spPr>
          <a:xfrm>
            <a:off x="2505456" y="2743200"/>
            <a:ext cx="1719072" cy="475488"/>
          </a:xfrm>
          <a:prstGeom prst="roundRect">
            <a:avLst>
              <a:gd name="adj" fmla="val 50000"/>
            </a:avLst>
          </a:prstGeom>
          <a:solidFill>
            <a:srgbClr val="17828F"/>
          </a:solidFill>
          <a:ln/>
        </p:spPr>
      </p:sp>
      <p:sp>
        <p:nvSpPr>
          <p:cNvPr id="16" name="Text 14"/>
          <p:cNvSpPr/>
          <p:nvPr/>
        </p:nvSpPr>
        <p:spPr>
          <a:xfrm>
            <a:off x="2505456" y="2743200"/>
            <a:ext cx="1719072"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游ゴシック" pitchFamily="34" charset="0"/>
                <a:ea typeface="游ゴシック" pitchFamily="34" charset="-122"/>
                <a:cs typeface="游ゴシック" pitchFamily="34" charset="-120"/>
              </a:rPr>
              <a:t>平成ウルトラマン編</a:t>
            </a:r>
            <a:endParaRPr lang="en-US" sz="1000" dirty="0"/>
          </a:p>
        </p:txBody>
      </p:sp>
      <p:sp>
        <p:nvSpPr>
          <p:cNvPr id="17" name="Shape 15"/>
          <p:cNvSpPr/>
          <p:nvPr/>
        </p:nvSpPr>
        <p:spPr>
          <a:xfrm>
            <a:off x="4325112" y="2743200"/>
            <a:ext cx="1719072" cy="475488"/>
          </a:xfrm>
          <a:prstGeom prst="roundRect">
            <a:avLst>
              <a:gd name="adj" fmla="val 50000"/>
            </a:avLst>
          </a:prstGeom>
          <a:solidFill>
            <a:srgbClr val="17828F"/>
          </a:solidFill>
          <a:ln/>
        </p:spPr>
      </p:sp>
      <p:sp>
        <p:nvSpPr>
          <p:cNvPr id="18" name="Text 16"/>
          <p:cNvSpPr/>
          <p:nvPr/>
        </p:nvSpPr>
        <p:spPr>
          <a:xfrm>
            <a:off x="4325112" y="2743200"/>
            <a:ext cx="1719072"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游ゴシック" pitchFamily="34" charset="0"/>
                <a:ea typeface="游ゴシック" pitchFamily="34" charset="-122"/>
                <a:cs typeface="游ゴシック" pitchFamily="34" charset="-120"/>
              </a:rPr>
              <a:t>令和ウルトラマン編</a:t>
            </a:r>
            <a:endParaRPr lang="en-US" sz="1000" dirty="0"/>
          </a:p>
        </p:txBody>
      </p:sp>
      <p:sp>
        <p:nvSpPr>
          <p:cNvPr id="19" name="Shape 17"/>
          <p:cNvSpPr/>
          <p:nvPr/>
        </p:nvSpPr>
        <p:spPr>
          <a:xfrm>
            <a:off x="6144768" y="2743200"/>
            <a:ext cx="1719072" cy="475488"/>
          </a:xfrm>
          <a:prstGeom prst="roundRect">
            <a:avLst>
              <a:gd name="adj" fmla="val 50000"/>
            </a:avLst>
          </a:prstGeom>
          <a:solidFill>
            <a:srgbClr val="C00000"/>
          </a:solidFill>
          <a:ln/>
        </p:spPr>
      </p:sp>
      <p:sp>
        <p:nvSpPr>
          <p:cNvPr id="20" name="Text 18"/>
          <p:cNvSpPr/>
          <p:nvPr/>
        </p:nvSpPr>
        <p:spPr>
          <a:xfrm>
            <a:off x="6144768" y="2743200"/>
            <a:ext cx="1719072"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游ゴシック" pitchFamily="34" charset="0"/>
                <a:ea typeface="游ゴシック" pitchFamily="34" charset="-122"/>
                <a:cs typeface="游ゴシック" pitchFamily="34" charset="-120"/>
              </a:rPr>
              <a:t>怪獣編</a:t>
            </a:r>
            <a:endParaRPr lang="en-US" sz="1000" dirty="0"/>
          </a:p>
        </p:txBody>
      </p:sp>
      <p:sp>
        <p:nvSpPr>
          <p:cNvPr id="21" name="Shape 19"/>
          <p:cNvSpPr/>
          <p:nvPr/>
        </p:nvSpPr>
        <p:spPr>
          <a:xfrm>
            <a:off x="7964424" y="2743200"/>
            <a:ext cx="1719072" cy="475488"/>
          </a:xfrm>
          <a:prstGeom prst="roundRect">
            <a:avLst>
              <a:gd name="adj" fmla="val 50000"/>
            </a:avLst>
          </a:prstGeom>
          <a:solidFill>
            <a:srgbClr val="C00000"/>
          </a:solidFill>
          <a:ln/>
        </p:spPr>
      </p:sp>
      <p:sp>
        <p:nvSpPr>
          <p:cNvPr id="22" name="Text 20"/>
          <p:cNvSpPr/>
          <p:nvPr/>
        </p:nvSpPr>
        <p:spPr>
          <a:xfrm>
            <a:off x="7964424" y="2743200"/>
            <a:ext cx="1719072"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游ゴシック" pitchFamily="34" charset="0"/>
                <a:ea typeface="游ゴシック" pitchFamily="34" charset="-122"/>
                <a:cs typeface="游ゴシック" pitchFamily="34" charset="-120"/>
              </a:rPr>
              <a:t>宇宙人編</a:t>
            </a:r>
            <a:endParaRPr lang="en-US" sz="1000" dirty="0"/>
          </a:p>
        </p:txBody>
      </p:sp>
      <p:sp>
        <p:nvSpPr>
          <p:cNvPr id="23" name="Shape 21"/>
          <p:cNvSpPr/>
          <p:nvPr/>
        </p:nvSpPr>
        <p:spPr>
          <a:xfrm>
            <a:off x="9784080" y="2743200"/>
            <a:ext cx="1719072" cy="475488"/>
          </a:xfrm>
          <a:prstGeom prst="roundRect">
            <a:avLst>
              <a:gd name="adj" fmla="val 50000"/>
            </a:avLst>
          </a:prstGeom>
          <a:solidFill>
            <a:srgbClr val="C4761B"/>
          </a:solidFill>
          <a:ln/>
        </p:spPr>
      </p:sp>
      <p:sp>
        <p:nvSpPr>
          <p:cNvPr id="24" name="Text 22"/>
          <p:cNvSpPr/>
          <p:nvPr/>
        </p:nvSpPr>
        <p:spPr>
          <a:xfrm>
            <a:off x="9784080" y="2743200"/>
            <a:ext cx="1719072" cy="475488"/>
          </a:xfrm>
          <a:prstGeom prst="rect">
            <a:avLst/>
          </a:prstGeom>
          <a:noFill/>
          <a:ln/>
        </p:spPr>
        <p:txBody>
          <a:bodyPr wrap="square" lIns="0" tIns="0" rIns="0" bIns="0" rtlCol="0" anchor="ctr"/>
          <a:lstStyle/>
          <a:p>
            <a:pPr algn="ctr" indent="0" marL="0">
              <a:buNone/>
            </a:pPr>
            <a:r>
              <a:rPr lang="en-US" sz="1000" b="1" dirty="0">
                <a:solidFill>
                  <a:srgbClr val="FFFFFF"/>
                </a:solidFill>
                <a:latin typeface="游ゴシック" pitchFamily="34" charset="0"/>
                <a:ea typeface="游ゴシック" pitchFamily="34" charset="-122"/>
                <a:cs typeface="游ゴシック" pitchFamily="34" charset="-120"/>
              </a:rPr>
              <a:t>シークレット</a:t>
            </a:r>
            <a:endParaRPr lang="en-US" sz="1000" dirty="0"/>
          </a:p>
        </p:txBody>
      </p:sp>
      <p:sp>
        <p:nvSpPr>
          <p:cNvPr id="25" name="Text 23"/>
          <p:cNvSpPr/>
          <p:nvPr/>
        </p:nvSpPr>
        <p:spPr>
          <a:xfrm>
            <a:off x="685800" y="3346704"/>
            <a:ext cx="10817352" cy="274320"/>
          </a:xfrm>
          <a:prstGeom prst="rect">
            <a:avLst/>
          </a:prstGeom>
          <a:noFill/>
          <a:ln/>
        </p:spPr>
        <p:txBody>
          <a:bodyPr wrap="square" lIns="0" tIns="0" rIns="0" bIns="0" rtlCol="0" anchor="ctr"/>
          <a:lstStyle/>
          <a:p>
            <a:pPr indent="0" marL="0">
              <a:buNone/>
            </a:pPr>
            <a:r>
              <a:rPr lang="en-US" sz="1000" dirty="0">
                <a:solidFill>
                  <a:srgbClr val="808080"/>
                </a:solidFill>
                <a:latin typeface="游ゴシック" pitchFamily="34" charset="0"/>
                <a:ea typeface="游ゴシック" pitchFamily="34" charset="-122"/>
                <a:cs typeface="游ゴシック" pitchFamily="34" charset="-120"/>
              </a:rPr>
              <a:t>過去5年のIPコラボは「最新作の絵柄」で一貫しており、初代からの歴代デザイン復刻は業界に実績なし（＝新規性）</a:t>
            </a:r>
            <a:endParaRPr lang="en-US" sz="1000" dirty="0"/>
          </a:p>
        </p:txBody>
      </p:sp>
      <p:sp>
        <p:nvSpPr>
          <p:cNvPr id="26" name="Text 24"/>
          <p:cNvSpPr/>
          <p:nvPr/>
        </p:nvSpPr>
        <p:spPr>
          <a:xfrm>
            <a:off x="685800" y="3794760"/>
            <a:ext cx="10817352"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一つの体験としてつなぐ</a:t>
            </a:r>
            <a:endParaRPr lang="en-US" sz="1200" dirty="0"/>
          </a:p>
        </p:txBody>
      </p:sp>
      <p:sp>
        <p:nvSpPr>
          <p:cNvPr id="27" name="Shape 25"/>
          <p:cNvSpPr/>
          <p:nvPr/>
        </p:nvSpPr>
        <p:spPr>
          <a:xfrm>
            <a:off x="685800" y="4123944"/>
            <a:ext cx="10817352" cy="0"/>
          </a:xfrm>
          <a:prstGeom prst="line">
            <a:avLst/>
          </a:prstGeom>
          <a:noFill/>
          <a:ln w="12700">
            <a:solidFill>
              <a:srgbClr val="333333"/>
            </a:solidFill>
            <a:prstDash val="solid"/>
          </a:ln>
        </p:spPr>
      </p:sp>
      <p:sp>
        <p:nvSpPr>
          <p:cNvPr id="28" name="Shape 26"/>
          <p:cNvSpPr/>
          <p:nvPr/>
        </p:nvSpPr>
        <p:spPr>
          <a:xfrm>
            <a:off x="685800" y="4206240"/>
            <a:ext cx="1938528" cy="868680"/>
          </a:xfrm>
          <a:prstGeom prst="roundRect">
            <a:avLst>
              <a:gd name="adj" fmla="val 8421"/>
            </a:avLst>
          </a:prstGeom>
          <a:solidFill>
            <a:srgbClr val="F7F5F1"/>
          </a:solidFill>
          <a:ln w="9525">
            <a:solidFill>
              <a:srgbClr val="BFBFBF"/>
            </a:solidFill>
            <a:prstDash val="solid"/>
          </a:ln>
        </p:spPr>
      </p:sp>
      <p:sp>
        <p:nvSpPr>
          <p:cNvPr id="29" name="Text 27"/>
          <p:cNvSpPr/>
          <p:nvPr/>
        </p:nvSpPr>
        <p:spPr>
          <a:xfrm>
            <a:off x="758952" y="4206240"/>
            <a:ext cx="1792224" cy="868680"/>
          </a:xfrm>
          <a:prstGeom prst="rect">
            <a:avLst/>
          </a:prstGeom>
          <a:noFill/>
          <a:ln/>
        </p:spPr>
        <p:txBody>
          <a:bodyPr wrap="square" lIns="0" tIns="0" rIns="0" bIns="0" rtlCol="0" anchor="ctr"/>
          <a:lstStyle/>
          <a:p>
            <a:pPr algn="ctr" indent="0" marL="0">
              <a:lnSpc>
                <a:spcPts val="1300"/>
              </a:lnSpc>
              <a:buNone/>
            </a:pPr>
            <a:r>
              <a:rPr lang="en-US" sz="900" b="1" dirty="0">
                <a:solidFill>
                  <a:srgbClr val="333333"/>
                </a:solidFill>
                <a:latin typeface="游ゴシック" pitchFamily="34" charset="0"/>
                <a:ea typeface="游ゴシック" pitchFamily="34" charset="-122"/>
                <a:cs typeface="游ゴシック" pitchFamily="34" charset="-120"/>
              </a:rPr>
              <a:t>パッケージ</a:t>
            </a:r>
            <a:endParaRPr lang="en-US" sz="900" dirty="0"/>
          </a:p>
          <a:p>
            <a:pPr algn="ctr" indent="0" marL="0">
              <a:lnSpc>
                <a:spcPts val="1300"/>
              </a:lnSpc>
              <a:buNone/>
            </a:pPr>
            <a:r>
              <a:rPr lang="en-US" sz="900" b="1" dirty="0">
                <a:solidFill>
                  <a:srgbClr val="333333"/>
                </a:solidFill>
                <a:latin typeface="游ゴシック" pitchFamily="34" charset="0"/>
                <a:ea typeface="游ゴシック" pitchFamily="34" charset="-122"/>
                <a:cs typeface="游ゴシック" pitchFamily="34" charset="-120"/>
              </a:rPr>
              <a:t>（60周年仕様）</a:t>
            </a:r>
            <a:endParaRPr lang="en-US" sz="900" dirty="0"/>
          </a:p>
        </p:txBody>
      </p:sp>
      <p:sp>
        <p:nvSpPr>
          <p:cNvPr id="30" name="Text 28"/>
          <p:cNvSpPr/>
          <p:nvPr/>
        </p:nvSpPr>
        <p:spPr>
          <a:xfrm>
            <a:off x="2624328" y="4434840"/>
            <a:ext cx="274320" cy="411480"/>
          </a:xfrm>
          <a:prstGeom prst="rect">
            <a:avLst/>
          </a:prstGeom>
          <a:noFill/>
          <a:ln/>
        </p:spPr>
        <p:txBody>
          <a:bodyPr wrap="square" lIns="0" tIns="0" rIns="0" bIns="0" rtlCol="0" anchor="ctr"/>
          <a:lstStyle/>
          <a:p>
            <a:pPr algn="ctr" indent="0" marL="0">
              <a:buNone/>
            </a:pPr>
            <a:r>
              <a:rPr lang="en-US" sz="1300" dirty="0">
                <a:solidFill>
                  <a:srgbClr val="808080"/>
                </a:solidFill>
                <a:latin typeface="游ゴシック" pitchFamily="34" charset="0"/>
                <a:ea typeface="游ゴシック" pitchFamily="34" charset="-122"/>
                <a:cs typeface="游ゴシック" pitchFamily="34" charset="-120"/>
              </a:rPr>
              <a:t>→</a:t>
            </a:r>
            <a:endParaRPr lang="en-US" sz="1300" dirty="0"/>
          </a:p>
        </p:txBody>
      </p:sp>
      <p:sp>
        <p:nvSpPr>
          <p:cNvPr id="31" name="Shape 29"/>
          <p:cNvSpPr/>
          <p:nvPr/>
        </p:nvSpPr>
        <p:spPr>
          <a:xfrm>
            <a:off x="2898648" y="4206240"/>
            <a:ext cx="1938528" cy="868680"/>
          </a:xfrm>
          <a:prstGeom prst="roundRect">
            <a:avLst>
              <a:gd name="adj" fmla="val 8421"/>
            </a:avLst>
          </a:prstGeom>
          <a:solidFill>
            <a:srgbClr val="F7F5F1"/>
          </a:solidFill>
          <a:ln w="9525">
            <a:solidFill>
              <a:srgbClr val="BFBFBF"/>
            </a:solidFill>
            <a:prstDash val="solid"/>
          </a:ln>
        </p:spPr>
      </p:sp>
      <p:sp>
        <p:nvSpPr>
          <p:cNvPr id="32" name="Text 30"/>
          <p:cNvSpPr/>
          <p:nvPr/>
        </p:nvSpPr>
        <p:spPr>
          <a:xfrm>
            <a:off x="2971800" y="4206240"/>
            <a:ext cx="1792224" cy="868680"/>
          </a:xfrm>
          <a:prstGeom prst="rect">
            <a:avLst/>
          </a:prstGeom>
          <a:noFill/>
          <a:ln/>
        </p:spPr>
        <p:txBody>
          <a:bodyPr wrap="square" lIns="0" tIns="0" rIns="0" bIns="0" rtlCol="0" anchor="ctr"/>
          <a:lstStyle/>
          <a:p>
            <a:pPr algn="ctr" indent="0" marL="0">
              <a:lnSpc>
                <a:spcPts val="1300"/>
              </a:lnSpc>
              <a:buNone/>
            </a:pPr>
            <a:r>
              <a:rPr lang="en-US" sz="900" b="1" dirty="0">
                <a:solidFill>
                  <a:srgbClr val="333333"/>
                </a:solidFill>
                <a:latin typeface="游ゴシック" pitchFamily="34" charset="0"/>
                <a:ea typeface="游ゴシック" pitchFamily="34" charset="-122"/>
                <a:cs typeface="游ゴシック" pitchFamily="34" charset="-120"/>
              </a:rPr>
              <a:t>菓子の絵柄</a:t>
            </a:r>
            <a:endParaRPr lang="en-US" sz="900" dirty="0"/>
          </a:p>
          <a:p>
            <a:pPr algn="ctr" indent="0" marL="0">
              <a:lnSpc>
                <a:spcPts val="1300"/>
              </a:lnSpc>
              <a:buNone/>
            </a:pPr>
            <a:r>
              <a:rPr lang="en-US" sz="900" b="1" dirty="0">
                <a:solidFill>
                  <a:srgbClr val="333333"/>
                </a:solidFill>
                <a:latin typeface="游ゴシック" pitchFamily="34" charset="0"/>
                <a:ea typeface="游ゴシック" pitchFamily="34" charset="-122"/>
                <a:cs typeface="游ゴシック" pitchFamily="34" charset="-120"/>
              </a:rPr>
              <a:t>（全種描き下ろし）</a:t>
            </a:r>
            <a:endParaRPr lang="en-US" sz="900" dirty="0"/>
          </a:p>
        </p:txBody>
      </p:sp>
      <p:sp>
        <p:nvSpPr>
          <p:cNvPr id="33" name="Text 31"/>
          <p:cNvSpPr/>
          <p:nvPr/>
        </p:nvSpPr>
        <p:spPr>
          <a:xfrm>
            <a:off x="4837176" y="4434840"/>
            <a:ext cx="274320" cy="411480"/>
          </a:xfrm>
          <a:prstGeom prst="rect">
            <a:avLst/>
          </a:prstGeom>
          <a:noFill/>
          <a:ln/>
        </p:spPr>
        <p:txBody>
          <a:bodyPr wrap="square" lIns="0" tIns="0" rIns="0" bIns="0" rtlCol="0" anchor="ctr"/>
          <a:lstStyle/>
          <a:p>
            <a:pPr algn="ctr" indent="0" marL="0">
              <a:buNone/>
            </a:pPr>
            <a:r>
              <a:rPr lang="en-US" sz="1300" dirty="0">
                <a:solidFill>
                  <a:srgbClr val="808080"/>
                </a:solidFill>
                <a:latin typeface="游ゴシック" pitchFamily="34" charset="0"/>
                <a:ea typeface="游ゴシック" pitchFamily="34" charset="-122"/>
                <a:cs typeface="游ゴシック" pitchFamily="34" charset="-120"/>
              </a:rPr>
              <a:t>→</a:t>
            </a:r>
            <a:endParaRPr lang="en-US" sz="1300" dirty="0"/>
          </a:p>
        </p:txBody>
      </p:sp>
      <p:sp>
        <p:nvSpPr>
          <p:cNvPr id="34" name="Shape 32"/>
          <p:cNvSpPr/>
          <p:nvPr/>
        </p:nvSpPr>
        <p:spPr>
          <a:xfrm>
            <a:off x="5111496" y="4206240"/>
            <a:ext cx="1938528" cy="868680"/>
          </a:xfrm>
          <a:prstGeom prst="roundRect">
            <a:avLst>
              <a:gd name="adj" fmla="val 8421"/>
            </a:avLst>
          </a:prstGeom>
          <a:solidFill>
            <a:srgbClr val="F7F5F1"/>
          </a:solidFill>
          <a:ln w="9525">
            <a:solidFill>
              <a:srgbClr val="BFBFBF"/>
            </a:solidFill>
            <a:prstDash val="solid"/>
          </a:ln>
        </p:spPr>
      </p:sp>
      <p:sp>
        <p:nvSpPr>
          <p:cNvPr id="35" name="Text 33"/>
          <p:cNvSpPr/>
          <p:nvPr/>
        </p:nvSpPr>
        <p:spPr>
          <a:xfrm>
            <a:off x="5184648" y="4206240"/>
            <a:ext cx="1792224" cy="868680"/>
          </a:xfrm>
          <a:prstGeom prst="rect">
            <a:avLst/>
          </a:prstGeom>
          <a:noFill/>
          <a:ln/>
        </p:spPr>
        <p:txBody>
          <a:bodyPr wrap="square" lIns="0" tIns="0" rIns="0" bIns="0" rtlCol="0" anchor="ctr"/>
          <a:lstStyle/>
          <a:p>
            <a:pPr algn="ctr" indent="0" marL="0">
              <a:lnSpc>
                <a:spcPts val="1300"/>
              </a:lnSpc>
              <a:buNone/>
            </a:pPr>
            <a:r>
              <a:rPr lang="en-US" sz="900" b="1" dirty="0">
                <a:solidFill>
                  <a:srgbClr val="333333"/>
                </a:solidFill>
                <a:latin typeface="游ゴシック" pitchFamily="34" charset="0"/>
                <a:ea typeface="游ゴシック" pitchFamily="34" charset="-122"/>
                <a:cs typeface="游ゴシック" pitchFamily="34" charset="-120"/>
              </a:rPr>
              <a:t>店頭什器</a:t>
            </a:r>
            <a:endParaRPr lang="en-US" sz="900" dirty="0"/>
          </a:p>
          <a:p>
            <a:pPr algn="ctr" indent="0" marL="0">
              <a:lnSpc>
                <a:spcPts val="1300"/>
              </a:lnSpc>
              <a:buNone/>
            </a:pPr>
            <a:r>
              <a:rPr lang="en-US" sz="900" b="1" dirty="0">
                <a:solidFill>
                  <a:srgbClr val="333333"/>
                </a:solidFill>
                <a:latin typeface="游ゴシック" pitchFamily="34" charset="0"/>
                <a:ea typeface="游ゴシック" pitchFamily="34" charset="-122"/>
                <a:cs typeface="游ゴシック" pitchFamily="34" charset="-120"/>
              </a:rPr>
              <a:t>（三世代で楽しむ売場）</a:t>
            </a:r>
            <a:endParaRPr lang="en-US" sz="900" dirty="0"/>
          </a:p>
        </p:txBody>
      </p:sp>
      <p:sp>
        <p:nvSpPr>
          <p:cNvPr id="36" name="Text 34"/>
          <p:cNvSpPr/>
          <p:nvPr/>
        </p:nvSpPr>
        <p:spPr>
          <a:xfrm>
            <a:off x="7050024" y="4434840"/>
            <a:ext cx="274320" cy="411480"/>
          </a:xfrm>
          <a:prstGeom prst="rect">
            <a:avLst/>
          </a:prstGeom>
          <a:noFill/>
          <a:ln/>
        </p:spPr>
        <p:txBody>
          <a:bodyPr wrap="square" lIns="0" tIns="0" rIns="0" bIns="0" rtlCol="0" anchor="ctr"/>
          <a:lstStyle/>
          <a:p>
            <a:pPr algn="ctr" indent="0" marL="0">
              <a:buNone/>
            </a:pPr>
            <a:r>
              <a:rPr lang="en-US" sz="1300" dirty="0">
                <a:solidFill>
                  <a:srgbClr val="808080"/>
                </a:solidFill>
                <a:latin typeface="游ゴシック" pitchFamily="34" charset="0"/>
                <a:ea typeface="游ゴシック" pitchFamily="34" charset="-122"/>
                <a:cs typeface="游ゴシック" pitchFamily="34" charset="-120"/>
              </a:rPr>
              <a:t>→</a:t>
            </a:r>
            <a:endParaRPr lang="en-US" sz="1300" dirty="0"/>
          </a:p>
        </p:txBody>
      </p:sp>
      <p:sp>
        <p:nvSpPr>
          <p:cNvPr id="37" name="Shape 35"/>
          <p:cNvSpPr/>
          <p:nvPr/>
        </p:nvSpPr>
        <p:spPr>
          <a:xfrm>
            <a:off x="7324344" y="4206240"/>
            <a:ext cx="1938528" cy="868680"/>
          </a:xfrm>
          <a:prstGeom prst="roundRect">
            <a:avLst>
              <a:gd name="adj" fmla="val 8421"/>
            </a:avLst>
          </a:prstGeom>
          <a:solidFill>
            <a:srgbClr val="F7F5F1"/>
          </a:solidFill>
          <a:ln w="9525">
            <a:solidFill>
              <a:srgbClr val="BFBFBF"/>
            </a:solidFill>
            <a:prstDash val="solid"/>
          </a:ln>
        </p:spPr>
      </p:sp>
      <p:sp>
        <p:nvSpPr>
          <p:cNvPr id="38" name="Text 36"/>
          <p:cNvSpPr/>
          <p:nvPr/>
        </p:nvSpPr>
        <p:spPr>
          <a:xfrm>
            <a:off x="7397496" y="4206240"/>
            <a:ext cx="1792224" cy="868680"/>
          </a:xfrm>
          <a:prstGeom prst="rect">
            <a:avLst/>
          </a:prstGeom>
          <a:noFill/>
          <a:ln/>
        </p:spPr>
        <p:txBody>
          <a:bodyPr wrap="square" lIns="0" tIns="0" rIns="0" bIns="0" rtlCol="0" anchor="ctr"/>
          <a:lstStyle/>
          <a:p>
            <a:pPr algn="ctr" indent="0" marL="0">
              <a:lnSpc>
                <a:spcPts val="1300"/>
              </a:lnSpc>
              <a:buNone/>
            </a:pPr>
            <a:r>
              <a:rPr lang="en-US" sz="900" b="1" dirty="0">
                <a:solidFill>
                  <a:srgbClr val="333333"/>
                </a:solidFill>
                <a:latin typeface="游ゴシック" pitchFamily="34" charset="0"/>
                <a:ea typeface="游ゴシック" pitchFamily="34" charset="-122"/>
                <a:cs typeface="游ゴシック" pitchFamily="34" charset="-120"/>
              </a:rPr>
              <a:t>SNS</a:t>
            </a:r>
            <a:endParaRPr lang="en-US" sz="900" dirty="0"/>
          </a:p>
          <a:p>
            <a:pPr algn="ctr" indent="0" marL="0">
              <a:lnSpc>
                <a:spcPts val="1300"/>
              </a:lnSpc>
              <a:buNone/>
            </a:pPr>
            <a:r>
              <a:rPr lang="en-US" sz="900" b="1" dirty="0">
                <a:solidFill>
                  <a:srgbClr val="333333"/>
                </a:solidFill>
                <a:latin typeface="游ゴシック" pitchFamily="34" charset="0"/>
                <a:ea typeface="游ゴシック" pitchFamily="34" charset="-122"/>
                <a:cs typeface="游ゴシック" pitchFamily="34" charset="-120"/>
              </a:rPr>
              <a:t>（#食べるウルトラ図鑑）</a:t>
            </a:r>
            <a:endParaRPr lang="en-US" sz="900" dirty="0"/>
          </a:p>
        </p:txBody>
      </p:sp>
      <p:sp>
        <p:nvSpPr>
          <p:cNvPr id="39" name="Text 37"/>
          <p:cNvSpPr/>
          <p:nvPr/>
        </p:nvSpPr>
        <p:spPr>
          <a:xfrm>
            <a:off x="9262872" y="4434840"/>
            <a:ext cx="274320" cy="411480"/>
          </a:xfrm>
          <a:prstGeom prst="rect">
            <a:avLst/>
          </a:prstGeom>
          <a:noFill/>
          <a:ln/>
        </p:spPr>
        <p:txBody>
          <a:bodyPr wrap="square" lIns="0" tIns="0" rIns="0" bIns="0" rtlCol="0" anchor="ctr"/>
          <a:lstStyle/>
          <a:p>
            <a:pPr algn="ctr" indent="0" marL="0">
              <a:buNone/>
            </a:pPr>
            <a:r>
              <a:rPr lang="en-US" sz="1300" dirty="0">
                <a:solidFill>
                  <a:srgbClr val="808080"/>
                </a:solidFill>
                <a:latin typeface="游ゴシック" pitchFamily="34" charset="0"/>
                <a:ea typeface="游ゴシック" pitchFamily="34" charset="-122"/>
                <a:cs typeface="游ゴシック" pitchFamily="34" charset="-120"/>
              </a:rPr>
              <a:t>→</a:t>
            </a:r>
            <a:endParaRPr lang="en-US" sz="1300" dirty="0"/>
          </a:p>
        </p:txBody>
      </p:sp>
      <p:sp>
        <p:nvSpPr>
          <p:cNvPr id="40" name="Shape 38"/>
          <p:cNvSpPr/>
          <p:nvPr/>
        </p:nvSpPr>
        <p:spPr>
          <a:xfrm>
            <a:off x="9537192" y="4206240"/>
            <a:ext cx="1938528" cy="868680"/>
          </a:xfrm>
          <a:prstGeom prst="roundRect">
            <a:avLst>
              <a:gd name="adj" fmla="val 8421"/>
            </a:avLst>
          </a:prstGeom>
          <a:solidFill>
            <a:srgbClr val="F7F5F1"/>
          </a:solidFill>
          <a:ln w="9525">
            <a:solidFill>
              <a:srgbClr val="BFBFBF"/>
            </a:solidFill>
            <a:prstDash val="solid"/>
          </a:ln>
        </p:spPr>
      </p:sp>
      <p:sp>
        <p:nvSpPr>
          <p:cNvPr id="41" name="Text 39"/>
          <p:cNvSpPr/>
          <p:nvPr/>
        </p:nvSpPr>
        <p:spPr>
          <a:xfrm>
            <a:off x="9610344" y="4206240"/>
            <a:ext cx="1792224" cy="868680"/>
          </a:xfrm>
          <a:prstGeom prst="rect">
            <a:avLst/>
          </a:prstGeom>
          <a:noFill/>
          <a:ln/>
        </p:spPr>
        <p:txBody>
          <a:bodyPr wrap="square" lIns="0" tIns="0" rIns="0" bIns="0" rtlCol="0" anchor="ctr"/>
          <a:lstStyle/>
          <a:p>
            <a:pPr algn="ctr" indent="0" marL="0">
              <a:lnSpc>
                <a:spcPts val="1300"/>
              </a:lnSpc>
              <a:buNone/>
            </a:pPr>
            <a:r>
              <a:rPr lang="en-US" sz="900" b="1" dirty="0">
                <a:solidFill>
                  <a:srgbClr val="333333"/>
                </a:solidFill>
                <a:latin typeface="游ゴシック" pitchFamily="34" charset="0"/>
                <a:ea typeface="游ゴシック" pitchFamily="34" charset="-122"/>
                <a:cs typeface="游ゴシック" pitchFamily="34" charset="-120"/>
              </a:rPr>
              <a:t>デジタル図鑑</a:t>
            </a:r>
            <a:endParaRPr lang="en-US" sz="900" dirty="0"/>
          </a:p>
          <a:p>
            <a:pPr algn="ctr" indent="0" marL="0">
              <a:lnSpc>
                <a:spcPts val="1300"/>
              </a:lnSpc>
              <a:buNone/>
            </a:pPr>
            <a:r>
              <a:rPr lang="en-US" sz="900" b="1" dirty="0">
                <a:solidFill>
                  <a:srgbClr val="333333"/>
                </a:solidFill>
                <a:latin typeface="游ゴシック" pitchFamily="34" charset="0"/>
                <a:ea typeface="游ゴシック" pitchFamily="34" charset="-122"/>
                <a:cs typeface="游ゴシック" pitchFamily="34" charset="-120"/>
              </a:rPr>
              <a:t>（集めて記録・共有）</a:t>
            </a:r>
            <a:endParaRPr lang="en-US" sz="900" dirty="0"/>
          </a:p>
        </p:txBody>
      </p:sp>
      <p:sp>
        <p:nvSpPr>
          <p:cNvPr id="42" name="Shape 40"/>
          <p:cNvSpPr/>
          <p:nvPr/>
        </p:nvSpPr>
        <p:spPr>
          <a:xfrm>
            <a:off x="685800" y="5349240"/>
            <a:ext cx="10817352" cy="685800"/>
          </a:xfrm>
          <a:prstGeom prst="roundRect">
            <a:avLst>
              <a:gd name="adj" fmla="val 10667"/>
            </a:avLst>
          </a:prstGeom>
          <a:solidFill>
            <a:srgbClr val="EAF4F8"/>
          </a:solidFill>
          <a:ln/>
        </p:spPr>
      </p:sp>
      <p:sp>
        <p:nvSpPr>
          <p:cNvPr id="43" name="Text 41"/>
          <p:cNvSpPr/>
          <p:nvPr/>
        </p:nvSpPr>
        <p:spPr>
          <a:xfrm>
            <a:off x="960120" y="5349240"/>
            <a:ext cx="10268712" cy="685800"/>
          </a:xfrm>
          <a:prstGeom prst="rect">
            <a:avLst/>
          </a:prstGeom>
          <a:noFill/>
          <a:ln/>
        </p:spPr>
        <p:txBody>
          <a:bodyPr wrap="square" lIns="0" tIns="0" rIns="0" bIns="0" rtlCol="0" anchor="ctr"/>
          <a:lstStyle/>
          <a:p>
            <a:pPr indent="0" marL="0">
              <a:buNone/>
            </a:pPr>
            <a:r>
              <a:rPr lang="en-US" sz="1100" b="1" dirty="0">
                <a:solidFill>
                  <a:srgbClr val="17828F"/>
                </a:solidFill>
                <a:latin typeface="游ゴシック" pitchFamily="34" charset="0"/>
                <a:ea typeface="游ゴシック" pitchFamily="34" charset="-122"/>
                <a:cs typeface="游ゴシック" pitchFamily="34" charset="-120"/>
              </a:rPr>
              <a:t>コアラのマーチ × ウルトラマン60周年：</a:t>
            </a:r>
            <a:pPr indent="0" marL="0">
              <a:buNone/>
            </a:pPr>
            <a:r>
              <a:rPr lang="en-US" sz="1100" dirty="0">
                <a:solidFill>
                  <a:srgbClr val="404040"/>
                </a:solidFill>
                <a:latin typeface="游ゴシック" pitchFamily="34" charset="0"/>
                <a:ea typeface="游ゴシック" pitchFamily="34" charset="-122"/>
                <a:cs typeface="游ゴシック" pitchFamily="34" charset="-120"/>
              </a:rPr>
              <a:t>「周年・節目を祝いたいとき」（ウルトラマン+7.46）に応える、60年の節目にしかできない物語</a:t>
            </a:r>
            <a:endParaRPr lang="en-US" sz="1100" dirty="0"/>
          </a:p>
        </p:txBody>
      </p:sp>
      <p:sp>
        <p:nvSpPr>
          <p:cNvPr id="44" name="Text 42"/>
          <p:cNvSpPr/>
          <p:nvPr/>
        </p:nvSpPr>
        <p:spPr>
          <a:xfrm>
            <a:off x="685800" y="6144768"/>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 企画案はデータから導かれた具体化イメージであり決定事項ではない。詳細はワークショップで御社メンバーと共同設計</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819656" cy="310896"/>
          </a:xfrm>
          <a:prstGeom prst="rect">
            <a:avLst/>
          </a:prstGeom>
          <a:solidFill>
            <a:srgbClr val="C4761B"/>
          </a:solidFill>
          <a:ln/>
        </p:spPr>
      </p:sp>
      <p:sp>
        <p:nvSpPr>
          <p:cNvPr id="3" name="Text 1"/>
          <p:cNvSpPr/>
          <p:nvPr/>
        </p:nvSpPr>
        <p:spPr>
          <a:xfrm>
            <a:off x="795528" y="384048"/>
            <a:ext cx="1709928"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4．実証のその先へ</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貴社限り</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ただし、私たちのゴールはコラボ商品ではありません</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コアラのマーチ企画は「売上を取る商品」であると同時に、次のカテゴリーを作るための実証実験。売って終わりではなく、学びを設計して取りにいく</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11</a:t>
            </a:r>
            <a:endParaRPr lang="en-US" sz="950" dirty="0"/>
          </a:p>
        </p:txBody>
      </p:sp>
      <p:sp>
        <p:nvSpPr>
          <p:cNvPr id="11" name="Text 9"/>
          <p:cNvSpPr/>
          <p:nvPr/>
        </p:nvSpPr>
        <p:spPr>
          <a:xfrm>
            <a:off x="685800" y="2331720"/>
            <a:ext cx="10817352"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実証で測定するもの</a:t>
            </a:r>
            <a:endParaRPr lang="en-US" sz="1200" dirty="0"/>
          </a:p>
        </p:txBody>
      </p:sp>
      <p:sp>
        <p:nvSpPr>
          <p:cNvPr id="12" name="Shape 10"/>
          <p:cNvSpPr/>
          <p:nvPr/>
        </p:nvSpPr>
        <p:spPr>
          <a:xfrm>
            <a:off x="685800" y="2660904"/>
            <a:ext cx="10817352" cy="0"/>
          </a:xfrm>
          <a:prstGeom prst="line">
            <a:avLst/>
          </a:prstGeom>
          <a:noFill/>
          <a:ln w="12700">
            <a:solidFill>
              <a:srgbClr val="333333"/>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85800" y="2788920"/>
          <a:ext cx="10817352" cy="914400"/>
        </p:xfrm>
        <a:graphic>
          <a:graphicData uri="http://schemas.openxmlformats.org/drawingml/2006/table">
            <a:tbl>
              <a:tblPr/>
              <a:tblGrid>
                <a:gridCol w="2377440"/>
                <a:gridCol w="8439912"/>
              </a:tblGrid>
              <a:tr h="292608">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測定項目</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何を学ぶか</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38404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新規購買</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コアラのマーチを初めて／久しぶりに買った人の割合</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年代構成</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購買者の年代分布 ── 三世代に届いたか</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リピート</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シリーズ第2弾・第3弾への継続購買</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人気キャラクター</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どの時代・どのキャラが選ばれたか</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SNS発話</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#食べるウルトラ図鑑 の発話量・文脈</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動いた界隈</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推し活・ヤング・コレクターのどこが動いたか</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CEPスコアの変化</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施策前後のメンタルアドバンテージスコアのBefore/After ── 対象CEP・新規CEP・発話構成がどう動いたか</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4" name="Shape 11"/>
          <p:cNvSpPr/>
          <p:nvPr/>
        </p:nvSpPr>
        <p:spPr>
          <a:xfrm>
            <a:off x="630936" y="5349240"/>
            <a:ext cx="10927080" cy="457200"/>
          </a:xfrm>
          <a:prstGeom prst="rect">
            <a:avLst/>
          </a:prstGeom>
          <a:ln w="15875">
            <a:solidFill>
              <a:srgbClr val="C00000"/>
            </a:solidFill>
            <a:prstDash val="dash"/>
          </a:ln>
        </p:spPr>
      </p:sp>
      <p:sp>
        <p:nvSpPr>
          <p:cNvPr id="15" name="Text 12"/>
          <p:cNvSpPr/>
          <p:nvPr/>
        </p:nvSpPr>
        <p:spPr>
          <a:xfrm>
            <a:off x="685800" y="5943600"/>
            <a:ext cx="10817352" cy="292608"/>
          </a:xfrm>
          <a:prstGeom prst="rect">
            <a:avLst/>
          </a:prstGeom>
          <a:noFill/>
          <a:ln/>
        </p:spPr>
        <p:txBody>
          <a:bodyPr wrap="square" lIns="0" tIns="0" rIns="0" bIns="0" rtlCol="0" anchor="ctr"/>
          <a:lstStyle/>
          <a:p>
            <a:pPr indent="0" marL="0">
              <a:buNone/>
            </a:pPr>
            <a:r>
              <a:rPr lang="en-US" sz="1150" b="1" dirty="0">
                <a:solidFill>
                  <a:srgbClr val="C00000"/>
                </a:solidFill>
                <a:latin typeface="游ゴシック" pitchFamily="34" charset="0"/>
                <a:ea typeface="游ゴシック" pitchFamily="34" charset="-122"/>
                <a:cs typeface="游ゴシック" pitchFamily="34" charset="-120"/>
              </a:rPr>
              <a:t>スコアは「相性の点数」ではなく、施策前後の変化を追う共通KPIとして使う ── </a:t>
            </a:r>
            <a:pPr indent="0" marL="0">
              <a:buNone/>
            </a:pPr>
            <a:r>
              <a:rPr lang="en-US" sz="1150" dirty="0">
                <a:solidFill>
                  <a:srgbClr val="404040"/>
                </a:solidFill>
                <a:latin typeface="游ゴシック" pitchFamily="34" charset="0"/>
                <a:ea typeface="游ゴシック" pitchFamily="34" charset="-122"/>
                <a:cs typeface="游ゴシック" pitchFamily="34" charset="-120"/>
              </a:rPr>
              <a:t>診断で終わらせないことが、単発コラボとの決定的な違い</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819656" cy="310896"/>
          </a:xfrm>
          <a:prstGeom prst="rect">
            <a:avLst/>
          </a:prstGeom>
          <a:solidFill>
            <a:srgbClr val="C4761B"/>
          </a:solidFill>
          <a:ln/>
        </p:spPr>
      </p:sp>
      <p:sp>
        <p:nvSpPr>
          <p:cNvPr id="3" name="Text 1"/>
          <p:cNvSpPr/>
          <p:nvPr/>
        </p:nvSpPr>
        <p:spPr>
          <a:xfrm>
            <a:off x="795528" y="384048"/>
            <a:ext cx="1709928"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4．実証のその先へ</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貴社限り</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ロッテは、商品ではなく“習慣”を発明してきた</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カテゴリー創造は外部の成功例ではなく、御社自身の勝ちパターンである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12</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5800" y="2331720"/>
          <a:ext cx="10817352" cy="914400"/>
        </p:xfrm>
        <a:graphic>
          <a:graphicData uri="http://schemas.openxmlformats.org/drawingml/2006/table">
            <a:tbl>
              <a:tblPr/>
              <a:tblGrid>
                <a:gridCol w="2286000"/>
                <a:gridCol w="1097280"/>
                <a:gridCol w="3566160"/>
                <a:gridCol w="3867912"/>
              </a:tblGrid>
              <a:tr h="329184">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商品</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年</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発明した習慣</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何が起きたか</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56692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ビックリマン</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100" dirty="0">
                          <a:solidFill>
                            <a:srgbClr val="404040"/>
                          </a:solidFill>
                          <a:latin typeface="游ゴシック" pitchFamily="34" charset="0"/>
                          <a:ea typeface="游ゴシック" pitchFamily="34" charset="-122"/>
                          <a:cs typeface="游ゴシック" pitchFamily="34" charset="-120"/>
                        </a:rPr>
                        <a:t>1977／85</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100" b="1" dirty="0">
                          <a:solidFill>
                            <a:srgbClr val="333333"/>
                          </a:solidFill>
                          <a:latin typeface="游ゴシック" pitchFamily="34" charset="0"/>
                          <a:ea typeface="游ゴシック" pitchFamily="34" charset="-122"/>
                          <a:cs typeface="游ゴシック" pitchFamily="34" charset="-120"/>
                        </a:rPr>
                        <a:t>「集める」という習慣</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808080"/>
                          </a:solidFill>
                          <a:latin typeface="游ゴシック" pitchFamily="34" charset="0"/>
                          <a:ea typeface="游ゴシック" pitchFamily="34" charset="-122"/>
                          <a:cs typeface="游ゴシック" pitchFamily="34" charset="-120"/>
                        </a:rPr>
                        <a:t>シール食玩の発明。最盛期年間4億個</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56692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雪見だいふく</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100" dirty="0">
                          <a:solidFill>
                            <a:srgbClr val="404040"/>
                          </a:solidFill>
                          <a:latin typeface="游ゴシック" pitchFamily="34" charset="0"/>
                          <a:ea typeface="游ゴシック" pitchFamily="34" charset="-122"/>
                          <a:cs typeface="游ゴシック" pitchFamily="34" charset="-120"/>
                        </a:rPr>
                        <a:t>1981</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100" b="1" dirty="0">
                          <a:solidFill>
                            <a:srgbClr val="333333"/>
                          </a:solidFill>
                          <a:latin typeface="游ゴシック" pitchFamily="34" charset="0"/>
                          <a:ea typeface="游ゴシック" pitchFamily="34" charset="-122"/>
                          <a:cs typeface="游ゴシック" pitchFamily="34" charset="-120"/>
                        </a:rPr>
                        <a:t>「冬にアイスを食べる」習慣</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808080"/>
                          </a:solidFill>
                          <a:latin typeface="游ゴシック" pitchFamily="34" charset="0"/>
                          <a:ea typeface="游ゴシック" pitchFamily="34" charset="-122"/>
                          <a:cs typeface="游ゴシック" pitchFamily="34" charset="-120"/>
                        </a:rPr>
                        <a:t>『冬は売れない』の常識を反転</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56692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キシリトールガム</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100" dirty="0">
                          <a:solidFill>
                            <a:srgbClr val="404040"/>
                          </a:solidFill>
                          <a:latin typeface="游ゴシック" pitchFamily="34" charset="0"/>
                          <a:ea typeface="游ゴシック" pitchFamily="34" charset="-122"/>
                          <a:cs typeface="游ゴシック" pitchFamily="34" charset="-120"/>
                        </a:rPr>
                        <a:t>1997</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100" b="1" dirty="0">
                          <a:solidFill>
                            <a:srgbClr val="333333"/>
                          </a:solidFill>
                          <a:latin typeface="游ゴシック" pitchFamily="34" charset="0"/>
                          <a:ea typeface="游ゴシック" pitchFamily="34" charset="-122"/>
                          <a:cs typeface="游ゴシック" pitchFamily="34" charset="-120"/>
                        </a:rPr>
                        <a:t>「歯のために噛む」習慣</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808080"/>
                          </a:solidFill>
                          <a:latin typeface="游ゴシック" pitchFamily="34" charset="0"/>
                          <a:ea typeface="游ゴシック" pitchFamily="34" charset="-122"/>
                          <a:cs typeface="游ゴシック" pitchFamily="34" charset="-120"/>
                        </a:rPr>
                        <a:t>機能性ガムの創造。ガムシェア6割の源泉</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566928">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クーリッシュ</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100" dirty="0">
                          <a:solidFill>
                            <a:srgbClr val="404040"/>
                          </a:solidFill>
                          <a:latin typeface="游ゴシック" pitchFamily="34" charset="0"/>
                          <a:ea typeface="游ゴシック" pitchFamily="34" charset="-122"/>
                          <a:cs typeface="游ゴシック" pitchFamily="34" charset="-120"/>
                        </a:rPr>
                        <a:t>2003</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100" b="1" dirty="0">
                          <a:solidFill>
                            <a:srgbClr val="333333"/>
                          </a:solidFill>
                          <a:latin typeface="游ゴシック" pitchFamily="34" charset="0"/>
                          <a:ea typeface="游ゴシック" pitchFamily="34" charset="-122"/>
                          <a:cs typeface="游ゴシック" pitchFamily="34" charset="-120"/>
                        </a:rPr>
                        <a:t>「アイスを飲む」習慣</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00" dirty="0">
                          <a:solidFill>
                            <a:srgbClr val="808080"/>
                          </a:solidFill>
                          <a:latin typeface="游ゴシック" pitchFamily="34" charset="0"/>
                          <a:ea typeface="游ゴシック" pitchFamily="34" charset="-122"/>
                          <a:cs typeface="游ゴシック" pitchFamily="34" charset="-120"/>
                        </a:rPr>
                        <a:t>容器の発明で世界ヒット商品賞</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Shape 9"/>
          <p:cNvSpPr/>
          <p:nvPr/>
        </p:nvSpPr>
        <p:spPr>
          <a:xfrm>
            <a:off x="685800" y="5349240"/>
            <a:ext cx="10817352" cy="777240"/>
          </a:xfrm>
          <a:prstGeom prst="rect">
            <a:avLst/>
          </a:prstGeom>
          <a:solidFill>
            <a:srgbClr val="3B3028"/>
          </a:solidFill>
          <a:ln/>
        </p:spPr>
      </p:sp>
      <p:sp>
        <p:nvSpPr>
          <p:cNvPr id="13" name="Text 10"/>
          <p:cNvSpPr/>
          <p:nvPr/>
        </p:nvSpPr>
        <p:spPr>
          <a:xfrm>
            <a:off x="685800" y="5349240"/>
            <a:ext cx="10817352" cy="777240"/>
          </a:xfrm>
          <a:prstGeom prst="rect">
            <a:avLst/>
          </a:prstGeom>
          <a:noFill/>
          <a:ln/>
        </p:spPr>
        <p:txBody>
          <a:bodyPr wrap="square" lIns="0" tIns="0" rIns="0" bIns="0" rtlCol="0" anchor="ctr"/>
          <a:lstStyle/>
          <a:p>
            <a:pPr algn="ctr" indent="0" marL="0">
              <a:buNone/>
            </a:pPr>
            <a:r>
              <a:rPr lang="en-US" sz="1800" b="1" dirty="0">
                <a:solidFill>
                  <a:srgbClr val="FFFFFF"/>
                </a:solidFill>
                <a:latin typeface="游ゴシック" pitchFamily="34" charset="0"/>
                <a:ea typeface="游ゴシック" pitchFamily="34" charset="-122"/>
                <a:cs typeface="游ゴシック" pitchFamily="34" charset="-120"/>
              </a:rPr>
              <a:t>では、次の習慣は何か。</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819656" cy="310896"/>
          </a:xfrm>
          <a:prstGeom prst="rect">
            <a:avLst/>
          </a:prstGeom>
          <a:solidFill>
            <a:srgbClr val="C4761B"/>
          </a:solidFill>
          <a:ln/>
        </p:spPr>
      </p:sp>
      <p:sp>
        <p:nvSpPr>
          <p:cNvPr id="3" name="Text 1"/>
          <p:cNvSpPr/>
          <p:nvPr/>
        </p:nvSpPr>
        <p:spPr>
          <a:xfrm>
            <a:off x="795528" y="384048"/>
            <a:ext cx="1709928"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4．実証のその先へ</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貴社限り</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「3分間を、たべよう。」</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実証の先で共同開発したい最終構想 ──『ULTRA 3MIN.』。ウルトラマンの「3分間」を、気分を切り替える食習慣に翻訳する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13</a:t>
            </a:r>
            <a:endParaRPr lang="en-US" sz="950" dirty="0"/>
          </a:p>
        </p:txBody>
      </p:sp>
      <p:sp>
        <p:nvSpPr>
          <p:cNvPr id="11" name="Text 9"/>
          <p:cNvSpPr/>
          <p:nvPr/>
        </p:nvSpPr>
        <p:spPr>
          <a:xfrm>
            <a:off x="685800" y="2286000"/>
            <a:ext cx="4937760"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コンセプト（共同で検証したい仮説）</a:t>
            </a:r>
            <a:endParaRPr lang="en-US" sz="1200" dirty="0"/>
          </a:p>
        </p:txBody>
      </p:sp>
      <p:sp>
        <p:nvSpPr>
          <p:cNvPr id="12" name="Shape 10"/>
          <p:cNvSpPr/>
          <p:nvPr/>
        </p:nvSpPr>
        <p:spPr>
          <a:xfrm>
            <a:off x="685800" y="2615184"/>
            <a:ext cx="4937760" cy="0"/>
          </a:xfrm>
          <a:prstGeom prst="line">
            <a:avLst/>
          </a:prstGeom>
          <a:noFill/>
          <a:ln w="12700">
            <a:solidFill>
              <a:srgbClr val="333333"/>
            </a:solidFill>
            <a:prstDash val="solid"/>
          </a:ln>
        </p:spPr>
      </p:sp>
      <p:sp>
        <p:nvSpPr>
          <p:cNvPr id="13" name="Text 11"/>
          <p:cNvSpPr/>
          <p:nvPr/>
        </p:nvSpPr>
        <p:spPr>
          <a:xfrm>
            <a:off x="685800" y="2788920"/>
            <a:ext cx="4937760" cy="1005840"/>
          </a:xfrm>
          <a:prstGeom prst="rect">
            <a:avLst/>
          </a:prstGeom>
          <a:noFill/>
          <a:ln/>
        </p:spPr>
        <p:txBody>
          <a:bodyPr wrap="square" lIns="0" tIns="0" rIns="0" bIns="0" rtlCol="0" anchor="ctr"/>
          <a:lstStyle/>
          <a:p>
            <a:pPr indent="0" marL="0">
              <a:lnSpc>
                <a:spcPts val="3000"/>
              </a:lnSpc>
              <a:buNone/>
            </a:pPr>
            <a:r>
              <a:rPr lang="en-US" sz="2200" b="1" dirty="0">
                <a:solidFill>
                  <a:srgbClr val="333333"/>
                </a:solidFill>
                <a:latin typeface="游ゴシック" pitchFamily="34" charset="0"/>
                <a:ea typeface="游ゴシック" pitchFamily="34" charset="-122"/>
                <a:cs typeface="游ゴシック" pitchFamily="34" charset="-120"/>
              </a:rPr>
              <a:t>噛んで3分。</a:t>
            </a:r>
            <a:endParaRPr lang="en-US" sz="2200" dirty="0"/>
          </a:p>
          <a:p>
            <a:pPr indent="0" marL="0">
              <a:lnSpc>
                <a:spcPts val="3000"/>
              </a:lnSpc>
              <a:buNone/>
            </a:pPr>
            <a:r>
              <a:rPr lang="en-US" sz="2200" b="1" dirty="0">
                <a:solidFill>
                  <a:srgbClr val="333333"/>
                </a:solidFill>
                <a:latin typeface="游ゴシック" pitchFamily="34" charset="0"/>
                <a:ea typeface="游ゴシック" pitchFamily="34" charset="-122"/>
                <a:cs typeface="游ゴシック" pitchFamily="34" charset="-120"/>
              </a:rPr>
              <a:t>気分が、変身する。</a:t>
            </a:r>
            <a:endParaRPr lang="en-US" sz="2200" dirty="0"/>
          </a:p>
        </p:txBody>
      </p:sp>
      <p:sp>
        <p:nvSpPr>
          <p:cNvPr id="14" name="Text 12"/>
          <p:cNvSpPr/>
          <p:nvPr/>
        </p:nvSpPr>
        <p:spPr>
          <a:xfrm>
            <a:off x="685800" y="3931920"/>
            <a:ext cx="4937760" cy="1051560"/>
          </a:xfrm>
          <a:prstGeom prst="rect">
            <a:avLst/>
          </a:prstGeom>
          <a:noFill/>
          <a:ln/>
        </p:spPr>
        <p:txBody>
          <a:bodyPr wrap="square" lIns="0" tIns="0" rIns="0" bIns="0" rtlCol="0" anchor="ctr"/>
          <a:lstStyle/>
          <a:p>
            <a:pPr indent="0" marL="0">
              <a:lnSpc>
                <a:spcPts val="1700"/>
              </a:lnSpc>
              <a:buNone/>
            </a:pPr>
            <a:r>
              <a:rPr lang="en-US" sz="1100" dirty="0">
                <a:solidFill>
                  <a:srgbClr val="404040"/>
                </a:solidFill>
                <a:latin typeface="游ゴシック" pitchFamily="34" charset="0"/>
                <a:ea typeface="游ゴシック" pitchFamily="34" charset="-122"/>
                <a:cs typeface="游ゴシック" pitchFamily="34" charset="-120"/>
              </a:rPr>
              <a:t>「やるぞ」のスイッチ、「落ち着く」の儀式 ── 勉強前・仕事前の</a:t>
            </a:r>
            <a:endParaRPr lang="en-US" sz="1100" dirty="0"/>
          </a:p>
          <a:p>
            <a:pPr indent="0" marL="0">
              <a:lnSpc>
                <a:spcPts val="1700"/>
              </a:lnSpc>
              <a:buNone/>
            </a:pPr>
            <a:r>
              <a:rPr lang="en-US" sz="1100" dirty="0">
                <a:solidFill>
                  <a:srgbClr val="404040"/>
                </a:solidFill>
                <a:latin typeface="游ゴシック" pitchFamily="34" charset="0"/>
                <a:ea typeface="游ゴシック" pitchFamily="34" charset="-122"/>
                <a:cs typeface="游ゴシック" pitchFamily="34" charset="-120"/>
              </a:rPr>
              <a:t>「1日3分のヒーロータイム」という新習慣。形態はグミを第一候補に</a:t>
            </a:r>
            <a:endParaRPr lang="en-US" sz="1100" dirty="0"/>
          </a:p>
          <a:p>
            <a:pPr indent="0" marL="0">
              <a:lnSpc>
                <a:spcPts val="1700"/>
              </a:lnSpc>
              <a:buNone/>
            </a:pPr>
            <a:r>
              <a:rPr lang="en-US" sz="1100" dirty="0">
                <a:solidFill>
                  <a:srgbClr val="404040"/>
                </a:solidFill>
                <a:latin typeface="游ゴシック" pitchFamily="34" charset="0"/>
                <a:ea typeface="游ゴシック" pitchFamily="34" charset="-122"/>
                <a:cs typeface="游ゴシック" pitchFamily="34" charset="-120"/>
              </a:rPr>
              <a:t>（御社のグミ強化・生産投資の方針と整合）、ガム等へ拡張</a:t>
            </a:r>
            <a:endParaRPr lang="en-US" sz="1100" dirty="0"/>
          </a:p>
        </p:txBody>
      </p:sp>
      <p:sp>
        <p:nvSpPr>
          <p:cNvPr id="15" name="Text 13"/>
          <p:cNvSpPr/>
          <p:nvPr/>
        </p:nvSpPr>
        <p:spPr>
          <a:xfrm>
            <a:off x="5989320" y="2286000"/>
            <a:ext cx="5513832"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3分の変身の設計（イメージ）</a:t>
            </a:r>
            <a:endParaRPr lang="en-US" sz="1200" dirty="0"/>
          </a:p>
        </p:txBody>
      </p:sp>
      <p:sp>
        <p:nvSpPr>
          <p:cNvPr id="16" name="Shape 14"/>
          <p:cNvSpPr/>
          <p:nvPr/>
        </p:nvSpPr>
        <p:spPr>
          <a:xfrm>
            <a:off x="5989320" y="2615184"/>
            <a:ext cx="5513832" cy="0"/>
          </a:xfrm>
          <a:prstGeom prst="line">
            <a:avLst/>
          </a:prstGeom>
          <a:noFill/>
          <a:ln w="12700">
            <a:solidFill>
              <a:srgbClr val="333333"/>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989320" y="2743200"/>
          <a:ext cx="5513832" cy="914400"/>
        </p:xfrm>
        <a:graphic>
          <a:graphicData uri="http://schemas.openxmlformats.org/drawingml/2006/table">
            <a:tbl>
              <a:tblPr/>
              <a:tblGrid>
                <a:gridCol w="1280160"/>
                <a:gridCol w="1920240"/>
                <a:gridCol w="2313432"/>
              </a:tblGrid>
              <a:tr h="347472">
                <a:tc>
                  <a:txBody>
                    <a:bodyPr/>
                    <a:lstStyle/>
                    <a:p>
                      <a:pPr indent="0" marL="0">
                        <a:buNone/>
                      </a:pP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000" b="1" dirty="0">
                          <a:solidFill>
                            <a:srgbClr val="FFFFFF"/>
                          </a:solidFill>
                          <a:latin typeface="游ゴシック" pitchFamily="34" charset="0"/>
                          <a:ea typeface="游ゴシック" pitchFamily="34" charset="-122"/>
                          <a:cs typeface="游ゴシック" pitchFamily="34" charset="-120"/>
                        </a:rPr>
                        <a:t>噛みはじめ</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000" b="1" dirty="0">
                          <a:solidFill>
                            <a:srgbClr val="FFFFFF"/>
                          </a:solidFill>
                          <a:latin typeface="游ゴシック" pitchFamily="34" charset="0"/>
                          <a:ea typeface="游ゴシック" pitchFamily="34" charset="-122"/>
                          <a:cs typeface="游ゴシック" pitchFamily="34" charset="-120"/>
                        </a:rPr>
                        <a:t>変身（3分経過）</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457200">
                <a:tc>
                  <a:txBody>
                    <a:bodyPr/>
                    <a:lstStyle/>
                    <a:p>
                      <a:pPr algn="ctr" indent="0" marL="0">
                        <a:buNone/>
                      </a:pPr>
                      <a:r>
                        <a:rPr lang="en-US" sz="1000" b="1" dirty="0">
                          <a:solidFill>
                            <a:srgbClr val="333333"/>
                          </a:solidFill>
                          <a:latin typeface="游ゴシック" pitchFamily="34" charset="0"/>
                          <a:ea typeface="游ゴシック" pitchFamily="34" charset="-122"/>
                          <a:cs typeface="游ゴシック" pitchFamily="34" charset="-120"/>
                        </a:rPr>
                        <a:t>気分</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000" dirty="0">
                          <a:solidFill>
                            <a:srgbClr val="404040"/>
                          </a:solidFill>
                          <a:latin typeface="游ゴシック" pitchFamily="34" charset="0"/>
                          <a:ea typeface="游ゴシック" pitchFamily="34" charset="-122"/>
                          <a:cs typeface="游ゴシック" pitchFamily="34" charset="-120"/>
                        </a:rPr>
                        <a:t>ざわつく日常</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00" b="1" dirty="0">
                          <a:solidFill>
                            <a:srgbClr val="C00000"/>
                          </a:solidFill>
                          <a:latin typeface="游ゴシック" pitchFamily="34" charset="0"/>
                          <a:ea typeface="游ゴシック" pitchFamily="34" charset="-122"/>
                          <a:cs typeface="游ゴシック" pitchFamily="34" charset="-120"/>
                        </a:rPr>
                        <a:t>キリッと集中／すっと落ち着く</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57200">
                <a:tc>
                  <a:txBody>
                    <a:bodyPr/>
                    <a:lstStyle/>
                    <a:p>
                      <a:pPr algn="ctr" indent="0" marL="0">
                        <a:buNone/>
                      </a:pPr>
                      <a:r>
                        <a:rPr lang="en-US" sz="1000" b="1" dirty="0">
                          <a:solidFill>
                            <a:srgbClr val="333333"/>
                          </a:solidFill>
                          <a:latin typeface="游ゴシック" pitchFamily="34" charset="0"/>
                          <a:ea typeface="游ゴシック" pitchFamily="34" charset="-122"/>
                          <a:cs typeface="游ゴシック" pitchFamily="34" charset="-120"/>
                        </a:rPr>
                        <a:t>味・清涼感</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algn="ctr" indent="0" marL="0">
                        <a:buNone/>
                      </a:pPr>
                      <a:r>
                        <a:rPr lang="en-US" sz="1000" dirty="0">
                          <a:solidFill>
                            <a:srgbClr val="404040"/>
                          </a:solidFill>
                          <a:latin typeface="游ゴシック" pitchFamily="34" charset="0"/>
                          <a:ea typeface="游ゴシック" pitchFamily="34" charset="-122"/>
                          <a:cs typeface="游ゴシック" pitchFamily="34" charset="-120"/>
                        </a:rPr>
                        <a:t>クールな立ち上がり</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000" dirty="0">
                          <a:solidFill>
                            <a:srgbClr val="404040"/>
                          </a:solidFill>
                          <a:latin typeface="游ゴシック" pitchFamily="34" charset="0"/>
                          <a:ea typeface="游ゴシック" pitchFamily="34" charset="-122"/>
                          <a:cs typeface="游ゴシック" pitchFamily="34" charset="-120"/>
                        </a:rPr>
                        <a:t>時限的な変化（検証仮説）</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8" name="Shape 15"/>
          <p:cNvSpPr/>
          <p:nvPr/>
        </p:nvSpPr>
        <p:spPr>
          <a:xfrm>
            <a:off x="7214616" y="3026664"/>
            <a:ext cx="4343400" cy="521208"/>
          </a:xfrm>
          <a:prstGeom prst="rect">
            <a:avLst/>
          </a:prstGeom>
          <a:ln w="15875">
            <a:solidFill>
              <a:srgbClr val="C00000"/>
            </a:solidFill>
            <a:prstDash val="dash"/>
          </a:ln>
        </p:spPr>
      </p:sp>
      <p:sp>
        <p:nvSpPr>
          <p:cNvPr id="19" name="Text 16"/>
          <p:cNvSpPr/>
          <p:nvPr/>
        </p:nvSpPr>
        <p:spPr>
          <a:xfrm>
            <a:off x="5989320" y="4251960"/>
            <a:ext cx="5513832" cy="822960"/>
          </a:xfrm>
          <a:prstGeom prst="rect">
            <a:avLst/>
          </a:prstGeom>
          <a:noFill/>
          <a:ln/>
        </p:spPr>
        <p:txBody>
          <a:bodyPr wrap="square" lIns="0" tIns="0" rIns="0" bIns="0" rtlCol="0" anchor="ctr"/>
          <a:lstStyle/>
          <a:p>
            <a:pPr indent="0" marL="0">
              <a:lnSpc>
                <a:spcPts val="1400"/>
              </a:lnSpc>
              <a:buNone/>
            </a:pPr>
            <a:r>
              <a:rPr lang="en-US" sz="950" dirty="0">
                <a:solidFill>
                  <a:srgbClr val="808080"/>
                </a:solidFill>
                <a:latin typeface="游ゴシック" pitchFamily="34" charset="0"/>
                <a:ea typeface="游ゴシック" pitchFamily="34" charset="-122"/>
                <a:cs typeface="游ゴシック" pitchFamily="34" charset="-120"/>
              </a:rPr>
              <a:t>※ </a:t>
            </a:r>
            <a:pPr indent="0" marL="0">
              <a:lnSpc>
                <a:spcPts val="1400"/>
              </a:lnSpc>
              <a:buNone/>
            </a:pPr>
            <a:r>
              <a:rPr lang="en-US" sz="950" dirty="0">
                <a:solidFill>
                  <a:srgbClr val="808080"/>
                </a:solidFill>
                <a:latin typeface="游ゴシック" pitchFamily="34" charset="0"/>
                <a:ea typeface="游ゴシック" pitchFamily="34" charset="-122"/>
                <a:cs typeface="游ゴシック" pitchFamily="34" charset="-120"/>
              </a:rPr>
              <a:t>「3分後の気分の切り替え」を軸に、香味・清涼感・食感等の時限設計は御社の咀嚼研究・商品開発・研究部門と共同で技術検証したい仮説（実現可能性を保証するものではない）</a:t>
            </a:r>
            <a:endParaRPr lang="en-US" sz="950" dirty="0"/>
          </a:p>
        </p:txBody>
      </p:sp>
      <p:sp>
        <p:nvSpPr>
          <p:cNvPr id="20" name="Shape 17"/>
          <p:cNvSpPr/>
          <p:nvPr/>
        </p:nvSpPr>
        <p:spPr>
          <a:xfrm>
            <a:off x="685800" y="5257800"/>
            <a:ext cx="10817352" cy="731520"/>
          </a:xfrm>
          <a:prstGeom prst="roundRect">
            <a:avLst>
              <a:gd name="adj" fmla="val 10000"/>
            </a:avLst>
          </a:prstGeom>
          <a:solidFill>
            <a:srgbClr val="EAF4F8"/>
          </a:solidFill>
          <a:ln/>
        </p:spPr>
      </p:sp>
      <p:sp>
        <p:nvSpPr>
          <p:cNvPr id="21" name="Text 18"/>
          <p:cNvSpPr/>
          <p:nvPr/>
        </p:nvSpPr>
        <p:spPr>
          <a:xfrm>
            <a:off x="960120" y="5257800"/>
            <a:ext cx="10268712" cy="731520"/>
          </a:xfrm>
          <a:prstGeom prst="rect">
            <a:avLst/>
          </a:prstGeom>
          <a:noFill/>
          <a:ln/>
        </p:spPr>
        <p:txBody>
          <a:bodyPr wrap="square" lIns="0" tIns="0" rIns="0" bIns="0" rtlCol="0" anchor="ctr"/>
          <a:lstStyle/>
          <a:p>
            <a:pPr indent="0" marL="0">
              <a:buNone/>
            </a:pPr>
            <a:r>
              <a:rPr lang="en-US" sz="1100" b="1" dirty="0">
                <a:solidFill>
                  <a:srgbClr val="17828F"/>
                </a:solidFill>
                <a:latin typeface="游ゴシック" pitchFamily="34" charset="0"/>
                <a:ea typeface="游ゴシック" pitchFamily="34" charset="-122"/>
                <a:cs typeface="游ゴシック" pitchFamily="34" charset="-120"/>
              </a:rPr>
              <a:t>なぜウルトラマンか：</a:t>
            </a:r>
            <a:pPr indent="0" marL="0">
              <a:buNone/>
            </a:pPr>
            <a:r>
              <a:rPr lang="en-US" sz="1100" dirty="0">
                <a:solidFill>
                  <a:srgbClr val="404040"/>
                </a:solidFill>
                <a:latin typeface="游ゴシック" pitchFamily="34" charset="0"/>
                <a:ea typeface="游ゴシック" pitchFamily="34" charset="-122"/>
                <a:cs typeface="游ゴシック" pitchFamily="34" charset="-120"/>
              </a:rPr>
              <a:t>「3分」を物語として背負えるのは、カラータイマーを持つウルトラマンだけ。噛むことの価値（集中・リフレッシュ）は御社の咀嚼研究と整合する</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5．共同のかたち</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貴社限り</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片方だけでは、作れない</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円谷プロは物語と資産を、ロッテは技術と売場を持つ。新しい食習慣は、その交点にしか生まれない</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14</a:t>
            </a:r>
            <a:endParaRPr lang="en-US" sz="950" dirty="0"/>
          </a:p>
        </p:txBody>
      </p:sp>
      <p:sp>
        <p:nvSpPr>
          <p:cNvPr id="11" name="Shape 9"/>
          <p:cNvSpPr/>
          <p:nvPr/>
        </p:nvSpPr>
        <p:spPr>
          <a:xfrm>
            <a:off x="685800" y="2377440"/>
            <a:ext cx="3931920" cy="3108960"/>
          </a:xfrm>
          <a:prstGeom prst="roundRect">
            <a:avLst>
              <a:gd name="adj" fmla="val 2941"/>
            </a:avLst>
          </a:prstGeom>
          <a:solidFill>
            <a:srgbClr val="F7F5F1"/>
          </a:solidFill>
          <a:ln/>
        </p:spPr>
      </p:sp>
      <p:sp>
        <p:nvSpPr>
          <p:cNvPr id="12" name="Text 10"/>
          <p:cNvSpPr/>
          <p:nvPr/>
        </p:nvSpPr>
        <p:spPr>
          <a:xfrm>
            <a:off x="1005840" y="2606040"/>
            <a:ext cx="3291840" cy="365760"/>
          </a:xfrm>
          <a:prstGeom prst="rect">
            <a:avLst/>
          </a:prstGeom>
          <a:noFill/>
          <a:ln/>
        </p:spPr>
        <p:txBody>
          <a:bodyPr wrap="square" lIns="0" tIns="0" rIns="0" bIns="0" rtlCol="0" anchor="ctr"/>
          <a:lstStyle/>
          <a:p>
            <a:pPr indent="0" marL="0">
              <a:buNone/>
            </a:pPr>
            <a:r>
              <a:rPr lang="en-US" sz="1500" b="1" dirty="0">
                <a:solidFill>
                  <a:srgbClr val="C00000"/>
                </a:solidFill>
                <a:latin typeface="游ゴシック" pitchFamily="34" charset="0"/>
                <a:ea typeface="游ゴシック" pitchFamily="34" charset="-122"/>
                <a:cs typeface="游ゴシック" pitchFamily="34" charset="-120"/>
              </a:rPr>
              <a:t>円谷プロダクション</a:t>
            </a:r>
            <a:endParaRPr lang="en-US" sz="1500" dirty="0"/>
          </a:p>
        </p:txBody>
      </p:sp>
      <p:sp>
        <p:nvSpPr>
          <p:cNvPr id="13" name="Text 11"/>
          <p:cNvSpPr/>
          <p:nvPr/>
        </p:nvSpPr>
        <p:spPr>
          <a:xfrm>
            <a:off x="1005840" y="3108960"/>
            <a:ext cx="3291840" cy="2103120"/>
          </a:xfrm>
          <a:prstGeom prst="rect">
            <a:avLst/>
          </a:prstGeom>
          <a:noFill/>
          <a:ln/>
        </p:spPr>
        <p:txBody>
          <a:bodyPr wrap="square" lIns="0" tIns="0" rIns="0" bIns="0" rtlCol="0" anchor="ctr"/>
          <a:lstStyle/>
          <a:p>
            <a:pPr marL="152400" indent="-152400">
              <a:lnSpc>
                <a:spcPts val="1700"/>
              </a:lnSpc>
              <a:spcAft>
                <a:spcPts val="600"/>
              </a:spcAft>
              <a:buSzPct val="100000"/>
              <a:buChar char="●"/>
            </a:pPr>
            <a:r>
              <a:rPr lang="en-US" sz="1150" dirty="0">
                <a:solidFill>
                  <a:srgbClr val="404040"/>
                </a:solidFill>
                <a:latin typeface="游ゴシック" pitchFamily="34" charset="0"/>
                <a:ea typeface="游ゴシック" pitchFamily="34" charset="-122"/>
                <a:cs typeface="游ゴシック" pitchFamily="34" charset="-120"/>
              </a:rPr>
              <a:t>変身・3分間・カラータイマー</a:t>
            </a:r>
            <a:endParaRPr lang="en-US" sz="1150" dirty="0"/>
          </a:p>
          <a:p>
            <a:pPr marL="152400" indent="-152400">
              <a:lnSpc>
                <a:spcPts val="1700"/>
              </a:lnSpc>
              <a:spcAft>
                <a:spcPts val="600"/>
              </a:spcAft>
              <a:buSzPct val="100000"/>
              <a:buChar char="●"/>
            </a:pPr>
            <a:r>
              <a:rPr lang="en-US" sz="1150" dirty="0">
                <a:solidFill>
                  <a:srgbClr val="404040"/>
                </a:solidFill>
                <a:latin typeface="游ゴシック" pitchFamily="34" charset="0"/>
                <a:ea typeface="游ゴシック" pitchFamily="34" charset="-122"/>
                <a:cs typeface="游ゴシック" pitchFamily="34" charset="-120"/>
              </a:rPr>
              <a:t>60年 × 約2,500種のキャラクター</a:t>
            </a:r>
            <a:endParaRPr lang="en-US" sz="1150" dirty="0"/>
          </a:p>
          <a:p>
            <a:pPr marL="152400" indent="-152400">
              <a:lnSpc>
                <a:spcPts val="1700"/>
              </a:lnSpc>
              <a:spcAft>
                <a:spcPts val="600"/>
              </a:spcAft>
              <a:buSzPct val="100000"/>
              <a:buChar char="●"/>
            </a:pPr>
            <a:r>
              <a:rPr lang="en-US" sz="1150" dirty="0">
                <a:solidFill>
                  <a:srgbClr val="404040"/>
                </a:solidFill>
                <a:latin typeface="游ゴシック" pitchFamily="34" charset="0"/>
                <a:ea typeface="游ゴシック" pitchFamily="34" charset="-122"/>
                <a:cs typeface="游ゴシック" pitchFamily="34" charset="-120"/>
              </a:rPr>
              <a:t>毎年更新される映像・イベント</a:t>
            </a:r>
            <a:endParaRPr lang="en-US" sz="1150" dirty="0"/>
          </a:p>
          <a:p>
            <a:pPr marL="152400" indent="-152400">
              <a:lnSpc>
                <a:spcPts val="1700"/>
              </a:lnSpc>
              <a:buSzPct val="100000"/>
              <a:buChar char="●"/>
            </a:pPr>
            <a:r>
              <a:rPr lang="en-US" sz="1150" dirty="0">
                <a:solidFill>
                  <a:srgbClr val="404040"/>
                </a:solidFill>
                <a:latin typeface="游ゴシック" pitchFamily="34" charset="0"/>
                <a:ea typeface="游ゴシック" pitchFamily="34" charset="-122"/>
                <a:cs typeface="游ゴシック" pitchFamily="34" charset="-120"/>
              </a:rPr>
              <a:t>三世代・国内外のファンダム</a:t>
            </a:r>
            <a:endParaRPr lang="en-US" sz="1150" dirty="0"/>
          </a:p>
        </p:txBody>
      </p:sp>
      <p:sp>
        <p:nvSpPr>
          <p:cNvPr id="14" name="Shape 12"/>
          <p:cNvSpPr/>
          <p:nvPr/>
        </p:nvSpPr>
        <p:spPr>
          <a:xfrm>
            <a:off x="7571232" y="2377440"/>
            <a:ext cx="3931920" cy="3108960"/>
          </a:xfrm>
          <a:prstGeom prst="roundRect">
            <a:avLst>
              <a:gd name="adj" fmla="val 2941"/>
            </a:avLst>
          </a:prstGeom>
          <a:solidFill>
            <a:srgbClr val="F7F5F1"/>
          </a:solidFill>
          <a:ln/>
        </p:spPr>
      </p:sp>
      <p:sp>
        <p:nvSpPr>
          <p:cNvPr id="15" name="Text 13"/>
          <p:cNvSpPr/>
          <p:nvPr/>
        </p:nvSpPr>
        <p:spPr>
          <a:xfrm>
            <a:off x="7891272" y="2606040"/>
            <a:ext cx="3291840" cy="365760"/>
          </a:xfrm>
          <a:prstGeom prst="rect">
            <a:avLst/>
          </a:prstGeom>
          <a:noFill/>
          <a:ln/>
        </p:spPr>
        <p:txBody>
          <a:bodyPr wrap="square" lIns="0" tIns="0" rIns="0" bIns="0" rtlCol="0" anchor="ctr"/>
          <a:lstStyle/>
          <a:p>
            <a:pPr indent="0" marL="0">
              <a:buNone/>
            </a:pPr>
            <a:r>
              <a:rPr lang="en-US" sz="1500" b="1" dirty="0">
                <a:solidFill>
                  <a:srgbClr val="17828F"/>
                </a:solidFill>
                <a:latin typeface="游ゴシック" pitchFamily="34" charset="0"/>
                <a:ea typeface="游ゴシック" pitchFamily="34" charset="-122"/>
                <a:cs typeface="游ゴシック" pitchFamily="34" charset="-120"/>
              </a:rPr>
              <a:t>ロッテ</a:t>
            </a:r>
            <a:endParaRPr lang="en-US" sz="1500" dirty="0"/>
          </a:p>
        </p:txBody>
      </p:sp>
      <p:sp>
        <p:nvSpPr>
          <p:cNvPr id="16" name="Text 14"/>
          <p:cNvSpPr/>
          <p:nvPr/>
        </p:nvSpPr>
        <p:spPr>
          <a:xfrm>
            <a:off x="7891272" y="3108960"/>
            <a:ext cx="3291840" cy="2103120"/>
          </a:xfrm>
          <a:prstGeom prst="rect">
            <a:avLst/>
          </a:prstGeom>
          <a:noFill/>
          <a:ln/>
        </p:spPr>
        <p:txBody>
          <a:bodyPr wrap="square" lIns="0" tIns="0" rIns="0" bIns="0" rtlCol="0" anchor="ctr"/>
          <a:lstStyle/>
          <a:p>
            <a:pPr marL="152400" indent="-152400">
              <a:lnSpc>
                <a:spcPts val="1700"/>
              </a:lnSpc>
              <a:spcAft>
                <a:spcPts val="600"/>
              </a:spcAft>
              <a:buSzPct val="100000"/>
              <a:buChar char="●"/>
            </a:pPr>
            <a:r>
              <a:rPr lang="en-US" sz="1150" dirty="0">
                <a:solidFill>
                  <a:srgbClr val="404040"/>
                </a:solidFill>
                <a:latin typeface="游ゴシック" pitchFamily="34" charset="0"/>
                <a:ea typeface="游ゴシック" pitchFamily="34" charset="-122"/>
                <a:cs typeface="游ゴシック" pitchFamily="34" charset="-120"/>
              </a:rPr>
              <a:t>ガム・グミ・チョコ・アイスの食品技術</a:t>
            </a:r>
            <a:endParaRPr lang="en-US" sz="1150" dirty="0"/>
          </a:p>
          <a:p>
            <a:pPr marL="152400" indent="-152400">
              <a:lnSpc>
                <a:spcPts val="1700"/>
              </a:lnSpc>
              <a:spcAft>
                <a:spcPts val="600"/>
              </a:spcAft>
              <a:buSzPct val="100000"/>
              <a:buChar char="●"/>
            </a:pPr>
            <a:r>
              <a:rPr lang="en-US" sz="1150" dirty="0">
                <a:solidFill>
                  <a:srgbClr val="404040"/>
                </a:solidFill>
                <a:latin typeface="游ゴシック" pitchFamily="34" charset="0"/>
                <a:ea typeface="游ゴシック" pitchFamily="34" charset="-122"/>
                <a:cs typeface="游ゴシック" pitchFamily="34" charset="-120"/>
              </a:rPr>
              <a:t>咀嚼研究・機能性のエビデンス</a:t>
            </a:r>
            <a:endParaRPr lang="en-US" sz="1150" dirty="0"/>
          </a:p>
          <a:p>
            <a:pPr marL="152400" indent="-152400">
              <a:lnSpc>
                <a:spcPts val="1700"/>
              </a:lnSpc>
              <a:spcAft>
                <a:spcPts val="600"/>
              </a:spcAft>
              <a:buSzPct val="100000"/>
              <a:buChar char="●"/>
            </a:pPr>
            <a:r>
              <a:rPr lang="en-US" sz="1150" dirty="0">
                <a:solidFill>
                  <a:srgbClr val="404040"/>
                </a:solidFill>
                <a:latin typeface="游ゴシック" pitchFamily="34" charset="0"/>
                <a:ea typeface="游ゴシック" pitchFamily="34" charset="-122"/>
                <a:cs typeface="游ゴシック" pitchFamily="34" charset="-120"/>
              </a:rPr>
              <a:t>商品開発・製造・品質管理</a:t>
            </a:r>
            <a:endParaRPr lang="en-US" sz="1150" dirty="0"/>
          </a:p>
          <a:p>
            <a:pPr marL="152400" indent="-152400">
              <a:lnSpc>
                <a:spcPts val="1700"/>
              </a:lnSpc>
              <a:buSzPct val="100000"/>
              <a:buChar char="●"/>
            </a:pPr>
            <a:r>
              <a:rPr lang="en-US" sz="1150" dirty="0">
                <a:solidFill>
                  <a:srgbClr val="404040"/>
                </a:solidFill>
                <a:latin typeface="游ゴシック" pitchFamily="34" charset="0"/>
                <a:ea typeface="游ゴシック" pitchFamily="34" charset="-122"/>
                <a:cs typeface="游ゴシック" pitchFamily="34" charset="-120"/>
              </a:rPr>
              <a:t>全国の売場とアジアの流通網</a:t>
            </a:r>
            <a:endParaRPr lang="en-US" sz="1150" dirty="0"/>
          </a:p>
        </p:txBody>
      </p:sp>
      <p:sp>
        <p:nvSpPr>
          <p:cNvPr id="17" name="Shape 15"/>
          <p:cNvSpPr/>
          <p:nvPr/>
        </p:nvSpPr>
        <p:spPr>
          <a:xfrm>
            <a:off x="5202936" y="3200400"/>
            <a:ext cx="1783080" cy="1463040"/>
          </a:xfrm>
          <a:prstGeom prst="ellipse">
            <a:avLst/>
          </a:prstGeom>
          <a:solidFill>
            <a:srgbClr val="3B3028"/>
          </a:solidFill>
          <a:ln/>
        </p:spPr>
      </p:sp>
      <p:sp>
        <p:nvSpPr>
          <p:cNvPr id="18" name="Text 16"/>
          <p:cNvSpPr/>
          <p:nvPr/>
        </p:nvSpPr>
        <p:spPr>
          <a:xfrm>
            <a:off x="5202936" y="3200400"/>
            <a:ext cx="1783080" cy="1463040"/>
          </a:xfrm>
          <a:prstGeom prst="rect">
            <a:avLst/>
          </a:prstGeom>
          <a:noFill/>
          <a:ln/>
        </p:spPr>
        <p:txBody>
          <a:bodyPr wrap="square" lIns="0" tIns="0" rIns="0" bIns="0" rtlCol="0" anchor="ctr"/>
          <a:lstStyle/>
          <a:p>
            <a:pPr algn="ctr" indent="0" marL="0">
              <a:lnSpc>
                <a:spcPts val="2000"/>
              </a:lnSpc>
              <a:buNone/>
            </a:pPr>
            <a:r>
              <a:rPr lang="en-US" sz="1500" b="1" dirty="0">
                <a:solidFill>
                  <a:srgbClr val="FFFFFF"/>
                </a:solidFill>
                <a:latin typeface="游ゴシック" pitchFamily="34" charset="0"/>
                <a:ea typeface="游ゴシック" pitchFamily="34" charset="-122"/>
                <a:cs typeface="游ゴシック" pitchFamily="34" charset="-120"/>
              </a:rPr>
              <a:t>新しい</a:t>
            </a:r>
            <a:endParaRPr lang="en-US" sz="1500" dirty="0"/>
          </a:p>
          <a:p>
            <a:pPr algn="ctr" indent="0" marL="0">
              <a:lnSpc>
                <a:spcPts val="2000"/>
              </a:lnSpc>
              <a:buNone/>
            </a:pPr>
            <a:r>
              <a:rPr lang="en-US" sz="1500" b="1" dirty="0">
                <a:solidFill>
                  <a:srgbClr val="FFFFFF"/>
                </a:solidFill>
                <a:latin typeface="游ゴシック" pitchFamily="34" charset="0"/>
                <a:ea typeface="游ゴシック" pitchFamily="34" charset="-122"/>
                <a:cs typeface="游ゴシック" pitchFamily="34" charset="-120"/>
              </a:rPr>
              <a:t>食習慣</a:t>
            </a:r>
            <a:endParaRPr lang="en-US" sz="1500" dirty="0"/>
          </a:p>
        </p:txBody>
      </p:sp>
      <p:sp>
        <p:nvSpPr>
          <p:cNvPr id="19" name="Text 17"/>
          <p:cNvSpPr/>
          <p:nvPr/>
        </p:nvSpPr>
        <p:spPr>
          <a:xfrm>
            <a:off x="4617720" y="3200400"/>
            <a:ext cx="585216" cy="1463040"/>
          </a:xfrm>
          <a:prstGeom prst="rect">
            <a:avLst/>
          </a:prstGeom>
          <a:noFill/>
          <a:ln/>
        </p:spPr>
        <p:txBody>
          <a:bodyPr wrap="square" lIns="0" tIns="0" rIns="0" bIns="0" rtlCol="0" anchor="ctr"/>
          <a:lstStyle/>
          <a:p>
            <a:pPr algn="ctr" indent="0" marL="0">
              <a:buNone/>
            </a:pPr>
            <a:r>
              <a:rPr lang="en-US" sz="2000" b="1" dirty="0">
                <a:solidFill>
                  <a:srgbClr val="808080"/>
                </a:solidFill>
                <a:latin typeface="游ゴシック" pitchFamily="34" charset="0"/>
                <a:ea typeface="游ゴシック" pitchFamily="34" charset="-122"/>
                <a:cs typeface="游ゴシック" pitchFamily="34" charset="-120"/>
              </a:rPr>
              <a:t>×</a:t>
            </a:r>
            <a:endParaRPr lang="en-US" sz="2000" dirty="0"/>
          </a:p>
        </p:txBody>
      </p:sp>
      <p:sp>
        <p:nvSpPr>
          <p:cNvPr id="20" name="Text 18"/>
          <p:cNvSpPr/>
          <p:nvPr/>
        </p:nvSpPr>
        <p:spPr>
          <a:xfrm>
            <a:off x="6986016" y="3200400"/>
            <a:ext cx="585216" cy="1463040"/>
          </a:xfrm>
          <a:prstGeom prst="rect">
            <a:avLst/>
          </a:prstGeom>
          <a:noFill/>
          <a:ln/>
        </p:spPr>
        <p:txBody>
          <a:bodyPr wrap="square" lIns="0" tIns="0" rIns="0" bIns="0" rtlCol="0" anchor="ctr"/>
          <a:lstStyle/>
          <a:p>
            <a:pPr algn="ctr" indent="0" marL="0">
              <a:buNone/>
            </a:pPr>
            <a:r>
              <a:rPr lang="en-US" sz="2000" b="1" dirty="0">
                <a:solidFill>
                  <a:srgbClr val="808080"/>
                </a:solidFill>
                <a:latin typeface="游ゴシック" pitchFamily="34" charset="0"/>
                <a:ea typeface="游ゴシック" pitchFamily="34" charset="-122"/>
                <a:cs typeface="游ゴシック" pitchFamily="34" charset="-120"/>
              </a:rPr>
              <a:t>×</a:t>
            </a:r>
            <a:endParaRPr lang="en-US" sz="2000" dirty="0"/>
          </a:p>
        </p:txBody>
      </p:sp>
      <p:sp>
        <p:nvSpPr>
          <p:cNvPr id="21" name="Text 19"/>
          <p:cNvSpPr/>
          <p:nvPr/>
        </p:nvSpPr>
        <p:spPr>
          <a:xfrm>
            <a:off x="685800" y="5760720"/>
            <a:ext cx="10817352" cy="320040"/>
          </a:xfrm>
          <a:prstGeom prst="rect">
            <a:avLst/>
          </a:prstGeom>
          <a:noFill/>
          <a:ln/>
        </p:spPr>
        <p:txBody>
          <a:bodyPr wrap="square" lIns="0" tIns="0" rIns="0" bIns="0" rtlCol="0" anchor="ctr"/>
          <a:lstStyle/>
          <a:p>
            <a:pPr indent="0" marL="0">
              <a:buNone/>
            </a:pPr>
            <a:r>
              <a:rPr lang="en-US" sz="1200" b="1" dirty="0">
                <a:solidFill>
                  <a:srgbClr val="7A4521"/>
                </a:solidFill>
                <a:latin typeface="游ゴシック" pitchFamily="34" charset="0"/>
                <a:ea typeface="游ゴシック" pitchFamily="34" charset="-122"/>
                <a:cs typeface="游ゴシック" pitchFamily="34" charset="-120"/>
              </a:rPr>
              <a:t>習慣の物語は円谷から、習慣の実装はロッテから。どちらが欠けても「変身菓子」は成立しない。</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5．共同のかたち</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貴社限り</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企画して終わらない。データで学び続ける</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従来の「単発コラボ」と違うのは、生活者データで仮説と成果を検証し続ける循環を最初から組み込むこと</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15</a:t>
            </a:r>
            <a:endParaRPr lang="en-US" sz="950" dirty="0"/>
          </a:p>
        </p:txBody>
      </p:sp>
      <p:sp>
        <p:nvSpPr>
          <p:cNvPr id="11" name="Shape 9"/>
          <p:cNvSpPr/>
          <p:nvPr/>
        </p:nvSpPr>
        <p:spPr>
          <a:xfrm>
            <a:off x="960120" y="2468880"/>
            <a:ext cx="2377440" cy="685800"/>
          </a:xfrm>
          <a:prstGeom prst="roundRect">
            <a:avLst>
              <a:gd name="adj" fmla="val 10667"/>
            </a:avLst>
          </a:prstGeom>
          <a:solidFill>
            <a:srgbClr val="EAF4F8"/>
          </a:solidFill>
          <a:ln/>
        </p:spPr>
      </p:sp>
      <p:sp>
        <p:nvSpPr>
          <p:cNvPr id="12" name="Text 10"/>
          <p:cNvSpPr/>
          <p:nvPr/>
        </p:nvSpPr>
        <p:spPr>
          <a:xfrm>
            <a:off x="1033272" y="2468880"/>
            <a:ext cx="2231136" cy="685800"/>
          </a:xfrm>
          <a:prstGeom prst="rect">
            <a:avLst/>
          </a:prstGeom>
          <a:noFill/>
          <a:ln/>
        </p:spPr>
        <p:txBody>
          <a:bodyPr wrap="square" lIns="0" tIns="0" rIns="0" bIns="0" rtlCol="0" anchor="ctr"/>
          <a:lstStyle/>
          <a:p>
            <a:pPr algn="ctr" indent="0" marL="0">
              <a:lnSpc>
                <a:spcPts val="1400"/>
              </a:lnSpc>
              <a:buNone/>
            </a:pPr>
            <a:r>
              <a:rPr lang="en-US" sz="1050" b="1" dirty="0">
                <a:solidFill>
                  <a:srgbClr val="17828F"/>
                </a:solidFill>
                <a:latin typeface="游ゴシック" pitchFamily="34" charset="0"/>
                <a:ea typeface="游ゴシック" pitchFamily="34" charset="-122"/>
                <a:cs typeface="游ゴシック" pitchFamily="34" charset="-120"/>
              </a:rPr>
              <a:t>生活者VOC</a:t>
            </a:r>
            <a:endParaRPr lang="en-US" sz="1050" dirty="0"/>
          </a:p>
        </p:txBody>
      </p:sp>
      <p:sp>
        <p:nvSpPr>
          <p:cNvPr id="13" name="Text 11"/>
          <p:cNvSpPr/>
          <p:nvPr/>
        </p:nvSpPr>
        <p:spPr>
          <a:xfrm>
            <a:off x="3337560" y="2606040"/>
            <a:ext cx="292608" cy="411480"/>
          </a:xfrm>
          <a:prstGeom prst="rect">
            <a:avLst/>
          </a:prstGeom>
          <a:noFill/>
          <a:ln/>
        </p:spPr>
        <p:txBody>
          <a:bodyPr wrap="square" lIns="0" tIns="0" rIns="0" bIns="0" rtlCol="0" anchor="ctr"/>
          <a:lstStyle/>
          <a:p>
            <a:pPr algn="ctr" indent="0" marL="0">
              <a:buNone/>
            </a:pPr>
            <a:r>
              <a:rPr lang="en-US" sz="1400" dirty="0">
                <a:solidFill>
                  <a:srgbClr val="808080"/>
                </a:solidFill>
                <a:latin typeface="游ゴシック" pitchFamily="34" charset="0"/>
                <a:ea typeface="游ゴシック" pitchFamily="34" charset="-122"/>
                <a:cs typeface="游ゴシック" pitchFamily="34" charset="-120"/>
              </a:rPr>
              <a:t>→</a:t>
            </a:r>
            <a:endParaRPr lang="en-US" sz="1400" dirty="0"/>
          </a:p>
        </p:txBody>
      </p:sp>
      <p:sp>
        <p:nvSpPr>
          <p:cNvPr id="14" name="Shape 12"/>
          <p:cNvSpPr/>
          <p:nvPr/>
        </p:nvSpPr>
        <p:spPr>
          <a:xfrm>
            <a:off x="3630168" y="2468880"/>
            <a:ext cx="2377440" cy="685800"/>
          </a:xfrm>
          <a:prstGeom prst="roundRect">
            <a:avLst>
              <a:gd name="adj" fmla="val 10667"/>
            </a:avLst>
          </a:prstGeom>
          <a:solidFill>
            <a:srgbClr val="EAF4F8"/>
          </a:solidFill>
          <a:ln/>
        </p:spPr>
      </p:sp>
      <p:sp>
        <p:nvSpPr>
          <p:cNvPr id="15" name="Text 13"/>
          <p:cNvSpPr/>
          <p:nvPr/>
        </p:nvSpPr>
        <p:spPr>
          <a:xfrm>
            <a:off x="3703320" y="2468880"/>
            <a:ext cx="2231136" cy="685800"/>
          </a:xfrm>
          <a:prstGeom prst="rect">
            <a:avLst/>
          </a:prstGeom>
          <a:noFill/>
          <a:ln/>
        </p:spPr>
        <p:txBody>
          <a:bodyPr wrap="square" lIns="0" tIns="0" rIns="0" bIns="0" rtlCol="0" anchor="ctr"/>
          <a:lstStyle/>
          <a:p>
            <a:pPr algn="ctr" indent="0" marL="0">
              <a:lnSpc>
                <a:spcPts val="1400"/>
              </a:lnSpc>
              <a:buNone/>
            </a:pPr>
            <a:r>
              <a:rPr lang="en-US" sz="1050" b="1" dirty="0">
                <a:solidFill>
                  <a:srgbClr val="17828F"/>
                </a:solidFill>
                <a:latin typeface="游ゴシック" pitchFamily="34" charset="0"/>
                <a:ea typeface="游ゴシック" pitchFamily="34" charset="-122"/>
                <a:cs typeface="游ゴシック" pitchFamily="34" charset="-120"/>
              </a:rPr>
              <a:t>ブランド課題の特定</a:t>
            </a:r>
            <a:endParaRPr lang="en-US" sz="1050" dirty="0"/>
          </a:p>
        </p:txBody>
      </p:sp>
      <p:sp>
        <p:nvSpPr>
          <p:cNvPr id="16" name="Text 14"/>
          <p:cNvSpPr/>
          <p:nvPr/>
        </p:nvSpPr>
        <p:spPr>
          <a:xfrm>
            <a:off x="6007608" y="2606040"/>
            <a:ext cx="292608" cy="411480"/>
          </a:xfrm>
          <a:prstGeom prst="rect">
            <a:avLst/>
          </a:prstGeom>
          <a:noFill/>
          <a:ln/>
        </p:spPr>
        <p:txBody>
          <a:bodyPr wrap="square" lIns="0" tIns="0" rIns="0" bIns="0" rtlCol="0" anchor="ctr"/>
          <a:lstStyle/>
          <a:p>
            <a:pPr algn="ctr" indent="0" marL="0">
              <a:buNone/>
            </a:pPr>
            <a:r>
              <a:rPr lang="en-US" sz="1400" dirty="0">
                <a:solidFill>
                  <a:srgbClr val="808080"/>
                </a:solidFill>
                <a:latin typeface="游ゴシック" pitchFamily="34" charset="0"/>
                <a:ea typeface="游ゴシック" pitchFamily="34" charset="-122"/>
                <a:cs typeface="游ゴシック" pitchFamily="34" charset="-120"/>
              </a:rPr>
              <a:t>→</a:t>
            </a:r>
            <a:endParaRPr lang="en-US" sz="1400" dirty="0"/>
          </a:p>
        </p:txBody>
      </p:sp>
      <p:sp>
        <p:nvSpPr>
          <p:cNvPr id="17" name="Shape 15"/>
          <p:cNvSpPr/>
          <p:nvPr/>
        </p:nvSpPr>
        <p:spPr>
          <a:xfrm>
            <a:off x="6300216" y="2468880"/>
            <a:ext cx="2377440" cy="685800"/>
          </a:xfrm>
          <a:prstGeom prst="roundRect">
            <a:avLst>
              <a:gd name="adj" fmla="val 10667"/>
            </a:avLst>
          </a:prstGeom>
          <a:solidFill>
            <a:srgbClr val="EAF4F8"/>
          </a:solidFill>
          <a:ln/>
        </p:spPr>
      </p:sp>
      <p:sp>
        <p:nvSpPr>
          <p:cNvPr id="18" name="Text 16"/>
          <p:cNvSpPr/>
          <p:nvPr/>
        </p:nvSpPr>
        <p:spPr>
          <a:xfrm>
            <a:off x="6373368" y="2468880"/>
            <a:ext cx="2231136" cy="685800"/>
          </a:xfrm>
          <a:prstGeom prst="rect">
            <a:avLst/>
          </a:prstGeom>
          <a:noFill/>
          <a:ln/>
        </p:spPr>
        <p:txBody>
          <a:bodyPr wrap="square" lIns="0" tIns="0" rIns="0" bIns="0" rtlCol="0" anchor="ctr"/>
          <a:lstStyle/>
          <a:p>
            <a:pPr algn="ctr" indent="0" marL="0">
              <a:lnSpc>
                <a:spcPts val="1400"/>
              </a:lnSpc>
              <a:buNone/>
            </a:pPr>
            <a:r>
              <a:rPr lang="en-US" sz="1050" b="1" dirty="0">
                <a:solidFill>
                  <a:srgbClr val="17828F"/>
                </a:solidFill>
                <a:latin typeface="游ゴシック" pitchFamily="34" charset="0"/>
                <a:ea typeface="游ゴシック" pitchFamily="34" charset="-122"/>
                <a:cs typeface="游ゴシック" pitchFamily="34" charset="-120"/>
              </a:rPr>
              <a:t>IP活用の仮説</a:t>
            </a:r>
            <a:endParaRPr lang="en-US" sz="1050" dirty="0"/>
          </a:p>
        </p:txBody>
      </p:sp>
      <p:sp>
        <p:nvSpPr>
          <p:cNvPr id="19" name="Text 17"/>
          <p:cNvSpPr/>
          <p:nvPr/>
        </p:nvSpPr>
        <p:spPr>
          <a:xfrm>
            <a:off x="8677656" y="2606040"/>
            <a:ext cx="292608" cy="411480"/>
          </a:xfrm>
          <a:prstGeom prst="rect">
            <a:avLst/>
          </a:prstGeom>
          <a:noFill/>
          <a:ln/>
        </p:spPr>
        <p:txBody>
          <a:bodyPr wrap="square" lIns="0" tIns="0" rIns="0" bIns="0" rtlCol="0" anchor="ctr"/>
          <a:lstStyle/>
          <a:p>
            <a:pPr algn="ctr" indent="0" marL="0">
              <a:buNone/>
            </a:pPr>
            <a:r>
              <a:rPr lang="en-US" sz="1400" dirty="0">
                <a:solidFill>
                  <a:srgbClr val="808080"/>
                </a:solidFill>
                <a:latin typeface="游ゴシック" pitchFamily="34" charset="0"/>
                <a:ea typeface="游ゴシック" pitchFamily="34" charset="-122"/>
                <a:cs typeface="游ゴシック" pitchFamily="34" charset="-120"/>
              </a:rPr>
              <a:t>→</a:t>
            </a:r>
            <a:endParaRPr lang="en-US" sz="1400" dirty="0"/>
          </a:p>
        </p:txBody>
      </p:sp>
      <p:sp>
        <p:nvSpPr>
          <p:cNvPr id="20" name="Shape 18"/>
          <p:cNvSpPr/>
          <p:nvPr/>
        </p:nvSpPr>
        <p:spPr>
          <a:xfrm>
            <a:off x="8970264" y="2468880"/>
            <a:ext cx="2377440" cy="685800"/>
          </a:xfrm>
          <a:prstGeom prst="roundRect">
            <a:avLst>
              <a:gd name="adj" fmla="val 10667"/>
            </a:avLst>
          </a:prstGeom>
          <a:solidFill>
            <a:srgbClr val="EAF4F8"/>
          </a:solidFill>
          <a:ln/>
        </p:spPr>
      </p:sp>
      <p:sp>
        <p:nvSpPr>
          <p:cNvPr id="21" name="Text 19"/>
          <p:cNvSpPr/>
          <p:nvPr/>
        </p:nvSpPr>
        <p:spPr>
          <a:xfrm>
            <a:off x="9043416" y="2468880"/>
            <a:ext cx="2231136" cy="685800"/>
          </a:xfrm>
          <a:prstGeom prst="rect">
            <a:avLst/>
          </a:prstGeom>
          <a:noFill/>
          <a:ln/>
        </p:spPr>
        <p:txBody>
          <a:bodyPr wrap="square" lIns="0" tIns="0" rIns="0" bIns="0" rtlCol="0" anchor="ctr"/>
          <a:lstStyle/>
          <a:p>
            <a:pPr algn="ctr" indent="0" marL="0">
              <a:lnSpc>
                <a:spcPts val="1400"/>
              </a:lnSpc>
              <a:buNone/>
            </a:pPr>
            <a:r>
              <a:rPr lang="en-US" sz="1050" b="1" dirty="0">
                <a:solidFill>
                  <a:srgbClr val="17828F"/>
                </a:solidFill>
                <a:latin typeface="游ゴシック" pitchFamily="34" charset="0"/>
                <a:ea typeface="游ゴシック" pitchFamily="34" charset="-122"/>
                <a:cs typeface="游ゴシック" pitchFamily="34" charset="-120"/>
              </a:rPr>
              <a:t>商品・プロモーション</a:t>
            </a:r>
            <a:endParaRPr lang="en-US" sz="1050" dirty="0"/>
          </a:p>
        </p:txBody>
      </p:sp>
      <p:sp>
        <p:nvSpPr>
          <p:cNvPr id="22" name="Text 20"/>
          <p:cNvSpPr/>
          <p:nvPr/>
        </p:nvSpPr>
        <p:spPr>
          <a:xfrm>
            <a:off x="8970264" y="3246120"/>
            <a:ext cx="2377440" cy="365760"/>
          </a:xfrm>
          <a:prstGeom prst="rect">
            <a:avLst/>
          </a:prstGeom>
          <a:noFill/>
          <a:ln/>
        </p:spPr>
        <p:txBody>
          <a:bodyPr wrap="square" lIns="0" tIns="0" rIns="0" bIns="0" rtlCol="0" anchor="ctr"/>
          <a:lstStyle/>
          <a:p>
            <a:pPr algn="ctr" indent="0" marL="0">
              <a:buNone/>
            </a:pPr>
            <a:r>
              <a:rPr lang="en-US" sz="1400" dirty="0">
                <a:solidFill>
                  <a:srgbClr val="808080"/>
                </a:solidFill>
                <a:latin typeface="游ゴシック" pitchFamily="34" charset="0"/>
                <a:ea typeface="游ゴシック" pitchFamily="34" charset="-122"/>
                <a:cs typeface="游ゴシック" pitchFamily="34" charset="-120"/>
              </a:rPr>
              <a:t>↓</a:t>
            </a:r>
            <a:endParaRPr lang="en-US" sz="1400" dirty="0"/>
          </a:p>
        </p:txBody>
      </p:sp>
      <p:sp>
        <p:nvSpPr>
          <p:cNvPr id="23" name="Shape 21"/>
          <p:cNvSpPr/>
          <p:nvPr/>
        </p:nvSpPr>
        <p:spPr>
          <a:xfrm>
            <a:off x="960120" y="3703320"/>
            <a:ext cx="3246120" cy="685800"/>
          </a:xfrm>
          <a:prstGeom prst="roundRect">
            <a:avLst>
              <a:gd name="adj" fmla="val 10667"/>
            </a:avLst>
          </a:prstGeom>
          <a:solidFill>
            <a:srgbClr val="F3EDE0"/>
          </a:solidFill>
          <a:ln w="12700">
            <a:solidFill>
              <a:srgbClr val="7A4521"/>
            </a:solidFill>
            <a:prstDash val="solid"/>
          </a:ln>
        </p:spPr>
      </p:sp>
      <p:sp>
        <p:nvSpPr>
          <p:cNvPr id="24" name="Text 22"/>
          <p:cNvSpPr/>
          <p:nvPr/>
        </p:nvSpPr>
        <p:spPr>
          <a:xfrm>
            <a:off x="1033272" y="3703320"/>
            <a:ext cx="3099816" cy="685800"/>
          </a:xfrm>
          <a:prstGeom prst="rect">
            <a:avLst/>
          </a:prstGeom>
          <a:noFill/>
          <a:ln/>
        </p:spPr>
        <p:txBody>
          <a:bodyPr wrap="square" lIns="0" tIns="0" rIns="0" bIns="0" rtlCol="0" anchor="ctr"/>
          <a:lstStyle/>
          <a:p>
            <a:pPr algn="ctr" indent="0" marL="0">
              <a:lnSpc>
                <a:spcPts val="1400"/>
              </a:lnSpc>
              <a:buNone/>
            </a:pPr>
            <a:r>
              <a:rPr lang="en-US" sz="1050" b="1" dirty="0">
                <a:solidFill>
                  <a:srgbClr val="7A4521"/>
                </a:solidFill>
                <a:latin typeface="游ゴシック" pitchFamily="34" charset="0"/>
                <a:ea typeface="游ゴシック" pitchFamily="34" charset="-122"/>
                <a:cs typeface="游ゴシック" pitchFamily="34" charset="-120"/>
              </a:rPr>
              <a:t>次の商品・次のブランドへ</a:t>
            </a:r>
            <a:endParaRPr lang="en-US" sz="1050" dirty="0"/>
          </a:p>
        </p:txBody>
      </p:sp>
      <p:sp>
        <p:nvSpPr>
          <p:cNvPr id="25" name="Text 23"/>
          <p:cNvSpPr/>
          <p:nvPr/>
        </p:nvSpPr>
        <p:spPr>
          <a:xfrm>
            <a:off x="4206240" y="3840480"/>
            <a:ext cx="320040" cy="411480"/>
          </a:xfrm>
          <a:prstGeom prst="rect">
            <a:avLst/>
          </a:prstGeom>
          <a:noFill/>
          <a:ln/>
        </p:spPr>
        <p:txBody>
          <a:bodyPr wrap="square" lIns="0" tIns="0" rIns="0" bIns="0" rtlCol="0" anchor="ctr"/>
          <a:lstStyle/>
          <a:p>
            <a:pPr algn="ctr" indent="0" marL="0">
              <a:buNone/>
            </a:pPr>
            <a:r>
              <a:rPr lang="en-US" sz="1400" dirty="0">
                <a:solidFill>
                  <a:srgbClr val="808080"/>
                </a:solidFill>
                <a:latin typeface="游ゴシック" pitchFamily="34" charset="0"/>
                <a:ea typeface="游ゴシック" pitchFamily="34" charset="-122"/>
                <a:cs typeface="游ゴシック" pitchFamily="34" charset="-120"/>
              </a:rPr>
              <a:t>←</a:t>
            </a:r>
            <a:endParaRPr lang="en-US" sz="1400" dirty="0"/>
          </a:p>
        </p:txBody>
      </p:sp>
      <p:sp>
        <p:nvSpPr>
          <p:cNvPr id="26" name="Shape 24"/>
          <p:cNvSpPr/>
          <p:nvPr/>
        </p:nvSpPr>
        <p:spPr>
          <a:xfrm>
            <a:off x="4553712" y="3703320"/>
            <a:ext cx="3246120" cy="685800"/>
          </a:xfrm>
          <a:prstGeom prst="roundRect">
            <a:avLst>
              <a:gd name="adj" fmla="val 10667"/>
            </a:avLst>
          </a:prstGeom>
          <a:solidFill>
            <a:srgbClr val="F7F5F1"/>
          </a:solidFill>
          <a:ln w="9525">
            <a:solidFill>
              <a:srgbClr val="BFBFBF"/>
            </a:solidFill>
            <a:prstDash val="solid"/>
          </a:ln>
        </p:spPr>
      </p:sp>
      <p:sp>
        <p:nvSpPr>
          <p:cNvPr id="27" name="Text 25"/>
          <p:cNvSpPr/>
          <p:nvPr/>
        </p:nvSpPr>
        <p:spPr>
          <a:xfrm>
            <a:off x="4626864" y="3703320"/>
            <a:ext cx="3099816" cy="685800"/>
          </a:xfrm>
          <a:prstGeom prst="rect">
            <a:avLst/>
          </a:prstGeom>
          <a:noFill/>
          <a:ln/>
        </p:spPr>
        <p:txBody>
          <a:bodyPr wrap="square" lIns="0" tIns="0" rIns="0" bIns="0" rtlCol="0" anchor="ctr"/>
          <a:lstStyle/>
          <a:p>
            <a:pPr algn="ctr" indent="0" marL="0">
              <a:lnSpc>
                <a:spcPts val="1400"/>
              </a:lnSpc>
              <a:buNone/>
            </a:pPr>
            <a:r>
              <a:rPr lang="en-US" sz="1050" b="1" dirty="0">
                <a:solidFill>
                  <a:srgbClr val="333333"/>
                </a:solidFill>
                <a:latin typeface="游ゴシック" pitchFamily="34" charset="0"/>
                <a:ea typeface="游ゴシック" pitchFamily="34" charset="-122"/>
                <a:cs typeface="游ゴシック" pitchFamily="34" charset="-120"/>
              </a:rPr>
              <a:t>再分析（CEPs・界隈の変化）</a:t>
            </a:r>
            <a:endParaRPr lang="en-US" sz="1050" dirty="0"/>
          </a:p>
        </p:txBody>
      </p:sp>
      <p:sp>
        <p:nvSpPr>
          <p:cNvPr id="28" name="Text 26"/>
          <p:cNvSpPr/>
          <p:nvPr/>
        </p:nvSpPr>
        <p:spPr>
          <a:xfrm>
            <a:off x="7799832" y="3840480"/>
            <a:ext cx="320040" cy="411480"/>
          </a:xfrm>
          <a:prstGeom prst="rect">
            <a:avLst/>
          </a:prstGeom>
          <a:noFill/>
          <a:ln/>
        </p:spPr>
        <p:txBody>
          <a:bodyPr wrap="square" lIns="0" tIns="0" rIns="0" bIns="0" rtlCol="0" anchor="ctr"/>
          <a:lstStyle/>
          <a:p>
            <a:pPr algn="ctr" indent="0" marL="0">
              <a:buNone/>
            </a:pPr>
            <a:r>
              <a:rPr lang="en-US" sz="1400" dirty="0">
                <a:solidFill>
                  <a:srgbClr val="808080"/>
                </a:solidFill>
                <a:latin typeface="游ゴシック" pitchFamily="34" charset="0"/>
                <a:ea typeface="游ゴシック" pitchFamily="34" charset="-122"/>
                <a:cs typeface="游ゴシック" pitchFamily="34" charset="-120"/>
              </a:rPr>
              <a:t>←</a:t>
            </a:r>
            <a:endParaRPr lang="en-US" sz="1400" dirty="0"/>
          </a:p>
        </p:txBody>
      </p:sp>
      <p:sp>
        <p:nvSpPr>
          <p:cNvPr id="29" name="Shape 27"/>
          <p:cNvSpPr/>
          <p:nvPr/>
        </p:nvSpPr>
        <p:spPr>
          <a:xfrm>
            <a:off x="8147304" y="3703320"/>
            <a:ext cx="3246120" cy="685800"/>
          </a:xfrm>
          <a:prstGeom prst="roundRect">
            <a:avLst>
              <a:gd name="adj" fmla="val 10667"/>
            </a:avLst>
          </a:prstGeom>
          <a:solidFill>
            <a:srgbClr val="F7F5F1"/>
          </a:solidFill>
          <a:ln w="9525">
            <a:solidFill>
              <a:srgbClr val="BFBFBF"/>
            </a:solidFill>
            <a:prstDash val="solid"/>
          </a:ln>
        </p:spPr>
      </p:sp>
      <p:sp>
        <p:nvSpPr>
          <p:cNvPr id="30" name="Text 28"/>
          <p:cNvSpPr/>
          <p:nvPr/>
        </p:nvSpPr>
        <p:spPr>
          <a:xfrm>
            <a:off x="8220456" y="3703320"/>
            <a:ext cx="3099816" cy="685800"/>
          </a:xfrm>
          <a:prstGeom prst="rect">
            <a:avLst/>
          </a:prstGeom>
          <a:noFill/>
          <a:ln/>
        </p:spPr>
        <p:txBody>
          <a:bodyPr wrap="square" lIns="0" tIns="0" rIns="0" bIns="0" rtlCol="0" anchor="ctr"/>
          <a:lstStyle/>
          <a:p>
            <a:pPr algn="ctr" indent="0" marL="0">
              <a:lnSpc>
                <a:spcPts val="1400"/>
              </a:lnSpc>
              <a:buNone/>
            </a:pPr>
            <a:r>
              <a:rPr lang="en-US" sz="1050" b="1" dirty="0">
                <a:solidFill>
                  <a:srgbClr val="333333"/>
                </a:solidFill>
                <a:latin typeface="游ゴシック" pitchFamily="34" charset="0"/>
                <a:ea typeface="游ゴシック" pitchFamily="34" charset="-122"/>
                <a:cs typeface="游ゴシック" pitchFamily="34" charset="-120"/>
              </a:rPr>
              <a:t>購買・SNSデータ</a:t>
            </a:r>
            <a:endParaRPr lang="en-US" sz="1050" dirty="0"/>
          </a:p>
        </p:txBody>
      </p:sp>
      <p:sp>
        <p:nvSpPr>
          <p:cNvPr id="31" name="Text 29"/>
          <p:cNvSpPr/>
          <p:nvPr/>
        </p:nvSpPr>
        <p:spPr>
          <a:xfrm>
            <a:off x="960120" y="4526280"/>
            <a:ext cx="3246120" cy="274320"/>
          </a:xfrm>
          <a:prstGeom prst="rect">
            <a:avLst/>
          </a:prstGeom>
          <a:noFill/>
          <a:ln/>
        </p:spPr>
        <p:txBody>
          <a:bodyPr wrap="square" lIns="0" tIns="0" rIns="0" bIns="0" rtlCol="0" anchor="ctr"/>
          <a:lstStyle/>
          <a:p>
            <a:pPr algn="ctr" indent="0" marL="0">
              <a:buNone/>
            </a:pPr>
            <a:r>
              <a:rPr lang="en-US" sz="950" dirty="0">
                <a:solidFill>
                  <a:srgbClr val="7A4521"/>
                </a:solidFill>
                <a:latin typeface="游ゴシック" pitchFamily="34" charset="0"/>
                <a:ea typeface="游ゴシック" pitchFamily="34" charset="-122"/>
                <a:cs typeface="游ゴシック" pitchFamily="34" charset="-120"/>
              </a:rPr>
              <a:t>↑ 学びが次の起点に戻る</a:t>
            </a:r>
            <a:endParaRPr lang="en-US" sz="9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85800" y="5029200"/>
          <a:ext cx="10817352" cy="914400"/>
        </p:xfrm>
        <a:graphic>
          <a:graphicData uri="http://schemas.openxmlformats.org/drawingml/2006/table">
            <a:tbl>
              <a:tblPr/>
              <a:tblGrid>
                <a:gridCol w="2743200"/>
                <a:gridCol w="8074152"/>
              </a:tblGrid>
              <a:tr h="292608">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担い手</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役割</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36576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円谷プロ</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IP・物語・監修・映像連動</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6576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ロッテ</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商品・製造・売場・ブランド</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6576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アライドアーキテクツ</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生活者データで仮説と成果を検証する分析パートナー</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5．共同のかたち</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貴社限り</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まず試す。その先で、発明する</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いきなりカテゴリーを宣言しない。実証 → 学習 → カテゴリー開発の順に、意思決定を段階的に進める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16</a:t>
            </a:r>
            <a:endParaRPr lang="en-US" sz="9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85800" y="2377440"/>
          <a:ext cx="10817352" cy="914400"/>
        </p:xfrm>
        <a:graphic>
          <a:graphicData uri="http://schemas.openxmlformats.org/drawingml/2006/table">
            <a:tbl>
              <a:tblPr/>
              <a:tblGrid>
                <a:gridCol w="1920240"/>
                <a:gridCol w="1188720"/>
                <a:gridCol w="5120640"/>
                <a:gridCol w="2587752"/>
              </a:tblGrid>
              <a:tr h="347472">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フェーズ</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時期</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取り組み</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目的</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868680">
                <a:tc>
                  <a:txBody>
                    <a:bodyPr/>
                    <a:lstStyle/>
                    <a:p>
                      <a:pPr algn="ctr" indent="0" marL="0">
                        <a:buNone/>
                      </a:pPr>
                      <a:r>
                        <a:rPr lang="en-US" sz="1100" b="1" dirty="0">
                          <a:solidFill>
                            <a:srgbClr val="C00000"/>
                          </a:solidFill>
                          <a:latin typeface="游ゴシック" pitchFamily="34" charset="0"/>
                          <a:ea typeface="游ゴシック" pitchFamily="34" charset="-122"/>
                          <a:cs typeface="游ゴシック" pitchFamily="34" charset="-120"/>
                        </a:rPr>
                        <a:t>① </a:t>
                      </a:r>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実証</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00" b="1" dirty="0">
                          <a:solidFill>
                            <a:srgbClr val="17828F"/>
                          </a:solidFill>
                          <a:latin typeface="游ゴシック" pitchFamily="34" charset="0"/>
                          <a:ea typeface="游ゴシック" pitchFamily="34" charset="-122"/>
                          <a:cs typeface="游ゴシック" pitchFamily="34" charset="-120"/>
                        </a:rPr>
                        <a:t>2026</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コアラのマーチ × ウルトラマン60周年。歴代絵柄シリーズと#食べるウルトラ図鑑を展開</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既存ブランドで新規顧客・新規界隈を実証</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68680">
                <a:tc>
                  <a:txBody>
                    <a:bodyPr/>
                    <a:lstStyle/>
                    <a:p>
                      <a:pPr algn="ctr" indent="0" marL="0">
                        <a:buNone/>
                      </a:pPr>
                      <a:r>
                        <a:rPr lang="en-US" sz="1100" b="1" dirty="0">
                          <a:solidFill>
                            <a:srgbClr val="C00000"/>
                          </a:solidFill>
                          <a:latin typeface="游ゴシック" pitchFamily="34" charset="0"/>
                          <a:ea typeface="游ゴシック" pitchFamily="34" charset="-122"/>
                          <a:cs typeface="游ゴシック" pitchFamily="34" charset="-120"/>
                        </a:rPr>
                        <a:t>② </a:t>
                      </a:r>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学習・検証</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404040"/>
                          </a:solidFill>
                          <a:latin typeface="游ゴシック" pitchFamily="34" charset="0"/>
                          <a:ea typeface="游ゴシック" pitchFamily="34" charset="-122"/>
                          <a:cs typeface="游ゴシック" pitchFamily="34" charset="-120"/>
                        </a:rPr>
                        <a:t>2027</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実証データの再分析。ULTRA 3MIN.の共同研究・技術検証・試作。ガーナ／雪見だいふくへの横展開判断</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新カテゴリーの仮説検証</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868680">
                <a:tc>
                  <a:txBody>
                    <a:bodyPr/>
                    <a:lstStyle/>
                    <a:p>
                      <a:pPr algn="ctr" indent="0" marL="0">
                        <a:buNone/>
                      </a:pPr>
                      <a:r>
                        <a:rPr lang="en-US" sz="1100" b="1" dirty="0">
                          <a:solidFill>
                            <a:srgbClr val="C00000"/>
                          </a:solidFill>
                          <a:latin typeface="游ゴシック" pitchFamily="34" charset="0"/>
                          <a:ea typeface="游ゴシック" pitchFamily="34" charset="-122"/>
                          <a:cs typeface="游ゴシック" pitchFamily="34" charset="-120"/>
                        </a:rPr>
                        <a:t>③ </a:t>
                      </a:r>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カテゴリー開発</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404040"/>
                          </a:solidFill>
                          <a:latin typeface="游ゴシック" pitchFamily="34" charset="0"/>
                          <a:ea typeface="游ゴシック" pitchFamily="34" charset="-122"/>
                          <a:cs typeface="游ゴシック" pitchFamily="34" charset="-120"/>
                        </a:rPr>
                        <a:t>2028〜</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ULTRA 3MIN.の商品化判断と展開。他ブランド・アジア市場への拡張</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indent="0" marL="0">
                        <a:buNone/>
                      </a:pPr>
                      <a:r>
                        <a:rPr lang="en-US" sz="1050" dirty="0">
                          <a:solidFill>
                            <a:srgbClr val="404040"/>
                          </a:solidFill>
                          <a:latin typeface="游ゴシック" pitchFamily="34" charset="0"/>
                          <a:ea typeface="游ゴシック" pitchFamily="34" charset="-122"/>
                          <a:cs typeface="游ゴシック" pitchFamily="34" charset="-120"/>
                        </a:rPr>
                        <a:t>「変身菓子」カテゴリーの確立</a:t>
                      </a:r>
                      <a:endParaRPr lang="en-US" sz="105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Shape 9"/>
          <p:cNvSpPr/>
          <p:nvPr/>
        </p:nvSpPr>
        <p:spPr>
          <a:xfrm>
            <a:off x="630936" y="2688336"/>
            <a:ext cx="10927080" cy="960120"/>
          </a:xfrm>
          <a:prstGeom prst="rect">
            <a:avLst/>
          </a:prstGeom>
          <a:ln w="15875">
            <a:solidFill>
              <a:srgbClr val="C00000"/>
            </a:solidFill>
            <a:prstDash val="dash"/>
          </a:ln>
        </p:spPr>
      </p:sp>
      <p:sp>
        <p:nvSpPr>
          <p:cNvPr id="13" name="Text 10"/>
          <p:cNvSpPr/>
          <p:nvPr/>
        </p:nvSpPr>
        <p:spPr>
          <a:xfrm>
            <a:off x="685800" y="5623560"/>
            <a:ext cx="10817352" cy="292608"/>
          </a:xfrm>
          <a:prstGeom prst="rect">
            <a:avLst/>
          </a:prstGeom>
          <a:noFill/>
          <a:ln/>
        </p:spPr>
        <p:txBody>
          <a:bodyPr wrap="square" lIns="0" tIns="0" rIns="0" bIns="0" rtlCol="0" anchor="ctr"/>
          <a:lstStyle/>
          <a:p>
            <a:pPr indent="0" marL="0">
              <a:buNone/>
            </a:pPr>
            <a:r>
              <a:rPr lang="en-US" sz="1150" b="1" dirty="0">
                <a:solidFill>
                  <a:srgbClr val="C00000"/>
                </a:solidFill>
                <a:latin typeface="游ゴシック" pitchFamily="34" charset="0"/>
                <a:ea typeface="游ゴシック" pitchFamily="34" charset="-122"/>
                <a:cs typeface="游ゴシック" pitchFamily="34" charset="-120"/>
              </a:rPr>
              <a:t>① </a:t>
            </a:r>
            <a:pPr indent="0" marL="0">
              <a:buNone/>
            </a:pPr>
            <a:r>
              <a:rPr lang="en-US" sz="1150" dirty="0">
                <a:solidFill>
                  <a:srgbClr val="404040"/>
                </a:solidFill>
                <a:latin typeface="游ゴシック" pitchFamily="34" charset="0"/>
                <a:ea typeface="游ゴシック" pitchFamily="34" charset="-122"/>
                <a:cs typeface="游ゴシック" pitchFamily="34" charset="-120"/>
              </a:rPr>
              <a:t>だけが本日の意思決定範囲 ── ②③は実証データを見てから一緒に判断する</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6．クロージング</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貴社限り</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まず、コアラのマーチから一緒に考えさせてください</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本日お願いしたいことは3点</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17</a:t>
            </a:r>
            <a:endParaRPr lang="en-US" sz="9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817352" cy="914400"/>
        </p:xfrm>
        <a:graphic>
          <a:graphicData uri="http://schemas.openxmlformats.org/drawingml/2006/table">
            <a:tbl>
              <a:tblPr/>
              <a:tblGrid>
                <a:gridCol w="2377440"/>
                <a:gridCol w="8439912"/>
              </a:tblGrid>
              <a:tr h="384048">
                <a:tc gridSpan="2">
                  <a:txBody>
                    <a:bodyP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NEXT STEP：本日ご相談したい三つのこと</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hMerge="1">
                  <a:tcPr/>
                </a:tc>
              </a:tr>
              <a:tr h="603504">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① 方向性</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ロッテ × 円谷プロで、既存ブランドの新規顧客・新規界隈開拓を共同検討することへのご合意</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603504">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② ワークショップ</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第一弾としてコアラのマーチを題材に、御社の商品・マーケティング・研究メンバーを交えた共同ワークショップの設定</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603504">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③ その先の検討</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100" dirty="0">
                          <a:solidFill>
                            <a:srgbClr val="404040"/>
                          </a:solidFill>
                          <a:latin typeface="游ゴシック" pitchFamily="34" charset="0"/>
                          <a:ea typeface="游ゴシック" pitchFamily="34" charset="-122"/>
                          <a:cs typeface="游ゴシック" pitchFamily="34" charset="-120"/>
                        </a:rPr>
                        <a:t>実証結果を踏まえ、ULTRA 3MIN.を含む新カテゴリー開発まで検討範囲に含めること</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Shape 9"/>
          <p:cNvSpPr/>
          <p:nvPr/>
        </p:nvSpPr>
        <p:spPr>
          <a:xfrm>
            <a:off x="630936" y="2633472"/>
            <a:ext cx="10927080" cy="694944"/>
          </a:xfrm>
          <a:prstGeom prst="rect">
            <a:avLst/>
          </a:prstGeom>
          <a:ln w="15875">
            <a:solidFill>
              <a:srgbClr val="C00000"/>
            </a:solidFill>
            <a:prstDash val="dash"/>
          </a:ln>
        </p:spPr>
      </p:sp>
      <p:sp>
        <p:nvSpPr>
          <p:cNvPr id="13" name="Text 10"/>
          <p:cNvSpPr/>
          <p:nvPr/>
        </p:nvSpPr>
        <p:spPr>
          <a:xfrm>
            <a:off x="685800" y="4892040"/>
            <a:ext cx="10817352" cy="365760"/>
          </a:xfrm>
          <a:prstGeom prst="rect">
            <a:avLst/>
          </a:prstGeom>
          <a:noFill/>
          <a:ln/>
        </p:spPr>
        <p:txBody>
          <a:bodyPr wrap="square" lIns="0" tIns="0" rIns="0" bIns="0" rtlCol="0" anchor="ctr"/>
          <a:lstStyle/>
          <a:p>
            <a:pPr indent="0" marL="0">
              <a:buNone/>
            </a:pPr>
            <a:r>
              <a:rPr lang="en-US" sz="1400" b="1" dirty="0">
                <a:solidFill>
                  <a:srgbClr val="333333"/>
                </a:solidFill>
                <a:latin typeface="游ゴシック" pitchFamily="34" charset="0"/>
                <a:ea typeface="游ゴシック" pitchFamily="34" charset="-122"/>
                <a:cs typeface="游ゴシック" pitchFamily="34" charset="-120"/>
              </a:rPr>
              <a:t>ビックリマンを生んだロッテと、「変身」を生んだウルトラマン。</a:t>
            </a:r>
            <a:endParaRPr lang="en-US" sz="1400" dirty="0"/>
          </a:p>
        </p:txBody>
      </p:sp>
      <p:sp>
        <p:nvSpPr>
          <p:cNvPr id="14" name="Text 11"/>
          <p:cNvSpPr/>
          <p:nvPr/>
        </p:nvSpPr>
        <p:spPr>
          <a:xfrm>
            <a:off x="685800" y="5303520"/>
            <a:ext cx="10817352" cy="411480"/>
          </a:xfrm>
          <a:prstGeom prst="rect">
            <a:avLst/>
          </a:prstGeom>
          <a:noFill/>
          <a:ln/>
        </p:spPr>
        <p:txBody>
          <a:bodyPr wrap="square" lIns="0" tIns="0" rIns="0" bIns="0" rtlCol="0" anchor="ctr"/>
          <a:lstStyle/>
          <a:p>
            <a:pPr indent="0" marL="0">
              <a:buNone/>
            </a:pPr>
            <a:r>
              <a:rPr lang="en-US" sz="1600" b="1" dirty="0">
                <a:solidFill>
                  <a:srgbClr val="7A4521"/>
                </a:solidFill>
                <a:latin typeface="游ゴシック" pitchFamily="34" charset="0"/>
                <a:ea typeface="游ゴシック" pitchFamily="34" charset="-122"/>
                <a:cs typeface="游ゴシック" pitchFamily="34" charset="-120"/>
              </a:rPr>
              <a:t>まず一つ売る。そこで学ぶ。そして、次のカテゴリーを一緒につくる。</a:t>
            </a:r>
            <a:endParaRPr lang="en-US" sz="1600" dirty="0"/>
          </a:p>
        </p:txBody>
      </p:sp>
      <p:sp>
        <p:nvSpPr>
          <p:cNvPr id="15" name="Text 12"/>
          <p:cNvSpPr/>
          <p:nvPr/>
        </p:nvSpPr>
        <p:spPr>
          <a:xfrm>
            <a:off x="685800" y="5852160"/>
            <a:ext cx="10817352" cy="274320"/>
          </a:xfrm>
          <a:prstGeom prst="rect">
            <a:avLst/>
          </a:prstGeom>
          <a:noFill/>
          <a:ln/>
        </p:spPr>
        <p:txBody>
          <a:bodyPr wrap="square" lIns="0" tIns="0" rIns="0" bIns="0" rtlCol="0" anchor="ctr"/>
          <a:lstStyle/>
          <a:p>
            <a:pPr indent="0" marL="0">
              <a:buNone/>
            </a:pPr>
            <a:r>
              <a:rPr lang="en-US" sz="950" dirty="0">
                <a:solidFill>
                  <a:srgbClr val="808080"/>
                </a:solidFill>
                <a:latin typeface="游ゴシック" pitchFamily="34" charset="0"/>
                <a:ea typeface="游ゴシック" pitchFamily="34" charset="-122"/>
                <a:cs typeface="游ゴシック" pitchFamily="34" charset="-120"/>
              </a:rPr>
              <a:t>円谷プロダクション ｜ 2026年8月 ｜ 本資料の内容は両社間の検討用であり、記載の企画・商品名・時期はすべて仮称・仮案です</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2834640"/>
            <a:ext cx="7315200" cy="822960"/>
          </a:xfrm>
          <a:prstGeom prst="rect">
            <a:avLst/>
          </a:prstGeom>
          <a:noFill/>
          <a:ln/>
        </p:spPr>
        <p:txBody>
          <a:bodyPr wrap="square" lIns="0" tIns="0" rIns="0" bIns="0" rtlCol="0" anchor="ctr"/>
          <a:lstStyle/>
          <a:p>
            <a:pPr indent="0" marL="0">
              <a:buNone/>
            </a:pPr>
            <a:r>
              <a:rPr lang="en-US" sz="4000" b="1" dirty="0">
                <a:solidFill>
                  <a:srgbClr val="333333"/>
                </a:solidFill>
                <a:latin typeface="游ゴシック" pitchFamily="34" charset="0"/>
                <a:ea typeface="游ゴシック" pitchFamily="34" charset="-122"/>
                <a:cs typeface="游ゴシック" pitchFamily="34" charset="-120"/>
              </a:rPr>
              <a:t>Appendix</a:t>
            </a:r>
            <a:endParaRPr lang="en-US" sz="4000" dirty="0"/>
          </a:p>
        </p:txBody>
      </p:sp>
      <p:sp>
        <p:nvSpPr>
          <p:cNvPr id="3" name="Text 1"/>
          <p:cNvSpPr/>
          <p:nvPr/>
        </p:nvSpPr>
        <p:spPr>
          <a:xfrm>
            <a:off x="685800" y="3749040"/>
            <a:ext cx="7315200" cy="365760"/>
          </a:xfrm>
          <a:prstGeom prst="rect">
            <a:avLst/>
          </a:prstGeom>
          <a:noFill/>
          <a:ln/>
        </p:spPr>
        <p:txBody>
          <a:bodyPr wrap="square" lIns="0" tIns="0" rIns="0" bIns="0" rtlCol="0" anchor="ctr"/>
          <a:lstStyle/>
          <a:p>
            <a:pPr indent="0" marL="0">
              <a:buNone/>
            </a:pPr>
            <a:r>
              <a:rPr lang="en-US" sz="1300" dirty="0">
                <a:solidFill>
                  <a:srgbClr val="808080"/>
                </a:solidFill>
                <a:latin typeface="游ゴシック" pitchFamily="34" charset="0"/>
                <a:ea typeface="游ゴシック" pitchFamily="34" charset="-122"/>
                <a:cs typeface="游ゴシック" pitchFamily="34" charset="-120"/>
              </a:rPr>
              <a:t>分析手法・全データ・技術検討事項・権利前提</a:t>
            </a:r>
            <a:endParaRPr lang="en-US" sz="1300" dirty="0"/>
          </a:p>
        </p:txBody>
      </p:sp>
      <p:sp>
        <p:nvSpPr>
          <p:cNvPr id="4" name="Shape 2"/>
          <p:cNvSpPr/>
          <p:nvPr/>
        </p:nvSpPr>
        <p:spPr>
          <a:xfrm>
            <a:off x="685800" y="4297680"/>
            <a:ext cx="1463040" cy="50292"/>
          </a:xfrm>
          <a:prstGeom prst="rect">
            <a:avLst/>
          </a:prstGeom>
          <a:solidFill>
            <a:srgbClr val="7A4521"/>
          </a:solidFill>
          <a:ln/>
        </p:spPr>
      </p:sp>
      <p:sp>
        <p:nvSpPr>
          <p:cNvPr id="5" name="Shape 3"/>
          <p:cNvSpPr/>
          <p:nvPr/>
        </p:nvSpPr>
        <p:spPr>
          <a:xfrm>
            <a:off x="685800" y="6382512"/>
            <a:ext cx="10817352" cy="0"/>
          </a:xfrm>
          <a:prstGeom prst="line">
            <a:avLst/>
          </a:prstGeom>
          <a:noFill/>
          <a:ln w="9525">
            <a:solidFill>
              <a:srgbClr val="E9E9E9"/>
            </a:solidFill>
            <a:prstDash val="solid"/>
          </a:ln>
        </p:spPr>
      </p:sp>
      <p:sp>
        <p:nvSpPr>
          <p:cNvPr id="6" name="Text 4"/>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7" name="Text 5"/>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APPENDIX</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貴社限り</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CEPs（カテゴリーエントリーポイント）とは</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「あるカテゴリーの購入状況においてブランドを想起し選ぶきっかけ」。VOCから文脈抽出し、スコアリングして算出できる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19</a:t>
            </a:r>
            <a:endParaRPr lang="en-US" sz="950" dirty="0"/>
          </a:p>
        </p:txBody>
      </p:sp>
      <p:sp>
        <p:nvSpPr>
          <p:cNvPr id="11" name="Text 9"/>
          <p:cNvSpPr/>
          <p:nvPr/>
        </p:nvSpPr>
        <p:spPr>
          <a:xfrm>
            <a:off x="685800" y="2377440"/>
            <a:ext cx="3291840"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SNS上のVOC（例：テーマパーク）</a:t>
            </a:r>
            <a:endParaRPr lang="en-US" sz="1200" dirty="0"/>
          </a:p>
        </p:txBody>
      </p:sp>
      <p:sp>
        <p:nvSpPr>
          <p:cNvPr id="12" name="Shape 10"/>
          <p:cNvSpPr/>
          <p:nvPr/>
        </p:nvSpPr>
        <p:spPr>
          <a:xfrm>
            <a:off x="685800" y="2706624"/>
            <a:ext cx="3291840" cy="0"/>
          </a:xfrm>
          <a:prstGeom prst="line">
            <a:avLst/>
          </a:prstGeom>
          <a:noFill/>
          <a:ln w="12700">
            <a:solidFill>
              <a:srgbClr val="333333"/>
            </a:solidFill>
            <a:prstDash val="solid"/>
          </a:ln>
        </p:spPr>
      </p:sp>
      <p:sp>
        <p:nvSpPr>
          <p:cNvPr id="13" name="Shape 11"/>
          <p:cNvSpPr/>
          <p:nvPr/>
        </p:nvSpPr>
        <p:spPr>
          <a:xfrm>
            <a:off x="685800" y="2834640"/>
            <a:ext cx="3291840" cy="402336"/>
          </a:xfrm>
          <a:prstGeom prst="roundRect">
            <a:avLst>
              <a:gd name="adj" fmla="val 50000"/>
            </a:avLst>
          </a:prstGeom>
          <a:solidFill>
            <a:srgbClr val="F7F5F1"/>
          </a:solidFill>
          <a:ln w="9525">
            <a:solidFill>
              <a:srgbClr val="BFBFBF"/>
            </a:solidFill>
            <a:prstDash val="solid"/>
          </a:ln>
        </p:spPr>
      </p:sp>
      <p:sp>
        <p:nvSpPr>
          <p:cNvPr id="14" name="Text 12"/>
          <p:cNvSpPr/>
          <p:nvPr/>
        </p:nvSpPr>
        <p:spPr>
          <a:xfrm>
            <a:off x="868680" y="2834640"/>
            <a:ext cx="2926080" cy="402336"/>
          </a:xfrm>
          <a:prstGeom prst="rect">
            <a:avLst/>
          </a:prstGeom>
          <a:noFill/>
          <a:ln/>
        </p:spPr>
        <p:txBody>
          <a:bodyPr wrap="square" lIns="0" tIns="0" rIns="0" bIns="0" rtlCol="0" anchor="ct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「思い出の地といえば」</a:t>
            </a:r>
            <a:endParaRPr lang="en-US" sz="1000" dirty="0"/>
          </a:p>
        </p:txBody>
      </p:sp>
      <p:sp>
        <p:nvSpPr>
          <p:cNvPr id="15" name="Shape 13"/>
          <p:cNvSpPr/>
          <p:nvPr/>
        </p:nvSpPr>
        <p:spPr>
          <a:xfrm>
            <a:off x="685800" y="3346704"/>
            <a:ext cx="3291840" cy="402336"/>
          </a:xfrm>
          <a:prstGeom prst="roundRect">
            <a:avLst>
              <a:gd name="adj" fmla="val 50000"/>
            </a:avLst>
          </a:prstGeom>
          <a:solidFill>
            <a:srgbClr val="F7F5F1"/>
          </a:solidFill>
          <a:ln w="9525">
            <a:solidFill>
              <a:srgbClr val="BFBFBF"/>
            </a:solidFill>
            <a:prstDash val="solid"/>
          </a:ln>
        </p:spPr>
      </p:sp>
      <p:sp>
        <p:nvSpPr>
          <p:cNvPr id="16" name="Text 14"/>
          <p:cNvSpPr/>
          <p:nvPr/>
        </p:nvSpPr>
        <p:spPr>
          <a:xfrm>
            <a:off x="868680" y="3346704"/>
            <a:ext cx="2926080" cy="402336"/>
          </a:xfrm>
          <a:prstGeom prst="rect">
            <a:avLst/>
          </a:prstGeom>
          <a:noFill/>
          <a:ln/>
        </p:spPr>
        <p:txBody>
          <a:bodyPr wrap="square" lIns="0" tIns="0" rIns="0" bIns="0" rtlCol="0" anchor="ct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「友人と過ごす」</a:t>
            </a:r>
            <a:endParaRPr lang="en-US" sz="1000" dirty="0"/>
          </a:p>
        </p:txBody>
      </p:sp>
      <p:sp>
        <p:nvSpPr>
          <p:cNvPr id="17" name="Shape 15"/>
          <p:cNvSpPr/>
          <p:nvPr/>
        </p:nvSpPr>
        <p:spPr>
          <a:xfrm>
            <a:off x="685800" y="3858768"/>
            <a:ext cx="3291840" cy="402336"/>
          </a:xfrm>
          <a:prstGeom prst="roundRect">
            <a:avLst>
              <a:gd name="adj" fmla="val 50000"/>
            </a:avLst>
          </a:prstGeom>
          <a:solidFill>
            <a:srgbClr val="F7F5F1"/>
          </a:solidFill>
          <a:ln w="9525">
            <a:solidFill>
              <a:srgbClr val="BFBFBF"/>
            </a:solidFill>
            <a:prstDash val="solid"/>
          </a:ln>
        </p:spPr>
      </p:sp>
      <p:sp>
        <p:nvSpPr>
          <p:cNvPr id="18" name="Text 16"/>
          <p:cNvSpPr/>
          <p:nvPr/>
        </p:nvSpPr>
        <p:spPr>
          <a:xfrm>
            <a:off x="868680" y="3858768"/>
            <a:ext cx="2926080" cy="402336"/>
          </a:xfrm>
          <a:prstGeom prst="rect">
            <a:avLst/>
          </a:prstGeom>
          <a:noFill/>
          <a:ln/>
        </p:spPr>
        <p:txBody>
          <a:bodyPr wrap="square" lIns="0" tIns="0" rIns="0" bIns="0" rtlCol="0" anchor="ct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「休日に家族で」</a:t>
            </a:r>
            <a:endParaRPr lang="en-US" sz="1000" dirty="0"/>
          </a:p>
        </p:txBody>
      </p:sp>
      <p:sp>
        <p:nvSpPr>
          <p:cNvPr id="19" name="Shape 17"/>
          <p:cNvSpPr/>
          <p:nvPr/>
        </p:nvSpPr>
        <p:spPr>
          <a:xfrm>
            <a:off x="685800" y="4370832"/>
            <a:ext cx="3291840" cy="402336"/>
          </a:xfrm>
          <a:prstGeom prst="roundRect">
            <a:avLst>
              <a:gd name="adj" fmla="val 50000"/>
            </a:avLst>
          </a:prstGeom>
          <a:solidFill>
            <a:srgbClr val="F7F5F1"/>
          </a:solidFill>
          <a:ln w="9525">
            <a:solidFill>
              <a:srgbClr val="BFBFBF"/>
            </a:solidFill>
            <a:prstDash val="solid"/>
          </a:ln>
        </p:spPr>
      </p:sp>
      <p:sp>
        <p:nvSpPr>
          <p:cNvPr id="20" name="Text 18"/>
          <p:cNvSpPr/>
          <p:nvPr/>
        </p:nvSpPr>
        <p:spPr>
          <a:xfrm>
            <a:off x="868680" y="4370832"/>
            <a:ext cx="2926080" cy="402336"/>
          </a:xfrm>
          <a:prstGeom prst="rect">
            <a:avLst/>
          </a:prstGeom>
          <a:noFill/>
          <a:ln/>
        </p:spPr>
        <p:txBody>
          <a:bodyPr wrap="square" lIns="0" tIns="0" rIns="0" bIns="0" rtlCol="0" anchor="ct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「現実逃避したいなら」</a:t>
            </a:r>
            <a:endParaRPr lang="en-US" sz="1000" dirty="0"/>
          </a:p>
        </p:txBody>
      </p:sp>
      <p:sp>
        <p:nvSpPr>
          <p:cNvPr id="21" name="Shape 19"/>
          <p:cNvSpPr/>
          <p:nvPr/>
        </p:nvSpPr>
        <p:spPr>
          <a:xfrm>
            <a:off x="685800" y="4882896"/>
            <a:ext cx="3291840" cy="402336"/>
          </a:xfrm>
          <a:prstGeom prst="roundRect">
            <a:avLst>
              <a:gd name="adj" fmla="val 50000"/>
            </a:avLst>
          </a:prstGeom>
          <a:solidFill>
            <a:srgbClr val="F7F5F1"/>
          </a:solidFill>
          <a:ln w="9525">
            <a:solidFill>
              <a:srgbClr val="BFBFBF"/>
            </a:solidFill>
            <a:prstDash val="solid"/>
          </a:ln>
        </p:spPr>
      </p:sp>
      <p:sp>
        <p:nvSpPr>
          <p:cNvPr id="22" name="Text 20"/>
          <p:cNvSpPr/>
          <p:nvPr/>
        </p:nvSpPr>
        <p:spPr>
          <a:xfrm>
            <a:off x="868680" y="4882896"/>
            <a:ext cx="2926080" cy="402336"/>
          </a:xfrm>
          <a:prstGeom prst="rect">
            <a:avLst/>
          </a:prstGeom>
          <a:noFill/>
          <a:ln/>
        </p:spPr>
        <p:txBody>
          <a:bodyPr wrap="square" lIns="0" tIns="0" rIns="0" bIns="0" rtlCol="0" anchor="ct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「恋人とデートで」</a:t>
            </a:r>
            <a:endParaRPr lang="en-US" sz="1000" dirty="0"/>
          </a:p>
        </p:txBody>
      </p:sp>
      <p:sp>
        <p:nvSpPr>
          <p:cNvPr id="23" name="Shape 21"/>
          <p:cNvSpPr/>
          <p:nvPr/>
        </p:nvSpPr>
        <p:spPr>
          <a:xfrm>
            <a:off x="685800" y="5394960"/>
            <a:ext cx="3291840" cy="402336"/>
          </a:xfrm>
          <a:prstGeom prst="roundRect">
            <a:avLst>
              <a:gd name="adj" fmla="val 50000"/>
            </a:avLst>
          </a:prstGeom>
          <a:solidFill>
            <a:srgbClr val="F7F5F1"/>
          </a:solidFill>
          <a:ln w="9525">
            <a:solidFill>
              <a:srgbClr val="BFBFBF"/>
            </a:solidFill>
            <a:prstDash val="solid"/>
          </a:ln>
        </p:spPr>
      </p:sp>
      <p:sp>
        <p:nvSpPr>
          <p:cNvPr id="24" name="Text 22"/>
          <p:cNvSpPr/>
          <p:nvPr/>
        </p:nvSpPr>
        <p:spPr>
          <a:xfrm>
            <a:off x="868680" y="5394960"/>
            <a:ext cx="2926080" cy="402336"/>
          </a:xfrm>
          <a:prstGeom prst="rect">
            <a:avLst/>
          </a:prstGeom>
          <a:noFill/>
          <a:ln/>
        </p:spPr>
        <p:txBody>
          <a:bodyPr wrap="square" lIns="0" tIns="0" rIns="0" bIns="0" rtlCol="0" anchor="ct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「卒業旅行で」</a:t>
            </a:r>
            <a:endParaRPr lang="en-US" sz="1000" dirty="0"/>
          </a:p>
        </p:txBody>
      </p:sp>
      <p:sp>
        <p:nvSpPr>
          <p:cNvPr id="25" name="Shape 23"/>
          <p:cNvSpPr/>
          <p:nvPr/>
        </p:nvSpPr>
        <p:spPr>
          <a:xfrm>
            <a:off x="4343400" y="3657600"/>
            <a:ext cx="2194560" cy="914400"/>
          </a:xfrm>
          <a:prstGeom prst="roundRect">
            <a:avLst>
              <a:gd name="adj" fmla="val 10000"/>
            </a:avLst>
          </a:prstGeom>
          <a:solidFill>
            <a:srgbClr val="17828F"/>
          </a:solidFill>
          <a:ln/>
        </p:spPr>
      </p:sp>
      <p:sp>
        <p:nvSpPr>
          <p:cNvPr id="26" name="Text 24"/>
          <p:cNvSpPr/>
          <p:nvPr/>
        </p:nvSpPr>
        <p:spPr>
          <a:xfrm>
            <a:off x="4343400" y="3657600"/>
            <a:ext cx="2194560" cy="914400"/>
          </a:xfrm>
          <a:prstGeom prst="rect">
            <a:avLst/>
          </a:prstGeom>
          <a:noFill/>
          <a:ln/>
        </p:spPr>
        <p:txBody>
          <a:bodyPr wrap="square" lIns="0" tIns="0" rIns="0" bIns="0" rtlCol="0" anchor="ctr"/>
          <a:lstStyle/>
          <a:p>
            <a:pPr algn="ctr" indent="0" marL="0">
              <a:lnSpc>
                <a:spcPts val="1400"/>
              </a:lnSpc>
              <a:buNone/>
            </a:pPr>
            <a:r>
              <a:rPr lang="en-US" sz="1050" b="1" dirty="0">
                <a:solidFill>
                  <a:srgbClr val="FFFFFF"/>
                </a:solidFill>
                <a:latin typeface="游ゴシック" pitchFamily="34" charset="0"/>
                <a:ea typeface="游ゴシック" pitchFamily="34" charset="-122"/>
                <a:cs typeface="游ゴシック" pitchFamily="34" charset="-120"/>
              </a:rPr>
              <a:t>AIエージェント</a:t>
            </a:r>
            <a:endParaRPr lang="en-US" sz="1050" dirty="0"/>
          </a:p>
          <a:p>
            <a:pPr algn="ctr" indent="0" marL="0">
              <a:lnSpc>
                <a:spcPts val="1400"/>
              </a:lnSpc>
              <a:buNone/>
            </a:pPr>
            <a:r>
              <a:rPr lang="en-US" sz="1050" b="1" dirty="0">
                <a:solidFill>
                  <a:srgbClr val="FFFFFF"/>
                </a:solidFill>
                <a:latin typeface="游ゴシック" pitchFamily="34" charset="0"/>
                <a:ea typeface="游ゴシック" pitchFamily="34" charset="-122"/>
                <a:cs typeface="游ゴシック" pitchFamily="34" charset="-120"/>
              </a:rPr>
              <a:t>による文脈抽出</a:t>
            </a:r>
            <a:endParaRPr lang="en-US" sz="1050" dirty="0"/>
          </a:p>
          <a:p>
            <a:pPr algn="ctr" indent="0" marL="0">
              <a:lnSpc>
                <a:spcPts val="1400"/>
              </a:lnSpc>
              <a:buNone/>
            </a:pPr>
            <a:r>
              <a:rPr lang="en-US" sz="1050" b="1" dirty="0">
                <a:solidFill>
                  <a:srgbClr val="FFFFFF"/>
                </a:solidFill>
                <a:latin typeface="游ゴシック" pitchFamily="34" charset="0"/>
                <a:ea typeface="游ゴシック" pitchFamily="34" charset="-122"/>
                <a:cs typeface="游ゴシック" pitchFamily="34" charset="-120"/>
              </a:rPr>
              <a:t>データ整形</a:t>
            </a:r>
            <a:endParaRPr lang="en-US" sz="1050" dirty="0"/>
          </a:p>
        </p:txBody>
      </p:sp>
      <p:sp>
        <p:nvSpPr>
          <p:cNvPr id="27" name="Text 25"/>
          <p:cNvSpPr/>
          <p:nvPr/>
        </p:nvSpPr>
        <p:spPr>
          <a:xfrm>
            <a:off x="4041648" y="3886200"/>
            <a:ext cx="320040" cy="457200"/>
          </a:xfrm>
          <a:prstGeom prst="rect">
            <a:avLst/>
          </a:prstGeom>
          <a:noFill/>
          <a:ln/>
        </p:spPr>
        <p:txBody>
          <a:bodyPr wrap="square" lIns="0" tIns="0" rIns="0" bIns="0" rtlCol="0" anchor="ctr"/>
          <a:lstStyle/>
          <a:p>
            <a:pPr algn="ctr" indent="0" marL="0">
              <a:buNone/>
            </a:pPr>
            <a:r>
              <a:rPr lang="en-US" sz="1500" dirty="0">
                <a:solidFill>
                  <a:srgbClr val="808080"/>
                </a:solidFill>
                <a:latin typeface="游ゴシック" pitchFamily="34" charset="0"/>
                <a:ea typeface="游ゴシック" pitchFamily="34" charset="-122"/>
                <a:cs typeface="游ゴシック" pitchFamily="34" charset="-120"/>
              </a:rPr>
              <a:t>→</a:t>
            </a:r>
            <a:endParaRPr lang="en-US" sz="1500" dirty="0"/>
          </a:p>
        </p:txBody>
      </p:sp>
      <p:sp>
        <p:nvSpPr>
          <p:cNvPr id="28" name="Text 26"/>
          <p:cNvSpPr/>
          <p:nvPr/>
        </p:nvSpPr>
        <p:spPr>
          <a:xfrm>
            <a:off x="6537960" y="3886200"/>
            <a:ext cx="320040" cy="457200"/>
          </a:xfrm>
          <a:prstGeom prst="rect">
            <a:avLst/>
          </a:prstGeom>
          <a:noFill/>
          <a:ln/>
        </p:spPr>
        <p:txBody>
          <a:bodyPr wrap="square" lIns="0" tIns="0" rIns="0" bIns="0" rtlCol="0" anchor="ctr"/>
          <a:lstStyle/>
          <a:p>
            <a:pPr algn="ctr" indent="0" marL="0">
              <a:buNone/>
            </a:pPr>
            <a:r>
              <a:rPr lang="en-US" sz="1500" dirty="0">
                <a:solidFill>
                  <a:srgbClr val="808080"/>
                </a:solidFill>
                <a:latin typeface="游ゴシック" pitchFamily="34" charset="0"/>
                <a:ea typeface="游ゴシック" pitchFamily="34" charset="-122"/>
                <a:cs typeface="游ゴシック" pitchFamily="34" charset="-120"/>
              </a:rPr>
              <a:t>→</a:t>
            </a:r>
            <a:endParaRPr lang="en-US" sz="1500" dirty="0"/>
          </a:p>
        </p:txBody>
      </p:sp>
      <p:sp>
        <p:nvSpPr>
          <p:cNvPr id="29" name="Text 27"/>
          <p:cNvSpPr/>
          <p:nvPr/>
        </p:nvSpPr>
        <p:spPr>
          <a:xfrm>
            <a:off x="6903720" y="2377440"/>
            <a:ext cx="4599432"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テーマパークのCEPs（抽出結果イメージ）</a:t>
            </a:r>
            <a:endParaRPr lang="en-US" sz="1200" dirty="0"/>
          </a:p>
        </p:txBody>
      </p:sp>
      <p:sp>
        <p:nvSpPr>
          <p:cNvPr id="30" name="Shape 28"/>
          <p:cNvSpPr/>
          <p:nvPr/>
        </p:nvSpPr>
        <p:spPr>
          <a:xfrm>
            <a:off x="6903720" y="2706624"/>
            <a:ext cx="4599432" cy="0"/>
          </a:xfrm>
          <a:prstGeom prst="line">
            <a:avLst/>
          </a:prstGeom>
          <a:noFill/>
          <a:ln w="12700">
            <a:solidFill>
              <a:srgbClr val="333333"/>
            </a:solidFill>
            <a:prstDash val="solid"/>
          </a:ln>
        </p:spPr>
      </p:sp>
      <p:sp>
        <p:nvSpPr>
          <p:cNvPr id="31" name="Shape 29"/>
          <p:cNvSpPr/>
          <p:nvPr/>
        </p:nvSpPr>
        <p:spPr>
          <a:xfrm>
            <a:off x="6903720" y="2834640"/>
            <a:ext cx="4599432" cy="402336"/>
          </a:xfrm>
          <a:prstGeom prst="roundRect">
            <a:avLst>
              <a:gd name="adj" fmla="val 13636"/>
            </a:avLst>
          </a:prstGeom>
          <a:solidFill>
            <a:srgbClr val="EAF4F8"/>
          </a:solidFill>
          <a:ln/>
        </p:spPr>
      </p:sp>
      <p:sp>
        <p:nvSpPr>
          <p:cNvPr id="32" name="Text 30"/>
          <p:cNvSpPr/>
          <p:nvPr/>
        </p:nvSpPr>
        <p:spPr>
          <a:xfrm>
            <a:off x="7086600" y="2834640"/>
            <a:ext cx="4233672" cy="402336"/>
          </a:xfrm>
          <a:prstGeom prst="rect">
            <a:avLst/>
          </a:prstGeom>
          <a:noFill/>
          <a:ln/>
        </p:spPr>
        <p:txBody>
          <a:bodyPr wrap="square" lIns="0" tIns="0" rIns="0" bIns="0" rtlCol="0" anchor="ctr"/>
          <a:lstStyle/>
          <a:p>
            <a:pPr indent="0" marL="0">
              <a:buNone/>
            </a:pPr>
            <a:r>
              <a:rPr lang="en-US" sz="1000" b="1" dirty="0">
                <a:solidFill>
                  <a:srgbClr val="17828F"/>
                </a:solidFill>
                <a:latin typeface="游ゴシック" pitchFamily="34" charset="0"/>
                <a:ea typeface="游ゴシック" pitchFamily="34" charset="-122"/>
                <a:cs typeface="游ゴシック" pitchFamily="34" charset="-120"/>
              </a:rPr>
              <a:t>非日常の世界観を味わいたいなら</a:t>
            </a:r>
            <a:endParaRPr lang="en-US" sz="1000" dirty="0"/>
          </a:p>
        </p:txBody>
      </p:sp>
      <p:sp>
        <p:nvSpPr>
          <p:cNvPr id="33" name="Shape 31"/>
          <p:cNvSpPr/>
          <p:nvPr/>
        </p:nvSpPr>
        <p:spPr>
          <a:xfrm>
            <a:off x="6903720" y="3346704"/>
            <a:ext cx="4599432" cy="402336"/>
          </a:xfrm>
          <a:prstGeom prst="roundRect">
            <a:avLst>
              <a:gd name="adj" fmla="val 13636"/>
            </a:avLst>
          </a:prstGeom>
          <a:solidFill>
            <a:srgbClr val="EAF4F8"/>
          </a:solidFill>
          <a:ln/>
        </p:spPr>
      </p:sp>
      <p:sp>
        <p:nvSpPr>
          <p:cNvPr id="34" name="Text 32"/>
          <p:cNvSpPr/>
          <p:nvPr/>
        </p:nvSpPr>
        <p:spPr>
          <a:xfrm>
            <a:off x="7086600" y="3346704"/>
            <a:ext cx="4233672" cy="402336"/>
          </a:xfrm>
          <a:prstGeom prst="rect">
            <a:avLst/>
          </a:prstGeom>
          <a:noFill/>
          <a:ln/>
        </p:spPr>
        <p:txBody>
          <a:bodyPr wrap="square" lIns="0" tIns="0" rIns="0" bIns="0" rtlCol="0" anchor="ctr"/>
          <a:lstStyle/>
          <a:p>
            <a:pPr indent="0" marL="0">
              <a:buNone/>
            </a:pPr>
            <a:r>
              <a:rPr lang="en-US" sz="1000" b="1" dirty="0">
                <a:solidFill>
                  <a:srgbClr val="17828F"/>
                </a:solidFill>
                <a:latin typeface="游ゴシック" pitchFamily="34" charset="0"/>
                <a:ea typeface="游ゴシック" pitchFamily="34" charset="-122"/>
                <a:cs typeface="游ゴシック" pitchFamily="34" charset="-120"/>
              </a:rPr>
              <a:t>友人と特別な時間を過ごしたいとき</a:t>
            </a:r>
            <a:endParaRPr lang="en-US" sz="1000" dirty="0"/>
          </a:p>
        </p:txBody>
      </p:sp>
      <p:sp>
        <p:nvSpPr>
          <p:cNvPr id="35" name="Shape 33"/>
          <p:cNvSpPr/>
          <p:nvPr/>
        </p:nvSpPr>
        <p:spPr>
          <a:xfrm>
            <a:off x="6903720" y="3858768"/>
            <a:ext cx="4599432" cy="402336"/>
          </a:xfrm>
          <a:prstGeom prst="roundRect">
            <a:avLst>
              <a:gd name="adj" fmla="val 13636"/>
            </a:avLst>
          </a:prstGeom>
          <a:solidFill>
            <a:srgbClr val="EAF4F8"/>
          </a:solidFill>
          <a:ln/>
        </p:spPr>
      </p:sp>
      <p:sp>
        <p:nvSpPr>
          <p:cNvPr id="36" name="Text 34"/>
          <p:cNvSpPr/>
          <p:nvPr/>
        </p:nvSpPr>
        <p:spPr>
          <a:xfrm>
            <a:off x="7086600" y="3858768"/>
            <a:ext cx="4233672" cy="402336"/>
          </a:xfrm>
          <a:prstGeom prst="rect">
            <a:avLst/>
          </a:prstGeom>
          <a:noFill/>
          <a:ln/>
        </p:spPr>
        <p:txBody>
          <a:bodyPr wrap="square" lIns="0" tIns="0" rIns="0" bIns="0" rtlCol="0" anchor="ctr"/>
          <a:lstStyle/>
          <a:p>
            <a:pPr indent="0" marL="0">
              <a:buNone/>
            </a:pPr>
            <a:r>
              <a:rPr lang="en-US" sz="1000" b="1" dirty="0">
                <a:solidFill>
                  <a:srgbClr val="17828F"/>
                </a:solidFill>
                <a:latin typeface="游ゴシック" pitchFamily="34" charset="0"/>
                <a:ea typeface="游ゴシック" pitchFamily="34" charset="-122"/>
                <a:cs typeface="游ゴシック" pitchFamily="34" charset="-120"/>
              </a:rPr>
              <a:t>家族の休日の行き先として</a:t>
            </a:r>
            <a:endParaRPr lang="en-US" sz="1000" dirty="0"/>
          </a:p>
        </p:txBody>
      </p:sp>
      <p:sp>
        <p:nvSpPr>
          <p:cNvPr id="37" name="Shape 35"/>
          <p:cNvSpPr/>
          <p:nvPr/>
        </p:nvSpPr>
        <p:spPr>
          <a:xfrm>
            <a:off x="6903720" y="4370832"/>
            <a:ext cx="4599432" cy="402336"/>
          </a:xfrm>
          <a:prstGeom prst="roundRect">
            <a:avLst>
              <a:gd name="adj" fmla="val 13636"/>
            </a:avLst>
          </a:prstGeom>
          <a:solidFill>
            <a:srgbClr val="EAF4F8"/>
          </a:solidFill>
          <a:ln/>
        </p:spPr>
      </p:sp>
      <p:sp>
        <p:nvSpPr>
          <p:cNvPr id="38" name="Text 36"/>
          <p:cNvSpPr/>
          <p:nvPr/>
        </p:nvSpPr>
        <p:spPr>
          <a:xfrm>
            <a:off x="7086600" y="4370832"/>
            <a:ext cx="4233672" cy="402336"/>
          </a:xfrm>
          <a:prstGeom prst="rect">
            <a:avLst/>
          </a:prstGeom>
          <a:noFill/>
          <a:ln/>
        </p:spPr>
        <p:txBody>
          <a:bodyPr wrap="square" lIns="0" tIns="0" rIns="0" bIns="0" rtlCol="0" anchor="ctr"/>
          <a:lstStyle/>
          <a:p>
            <a:pPr indent="0" marL="0">
              <a:buNone/>
            </a:pPr>
            <a:r>
              <a:rPr lang="en-US" sz="1000" b="1" dirty="0">
                <a:solidFill>
                  <a:srgbClr val="17828F"/>
                </a:solidFill>
                <a:latin typeface="游ゴシック" pitchFamily="34" charset="0"/>
                <a:ea typeface="游ゴシック" pitchFamily="34" charset="-122"/>
                <a:cs typeface="游ゴシック" pitchFamily="34" charset="-120"/>
              </a:rPr>
              <a:t>現実逃避したいとき</a:t>
            </a:r>
            <a:endParaRPr lang="en-US" sz="1000" dirty="0"/>
          </a:p>
        </p:txBody>
      </p:sp>
      <p:sp>
        <p:nvSpPr>
          <p:cNvPr id="39" name="Shape 37"/>
          <p:cNvSpPr/>
          <p:nvPr/>
        </p:nvSpPr>
        <p:spPr>
          <a:xfrm>
            <a:off x="6903720" y="4882896"/>
            <a:ext cx="4599432" cy="402336"/>
          </a:xfrm>
          <a:prstGeom prst="roundRect">
            <a:avLst>
              <a:gd name="adj" fmla="val 13636"/>
            </a:avLst>
          </a:prstGeom>
          <a:solidFill>
            <a:srgbClr val="EAF4F8"/>
          </a:solidFill>
          <a:ln/>
        </p:spPr>
      </p:sp>
      <p:sp>
        <p:nvSpPr>
          <p:cNvPr id="40" name="Text 38"/>
          <p:cNvSpPr/>
          <p:nvPr/>
        </p:nvSpPr>
        <p:spPr>
          <a:xfrm>
            <a:off x="7086600" y="4882896"/>
            <a:ext cx="4233672" cy="402336"/>
          </a:xfrm>
          <a:prstGeom prst="rect">
            <a:avLst/>
          </a:prstGeom>
          <a:noFill/>
          <a:ln/>
        </p:spPr>
        <p:txBody>
          <a:bodyPr wrap="square" lIns="0" tIns="0" rIns="0" bIns="0" rtlCol="0" anchor="ctr"/>
          <a:lstStyle/>
          <a:p>
            <a:pPr indent="0" marL="0">
              <a:buNone/>
            </a:pPr>
            <a:r>
              <a:rPr lang="en-US" sz="1000" b="1" dirty="0">
                <a:solidFill>
                  <a:srgbClr val="17828F"/>
                </a:solidFill>
                <a:latin typeface="游ゴシック" pitchFamily="34" charset="0"/>
                <a:ea typeface="游ゴシック" pitchFamily="34" charset="-122"/>
                <a:cs typeface="游ゴシック" pitchFamily="34" charset="-120"/>
              </a:rPr>
              <a:t>記念日・節目を祝いたいとき</a:t>
            </a:r>
            <a:endParaRPr lang="en-US" sz="1000" dirty="0"/>
          </a:p>
        </p:txBody>
      </p:sp>
      <p:sp>
        <p:nvSpPr>
          <p:cNvPr id="41" name="Text 39"/>
          <p:cNvSpPr/>
          <p:nvPr/>
        </p:nvSpPr>
        <p:spPr>
          <a:xfrm>
            <a:off x="685800" y="594360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出所：アライドアーキテクツ社資料。CEPsはメンタル・アベイラビリティ（想起のされやすさ）を構成し、フィジカル・アベイラビリティ（手に入りやすさ）と併せて購買を規定する</a:t>
            </a:r>
            <a:endParaRPr lang="en-US" sz="900" dirty="0"/>
          </a:p>
        </p:txBody>
      </p:sp>
      <p:sp>
        <p:nvSpPr>
          <p:cNvPr id="42" name="Shape 40"/>
          <p:cNvSpPr/>
          <p:nvPr/>
        </p:nvSpPr>
        <p:spPr>
          <a:xfrm>
            <a:off x="685800" y="6382512"/>
            <a:ext cx="10817352" cy="0"/>
          </a:xfrm>
          <a:prstGeom prst="line">
            <a:avLst/>
          </a:prstGeom>
          <a:noFill/>
          <a:ln w="9525">
            <a:solidFill>
              <a:srgbClr val="E9E9E9"/>
            </a:solidFill>
            <a:prstDash val="solid"/>
          </a:ln>
        </p:spPr>
      </p:sp>
      <p:sp>
        <p:nvSpPr>
          <p:cNvPr id="43" name="Text 41"/>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44" name="Text 42"/>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APPENDIX</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貴社限り</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VOC分析の手法</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収集 → クリーニング → CEPs特定・集計 → 診断の4工程。AI処理とアナリストの妥当性チェックを併用</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20</a:t>
            </a:r>
            <a:endParaRPr lang="en-US" sz="9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85800" y="2331720"/>
          <a:ext cx="10817352" cy="914400"/>
        </p:xfrm>
        <a:graphic>
          <a:graphicData uri="http://schemas.openxmlformats.org/drawingml/2006/table">
            <a:tbl>
              <a:tblPr/>
              <a:tblGrid>
                <a:gridCol w="2103120"/>
                <a:gridCol w="8714232"/>
              </a:tblGrid>
              <a:tr h="310896">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工程</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1100" b="1" dirty="0">
                          <a:solidFill>
                            <a:srgbClr val="FFFFFF"/>
                          </a:solidFill>
                          <a:latin typeface="游ゴシック" pitchFamily="34" charset="0"/>
                          <a:ea typeface="游ゴシック" pitchFamily="34" charset="-122"/>
                          <a:cs typeface="游ゴシック" pitchFamily="34" charset="-120"/>
                        </a:rPr>
                        <a:t>内容</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713232">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① 収集</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自社／競合ブランドのX投稿を12ヶ月分収集。#PR・#AD、キャンペーン応募、公式メンション、アフィリエイト、URL付き投稿を収集時に除外</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713232">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② クリーニング</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期間別の層化比例ランダムサンプリング後、bot・公式アカウント・重複・同一ユーザー15件以上の投稿・関連行動との非一致・ネガティブ言及を除外し、分析対象を決定</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960120">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③ CEPs特定・集計</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南オーストラリア大学 ジェニー・ロマニウク氏の「W'sフレームワーク」（When／Where／With whom／With what／While／Why／How feeling）で文脈を抽出し、状況・体験価値ごとに最大24種まで整理。複数の生成AI処理＋アナリストの妥当性チェックで全投稿を集計</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713232">
                <a:tc>
                  <a:txBody>
                    <a:bodyPr/>
                    <a:lstStyle/>
                    <a:p>
                      <a:pPr algn="ctr" indent="0" marL="0">
                        <a:buNone/>
                      </a:pPr>
                      <a:r>
                        <a:rPr lang="en-US" sz="1100" b="1" dirty="0">
                          <a:solidFill>
                            <a:srgbClr val="333333"/>
                          </a:solidFill>
                          <a:latin typeface="游ゴシック" pitchFamily="34" charset="0"/>
                          <a:ea typeface="游ゴシック" pitchFamily="34" charset="-122"/>
                          <a:cs typeface="游ゴシック" pitchFamily="34" charset="-120"/>
                        </a:rPr>
                        <a:t>④ 診断</a:t>
                      </a:r>
                      <a:endParaRPr lang="en-US" sz="11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1000" dirty="0">
                          <a:solidFill>
                            <a:srgbClr val="404040"/>
                          </a:solidFill>
                          <a:latin typeface="游ゴシック" pitchFamily="34" charset="0"/>
                          <a:ea typeface="游ゴシック" pitchFamily="34" charset="-122"/>
                          <a:cs typeface="游ゴシック" pitchFamily="34" charset="-120"/>
                        </a:rPr>
                        <a:t>メンタルアドバンテージスコア＝（実測リンク数 − 期待リンク数）÷ サンプルサイズ × 100 で各ブランド×各CEPを数値化し、ブランド間で比較（Jenni Romaniuk教授提唱。読み方は次ページ）</a:t>
                      </a:r>
                      <a:endParaRPr lang="en-US" sz="10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Text 9"/>
          <p:cNvSpPr/>
          <p:nvPr/>
        </p:nvSpPr>
        <p:spPr>
          <a:xfrm>
            <a:off x="685800" y="603504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出所：アライドアーキテクツ社資料（本資料の各スコアはすべて上記手法による相対スコア）</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APPENDIX</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貴社限り</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補足：メンタルアドバンテージスコアの読み方</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本資料の「スコア」の正式名称。言及の量ではなく、言及がどのCEPに偏っているかを測る指標のため、規模の違うブランドを同じ土俵で比較できる（Jenni Romaniuk教授提唱）</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21</a:t>
            </a:r>
            <a:endParaRPr lang="en-US" sz="950" dirty="0"/>
          </a:p>
        </p:txBody>
      </p:sp>
      <p:sp>
        <p:nvSpPr>
          <p:cNvPr id="11" name="Text 9"/>
          <p:cNvSpPr/>
          <p:nvPr/>
        </p:nvSpPr>
        <p:spPr>
          <a:xfrm>
            <a:off x="685800" y="2331720"/>
            <a:ext cx="5257800"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算出方法</a:t>
            </a:r>
            <a:endParaRPr lang="en-US" sz="1200" dirty="0"/>
          </a:p>
        </p:txBody>
      </p:sp>
      <p:sp>
        <p:nvSpPr>
          <p:cNvPr id="12" name="Shape 10"/>
          <p:cNvSpPr/>
          <p:nvPr/>
        </p:nvSpPr>
        <p:spPr>
          <a:xfrm>
            <a:off x="685800" y="2660904"/>
            <a:ext cx="5257800" cy="0"/>
          </a:xfrm>
          <a:prstGeom prst="line">
            <a:avLst/>
          </a:prstGeom>
          <a:noFill/>
          <a:ln w="12700">
            <a:solidFill>
              <a:srgbClr val="333333"/>
            </a:solidFill>
            <a:prstDash val="solid"/>
          </a:ln>
        </p:spPr>
      </p:sp>
      <p:sp>
        <p:nvSpPr>
          <p:cNvPr id="13" name="Shape 11"/>
          <p:cNvSpPr/>
          <p:nvPr/>
        </p:nvSpPr>
        <p:spPr>
          <a:xfrm>
            <a:off x="685800" y="2743200"/>
            <a:ext cx="5257800" cy="777240"/>
          </a:xfrm>
          <a:prstGeom prst="roundRect">
            <a:avLst>
              <a:gd name="adj" fmla="val 9412"/>
            </a:avLst>
          </a:prstGeom>
          <a:solidFill>
            <a:srgbClr val="EAF4F8"/>
          </a:solidFill>
          <a:ln/>
        </p:spPr>
      </p:sp>
      <p:sp>
        <p:nvSpPr>
          <p:cNvPr id="14" name="Text 12"/>
          <p:cNvSpPr/>
          <p:nvPr/>
        </p:nvSpPr>
        <p:spPr>
          <a:xfrm>
            <a:off x="914400" y="2743200"/>
            <a:ext cx="4800600" cy="777240"/>
          </a:xfrm>
          <a:prstGeom prst="rect">
            <a:avLst/>
          </a:prstGeom>
          <a:noFill/>
          <a:ln/>
        </p:spPr>
        <p:txBody>
          <a:bodyPr wrap="square" lIns="0" tIns="0" rIns="0" bIns="0" rtlCol="0" anchor="ctr"/>
          <a:lstStyle/>
          <a:p>
            <a:pPr indent="0" marL="0">
              <a:spcAft>
                <a:spcPts val="300"/>
              </a:spcAft>
              <a:buNone/>
            </a:pPr>
            <a:r>
              <a:rPr lang="en-US" sz="1100" b="1" dirty="0">
                <a:solidFill>
                  <a:srgbClr val="17828F"/>
                </a:solidFill>
                <a:latin typeface="游ゴシック" pitchFamily="34" charset="0"/>
                <a:ea typeface="游ゴシック" pitchFamily="34" charset="-122"/>
                <a:cs typeface="游ゴシック" pitchFamily="34" charset="-120"/>
              </a:rPr>
              <a:t>スコア ＝（実測リンク数 − 期待リンク数）÷ サンプルサイズ × 100</a:t>
            </a:r>
            <a:endParaRPr lang="en-US" sz="1100" dirty="0"/>
          </a:p>
          <a:p>
            <a:pPr indent="0" marL="0">
              <a:buNone/>
            </a:pPr>
            <a:r>
              <a:rPr lang="en-US" sz="1000" dirty="0">
                <a:solidFill>
                  <a:srgbClr val="404040"/>
                </a:solidFill>
                <a:latin typeface="游ゴシック" pitchFamily="34" charset="0"/>
                <a:ea typeface="游ゴシック" pitchFamily="34" charset="-122"/>
                <a:cs typeface="游ゴシック" pitchFamily="34" charset="-120"/>
              </a:rPr>
              <a:t>期待リンク数 ＝ 自社の言及数 × その場面の話題シェア</a:t>
            </a:r>
            <a:endParaRPr lang="en-US" sz="1100" dirty="0"/>
          </a:p>
        </p:txBody>
      </p:sp>
      <p:sp>
        <p:nvSpPr>
          <p:cNvPr id="15" name="Text 13"/>
          <p:cNvSpPr/>
          <p:nvPr/>
        </p:nvSpPr>
        <p:spPr>
          <a:xfrm>
            <a:off x="685800" y="3703320"/>
            <a:ext cx="5257800" cy="1051560"/>
          </a:xfrm>
          <a:prstGeom prst="rect">
            <a:avLst/>
          </a:prstGeom>
          <a:noFill/>
          <a:ln/>
        </p:spPr>
        <p:txBody>
          <a:bodyPr wrap="square" lIns="0" tIns="0" rIns="0" bIns="0" rtlCol="0" anchor="ctr"/>
          <a:lstStyle/>
          <a:p>
            <a:pPr marL="152400" indent="-152400">
              <a:lnSpc>
                <a:spcPts val="1500"/>
              </a:lnSpc>
              <a:spcAft>
                <a:spcPts val="600"/>
              </a:spcAft>
              <a:buSzPct val="100000"/>
              <a:buChar char="●"/>
            </a:pPr>
            <a:r>
              <a:rPr lang="en-US" sz="1000" dirty="0">
                <a:solidFill>
                  <a:srgbClr val="404040"/>
                </a:solidFill>
                <a:latin typeface="游ゴシック" pitchFamily="34" charset="0"/>
                <a:ea typeface="游ゴシック" pitchFamily="34" charset="-122"/>
                <a:cs typeface="游ゴシック" pitchFamily="34" charset="-120"/>
              </a:rPr>
              <a:t>全ブランドを同一件数（例：1,000件）に換算してから算出 ── 母数の差を消す</a:t>
            </a:r>
            <a:endParaRPr lang="en-US" sz="1000" dirty="0"/>
          </a:p>
          <a:p>
            <a:pPr marL="152400" indent="-152400">
              <a:lnSpc>
                <a:spcPts val="1500"/>
              </a:lnSpc>
              <a:spcAft>
                <a:spcPts val="600"/>
              </a:spcAft>
              <a:buSzPct val="100000"/>
              <a:buChar char="●"/>
            </a:pPr>
            <a:r>
              <a:rPr lang="en-US" sz="1000" dirty="0">
                <a:solidFill>
                  <a:srgbClr val="404040"/>
                </a:solidFill>
                <a:latin typeface="游ゴシック" pitchFamily="34" charset="0"/>
                <a:ea typeface="游ゴシック" pitchFamily="34" charset="-122"/>
                <a:cs typeface="游ゴシック" pitchFamily="34" charset="-120"/>
              </a:rPr>
              <a:t>単位は件数ではなく「言及構成比のポイント差」（1ポイント＝構成比1%分）</a:t>
            </a:r>
            <a:endParaRPr lang="en-US" sz="1000" dirty="0"/>
          </a:p>
          <a:p>
            <a:pPr marL="152400" indent="-152400">
              <a:lnSpc>
                <a:spcPts val="1500"/>
              </a:lnSpc>
              <a:spcAft>
                <a:spcPts val="600"/>
              </a:spcAft>
              <a:buSzPct val="100000"/>
              <a:buChar char="●"/>
            </a:pPr>
            <a:r>
              <a:rPr lang="en-US" sz="1000" dirty="0">
                <a:solidFill>
                  <a:srgbClr val="404040"/>
                </a:solidFill>
                <a:latin typeface="游ゴシック" pitchFamily="34" charset="0"/>
                <a:ea typeface="游ゴシック" pitchFamily="34" charset="-122"/>
                <a:cs typeface="游ゴシック" pitchFamily="34" charset="-120"/>
              </a:rPr>
              <a:t>期待値の算出はカイ二乗検定の期待度数と同じロジック</a:t>
            </a:r>
            <a:endParaRPr lang="en-US" sz="1000" dirty="0"/>
          </a:p>
        </p:txBody>
      </p:sp>
      <p:sp>
        <p:nvSpPr>
          <p:cNvPr id="16" name="Text 14"/>
          <p:cNvSpPr/>
          <p:nvPr/>
        </p:nvSpPr>
        <p:spPr>
          <a:xfrm>
            <a:off x="685800" y="4846320"/>
            <a:ext cx="5257800"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目安</a:t>
            </a:r>
            <a:endParaRPr lang="en-US" sz="1200" dirty="0"/>
          </a:p>
        </p:txBody>
      </p:sp>
      <p:sp>
        <p:nvSpPr>
          <p:cNvPr id="17" name="Shape 15"/>
          <p:cNvSpPr/>
          <p:nvPr/>
        </p:nvSpPr>
        <p:spPr>
          <a:xfrm>
            <a:off x="685800" y="5175504"/>
            <a:ext cx="5257800" cy="0"/>
          </a:xfrm>
          <a:prstGeom prst="line">
            <a:avLst/>
          </a:prstGeom>
          <a:noFill/>
          <a:ln w="12700">
            <a:solidFill>
              <a:srgbClr val="333333"/>
            </a:solidFill>
            <a:prstDash val="solid"/>
          </a:ln>
        </p:spPr>
      </p:sp>
      <p:sp>
        <p:nvSpPr>
          <p:cNvPr id="18" name="Shape 16"/>
          <p:cNvSpPr/>
          <p:nvPr/>
        </p:nvSpPr>
        <p:spPr>
          <a:xfrm>
            <a:off x="685800" y="5257800"/>
            <a:ext cx="1737360" cy="566928"/>
          </a:xfrm>
          <a:prstGeom prst="rect">
            <a:avLst/>
          </a:prstGeom>
          <a:solidFill>
            <a:srgbClr val="EFB3B3"/>
          </a:solidFill>
          <a:ln w="6350">
            <a:solidFill>
              <a:srgbClr val="BFBFBF"/>
            </a:solidFill>
            <a:prstDash val="solid"/>
          </a:ln>
        </p:spPr>
      </p:sp>
      <p:sp>
        <p:nvSpPr>
          <p:cNvPr id="19" name="Text 17"/>
          <p:cNvSpPr/>
          <p:nvPr/>
        </p:nvSpPr>
        <p:spPr>
          <a:xfrm>
            <a:off x="758952" y="5257800"/>
            <a:ext cx="1591056" cy="566928"/>
          </a:xfrm>
          <a:prstGeom prst="rect">
            <a:avLst/>
          </a:prstGeom>
          <a:noFill/>
          <a:ln/>
        </p:spPr>
        <p:txBody>
          <a:bodyPr wrap="square" lIns="0" tIns="0" rIns="0" bIns="0" rtlCol="0" anchor="ctr"/>
          <a:lstStyle/>
          <a:p>
            <a:pPr algn="ctr" indent="0" marL="0">
              <a:lnSpc>
                <a:spcPts val="1100"/>
              </a:lnSpc>
              <a:buNone/>
            </a:pPr>
            <a:r>
              <a:rPr lang="en-US" sz="1000" b="1" dirty="0">
                <a:solidFill>
                  <a:srgbClr val="333333"/>
                </a:solidFill>
                <a:latin typeface="游ゴシック" pitchFamily="34" charset="0"/>
                <a:ea typeface="游ゴシック" pitchFamily="34" charset="-122"/>
                <a:cs typeface="游ゴシック" pitchFamily="34" charset="-120"/>
              </a:rPr>
              <a:t>−5未満</a:t>
            </a:r>
            <a:endParaRPr lang="en-US" sz="1000" dirty="0"/>
          </a:p>
          <a:p>
            <a:pPr algn="ctr" indent="0" marL="0">
              <a:lnSpc>
                <a:spcPts val="1100"/>
              </a:lnSpc>
              <a:buNone/>
            </a:pPr>
            <a:r>
              <a:rPr lang="en-US" sz="800" dirty="0">
                <a:solidFill>
                  <a:srgbClr val="333333"/>
                </a:solidFill>
                <a:latin typeface="游ゴシック" pitchFamily="34" charset="0"/>
                <a:ea typeface="游ゴシック" pitchFamily="34" charset="-122"/>
                <a:cs typeface="游ゴシック" pitchFamily="34" charset="-120"/>
              </a:rPr>
              <a:t>その場面で思いつかれにくい</a:t>
            </a:r>
            <a:endParaRPr lang="en-US" sz="1000" dirty="0"/>
          </a:p>
        </p:txBody>
      </p:sp>
      <p:sp>
        <p:nvSpPr>
          <p:cNvPr id="20" name="Shape 18"/>
          <p:cNvSpPr/>
          <p:nvPr/>
        </p:nvSpPr>
        <p:spPr>
          <a:xfrm>
            <a:off x="2441448" y="5257800"/>
            <a:ext cx="1737360" cy="566928"/>
          </a:xfrm>
          <a:prstGeom prst="rect">
            <a:avLst/>
          </a:prstGeom>
          <a:solidFill>
            <a:srgbClr val="F7F5F1"/>
          </a:solidFill>
          <a:ln w="6350">
            <a:solidFill>
              <a:srgbClr val="BFBFBF"/>
            </a:solidFill>
            <a:prstDash val="solid"/>
          </a:ln>
        </p:spPr>
      </p:sp>
      <p:sp>
        <p:nvSpPr>
          <p:cNvPr id="21" name="Text 19"/>
          <p:cNvSpPr/>
          <p:nvPr/>
        </p:nvSpPr>
        <p:spPr>
          <a:xfrm>
            <a:off x="2514600" y="5257800"/>
            <a:ext cx="1591056" cy="566928"/>
          </a:xfrm>
          <a:prstGeom prst="rect">
            <a:avLst/>
          </a:prstGeom>
          <a:noFill/>
          <a:ln/>
        </p:spPr>
        <p:txBody>
          <a:bodyPr wrap="square" lIns="0" tIns="0" rIns="0" bIns="0" rtlCol="0" anchor="ctr"/>
          <a:lstStyle/>
          <a:p>
            <a:pPr algn="ctr" indent="0" marL="0">
              <a:lnSpc>
                <a:spcPts val="1100"/>
              </a:lnSpc>
              <a:buNone/>
            </a:pPr>
            <a:r>
              <a:rPr lang="en-US" sz="1000" b="1" dirty="0">
                <a:solidFill>
                  <a:srgbClr val="333333"/>
                </a:solidFill>
                <a:latin typeface="游ゴシック" pitchFamily="34" charset="0"/>
                <a:ea typeface="游ゴシック" pitchFamily="34" charset="-122"/>
                <a:cs typeface="游ゴシック" pitchFamily="34" charset="-120"/>
              </a:rPr>
              <a:t>−5 〜 +5</a:t>
            </a:r>
            <a:endParaRPr lang="en-US" sz="1000" dirty="0"/>
          </a:p>
          <a:p>
            <a:pPr algn="ctr" indent="0" marL="0">
              <a:lnSpc>
                <a:spcPts val="1100"/>
              </a:lnSpc>
              <a:buNone/>
            </a:pPr>
            <a:r>
              <a:rPr lang="en-US" sz="800" dirty="0">
                <a:solidFill>
                  <a:srgbClr val="333333"/>
                </a:solidFill>
                <a:latin typeface="游ゴシック" pitchFamily="34" charset="0"/>
                <a:ea typeface="游ゴシック" pitchFamily="34" charset="-122"/>
                <a:cs typeface="游ゴシック" pitchFamily="34" charset="-120"/>
              </a:rPr>
              <a:t>平均的な水準</a:t>
            </a:r>
            <a:endParaRPr lang="en-US" sz="1000" dirty="0"/>
          </a:p>
        </p:txBody>
      </p:sp>
      <p:sp>
        <p:nvSpPr>
          <p:cNvPr id="22" name="Shape 20"/>
          <p:cNvSpPr/>
          <p:nvPr/>
        </p:nvSpPr>
        <p:spPr>
          <a:xfrm>
            <a:off x="4197096" y="5257800"/>
            <a:ext cx="1737360" cy="566928"/>
          </a:xfrm>
          <a:prstGeom prst="rect">
            <a:avLst/>
          </a:prstGeom>
          <a:solidFill>
            <a:srgbClr val="AFD9B2"/>
          </a:solidFill>
          <a:ln w="6350">
            <a:solidFill>
              <a:srgbClr val="BFBFBF"/>
            </a:solidFill>
            <a:prstDash val="solid"/>
          </a:ln>
        </p:spPr>
      </p:sp>
      <p:sp>
        <p:nvSpPr>
          <p:cNvPr id="23" name="Text 21"/>
          <p:cNvSpPr/>
          <p:nvPr/>
        </p:nvSpPr>
        <p:spPr>
          <a:xfrm>
            <a:off x="4270248" y="5257800"/>
            <a:ext cx="1591056" cy="566928"/>
          </a:xfrm>
          <a:prstGeom prst="rect">
            <a:avLst/>
          </a:prstGeom>
          <a:noFill/>
          <a:ln/>
        </p:spPr>
        <p:txBody>
          <a:bodyPr wrap="square" lIns="0" tIns="0" rIns="0" bIns="0" rtlCol="0" anchor="ctr"/>
          <a:lstStyle/>
          <a:p>
            <a:pPr algn="ctr" indent="0" marL="0">
              <a:lnSpc>
                <a:spcPts val="1100"/>
              </a:lnSpc>
              <a:buNone/>
            </a:pPr>
            <a:r>
              <a:rPr lang="en-US" sz="1000" b="1" dirty="0">
                <a:solidFill>
                  <a:srgbClr val="333333"/>
                </a:solidFill>
                <a:latin typeface="游ゴシック" pitchFamily="34" charset="0"/>
                <a:ea typeface="游ゴシック" pitchFamily="34" charset="-122"/>
                <a:cs typeface="游ゴシック" pitchFamily="34" charset="-120"/>
              </a:rPr>
              <a:t>+5超</a:t>
            </a:r>
            <a:endParaRPr lang="en-US" sz="1000" dirty="0"/>
          </a:p>
          <a:p>
            <a:pPr algn="ctr" indent="0" marL="0">
              <a:lnSpc>
                <a:spcPts val="1100"/>
              </a:lnSpc>
              <a:buNone/>
            </a:pPr>
            <a:r>
              <a:rPr lang="en-US" sz="800" dirty="0">
                <a:solidFill>
                  <a:srgbClr val="333333"/>
                </a:solidFill>
                <a:latin typeface="游ゴシック" pitchFamily="34" charset="0"/>
                <a:ea typeface="游ゴシック" pitchFamily="34" charset="-122"/>
                <a:cs typeface="游ゴシック" pitchFamily="34" charset="-120"/>
              </a:rPr>
              <a:t>思いつかれやすい</a:t>
            </a:r>
            <a:endParaRPr lang="en-US" sz="1000" dirty="0"/>
          </a:p>
        </p:txBody>
      </p:sp>
      <p:sp>
        <p:nvSpPr>
          <p:cNvPr id="24" name="Text 22"/>
          <p:cNvSpPr/>
          <p:nvPr/>
        </p:nvSpPr>
        <p:spPr>
          <a:xfrm>
            <a:off x="685800" y="5897880"/>
            <a:ext cx="5257800" cy="274320"/>
          </a:xfrm>
          <a:prstGeom prst="rect">
            <a:avLst/>
          </a:prstGeom>
          <a:noFill/>
          <a:ln/>
        </p:spPr>
        <p:txBody>
          <a:bodyPr wrap="square" lIns="0" tIns="0" rIns="0" bIns="0" rtlCol="0" anchor="ctr"/>
          <a:lstStyle/>
          <a:p>
            <a:pPr indent="0" marL="0">
              <a:buNone/>
            </a:pPr>
            <a:r>
              <a:rPr lang="en-US" sz="1000" b="1" dirty="0">
                <a:solidFill>
                  <a:srgbClr val="C00000"/>
                </a:solidFill>
                <a:latin typeface="游ゴシック" pitchFamily="34" charset="0"/>
                <a:ea typeface="游ゴシック" pitchFamily="34" charset="-122"/>
                <a:cs typeface="游ゴシック" pitchFamily="34" charset="-120"/>
              </a:rPr>
              <a:t>→ コアラのマーチ +9.57 は「突出」の水準</a:t>
            </a:r>
            <a:endParaRPr lang="en-US" sz="1000" dirty="0"/>
          </a:p>
        </p:txBody>
      </p:sp>
      <p:sp>
        <p:nvSpPr>
          <p:cNvPr id="25" name="Text 23"/>
          <p:cNvSpPr/>
          <p:nvPr/>
        </p:nvSpPr>
        <p:spPr>
          <a:xfrm>
            <a:off x="6309360" y="2331720"/>
            <a:ext cx="5193792"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読み違えやすい3点</a:t>
            </a:r>
            <a:endParaRPr lang="en-US" sz="1200" dirty="0"/>
          </a:p>
        </p:txBody>
      </p:sp>
      <p:sp>
        <p:nvSpPr>
          <p:cNvPr id="26" name="Shape 24"/>
          <p:cNvSpPr/>
          <p:nvPr/>
        </p:nvSpPr>
        <p:spPr>
          <a:xfrm>
            <a:off x="6309360" y="2660904"/>
            <a:ext cx="5193792" cy="0"/>
          </a:xfrm>
          <a:prstGeom prst="line">
            <a:avLst/>
          </a:prstGeom>
          <a:noFill/>
          <a:ln w="12700">
            <a:solidFill>
              <a:srgbClr val="333333"/>
            </a:solidFill>
            <a:prstDash val="solid"/>
          </a:ln>
        </p:spPr>
      </p:sp>
      <p:sp>
        <p:nvSpPr>
          <p:cNvPr id="27" name="Text 25"/>
          <p:cNvSpPr/>
          <p:nvPr/>
        </p:nvSpPr>
        <p:spPr>
          <a:xfrm>
            <a:off x="6309360" y="2743200"/>
            <a:ext cx="5193792" cy="274320"/>
          </a:xfrm>
          <a:prstGeom prst="rect">
            <a:avLst/>
          </a:prstGeom>
          <a:noFill/>
          <a:ln/>
        </p:spPr>
        <p:txBody>
          <a:bodyPr wrap="square" lIns="0" tIns="0" rIns="0" bIns="0" rtlCol="0" anchor="ctr"/>
          <a:lstStyle/>
          <a:p>
            <a:pPr indent="0" marL="0">
              <a:buNone/>
            </a:pPr>
            <a:r>
              <a:rPr lang="en-US" sz="1100" b="1" dirty="0">
                <a:solidFill>
                  <a:srgbClr val="333333"/>
                </a:solidFill>
                <a:latin typeface="游ゴシック" pitchFamily="34" charset="0"/>
                <a:ea typeface="游ゴシック" pitchFamily="34" charset="-122"/>
                <a:cs typeface="游ゴシック" pitchFamily="34" charset="-120"/>
              </a:rPr>
              <a:t>① 合計は必ずゼロ</a:t>
            </a:r>
            <a:endParaRPr lang="en-US" sz="1100" dirty="0"/>
          </a:p>
        </p:txBody>
      </p:sp>
      <p:sp>
        <p:nvSpPr>
          <p:cNvPr id="28" name="Text 26"/>
          <p:cNvSpPr/>
          <p:nvPr/>
        </p:nvSpPr>
        <p:spPr>
          <a:xfrm>
            <a:off x="6309360" y="3017520"/>
            <a:ext cx="5193792" cy="566928"/>
          </a:xfrm>
          <a:prstGeom prst="rect">
            <a:avLst/>
          </a:prstGeom>
          <a:noFill/>
          <a:ln/>
        </p:spPr>
        <p:txBody>
          <a:bodyPr wrap="square" lIns="0" tIns="0" rIns="0" bIns="0" rtlCol="0" anchor="ctr"/>
          <a:lstStyle/>
          <a:p>
            <a:pPr indent="0" marL="0">
              <a:lnSpc>
                <a:spcPts val="1400"/>
              </a:lnSpc>
              <a:buNone/>
            </a:pPr>
            <a:r>
              <a:rPr lang="en-US" sz="950" dirty="0">
                <a:solidFill>
                  <a:srgbClr val="808080"/>
                </a:solidFill>
                <a:latin typeface="游ゴシック" pitchFamily="34" charset="0"/>
                <a:ea typeface="游ゴシック" pitchFamily="34" charset="-122"/>
                <a:cs typeface="游ゴシック" pitchFamily="34" charset="-120"/>
              </a:rPr>
              <a:t>言及100%の配分なので全CEPでプラスは構造上ありえない。どこかで勝てば、どこかは必ずマイナスに振れる</a:t>
            </a:r>
            <a:endParaRPr lang="en-US" sz="950" dirty="0"/>
          </a:p>
        </p:txBody>
      </p:sp>
      <p:sp>
        <p:nvSpPr>
          <p:cNvPr id="29" name="Text 27"/>
          <p:cNvSpPr/>
          <p:nvPr/>
        </p:nvSpPr>
        <p:spPr>
          <a:xfrm>
            <a:off x="6309360" y="3675888"/>
            <a:ext cx="5193792" cy="274320"/>
          </a:xfrm>
          <a:prstGeom prst="rect">
            <a:avLst/>
          </a:prstGeom>
          <a:noFill/>
          <a:ln/>
        </p:spPr>
        <p:txBody>
          <a:bodyPr wrap="square" lIns="0" tIns="0" rIns="0" bIns="0" rtlCol="0" anchor="ctr"/>
          <a:lstStyle/>
          <a:p>
            <a:pPr indent="0" marL="0">
              <a:buNone/>
            </a:pPr>
            <a:r>
              <a:rPr lang="en-US" sz="1100" b="1" dirty="0">
                <a:solidFill>
                  <a:srgbClr val="333333"/>
                </a:solidFill>
                <a:latin typeface="游ゴシック" pitchFamily="34" charset="0"/>
                <a:ea typeface="游ゴシック" pitchFamily="34" charset="-122"/>
                <a:cs typeface="游ゴシック" pitchFamily="34" charset="-120"/>
              </a:rPr>
              <a:t>② マイナス＝弱いとは限らない</a:t>
            </a:r>
            <a:endParaRPr lang="en-US" sz="1100" dirty="0"/>
          </a:p>
        </p:txBody>
      </p:sp>
      <p:sp>
        <p:nvSpPr>
          <p:cNvPr id="30" name="Text 28"/>
          <p:cNvSpPr/>
          <p:nvPr/>
        </p:nvSpPr>
        <p:spPr>
          <a:xfrm>
            <a:off x="6309360" y="3950208"/>
            <a:ext cx="5193792" cy="566928"/>
          </a:xfrm>
          <a:prstGeom prst="rect">
            <a:avLst/>
          </a:prstGeom>
          <a:noFill/>
          <a:ln/>
        </p:spPr>
        <p:txBody>
          <a:bodyPr wrap="square" lIns="0" tIns="0" rIns="0" bIns="0" rtlCol="0" anchor="ctr"/>
          <a:lstStyle/>
          <a:p>
            <a:pPr indent="0" marL="0">
              <a:lnSpc>
                <a:spcPts val="1400"/>
              </a:lnSpc>
              <a:buNone/>
            </a:pPr>
            <a:r>
              <a:rPr lang="en-US" sz="950" dirty="0">
                <a:solidFill>
                  <a:srgbClr val="808080"/>
                </a:solidFill>
                <a:latin typeface="游ゴシック" pitchFamily="34" charset="0"/>
                <a:ea typeface="游ゴシック" pitchFamily="34" charset="-122"/>
                <a:cs typeface="游ゴシック" pitchFamily="34" charset="-120"/>
              </a:rPr>
              <a:t>想起が他のCEPに強く寄っているだけの場合もある。狙って捨てている場面なら想定どおりの結果</a:t>
            </a:r>
            <a:endParaRPr lang="en-US" sz="950" dirty="0"/>
          </a:p>
        </p:txBody>
      </p:sp>
      <p:sp>
        <p:nvSpPr>
          <p:cNvPr id="31" name="Text 29"/>
          <p:cNvSpPr/>
          <p:nvPr/>
        </p:nvSpPr>
        <p:spPr>
          <a:xfrm>
            <a:off x="6309360" y="4608576"/>
            <a:ext cx="5193792" cy="274320"/>
          </a:xfrm>
          <a:prstGeom prst="rect">
            <a:avLst/>
          </a:prstGeom>
          <a:noFill/>
          <a:ln/>
        </p:spPr>
        <p:txBody>
          <a:bodyPr wrap="square" lIns="0" tIns="0" rIns="0" bIns="0" rtlCol="0" anchor="ctr"/>
          <a:lstStyle/>
          <a:p>
            <a:pPr indent="0" marL="0">
              <a:buNone/>
            </a:pPr>
            <a:r>
              <a:rPr lang="en-US" sz="1100" b="1" dirty="0">
                <a:solidFill>
                  <a:srgbClr val="333333"/>
                </a:solidFill>
                <a:latin typeface="游ゴシック" pitchFamily="34" charset="0"/>
                <a:ea typeface="游ゴシック" pitchFamily="34" charset="-122"/>
                <a:cs typeface="游ゴシック" pitchFamily="34" charset="-120"/>
              </a:rPr>
              <a:t>③ スコアの高さと市場の強さは別物</a:t>
            </a:r>
            <a:endParaRPr lang="en-US" sz="1100" dirty="0"/>
          </a:p>
        </p:txBody>
      </p:sp>
      <p:sp>
        <p:nvSpPr>
          <p:cNvPr id="32" name="Text 30"/>
          <p:cNvSpPr/>
          <p:nvPr/>
        </p:nvSpPr>
        <p:spPr>
          <a:xfrm>
            <a:off x="6309360" y="4882896"/>
            <a:ext cx="5193792" cy="566928"/>
          </a:xfrm>
          <a:prstGeom prst="rect">
            <a:avLst/>
          </a:prstGeom>
          <a:noFill/>
          <a:ln/>
        </p:spPr>
        <p:txBody>
          <a:bodyPr wrap="square" lIns="0" tIns="0" rIns="0" bIns="0" rtlCol="0" anchor="ctr"/>
          <a:lstStyle/>
          <a:p>
            <a:pPr indent="0" marL="0">
              <a:lnSpc>
                <a:spcPts val="1400"/>
              </a:lnSpc>
              <a:buNone/>
            </a:pPr>
            <a:r>
              <a:rPr lang="en-US" sz="950" dirty="0">
                <a:solidFill>
                  <a:srgbClr val="808080"/>
                </a:solidFill>
                <a:latin typeface="游ゴシック" pitchFamily="34" charset="0"/>
                <a:ea typeface="游ゴシック" pitchFamily="34" charset="-122"/>
                <a:cs typeface="游ゴシック" pitchFamily="34" charset="-120"/>
              </a:rPr>
              <a:t>ニッチでも特定CEPで高スコアは取れる。打ち手は必ずそのCEPの全体規模（言及数）とセットで判断する</a:t>
            </a:r>
            <a:endParaRPr lang="en-US" sz="950" dirty="0"/>
          </a:p>
        </p:txBody>
      </p:sp>
      <p:sp>
        <p:nvSpPr>
          <p:cNvPr id="33" name="Text 31"/>
          <p:cNvSpPr/>
          <p:nvPr/>
        </p:nvSpPr>
        <p:spPr>
          <a:xfrm>
            <a:off x="6309360" y="5943600"/>
            <a:ext cx="519379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出所：Kaname.ax 分析資料「メンタルアドバンテージスコアについて」p.27（指標提唱：Jenni Romaniuk 教授／南オーストラリア大学アレンバーグ・バス研究所）</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APPENDIX</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貴社限り</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データ収集条件（2025/8/1 – 2026/7/31）</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3カテゴリー×12ブランド。ノイズ除外・サンプリング後、各ブランド最大1,000件を分析対象とした</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22</a:t>
            </a:r>
            <a:endParaRPr lang="en-US" sz="9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85800" y="2148840"/>
          <a:ext cx="10817352" cy="914400"/>
        </p:xfrm>
        <a:graphic>
          <a:graphicData uri="http://schemas.openxmlformats.org/drawingml/2006/table">
            <a:tbl>
              <a:tblPr/>
              <a:tblGrid>
                <a:gridCol w="2011680"/>
                <a:gridCol w="3657600"/>
                <a:gridCol w="2011680"/>
                <a:gridCol w="3136392"/>
              </a:tblGrid>
              <a:tr h="274320">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カテゴリー</a:t>
                      </a: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ブランド</a:t>
                      </a: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収集件数</a:t>
                      </a: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ノイズ除外・サンプリング後の分析対象件数</a:t>
                      </a: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246888">
                <a:tc>
                  <a:txBody>
                    <a:bodyPr/>
                    <a:lstStyle/>
                    <a:p>
                      <a:pPr algn="ctr" indent="0" marL="0">
                        <a:buNone/>
                      </a:pPr>
                      <a:r>
                        <a:rPr lang="en-US" sz="900" b="1" dirty="0">
                          <a:solidFill>
                            <a:srgbClr val="333333"/>
                          </a:solidFill>
                          <a:latin typeface="游ゴシック" pitchFamily="34" charset="0"/>
                          <a:ea typeface="游ゴシック" pitchFamily="34" charset="-122"/>
                          <a:cs typeface="游ゴシック" pitchFamily="34" charset="-120"/>
                        </a:rPr>
                        <a:t>チョコレート</a:t>
                      </a: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ガーナ</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3,069</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1,000</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indent="0" marL="0">
                        <a:buNone/>
                      </a:pP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明治ミルクチョコレート</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1,763</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1,000</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indent="0" marL="0">
                        <a:buNone/>
                      </a:pP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meiji THE Chocolate</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473</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89</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indent="0" marL="0">
                        <a:buNone/>
                      </a:pP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DARS</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252</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190</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algn="ctr" indent="0" marL="0">
                        <a:buNone/>
                      </a:pPr>
                      <a:r>
                        <a:rPr lang="en-US" sz="900" b="1" dirty="0">
                          <a:solidFill>
                            <a:srgbClr val="333333"/>
                          </a:solidFill>
                          <a:latin typeface="游ゴシック" pitchFamily="34" charset="0"/>
                          <a:ea typeface="游ゴシック" pitchFamily="34" charset="-122"/>
                          <a:cs typeface="游ゴシック" pitchFamily="34" charset="-120"/>
                        </a:rPr>
                        <a:t>ビスケット菓子</a:t>
                      </a: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コアラのマーチ</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7,602</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1,000</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indent="0" marL="0">
                        <a:buNone/>
                      </a:pP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ポッキー</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7,199</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1,000</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indent="0" marL="0">
                        <a:buNone/>
                      </a:pP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たけのこの里</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4,972</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1,000</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indent="0" marL="0">
                        <a:buNone/>
                      </a:pP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アルフォート</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6,074</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1,000</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algn="ctr" indent="0" marL="0">
                        <a:buNone/>
                      </a:pPr>
                      <a:r>
                        <a:rPr lang="en-US" sz="900" b="1" dirty="0">
                          <a:solidFill>
                            <a:srgbClr val="333333"/>
                          </a:solidFill>
                          <a:latin typeface="游ゴシック" pitchFamily="34" charset="0"/>
                          <a:ea typeface="游ゴシック" pitchFamily="34" charset="-122"/>
                          <a:cs typeface="游ゴシック" pitchFamily="34" charset="-120"/>
                        </a:rPr>
                        <a:t>アイス</a:t>
                      </a: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雪見だいふく</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24,867</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1,000</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indent="0" marL="0">
                        <a:buNone/>
                      </a:pP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ハーゲンダッツ</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9,822</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1,000</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indent="0" marL="0">
                        <a:buNone/>
                      </a:pP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ピノ</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5,390</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1,000</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46888">
                <a:tc>
                  <a:txBody>
                    <a:bodyPr/>
                    <a:lstStyle/>
                    <a:p>
                      <a:pPr indent="0" marL="0">
                        <a:buNone/>
                      </a:pPr>
                      <a:endParaRPr lang="en-US" sz="90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7F5F1"/>
                    </a:solidFill>
                  </a:tcPr>
                </a:tc>
                <a:tc>
                  <a:txBody>
                    <a:bodyPr/>
                    <a:lstStyle/>
                    <a:p>
                      <a:pPr indent="0" marL="0">
                        <a:buNone/>
                      </a:pPr>
                      <a:r>
                        <a:rPr lang="en-US" sz="950" dirty="0">
                          <a:solidFill>
                            <a:srgbClr val="404040"/>
                          </a:solidFill>
                          <a:latin typeface="游ゴシック" pitchFamily="34" charset="0"/>
                          <a:ea typeface="游ゴシック" pitchFamily="34" charset="-122"/>
                          <a:cs typeface="游ゴシック" pitchFamily="34" charset="-120"/>
                        </a:rPr>
                        <a:t>パルム</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3,195</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50" dirty="0">
                          <a:solidFill>
                            <a:srgbClr val="404040"/>
                          </a:solidFill>
                          <a:latin typeface="游ゴシック" pitchFamily="34" charset="0"/>
                          <a:ea typeface="游ゴシック" pitchFamily="34" charset="-122"/>
                          <a:cs typeface="游ゴシック" pitchFamily="34" charset="-120"/>
                        </a:rPr>
                        <a:t>1,000</a:t>
                      </a:r>
                      <a:endParaRPr lang="en-US" sz="950" dirty="0">
                        <a:latin typeface="游ゴシック" charset="0"/>
                        <a:ea typeface="游ゴシック" charset="0"/>
                        <a:cs typeface="游ゴシック" charset="0"/>
                      </a:endParaRPr>
                    </a:p>
                  </a:txBody>
                  <a:tcPr marL="32004" marR="32004" marT="32004" marB="3200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Text 9"/>
          <p:cNvSpPr/>
          <p:nvPr/>
        </p:nvSpPr>
        <p:spPr>
          <a:xfrm>
            <a:off x="685800" y="6144768"/>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出所：アライドアーキテクツ社資料。収集キーワード・除外条件の全文は元資料参照。ヒーローIP側（ウルトラマン等5IP）は市場件数ベースで比較</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APPENDIX</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貴社限り</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コアラのマーチ 競合比較（CEPsスコア全文）</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◎＝コアラのマーチが独占するCEPs。スコアの読み方はP.21参照</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23</a:t>
            </a:r>
            <a:endParaRPr lang="en-US" sz="9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817352" cy="914400"/>
        </p:xfrm>
        <a:graphic>
          <a:graphicData uri="http://schemas.openxmlformats.org/drawingml/2006/table">
            <a:tbl>
              <a:tblPr/>
              <a:tblGrid>
                <a:gridCol w="3200400"/>
                <a:gridCol w="960120"/>
                <a:gridCol w="777240"/>
                <a:gridCol w="960120"/>
                <a:gridCol w="914400"/>
                <a:gridCol w="621792"/>
                <a:gridCol w="3383280"/>
              </a:tblGrid>
              <a:tr h="310896">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状況のCEPs</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コアラのマーチ</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ポッキー</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たけのこの里</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アルフォート</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言及数</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 ウルトラマンの対応CEP</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384048">
                <a:tc>
                  <a:txBody>
                    <a:bodyPr/>
                    <a:lstStyle/>
                    <a:p>
                      <a:pPr indent="0" marL="0">
                        <a:buNone/>
                      </a:pPr>
                      <a:r>
                        <a:rPr lang="en-US" sz="900" b="1" dirty="0">
                          <a:solidFill>
                            <a:srgbClr val="C00000"/>
                          </a:solidFill>
                          <a:latin typeface="游ゴシック" pitchFamily="34" charset="0"/>
                          <a:ea typeface="游ゴシック" pitchFamily="34" charset="-122"/>
                          <a:cs typeface="游ゴシック" pitchFamily="34" charset="-120"/>
                        </a:rPr>
                        <a:t>◎ </a:t>
                      </a:r>
                      <a:pPr indent="0" marL="0">
                        <a:buNone/>
                      </a:pPr>
                      <a:r>
                        <a:rPr lang="en-US" sz="900" b="1" dirty="0">
                          <a:solidFill>
                            <a:srgbClr val="C00000"/>
                          </a:solidFill>
                          <a:latin typeface="游ゴシック" pitchFamily="34" charset="0"/>
                          <a:ea typeface="游ゴシック" pitchFamily="34" charset="-122"/>
                          <a:cs typeface="游ゴシック" pitchFamily="34" charset="-120"/>
                        </a:rPr>
                        <a:t>絵柄を楽しみながら食べたいとき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0F0"/>
                    </a:solidFill>
                  </a:tcPr>
                </a:tc>
                <a:tc>
                  <a:txBody>
                    <a:bodyPr/>
                    <a:lstStyle/>
                    <a:p>
                      <a:pPr algn="ctr" indent="0" marL="0">
                        <a:buNone/>
                      </a:pPr>
                      <a:r>
                        <a:rPr lang="en-US" sz="900" b="1" dirty="0">
                          <a:solidFill>
                            <a:srgbClr val="C00000"/>
                          </a:solidFill>
                          <a:latin typeface="游ゴシック" pitchFamily="34" charset="0"/>
                          <a:ea typeface="游ゴシック" pitchFamily="34" charset="-122"/>
                          <a:cs typeface="游ゴシック" pitchFamily="34" charset="-120"/>
                        </a:rPr>
                        <a:t>9.57</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-1.78</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-4.19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-3.6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366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800" dirty="0">
                          <a:solidFill>
                            <a:srgbClr val="C00000"/>
                          </a:solidFill>
                          <a:latin typeface="游ゴシック" pitchFamily="34" charset="0"/>
                          <a:ea typeface="游ゴシック" pitchFamily="34" charset="-122"/>
                          <a:cs typeface="游ゴシック" pitchFamily="34" charset="-120"/>
                        </a:rPr>
                        <a:t>「知的好奇心」+2.11／「展示・イベント参加」+1.43／通算資産2,500種</a:t>
                      </a: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indent="0" marL="0">
                        <a:buNone/>
                      </a:pPr>
                      <a:r>
                        <a:rPr lang="en-US" sz="900" b="1" dirty="0">
                          <a:solidFill>
                            <a:srgbClr val="C00000"/>
                          </a:solidFill>
                          <a:latin typeface="游ゴシック" pitchFamily="34" charset="0"/>
                          <a:ea typeface="游ゴシック" pitchFamily="34" charset="-122"/>
                          <a:cs typeface="游ゴシック" pitchFamily="34" charset="-120"/>
                        </a:rPr>
                        <a:t>◎ </a:t>
                      </a:r>
                      <a:pPr indent="0" marL="0">
                        <a:buNone/>
                      </a:pPr>
                      <a:r>
                        <a:rPr lang="en-US" sz="900" b="1" dirty="0">
                          <a:solidFill>
                            <a:srgbClr val="C00000"/>
                          </a:solidFill>
                          <a:latin typeface="游ゴシック" pitchFamily="34" charset="0"/>
                          <a:ea typeface="游ゴシック" pitchFamily="34" charset="-122"/>
                          <a:cs typeface="游ゴシック" pitchFamily="34" charset="-120"/>
                        </a:rPr>
                        <a:t>限定やコラボ商品を試したいとき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0F0"/>
                    </a:solidFill>
                  </a:tcPr>
                </a:tc>
                <a:tc>
                  <a:txBody>
                    <a:bodyPr/>
                    <a:lstStyle/>
                    <a:p>
                      <a:pPr algn="ctr" indent="0" marL="0">
                        <a:buNone/>
                      </a:pPr>
                      <a:r>
                        <a:rPr lang="en-US" sz="900" b="1" dirty="0">
                          <a:solidFill>
                            <a:srgbClr val="C00000"/>
                          </a:solidFill>
                          <a:latin typeface="游ゴシック" pitchFamily="34" charset="0"/>
                          <a:ea typeface="游ゴシック" pitchFamily="34" charset="-122"/>
                          <a:cs typeface="游ゴシック" pitchFamily="34" charset="-120"/>
                        </a:rPr>
                        <a:t>4.48</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-1.72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4.39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-7.15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738</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800" dirty="0">
                          <a:solidFill>
                            <a:srgbClr val="C00000"/>
                          </a:solidFill>
                          <a:latin typeface="游ゴシック" pitchFamily="34" charset="0"/>
                          <a:ea typeface="游ゴシック" pitchFamily="34" charset="-122"/>
                          <a:cs typeface="游ゴシック" pitchFamily="34" charset="-120"/>
                        </a:rPr>
                        <a:t>「コラボ情報にワクワク」+4.56</a:t>
                      </a: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懐かしさを感じたいとき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0.89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0.23</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0.25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-1.38</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117</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800" dirty="0">
                          <a:solidFill>
                            <a:srgbClr val="C00000"/>
                          </a:solidFill>
                          <a:latin typeface="游ゴシック" pitchFamily="34" charset="0"/>
                          <a:ea typeface="游ゴシック" pitchFamily="34" charset="-122"/>
                          <a:cs typeface="游ゴシック" pitchFamily="34" charset="-120"/>
                        </a:rPr>
                        <a:t>三世代IP・昭和平成令和</a:t>
                      </a: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まとめ買いやストックしておきたいとき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-0.11</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-2.82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-0.06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2.99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537</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誰かへのプレゼントや差し入れに使いたいとき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-0.59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0.82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-0.97</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0.74</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153</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動画やテレビを見ながら食べたいとき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-0.51</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2.03</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-0.14</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-1.38</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121</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仕事や勉強の休憩中に食べたいとき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-1.18</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0.17</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0.08</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0.93</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76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コーヒーやお酒と一緒に楽しみたいとき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-2.28</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-0.04</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0.17</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2.15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116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384048">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チョコとビスケットのバランスを楽しみたいとき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-2.43</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-0.35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1.12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1.65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136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Text 9"/>
          <p:cNvSpPr/>
          <p:nvPr/>
        </p:nvSpPr>
        <p:spPr>
          <a:xfrm>
            <a:off x="685800" y="612648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スコア＝メンタルアドバンテージスコア（0基準・±5が目安、正＝その場面で想起されやすい。読み方はP.21参照）。出所：アライドアーキテクツ社 VOC分析（X上の生活者投稿、2025/8–2026/7）</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APPENDIX</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貴社限り</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ウルトラマンIP 競合比較（対 他ヒーローIP）</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◎＝ウルトラマンが独占するCEPs。周年・コラボ・テンションの文脈で他IPを引き離す（スコアの読み方はP.21参照）</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24</a:t>
            </a:r>
            <a:endParaRPr lang="en-US" sz="9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85800" y="2286000"/>
          <a:ext cx="10817352" cy="914400"/>
        </p:xfrm>
        <a:graphic>
          <a:graphicData uri="http://schemas.openxmlformats.org/drawingml/2006/table">
            <a:tbl>
              <a:tblPr/>
              <a:tblGrid>
                <a:gridCol w="2926080"/>
                <a:gridCol w="914400"/>
                <a:gridCol w="914400"/>
                <a:gridCol w="914400"/>
                <a:gridCol w="731520"/>
                <a:gridCol w="960120"/>
                <a:gridCol w="621792"/>
                <a:gridCol w="2834640"/>
              </a:tblGrid>
              <a:tr h="365760">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状況のCEPs</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ウルトラマン</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仮面ライダー</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スーパー戦隊</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ゴジラ</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ドラゴンボール</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市場件数</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c>
                  <a:txBody>
                    <a:bodyPr/>
                    <a:lstStyle/>
                    <a:p>
                      <a:pPr algn="ctr" indent="0" marL="0">
                        <a:buNone/>
                      </a:pPr>
                      <a:r>
                        <a:rPr lang="en-US" sz="900" b="1" dirty="0">
                          <a:solidFill>
                            <a:srgbClr val="FFFFFF"/>
                          </a:solidFill>
                          <a:latin typeface="游ゴシック" pitchFamily="34" charset="0"/>
                          <a:ea typeface="游ゴシック" pitchFamily="34" charset="-122"/>
                          <a:cs typeface="游ゴシック" pitchFamily="34" charset="-120"/>
                        </a:rPr>
                        <a:t>→ 対応するブランド／位置づけ</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7828F"/>
                    </a:solidFill>
                  </a:tcPr>
                </a:tc>
              </a:tr>
              <a:tr h="457200">
                <a:tc>
                  <a:txBody>
                    <a:bodyPr/>
                    <a:lstStyle/>
                    <a:p>
                      <a:pPr indent="0" marL="0">
                        <a:buNone/>
                      </a:pPr>
                      <a:r>
                        <a:rPr lang="en-US" sz="900" b="1" dirty="0">
                          <a:solidFill>
                            <a:srgbClr val="C00000"/>
                          </a:solidFill>
                          <a:latin typeface="游ゴシック" pitchFamily="34" charset="0"/>
                          <a:ea typeface="游ゴシック" pitchFamily="34" charset="-122"/>
                          <a:cs typeface="游ゴシック" pitchFamily="34" charset="-120"/>
                        </a:rPr>
                        <a:t>◎ </a:t>
                      </a:r>
                      <a:pPr indent="0" marL="0">
                        <a:buNone/>
                      </a:pPr>
                      <a:r>
                        <a:rPr lang="en-US" sz="900" b="1" dirty="0">
                          <a:solidFill>
                            <a:srgbClr val="C00000"/>
                          </a:solidFill>
                          <a:latin typeface="游ゴシック" pitchFamily="34" charset="0"/>
                          <a:ea typeface="游ゴシック" pitchFamily="34" charset="-122"/>
                          <a:cs typeface="游ゴシック" pitchFamily="34" charset="-120"/>
                        </a:rPr>
                        <a:t>周年記念を祝いたいとき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0F0"/>
                    </a:solidFill>
                  </a:tcPr>
                </a:tc>
                <a:tc>
                  <a:txBody>
                    <a:bodyPr/>
                    <a:lstStyle/>
                    <a:p>
                      <a:pPr algn="ctr" indent="0" marL="0">
                        <a:buNone/>
                      </a:pPr>
                      <a:r>
                        <a:rPr lang="en-US" sz="900" b="1" dirty="0">
                          <a:solidFill>
                            <a:srgbClr val="C00000"/>
                          </a:solidFill>
                          <a:latin typeface="游ゴシック" pitchFamily="34" charset="0"/>
                          <a:ea typeface="游ゴシック" pitchFamily="34" charset="-122"/>
                          <a:cs typeface="游ゴシック" pitchFamily="34" charset="-120"/>
                        </a:rPr>
                        <a:t>7.46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-0.26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-0.62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-3.45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-3.13</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210</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800" dirty="0">
                          <a:solidFill>
                            <a:srgbClr val="C00000"/>
                          </a:solidFill>
                          <a:latin typeface="游ゴシック" pitchFamily="34" charset="0"/>
                          <a:ea typeface="游ゴシック" pitchFamily="34" charset="-122"/>
                          <a:cs typeface="游ゴシック" pitchFamily="34" charset="-120"/>
                        </a:rPr>
                        <a:t>3ブランド共通の追い風（60周年）</a:t>
                      </a: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57200">
                <a:tc>
                  <a:txBody>
                    <a:bodyPr/>
                    <a:lstStyle/>
                    <a:p>
                      <a:pPr indent="0" marL="0">
                        <a:buNone/>
                      </a:pPr>
                      <a:r>
                        <a:rPr lang="en-US" sz="900" b="1" dirty="0">
                          <a:solidFill>
                            <a:srgbClr val="C00000"/>
                          </a:solidFill>
                          <a:latin typeface="游ゴシック" pitchFamily="34" charset="0"/>
                          <a:ea typeface="游ゴシック" pitchFamily="34" charset="-122"/>
                          <a:cs typeface="游ゴシック" pitchFamily="34" charset="-120"/>
                        </a:rPr>
                        <a:t>◎ </a:t>
                      </a:r>
                      <a:pPr indent="0" marL="0">
                        <a:buNone/>
                      </a:pPr>
                      <a:r>
                        <a:rPr lang="en-US" sz="900" b="1" dirty="0">
                          <a:solidFill>
                            <a:srgbClr val="C00000"/>
                          </a:solidFill>
                          <a:latin typeface="游ゴシック" pitchFamily="34" charset="0"/>
                          <a:ea typeface="游ゴシック" pitchFamily="34" charset="-122"/>
                          <a:cs typeface="游ゴシック" pitchFamily="34" charset="-120"/>
                        </a:rPr>
                        <a:t>コラボ情報を知ってワクワクしたとき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0F0"/>
                    </a:solidFill>
                  </a:tcPr>
                </a:tc>
                <a:tc>
                  <a:txBody>
                    <a:bodyPr/>
                    <a:lstStyle/>
                    <a:p>
                      <a:pPr algn="ctr" indent="0" marL="0">
                        <a:buNone/>
                      </a:pPr>
                      <a:r>
                        <a:rPr lang="en-US" sz="900" b="1" dirty="0">
                          <a:solidFill>
                            <a:srgbClr val="C00000"/>
                          </a:solidFill>
                          <a:latin typeface="游ゴシック" pitchFamily="34" charset="0"/>
                          <a:ea typeface="游ゴシック" pitchFamily="34" charset="-122"/>
                          <a:cs typeface="游ゴシック" pitchFamily="34" charset="-120"/>
                        </a:rPr>
                        <a:t>4.56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5.86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-11.22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-0.39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1150</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800" dirty="0">
                          <a:solidFill>
                            <a:srgbClr val="C00000"/>
                          </a:solidFill>
                          <a:latin typeface="游ゴシック" pitchFamily="34" charset="0"/>
                          <a:ea typeface="游ゴシック" pitchFamily="34" charset="-122"/>
                          <a:cs typeface="游ゴシック" pitchFamily="34" charset="-120"/>
                        </a:rPr>
                        <a:t>ガーナ・コアラ「限定コラボを試したい」と重なる</a:t>
                      </a: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57200">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好きな作品同士がコラボした盛り上がり</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1.83</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9.87</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-17.44</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10.42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AFD9B2"/>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-4.69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2804</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57200">
                <a:tc>
                  <a:txBody>
                    <a:bodyPr/>
                    <a:lstStyle/>
                    <a:p>
                      <a:pPr indent="0" marL="0">
                        <a:buNone/>
                      </a:pPr>
                      <a:r>
                        <a:rPr lang="en-US" sz="900" b="1" dirty="0">
                          <a:solidFill>
                            <a:srgbClr val="C00000"/>
                          </a:solidFill>
                          <a:latin typeface="游ゴシック" pitchFamily="34" charset="0"/>
                          <a:ea typeface="游ゴシック" pitchFamily="34" charset="-122"/>
                          <a:cs typeface="游ゴシック" pitchFamily="34" charset="-120"/>
                        </a:rPr>
                        <a:t>◎ </a:t>
                      </a:r>
                      <a:pPr indent="0" marL="0">
                        <a:buNone/>
                      </a:pPr>
                      <a:r>
                        <a:rPr lang="en-US" sz="900" b="1" dirty="0">
                          <a:solidFill>
                            <a:srgbClr val="C00000"/>
                          </a:solidFill>
                          <a:latin typeface="游ゴシック" pitchFamily="34" charset="0"/>
                          <a:ea typeface="游ゴシック" pitchFamily="34" charset="-122"/>
                          <a:cs typeface="游ゴシック" pitchFamily="34" charset="-120"/>
                        </a:rPr>
                        <a:t>テンションを上げたいとき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DF0F0"/>
                    </a:solidFill>
                  </a:tcPr>
                </a:tc>
                <a:tc>
                  <a:txBody>
                    <a:bodyPr/>
                    <a:lstStyle/>
                    <a:p>
                      <a:pPr algn="ctr" indent="0" marL="0">
                        <a:buNone/>
                      </a:pPr>
                      <a:r>
                        <a:rPr lang="en-US" sz="900" b="1" dirty="0">
                          <a:solidFill>
                            <a:srgbClr val="C00000"/>
                          </a:solidFill>
                          <a:latin typeface="游ゴシック" pitchFamily="34" charset="0"/>
                          <a:ea typeface="游ゴシック" pitchFamily="34" charset="-122"/>
                          <a:cs typeface="游ゴシック" pitchFamily="34" charset="-120"/>
                        </a:rPr>
                        <a:t>1.49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-0.97</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1.38</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-3.14</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1.24</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614</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r>
                        <a:rPr lang="en-US" sz="800" dirty="0">
                          <a:solidFill>
                            <a:srgbClr val="C00000"/>
                          </a:solidFill>
                          <a:latin typeface="游ゴシック" pitchFamily="34" charset="0"/>
                          <a:ea typeface="游ゴシック" pitchFamily="34" charset="-122"/>
                          <a:cs typeface="游ゴシック" pitchFamily="34" charset="-120"/>
                        </a:rPr>
                        <a:t>ガーナ「甘いもの／幸福感」と重なる</a:t>
                      </a: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57200">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コラボグッズや限定アイテムを手に入れたいとき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1.22</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-4.16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FB3B3"/>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-2.47</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2.91</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2.49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489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457200">
                <a:tc>
                  <a:txBody>
                    <a:bodyPr/>
                    <a:lstStyle/>
                    <a:p>
                      <a:pPr indent="0" marL="0">
                        <a:buNone/>
                      </a:pPr>
                      <a:r>
                        <a:rPr lang="en-US" sz="900" dirty="0">
                          <a:solidFill>
                            <a:srgbClr val="404040"/>
                          </a:solidFill>
                          <a:latin typeface="游ゴシック" pitchFamily="34" charset="0"/>
                          <a:ea typeface="游ゴシック" pitchFamily="34" charset="-122"/>
                          <a:cs typeface="游ゴシック" pitchFamily="34" charset="-120"/>
                        </a:rPr>
                        <a:t>コラボグッズをSNSでシェアしたいとき</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0.4</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-1.11</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-0.35</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8DEDE"/>
                    </a:solidFill>
                  </a:tcPr>
                </a:tc>
                <a:tc>
                  <a:txBody>
                    <a:bodyPr/>
                    <a:lstStyle/>
                    <a:p>
                      <a:pPr algn="ctr" indent="0" marL="0">
                        <a:buNone/>
                      </a:pPr>
                      <a:r>
                        <a:rPr lang="en-US" sz="900" dirty="0">
                          <a:solidFill>
                            <a:srgbClr val="333333"/>
                          </a:solidFill>
                          <a:latin typeface="游ゴシック" pitchFamily="34" charset="0"/>
                          <a:ea typeface="游ゴシック" pitchFamily="34" charset="-122"/>
                          <a:cs typeface="游ゴシック" pitchFamily="34" charset="-120"/>
                        </a:rPr>
                        <a:t>0.56</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DFF0DC"/>
                    </a:solidFill>
                  </a:tcPr>
                </a:tc>
                <a:tc>
                  <a:txBody>
                    <a:bodyPr/>
                    <a:lstStyle/>
                    <a:p>
                      <a:pPr algn="ctr" indent="0" marL="0">
                        <a:buNone/>
                      </a:pPr>
                      <a:r>
                        <a:rPr lang="en-US" sz="900" b="1" dirty="0">
                          <a:solidFill>
                            <a:srgbClr val="17828F"/>
                          </a:solidFill>
                          <a:latin typeface="游ゴシック" pitchFamily="34" charset="0"/>
                          <a:ea typeface="游ゴシック" pitchFamily="34" charset="-122"/>
                          <a:cs typeface="游ゴシック" pitchFamily="34" charset="-120"/>
                        </a:rPr>
                        <a:t>109</a:t>
                      </a:r>
                      <a:endParaRPr lang="en-US" sz="9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EAF4F8"/>
                    </a:solidFill>
                  </a:tcPr>
                </a:tc>
                <a:tc>
                  <a:txBody>
                    <a:bodyPr/>
                    <a:lstStyle/>
                    <a:p>
                      <a:pPr indent="0" marL="0">
                        <a:buNone/>
                      </a:pPr>
                      <a:endParaRPr lang="en-US" sz="800" dirty="0">
                        <a:latin typeface="游ゴシック" charset="0"/>
                        <a:ea typeface="游ゴシック" charset="0"/>
                        <a:cs typeface="游ゴシック" charset="0"/>
                      </a:endParaRPr>
                    </a:p>
                  </a:txBody>
                  <a:tcPr marL="54864" marR="54864" marT="54864" marB="54864"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12" name="Text 9"/>
          <p:cNvSpPr/>
          <p:nvPr/>
        </p:nvSpPr>
        <p:spPr>
          <a:xfrm>
            <a:off x="685800" y="5623560"/>
            <a:ext cx="10817352" cy="457200"/>
          </a:xfrm>
          <a:prstGeom prst="rect">
            <a:avLst/>
          </a:prstGeom>
          <a:noFill/>
          <a:ln/>
        </p:spPr>
        <p:txBody>
          <a:bodyPr wrap="square" lIns="0" tIns="0" rIns="0" bIns="0" rtlCol="0" anchor="ctr"/>
          <a:lstStyle/>
          <a:p>
            <a:pPr indent="0" marL="0">
              <a:lnSpc>
                <a:spcPts val="1400"/>
              </a:lnSpc>
              <a:buNone/>
            </a:pPr>
            <a:r>
              <a:rPr lang="en-US" sz="950" b="1" dirty="0">
                <a:solidFill>
                  <a:srgbClr val="595959"/>
                </a:solidFill>
                <a:latin typeface="游ゴシック" pitchFamily="34" charset="0"/>
                <a:ea typeface="游ゴシック" pitchFamily="34" charset="-122"/>
                <a:cs typeface="游ゴシック" pitchFamily="34" charset="-120"/>
              </a:rPr>
              <a:t>参考：</a:t>
            </a:r>
            <a:pPr indent="0" marL="0">
              <a:lnSpc>
                <a:spcPts val="1400"/>
              </a:lnSpc>
              <a:buNone/>
            </a:pPr>
            <a:r>
              <a:rPr lang="en-US" sz="950" dirty="0">
                <a:solidFill>
                  <a:srgbClr val="808080"/>
                </a:solidFill>
                <a:latin typeface="游ゴシック" pitchFamily="34" charset="0"/>
                <a:ea typeface="游ゴシック" pitchFamily="34" charset="-122"/>
                <a:cs typeface="游ゴシック" pitchFamily="34" charset="-120"/>
              </a:rPr>
              <a:t>仮面ライダーは「コラボ情報」「作品同士のコラボ」で強いが、「周年記念」はウルトラマンが独占（+7.46 vs -0.26）。60周年起点の本提案はウルトラマン固有の土俵</a:t>
            </a:r>
            <a:endParaRPr lang="en-US" sz="950" dirty="0"/>
          </a:p>
        </p:txBody>
      </p:sp>
      <p:sp>
        <p:nvSpPr>
          <p:cNvPr id="13" name="Text 10"/>
          <p:cNvSpPr/>
          <p:nvPr/>
        </p:nvSpPr>
        <p:spPr>
          <a:xfrm>
            <a:off x="685800" y="612648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スコア＝メンタルアドバンテージスコア（0基準・±5が目安、正＝その場面で想起されやすい。読み方はP.21参照）。出所：アライドアーキテクツ社 VOC分析（X上の生活者投稿、2025/8–2026/7）</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384048"/>
            <a:ext cx="1673352" cy="310896"/>
          </a:xfrm>
          <a:prstGeom prst="rect">
            <a:avLst/>
          </a:prstGeom>
          <a:solidFill>
            <a:srgbClr val="C4761B"/>
          </a:solidFill>
          <a:ln/>
        </p:spPr>
      </p:sp>
      <p:sp>
        <p:nvSpPr>
          <p:cNvPr id="3" name="Text 1"/>
          <p:cNvSpPr/>
          <p:nvPr/>
        </p:nvSpPr>
        <p:spPr>
          <a:xfrm>
            <a:off x="795528" y="384048"/>
            <a:ext cx="1563624" cy="310896"/>
          </a:xfrm>
          <a:prstGeom prst="rect">
            <a:avLst/>
          </a:prstGeom>
          <a:noFill/>
          <a:ln/>
        </p:spPr>
        <p:txBody>
          <a:bodyPr wrap="square" lIns="0" tIns="0" rIns="0" bIns="0" rtlCol="0" anchor="ctr"/>
          <a:lstStyle/>
          <a:p>
            <a:pPr indent="0" marL="0">
              <a:buNone/>
            </a:pPr>
            <a:r>
              <a:rPr lang="en-US" sz="1100" b="1" dirty="0">
                <a:solidFill>
                  <a:srgbClr val="FFFFFF"/>
                </a:solidFill>
                <a:latin typeface="游ゴシック" pitchFamily="34" charset="0"/>
                <a:ea typeface="游ゴシック" pitchFamily="34" charset="-122"/>
                <a:cs typeface="游ゴシック" pitchFamily="34" charset="-120"/>
              </a:rPr>
              <a:t>APPENDIX</a:t>
            </a:r>
            <a:endParaRPr lang="en-US" sz="1100" dirty="0"/>
          </a:p>
        </p:txBody>
      </p:sp>
      <p:sp>
        <p:nvSpPr>
          <p:cNvPr id="4" name="Shape 2"/>
          <p:cNvSpPr/>
          <p:nvPr/>
        </p:nvSpPr>
        <p:spPr>
          <a:xfrm>
            <a:off x="685800" y="758952"/>
            <a:ext cx="1463040" cy="50292"/>
          </a:xfrm>
          <a:prstGeom prst="rect">
            <a:avLst/>
          </a:prstGeom>
          <a:solidFill>
            <a:srgbClr val="7A4521"/>
          </a:solidFill>
          <a:ln/>
        </p:spPr>
      </p:sp>
      <p:sp>
        <p:nvSpPr>
          <p:cNvPr id="5" name="Text 3"/>
          <p:cNvSpPr/>
          <p:nvPr/>
        </p:nvSpPr>
        <p:spPr>
          <a:xfrm>
            <a:off x="10332720" y="411480"/>
            <a:ext cx="1170432" cy="274320"/>
          </a:xfrm>
          <a:prstGeom prst="rect">
            <a:avLst/>
          </a:prstGeom>
          <a:noFill/>
          <a:ln/>
        </p:spPr>
        <p:txBody>
          <a:bodyPr wrap="square" lIns="0" tIns="0" rIns="0" bIns="0" rtlCol="0" anchor="ctr"/>
          <a:lstStyle/>
          <a:p>
            <a:pPr algn="r" indent="0" marL="0">
              <a:buNone/>
            </a:pPr>
            <a:r>
              <a:rPr lang="en-US" sz="1000" spc="300" kern="0" dirty="0">
                <a:solidFill>
                  <a:srgbClr val="595959"/>
                </a:solidFill>
                <a:latin typeface="游ゴシック" pitchFamily="34" charset="0"/>
                <a:ea typeface="游ゴシック" pitchFamily="34" charset="-122"/>
                <a:cs typeface="游ゴシック" pitchFamily="34" charset="-120"/>
              </a:rPr>
              <a:t>貴社限り</a:t>
            </a:r>
            <a:endParaRPr lang="en-US" sz="1000" dirty="0"/>
          </a:p>
        </p:txBody>
      </p:sp>
      <p:sp>
        <p:nvSpPr>
          <p:cNvPr id="6" name="Text 4"/>
          <p:cNvSpPr/>
          <p:nvPr/>
        </p:nvSpPr>
        <p:spPr>
          <a:xfrm>
            <a:off x="685800" y="932688"/>
            <a:ext cx="10817352" cy="502920"/>
          </a:xfrm>
          <a:prstGeom prst="rect">
            <a:avLst/>
          </a:prstGeom>
          <a:noFill/>
          <a:ln/>
        </p:spPr>
        <p:txBody>
          <a:bodyPr wrap="square" lIns="0" tIns="0" rIns="0" bIns="0" rtlCol="0" anchor="ctr"/>
          <a:lstStyle/>
          <a:p>
            <a:pPr indent="0" marL="0">
              <a:buNone/>
            </a:pPr>
            <a:r>
              <a:rPr lang="en-US" sz="2200" b="1" dirty="0">
                <a:solidFill>
                  <a:srgbClr val="333333"/>
                </a:solidFill>
                <a:latin typeface="游ゴシック" pitchFamily="34" charset="0"/>
                <a:ea typeface="游ゴシック" pitchFamily="34" charset="-122"/>
                <a:cs typeface="游ゴシック" pitchFamily="34" charset="-120"/>
              </a:rPr>
              <a:t>ULTRA 3MIN. 技術検討事項と、IP権利・監修の前提</a:t>
            </a:r>
            <a:endParaRPr lang="en-US" sz="2200" dirty="0"/>
          </a:p>
        </p:txBody>
      </p:sp>
      <p:sp>
        <p:nvSpPr>
          <p:cNvPr id="7" name="Text 5"/>
          <p:cNvSpPr/>
          <p:nvPr/>
        </p:nvSpPr>
        <p:spPr>
          <a:xfrm>
            <a:off x="685800" y="1481328"/>
            <a:ext cx="10817352" cy="658368"/>
          </a:xfrm>
          <a:prstGeom prst="rect">
            <a:avLst/>
          </a:prstGeom>
          <a:noFill/>
          <a:ln/>
        </p:spPr>
        <p:txBody>
          <a:bodyPr wrap="square" lIns="0" tIns="0" rIns="0" bIns="0" rtlCol="0" anchor="ctr"/>
          <a:lstStyle/>
          <a:p>
            <a:pPr indent="0" marL="0">
              <a:lnSpc>
                <a:spcPts val="1900"/>
              </a:lnSpc>
              <a:buNone/>
            </a:pPr>
            <a:r>
              <a:rPr lang="en-US" sz="1250" dirty="0">
                <a:solidFill>
                  <a:srgbClr val="404040"/>
                </a:solidFill>
                <a:latin typeface="游ゴシック" pitchFamily="34" charset="0"/>
                <a:ea typeface="游ゴシック" pitchFamily="34" charset="-122"/>
                <a:cs typeface="游ゴシック" pitchFamily="34" charset="-120"/>
              </a:rPr>
              <a:t>技術は仮説として共同検証、権利はクリーンな状態で提供する</a:t>
            </a:r>
            <a:endParaRPr lang="en-US" sz="1250" dirty="0"/>
          </a:p>
        </p:txBody>
      </p:sp>
      <p:sp>
        <p:nvSpPr>
          <p:cNvPr id="8" name="Shape 6"/>
          <p:cNvSpPr/>
          <p:nvPr/>
        </p:nvSpPr>
        <p:spPr>
          <a:xfrm>
            <a:off x="685800" y="6382512"/>
            <a:ext cx="10817352" cy="0"/>
          </a:xfrm>
          <a:prstGeom prst="line">
            <a:avLst/>
          </a:prstGeom>
          <a:noFill/>
          <a:ln w="9525">
            <a:solidFill>
              <a:srgbClr val="E9E9E9"/>
            </a:solidFill>
            <a:prstDash val="solid"/>
          </a:ln>
        </p:spPr>
      </p:sp>
      <p:sp>
        <p:nvSpPr>
          <p:cNvPr id="9" name="Text 7"/>
          <p:cNvSpPr/>
          <p:nvPr/>
        </p:nvSpPr>
        <p:spPr>
          <a:xfrm>
            <a:off x="685800" y="6437376"/>
            <a:ext cx="4114800" cy="274320"/>
          </a:xfrm>
          <a:prstGeom prst="rect">
            <a:avLst/>
          </a:prstGeom>
          <a:noFill/>
          <a:ln/>
        </p:spPr>
        <p:txBody>
          <a:bodyPr wrap="square" lIns="0" tIns="0" rIns="0" bIns="0" rtlCol="0" anchor="ctr"/>
          <a:lstStyle/>
          <a:p>
            <a:pPr indent="0" marL="0">
              <a:buNone/>
            </a:pPr>
            <a:r>
              <a:rPr lang="en-US" sz="1000" b="1" dirty="0">
                <a:solidFill>
                  <a:srgbClr val="333333"/>
                </a:solidFill>
                <a:latin typeface="游ゴシック" pitchFamily="34" charset="0"/>
                <a:ea typeface="游ゴシック" pitchFamily="34" charset="-122"/>
                <a:cs typeface="游ゴシック" pitchFamily="34" charset="-120"/>
              </a:rPr>
              <a:t>TSUBURAYA PRODUCTIONS</a:t>
            </a:r>
            <a:endParaRPr lang="en-US" sz="1000" dirty="0"/>
          </a:p>
        </p:txBody>
      </p:sp>
      <p:sp>
        <p:nvSpPr>
          <p:cNvPr id="10" name="Text 8"/>
          <p:cNvSpPr/>
          <p:nvPr/>
        </p:nvSpPr>
        <p:spPr>
          <a:xfrm>
            <a:off x="7772400" y="6437376"/>
            <a:ext cx="3730752" cy="274320"/>
          </a:xfrm>
          <a:prstGeom prst="rect">
            <a:avLst/>
          </a:prstGeom>
          <a:noFill/>
          <a:ln/>
        </p:spPr>
        <p:txBody>
          <a:bodyPr wrap="square" lIns="0" tIns="0" rIns="0" bIns="0" rtlCol="0" anchor="ctr"/>
          <a:lstStyle/>
          <a:p>
            <a:pPr algn="r" indent="0" marL="0">
              <a:buNone/>
            </a:pPr>
            <a:r>
              <a:rPr lang="en-US" sz="950" spc="400" kern="0" dirty="0">
                <a:solidFill>
                  <a:srgbClr val="808080"/>
                </a:solidFill>
                <a:latin typeface="游ゴシック" pitchFamily="34" charset="0"/>
                <a:ea typeface="游ゴシック" pitchFamily="34" charset="-122"/>
                <a:cs typeface="游ゴシック" pitchFamily="34" charset="-120"/>
              </a:rPr>
              <a:t>LOTTE × TSUBURAYA</a:t>
            </a:r>
            <a:pPr algn="r" indent="0" marL="0">
              <a:buNone/>
            </a:pPr>
            <a:r>
              <a:rPr lang="en-US" sz="950" dirty="0">
                <a:solidFill>
                  <a:srgbClr val="595959"/>
                </a:solidFill>
                <a:latin typeface="游ゴシック" pitchFamily="34" charset="0"/>
                <a:ea typeface="游ゴシック" pitchFamily="34" charset="-122"/>
                <a:cs typeface="游ゴシック" pitchFamily="34" charset="-120"/>
              </a:rPr>
              <a:t>    25</a:t>
            </a:r>
            <a:endParaRPr lang="en-US" sz="950" dirty="0"/>
          </a:p>
        </p:txBody>
      </p:sp>
      <p:sp>
        <p:nvSpPr>
          <p:cNvPr id="11" name="Text 9"/>
          <p:cNvSpPr/>
          <p:nvPr/>
        </p:nvSpPr>
        <p:spPr>
          <a:xfrm>
            <a:off x="685800" y="2331720"/>
            <a:ext cx="5257800"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技術検討事項（共同検証したい仮説）</a:t>
            </a:r>
            <a:endParaRPr lang="en-US" sz="1200" dirty="0"/>
          </a:p>
        </p:txBody>
      </p:sp>
      <p:sp>
        <p:nvSpPr>
          <p:cNvPr id="12" name="Shape 10"/>
          <p:cNvSpPr/>
          <p:nvPr/>
        </p:nvSpPr>
        <p:spPr>
          <a:xfrm>
            <a:off x="685800" y="2660904"/>
            <a:ext cx="5257800" cy="0"/>
          </a:xfrm>
          <a:prstGeom prst="line">
            <a:avLst/>
          </a:prstGeom>
          <a:noFill/>
          <a:ln w="12700">
            <a:solidFill>
              <a:srgbClr val="333333"/>
            </a:solidFill>
            <a:prstDash val="solid"/>
          </a:ln>
        </p:spPr>
      </p:sp>
      <p:sp>
        <p:nvSpPr>
          <p:cNvPr id="13" name="Text 11"/>
          <p:cNvSpPr/>
          <p:nvPr/>
        </p:nvSpPr>
        <p:spPr>
          <a:xfrm>
            <a:off x="685800" y="2788920"/>
            <a:ext cx="5257800" cy="2377440"/>
          </a:xfrm>
          <a:prstGeom prst="rect">
            <a:avLst/>
          </a:prstGeom>
          <a:noFill/>
          <a:ln/>
        </p:spPr>
        <p:txBody>
          <a:bodyPr wrap="square" lIns="0" tIns="0" rIns="0" bIns="0" rtlCol="0" anchor="ctr"/>
          <a:lstStyle/>
          <a:p>
            <a:pPr marL="152400" indent="-152400">
              <a:lnSpc>
                <a:spcPts val="1600"/>
              </a:lnSpc>
              <a:spcAft>
                <a:spcPts val="800"/>
              </a:spcAft>
              <a:buSzPct val="100000"/>
              <a:buChar char="●"/>
            </a:pPr>
            <a:r>
              <a:rPr lang="en-US" sz="1050" dirty="0">
                <a:solidFill>
                  <a:srgbClr val="404040"/>
                </a:solidFill>
                <a:latin typeface="游ゴシック" pitchFamily="34" charset="0"/>
                <a:ea typeface="游ゴシック" pitchFamily="34" charset="-122"/>
                <a:cs typeface="游ゴシック" pitchFamily="34" charset="-120"/>
              </a:rPr>
              <a:t>「3分後の気分の切り替え」体験の設計：清涼感・香味の立ち上がり制御 ── 要検証</a:t>
            </a:r>
            <a:endParaRPr lang="en-US" sz="1050" dirty="0"/>
          </a:p>
          <a:p>
            <a:pPr marL="152400" indent="-152400">
              <a:lnSpc>
                <a:spcPts val="1600"/>
              </a:lnSpc>
              <a:spcAft>
                <a:spcPts val="800"/>
              </a:spcAft>
              <a:buSzPct val="100000"/>
              <a:buChar char="●"/>
            </a:pPr>
            <a:r>
              <a:rPr lang="en-US" sz="1050" dirty="0">
                <a:solidFill>
                  <a:srgbClr val="404040"/>
                </a:solidFill>
                <a:latin typeface="游ゴシック" pitchFamily="34" charset="0"/>
                <a:ea typeface="游ゴシック" pitchFamily="34" charset="-122"/>
                <a:cs typeface="游ゴシック" pitchFamily="34" charset="-120"/>
              </a:rPr>
              <a:t>時限的な味・色の変化（フレーバーカプセル徐放・食用色素）── 検証仮説の一つ</a:t>
            </a:r>
            <a:endParaRPr lang="en-US" sz="1050" dirty="0"/>
          </a:p>
          <a:p>
            <a:pPr marL="152400" indent="-152400">
              <a:lnSpc>
                <a:spcPts val="1600"/>
              </a:lnSpc>
              <a:spcAft>
                <a:spcPts val="800"/>
              </a:spcAft>
              <a:buSzPct val="100000"/>
              <a:buChar char="●"/>
            </a:pPr>
            <a:r>
              <a:rPr lang="en-US" sz="1050" dirty="0">
                <a:solidFill>
                  <a:srgbClr val="404040"/>
                </a:solidFill>
                <a:latin typeface="游ゴシック" pitchFamily="34" charset="0"/>
                <a:ea typeface="游ゴシック" pitchFamily="34" charset="-122"/>
                <a:cs typeface="游ゴシック" pitchFamily="34" charset="-120"/>
              </a:rPr>
              <a:t>形態はグミを第一候補（御社のグミ強化・生産投資の方針と整合）、ガム等へ拡張 ── 実装可否・食感設計は要検証</a:t>
            </a:r>
            <a:endParaRPr lang="en-US" sz="1050" dirty="0"/>
          </a:p>
          <a:p>
            <a:pPr marL="152400" indent="-152400">
              <a:lnSpc>
                <a:spcPts val="1600"/>
              </a:lnSpc>
              <a:spcAft>
                <a:spcPts val="800"/>
              </a:spcAft>
              <a:buSzPct val="100000"/>
              <a:buChar char="●"/>
            </a:pPr>
            <a:r>
              <a:rPr lang="en-US" sz="1050" dirty="0">
                <a:solidFill>
                  <a:srgbClr val="404040"/>
                </a:solidFill>
                <a:latin typeface="游ゴシック" pitchFamily="34" charset="0"/>
                <a:ea typeface="游ゴシック" pitchFamily="34" charset="-122"/>
                <a:cs typeface="游ゴシック" pitchFamily="34" charset="-120"/>
              </a:rPr>
              <a:t>機能性表現（集中・リフレッシュ等）：御社の咀嚼研究の知見と表示規制の範囲内で設計</a:t>
            </a:r>
            <a:endParaRPr lang="en-US" sz="1050" dirty="0"/>
          </a:p>
        </p:txBody>
      </p:sp>
      <p:sp>
        <p:nvSpPr>
          <p:cNvPr id="14" name="Text 12"/>
          <p:cNvSpPr/>
          <p:nvPr/>
        </p:nvSpPr>
        <p:spPr>
          <a:xfrm>
            <a:off x="6309360" y="2331720"/>
            <a:ext cx="5193792" cy="292608"/>
          </a:xfrm>
          <a:prstGeom prst="rect">
            <a:avLst/>
          </a:prstGeom>
          <a:noFill/>
          <a:ln/>
        </p:spPr>
        <p:txBody>
          <a:bodyPr wrap="square" lIns="0" tIns="0" rIns="0" bIns="0" rtlCol="0" anchor="ctr"/>
          <a:lstStyle/>
          <a:p>
            <a:pPr indent="0" marL="0">
              <a:buNone/>
            </a:pPr>
            <a:r>
              <a:rPr lang="en-US" sz="1200" b="1" dirty="0">
                <a:solidFill>
                  <a:srgbClr val="333333"/>
                </a:solidFill>
                <a:latin typeface="游ゴシック" pitchFamily="34" charset="0"/>
                <a:ea typeface="游ゴシック" pitchFamily="34" charset="-122"/>
                <a:cs typeface="游ゴシック" pitchFamily="34" charset="-120"/>
              </a:rPr>
              <a:t>IP権利・監修の前提</a:t>
            </a:r>
            <a:endParaRPr lang="en-US" sz="1200" dirty="0"/>
          </a:p>
        </p:txBody>
      </p:sp>
      <p:sp>
        <p:nvSpPr>
          <p:cNvPr id="15" name="Shape 13"/>
          <p:cNvSpPr/>
          <p:nvPr/>
        </p:nvSpPr>
        <p:spPr>
          <a:xfrm>
            <a:off x="6309360" y="2660904"/>
            <a:ext cx="5193792" cy="0"/>
          </a:xfrm>
          <a:prstGeom prst="line">
            <a:avLst/>
          </a:prstGeom>
          <a:noFill/>
          <a:ln w="12700">
            <a:solidFill>
              <a:srgbClr val="333333"/>
            </a:solidFill>
            <a:prstDash val="solid"/>
          </a:ln>
        </p:spPr>
      </p:sp>
      <p:sp>
        <p:nvSpPr>
          <p:cNvPr id="16" name="Text 14"/>
          <p:cNvSpPr/>
          <p:nvPr/>
        </p:nvSpPr>
        <p:spPr>
          <a:xfrm>
            <a:off x="6309360" y="2788920"/>
            <a:ext cx="5193792" cy="2651760"/>
          </a:xfrm>
          <a:prstGeom prst="rect">
            <a:avLst/>
          </a:prstGeom>
          <a:noFill/>
          <a:ln/>
        </p:spPr>
        <p:txBody>
          <a:bodyPr wrap="square" lIns="0" tIns="0" rIns="0" bIns="0" rtlCol="0" anchor="ctr"/>
          <a:lstStyle/>
          <a:p>
            <a:pPr marL="152400" indent="-152400">
              <a:lnSpc>
                <a:spcPts val="1600"/>
              </a:lnSpc>
              <a:spcAft>
                <a:spcPts val="800"/>
              </a:spcAft>
              <a:buSzPct val="100000"/>
              <a:buChar char="●"/>
            </a:pPr>
            <a:r>
              <a:rPr lang="en-US" sz="1050" dirty="0">
                <a:solidFill>
                  <a:srgbClr val="404040"/>
                </a:solidFill>
                <a:latin typeface="游ゴシック" pitchFamily="34" charset="0"/>
                <a:ea typeface="游ゴシック" pitchFamily="34" charset="-122"/>
                <a:cs typeface="游ゴシック" pitchFamily="34" charset="-120"/>
              </a:rPr>
              <a:t>ウルトラマンシリーズの国内外の権利関係は2019年の米控訴審勝訴（2020年3月確定）により係争終結。御社に法務リスクを持ち込まない</a:t>
            </a:r>
            <a:endParaRPr lang="en-US" sz="1050" dirty="0"/>
          </a:p>
          <a:p>
            <a:pPr marL="152400" indent="-152400">
              <a:lnSpc>
                <a:spcPts val="1600"/>
              </a:lnSpc>
              <a:spcAft>
                <a:spcPts val="800"/>
              </a:spcAft>
              <a:buSzPct val="100000"/>
              <a:buChar char="●"/>
            </a:pPr>
            <a:r>
              <a:rPr lang="en-US" sz="1050" dirty="0">
                <a:solidFill>
                  <a:srgbClr val="404040"/>
                </a:solidFill>
                <a:latin typeface="游ゴシック" pitchFamily="34" charset="0"/>
                <a:ea typeface="游ゴシック" pitchFamily="34" charset="-122"/>
                <a:cs typeface="游ゴシック" pitchFamily="34" charset="-120"/>
              </a:rPr>
              <a:t>キャラクター・世界観・デザインは円谷プロが全面監修（歴代デザイン・怪獣造形の一次資産を提供）</a:t>
            </a:r>
            <a:endParaRPr lang="en-US" sz="1050" dirty="0"/>
          </a:p>
          <a:p>
            <a:pPr marL="152400" indent="-152400">
              <a:lnSpc>
                <a:spcPts val="1600"/>
              </a:lnSpc>
              <a:spcAft>
                <a:spcPts val="800"/>
              </a:spcAft>
              <a:buSzPct val="100000"/>
              <a:buChar char="●"/>
            </a:pPr>
            <a:r>
              <a:rPr lang="en-US" sz="1050" dirty="0">
                <a:solidFill>
                  <a:srgbClr val="404040"/>
                </a:solidFill>
                <a:latin typeface="游ゴシック" pitchFamily="34" charset="0"/>
                <a:ea typeface="游ゴシック" pitchFamily="34" charset="-122"/>
                <a:cs typeface="游ゴシック" pitchFamily="34" charset="-120"/>
              </a:rPr>
              <a:t>60周年公式商品としての認定・映像連動は円谷プロが主導</a:t>
            </a:r>
            <a:endParaRPr lang="en-US" sz="1050" dirty="0"/>
          </a:p>
          <a:p>
            <a:pPr marL="152400" indent="-152400">
              <a:lnSpc>
                <a:spcPts val="1600"/>
              </a:lnSpc>
              <a:spcAft>
                <a:spcPts val="800"/>
              </a:spcAft>
              <a:buSzPct val="100000"/>
              <a:buChar char="●"/>
            </a:pPr>
            <a:r>
              <a:rPr lang="en-US" sz="1050" dirty="0">
                <a:solidFill>
                  <a:srgbClr val="404040"/>
                </a:solidFill>
                <a:latin typeface="游ゴシック" pitchFamily="34" charset="0"/>
                <a:ea typeface="游ゴシック" pitchFamily="34" charset="-122"/>
                <a:cs typeface="游ゴシック" pitchFamily="34" charset="-120"/>
              </a:rPr>
              <a:t>スキームはライセンス＋共同マーケティング契約を想定。詳細条件はワークショップにて協議</a:t>
            </a:r>
            <a:endParaRPr lang="en-US" sz="1050" dirty="0"/>
          </a:p>
        </p:txBody>
      </p:sp>
      <p:sp>
        <p:nvSpPr>
          <p:cNvPr id="17" name="Text 15"/>
          <p:cNvSpPr/>
          <p:nvPr/>
        </p:nvSpPr>
        <p:spPr>
          <a:xfrm>
            <a:off x="685800" y="6035040"/>
            <a:ext cx="10817352" cy="274320"/>
          </a:xfrm>
          <a:prstGeom prst="rect">
            <a:avLst/>
          </a:prstGeom>
          <a:noFill/>
          <a:ln/>
        </p:spPr>
        <p:txBody>
          <a:bodyPr wrap="square" lIns="0" tIns="0" rIns="0" bIns="0" rtlCol="0" anchor="ctr"/>
          <a:lstStyle/>
          <a:p>
            <a:pPr indent="0" marL="0">
              <a:buNone/>
            </a:pPr>
            <a:r>
              <a:rPr lang="en-US" sz="900" dirty="0">
                <a:solidFill>
                  <a:srgbClr val="808080"/>
                </a:solidFill>
                <a:latin typeface="游ゴシック" pitchFamily="34" charset="0"/>
                <a:ea typeface="游ゴシック" pitchFamily="34" charset="-122"/>
                <a:cs typeface="游ゴシック" pitchFamily="34" charset="-120"/>
              </a:rPr>
              <a:t>本資料の市場・分析数値はすべてアライドアーキテクツ社VOC分析（2025/8–2026/7）および公表情報に基づく。新規の推計値は含まない</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游ゴシック"/>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游ゴシック"/>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2026-08-18T03:17:24Z</dcterms:created>
  <dcterms:modified xsi:type="dcterms:W3CDTF">2026-08-18T03:17:24Z</dcterms:modified>
</cp:coreProperties>
</file>