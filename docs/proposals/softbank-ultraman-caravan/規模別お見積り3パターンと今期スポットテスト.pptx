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規模別お見積り:3パターン(年間・税別概算)</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7/17お打ち合わせを受け、全量・半分・3IP分割(約1/3)の3規模でご提示します(単価は共通:IP使用料2,000万円/着ぐるみ20万円/ロイヤリティ20%)</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a:t>
            </a:r>
          </a:p>
        </p:txBody>
      </p:sp>
      <p:graphicFrame>
        <p:nvGraphicFramePr>
          <p:cNvPr id="8" name="Table 7"/>
          <p:cNvGraphicFramePr>
            <a:graphicFrameLocks noGrp="1"/>
          </p:cNvGraphicFramePr>
          <p:nvPr/>
        </p:nvGraphicFramePr>
        <p:xfrm>
          <a:off x="640080" y="1417320"/>
          <a:ext cx="10881357" cy="2633472"/>
        </p:xfrm>
        <a:graphic>
          <a:graphicData uri="http://schemas.openxmlformats.org/drawingml/2006/table">
            <a:tbl>
              <a:tblPr firstRow="1" bandRow="1">
                <a:tableStyleId>{5C22544A-7EE6-4342-B048-85BDC9FD1C3A}</a:tableStyleId>
              </a:tblPr>
              <a:tblGrid>
                <a:gridCol w="1702525"/>
                <a:gridCol w="962297"/>
                <a:gridCol w="2738845"/>
                <a:gridCol w="1406434"/>
                <a:gridCol w="1406434"/>
                <a:gridCol w="1258388"/>
                <a:gridCol w="1406434"/>
              </a:tblGrid>
              <a:tr h="658368">
                <a:tc>
                  <a:txBody>
                    <a:bodyPr/>
                    <a:lstStyle/>
                    <a:p>
                      <a:r>
                        <a:rPr sz="1050" b="1">
                          <a:solidFill>
                            <a:srgbClr val="FFFFFF"/>
                          </a:solidFill>
                          <a:latin typeface="Meiryo"/>
                          <a:ea typeface="Meiryo"/>
                        </a:rPr>
                        <a:t>パターン</a:t>
                      </a:r>
                    </a:p>
                  </a:txBody>
                  <a:tcPr anchor="ctr" marL="73152" marR="73152">
                    <a:solidFill>
                      <a:srgbClr val="232278"/>
                    </a:solidFill>
                  </a:tcPr>
                </a:tc>
                <a:tc>
                  <a:txBody>
                    <a:bodyPr/>
                    <a:lstStyle/>
                    <a:p>
                      <a:r>
                        <a:rPr sz="1050" b="1">
                          <a:solidFill>
                            <a:srgbClr val="FFFFFF"/>
                          </a:solidFill>
                          <a:latin typeface="Meiryo"/>
                          <a:ea typeface="Meiryo"/>
                        </a:rPr>
                        <a:t>着ぐるみ</a:t>
                      </a:r>
                    </a:p>
                  </a:txBody>
                  <a:tcPr anchor="ctr" marL="73152" marR="73152">
                    <a:solidFill>
                      <a:srgbClr val="232278"/>
                    </a:solidFill>
                  </a:tcPr>
                </a:tc>
                <a:tc>
                  <a:txBody>
                    <a:bodyPr/>
                    <a:lstStyle/>
                    <a:p>
                      <a:r>
                        <a:rPr sz="1050" b="1">
                          <a:solidFill>
                            <a:srgbClr val="FFFFFF"/>
                          </a:solidFill>
                          <a:latin typeface="Meiryo"/>
                          <a:ea typeface="Meiryo"/>
                        </a:rPr>
                        <a:t>キット・ノベルティ想定</a:t>
                      </a:r>
                    </a:p>
                  </a:txBody>
                  <a:tcPr anchor="ctr" marL="73152" marR="73152">
                    <a:solidFill>
                      <a:srgbClr val="232278"/>
                    </a:solidFill>
                  </a:tcPr>
                </a:tc>
                <a:tc>
                  <a:txBody>
                    <a:bodyPr/>
                    <a:lstStyle/>
                    <a:p>
                      <a:r>
                        <a:rPr sz="1050" b="1">
                          <a:solidFill>
                            <a:srgbClr val="FFFFFF"/>
                          </a:solidFill>
                          <a:latin typeface="Meiryo"/>
                          <a:ea typeface="Meiryo"/>
                        </a:rPr>
                        <a:t>①IP使用料(固定)</a:t>
                      </a:r>
                    </a:p>
                  </a:txBody>
                  <a:tcPr anchor="ctr" marL="73152" marR="73152">
                    <a:solidFill>
                      <a:srgbClr val="232278"/>
                    </a:solidFill>
                  </a:tcPr>
                </a:tc>
                <a:tc>
                  <a:txBody>
                    <a:bodyPr/>
                    <a:lstStyle/>
                    <a:p>
                      <a:r>
                        <a:rPr sz="1050" b="1">
                          <a:solidFill>
                            <a:srgbClr val="FFFFFF"/>
                          </a:solidFill>
                          <a:latin typeface="Meiryo"/>
                          <a:ea typeface="Meiryo"/>
                        </a:rPr>
                        <a:t>②着ぐるみ費用</a:t>
                      </a:r>
                    </a:p>
                  </a:txBody>
                  <a:tcPr anchor="ctr" marL="73152" marR="73152">
                    <a:solidFill>
                      <a:srgbClr val="232278"/>
                    </a:solidFill>
                  </a:tcPr>
                </a:tc>
                <a:tc>
                  <a:txBody>
                    <a:bodyPr/>
                    <a:lstStyle/>
                    <a:p>
                      <a:r>
                        <a:rPr sz="1050" b="1">
                          <a:solidFill>
                            <a:srgbClr val="FFFFFF"/>
                          </a:solidFill>
                          <a:latin typeface="Meiryo"/>
                          <a:ea typeface="Meiryo"/>
                        </a:rPr>
                        <a:t>③ロイヤリティ</a:t>
                      </a:r>
                    </a:p>
                  </a:txBody>
                  <a:tcPr anchor="ctr" marL="73152" marR="73152">
                    <a:solidFill>
                      <a:srgbClr val="232278"/>
                    </a:solidFill>
                  </a:tcPr>
                </a:tc>
                <a:tc>
                  <a:txBody>
                    <a:bodyPr/>
                    <a:lstStyle/>
                    <a:p>
                      <a:r>
                        <a:rPr sz="1050" b="1">
                          <a:solidFill>
                            <a:srgbClr val="FFFFFF"/>
                          </a:solidFill>
                          <a:latin typeface="Meiryo"/>
                          <a:ea typeface="Meiryo"/>
                        </a:rPr>
                        <a:t>年間合計</a:t>
                      </a:r>
                    </a:p>
                  </a:txBody>
                  <a:tcPr anchor="ctr" marL="73152" marR="73152">
                    <a:solidFill>
                      <a:srgbClr val="232278"/>
                    </a:solidFill>
                  </a:tcPr>
                </a:tc>
              </a:tr>
              <a:tr h="658368">
                <a:tc>
                  <a:txBody>
                    <a:bodyPr/>
                    <a:lstStyle/>
                    <a:p>
                      <a:r>
                        <a:rPr sz="1050" b="1">
                          <a:solidFill>
                            <a:srgbClr val="1A1A1A"/>
                          </a:solidFill>
                          <a:latin typeface="Meiryo"/>
                          <a:ea typeface="Meiryo"/>
                        </a:rPr>
                        <a:t>最大(貴社実績同等・全量)</a:t>
                      </a:r>
                    </a:p>
                  </a:txBody>
                  <a:tcPr anchor="ctr" marL="73152" marR="73152">
                    <a:solidFill>
                      <a:srgbClr val="FFFFFF"/>
                    </a:solidFill>
                  </a:tcPr>
                </a:tc>
                <a:tc>
                  <a:txBody>
                    <a:bodyPr/>
                    <a:lstStyle/>
                    <a:p>
                      <a:r>
                        <a:rPr sz="1050" b="0">
                          <a:solidFill>
                            <a:srgbClr val="1A1A1A"/>
                          </a:solidFill>
                          <a:latin typeface="Meiryo"/>
                          <a:ea typeface="Meiryo"/>
                        </a:rPr>
                        <a:t>600開催</a:t>
                      </a:r>
                    </a:p>
                  </a:txBody>
                  <a:tcPr anchor="ctr" marL="73152" marR="73152">
                    <a:solidFill>
                      <a:srgbClr val="FFFFFF"/>
                    </a:solidFill>
                  </a:tcPr>
                </a:tc>
                <a:tc>
                  <a:txBody>
                    <a:bodyPr/>
                    <a:lstStyle/>
                    <a:p>
                      <a:r>
                        <a:rPr sz="1050" b="0">
                          <a:solidFill>
                            <a:srgbClr val="1A1A1A"/>
                          </a:solidFill>
                          <a:latin typeface="Meiryo"/>
                          <a:ea typeface="Meiryo"/>
                        </a:rPr>
                        <a:t>キット800式・ノベルティ2.1万セット(実績)・ツール全店2回</a:t>
                      </a:r>
                    </a:p>
                  </a:txBody>
                  <a:tcPr anchor="ctr" marL="73152" marR="73152">
                    <a:solidFill>
                      <a:srgbClr val="FFFFFF"/>
                    </a:solidFill>
                  </a:tcPr>
                </a:tc>
                <a:tc>
                  <a:txBody>
                    <a:bodyPr/>
                    <a:lstStyle/>
                    <a:p>
                      <a:r>
                        <a:rPr sz="1050" b="0">
                          <a:solidFill>
                            <a:srgbClr val="1A1A1A"/>
                          </a:solidFill>
                          <a:latin typeface="Meiryo"/>
                          <a:ea typeface="Meiryo"/>
                        </a:rPr>
                        <a:t>2,000万円</a:t>
                      </a:r>
                    </a:p>
                  </a:txBody>
                  <a:tcPr anchor="ctr" marL="73152" marR="73152">
                    <a:solidFill>
                      <a:srgbClr val="FFFFFF"/>
                    </a:solidFill>
                  </a:tcPr>
                </a:tc>
                <a:tc>
                  <a:txBody>
                    <a:bodyPr/>
                    <a:lstStyle/>
                    <a:p>
                      <a:r>
                        <a:rPr sz="1050" b="0">
                          <a:solidFill>
                            <a:srgbClr val="1A1A1A"/>
                          </a:solidFill>
                          <a:latin typeface="Meiryo"/>
                          <a:ea typeface="Meiryo"/>
                        </a:rPr>
                        <a:t>1億2,000万円</a:t>
                      </a:r>
                    </a:p>
                  </a:txBody>
                  <a:tcPr anchor="ctr" marL="73152" marR="73152">
                    <a:solidFill>
                      <a:srgbClr val="FFFFFF"/>
                    </a:solidFill>
                  </a:tcPr>
                </a:tc>
                <a:tc>
                  <a:txBody>
                    <a:bodyPr/>
                    <a:lstStyle/>
                    <a:p>
                      <a:r>
                        <a:rPr sz="1050" b="0">
                          <a:solidFill>
                            <a:srgbClr val="1A1A1A"/>
                          </a:solidFill>
                          <a:latin typeface="Meiryo"/>
                          <a:ea typeface="Meiryo"/>
                        </a:rPr>
                        <a:t>約6,480万円</a:t>
                      </a:r>
                    </a:p>
                  </a:txBody>
                  <a:tcPr anchor="ctr" marL="73152" marR="73152">
                    <a:solidFill>
                      <a:srgbClr val="FFFFFF"/>
                    </a:solidFill>
                  </a:tcPr>
                </a:tc>
                <a:tc>
                  <a:txBody>
                    <a:bodyPr/>
                    <a:lstStyle/>
                    <a:p>
                      <a:r>
                        <a:rPr sz="1050" b="1">
                          <a:solidFill>
                            <a:srgbClr val="C00000"/>
                          </a:solidFill>
                          <a:latin typeface="Meiryo"/>
                          <a:ea typeface="Meiryo"/>
                        </a:rPr>
                        <a:t>約2.05億円</a:t>
                      </a:r>
                    </a:p>
                  </a:txBody>
                  <a:tcPr anchor="ctr" marL="73152" marR="73152">
                    <a:solidFill>
                      <a:srgbClr val="FFFFFF"/>
                    </a:solidFill>
                  </a:tcPr>
                </a:tc>
              </a:tr>
              <a:tr h="658368">
                <a:tc>
                  <a:txBody>
                    <a:bodyPr/>
                    <a:lstStyle/>
                    <a:p>
                      <a:r>
                        <a:rPr sz="1050" b="1">
                          <a:solidFill>
                            <a:srgbClr val="1A1A1A"/>
                          </a:solidFill>
                          <a:latin typeface="Meiryo"/>
                          <a:ea typeface="Meiryo"/>
                        </a:rPr>
                        <a:t>半分(実績の50%)</a:t>
                      </a:r>
                    </a:p>
                  </a:txBody>
                  <a:tcPr anchor="ctr" marL="73152" marR="73152">
                    <a:solidFill>
                      <a:srgbClr val="F2F4F6"/>
                    </a:solidFill>
                  </a:tcPr>
                </a:tc>
                <a:tc>
                  <a:txBody>
                    <a:bodyPr/>
                    <a:lstStyle/>
                    <a:p>
                      <a:r>
                        <a:rPr sz="1050" b="0">
                          <a:solidFill>
                            <a:srgbClr val="1A1A1A"/>
                          </a:solidFill>
                          <a:latin typeface="Meiryo"/>
                          <a:ea typeface="Meiryo"/>
                        </a:rPr>
                        <a:t>300開催</a:t>
                      </a:r>
                    </a:p>
                  </a:txBody>
                  <a:tcPr anchor="ctr" marL="73152" marR="73152">
                    <a:solidFill>
                      <a:srgbClr val="F2F4F6"/>
                    </a:solidFill>
                  </a:tcPr>
                </a:tc>
                <a:tc>
                  <a:txBody>
                    <a:bodyPr/>
                    <a:lstStyle/>
                    <a:p>
                      <a:r>
                        <a:rPr sz="1050" b="0">
                          <a:solidFill>
                            <a:srgbClr val="1A1A1A"/>
                          </a:solidFill>
                          <a:latin typeface="Meiryo"/>
                          <a:ea typeface="Meiryo"/>
                        </a:rPr>
                        <a:t>キット400式・ノベルティ1.05万セット・ツール全店1回</a:t>
                      </a:r>
                    </a:p>
                  </a:txBody>
                  <a:tcPr anchor="ctr" marL="73152" marR="73152">
                    <a:solidFill>
                      <a:srgbClr val="F2F4F6"/>
                    </a:solidFill>
                  </a:tcPr>
                </a:tc>
                <a:tc>
                  <a:txBody>
                    <a:bodyPr/>
                    <a:lstStyle/>
                    <a:p>
                      <a:r>
                        <a:rPr sz="1050" b="0">
                          <a:solidFill>
                            <a:srgbClr val="1A1A1A"/>
                          </a:solidFill>
                          <a:latin typeface="Meiryo"/>
                          <a:ea typeface="Meiryo"/>
                        </a:rPr>
                        <a:t>2,000万円</a:t>
                      </a:r>
                    </a:p>
                  </a:txBody>
                  <a:tcPr anchor="ctr" marL="73152" marR="73152">
                    <a:solidFill>
                      <a:srgbClr val="F2F4F6"/>
                    </a:solidFill>
                  </a:tcPr>
                </a:tc>
                <a:tc>
                  <a:txBody>
                    <a:bodyPr/>
                    <a:lstStyle/>
                    <a:p>
                      <a:r>
                        <a:rPr sz="1050" b="0">
                          <a:solidFill>
                            <a:srgbClr val="1A1A1A"/>
                          </a:solidFill>
                          <a:latin typeface="Meiryo"/>
                          <a:ea typeface="Meiryo"/>
                        </a:rPr>
                        <a:t>6,000万円</a:t>
                      </a:r>
                    </a:p>
                  </a:txBody>
                  <a:tcPr anchor="ctr" marL="73152" marR="73152">
                    <a:solidFill>
                      <a:srgbClr val="F2F4F6"/>
                    </a:solidFill>
                  </a:tcPr>
                </a:tc>
                <a:tc>
                  <a:txBody>
                    <a:bodyPr/>
                    <a:lstStyle/>
                    <a:p>
                      <a:r>
                        <a:rPr sz="1050" b="0">
                          <a:solidFill>
                            <a:srgbClr val="1A1A1A"/>
                          </a:solidFill>
                          <a:latin typeface="Meiryo"/>
                          <a:ea typeface="Meiryo"/>
                        </a:rPr>
                        <a:t>約3,240万円</a:t>
                      </a:r>
                    </a:p>
                  </a:txBody>
                  <a:tcPr anchor="ctr" marL="73152" marR="73152">
                    <a:solidFill>
                      <a:srgbClr val="F2F4F6"/>
                    </a:solidFill>
                  </a:tcPr>
                </a:tc>
                <a:tc>
                  <a:txBody>
                    <a:bodyPr/>
                    <a:lstStyle/>
                    <a:p>
                      <a:r>
                        <a:rPr sz="1050" b="1">
                          <a:solidFill>
                            <a:srgbClr val="C00000"/>
                          </a:solidFill>
                          <a:latin typeface="Meiryo"/>
                          <a:ea typeface="Meiryo"/>
                        </a:rPr>
                        <a:t>約1.12億円</a:t>
                      </a:r>
                    </a:p>
                  </a:txBody>
                  <a:tcPr anchor="ctr" marL="73152" marR="73152">
                    <a:solidFill>
                      <a:srgbClr val="F2F4F6"/>
                    </a:solidFill>
                  </a:tcPr>
                </a:tc>
              </a:tr>
              <a:tr h="658368">
                <a:tc>
                  <a:txBody>
                    <a:bodyPr/>
                    <a:lstStyle/>
                    <a:p>
                      <a:r>
                        <a:rPr sz="1050" b="1">
                          <a:solidFill>
                            <a:srgbClr val="1A1A1A"/>
                          </a:solidFill>
                          <a:latin typeface="Meiryo"/>
                          <a:ea typeface="Meiryo"/>
                        </a:rPr>
                        <a:t>3IP分割(約1/3配分)</a:t>
                      </a:r>
                    </a:p>
                  </a:txBody>
                  <a:tcPr anchor="ctr" marL="73152" marR="73152">
                    <a:solidFill>
                      <a:srgbClr val="FFFFFF"/>
                    </a:solidFill>
                  </a:tcPr>
                </a:tc>
                <a:tc>
                  <a:txBody>
                    <a:bodyPr/>
                    <a:lstStyle/>
                    <a:p>
                      <a:r>
                        <a:rPr sz="1050" b="0">
                          <a:solidFill>
                            <a:srgbClr val="1A1A1A"/>
                          </a:solidFill>
                          <a:latin typeface="Meiryo"/>
                          <a:ea typeface="Meiryo"/>
                        </a:rPr>
                        <a:t>200開催</a:t>
                      </a:r>
                    </a:p>
                  </a:txBody>
                  <a:tcPr anchor="ctr" marL="73152" marR="73152">
                    <a:solidFill>
                      <a:srgbClr val="FFFFFF"/>
                    </a:solidFill>
                  </a:tcPr>
                </a:tc>
                <a:tc>
                  <a:txBody>
                    <a:bodyPr/>
                    <a:lstStyle/>
                    <a:p>
                      <a:r>
                        <a:rPr sz="1050" b="0">
                          <a:solidFill>
                            <a:srgbClr val="1A1A1A"/>
                          </a:solidFill>
                          <a:latin typeface="Meiryo"/>
                          <a:ea typeface="Meiryo"/>
                        </a:rPr>
                        <a:t>キット270式・ノベルティ7,000セット・ツール1/3</a:t>
                      </a:r>
                    </a:p>
                  </a:txBody>
                  <a:tcPr anchor="ctr" marL="73152" marR="73152">
                    <a:solidFill>
                      <a:srgbClr val="FFFFFF"/>
                    </a:solidFill>
                  </a:tcPr>
                </a:tc>
                <a:tc>
                  <a:txBody>
                    <a:bodyPr/>
                    <a:lstStyle/>
                    <a:p>
                      <a:r>
                        <a:rPr sz="1050" b="0">
                          <a:solidFill>
                            <a:srgbClr val="1A1A1A"/>
                          </a:solidFill>
                          <a:latin typeface="Meiryo"/>
                          <a:ea typeface="Meiryo"/>
                        </a:rPr>
                        <a:t>2,000万円</a:t>
                      </a:r>
                    </a:p>
                  </a:txBody>
                  <a:tcPr anchor="ctr" marL="73152" marR="73152">
                    <a:solidFill>
                      <a:srgbClr val="FFFFFF"/>
                    </a:solidFill>
                  </a:tcPr>
                </a:tc>
                <a:tc>
                  <a:txBody>
                    <a:bodyPr/>
                    <a:lstStyle/>
                    <a:p>
                      <a:r>
                        <a:rPr sz="1050" b="0">
                          <a:solidFill>
                            <a:srgbClr val="1A1A1A"/>
                          </a:solidFill>
                          <a:latin typeface="Meiryo"/>
                          <a:ea typeface="Meiryo"/>
                        </a:rPr>
                        <a:t>4,000万円</a:t>
                      </a:r>
                    </a:p>
                  </a:txBody>
                  <a:tcPr anchor="ctr" marL="73152" marR="73152">
                    <a:solidFill>
                      <a:srgbClr val="FFFFFF"/>
                    </a:solidFill>
                  </a:tcPr>
                </a:tc>
                <a:tc>
                  <a:txBody>
                    <a:bodyPr/>
                    <a:lstStyle/>
                    <a:p>
                      <a:r>
                        <a:rPr sz="1050" b="0">
                          <a:solidFill>
                            <a:srgbClr val="1A1A1A"/>
                          </a:solidFill>
                          <a:latin typeface="Meiryo"/>
                          <a:ea typeface="Meiryo"/>
                        </a:rPr>
                        <a:t>約2,170万円</a:t>
                      </a:r>
                    </a:p>
                  </a:txBody>
                  <a:tcPr anchor="ctr" marL="73152" marR="73152">
                    <a:solidFill>
                      <a:srgbClr val="FFFFFF"/>
                    </a:solidFill>
                  </a:tcPr>
                </a:tc>
                <a:tc>
                  <a:txBody>
                    <a:bodyPr/>
                    <a:lstStyle/>
                    <a:p>
                      <a:r>
                        <a:rPr sz="1050" b="1">
                          <a:solidFill>
                            <a:srgbClr val="C00000"/>
                          </a:solidFill>
                          <a:latin typeface="Meiryo"/>
                          <a:ea typeface="Meiryo"/>
                        </a:rPr>
                        <a:t>約8,200万円</a:t>
                      </a:r>
                    </a:p>
                  </a:txBody>
                  <a:tcPr anchor="ctr" marL="73152" marR="73152">
                    <a:solidFill>
                      <a:srgbClr val="FFFFFF"/>
                    </a:solidFill>
                  </a:tcPr>
                </a:tc>
              </a:tr>
            </a:tbl>
          </a:graphicData>
        </a:graphic>
      </p:graphicFrame>
      <p:sp>
        <p:nvSpPr>
          <p:cNvPr id="9" name="Rounded Rectangle 8"/>
          <p:cNvSpPr/>
          <p:nvPr/>
        </p:nvSpPr>
        <p:spPr>
          <a:xfrm>
            <a:off x="640080" y="4251960"/>
            <a:ext cx="10881360" cy="1325880"/>
          </a:xfrm>
          <a:prstGeom prst="roundRect">
            <a:avLst>
              <a:gd name="adj" fmla="val 6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389120"/>
            <a:ext cx="10332720" cy="1143000"/>
          </a:xfrm>
          <a:prstGeom prst="rect">
            <a:avLst/>
          </a:prstGeom>
          <a:noFill/>
        </p:spPr>
        <p:txBody>
          <a:bodyPr wrap="square" anchor="t" lIns="0" rIns="0" tIns="0" bIns="0">
            <a:spAutoFit/>
          </a:bodyPr>
          <a:lstStyle/>
          <a:p>
            <a:pPr algn="l">
              <a:spcAft>
                <a:spcPts val="500"/>
              </a:spcAft>
            </a:pPr>
            <a:r>
              <a:rPr sz="1300" b="1">
                <a:solidFill>
                  <a:srgbClr val="C00000"/>
                </a:solidFill>
                <a:latin typeface="Meiryo"/>
                <a:ea typeface="Meiryo"/>
              </a:rPr>
              <a:t>お打ち合わせを受けたご提案</a:t>
            </a:r>
          </a:p>
          <a:p>
            <a:pPr algn="l">
              <a:spcAft>
                <a:spcPts val="500"/>
              </a:spcAft>
            </a:pPr>
            <a:r>
              <a:rPr sz="1200" b="0">
                <a:solidFill>
                  <a:srgbClr val="1A1A1A"/>
                </a:solidFill>
                <a:latin typeface="Meiryo"/>
                <a:ea typeface="Meiryo"/>
              </a:rPr>
              <a:t>・年間の最低開催数・最低作成数をお約束いただける場合、着ぐるみ単価を優遇します(例:400開催以上のコミットで17万円/開催)</a:t>
            </a:r>
          </a:p>
          <a:p>
            <a:pPr algn="l">
              <a:spcAft>
                <a:spcPts val="500"/>
              </a:spcAft>
            </a:pPr>
            <a:r>
              <a:rPr sz="1200" b="0">
                <a:solidFill>
                  <a:srgbClr val="1A1A1A"/>
                </a:solidFill>
                <a:latin typeface="Meiryo"/>
                <a:ea typeface="Meiryo"/>
              </a:rPr>
              <a:t>・ウルトラマンは7・8月も稼働可能です(現行IP様は夏季稼働不可)。夏商戦を含むフル12か月稼働なら最大720開催まで拡張できます</a:t>
            </a:r>
          </a:p>
          <a:p>
            <a:pPr algn="l">
              <a:spcAft>
                <a:spcPts val="500"/>
              </a:spcAft>
            </a:pPr>
            <a:r>
              <a:rPr sz="1200" b="0">
                <a:solidFill>
                  <a:srgbClr val="1A1A1A"/>
                </a:solidFill>
                <a:latin typeface="Meiryo"/>
                <a:ea typeface="Meiryo"/>
              </a:rPr>
              <a:t>・複数IPでのご運用でも、映画・新TVシリーズ・玩具新商品と連動した季節企画で「切替の変化」をご提供できます(キャラクター切替・選べるヒーロー等)</a:t>
            </a:r>
          </a:p>
        </p:txBody>
      </p:sp>
      <p:sp>
        <p:nvSpPr>
          <p:cNvPr id="11" name="TextBox 10"/>
          <p:cNvSpPr txBox="1"/>
          <p:nvPr/>
        </p:nvSpPr>
        <p:spPr>
          <a:xfrm>
            <a:off x="640080" y="5715000"/>
            <a:ext cx="10881360" cy="731520"/>
          </a:xfrm>
          <a:prstGeom prst="rect">
            <a:avLst/>
          </a:prstGeom>
          <a:noFill/>
        </p:spPr>
        <p:txBody>
          <a:bodyPr wrap="square" anchor="t" lIns="0" rIns="0" tIns="0" bIns="0">
            <a:spAutoFit/>
          </a:bodyPr>
          <a:lstStyle/>
          <a:p>
            <a:pPr algn="l">
              <a:spcAft>
                <a:spcPts val="300"/>
              </a:spcAft>
            </a:pPr>
            <a:r>
              <a:rPr sz="1000" b="0">
                <a:solidFill>
                  <a:srgbClr val="5A626B"/>
                </a:solidFill>
                <a:latin typeface="Meiryo"/>
                <a:ea typeface="Meiryo"/>
              </a:rPr>
              <a:t>※③はキット単価15.5万円/式、ノベルティは貴社FY25ご実績(年約2.1万セット・作成費約1億8,500万円)を配分比で試算。ロイヤリティは作成実績(実額)ベースで精算します。</a:t>
            </a:r>
          </a:p>
          <a:p>
            <a:pPr algn="l">
              <a:spcAft>
                <a:spcPts val="300"/>
              </a:spcAft>
            </a:pPr>
            <a:r>
              <a:rPr sz="1000" b="0">
                <a:solidFill>
                  <a:srgbClr val="5A626B"/>
                </a:solidFill>
                <a:latin typeface="Meiryo"/>
                <a:ea typeface="Meiryo"/>
              </a:rPr>
              <a:t>※店頭訴求ツールは作成数実績(年間約23.5万部)をご共有いただきました。作成費(金額)のご共有後、③を最終精緻化します。※固定費は①のみ。②③は実施・作成分だけの従量です。</a:t>
            </a:r>
          </a:p>
          <a:p>
            <a:pPr algn="l">
              <a:spcAft>
                <a:spcPts val="300"/>
              </a:spcAft>
            </a:pPr>
            <a:r>
              <a:rPr sz="1000" b="0">
                <a:solidFill>
                  <a:srgbClr val="5A626B"/>
                </a:solidFill>
                <a:latin typeface="Meiryo"/>
                <a:ea typeface="Meiryo"/>
              </a:rPr>
              <a:t>※②は土日2日間・ディレクター+アクター2名体制。首都圏内は交通実費込みの特別条件、首都圏外は交通・宿泊実費を別途申し受けます。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今期スポットテストのご提案(回数ベース・地域自由)</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年間のお取り組みとは切り離した単発テストです。着ぐるみを用いる2形式をご用意しました</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2</a:t>
            </a:r>
          </a:p>
        </p:txBody>
      </p:sp>
      <p:graphicFrame>
        <p:nvGraphicFramePr>
          <p:cNvPr id="8" name="Table 7"/>
          <p:cNvGraphicFramePr>
            <a:graphicFrameLocks noGrp="1"/>
          </p:cNvGraphicFramePr>
          <p:nvPr/>
        </p:nvGraphicFramePr>
        <p:xfrm>
          <a:off x="640080" y="1417320"/>
          <a:ext cx="10881360" cy="3584448"/>
        </p:xfrm>
        <a:graphic>
          <a:graphicData uri="http://schemas.openxmlformats.org/drawingml/2006/table">
            <a:tbl>
              <a:tblPr firstRow="1" bandRow="1">
                <a:tableStyleId>{5C22544A-7EE6-4342-B048-85BDC9FD1C3A}</a:tableStyleId>
              </a:tblPr>
              <a:tblGrid>
                <a:gridCol w="1632204"/>
                <a:gridCol w="4624578"/>
                <a:gridCol w="4624578"/>
              </a:tblGrid>
              <a:tr h="512064">
                <a:tc>
                  <a:txBody>
                    <a:bodyPr/>
                    <a:lstStyle/>
                    <a:p>
                      <a:r>
                        <a:rPr sz="1100" b="1">
                          <a:solidFill>
                            <a:srgbClr val="FFFFFF"/>
                          </a:solidFill>
                          <a:latin typeface="Meiryo"/>
                          <a:ea typeface="Meiryo"/>
                        </a:rPr>
                        <a:t/>
                      </a:r>
                    </a:p>
                  </a:txBody>
                  <a:tcPr anchor="ctr" marL="73152" marR="73152">
                    <a:solidFill>
                      <a:srgbClr val="232278"/>
                    </a:solidFill>
                  </a:tcPr>
                </a:tc>
                <a:tc>
                  <a:txBody>
                    <a:bodyPr/>
                    <a:lstStyle/>
                    <a:p>
                      <a:r>
                        <a:rPr sz="1100" b="1">
                          <a:solidFill>
                            <a:srgbClr val="FFFFFF"/>
                          </a:solidFill>
                          <a:latin typeface="Meiryo"/>
                          <a:ea typeface="Meiryo"/>
                        </a:rPr>
                        <a:t>形式S1:写真撮影会型(グリーティング)</a:t>
                      </a:r>
                    </a:p>
                  </a:txBody>
                  <a:tcPr anchor="ctr" marL="73152" marR="73152">
                    <a:solidFill>
                      <a:srgbClr val="232278"/>
                    </a:solidFill>
                  </a:tcPr>
                </a:tc>
                <a:tc>
                  <a:txBody>
                    <a:bodyPr/>
                    <a:lstStyle/>
                    <a:p>
                      <a:r>
                        <a:rPr sz="1100" b="1">
                          <a:solidFill>
                            <a:srgbClr val="FFFFFF"/>
                          </a:solidFill>
                          <a:latin typeface="Meiryo"/>
                          <a:ea typeface="Meiryo"/>
                        </a:rPr>
                        <a:t>形式S2:ステージショー型</a:t>
                      </a:r>
                    </a:p>
                  </a:txBody>
                  <a:tcPr anchor="ctr" marL="73152" marR="73152">
                    <a:solidFill>
                      <a:srgbClr val="232278"/>
                    </a:solidFill>
                  </a:tcPr>
                </a:tc>
              </a:tr>
              <a:tr h="512064">
                <a:tc>
                  <a:txBody>
                    <a:bodyPr/>
                    <a:lstStyle/>
                    <a:p>
                      <a:r>
                        <a:rPr sz="1100" b="0">
                          <a:solidFill>
                            <a:srgbClr val="1A1A1A"/>
                          </a:solidFill>
                          <a:latin typeface="Meiryo"/>
                          <a:ea typeface="Meiryo"/>
                        </a:rPr>
                        <a:t>内容</a:t>
                      </a:r>
                    </a:p>
                  </a:txBody>
                  <a:tcPr anchor="ctr" marL="73152" marR="73152">
                    <a:solidFill>
                      <a:srgbClr val="FFFFFF"/>
                    </a:solidFill>
                  </a:tcPr>
                </a:tc>
                <a:tc>
                  <a:txBody>
                    <a:bodyPr/>
                    <a:lstStyle/>
                    <a:p>
                      <a:r>
                        <a:rPr sz="1100" b="0">
                          <a:solidFill>
                            <a:srgbClr val="1A1A1A"/>
                          </a:solidFill>
                          <a:latin typeface="Meiryo"/>
                          <a:ea typeface="Meiryo"/>
                        </a:rPr>
                        <a:t>1回30分×1日最大5回の撮影会・グリーティング。店頭・商業施設の集客と送客を検証</a:t>
                      </a:r>
                    </a:p>
                  </a:txBody>
                  <a:tcPr anchor="ctr" marL="73152" marR="73152">
                    <a:solidFill>
                      <a:srgbClr val="FFFFFF"/>
                    </a:solidFill>
                  </a:tcPr>
                </a:tc>
                <a:tc>
                  <a:txBody>
                    <a:bodyPr/>
                    <a:lstStyle/>
                    <a:p>
                      <a:r>
                        <a:rPr sz="1100" b="0">
                          <a:solidFill>
                            <a:srgbClr val="1A1A1A"/>
                          </a:solidFill>
                          <a:latin typeface="Meiryo"/>
                          <a:ea typeface="Meiryo"/>
                        </a:rPr>
                        <a:t>ステージショー(2回/日)+撮影会のセット。大型集客の瞬発力を検証</a:t>
                      </a:r>
                    </a:p>
                  </a:txBody>
                  <a:tcPr anchor="ctr" marL="73152" marR="73152">
                    <a:solidFill>
                      <a:srgbClr val="FFFFFF"/>
                    </a:solidFill>
                  </a:tcPr>
                </a:tc>
              </a:tr>
              <a:tr h="512064">
                <a:tc>
                  <a:txBody>
                    <a:bodyPr/>
                    <a:lstStyle/>
                    <a:p>
                      <a:r>
                        <a:rPr sz="1100" b="0">
                          <a:solidFill>
                            <a:srgbClr val="1A1A1A"/>
                          </a:solidFill>
                          <a:latin typeface="Meiryo"/>
                          <a:ea typeface="Meiryo"/>
                        </a:rPr>
                        <a:t>単位</a:t>
                      </a:r>
                    </a:p>
                  </a:txBody>
                  <a:tcPr anchor="ctr" marL="73152" marR="73152">
                    <a:solidFill>
                      <a:srgbClr val="F2F4F6"/>
                    </a:solidFill>
                  </a:tcPr>
                </a:tc>
                <a:tc>
                  <a:txBody>
                    <a:bodyPr/>
                    <a:lstStyle/>
                    <a:p>
                      <a:r>
                        <a:rPr sz="1100" b="0">
                          <a:solidFill>
                            <a:srgbClr val="1A1A1A"/>
                          </a:solidFill>
                          <a:latin typeface="Meiryo"/>
                          <a:ea typeface="Meiryo"/>
                        </a:rPr>
                        <a:t>1開催=土日2日間</a:t>
                      </a:r>
                    </a:p>
                  </a:txBody>
                  <a:tcPr anchor="ctr" marL="73152" marR="73152">
                    <a:solidFill>
                      <a:srgbClr val="F2F4F6"/>
                    </a:solidFill>
                  </a:tcPr>
                </a:tc>
                <a:tc>
                  <a:txBody>
                    <a:bodyPr/>
                    <a:lstStyle/>
                    <a:p>
                      <a:r>
                        <a:rPr sz="1100" b="0">
                          <a:solidFill>
                            <a:srgbClr val="1A1A1A"/>
                          </a:solidFill>
                          <a:latin typeface="Meiryo"/>
                          <a:ea typeface="Meiryo"/>
                        </a:rPr>
                        <a:t>1開催=土日2日間</a:t>
                      </a:r>
                    </a:p>
                  </a:txBody>
                  <a:tcPr anchor="ctr" marL="73152" marR="73152">
                    <a:solidFill>
                      <a:srgbClr val="F2F4F6"/>
                    </a:solidFill>
                  </a:tcPr>
                </a:tc>
              </a:tr>
              <a:tr h="512064">
                <a:tc>
                  <a:txBody>
                    <a:bodyPr/>
                    <a:lstStyle/>
                    <a:p>
                      <a:r>
                        <a:rPr sz="1100" b="1">
                          <a:solidFill>
                            <a:srgbClr val="C00000"/>
                          </a:solidFill>
                          <a:latin typeface="Meiryo"/>
                          <a:ea typeface="Meiryo"/>
                        </a:rPr>
                        <a:t>費用</a:t>
                      </a:r>
                    </a:p>
                  </a:txBody>
                  <a:tcPr anchor="ctr" marL="73152" marR="73152">
                    <a:solidFill>
                      <a:srgbClr val="FFFFFF"/>
                    </a:solidFill>
                  </a:tcPr>
                </a:tc>
                <a:tc>
                  <a:txBody>
                    <a:bodyPr/>
                    <a:lstStyle/>
                    <a:p>
                      <a:r>
                        <a:rPr sz="1100" b="1">
                          <a:solidFill>
                            <a:srgbClr val="1A1A1A"/>
                          </a:solidFill>
                          <a:latin typeface="Meiryo"/>
                          <a:ea typeface="Meiryo"/>
                        </a:rPr>
                        <a:t>100万円/開催(IP許諾・監修・スーツ・アクター・輸送込み)</a:t>
                      </a:r>
                    </a:p>
                  </a:txBody>
                  <a:tcPr anchor="ctr" marL="73152" marR="73152">
                    <a:solidFill>
                      <a:srgbClr val="FFFFFF"/>
                    </a:solidFill>
                  </a:tcPr>
                </a:tc>
                <a:tc>
                  <a:txBody>
                    <a:bodyPr/>
                    <a:lstStyle/>
                    <a:p>
                      <a:r>
                        <a:rPr sz="1100" b="1">
                          <a:solidFill>
                            <a:srgbClr val="1A1A1A"/>
                          </a:solidFill>
                          <a:latin typeface="Meiryo"/>
                          <a:ea typeface="Meiryo"/>
                        </a:rPr>
                        <a:t>150万円/開催(ショー演出・音源・追加スタッフ込み)</a:t>
                      </a:r>
                    </a:p>
                  </a:txBody>
                  <a:tcPr anchor="ctr" marL="73152" marR="73152">
                    <a:solidFill>
                      <a:srgbClr val="FFFFFF"/>
                    </a:solidFill>
                  </a:tcPr>
                </a:tc>
              </a:tr>
              <a:tr h="512064">
                <a:tc>
                  <a:txBody>
                    <a:bodyPr/>
                    <a:lstStyle/>
                    <a:p>
                      <a:r>
                        <a:rPr sz="1100" b="0">
                          <a:solidFill>
                            <a:srgbClr val="1A1A1A"/>
                          </a:solidFill>
                          <a:latin typeface="Meiryo"/>
                          <a:ea typeface="Meiryo"/>
                        </a:rPr>
                        <a:t>貴社側ご負担</a:t>
                      </a:r>
                    </a:p>
                  </a:txBody>
                  <a:tcPr anchor="ctr" marL="73152" marR="73152">
                    <a:solidFill>
                      <a:srgbClr val="F2F4F6"/>
                    </a:solidFill>
                  </a:tcPr>
                </a:tc>
                <a:tc>
                  <a:txBody>
                    <a:bodyPr/>
                    <a:lstStyle/>
                    <a:p>
                      <a:r>
                        <a:rPr sz="1100" b="0">
                          <a:solidFill>
                            <a:srgbClr val="1A1A1A"/>
                          </a:solidFill>
                          <a:latin typeface="Meiryo"/>
                          <a:ea typeface="Meiryo"/>
                        </a:rPr>
                        <a:t>会場手配・集客告知・当日運営(誘導スタッフ)</a:t>
                      </a:r>
                    </a:p>
                  </a:txBody>
                  <a:tcPr anchor="ctr" marL="73152" marR="73152">
                    <a:solidFill>
                      <a:srgbClr val="F2F4F6"/>
                    </a:solidFill>
                  </a:tcPr>
                </a:tc>
                <a:tc>
                  <a:txBody>
                    <a:bodyPr/>
                    <a:lstStyle/>
                    <a:p>
                      <a:r>
                        <a:rPr sz="1100" b="0">
                          <a:solidFill>
                            <a:srgbClr val="1A1A1A"/>
                          </a:solidFill>
                          <a:latin typeface="Meiryo"/>
                          <a:ea typeface="Meiryo"/>
                        </a:rPr>
                        <a:t>同左+ステージ設営</a:t>
                      </a:r>
                    </a:p>
                  </a:txBody>
                  <a:tcPr anchor="ctr" marL="73152" marR="73152">
                    <a:solidFill>
                      <a:srgbClr val="F2F4F6"/>
                    </a:solidFill>
                  </a:tcPr>
                </a:tc>
              </a:tr>
              <a:tr h="512064">
                <a:tc>
                  <a:txBody>
                    <a:bodyPr/>
                    <a:lstStyle/>
                    <a:p>
                      <a:r>
                        <a:rPr sz="1100" b="0">
                          <a:solidFill>
                            <a:srgbClr val="1A1A1A"/>
                          </a:solidFill>
                          <a:latin typeface="Meiryo"/>
                          <a:ea typeface="Meiryo"/>
                        </a:rPr>
                        <a:t>想定規模</a:t>
                      </a:r>
                    </a:p>
                  </a:txBody>
                  <a:tcPr anchor="ctr" marL="73152" marR="73152">
                    <a:solidFill>
                      <a:srgbClr val="FFFFFF"/>
                    </a:solidFill>
                  </a:tcPr>
                </a:tc>
                <a:tc>
                  <a:txBody>
                    <a:bodyPr/>
                    <a:lstStyle/>
                    <a:p>
                      <a:r>
                        <a:rPr sz="1100" b="1">
                          <a:solidFill>
                            <a:srgbClr val="1A1A1A"/>
                          </a:solidFill>
                          <a:latin typeface="Meiryo"/>
                          <a:ea typeface="Meiryo"/>
                        </a:rPr>
                        <a:t>5施設程度(各1開催)を想定 → 総額500万円</a:t>
                      </a:r>
                    </a:p>
                  </a:txBody>
                  <a:tcPr anchor="ctr" marL="73152" marR="73152">
                    <a:solidFill>
                      <a:srgbClr val="FFFFFF"/>
                    </a:solidFill>
                  </a:tcPr>
                </a:tc>
                <a:tc>
                  <a:txBody>
                    <a:bodyPr/>
                    <a:lstStyle/>
                    <a:p>
                      <a:r>
                        <a:rPr sz="1100" b="0">
                          <a:solidFill>
                            <a:srgbClr val="1A1A1A"/>
                          </a:solidFill>
                          <a:latin typeface="Meiryo"/>
                          <a:ea typeface="Meiryo"/>
                        </a:rPr>
                        <a:t>うち1〜2施設でのオプション実施</a:t>
                      </a:r>
                    </a:p>
                  </a:txBody>
                  <a:tcPr anchor="ctr" marL="73152" marR="73152">
                    <a:solidFill>
                      <a:srgbClr val="FFFFFF"/>
                    </a:solidFill>
                  </a:tcPr>
                </a:tc>
              </a:tr>
              <a:tr h="512064">
                <a:tc>
                  <a:txBody>
                    <a:bodyPr/>
                    <a:lstStyle/>
                    <a:p>
                      <a:r>
                        <a:rPr sz="1100" b="0">
                          <a:solidFill>
                            <a:srgbClr val="1A1A1A"/>
                          </a:solidFill>
                          <a:latin typeface="Meiryo"/>
                          <a:ea typeface="Meiryo"/>
                        </a:rPr>
                        <a:t>地域</a:t>
                      </a:r>
                    </a:p>
                  </a:txBody>
                  <a:tcPr anchor="ctr" marL="73152" marR="73152">
                    <a:solidFill>
                      <a:srgbClr val="F2F4F6"/>
                    </a:solidFill>
                  </a:tcPr>
                </a:tc>
                <a:tc>
                  <a:txBody>
                    <a:bodyPr/>
                    <a:lstStyle/>
                    <a:p>
                      <a:r>
                        <a:rPr sz="1100" b="0">
                          <a:solidFill>
                            <a:srgbClr val="1A1A1A"/>
                          </a:solidFill>
                          <a:latin typeface="Meiryo"/>
                          <a:ea typeface="Meiryo"/>
                        </a:rPr>
                        <a:t>全国対応可(関東に限定しません)</a:t>
                      </a:r>
                    </a:p>
                  </a:txBody>
                  <a:tcPr anchor="ctr" marL="73152" marR="73152">
                    <a:solidFill>
                      <a:srgbClr val="F2F4F6"/>
                    </a:solidFill>
                  </a:tcPr>
                </a:tc>
                <a:tc>
                  <a:txBody>
                    <a:bodyPr/>
                    <a:lstStyle/>
                    <a:p>
                      <a:r>
                        <a:rPr sz="1100" b="0">
                          <a:solidFill>
                            <a:srgbClr val="1A1A1A"/>
                          </a:solidFill>
                          <a:latin typeface="Meiryo"/>
                          <a:ea typeface="Meiryo"/>
                        </a:rPr>
                        <a:t>同左</a:t>
                      </a:r>
                    </a:p>
                  </a:txBody>
                  <a:tcPr anchor="ctr" marL="73152" marR="73152">
                    <a:solidFill>
                      <a:srgbClr val="F2F4F6"/>
                    </a:solidFill>
                  </a:tcPr>
                </a:tc>
              </a:tr>
            </a:tbl>
          </a:graphicData>
        </a:graphic>
      </p:graphicFrame>
      <p:sp>
        <p:nvSpPr>
          <p:cNvPr id="9" name="TextBox 8"/>
          <p:cNvSpPr txBox="1"/>
          <p:nvPr/>
        </p:nvSpPr>
        <p:spPr>
          <a:xfrm>
            <a:off x="640080" y="5257800"/>
            <a:ext cx="10881360" cy="1188720"/>
          </a:xfrm>
          <a:prstGeom prst="rect">
            <a:avLst/>
          </a:prstGeom>
          <a:noFill/>
        </p:spPr>
        <p:txBody>
          <a:bodyPr wrap="square" anchor="t" lIns="0" rIns="0" tIns="0" bIns="0">
            <a:spAutoFit/>
          </a:bodyPr>
          <a:lstStyle/>
          <a:p>
            <a:pPr algn="l">
              <a:spcAft>
                <a:spcPts val="300"/>
              </a:spcAft>
            </a:pPr>
            <a:r>
              <a:rPr sz="1250" b="1">
                <a:solidFill>
                  <a:srgbClr val="C00000"/>
                </a:solidFill>
                <a:latin typeface="Meiryo"/>
                <a:ea typeface="Meiryo"/>
              </a:rPr>
              <a:t>想定プラン:</a:t>
            </a:r>
            <a:r>
              <a:rPr sz="1250" b="0">
                <a:solidFill>
                  <a:srgbClr val="1A1A1A"/>
                </a:solidFill>
                <a:latin typeface="Meiryo"/>
                <a:ea typeface="Meiryo"/>
              </a:rPr>
              <a:t>エリア・施設タイプの異なる5施設で実施し、集客・送客効果を比較検証(S1×5施設=総額500万円・IP使用料不要)。</a:t>
            </a:r>
          </a:p>
          <a:p>
            <a:pPr algn="l">
              <a:spcAft>
                <a:spcPts val="300"/>
              </a:spcAft>
            </a:pPr>
            <a:r>
              <a:rPr sz="1250" b="1">
                <a:solidFill>
                  <a:srgbClr val="C00000"/>
                </a:solidFill>
                <a:latin typeface="Meiryo"/>
                <a:ea typeface="Meiryo"/>
              </a:rPr>
              <a:t>継続パック(S1):</a:t>
            </a:r>
            <a:r>
              <a:rPr sz="1250" b="0">
                <a:solidFill>
                  <a:srgbClr val="1A1A1A"/>
                </a:solidFill>
                <a:latin typeface="Meiryo"/>
                <a:ea typeface="Meiryo"/>
              </a:rPr>
              <a:t>隔週(月2開催)190万円/月、毎週(月4開催)360万円/月(単発比の優遇設定)。</a:t>
            </a:r>
          </a:p>
          <a:p>
            <a:pPr algn="l">
              <a:spcAft>
                <a:spcPts val="300"/>
              </a:spcAft>
            </a:pPr>
            <a:r>
              <a:rPr sz="1250" b="1">
                <a:solidFill>
                  <a:srgbClr val="C00000"/>
                </a:solidFill>
                <a:latin typeface="Meiryo"/>
                <a:ea typeface="Meiryo"/>
              </a:rPr>
              <a:t>実施条件:</a:t>
            </a:r>
            <a:r>
              <a:rPr sz="1200" b="0">
                <a:solidFill>
                  <a:srgbClr val="1A1A1A"/>
                </a:solidFill>
                <a:latin typeface="Meiryo"/>
                <a:ea typeface="Meiryo"/>
              </a:rPr>
              <a:t>当社の既存ライセンス条件の調整を経て、実施時期・会場を確定します(調整は当社にて速やかに進めます)。測定項目:来場数・撮影参加組数・ブース送客数。</a:t>
            </a:r>
          </a:p>
          <a:p>
            <a:pPr algn="l">
              <a:spcAft>
                <a:spcPts val="300"/>
              </a:spcAft>
            </a:pPr>
            <a:r>
              <a:rPr sz="1050" b="0">
                <a:solidFill>
                  <a:srgbClr val="5A626B"/>
                </a:solidFill>
                <a:latin typeface="Meiryo"/>
                <a:ea typeface="Meiryo"/>
              </a:rPr>
              <a:t>※通常イベントキットを用いるテストはキット製作を伴うため来年度からのご提案。※本テスト費用は、年間ご契約成立時に翌年度IP使用料へ充当するご相談が可能です。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