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54864"/>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10515600" cy="45720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ソフトバンク株式会社 御中</a:t>
            </a:r>
          </a:p>
        </p:txBody>
      </p:sp>
      <p:sp>
        <p:nvSpPr>
          <p:cNvPr id="5" name="TextBox 4"/>
          <p:cNvSpPr txBox="1"/>
          <p:nvPr/>
        </p:nvSpPr>
        <p:spPr>
          <a:xfrm>
            <a:off x="822960" y="1783080"/>
            <a:ext cx="10607040" cy="2377440"/>
          </a:xfrm>
          <a:prstGeom prst="rect">
            <a:avLst/>
          </a:prstGeom>
          <a:noFill/>
        </p:spPr>
        <p:txBody>
          <a:bodyPr wrap="square" anchor="t" lIns="0" rIns="0" tIns="0" bIns="0">
            <a:spAutoFit/>
          </a:bodyPr>
          <a:lstStyle/>
          <a:p>
            <a:pPr algn="l">
              <a:spcAft>
                <a:spcPts val="1000"/>
              </a:spcAft>
            </a:pPr>
            <a:r>
              <a:rPr sz="3000" b="1">
                <a:solidFill>
                  <a:srgbClr val="8E949B"/>
                </a:solidFill>
                <a:latin typeface="Yu Gothic"/>
                <a:ea typeface="Yu Gothic"/>
              </a:rPr>
              <a:t>SoftBank × ウルトラマン</a:t>
            </a:r>
          </a:p>
          <a:p>
            <a:pPr algn="l">
              <a:spcAft>
                <a:spcPts val="1000"/>
              </a:spcAft>
            </a:pPr>
            <a:r>
              <a:rPr sz="5400" b="1">
                <a:solidFill>
                  <a:srgbClr val="FFFFFF"/>
                </a:solidFill>
                <a:latin typeface="Yu Gothic"/>
                <a:ea typeface="Yu Gothic"/>
              </a:rPr>
              <a:t>未来防衛隊キャラバン</a:t>
            </a:r>
          </a:p>
        </p:txBody>
      </p:sp>
      <p:sp>
        <p:nvSpPr>
          <p:cNvPr id="6" name="TextBox 5"/>
          <p:cNvSpPr txBox="1"/>
          <p:nvPr/>
        </p:nvSpPr>
        <p:spPr>
          <a:xfrm>
            <a:off x="822960" y="3703320"/>
            <a:ext cx="10607040" cy="822960"/>
          </a:xfrm>
          <a:prstGeom prst="rect">
            <a:avLst/>
          </a:prstGeom>
          <a:noFill/>
        </p:spPr>
        <p:txBody>
          <a:bodyPr wrap="square" anchor="t" lIns="0" rIns="0" tIns="0" bIns="0">
            <a:spAutoFit/>
          </a:bodyPr>
          <a:lstStyle/>
          <a:p>
            <a:pPr algn="l">
              <a:spcAft>
                <a:spcPts val="400"/>
              </a:spcAft>
            </a:pPr>
            <a:r>
              <a:rPr sz="1600" b="0">
                <a:solidFill>
                  <a:srgbClr val="FFFFFF"/>
                </a:solidFill>
                <a:latin typeface="Yu Gothic"/>
                <a:ea typeface="Yu Gothic"/>
              </a:rPr>
              <a:t>商業施設に親子・ファミリーを呼び込み、SoftBankショップ・BB・でんき・モバイル相談へ送客する</a:t>
            </a:r>
          </a:p>
          <a:p>
            <a:pPr algn="l">
              <a:spcAft>
                <a:spcPts val="400"/>
              </a:spcAft>
            </a:pPr>
            <a:r>
              <a:rPr sz="1600" b="0">
                <a:solidFill>
                  <a:srgbClr val="FFFFFF"/>
                </a:solidFill>
                <a:latin typeface="Yu Gothic"/>
                <a:ea typeface="Yu Gothic"/>
              </a:rPr>
              <a:t>店頭イベント戦略のご提案</a:t>
            </a:r>
          </a:p>
        </p:txBody>
      </p:sp>
      <p:sp>
        <p:nvSpPr>
          <p:cNvPr id="7" name="TextBox 6"/>
          <p:cNvSpPr txBox="1"/>
          <p:nvPr/>
        </p:nvSpPr>
        <p:spPr>
          <a:xfrm>
            <a:off x="822960" y="4892040"/>
            <a:ext cx="10515600" cy="1280160"/>
          </a:xfrm>
          <a:prstGeom prst="rect">
            <a:avLst/>
          </a:prstGeom>
          <a:noFill/>
        </p:spPr>
        <p:txBody>
          <a:bodyPr wrap="square" anchor="t" lIns="0" rIns="0" tIns="0" bIns="0">
            <a:spAutoFit/>
          </a:bodyPr>
          <a:lstStyle/>
          <a:p>
            <a:pPr algn="l">
              <a:spcAft>
                <a:spcPts val="800"/>
              </a:spcAft>
            </a:pPr>
            <a:r>
              <a:rPr sz="1350" b="0">
                <a:solidFill>
                  <a:srgbClr val="E8B4B8"/>
                </a:solidFill>
                <a:latin typeface="Yu Gothic"/>
                <a:ea typeface="Yu Gothic"/>
              </a:rPr>
              <a:t>ウルトラマンが、家族を商業施設へ呼び込む。SoftBankが、暮らしの通信・電気・安心を守る。</a:t>
            </a:r>
          </a:p>
          <a:p>
            <a:pPr algn="l">
              <a:spcAft>
                <a:spcPts val="800"/>
              </a:spcAft>
            </a:pPr>
            <a:r>
              <a:rPr sz="1200" b="0">
                <a:solidFill>
                  <a:srgbClr val="8E949B"/>
                </a:solidFill>
                <a:latin typeface="Yu Gothic"/>
                <a:ea typeface="Yu Gothic"/>
              </a:rPr>
              <a:t>2026年7月|Confidential|金額はすべて税別・概算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エグゼクティブサマリー</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本企画はキャラクター露出ではなく、商業施設への「目的来館」を作り、店頭相談へ送客する施策です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D60012"/>
                </a:solidFill>
                <a:latin typeface="Yu Gothic"/>
                <a:ea typeface="Yu Gothic"/>
              </a:rPr>
              <a:t>結論:</a:t>
            </a:r>
            <a:r>
              <a:rPr sz="1500" b="0">
                <a:solidFill>
                  <a:srgbClr val="21252B"/>
                </a:solidFill>
                <a:latin typeface="Yu Gothic"/>
                <a:ea typeface="Yu Gothic"/>
              </a:rPr>
              <a:t>ウルトラマンを“商業施設に顧客を呼び込む店頭イベントの核”として活用し、来館した親子・ファミリー層を</a:t>
            </a:r>
          </a:p>
          <a:p>
            <a:pPr algn="l">
              <a:spcAft>
                <a:spcPts val="400"/>
              </a:spcAft>
            </a:pPr>
            <a:r>
              <a:rPr sz="1500" b="1">
                <a:solidFill>
                  <a:srgbClr val="21252B"/>
                </a:solidFill>
                <a:latin typeface="Yu Gothic"/>
                <a:ea typeface="Yu Gothic"/>
              </a:rPr>
              <a:t>SoftBankショップ、BB、でんき、モバイル相談へ送客する。</a:t>
            </a:r>
            <a:r>
              <a:rPr sz="1500" b="1">
                <a:solidFill>
                  <a:srgbClr val="D60012"/>
                </a:solidFill>
                <a:latin typeface="Yu Gothic"/>
                <a:ea typeface="Yu Gothic"/>
              </a:rPr>
              <a:t>本命はFY27年度の年間活用を前提とした1.2億円プラン(B案)。</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背景:現行ポケモン契約(FY26:7,000万円)はイベント・BB・でんきで活用可能。FY27以降も契約は継続予定だが、着ぐるみ利用は不可となる前提。</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課題:FY27以降、商業施設イベントにおける「会いに行く理由」=リアル集客機能に空白が生まれる。</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解決:ポケモンの置き換えではなく、リアルイベント集客機能をウルトラマンで補完する。2026年7月10日にシリーズ60周年を迎える追い風もある。</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仕組み:ヒーロー撮影会・館内ミッションラリー・デジタル隊員証で商業施設に呼び込み、SoftBankショップの相談(スマホ・BB・でんき)へ自然に送客。</a:t>
            </a:r>
          </a:p>
          <a:p>
            <a:pPr algn="l">
              <a:spcAft>
                <a:spcPts val="1200"/>
              </a:spcAft>
            </a:pPr>
            <a:r>
              <a:rPr sz="1100" b="1">
                <a:solidFill>
                  <a:srgbClr val="D60012"/>
                </a:solidFill>
                <a:latin typeface="Yu Gothic"/>
                <a:ea typeface="Yu Gothic"/>
              </a:rPr>
              <a:t>● </a:t>
            </a:r>
            <a:r>
              <a:rPr sz="1400" b="1">
                <a:solidFill>
                  <a:srgbClr val="21252B"/>
                </a:solidFill>
                <a:latin typeface="Yu Gothic"/>
                <a:ea typeface="Yu Gothic"/>
              </a:rPr>
              <a:t>提案:A案3,500万円(短期検証)/B案1億2,000万円(FY27年間・本命)/C案2億5,000万円(60周年大型展開)。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ご提案のポジション:コンシューマ事業のリアル接点拡張施策</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「IPコラボ」ではなく、コンシューマ事業統括の管掌領域に直結する成長施策としてご提案します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高島謙一氏は2026年4月1日付で、副社長執行役員 兼 COO コンシューマ事業統括に就任。</a:t>
            </a:r>
          </a:p>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ソフトバンクのコンシューマ事業は、付加価値サービスを備えた料金プランの浸透、グループ経済圏の活用、長期利用が期待できるユーザー層の獲得・定着を通じ、モバイルサービス売上とセグメント利益の継続成長を目指す方針。</a:t>
            </a:r>
          </a:p>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SoftBank/ワイモバイル/LINEMOのマルチブランド展開も競争優位として提示されている。</a:t>
            </a:r>
          </a:p>
        </p:txBody>
      </p:sp>
      <p:sp>
        <p:nvSpPr>
          <p:cNvPr id="9" name="Rounded Rectangle 8"/>
          <p:cNvSpPr/>
          <p:nvPr/>
        </p:nvSpPr>
        <p:spPr>
          <a:xfrm>
            <a:off x="777240" y="3794760"/>
            <a:ext cx="10607040" cy="1554480"/>
          </a:xfrm>
          <a:prstGeom prst="roundRect">
            <a:avLst>
              <a:gd name="adj" fmla="val 8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Yu Gothic"/>
                <a:ea typeface="Yu Gothic"/>
              </a:rPr>
              <a:t>本企画の主語</a:t>
            </a:r>
          </a:p>
          <a:p>
            <a:pPr algn="l">
              <a:spcAft>
                <a:spcPts val="600"/>
              </a:spcAft>
            </a:pPr>
            <a:r>
              <a:rPr sz="1700" b="1">
                <a:solidFill>
                  <a:srgbClr val="FFFFFF"/>
                </a:solidFill>
                <a:latin typeface="Yu Gothic"/>
                <a:ea typeface="Yu Gothic"/>
              </a:rPr>
              <a:t>ウルトラマン60周年を活用し、商業施設に親子・ファミリーを呼び込み、</a:t>
            </a:r>
          </a:p>
          <a:p>
            <a:pPr algn="l">
              <a:spcAft>
                <a:spcPts val="600"/>
              </a:spcAft>
            </a:pPr>
            <a:r>
              <a:rPr sz="1700" b="1">
                <a:solidFill>
                  <a:srgbClr val="FFFFFF"/>
                </a:solidFill>
                <a:latin typeface="Yu Gothic"/>
                <a:ea typeface="Yu Gothic"/>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現行ポケモン契約の整理</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FY27以降も契約は継続予定。ただし着ぐるみ利用が不可となり、リアル集客機能に課題が残ります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4</a:t>
            </a:r>
          </a:p>
        </p:txBody>
      </p:sp>
      <p:graphicFrame>
        <p:nvGraphicFramePr>
          <p:cNvPr id="8" name="Table 7"/>
          <p:cNvGraphicFramePr>
            <a:graphicFrameLocks noGrp="1"/>
          </p:cNvGraphicFramePr>
          <p:nvPr/>
        </p:nvGraphicFramePr>
        <p:xfrm>
          <a:off x="640080" y="1600200"/>
          <a:ext cx="7406639" cy="3456432"/>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現状</a:t>
                      </a:r>
                    </a:p>
                  </a:txBody>
                  <a:tcPr anchor="ctr" marL="73152" marR="73152" marT="18288" marB="18288">
                    <a:solidFill>
                      <a:srgbClr val="121A2E"/>
                    </a:solidFill>
                  </a:tcPr>
                </a:tc>
              </a:tr>
              <a:tr h="384048">
                <a:tc>
                  <a:txBody>
                    <a:bodyPr/>
                    <a:lstStyle/>
                    <a:p>
                      <a:r>
                        <a:rPr sz="1150" b="0">
                          <a:solidFill>
                            <a:srgbClr val="21252B"/>
                          </a:solidFill>
                          <a:latin typeface="Yu Gothic"/>
                          <a:ea typeface="Yu Gothic"/>
                        </a:rPr>
                        <a:t>契約期間</a:t>
                      </a:r>
                    </a:p>
                  </a:txBody>
                  <a:tcPr anchor="ctr" marL="73152" marR="73152" marT="18288" marB="18288">
                    <a:solidFill>
                      <a:srgbClr val="FFFFFF"/>
                    </a:solidFill>
                  </a:tcPr>
                </a:tc>
                <a:tc>
                  <a:txBody>
                    <a:bodyPr/>
                    <a:lstStyle/>
                    <a:p>
                      <a:r>
                        <a:rPr sz="1150" b="0">
                          <a:solidFill>
                            <a:srgbClr val="21252B"/>
                          </a:solidFill>
                          <a:latin typeface="Yu Gothic"/>
                          <a:ea typeface="Yu Gothic"/>
                        </a:rPr>
                        <a:t>4月〜3月の年度単位</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FY26契約費用</a:t>
                      </a:r>
                    </a:p>
                  </a:txBody>
                  <a:tcPr anchor="ctr" marL="73152" marR="73152" marT="18288" marB="18288">
                    <a:solidFill>
                      <a:srgbClr val="F2F4F6"/>
                    </a:solidFill>
                  </a:tcPr>
                </a:tc>
                <a:tc>
                  <a:txBody>
                    <a:bodyPr/>
                    <a:lstStyle/>
                    <a:p>
                      <a:r>
                        <a:rPr sz="1150" b="1">
                          <a:solidFill>
                            <a:srgbClr val="D60012"/>
                          </a:solidFill>
                          <a:latin typeface="Yu Gothic"/>
                          <a:ea typeface="Yu Gothic"/>
                        </a:rPr>
                        <a:t>7,000万円</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利用可能領域</a:t>
                      </a:r>
                    </a:p>
                  </a:txBody>
                  <a:tcPr anchor="ctr" marL="73152" marR="73152" marT="18288" marB="18288">
                    <a:solidFill>
                      <a:srgbClr val="FFFFFF"/>
                    </a:solidFill>
                  </a:tcPr>
                </a:tc>
                <a:tc>
                  <a:txBody>
                    <a:bodyPr/>
                    <a:lstStyle/>
                    <a:p>
                      <a:r>
                        <a:rPr sz="1150" b="0">
                          <a:solidFill>
                            <a:srgbClr val="21252B"/>
                          </a:solidFill>
                          <a:latin typeface="Yu Gothic"/>
                          <a:ea typeface="Yu Gothic"/>
                        </a:rPr>
                        <a:t>イベント、BB、でんき</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ノベルティ</a:t>
                      </a:r>
                    </a:p>
                  </a:txBody>
                  <a:tcPr anchor="ctr" marL="73152" marR="73152" marT="18288" marB="18288">
                    <a:solidFill>
                      <a:srgbClr val="F2F4F6"/>
                    </a:solidFill>
                  </a:tcPr>
                </a:tc>
                <a:tc>
                  <a:txBody>
                    <a:bodyPr/>
                    <a:lstStyle/>
                    <a:p>
                      <a:r>
                        <a:rPr sz="1150" b="0">
                          <a:solidFill>
                            <a:srgbClr val="21252B"/>
                          </a:solidFill>
                          <a:latin typeface="Yu Gothic"/>
                          <a:ea typeface="Yu Gothic"/>
                        </a:rPr>
                        <a:t>作成数制限なし(数量に応じた許諾対価が別途必要)</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他コンテンツ制限</a:t>
                      </a:r>
                    </a:p>
                  </a:txBody>
                  <a:tcPr anchor="ctr" marL="73152" marR="73152" marT="18288" marB="18288">
                    <a:solidFill>
                      <a:srgbClr val="FFFFFF"/>
                    </a:solidFill>
                  </a:tcPr>
                </a:tc>
                <a:tc>
                  <a:txBody>
                    <a:bodyPr/>
                    <a:lstStyle/>
                    <a:p>
                      <a:r>
                        <a:rPr sz="1150" b="0">
                          <a:solidFill>
                            <a:srgbClr val="21252B"/>
                          </a:solidFill>
                          <a:latin typeface="Yu Gothic"/>
                          <a:ea typeface="Yu Gothic"/>
                        </a:rPr>
                        <a:t>なし(他IPとの併用が可能)</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着ぐるみ利用</a:t>
                      </a:r>
                    </a:p>
                  </a:txBody>
                  <a:tcPr anchor="ctr" marL="73152" marR="73152" marT="18288" marB="18288">
                    <a:solidFill>
                      <a:srgbClr val="F2F4F6"/>
                    </a:solidFill>
                  </a:tcPr>
                </a:tc>
                <a:tc>
                  <a:txBody>
                    <a:bodyPr/>
                    <a:lstStyle/>
                    <a:p>
                      <a:r>
                        <a:rPr sz="1150" b="1">
                          <a:solidFill>
                            <a:srgbClr val="21252B"/>
                          </a:solidFill>
                          <a:latin typeface="Yu Gothic"/>
                          <a:ea typeface="Yu Gothic"/>
                        </a:rPr>
                        <a:t>FY26 3月まで</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FY27以降</a:t>
                      </a:r>
                    </a:p>
                  </a:txBody>
                  <a:tcPr anchor="ctr" marL="73152" marR="73152" marT="18288" marB="18288">
                    <a:solidFill>
                      <a:srgbClr val="FFFFFF"/>
                    </a:solidFill>
                  </a:tcPr>
                </a:tc>
                <a:tc>
                  <a:txBody>
                    <a:bodyPr/>
                    <a:lstStyle/>
                    <a:p>
                      <a:r>
                        <a:rPr sz="1150" b="1">
                          <a:solidFill>
                            <a:srgbClr val="D60012"/>
                          </a:solidFill>
                          <a:latin typeface="Yu Gothic"/>
                          <a:ea typeface="Yu Gothic"/>
                        </a:rPr>
                        <a:t>契約継続予定。ただし着ぐるみ利用不可</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他IP検討状況</a:t>
                      </a:r>
                    </a:p>
                  </a:txBody>
                  <a:tcPr anchor="ctr" marL="73152" marR="73152" marT="18288" marB="18288">
                    <a:solidFill>
                      <a:srgbClr val="F2F4F6"/>
                    </a:solidFill>
                  </a:tcPr>
                </a:tc>
                <a:tc>
                  <a:txBody>
                    <a:bodyPr/>
                    <a:lstStyle/>
                    <a:p>
                      <a:r>
                        <a:rPr sz="1150" b="0">
                          <a:solidFill>
                            <a:srgbClr val="21252B"/>
                          </a:solidFill>
                          <a:latin typeface="Yu Gothic"/>
                          <a:ea typeface="Yu Gothic"/>
                        </a:rPr>
                        <a:t>ちいかわ、すみっコぐらし、サンリオにアプローチ中</a:t>
                      </a:r>
                    </a:p>
                  </a:txBody>
                  <a:tcPr anchor="ctr" marL="73152" marR="73152" marT="18288" marB="18288">
                    <a:solidFill>
                      <a:srgbClr val="F2F4F6"/>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D60012"/>
                </a:solidFill>
                <a:latin typeface="Yu Gothic"/>
                <a:ea typeface="Yu Gothic"/>
              </a:rPr>
              <a:t>ここからの論点</a:t>
            </a:r>
          </a:p>
          <a:p>
            <a:pPr algn="l">
              <a:spcAft>
                <a:spcPts val="1000"/>
              </a:spcAft>
            </a:pPr>
            <a:r>
              <a:rPr sz="1250" b="0">
                <a:solidFill>
                  <a:srgbClr val="21252B"/>
                </a:solidFill>
                <a:latin typeface="Yu Gothic"/>
                <a:ea typeface="Yu Gothic"/>
              </a:rPr>
              <a:t>① ポケモンはBB・でんき・既存コンテンツで継続すべき</a:t>
            </a:r>
          </a:p>
          <a:p>
            <a:pPr algn="l">
              <a:spcAft>
                <a:spcPts val="1000"/>
              </a:spcAft>
            </a:pPr>
            <a:r>
              <a:rPr sz="1250" b="0">
                <a:solidFill>
                  <a:srgbClr val="21252B"/>
                </a:solidFill>
                <a:latin typeface="Yu Gothic"/>
                <a:ea typeface="Yu Gothic"/>
              </a:rPr>
              <a:t>② ただしFY27以降、リアルイベントの「目的来館」機能に空白が生まれる</a:t>
            </a:r>
          </a:p>
          <a:p>
            <a:pPr algn="l">
              <a:spcAft>
                <a:spcPts val="1000"/>
              </a:spcAft>
            </a:pPr>
            <a:r>
              <a:rPr sz="1250" b="1">
                <a:solidFill>
                  <a:srgbClr val="21252B"/>
                </a:solidFill>
                <a:latin typeface="Yu Gothic"/>
                <a:ea typeface="Yu Gothic"/>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FY27以降の課題:リアル集客機能の空白</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着ぐるみ利用不可により、商業施設イベントの「会いに行く理由」が弱まります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現行ポケモン契約はFY27以降も継続</a:t>
            </a:r>
          </a:p>
        </p:txBody>
      </p:sp>
      <p:sp>
        <p:nvSpPr>
          <p:cNvPr id="9" name="Down Arrow 8"/>
          <p:cNvSpPr/>
          <p:nvPr/>
        </p:nvSpPr>
        <p:spPr>
          <a:xfrm>
            <a:off x="3941064" y="222656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ただし、着ぐるみは利用不可</a:t>
            </a:r>
          </a:p>
        </p:txBody>
      </p:sp>
      <p:sp>
        <p:nvSpPr>
          <p:cNvPr id="11" name="Down Arrow 10"/>
          <p:cNvSpPr/>
          <p:nvPr/>
        </p:nvSpPr>
        <p:spPr>
          <a:xfrm>
            <a:off x="3941064" y="304952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Yu Gothic"/>
                <a:ea typeface="Yu Gothic"/>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D60012"/>
                </a:solidFill>
                <a:latin typeface="Yu Gothic"/>
                <a:ea typeface="Yu Gothic"/>
              </a:rPr>
              <a:t>FY27の店頭イベントに必要なもの</a:t>
            </a:r>
          </a:p>
          <a:p>
            <a:pPr algn="l">
              <a:spcAft>
                <a:spcPts val="900"/>
              </a:spcAft>
            </a:pPr>
            <a:r>
              <a:rPr sz="1500" b="1">
                <a:solidFill>
                  <a:srgbClr val="21252B"/>
                </a:solidFill>
                <a:latin typeface="Yu Gothic"/>
                <a:ea typeface="Yu Gothic"/>
              </a:rPr>
              <a:t>親子・ファミリーを商業施設へ呼び込める「リアル集客コンテンツ」</a:t>
            </a:r>
          </a:p>
          <a:p>
            <a:pPr algn="l">
              <a:spcAft>
                <a:spcPts val="900"/>
              </a:spcAft>
            </a:pPr>
            <a:r>
              <a:rPr sz="1250" b="0">
                <a:solidFill>
                  <a:srgbClr val="21252B"/>
                </a:solidFill>
                <a:latin typeface="Yu Gothic"/>
                <a:ea typeface="Yu Gothic"/>
              </a:rPr>
              <a:t>・ヒーローの登場/撮影会</a:t>
            </a:r>
          </a:p>
          <a:p>
            <a:pPr algn="l">
              <a:spcAft>
                <a:spcPts val="900"/>
              </a:spcAft>
            </a:pPr>
            <a:r>
              <a:rPr sz="1250" b="0">
                <a:solidFill>
                  <a:srgbClr val="21252B"/>
                </a:solidFill>
                <a:latin typeface="Yu Gothic"/>
                <a:ea typeface="Yu Gothic"/>
              </a:rPr>
              <a:t>・ステージ/館内ラリーとの親和性</a:t>
            </a:r>
          </a:p>
          <a:p>
            <a:pPr algn="l">
              <a:spcAft>
                <a:spcPts val="900"/>
              </a:spcAft>
            </a:pPr>
            <a:r>
              <a:rPr sz="1250" b="0">
                <a:solidFill>
                  <a:srgbClr val="21252B"/>
                </a:solidFill>
                <a:latin typeface="Yu Gothic"/>
                <a:ea typeface="Yu Gothic"/>
              </a:rPr>
              <a:t>・親子二世代での認知</a:t>
            </a:r>
          </a:p>
          <a:p>
            <a:pPr algn="l">
              <a:spcAft>
                <a:spcPts val="900"/>
              </a:spcAft>
            </a:pPr>
            <a:r>
              <a:rPr sz="1250" b="0">
                <a:solidFill>
                  <a:srgbClr val="21252B"/>
                </a:solidFill>
                <a:latin typeface="Yu Gothic"/>
                <a:ea typeface="Yu Gothic"/>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D60012"/>
                </a:solidFill>
                <a:latin typeface="Yu Gothic"/>
                <a:ea typeface="Yu Gothic"/>
              </a:rPr>
              <a:t>答え:</a:t>
            </a:r>
            <a:r>
              <a:rPr sz="1500" b="1">
                <a:solidFill>
                  <a:srgbClr val="21252B"/>
                </a:solidFill>
                <a:latin typeface="Yu Gothic"/>
                <a:ea typeface="Yu Gothic"/>
              </a:rPr>
              <a:t>ポケモンを置き換えるのではなく、FY27以降担いにくくなる“リアルイベント集客機能”をウルトラマンで補完する。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IPポートフォリオにおけるウルトラマンの役割</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既存IPと競合させず、役割分担で全体最適を作ります(独占は求めない前提)</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Yu Gothic"/>
                          <a:ea typeface="Yu Gothic"/>
                        </a:rPr>
                        <a:t>IP</a:t>
                      </a:r>
                    </a:p>
                  </a:txBody>
                  <a:tcPr anchor="ctr" marL="73152" marR="73152" marT="18288" marB="18288">
                    <a:solidFill>
                      <a:srgbClr val="121A2E"/>
                    </a:solidFill>
                  </a:tcPr>
                </a:tc>
                <a:tc>
                  <a:txBody>
                    <a:bodyPr/>
                    <a:lstStyle/>
                    <a:p>
                      <a:r>
                        <a:rPr sz="1150" b="1">
                          <a:solidFill>
                            <a:srgbClr val="FFFFFF"/>
                          </a:solidFill>
                          <a:latin typeface="Yu Gothic"/>
                          <a:ea typeface="Yu Gothic"/>
                        </a:rPr>
                        <a:t>役割</a:t>
                      </a:r>
                    </a:p>
                  </a:txBody>
                  <a:tcPr anchor="ctr" marL="73152" marR="73152" marT="18288" marB="18288">
                    <a:solidFill>
                      <a:srgbClr val="121A2E"/>
                    </a:solidFill>
                  </a:tcPr>
                </a:tc>
              </a:tr>
              <a:tr h="566928">
                <a:tc>
                  <a:txBody>
                    <a:bodyPr/>
                    <a:lstStyle/>
                    <a:p>
                      <a:r>
                        <a:rPr sz="1400" b="0">
                          <a:solidFill>
                            <a:srgbClr val="21252B"/>
                          </a:solidFill>
                          <a:latin typeface="Yu Gothic"/>
                          <a:ea typeface="Yu Gothic"/>
                        </a:rPr>
                        <a:t>ポケモン</a:t>
                      </a:r>
                    </a:p>
                  </a:txBody>
                  <a:tcPr anchor="ctr" marL="73152" marR="73152" marT="18288" marB="18288">
                    <a:solidFill>
                      <a:srgbClr val="FFFFFF"/>
                    </a:solidFill>
                  </a:tcPr>
                </a:tc>
                <a:tc>
                  <a:txBody>
                    <a:bodyPr/>
                    <a:lstStyle/>
                    <a:p>
                      <a:r>
                        <a:rPr sz="1400" b="0">
                          <a:solidFill>
                            <a:srgbClr val="21252B"/>
                          </a:solidFill>
                          <a:latin typeface="Yu Gothic"/>
                          <a:ea typeface="Yu Gothic"/>
                        </a:rPr>
                        <a:t>BB・でんき・既存コンテンツで継続活用(FY27以降も契約継続)</a:t>
                      </a:r>
                    </a:p>
                  </a:txBody>
                  <a:tcPr anchor="ctr" marL="73152" marR="73152" marT="18288" marB="18288">
                    <a:solidFill>
                      <a:srgbClr val="FFFFFF"/>
                    </a:solidFill>
                  </a:tcPr>
                </a:tc>
              </a:tr>
              <a:tr h="566928">
                <a:tc>
                  <a:txBody>
                    <a:bodyPr/>
                    <a:lstStyle/>
                    <a:p>
                      <a:r>
                        <a:rPr sz="1400" b="0">
                          <a:solidFill>
                            <a:srgbClr val="21252B"/>
                          </a:solidFill>
                          <a:latin typeface="Yu Gothic"/>
                          <a:ea typeface="Yu Gothic"/>
                        </a:rPr>
                        <a:t>ちいかわ/すみっコぐらし/サンリオ</a:t>
                      </a:r>
                    </a:p>
                  </a:txBody>
                  <a:tcPr anchor="ctr" marL="73152" marR="73152" marT="18288" marB="18288">
                    <a:solidFill>
                      <a:srgbClr val="F2F4F6"/>
                    </a:solidFill>
                  </a:tcPr>
                </a:tc>
                <a:tc>
                  <a:txBody>
                    <a:bodyPr/>
                    <a:lstStyle/>
                    <a:p>
                      <a:r>
                        <a:rPr sz="1400" b="0">
                          <a:solidFill>
                            <a:srgbClr val="21252B"/>
                          </a:solidFill>
                          <a:latin typeface="Yu Gothic"/>
                          <a:ea typeface="Yu Gothic"/>
                        </a:rPr>
                        <a:t>かわいい系、SNS拡散、女性・低年齢層向け</a:t>
                      </a:r>
                    </a:p>
                  </a:txBody>
                  <a:tcPr anchor="ctr" marL="73152" marR="73152" marT="18288" marB="18288">
                    <a:solidFill>
                      <a:srgbClr val="F2F4F6"/>
                    </a:solidFill>
                  </a:tcPr>
                </a:tc>
              </a:tr>
              <a:tr h="566928">
                <a:tc>
                  <a:txBody>
                    <a:bodyPr/>
                    <a:lstStyle/>
                    <a:p>
                      <a:r>
                        <a:rPr sz="1400" b="1">
                          <a:solidFill>
                            <a:srgbClr val="D60012"/>
                          </a:solidFill>
                          <a:latin typeface="Yu Gothic"/>
                          <a:ea typeface="Yu Gothic"/>
                        </a:rPr>
                        <a:t>ウルトラマン(本提案)</a:t>
                      </a:r>
                    </a:p>
                  </a:txBody>
                  <a:tcPr anchor="ctr" marL="73152" marR="73152" marT="18288" marB="18288">
                    <a:solidFill>
                      <a:srgbClr val="FFFFFF"/>
                    </a:solidFill>
                  </a:tcPr>
                </a:tc>
                <a:tc>
                  <a:txBody>
                    <a:bodyPr/>
                    <a:lstStyle/>
                    <a:p>
                      <a:r>
                        <a:rPr sz="1400" b="1">
                          <a:solidFill>
                            <a:srgbClr val="21252B"/>
                          </a:solidFill>
                          <a:latin typeface="Yu Gothic"/>
                          <a:ea typeface="Yu Gothic"/>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D60012"/>
                </a:solidFill>
                <a:latin typeface="Yu Gothic"/>
                <a:ea typeface="Yu Gothic"/>
              </a:rPr>
              <a:t>ウルトラマンの位置づけ = 「リアルイベント集客IP」</a:t>
            </a:r>
          </a:p>
          <a:p>
            <a:pPr algn="l">
              <a:spcAft>
                <a:spcPts val="800"/>
              </a:spcAft>
            </a:pPr>
            <a:r>
              <a:rPr sz="1400" b="0">
                <a:solidFill>
                  <a:srgbClr val="21252B"/>
                </a:solidFill>
                <a:latin typeface="Yu Gothic"/>
                <a:ea typeface="Yu Gothic"/>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なぜ今、ウルトラマンなのか — 60周年「with U」との接続</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2026年7月10日にシリーズ60周年。公式60周年プロジェクトのコアメッセージ「with U」はSoftBankコンシューマ事業と好相性です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Yu Gothic"/>
                          <a:ea typeface="Yu Gothic"/>
                        </a:rPr>
                        <a:t>ウルトラマンの文脈</a:t>
                      </a:r>
                    </a:p>
                  </a:txBody>
                  <a:tcPr anchor="ctr" marL="73152" marR="73152" marT="18288" marB="18288">
                    <a:solidFill>
                      <a:srgbClr val="121A2E"/>
                    </a:solidFill>
                  </a:tcPr>
                </a:tc>
                <a:tc>
                  <a:txBody>
                    <a:bodyPr/>
                    <a:lstStyle/>
                    <a:p>
                      <a:r>
                        <a:rPr sz="1150" b="1">
                          <a:solidFill>
                            <a:srgbClr val="FFFFFF"/>
                          </a:solidFill>
                          <a:latin typeface="Yu Gothic"/>
                          <a:ea typeface="Yu Gothic"/>
                        </a:rPr>
                        <a:t>SoftBank側の接続</a:t>
                      </a:r>
                    </a:p>
                  </a:txBody>
                  <a:tcPr anchor="ctr" marL="73152" marR="73152" marT="18288" marB="18288">
                    <a:solidFill>
                      <a:srgbClr val="121A2E"/>
                    </a:solidFill>
                  </a:tcPr>
                </a:tc>
              </a:tr>
              <a:tr h="457200">
                <a:tc>
                  <a:txBody>
                    <a:bodyPr/>
                    <a:lstStyle/>
                    <a:p>
                      <a:r>
                        <a:rPr sz="1350" b="0">
                          <a:solidFill>
                            <a:srgbClr val="21252B"/>
                          </a:solidFill>
                          <a:latin typeface="Yu Gothic"/>
                          <a:ea typeface="Yu Gothic"/>
                        </a:rPr>
                        <a:t>守る</a:t>
                      </a:r>
                    </a:p>
                  </a:txBody>
                  <a:tcPr anchor="ctr" marL="73152" marR="73152" marT="18288" marB="18288">
                    <a:solidFill>
                      <a:srgbClr val="FFFFFF"/>
                    </a:solidFill>
                  </a:tcPr>
                </a:tc>
                <a:tc>
                  <a:txBody>
                    <a:bodyPr/>
                    <a:lstStyle/>
                    <a:p>
                      <a:r>
                        <a:rPr sz="1350" b="0">
                          <a:solidFill>
                            <a:srgbClr val="21252B"/>
                          </a:solidFill>
                          <a:latin typeface="Yu Gothic"/>
                          <a:ea typeface="Yu Gothic"/>
                        </a:rPr>
                        <a:t>家族のスマホ安全、通信の安心、暮らしの電気</a:t>
                      </a:r>
                    </a:p>
                  </a:txBody>
                  <a:tcPr anchor="ctr" marL="73152" marR="73152" marT="18288" marB="18288">
                    <a:solidFill>
                      <a:srgbClr val="FFFFFF"/>
                    </a:solidFill>
                  </a:tcPr>
                </a:tc>
              </a:tr>
              <a:tr h="457200">
                <a:tc>
                  <a:txBody>
                    <a:bodyPr/>
                    <a:lstStyle/>
                    <a:p>
                      <a:r>
                        <a:rPr sz="1350" b="0">
                          <a:solidFill>
                            <a:srgbClr val="21252B"/>
                          </a:solidFill>
                          <a:latin typeface="Yu Gothic"/>
                          <a:ea typeface="Yu Gothic"/>
                        </a:rPr>
                        <a:t>つながる</a:t>
                      </a:r>
                    </a:p>
                  </a:txBody>
                  <a:tcPr anchor="ctr" marL="73152" marR="73152" marT="18288" marB="18288">
                    <a:solidFill>
                      <a:srgbClr val="F2F4F6"/>
                    </a:solidFill>
                  </a:tcPr>
                </a:tc>
                <a:tc>
                  <a:txBody>
                    <a:bodyPr/>
                    <a:lstStyle/>
                    <a:p>
                      <a:r>
                        <a:rPr sz="1350" b="0">
                          <a:solidFill>
                            <a:srgbClr val="21252B"/>
                          </a:solidFill>
                          <a:latin typeface="Yu Gothic"/>
                          <a:ea typeface="Yu Gothic"/>
                        </a:rPr>
                        <a:t>モバイル、BB、Wi-Fi、家族契約</a:t>
                      </a:r>
                    </a:p>
                  </a:txBody>
                  <a:tcPr anchor="ctr" marL="73152" marR="73152" marT="18288" marB="18288">
                    <a:solidFill>
                      <a:srgbClr val="F2F4F6"/>
                    </a:solidFill>
                  </a:tcPr>
                </a:tc>
              </a:tr>
              <a:tr h="457200">
                <a:tc>
                  <a:txBody>
                    <a:bodyPr/>
                    <a:lstStyle/>
                    <a:p>
                      <a:r>
                        <a:rPr sz="1350" b="0">
                          <a:solidFill>
                            <a:srgbClr val="21252B"/>
                          </a:solidFill>
                          <a:latin typeface="Yu Gothic"/>
                          <a:ea typeface="Yu Gothic"/>
                        </a:rPr>
                        <a:t>未来</a:t>
                      </a:r>
                    </a:p>
                  </a:txBody>
                  <a:tcPr anchor="ctr" marL="73152" marR="73152" marT="18288" marB="18288">
                    <a:solidFill>
                      <a:srgbClr val="FFFFFF"/>
                    </a:solidFill>
                  </a:tcPr>
                </a:tc>
                <a:tc>
                  <a:txBody>
                    <a:bodyPr/>
                    <a:lstStyle/>
                    <a:p>
                      <a:r>
                        <a:rPr sz="1350" b="0">
                          <a:solidFill>
                            <a:srgbClr val="21252B"/>
                          </a:solidFill>
                          <a:latin typeface="Yu Gothic"/>
                          <a:ea typeface="Yu Gothic"/>
                        </a:rPr>
                        <a:t>5G、AI、デジタルサービス、次世代の生活</a:t>
                      </a:r>
                    </a:p>
                  </a:txBody>
                  <a:tcPr anchor="ctr" marL="73152" marR="73152" marT="18288" marB="18288">
                    <a:solidFill>
                      <a:srgbClr val="FFFFFF"/>
                    </a:solidFill>
                  </a:tcPr>
                </a:tc>
              </a:tr>
              <a:tr h="457200">
                <a:tc>
                  <a:txBody>
                    <a:bodyPr/>
                    <a:lstStyle/>
                    <a:p>
                      <a:r>
                        <a:rPr sz="1350" b="0">
                          <a:solidFill>
                            <a:srgbClr val="21252B"/>
                          </a:solidFill>
                          <a:latin typeface="Yu Gothic"/>
                          <a:ea typeface="Yu Gothic"/>
                        </a:rPr>
                        <a:t>親子二世代</a:t>
                      </a:r>
                    </a:p>
                  </a:txBody>
                  <a:tcPr anchor="ctr" marL="73152" marR="73152" marT="18288" marB="18288">
                    <a:solidFill>
                      <a:srgbClr val="F2F4F6"/>
                    </a:solidFill>
                  </a:tcPr>
                </a:tc>
                <a:tc>
                  <a:txBody>
                    <a:bodyPr/>
                    <a:lstStyle/>
                    <a:p>
                      <a:r>
                        <a:rPr sz="1350" b="0">
                          <a:solidFill>
                            <a:srgbClr val="21252B"/>
                          </a:solidFill>
                          <a:latin typeface="Yu Gothic"/>
                          <a:ea typeface="Yu Gothic"/>
                        </a:rPr>
                        <a:t>商業施設のファミリー集客</a:t>
                      </a:r>
                    </a:p>
                  </a:txBody>
                  <a:tcPr anchor="ctr" marL="73152" marR="73152" marT="18288" marB="18288">
                    <a:solidFill>
                      <a:srgbClr val="F2F4F6"/>
                    </a:solidFill>
                  </a:tcPr>
                </a:tc>
              </a:tr>
              <a:tr h="457200">
                <a:tc>
                  <a:txBody>
                    <a:bodyPr/>
                    <a:lstStyle/>
                    <a:p>
                      <a:r>
                        <a:rPr sz="1350" b="0">
                          <a:solidFill>
                            <a:srgbClr val="21252B"/>
                          </a:solidFill>
                          <a:latin typeface="Yu Gothic"/>
                          <a:ea typeface="Yu Gothic"/>
                        </a:rPr>
                        <a:t>ヒーロー登場</a:t>
                      </a:r>
                    </a:p>
                  </a:txBody>
                  <a:tcPr anchor="ctr" marL="73152" marR="73152" marT="18288" marB="18288">
                    <a:solidFill>
                      <a:srgbClr val="FFFFFF"/>
                    </a:solidFill>
                  </a:tcPr>
                </a:tc>
                <a:tc>
                  <a:txBody>
                    <a:bodyPr/>
                    <a:lstStyle/>
                    <a:p>
                      <a:r>
                        <a:rPr sz="1350" b="0">
                          <a:solidFill>
                            <a:srgbClr val="21252B"/>
                          </a:solidFill>
                          <a:latin typeface="Yu Gothic"/>
                          <a:ea typeface="Yu Gothic"/>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D60012"/>
                </a:solidFill>
                <a:latin typeface="Yu Gothic"/>
                <a:ea typeface="Yu Gothic"/>
              </a:rPr>
              <a:t>重要な視点:</a:t>
            </a:r>
            <a:r>
              <a:rPr sz="1500" b="0">
                <a:solidFill>
                  <a:srgbClr val="21252B"/>
                </a:solidFill>
                <a:latin typeface="Yu Gothic"/>
                <a:ea typeface="Yu Gothic"/>
              </a:rPr>
              <a:t>ウルトラマンを「懐かしいIP」として使うのではなく、</a:t>
            </a:r>
          </a:p>
          <a:p>
            <a:pPr algn="l">
              <a:spcAft>
                <a:spcPts val="800"/>
              </a:spcAft>
            </a:pPr>
            <a:r>
              <a:rPr sz="1700" b="1">
                <a:solidFill>
                  <a:srgbClr val="21252B"/>
                </a:solidFill>
                <a:latin typeface="Yu Gothic"/>
                <a:ea typeface="Yu Gothic"/>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46304" cy="105156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2331720"/>
            <a:ext cx="10058400" cy="548640"/>
          </a:xfrm>
          <a:prstGeom prst="rect">
            <a:avLst/>
          </a:prstGeom>
          <a:noFill/>
        </p:spPr>
        <p:txBody>
          <a:bodyPr wrap="square" anchor="t" lIns="0" rIns="0" tIns="0" bIns="0">
            <a:spAutoFit/>
          </a:bodyPr>
          <a:lstStyle/>
          <a:p>
            <a:pPr algn="l">
              <a:spcAft>
                <a:spcPts val="600"/>
              </a:spcAft>
            </a:pPr>
            <a:r>
              <a:rPr sz="1800" b="1">
                <a:solidFill>
                  <a:srgbClr val="8E949B"/>
                </a:solidFill>
                <a:latin typeface="Yu Gothic"/>
                <a:ea typeface="Yu Gothic"/>
              </a:rPr>
              <a:t>CONCEPT</a:t>
            </a:r>
          </a:p>
        </p:txBody>
      </p:sp>
      <p:sp>
        <p:nvSpPr>
          <p:cNvPr id="5" name="TextBox 4"/>
          <p:cNvSpPr txBox="1"/>
          <p:nvPr/>
        </p:nvSpPr>
        <p:spPr>
          <a:xfrm>
            <a:off x="1234440" y="2788920"/>
            <a:ext cx="10241280" cy="1097280"/>
          </a:xfrm>
          <a:prstGeom prst="rect">
            <a:avLst/>
          </a:prstGeom>
          <a:noFill/>
        </p:spPr>
        <p:txBody>
          <a:bodyPr wrap="square" anchor="t" lIns="0" rIns="0" tIns="0" bIns="0">
            <a:spAutoFit/>
          </a:bodyPr>
          <a:lstStyle/>
          <a:p>
            <a:pPr algn="l">
              <a:spcAft>
                <a:spcPts val="600"/>
              </a:spcAft>
            </a:pPr>
            <a:r>
              <a:rPr sz="3400" b="1">
                <a:solidFill>
                  <a:srgbClr val="FFFFFF"/>
                </a:solidFill>
                <a:latin typeface="Yu Gothic"/>
                <a:ea typeface="Yu Gothic"/>
              </a:rPr>
              <a:t>SoftBank × ウルトラマン 未来防衛隊キャラバン</a:t>
            </a:r>
          </a:p>
        </p:txBody>
      </p:sp>
      <p:sp>
        <p:nvSpPr>
          <p:cNvPr id="6" name="TextBox 5"/>
          <p:cNvSpPr txBox="1"/>
          <p:nvPr/>
        </p:nvSpPr>
        <p:spPr>
          <a:xfrm>
            <a:off x="1234440" y="3977639"/>
            <a:ext cx="9875520" cy="109728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企画コンセプト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商業施設とSoftBank、双方に価値が生まれる一体型イベントパッケージ</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21252B"/>
                </a:solidFill>
                <a:latin typeface="Yu Gothic"/>
                <a:ea typeface="Yu Gothic"/>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Yu Gothic"/>
                <a:ea typeface="Yu Gothic"/>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D60012"/>
                </a:solidFill>
                <a:latin typeface="Yu Gothic"/>
                <a:ea typeface="Yu Gothic"/>
              </a:rPr>
              <a:t>商業施設にとって</a:t>
            </a:r>
          </a:p>
          <a:p>
            <a:pPr algn="l">
              <a:spcAft>
                <a:spcPts val="900"/>
              </a:spcAft>
            </a:pPr>
            <a:r>
              <a:rPr sz="1350" b="0">
                <a:solidFill>
                  <a:srgbClr val="21252B"/>
                </a:solidFill>
                <a:latin typeface="Yu Gothic"/>
                <a:ea typeface="Yu Gothic"/>
              </a:rPr>
              <a:t>・週末・祝日のファミリー集客</a:t>
            </a:r>
          </a:p>
          <a:p>
            <a:pPr algn="l">
              <a:spcAft>
                <a:spcPts val="900"/>
              </a:spcAft>
            </a:pPr>
            <a:r>
              <a:rPr sz="1350" b="0">
                <a:solidFill>
                  <a:srgbClr val="21252B"/>
                </a:solidFill>
                <a:latin typeface="Yu Gothic"/>
                <a:ea typeface="Yu Gothic"/>
              </a:rPr>
              <a:t>・館内回遊の増加</a:t>
            </a:r>
          </a:p>
          <a:p>
            <a:pPr algn="l">
              <a:spcAft>
                <a:spcPts val="900"/>
              </a:spcAft>
            </a:pPr>
            <a:r>
              <a:rPr sz="1350" b="0">
                <a:solidFill>
                  <a:srgbClr val="21252B"/>
                </a:solidFill>
                <a:latin typeface="Yu Gothic"/>
                <a:ea typeface="Yu Gothic"/>
              </a:rPr>
              <a:t>・滞在時間の向上</a:t>
            </a:r>
          </a:p>
          <a:p>
            <a:pPr algn="l">
              <a:spcAft>
                <a:spcPts val="900"/>
              </a:spcAft>
            </a:pPr>
            <a:r>
              <a:rPr sz="1350" b="0">
                <a:solidFill>
                  <a:srgbClr val="21252B"/>
                </a:solidFill>
                <a:latin typeface="Yu Gothic"/>
                <a:ea typeface="Yu Gothic"/>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D60012"/>
                </a:solidFill>
                <a:latin typeface="Yu Gothic"/>
                <a:ea typeface="Yu Gothic"/>
              </a:rPr>
              <a:t>SoftBankにとって</a:t>
            </a:r>
          </a:p>
          <a:p>
            <a:pPr algn="l">
              <a:spcAft>
                <a:spcPts val="900"/>
              </a:spcAft>
            </a:pPr>
            <a:r>
              <a:rPr sz="1350" b="0">
                <a:solidFill>
                  <a:srgbClr val="21252B"/>
                </a:solidFill>
                <a:latin typeface="Yu Gothic"/>
                <a:ea typeface="Yu Gothic"/>
              </a:rPr>
              <a:t>・店舗前通行量の増加</a:t>
            </a:r>
          </a:p>
          <a:p>
            <a:pPr algn="l">
              <a:spcAft>
                <a:spcPts val="900"/>
              </a:spcAft>
            </a:pPr>
            <a:r>
              <a:rPr sz="1350" b="0">
                <a:solidFill>
                  <a:srgbClr val="21252B"/>
                </a:solidFill>
                <a:latin typeface="Yu Gothic"/>
                <a:ea typeface="Yu Gothic"/>
              </a:rPr>
              <a:t>・相談件数の創出</a:t>
            </a:r>
          </a:p>
          <a:p>
            <a:pPr algn="l">
              <a:spcAft>
                <a:spcPts val="900"/>
              </a:spcAft>
            </a:pPr>
            <a:r>
              <a:rPr sz="1350" b="0">
                <a:solidFill>
                  <a:srgbClr val="21252B"/>
                </a:solidFill>
                <a:latin typeface="Yu Gothic"/>
                <a:ea typeface="Yu Gothic"/>
              </a:rPr>
              <a:t>・家族契約・機種変更への送客</a:t>
            </a:r>
          </a:p>
          <a:p>
            <a:pPr algn="l">
              <a:spcAft>
                <a:spcPts val="900"/>
              </a:spcAft>
            </a:pPr>
            <a:r>
              <a:rPr sz="1350" b="0">
                <a:solidFill>
                  <a:srgbClr val="21252B"/>
                </a:solidFill>
                <a:latin typeface="Yu Gothic"/>
                <a:ea typeface="Yu Gothic"/>
              </a:rPr>
              <a:t>・BB(SoftBank 光/Air)・でんきへの送客</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中核戦略:「店頭で待つ」から「商業施設へ呼び込む」へ</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すでに来店意思のある人への販促ではなく、来店意向のない層を呼び込み、相談接点へ転換します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Yu Gothic"/>
                <a:ea typeface="Yu Gothic"/>
              </a:rPr>
              <a:t>旧来型の店頭施策</a:t>
            </a:r>
          </a:p>
          <a:p>
            <a:pPr algn="l">
              <a:spcAft>
                <a:spcPts val="1200"/>
              </a:spcAft>
            </a:pPr>
            <a:r>
              <a:rPr sz="1400" b="0">
                <a:solidFill>
                  <a:srgbClr val="21252B"/>
                </a:solidFill>
                <a:latin typeface="Yu Gothic"/>
                <a:ea typeface="Yu Gothic"/>
              </a:rPr>
              <a:t>SoftBankショップに来た人へ販促する</a:t>
            </a:r>
          </a:p>
          <a:p>
            <a:pPr algn="l">
              <a:spcAft>
                <a:spcPts val="1200"/>
              </a:spcAft>
            </a:pPr>
            <a:r>
              <a:rPr sz="1300" b="0">
                <a:solidFill>
                  <a:srgbClr val="5A626B"/>
                </a:solidFill>
                <a:latin typeface="Yu Gothic"/>
                <a:ea typeface="Yu Gothic"/>
              </a:rPr>
              <a:t>=すでに来店意思のある人への施策</a:t>
            </a:r>
          </a:p>
          <a:p>
            <a:pPr algn="l">
              <a:spcAft>
                <a:spcPts val="1200"/>
              </a:spcAft>
            </a:pPr>
            <a:r>
              <a:rPr sz="1300" b="0">
                <a:solidFill>
                  <a:srgbClr val="5A626B"/>
                </a:solidFill>
                <a:latin typeface="Yu Gothic"/>
                <a:ea typeface="Yu Gothic"/>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館内イベントに参加してもらう</a:t>
            </a:r>
          </a:p>
        </p:txBody>
      </p:sp>
      <p:sp>
        <p:nvSpPr>
          <p:cNvPr id="13" name="Down Arrow 12"/>
          <p:cNvSpPr/>
          <p:nvPr/>
        </p:nvSpPr>
        <p:spPr>
          <a:xfrm>
            <a:off x="8513064" y="2912364"/>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SoftBankショップへ送客する</a:t>
            </a:r>
          </a:p>
        </p:txBody>
      </p:sp>
      <p:sp>
        <p:nvSpPr>
          <p:cNvPr id="15" name="Down Arrow 14"/>
          <p:cNvSpPr/>
          <p:nvPr/>
        </p:nvSpPr>
        <p:spPr>
          <a:xfrm>
            <a:off x="8513064" y="3607308"/>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スマホ・BB・でんき相談へつなげる</a:t>
            </a:r>
          </a:p>
        </p:txBody>
      </p:sp>
      <p:sp>
        <p:nvSpPr>
          <p:cNvPr id="17" name="Down Arrow 16"/>
          <p:cNvSpPr/>
          <p:nvPr/>
        </p:nvSpPr>
        <p:spPr>
          <a:xfrm>
            <a:off x="8513064" y="4302252"/>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本企画の最重要メッセージ:</a:t>
            </a:r>
            <a:r>
              <a:rPr sz="1500" b="1">
                <a:solidFill>
                  <a:srgbClr val="21252B"/>
                </a:solidFill>
                <a:latin typeface="Yu Gothic"/>
                <a:ea typeface="Yu Gothic"/>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商業施設とのWin-Win</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商業施設側の集客課題を解決するイベントパッケージのため、施設側も受け入れやすい企画です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Yu Gothic"/>
                          <a:ea typeface="Yu Gothic"/>
                        </a:rPr>
                        <a:t>商業施設側の課題</a:t>
                      </a:r>
                    </a:p>
                  </a:txBody>
                  <a:tcPr anchor="ctr" marL="73152" marR="73152" marT="18288" marB="18288">
                    <a:solidFill>
                      <a:srgbClr val="121A2E"/>
                    </a:solidFill>
                  </a:tcPr>
                </a:tc>
                <a:tc>
                  <a:txBody>
                    <a:bodyPr/>
                    <a:lstStyle/>
                    <a:p>
                      <a:r>
                        <a:rPr sz="1150" b="1">
                          <a:solidFill>
                            <a:srgbClr val="FFFFFF"/>
                          </a:solidFill>
                          <a:latin typeface="Yu Gothic"/>
                          <a:ea typeface="Yu Gothic"/>
                        </a:rPr>
                        <a:t>ウルトラマン施策での解決</a:t>
                      </a:r>
                    </a:p>
                  </a:txBody>
                  <a:tcPr anchor="ctr" marL="73152" marR="73152" marT="18288" marB="18288">
                    <a:solidFill>
                      <a:srgbClr val="121A2E"/>
                    </a:solidFill>
                  </a:tcPr>
                </a:tc>
              </a:tr>
              <a:tr h="429768">
                <a:tc>
                  <a:txBody>
                    <a:bodyPr/>
                    <a:lstStyle/>
                    <a:p>
                      <a:r>
                        <a:rPr sz="1300" b="0">
                          <a:solidFill>
                            <a:srgbClr val="21252B"/>
                          </a:solidFill>
                          <a:latin typeface="Yu Gothic"/>
                          <a:ea typeface="Yu Gothic"/>
                        </a:rPr>
                        <a:t>週末・祝日の集客を増やしたい</a:t>
                      </a:r>
                    </a:p>
                  </a:txBody>
                  <a:tcPr anchor="ctr" marL="73152" marR="73152" marT="18288" marB="18288">
                    <a:solidFill>
                      <a:srgbClr val="FFFFFF"/>
                    </a:solidFill>
                  </a:tcPr>
                </a:tc>
                <a:tc>
                  <a:txBody>
                    <a:bodyPr/>
                    <a:lstStyle/>
                    <a:p>
                      <a:r>
                        <a:rPr sz="1300" b="0">
                          <a:solidFill>
                            <a:srgbClr val="21252B"/>
                          </a:solidFill>
                          <a:latin typeface="Yu Gothic"/>
                          <a:ea typeface="Yu Gothic"/>
                        </a:rPr>
                        <a:t>ウルトラマン撮影会で「目的来館」を作る</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親子・ファミリー層を呼びたい</a:t>
                      </a:r>
                    </a:p>
                  </a:txBody>
                  <a:tcPr anchor="ctr" marL="73152" marR="73152" marT="18288" marB="18288">
                    <a:solidFill>
                      <a:srgbClr val="F2F4F6"/>
                    </a:solidFill>
                  </a:tcPr>
                </a:tc>
                <a:tc>
                  <a:txBody>
                    <a:bodyPr/>
                    <a:lstStyle/>
                    <a:p>
                      <a:r>
                        <a:rPr sz="1300" b="0">
                          <a:solidFill>
                            <a:srgbClr val="21252B"/>
                          </a:solidFill>
                          <a:latin typeface="Yu Gothic"/>
                          <a:ea typeface="Yu Gothic"/>
                        </a:rPr>
                        <a:t>親子二世代に認知があるIP</a:t>
                      </a:r>
                    </a:p>
                  </a:txBody>
                  <a:tcPr anchor="ctr" marL="73152" marR="73152" marT="18288" marB="18288">
                    <a:solidFill>
                      <a:srgbClr val="F2F4F6"/>
                    </a:solidFill>
                  </a:tcPr>
                </a:tc>
              </a:tr>
              <a:tr h="429768">
                <a:tc>
                  <a:txBody>
                    <a:bodyPr/>
                    <a:lstStyle/>
                    <a:p>
                      <a:r>
                        <a:rPr sz="1300" b="0">
                          <a:solidFill>
                            <a:srgbClr val="21252B"/>
                          </a:solidFill>
                          <a:latin typeface="Yu Gothic"/>
                          <a:ea typeface="Yu Gothic"/>
                        </a:rPr>
                        <a:t>館内回遊を増やしたい</a:t>
                      </a:r>
                    </a:p>
                  </a:txBody>
                  <a:tcPr anchor="ctr" marL="73152" marR="73152" marT="18288" marB="18288">
                    <a:solidFill>
                      <a:srgbClr val="FFFFFF"/>
                    </a:solidFill>
                  </a:tcPr>
                </a:tc>
                <a:tc>
                  <a:txBody>
                    <a:bodyPr/>
                    <a:lstStyle/>
                    <a:p>
                      <a:r>
                        <a:rPr sz="1300" b="0">
                          <a:solidFill>
                            <a:srgbClr val="21252B"/>
                          </a:solidFill>
                          <a:latin typeface="Yu Gothic"/>
                          <a:ea typeface="Yu Gothic"/>
                        </a:rPr>
                        <a:t>ミッションラリーで複数フロアを回遊</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滞在時間を伸ばしたい</a:t>
                      </a:r>
                    </a:p>
                  </a:txBody>
                  <a:tcPr anchor="ctr" marL="73152" marR="73152" marT="18288" marB="18288">
                    <a:solidFill>
                      <a:srgbClr val="F2F4F6"/>
                    </a:solidFill>
                  </a:tcPr>
                </a:tc>
                <a:tc>
                  <a:txBody>
                    <a:bodyPr/>
                    <a:lstStyle/>
                    <a:p>
                      <a:r>
                        <a:rPr sz="1300" b="0">
                          <a:solidFill>
                            <a:srgbClr val="21252B"/>
                          </a:solidFill>
                          <a:latin typeface="Yu Gothic"/>
                          <a:ea typeface="Yu Gothic"/>
                        </a:rPr>
                        <a:t>ステージ・撮影会・ラリー・相談を組み合わせる</a:t>
                      </a:r>
                    </a:p>
                  </a:txBody>
                  <a:tcPr anchor="ctr" marL="73152" marR="73152" marT="18288" marB="18288">
                    <a:solidFill>
                      <a:srgbClr val="F2F4F6"/>
                    </a:solidFill>
                  </a:tcPr>
                </a:tc>
              </a:tr>
              <a:tr h="429768">
                <a:tc>
                  <a:txBody>
                    <a:bodyPr/>
                    <a:lstStyle/>
                    <a:p>
                      <a:r>
                        <a:rPr sz="1300" b="0">
                          <a:solidFill>
                            <a:srgbClr val="21252B"/>
                          </a:solidFill>
                          <a:latin typeface="Yu Gothic"/>
                          <a:ea typeface="Yu Gothic"/>
                        </a:rPr>
                        <a:t>テナント全体を盛り上げたい</a:t>
                      </a:r>
                    </a:p>
                  </a:txBody>
                  <a:tcPr anchor="ctr" marL="73152" marR="73152" marT="18288" marB="18288">
                    <a:solidFill>
                      <a:srgbClr val="FFFFFF"/>
                    </a:solidFill>
                  </a:tcPr>
                </a:tc>
                <a:tc>
                  <a:txBody>
                    <a:bodyPr/>
                    <a:lstStyle/>
                    <a:p>
                      <a:r>
                        <a:rPr sz="1300" b="0">
                          <a:solidFill>
                            <a:srgbClr val="21252B"/>
                          </a:solidFill>
                          <a:latin typeface="Yu Gothic"/>
                          <a:ea typeface="Yu Gothic"/>
                        </a:rPr>
                        <a:t>館内参加型イベントとして展開できる</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天候に左右されたくない</a:t>
                      </a:r>
                    </a:p>
                  </a:txBody>
                  <a:tcPr anchor="ctr" marL="73152" marR="73152" marT="18288" marB="18288">
                    <a:solidFill>
                      <a:srgbClr val="F2F4F6"/>
                    </a:solidFill>
                  </a:tcPr>
                </a:tc>
                <a:tc>
                  <a:txBody>
                    <a:bodyPr/>
                    <a:lstStyle/>
                    <a:p>
                      <a:r>
                        <a:rPr sz="1300" b="0">
                          <a:solidFill>
                            <a:srgbClr val="21252B"/>
                          </a:solidFill>
                          <a:latin typeface="Yu Gothic"/>
                          <a:ea typeface="Yu Gothic"/>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21252B"/>
                </a:solidFill>
                <a:latin typeface="Yu Gothic"/>
                <a:ea typeface="Yu Gothic"/>
              </a:rPr>
              <a:t>SoftBankショップ単体でのイベントよりも、商業施設全体を巻き込むことで、</a:t>
            </a:r>
          </a:p>
          <a:p>
            <a:pPr algn="l">
              <a:spcAft>
                <a:spcPts val="600"/>
              </a:spcAft>
            </a:pPr>
            <a:r>
              <a:rPr sz="1600" b="1">
                <a:solidFill>
                  <a:srgbClr val="D60012"/>
                </a:solidFill>
                <a:latin typeface="Yu Gothic"/>
                <a:ea typeface="Yu Gothic"/>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ターゲット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来店意向のない親子・ファミリー層を中心に、既存ユーザー・他キャリア利用者までカバーします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Yu Gothic"/>
                          <a:ea typeface="Yu Gothic"/>
                        </a:rPr>
                        <a:t>メインターゲット</a:t>
                      </a:r>
                    </a:p>
                  </a:txBody>
                  <a:tcPr anchor="ctr" marL="73152" marR="73152" marT="18288" marB="18288">
                    <a:solidFill>
                      <a:srgbClr val="121A2E"/>
                    </a:solidFill>
                  </a:tcPr>
                </a:tc>
                <a:tc>
                  <a:txBody>
                    <a:bodyPr/>
                    <a:lstStyle/>
                    <a:p>
                      <a:r>
                        <a:rPr sz="1150" b="1">
                          <a:solidFill>
                            <a:srgbClr val="FFFFFF"/>
                          </a:solidFill>
                          <a:latin typeface="Yu Gothic"/>
                          <a:ea typeface="Yu Gothic"/>
                        </a:rPr>
                        <a:t>狙い</a:t>
                      </a:r>
                    </a:p>
                  </a:txBody>
                  <a:tcPr anchor="ctr" marL="73152" marR="73152" marT="18288" marB="18288">
                    <a:solidFill>
                      <a:srgbClr val="121A2E"/>
                    </a:solidFill>
                  </a:tcPr>
                </a:tc>
              </a:tr>
              <a:tr h="457200">
                <a:tc>
                  <a:txBody>
                    <a:bodyPr/>
                    <a:lstStyle/>
                    <a:p>
                      <a:r>
                        <a:rPr sz="1250" b="0">
                          <a:solidFill>
                            <a:srgbClr val="21252B"/>
                          </a:solidFill>
                          <a:latin typeface="Yu Gothic"/>
                          <a:ea typeface="Yu Gothic"/>
                        </a:rPr>
                        <a:t>親子・ファミリー層</a:t>
                      </a:r>
                    </a:p>
                  </a:txBody>
                  <a:tcPr anchor="ctr" marL="73152" marR="73152" marT="18288" marB="18288">
                    <a:solidFill>
                      <a:srgbClr val="FFFFFF"/>
                    </a:solidFill>
                  </a:tcPr>
                </a:tc>
                <a:tc>
                  <a:txBody>
                    <a:bodyPr/>
                    <a:lstStyle/>
                    <a:p>
                      <a:r>
                        <a:rPr sz="1250" b="0">
                          <a:solidFill>
                            <a:srgbClr val="21252B"/>
                          </a:solidFill>
                          <a:latin typeface="Yu Gothic"/>
                          <a:ea typeface="Yu Gothic"/>
                        </a:rPr>
                        <a:t>目的来館、家族契約、子どもスマホ相談</a:t>
                      </a:r>
                    </a:p>
                  </a:txBody>
                  <a:tcPr anchor="ctr" marL="73152" marR="73152" marT="18288" marB="18288">
                    <a:solidFill>
                      <a:srgbClr val="FFFFFF"/>
                    </a:solidFill>
                  </a:tcPr>
                </a:tc>
              </a:tr>
              <a:tr h="457200">
                <a:tc>
                  <a:txBody>
                    <a:bodyPr/>
                    <a:lstStyle/>
                    <a:p>
                      <a:r>
                        <a:rPr sz="1250" b="0">
                          <a:solidFill>
                            <a:srgbClr val="21252B"/>
                          </a:solidFill>
                          <a:latin typeface="Yu Gothic"/>
                          <a:ea typeface="Yu Gothic"/>
                        </a:rPr>
                        <a:t>30〜50代の保護者</a:t>
                      </a:r>
                    </a:p>
                  </a:txBody>
                  <a:tcPr anchor="ctr" marL="73152" marR="73152" marT="18288" marB="18288">
                    <a:solidFill>
                      <a:srgbClr val="F2F4F6"/>
                    </a:solidFill>
                  </a:tcPr>
                </a:tc>
                <a:tc>
                  <a:txBody>
                    <a:bodyPr/>
                    <a:lstStyle/>
                    <a:p>
                      <a:r>
                        <a:rPr sz="1250" b="0">
                          <a:solidFill>
                            <a:srgbClr val="21252B"/>
                          </a:solidFill>
                          <a:latin typeface="Yu Gothic"/>
                          <a:ea typeface="Yu Gothic"/>
                        </a:rPr>
                        <a:t>家庭の通信費、BB、でんき、機種変更相談</a:t>
                      </a:r>
                    </a:p>
                  </a:txBody>
                  <a:tcPr anchor="ctr" marL="73152" marR="73152" marT="18288" marB="18288">
                    <a:solidFill>
                      <a:srgbClr val="F2F4F6"/>
                    </a:solidFill>
                  </a:tcPr>
                </a:tc>
              </a:tr>
              <a:tr h="457200">
                <a:tc>
                  <a:txBody>
                    <a:bodyPr/>
                    <a:lstStyle/>
                    <a:p>
                      <a:r>
                        <a:rPr sz="1250" b="0">
                          <a:solidFill>
                            <a:srgbClr val="21252B"/>
                          </a:solidFill>
                          <a:latin typeface="Yu Gothic"/>
                          <a:ea typeface="Yu Gothic"/>
                        </a:rPr>
                        <a:t>既存SoftBankユーザー</a:t>
                      </a:r>
                    </a:p>
                  </a:txBody>
                  <a:tcPr anchor="ctr" marL="73152" marR="73152" marT="18288" marB="18288">
                    <a:solidFill>
                      <a:srgbClr val="FFFFFF"/>
                    </a:solidFill>
                  </a:tcPr>
                </a:tc>
                <a:tc>
                  <a:txBody>
                    <a:bodyPr/>
                    <a:lstStyle/>
                    <a:p>
                      <a:r>
                        <a:rPr sz="1250" b="0">
                          <a:solidFill>
                            <a:srgbClr val="21252B"/>
                          </a:solidFill>
                          <a:latin typeface="Yu Gothic"/>
                          <a:ea typeface="Yu Gothic"/>
                        </a:rPr>
                        <a:t>料金見直し、機種変更、BB・でんき追加</a:t>
                      </a:r>
                    </a:p>
                  </a:txBody>
                  <a:tcPr anchor="ctr" marL="73152" marR="73152" marT="18288" marB="18288">
                    <a:solidFill>
                      <a:srgbClr val="FFFFFF"/>
                    </a:solidFill>
                  </a:tcPr>
                </a:tc>
              </a:tr>
              <a:tr h="457200">
                <a:tc>
                  <a:txBody>
                    <a:bodyPr/>
                    <a:lstStyle/>
                    <a:p>
                      <a:r>
                        <a:rPr sz="1250" b="0">
                          <a:solidFill>
                            <a:srgbClr val="21252B"/>
                          </a:solidFill>
                          <a:latin typeface="Yu Gothic"/>
                          <a:ea typeface="Yu Gothic"/>
                        </a:rPr>
                        <a:t>他キャリア利用者</a:t>
                      </a:r>
                    </a:p>
                  </a:txBody>
                  <a:tcPr anchor="ctr" marL="73152" marR="73152" marT="18288" marB="18288">
                    <a:solidFill>
                      <a:srgbClr val="F2F4F6"/>
                    </a:solidFill>
                  </a:tcPr>
                </a:tc>
                <a:tc>
                  <a:txBody>
                    <a:bodyPr/>
                    <a:lstStyle/>
                    <a:p>
                      <a:r>
                        <a:rPr sz="1250" b="0">
                          <a:solidFill>
                            <a:srgbClr val="21252B"/>
                          </a:solidFill>
                          <a:latin typeface="Yu Gothic"/>
                          <a:ea typeface="Yu Gothic"/>
                        </a:rPr>
                        <a:t>料金診断、MNP、ワイモバイル・LINEMO送客</a:t>
                      </a:r>
                    </a:p>
                  </a:txBody>
                  <a:tcPr anchor="ctr" marL="73152" marR="73152" marT="18288" marB="18288">
                    <a:solidFill>
                      <a:srgbClr val="F2F4F6"/>
                    </a:solidFill>
                  </a:tcPr>
                </a:tc>
              </a:tr>
              <a:tr h="457200">
                <a:tc>
                  <a:txBody>
                    <a:bodyPr/>
                    <a:lstStyle/>
                    <a:p>
                      <a:r>
                        <a:rPr sz="1250" b="0">
                          <a:solidFill>
                            <a:srgbClr val="21252B"/>
                          </a:solidFill>
                          <a:latin typeface="Yu Gothic"/>
                          <a:ea typeface="Yu Gothic"/>
                        </a:rPr>
                        <a:t>商業施設来館者</a:t>
                      </a:r>
                    </a:p>
                  </a:txBody>
                  <a:tcPr anchor="ctr" marL="73152" marR="73152" marT="18288" marB="18288">
                    <a:solidFill>
                      <a:srgbClr val="FFFFFF"/>
                    </a:solidFill>
                  </a:tcPr>
                </a:tc>
                <a:tc>
                  <a:txBody>
                    <a:bodyPr/>
                    <a:lstStyle/>
                    <a:p>
                      <a:r>
                        <a:rPr sz="1250" b="0">
                          <a:solidFill>
                            <a:srgbClr val="21252B"/>
                          </a:solidFill>
                          <a:latin typeface="Yu Gothic"/>
                          <a:ea typeface="Yu Gothic"/>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D60012"/>
                </a:solidFill>
                <a:latin typeface="Yu Gothic"/>
                <a:ea typeface="Yu Gothic"/>
              </a:rPr>
              <a:t>特に狙うべき生活者</a:t>
            </a:r>
          </a:p>
          <a:p>
            <a:pPr algn="l">
              <a:spcAft>
                <a:spcPts val="900"/>
              </a:spcAft>
            </a:pPr>
            <a:r>
              <a:rPr sz="1250" b="0">
                <a:solidFill>
                  <a:srgbClr val="21252B"/>
                </a:solidFill>
                <a:latin typeface="Yu Gothic"/>
                <a:ea typeface="Yu Gothic"/>
              </a:rPr>
              <a:t>・子どものスマホを検討している家庭</a:t>
            </a:r>
          </a:p>
          <a:p>
            <a:pPr algn="l">
              <a:spcAft>
                <a:spcPts val="900"/>
              </a:spcAft>
            </a:pPr>
            <a:r>
              <a:rPr sz="1250" b="0">
                <a:solidFill>
                  <a:srgbClr val="21252B"/>
                </a:solidFill>
                <a:latin typeface="Yu Gothic"/>
                <a:ea typeface="Yu Gothic"/>
              </a:rPr>
              <a:t>・家族の通信費を見直したい家庭</a:t>
            </a:r>
          </a:p>
          <a:p>
            <a:pPr algn="l">
              <a:spcAft>
                <a:spcPts val="900"/>
              </a:spcAft>
            </a:pPr>
            <a:r>
              <a:rPr sz="1250" b="0">
                <a:solidFill>
                  <a:srgbClr val="21252B"/>
                </a:solidFill>
                <a:latin typeface="Yu Gothic"/>
                <a:ea typeface="Yu Gothic"/>
              </a:rPr>
              <a:t>・自宅Wi-Fiに不満がある家庭</a:t>
            </a:r>
          </a:p>
          <a:p>
            <a:pPr algn="l">
              <a:spcAft>
                <a:spcPts val="900"/>
              </a:spcAft>
            </a:pPr>
            <a:r>
              <a:rPr sz="1250" b="0">
                <a:solidFill>
                  <a:srgbClr val="21252B"/>
                </a:solidFill>
                <a:latin typeface="Yu Gothic"/>
                <a:ea typeface="Yu Gothic"/>
              </a:rPr>
              <a:t>・電気料金の見直しに関心がある家庭</a:t>
            </a:r>
          </a:p>
          <a:p>
            <a:pPr algn="l">
              <a:spcAft>
                <a:spcPts val="900"/>
              </a:spcAft>
            </a:pPr>
            <a:r>
              <a:rPr sz="1250" b="0">
                <a:solidFill>
                  <a:srgbClr val="21252B"/>
                </a:solidFill>
                <a:latin typeface="Yu Gothic"/>
                <a:ea typeface="Yu Gothic"/>
              </a:rPr>
              <a:t>・商業施設に週末来館する親子</a:t>
            </a:r>
          </a:p>
          <a:p>
            <a:pPr algn="l">
              <a:spcAft>
                <a:spcPts val="900"/>
              </a:spcAft>
            </a:pPr>
            <a:r>
              <a:rPr sz="1250" b="0">
                <a:solidFill>
                  <a:srgbClr val="21252B"/>
                </a:solidFill>
                <a:latin typeface="Yu Gothic"/>
                <a:ea typeface="Yu Gothic"/>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ユーザー体験設計(生活者導線)</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認知から来館・参加・相談・申込まで、8ステップの一気通貫導線</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13</a:t>
            </a:r>
          </a:p>
        </p:txBody>
      </p:sp>
      <p:sp>
        <p:nvSpPr>
          <p:cNvPr id="8" name="Rounded Rectangle 7"/>
          <p:cNvSpPr/>
          <p:nvPr/>
        </p:nvSpPr>
        <p:spPr>
          <a:xfrm>
            <a:off x="777240" y="1691640"/>
            <a:ext cx="5212080" cy="566928"/>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② 週末に親子で商業施設へ来館</a:t>
            </a:r>
          </a:p>
        </p:txBody>
      </p:sp>
      <p:sp>
        <p:nvSpPr>
          <p:cNvPr id="11" name="Down Arrow 10"/>
          <p:cNvSpPr/>
          <p:nvPr/>
        </p:nvSpPr>
        <p:spPr>
          <a:xfrm>
            <a:off x="3300984" y="309524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③ ウルトラマン撮影会・ステージを見る</a:t>
            </a:r>
          </a:p>
        </p:txBody>
      </p:sp>
      <p:sp>
        <p:nvSpPr>
          <p:cNvPr id="13" name="Down Arrow 12"/>
          <p:cNvSpPr/>
          <p:nvPr/>
        </p:nvSpPr>
        <p:spPr>
          <a:xfrm>
            <a:off x="3300984" y="391820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⑤ デジタル隊員証を発行</a:t>
            </a:r>
          </a:p>
        </p:txBody>
      </p:sp>
      <p:sp>
        <p:nvSpPr>
          <p:cNvPr id="16" name="Down Arrow 15"/>
          <p:cNvSpPr/>
          <p:nvPr/>
        </p:nvSpPr>
        <p:spPr>
          <a:xfrm>
            <a:off x="8878824" y="22722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⑥ SoftBankショップで特典・相談導線に接触</a:t>
            </a:r>
          </a:p>
        </p:txBody>
      </p:sp>
      <p:sp>
        <p:nvSpPr>
          <p:cNvPr id="18" name="Down Arrow 17"/>
          <p:cNvSpPr/>
          <p:nvPr/>
        </p:nvSpPr>
        <p:spPr>
          <a:xfrm>
            <a:off x="8878824" y="309524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⑦ スマホ料金診断・家族契約・BB・でんき相談</a:t>
            </a:r>
          </a:p>
        </p:txBody>
      </p:sp>
      <p:sp>
        <p:nvSpPr>
          <p:cNvPr id="20" name="Down Arrow 19"/>
          <p:cNvSpPr/>
          <p:nvPr/>
        </p:nvSpPr>
        <p:spPr>
          <a:xfrm>
            <a:off x="8878824" y="391820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ポイント:</a:t>
            </a:r>
            <a:r>
              <a:rPr sz="1400" b="1">
                <a:solidFill>
                  <a:srgbClr val="21252B"/>
                </a:solidFill>
                <a:latin typeface="Yu Gothic"/>
                <a:ea typeface="Yu Gothic"/>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店頭イベントの具体内容:「ウルトラマン未来防衛隊 in 商業施設」</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集客・回遊・接点化・相談・送客の機能を1パッケージ化した基本メニュー</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Yu Gothic"/>
                          <a:ea typeface="Yu Gothic"/>
                        </a:rPr>
                        <a:t>施策</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c>
                  <a:txBody>
                    <a:bodyPr/>
                    <a:lstStyle/>
                    <a:p>
                      <a:r>
                        <a:rPr sz="1150" b="1">
                          <a:solidFill>
                            <a:srgbClr val="FFFFFF"/>
                          </a:solidFill>
                          <a:latin typeface="Yu Gothic"/>
                          <a:ea typeface="Yu Gothic"/>
                        </a:rPr>
                        <a:t>SoftBankへの効果</a:t>
                      </a:r>
                    </a:p>
                  </a:txBody>
                  <a:tcPr anchor="ctr" marL="73152" marR="73152" marT="18288" marB="18288">
                    <a:solidFill>
                      <a:srgbClr val="121A2E"/>
                    </a:solidFill>
                  </a:tcPr>
                </a:tc>
              </a:tr>
              <a:tr h="466344">
                <a:tc>
                  <a:txBody>
                    <a:bodyPr/>
                    <a:lstStyle/>
                    <a:p>
                      <a:r>
                        <a:rPr sz="1250" b="0">
                          <a:solidFill>
                            <a:srgbClr val="21252B"/>
                          </a:solidFill>
                          <a:latin typeface="Yu Gothic"/>
                          <a:ea typeface="Yu Gothic"/>
                        </a:rPr>
                        <a:t>ウルトラヒーロー撮影会</a:t>
                      </a:r>
                    </a:p>
                  </a:txBody>
                  <a:tcPr anchor="ctr" marL="73152" marR="73152" marT="18288" marB="18288">
                    <a:solidFill>
                      <a:srgbClr val="FFFFFF"/>
                    </a:solidFill>
                  </a:tcPr>
                </a:tc>
                <a:tc>
                  <a:txBody>
                    <a:bodyPr/>
                    <a:lstStyle/>
                    <a:p>
                      <a:r>
                        <a:rPr sz="1250" b="0">
                          <a:solidFill>
                            <a:srgbClr val="21252B"/>
                          </a:solidFill>
                          <a:latin typeface="Yu Gothic"/>
                          <a:ea typeface="Yu Gothic"/>
                        </a:rPr>
                        <a:t>親子で写真撮影</a:t>
                      </a:r>
                    </a:p>
                  </a:txBody>
                  <a:tcPr anchor="ctr" marL="73152" marR="73152" marT="18288" marB="18288">
                    <a:solidFill>
                      <a:srgbClr val="FFFFFF"/>
                    </a:solidFill>
                  </a:tcPr>
                </a:tc>
                <a:tc>
                  <a:txBody>
                    <a:bodyPr/>
                    <a:lstStyle/>
                    <a:p>
                      <a:r>
                        <a:rPr sz="1250" b="0">
                          <a:solidFill>
                            <a:srgbClr val="21252B"/>
                          </a:solidFill>
                          <a:latin typeface="Yu Gothic"/>
                          <a:ea typeface="Yu Gothic"/>
                        </a:rPr>
                        <a:t>目的来館を作る</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未来防衛隊ステージ</a:t>
                      </a:r>
                    </a:p>
                  </a:txBody>
                  <a:tcPr anchor="ctr" marL="73152" marR="73152" marT="18288" marB="18288">
                    <a:solidFill>
                      <a:srgbClr val="F2F4F6"/>
                    </a:solidFill>
                  </a:tcPr>
                </a:tc>
                <a:tc>
                  <a:txBody>
                    <a:bodyPr/>
                    <a:lstStyle/>
                    <a:p>
                      <a:r>
                        <a:rPr sz="1250" b="0">
                          <a:solidFill>
                            <a:srgbClr val="21252B"/>
                          </a:solidFill>
                          <a:latin typeface="Yu Gothic"/>
                          <a:ea typeface="Yu Gothic"/>
                        </a:rPr>
                        <a:t>通信・家族・暮らしの安心がテーマのミニステージ</a:t>
                      </a:r>
                    </a:p>
                  </a:txBody>
                  <a:tcPr anchor="ctr" marL="73152" marR="73152" marT="18288" marB="18288">
                    <a:solidFill>
                      <a:srgbClr val="F2F4F6"/>
                    </a:solidFill>
                  </a:tcPr>
                </a:tc>
                <a:tc>
                  <a:txBody>
                    <a:bodyPr/>
                    <a:lstStyle/>
                    <a:p>
                      <a:r>
                        <a:rPr sz="1250" b="0">
                          <a:solidFill>
                            <a:srgbClr val="21252B"/>
                          </a:solidFill>
                          <a:latin typeface="Yu Gothic"/>
                          <a:ea typeface="Yu Gothic"/>
                        </a:rPr>
                        <a:t>ブランド好意度向上</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館内ミッションラリー</a:t>
                      </a:r>
                    </a:p>
                  </a:txBody>
                  <a:tcPr anchor="ctr" marL="73152" marR="73152" marT="18288" marB="18288">
                    <a:solidFill>
                      <a:srgbClr val="FFFFFF"/>
                    </a:solidFill>
                  </a:tcPr>
                </a:tc>
                <a:tc>
                  <a:txBody>
                    <a:bodyPr/>
                    <a:lstStyle/>
                    <a:p>
                      <a:r>
                        <a:rPr sz="1250" b="0">
                          <a:solidFill>
                            <a:srgbClr val="21252B"/>
                          </a:solidFill>
                          <a:latin typeface="Yu Gothic"/>
                          <a:ea typeface="Yu Gothic"/>
                        </a:rPr>
                        <a:t>館内を回遊しながらミッション達成</a:t>
                      </a:r>
                    </a:p>
                  </a:txBody>
                  <a:tcPr anchor="ctr" marL="73152" marR="73152" marT="18288" marB="18288">
                    <a:solidFill>
                      <a:srgbClr val="FFFFFF"/>
                    </a:solidFill>
                  </a:tcPr>
                </a:tc>
                <a:tc>
                  <a:txBody>
                    <a:bodyPr/>
                    <a:lstStyle/>
                    <a:p>
                      <a:r>
                        <a:rPr sz="1250" b="0">
                          <a:solidFill>
                            <a:srgbClr val="21252B"/>
                          </a:solidFill>
                          <a:latin typeface="Yu Gothic"/>
                          <a:ea typeface="Yu Gothic"/>
                        </a:rPr>
                        <a:t>商業施設回遊、滞在時間向上</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デジタル隊員証</a:t>
                      </a:r>
                    </a:p>
                  </a:txBody>
                  <a:tcPr anchor="ctr" marL="73152" marR="73152" marT="18288" marB="18288">
                    <a:solidFill>
                      <a:srgbClr val="F2F4F6"/>
                    </a:solidFill>
                  </a:tcPr>
                </a:tc>
                <a:tc>
                  <a:txBody>
                    <a:bodyPr/>
                    <a:lstStyle/>
                    <a:p>
                      <a:r>
                        <a:rPr sz="1250" b="0">
                          <a:solidFill>
                            <a:srgbClr val="21252B"/>
                          </a:solidFill>
                          <a:latin typeface="Yu Gothic"/>
                          <a:ea typeface="Yu Gothic"/>
                        </a:rPr>
                        <a:t>QRで参加登録、スマホ上で表示</a:t>
                      </a:r>
                    </a:p>
                  </a:txBody>
                  <a:tcPr anchor="ctr" marL="73152" marR="73152" marT="18288" marB="18288">
                    <a:solidFill>
                      <a:srgbClr val="F2F4F6"/>
                    </a:solidFill>
                  </a:tcPr>
                </a:tc>
                <a:tc>
                  <a:txBody>
                    <a:bodyPr/>
                    <a:lstStyle/>
                    <a:p>
                      <a:r>
                        <a:rPr sz="1250" b="0">
                          <a:solidFill>
                            <a:srgbClr val="21252B"/>
                          </a:solidFill>
                          <a:latin typeface="Yu Gothic"/>
                          <a:ea typeface="Yu Gothic"/>
                        </a:rPr>
                        <a:t>顧客接点化</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家族スマホ安全診断</a:t>
                      </a:r>
                    </a:p>
                  </a:txBody>
                  <a:tcPr anchor="ctr" marL="73152" marR="73152" marT="18288" marB="18288">
                    <a:solidFill>
                      <a:srgbClr val="FFFFFF"/>
                    </a:solidFill>
                  </a:tcPr>
                </a:tc>
                <a:tc>
                  <a:txBody>
                    <a:bodyPr/>
                    <a:lstStyle/>
                    <a:p>
                      <a:r>
                        <a:rPr sz="1250" b="0">
                          <a:solidFill>
                            <a:srgbClr val="21252B"/>
                          </a:solidFill>
                          <a:latin typeface="Yu Gothic"/>
                          <a:ea typeface="Yu Gothic"/>
                        </a:rPr>
                        <a:t>子どものスマホ利用、料金、セキュリティ相談</a:t>
                      </a:r>
                    </a:p>
                  </a:txBody>
                  <a:tcPr anchor="ctr" marL="73152" marR="73152" marT="18288" marB="18288">
                    <a:solidFill>
                      <a:srgbClr val="FFFFFF"/>
                    </a:solidFill>
                  </a:tcPr>
                </a:tc>
                <a:tc>
                  <a:txBody>
                    <a:bodyPr/>
                    <a:lstStyle/>
                    <a:p>
                      <a:r>
                        <a:rPr sz="1250" b="0">
                          <a:solidFill>
                            <a:srgbClr val="21252B"/>
                          </a:solidFill>
                          <a:latin typeface="Yu Gothic"/>
                          <a:ea typeface="Yu Gothic"/>
                        </a:rPr>
                        <a:t>モバイル相談</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おうち通信防衛診断</a:t>
                      </a:r>
                    </a:p>
                  </a:txBody>
                  <a:tcPr anchor="ctr" marL="73152" marR="73152" marT="18288" marB="18288">
                    <a:solidFill>
                      <a:srgbClr val="F2F4F6"/>
                    </a:solidFill>
                  </a:tcPr>
                </a:tc>
                <a:tc>
                  <a:txBody>
                    <a:bodyPr/>
                    <a:lstStyle/>
                    <a:p>
                      <a:r>
                        <a:rPr sz="1250" b="0">
                          <a:solidFill>
                            <a:srgbClr val="21252B"/>
                          </a:solidFill>
                          <a:latin typeface="Yu Gothic"/>
                          <a:ea typeface="Yu Gothic"/>
                        </a:rPr>
                        <a:t>Wi-Fi、BB、通信環境の相談</a:t>
                      </a:r>
                    </a:p>
                  </a:txBody>
                  <a:tcPr anchor="ctr" marL="73152" marR="73152" marT="18288" marB="18288">
                    <a:solidFill>
                      <a:srgbClr val="F2F4F6"/>
                    </a:solidFill>
                  </a:tcPr>
                </a:tc>
                <a:tc>
                  <a:txBody>
                    <a:bodyPr/>
                    <a:lstStyle/>
                    <a:p>
                      <a:r>
                        <a:rPr sz="1250" b="0">
                          <a:solidFill>
                            <a:srgbClr val="21252B"/>
                          </a:solidFill>
                          <a:latin typeface="Yu Gothic"/>
                          <a:ea typeface="Yu Gothic"/>
                        </a:rPr>
                        <a:t>SoftBank 光/Air送客</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くらしの電気防衛診断</a:t>
                      </a:r>
                    </a:p>
                  </a:txBody>
                  <a:tcPr anchor="ctr" marL="73152" marR="73152" marT="18288" marB="18288">
                    <a:solidFill>
                      <a:srgbClr val="FFFFFF"/>
                    </a:solidFill>
                  </a:tcPr>
                </a:tc>
                <a:tc>
                  <a:txBody>
                    <a:bodyPr/>
                    <a:lstStyle/>
                    <a:p>
                      <a:r>
                        <a:rPr sz="1250" b="0">
                          <a:solidFill>
                            <a:srgbClr val="21252B"/>
                          </a:solidFill>
                          <a:latin typeface="Yu Gothic"/>
                          <a:ea typeface="Yu Gothic"/>
                        </a:rPr>
                        <a:t>電気料金、でんき契約の見直し</a:t>
                      </a:r>
                    </a:p>
                  </a:txBody>
                  <a:tcPr anchor="ctr" marL="73152" marR="73152" marT="18288" marB="18288">
                    <a:solidFill>
                      <a:srgbClr val="FFFFFF"/>
                    </a:solidFill>
                  </a:tcPr>
                </a:tc>
                <a:tc>
                  <a:txBody>
                    <a:bodyPr/>
                    <a:lstStyle/>
                    <a:p>
                      <a:r>
                        <a:rPr sz="1250" b="0">
                          <a:solidFill>
                            <a:srgbClr val="21252B"/>
                          </a:solidFill>
                          <a:latin typeface="Yu Gothic"/>
                          <a:ea typeface="Yu Gothic"/>
                        </a:rPr>
                        <a:t>でんき送客</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ショップ限定特典</a:t>
                      </a:r>
                    </a:p>
                  </a:txBody>
                  <a:tcPr anchor="ctr" marL="73152" marR="73152" marT="18288" marB="18288">
                    <a:solidFill>
                      <a:srgbClr val="F2F4F6"/>
                    </a:solidFill>
                  </a:tcPr>
                </a:tc>
                <a:tc>
                  <a:txBody>
                    <a:bodyPr/>
                    <a:lstStyle/>
                    <a:p>
                      <a:r>
                        <a:rPr sz="1250" b="0">
                          <a:solidFill>
                            <a:srgbClr val="21252B"/>
                          </a:solidFill>
                          <a:latin typeface="Yu Gothic"/>
                          <a:ea typeface="Yu Gothic"/>
                        </a:rPr>
                        <a:t>相談・見積でノベルティ</a:t>
                      </a:r>
                    </a:p>
                  </a:txBody>
                  <a:tcPr anchor="ctr" marL="73152" marR="73152" marT="18288" marB="18288">
                    <a:solidFill>
                      <a:srgbClr val="F2F4F6"/>
                    </a:solidFill>
                  </a:tcPr>
                </a:tc>
                <a:tc>
                  <a:txBody>
                    <a:bodyPr/>
                    <a:lstStyle/>
                    <a:p>
                      <a:r>
                        <a:rPr sz="1250" b="0">
                          <a:solidFill>
                            <a:srgbClr val="21252B"/>
                          </a:solidFill>
                          <a:latin typeface="Yu Gothic"/>
                          <a:ea typeface="Yu Gothic"/>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未来防衛隊ミッションラリー</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館内回遊と相談接点を同時に生む、本企画の中核コンテンツ</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Yu Gothic"/>
                          <a:ea typeface="Yu Gothic"/>
                        </a:rPr>
                        <a:t>ミッション</a:t>
                      </a:r>
                    </a:p>
                  </a:txBody>
                  <a:tcPr anchor="ctr" marL="73152" marR="73152" marT="18288" marB="18288">
                    <a:solidFill>
                      <a:srgbClr val="121A2E"/>
                    </a:solidFill>
                  </a:tcPr>
                </a:tc>
                <a:tc>
                  <a:txBody>
                    <a:bodyPr/>
                    <a:lstStyle/>
                    <a:p>
                      <a:r>
                        <a:rPr sz="1150" b="1">
                          <a:solidFill>
                            <a:srgbClr val="FFFFFF"/>
                          </a:solidFill>
                          <a:latin typeface="Yu Gothic"/>
                          <a:ea typeface="Yu Gothic"/>
                        </a:rPr>
                        <a:t>目的</a:t>
                      </a:r>
                    </a:p>
                  </a:txBody>
                  <a:tcPr anchor="ctr" marL="73152" marR="73152" marT="18288" marB="18288">
                    <a:solidFill>
                      <a:srgbClr val="121A2E"/>
                    </a:solidFill>
                  </a:tcPr>
                </a:tc>
              </a:tr>
              <a:tr h="402336">
                <a:tc>
                  <a:txBody>
                    <a:bodyPr/>
                    <a:lstStyle/>
                    <a:p>
                      <a:r>
                        <a:rPr sz="1250" b="0">
                          <a:solidFill>
                            <a:srgbClr val="21252B"/>
                          </a:solidFill>
                          <a:latin typeface="Yu Gothic"/>
                          <a:ea typeface="Yu Gothic"/>
                        </a:rPr>
                        <a:t>家族スマホ安全ミッション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子どもスマホ・見守り・セキュリティ相談</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おうちWi-Fi防衛ミッション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SoftBank 光/Air相談</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でんき防衛ミッション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でんき契約・電気料金見直し</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料金見直しミッション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家族通信費の診断</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ショップ基地ミッション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SoftBankショップへの送客</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フォトミッション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ウルトラマン撮影会参加</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デジタル隊員証ミッション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D60012"/>
                </a:solidFill>
                <a:latin typeface="Yu Gothic"/>
                <a:ea typeface="Yu Gothic"/>
              </a:rPr>
              <a:t>ラリー完了特典</a:t>
            </a:r>
          </a:p>
          <a:p>
            <a:pPr algn="l">
              <a:spcAft>
                <a:spcPts val="800"/>
              </a:spcAft>
            </a:pPr>
            <a:r>
              <a:rPr sz="1250" b="0">
                <a:solidFill>
                  <a:srgbClr val="21252B"/>
                </a:solidFill>
                <a:latin typeface="Yu Gothic"/>
                <a:ea typeface="Yu Gothic"/>
              </a:rPr>
              <a:t>・未来防衛隊ステッカー</a:t>
            </a:r>
          </a:p>
          <a:p>
            <a:pPr algn="l">
              <a:spcAft>
                <a:spcPts val="800"/>
              </a:spcAft>
            </a:pPr>
            <a:r>
              <a:rPr sz="1250" b="0">
                <a:solidFill>
                  <a:srgbClr val="21252B"/>
                </a:solidFill>
                <a:latin typeface="Yu Gothic"/>
                <a:ea typeface="Yu Gothic"/>
              </a:rPr>
              <a:t>・デジタル壁紙</a:t>
            </a:r>
          </a:p>
          <a:p>
            <a:pPr algn="l">
              <a:spcAft>
                <a:spcPts val="800"/>
              </a:spcAft>
            </a:pPr>
            <a:r>
              <a:rPr sz="1250" b="0">
                <a:solidFill>
                  <a:srgbClr val="21252B"/>
                </a:solidFill>
                <a:latin typeface="Yu Gothic"/>
                <a:ea typeface="Yu Gothic"/>
              </a:rPr>
              <a:t>・隊員証カード/クリアファイル</a:t>
            </a:r>
          </a:p>
          <a:p>
            <a:pPr algn="l">
              <a:spcAft>
                <a:spcPts val="800"/>
              </a:spcAft>
            </a:pPr>
            <a:r>
              <a:rPr sz="1250" b="0">
                <a:solidFill>
                  <a:srgbClr val="21252B"/>
                </a:solidFill>
                <a:latin typeface="Yu Gothic"/>
                <a:ea typeface="Yu Gothic"/>
              </a:rPr>
              <a:t>・店舗相談者限定ノベルティ</a:t>
            </a:r>
          </a:p>
          <a:p>
            <a:pPr algn="l">
              <a:spcAft>
                <a:spcPts val="800"/>
              </a:spcAft>
            </a:pPr>
            <a:r>
              <a:rPr sz="1250" b="0">
                <a:solidFill>
                  <a:srgbClr val="21252B"/>
                </a:solidFill>
                <a:latin typeface="Yu Gothic"/>
                <a:ea typeface="Yu Gothic"/>
              </a:rPr>
              <a:t>・抽選応募権</a:t>
            </a:r>
          </a:p>
        </p:txBody>
      </p:sp>
      <p:sp>
        <p:nvSpPr>
          <p:cNvPr id="11" name="TextBox 10"/>
          <p:cNvSpPr txBox="1"/>
          <p:nvPr/>
        </p:nvSpPr>
        <p:spPr>
          <a:xfrm>
            <a:off x="777240" y="5074920"/>
            <a:ext cx="10789920" cy="914400"/>
          </a:xfrm>
          <a:prstGeom prst="rect">
            <a:avLst/>
          </a:prstGeom>
          <a:noFill/>
        </p:spPr>
        <p:txBody>
          <a:bodyPr wrap="square" anchor="t" lIns="0" rIns="0" tIns="0" bIns="0">
            <a:spAutoFit/>
          </a:bodyPr>
          <a:lstStyle/>
          <a:p>
            <a:pPr algn="l">
              <a:spcAft>
                <a:spcPts val="600"/>
              </a:spcAft>
            </a:pPr>
            <a:r>
              <a:rPr sz="1350" b="1">
                <a:solidFill>
                  <a:srgbClr val="D60012"/>
                </a:solidFill>
                <a:latin typeface="Yu Gothic"/>
                <a:ea typeface="Yu Gothic"/>
              </a:rPr>
              <a:t>ノベルティ設計:</a:t>
            </a:r>
            <a:r>
              <a:rPr sz="1350" b="0">
                <a:solidFill>
                  <a:srgbClr val="21252B"/>
                </a:solidFill>
                <a:latin typeface="Yu Gothic"/>
                <a:ea typeface="Yu Gothic"/>
              </a:rPr>
              <a:t>ポケモン契約と同様、作成数に上限を設けず、数量に応じた許諾対価を別途支払う設計が自然。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SoftBankショップへの送客設計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SoftBankショップを「未来防衛隊基地」として位置づけ、ラリーの最終ミッションで店舗へ誘導します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16</a:t>
            </a:r>
          </a:p>
        </p:txBody>
      </p:sp>
      <p:sp>
        <p:nvSpPr>
          <p:cNvPr id="8" name="Rounded Rectangle 7"/>
          <p:cNvSpPr/>
          <p:nvPr/>
        </p:nvSpPr>
        <p:spPr>
          <a:xfrm>
            <a:off x="777240" y="1691640"/>
            <a:ext cx="4937760" cy="512064"/>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中央イベントスペース(広場)</a:t>
            </a:r>
          </a:p>
        </p:txBody>
      </p:sp>
      <p:sp>
        <p:nvSpPr>
          <p:cNvPr id="9" name="Down Arrow 8"/>
          <p:cNvSpPr/>
          <p:nvPr/>
        </p:nvSpPr>
        <p:spPr>
          <a:xfrm>
            <a:off x="3163824" y="2217420"/>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ミッションラリー参加</a:t>
            </a:r>
          </a:p>
        </p:txBody>
      </p:sp>
      <p:sp>
        <p:nvSpPr>
          <p:cNvPr id="11" name="Down Arrow 10"/>
          <p:cNvSpPr/>
          <p:nvPr/>
        </p:nvSpPr>
        <p:spPr>
          <a:xfrm>
            <a:off x="3163824" y="2930652"/>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SoftBankショップで最終ミッション</a:t>
            </a:r>
          </a:p>
        </p:txBody>
      </p:sp>
      <p:sp>
        <p:nvSpPr>
          <p:cNvPr id="13" name="Down Arrow 12"/>
          <p:cNvSpPr/>
          <p:nvPr/>
        </p:nvSpPr>
        <p:spPr>
          <a:xfrm>
            <a:off x="3163824" y="3643884"/>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料金診断・BB診断・でんき相談</a:t>
            </a:r>
          </a:p>
        </p:txBody>
      </p:sp>
      <p:sp>
        <p:nvSpPr>
          <p:cNvPr id="15" name="Down Arrow 14"/>
          <p:cNvSpPr/>
          <p:nvPr/>
        </p:nvSpPr>
        <p:spPr>
          <a:xfrm>
            <a:off x="3163824" y="4357116"/>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Yu Gothic"/>
                          <a:ea typeface="Yu Gothic"/>
                        </a:rPr>
                        <a:t>店舗の相談メニュー</a:t>
                      </a:r>
                    </a:p>
                  </a:txBody>
                  <a:tcPr anchor="ctr" marL="73152" marR="73152" marT="18288" marB="18288">
                    <a:solidFill>
                      <a:srgbClr val="121A2E"/>
                    </a:solidFill>
                  </a:tcPr>
                </a:tc>
                <a:tc>
                  <a:txBody>
                    <a:bodyPr/>
                    <a:lstStyle/>
                    <a:p>
                      <a:r>
                        <a:rPr sz="1150" b="1">
                          <a:solidFill>
                            <a:srgbClr val="FFFFFF"/>
                          </a:solidFill>
                          <a:latin typeface="Yu Gothic"/>
                          <a:ea typeface="Yu Gothic"/>
                        </a:rPr>
                        <a:t>目的</a:t>
                      </a:r>
                    </a:p>
                  </a:txBody>
                  <a:tcPr anchor="ctr" marL="73152" marR="73152" marT="18288" marB="18288">
                    <a:solidFill>
                      <a:srgbClr val="121A2E"/>
                    </a:solidFill>
                  </a:tcPr>
                </a:tc>
              </a:tr>
              <a:tr h="402336">
                <a:tc>
                  <a:txBody>
                    <a:bodyPr/>
                    <a:lstStyle/>
                    <a:p>
                      <a:r>
                        <a:rPr sz="1200" b="0">
                          <a:solidFill>
                            <a:srgbClr val="21252B"/>
                          </a:solidFill>
                          <a:latin typeface="Yu Gothic"/>
                          <a:ea typeface="Yu Gothic"/>
                        </a:rPr>
                        <a:t>家族スマホ料金診断</a:t>
                      </a:r>
                    </a:p>
                  </a:txBody>
                  <a:tcPr anchor="ctr" marL="73152" marR="73152" marT="18288" marB="18288">
                    <a:solidFill>
                      <a:srgbClr val="FFFFFF"/>
                    </a:solidFill>
                  </a:tcPr>
                </a:tc>
                <a:tc>
                  <a:txBody>
                    <a:bodyPr/>
                    <a:lstStyle/>
                    <a:p>
                      <a:r>
                        <a:rPr sz="1200" b="0">
                          <a:solidFill>
                            <a:srgbClr val="21252B"/>
                          </a:solidFill>
                          <a:latin typeface="Yu Gothic"/>
                          <a:ea typeface="Yu Gothic"/>
                        </a:rPr>
                        <a:t>家族契約、料金見直し、機種変更</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子どもスマホ相談</a:t>
                      </a:r>
                    </a:p>
                  </a:txBody>
                  <a:tcPr anchor="ctr" marL="73152" marR="73152" marT="18288" marB="18288">
                    <a:solidFill>
                      <a:srgbClr val="F2F4F6"/>
                    </a:solidFill>
                  </a:tcPr>
                </a:tc>
                <a:tc>
                  <a:txBody>
                    <a:bodyPr/>
                    <a:lstStyle/>
                    <a:p>
                      <a:r>
                        <a:rPr sz="1200" b="0">
                          <a:solidFill>
                            <a:srgbClr val="21252B"/>
                          </a:solidFill>
                          <a:latin typeface="Yu Gothic"/>
                          <a:ea typeface="Yu Gothic"/>
                        </a:rPr>
                        <a:t>初スマホ、安心設定、フィルタリング</a:t>
                      </a:r>
                    </a:p>
                  </a:txBody>
                  <a:tcPr anchor="ctr" marL="73152" marR="73152" marT="18288" marB="18288">
                    <a:solidFill>
                      <a:srgbClr val="F2F4F6"/>
                    </a:solidFill>
                  </a:tcPr>
                </a:tc>
              </a:tr>
              <a:tr h="402336">
                <a:tc>
                  <a:txBody>
                    <a:bodyPr/>
                    <a:lstStyle/>
                    <a:p>
                      <a:r>
                        <a:rPr sz="1200" b="0">
                          <a:solidFill>
                            <a:srgbClr val="21252B"/>
                          </a:solidFill>
                          <a:latin typeface="Yu Gothic"/>
                          <a:ea typeface="Yu Gothic"/>
                        </a:rPr>
                        <a:t>おうちWi-Fi診断</a:t>
                      </a:r>
                    </a:p>
                  </a:txBody>
                  <a:tcPr anchor="ctr" marL="73152" marR="73152" marT="18288" marB="18288">
                    <a:solidFill>
                      <a:srgbClr val="FFFFFF"/>
                    </a:solidFill>
                  </a:tcPr>
                </a:tc>
                <a:tc>
                  <a:txBody>
                    <a:bodyPr/>
                    <a:lstStyle/>
                    <a:p>
                      <a:r>
                        <a:rPr sz="1200" b="0">
                          <a:solidFill>
                            <a:srgbClr val="21252B"/>
                          </a:solidFill>
                          <a:latin typeface="Yu Gothic"/>
                          <a:ea typeface="Yu Gothic"/>
                        </a:rPr>
                        <a:t>SoftBank 光/Air送客</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でんき料金診断</a:t>
                      </a:r>
                    </a:p>
                  </a:txBody>
                  <a:tcPr anchor="ctr" marL="73152" marR="73152" marT="18288" marB="18288">
                    <a:solidFill>
                      <a:srgbClr val="F2F4F6"/>
                    </a:solidFill>
                  </a:tcPr>
                </a:tc>
                <a:tc>
                  <a:txBody>
                    <a:bodyPr/>
                    <a:lstStyle/>
                    <a:p>
                      <a:r>
                        <a:rPr sz="1200" b="0">
                          <a:solidFill>
                            <a:srgbClr val="21252B"/>
                          </a:solidFill>
                          <a:latin typeface="Yu Gothic"/>
                          <a:ea typeface="Yu Gothic"/>
                        </a:rPr>
                        <a:t>でんき契約相談</a:t>
                      </a:r>
                    </a:p>
                  </a:txBody>
                  <a:tcPr anchor="ctr" marL="73152" marR="73152" marT="18288" marB="18288">
                    <a:solidFill>
                      <a:srgbClr val="F2F4F6"/>
                    </a:solidFill>
                  </a:tcPr>
                </a:tc>
              </a:tr>
              <a:tr h="402336">
                <a:tc>
                  <a:txBody>
                    <a:bodyPr/>
                    <a:lstStyle/>
                    <a:p>
                      <a:r>
                        <a:rPr sz="1200" b="0">
                          <a:solidFill>
                            <a:srgbClr val="21252B"/>
                          </a:solidFill>
                          <a:latin typeface="Yu Gothic"/>
                          <a:ea typeface="Yu Gothic"/>
                        </a:rPr>
                        <a:t>MNP相談</a:t>
                      </a:r>
                    </a:p>
                  </a:txBody>
                  <a:tcPr anchor="ctr" marL="73152" marR="73152" marT="18288" marB="18288">
                    <a:solidFill>
                      <a:srgbClr val="FFFFFF"/>
                    </a:solidFill>
                  </a:tcPr>
                </a:tc>
                <a:tc>
                  <a:txBody>
                    <a:bodyPr/>
                    <a:lstStyle/>
                    <a:p>
                      <a:r>
                        <a:rPr sz="1200" b="0">
                          <a:solidFill>
                            <a:srgbClr val="21252B"/>
                          </a:solidFill>
                          <a:latin typeface="Yu Gothic"/>
                          <a:ea typeface="Yu Gothic"/>
                        </a:rPr>
                        <a:t>他キャリア利用者の獲得</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ワイモバイル/LINEMO案内</a:t>
                      </a:r>
                    </a:p>
                  </a:txBody>
                  <a:tcPr anchor="ctr" marL="73152" marR="73152" marT="18288" marB="18288">
                    <a:solidFill>
                      <a:srgbClr val="F2F4F6"/>
                    </a:solidFill>
                  </a:tcPr>
                </a:tc>
                <a:tc>
                  <a:txBody>
                    <a:bodyPr/>
                    <a:lstStyle/>
                    <a:p>
                      <a:r>
                        <a:rPr sz="1200" b="0">
                          <a:solidFill>
                            <a:srgbClr val="21252B"/>
                          </a:solidFill>
                          <a:latin typeface="Yu Gothic"/>
                          <a:ea typeface="Yu Gothic"/>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21252B"/>
                </a:solidFill>
                <a:latin typeface="Yu Gothic"/>
                <a:ea typeface="Yu Gothic"/>
              </a:rPr>
              <a:t>マルチブランド(SoftBank/ワイモバイル/LINEMO)展開により、来館者のニーズに応じた最適な受け皿を用意できる。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PayPay/LINE/LYPとの将来連携</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初期はPayPayポイント原資を必須とせず、グループ経済圏への拡張余地を残します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17</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D60012"/>
                </a:solidFill>
                <a:latin typeface="Yu Gothic"/>
                <a:ea typeface="Yu Gothic"/>
              </a:rPr>
              <a:t>● </a:t>
            </a:r>
            <a:r>
              <a:rPr sz="1350" b="0">
                <a:solidFill>
                  <a:srgbClr val="21252B"/>
                </a:solidFill>
                <a:latin typeface="Yu Gothic"/>
                <a:ea typeface="Yu Gothic"/>
              </a:rPr>
              <a:t>PayPayとLINEヤフーは、LINE(国内月間利用者数1億)とPayPay(登録ユーザー7,400万人)のアカウント連携を2026年夏より開始と発表。</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Yu Gothic"/>
                          <a:ea typeface="Yu Gothic"/>
                        </a:rPr>
                        <a:t>連携先</a:t>
                      </a:r>
                    </a:p>
                  </a:txBody>
                  <a:tcPr anchor="ctr" marL="73152" marR="73152" marT="18288" marB="18288">
                    <a:solidFill>
                      <a:srgbClr val="121A2E"/>
                    </a:solidFill>
                  </a:tcPr>
                </a:tc>
                <a:tc>
                  <a:txBody>
                    <a:bodyPr/>
                    <a:lstStyle/>
                    <a:p>
                      <a:r>
                        <a:rPr sz="1150" b="1">
                          <a:solidFill>
                            <a:srgbClr val="FFFFFF"/>
                          </a:solidFill>
                          <a:latin typeface="Yu Gothic"/>
                          <a:ea typeface="Yu Gothic"/>
                        </a:rPr>
                        <a:t>展開案</a:t>
                      </a:r>
                    </a:p>
                  </a:txBody>
                  <a:tcPr anchor="ctr" marL="73152" marR="73152" marT="18288" marB="18288">
                    <a:solidFill>
                      <a:srgbClr val="121A2E"/>
                    </a:solidFill>
                  </a:tcPr>
                </a:tc>
              </a:tr>
              <a:tr h="420624">
                <a:tc>
                  <a:txBody>
                    <a:bodyPr/>
                    <a:lstStyle/>
                    <a:p>
                      <a:r>
                        <a:rPr sz="1300" b="0">
                          <a:solidFill>
                            <a:srgbClr val="21252B"/>
                          </a:solidFill>
                          <a:latin typeface="Yu Gothic"/>
                          <a:ea typeface="Yu Gothic"/>
                        </a:rPr>
                        <a:t>PayPay</a:t>
                      </a:r>
                    </a:p>
                  </a:txBody>
                  <a:tcPr anchor="ctr" marL="73152" marR="73152" marT="18288" marB="18288">
                    <a:solidFill>
                      <a:srgbClr val="FFFFFF"/>
                    </a:solidFill>
                  </a:tcPr>
                </a:tc>
                <a:tc>
                  <a:txBody>
                    <a:bodyPr/>
                    <a:lstStyle/>
                    <a:p>
                      <a:r>
                        <a:rPr sz="1300" b="0">
                          <a:solidFill>
                            <a:srgbClr val="21252B"/>
                          </a:solidFill>
                          <a:latin typeface="Yu Gothic"/>
                          <a:ea typeface="Yu Gothic"/>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21252B"/>
                          </a:solidFill>
                          <a:latin typeface="Yu Gothic"/>
                          <a:ea typeface="Yu Gothic"/>
                        </a:rPr>
                        <a:t>LINE</a:t>
                      </a:r>
                    </a:p>
                  </a:txBody>
                  <a:tcPr anchor="ctr" marL="73152" marR="73152" marT="18288" marB="18288">
                    <a:solidFill>
                      <a:srgbClr val="F2F4F6"/>
                    </a:solidFill>
                  </a:tcPr>
                </a:tc>
                <a:tc>
                  <a:txBody>
                    <a:bodyPr/>
                    <a:lstStyle/>
                    <a:p>
                      <a:r>
                        <a:rPr sz="1300" b="0">
                          <a:solidFill>
                            <a:srgbClr val="21252B"/>
                          </a:solidFill>
                          <a:latin typeface="Yu Gothic"/>
                          <a:ea typeface="Yu Gothic"/>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21252B"/>
                          </a:solidFill>
                          <a:latin typeface="Yu Gothic"/>
                          <a:ea typeface="Yu Gothic"/>
                        </a:rPr>
                        <a:t>LYP</a:t>
                      </a:r>
                    </a:p>
                  </a:txBody>
                  <a:tcPr anchor="ctr" marL="73152" marR="73152" marT="18288" marB="18288">
                    <a:solidFill>
                      <a:srgbClr val="FFFFFF"/>
                    </a:solidFill>
                  </a:tcPr>
                </a:tc>
                <a:tc>
                  <a:txBody>
                    <a:bodyPr/>
                    <a:lstStyle/>
                    <a:p>
                      <a:r>
                        <a:rPr sz="1300" b="0">
                          <a:solidFill>
                            <a:srgbClr val="21252B"/>
                          </a:solidFill>
                          <a:latin typeface="Yu Gothic"/>
                          <a:ea typeface="Yu Gothic"/>
                        </a:rPr>
                        <a:t>SoftBankユーザー向け特典訴求</a:t>
                      </a:r>
                    </a:p>
                  </a:txBody>
                  <a:tcPr anchor="ctr" marL="73152" marR="73152" marT="18288" marB="18288">
                    <a:solidFill>
                      <a:srgbClr val="FFFFFF"/>
                    </a:solidFill>
                  </a:tcPr>
                </a:tc>
              </a:tr>
              <a:tr h="420624">
                <a:tc>
                  <a:txBody>
                    <a:bodyPr/>
                    <a:lstStyle/>
                    <a:p>
                      <a:r>
                        <a:rPr sz="1300" b="0">
                          <a:solidFill>
                            <a:srgbClr val="21252B"/>
                          </a:solidFill>
                          <a:latin typeface="Yu Gothic"/>
                          <a:ea typeface="Yu Gothic"/>
                        </a:rPr>
                        <a:t>Yahoo! JAPAN</a:t>
                      </a:r>
                    </a:p>
                  </a:txBody>
                  <a:tcPr anchor="ctr" marL="73152" marR="73152" marT="18288" marB="18288">
                    <a:solidFill>
                      <a:srgbClr val="F2F4F6"/>
                    </a:solidFill>
                  </a:tcPr>
                </a:tc>
                <a:tc>
                  <a:txBody>
                    <a:bodyPr/>
                    <a:lstStyle/>
                    <a:p>
                      <a:r>
                        <a:rPr sz="1300" b="0">
                          <a:solidFill>
                            <a:srgbClr val="21252B"/>
                          </a:solidFill>
                          <a:latin typeface="Yu Gothic"/>
                          <a:ea typeface="Yu Gothic"/>
                        </a:rPr>
                        <a:t>特集面・キャンペーン告知</a:t>
                      </a:r>
                    </a:p>
                  </a:txBody>
                  <a:tcPr anchor="ctr" marL="73152" marR="73152" marT="18288" marB="18288">
                    <a:solidFill>
                      <a:srgbClr val="F2F4F6"/>
                    </a:solidFill>
                  </a:tcPr>
                </a:tc>
              </a:tr>
              <a:tr h="420624">
                <a:tc>
                  <a:txBody>
                    <a:bodyPr/>
                    <a:lstStyle/>
                    <a:p>
                      <a:r>
                        <a:rPr sz="1300" b="0">
                          <a:solidFill>
                            <a:srgbClr val="21252B"/>
                          </a:solidFill>
                          <a:latin typeface="Yu Gothic"/>
                          <a:ea typeface="Yu Gothic"/>
                        </a:rPr>
                        <a:t>My SoftBank</a:t>
                      </a:r>
                    </a:p>
                  </a:txBody>
                  <a:tcPr anchor="ctr" marL="73152" marR="73152" marT="18288" marB="18288">
                    <a:solidFill>
                      <a:srgbClr val="FFFFFF"/>
                    </a:solidFill>
                  </a:tcPr>
                </a:tc>
                <a:tc>
                  <a:txBody>
                    <a:bodyPr/>
                    <a:lstStyle/>
                    <a:p>
                      <a:r>
                        <a:rPr sz="1300" b="0">
                          <a:solidFill>
                            <a:srgbClr val="21252B"/>
                          </a:solidFill>
                          <a:latin typeface="Yu Gothic"/>
                          <a:ea typeface="Yu Gothic"/>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D60012"/>
                </a:solidFill>
                <a:latin typeface="Yu Gothic"/>
                <a:ea typeface="Yu Gothic"/>
              </a:rPr>
              <a:t>注記:</a:t>
            </a:r>
            <a:r>
              <a:rPr sz="1350" b="0">
                <a:solidFill>
                  <a:srgbClr val="21252B"/>
                </a:solidFill>
                <a:latin typeface="Yu Gothic"/>
                <a:ea typeface="Yu Gothic"/>
              </a:rPr>
              <a:t>PayPayポイント原資、アプリ本体改修、LINEミニアプリ開発は本見積に含めず、別途費用とする。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46304" cy="105156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2331720"/>
            <a:ext cx="10058400" cy="548640"/>
          </a:xfrm>
          <a:prstGeom prst="rect">
            <a:avLst/>
          </a:prstGeom>
          <a:noFill/>
        </p:spPr>
        <p:txBody>
          <a:bodyPr wrap="square" anchor="t" lIns="0" rIns="0" tIns="0" bIns="0">
            <a:spAutoFit/>
          </a:bodyPr>
          <a:lstStyle/>
          <a:p>
            <a:pPr algn="l">
              <a:spcAft>
                <a:spcPts val="600"/>
              </a:spcAft>
            </a:pPr>
            <a:r>
              <a:rPr sz="1800" b="1">
                <a:solidFill>
                  <a:srgbClr val="8E949B"/>
                </a:solidFill>
                <a:latin typeface="Yu Gothic"/>
                <a:ea typeface="Yu Gothic"/>
              </a:rPr>
              <a:t>PLAN &amp; BUDGET</a:t>
            </a:r>
          </a:p>
        </p:txBody>
      </p:sp>
      <p:sp>
        <p:nvSpPr>
          <p:cNvPr id="5" name="TextBox 4"/>
          <p:cNvSpPr txBox="1"/>
          <p:nvPr/>
        </p:nvSpPr>
        <p:spPr>
          <a:xfrm>
            <a:off x="1234440" y="2788920"/>
            <a:ext cx="10241280" cy="1097280"/>
          </a:xfrm>
          <a:prstGeom prst="rect">
            <a:avLst/>
          </a:prstGeom>
          <a:noFill/>
        </p:spPr>
        <p:txBody>
          <a:bodyPr wrap="square" anchor="t" lIns="0" rIns="0" tIns="0" bIns="0">
            <a:spAutoFit/>
          </a:bodyPr>
          <a:lstStyle/>
          <a:p>
            <a:pPr algn="l">
              <a:spcAft>
                <a:spcPts val="600"/>
              </a:spcAft>
            </a:pPr>
            <a:r>
              <a:rPr sz="3400" b="1">
                <a:solidFill>
                  <a:srgbClr val="FFFFFF"/>
                </a:solidFill>
                <a:latin typeface="Yu Gothic"/>
                <a:ea typeface="Yu Gothic"/>
              </a:rPr>
              <a:t>見積もり3パターン</a:t>
            </a:r>
          </a:p>
        </p:txBody>
      </p:sp>
      <p:sp>
        <p:nvSpPr>
          <p:cNvPr id="6" name="TextBox 5"/>
          <p:cNvSpPr txBox="1"/>
          <p:nvPr/>
        </p:nvSpPr>
        <p:spPr>
          <a:xfrm>
            <a:off x="1234440" y="3977639"/>
            <a:ext cx="9875520" cy="109728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すべて税別・概算。円谷プロ側の正式なIP使用料、監修条件、ヒーロー稼働条件、使用媒体、使用期間により変動します。</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3プラン比較</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本命はB案:FY27標準プラン(1億2,000万円)です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19</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Yu Gothic"/>
                          <a:ea typeface="Yu Gothic"/>
                        </a:rPr>
                        <a:t>プラン</a:t>
                      </a:r>
                    </a:p>
                  </a:txBody>
                  <a:tcPr anchor="ctr" marL="73152" marR="73152" marT="18288" marB="18288">
                    <a:solidFill>
                      <a:srgbClr val="121A2E"/>
                    </a:solidFill>
                  </a:tcPr>
                </a:tc>
                <a:tc>
                  <a:txBody>
                    <a:bodyPr/>
                    <a:lstStyle/>
                    <a:p>
                      <a:r>
                        <a:rPr sz="1150" b="1">
                          <a:solidFill>
                            <a:srgbClr val="FFFFFF"/>
                          </a:solidFill>
                          <a:latin typeface="Yu Gothic"/>
                          <a:ea typeface="Yu Gothic"/>
                        </a:rPr>
                        <a:t>金額(税別)</a:t>
                      </a:r>
                    </a:p>
                  </a:txBody>
                  <a:tcPr anchor="ctr" marL="73152" marR="73152" marT="18288" marB="18288">
                    <a:solidFill>
                      <a:srgbClr val="121A2E"/>
                    </a:solidFill>
                  </a:tcPr>
                </a:tc>
                <a:tc>
                  <a:txBody>
                    <a:bodyPr/>
                    <a:lstStyle/>
                    <a:p>
                      <a:r>
                        <a:rPr sz="1150" b="1">
                          <a:solidFill>
                            <a:srgbClr val="FFFFFF"/>
                          </a:solidFill>
                          <a:latin typeface="Yu Gothic"/>
                          <a:ea typeface="Yu Gothic"/>
                        </a:rPr>
                        <a:t>位置づけ</a:t>
                      </a:r>
                    </a:p>
                  </a:txBody>
                  <a:tcPr anchor="ctr" marL="73152" marR="73152" marT="18288" marB="18288">
                    <a:solidFill>
                      <a:srgbClr val="121A2E"/>
                    </a:solidFill>
                  </a:tcPr>
                </a:tc>
                <a:tc>
                  <a:txBody>
                    <a:bodyPr/>
                    <a:lstStyle/>
                    <a:p>
                      <a:r>
                        <a:rPr sz="1150" b="1">
                          <a:solidFill>
                            <a:srgbClr val="FFFFFF"/>
                          </a:solidFill>
                          <a:latin typeface="Yu Gothic"/>
                          <a:ea typeface="Yu Gothic"/>
                        </a:rPr>
                        <a:t>推奨度</a:t>
                      </a:r>
                    </a:p>
                  </a:txBody>
                  <a:tcPr anchor="ctr" marL="73152" marR="73152" marT="18288" marB="18288">
                    <a:solidFill>
                      <a:srgbClr val="121A2E"/>
                    </a:solidFill>
                  </a:tcPr>
                </a:tc>
              </a:tr>
              <a:tr h="621792">
                <a:tc>
                  <a:txBody>
                    <a:bodyPr/>
                    <a:lstStyle/>
                    <a:p>
                      <a:r>
                        <a:rPr sz="1350" b="0">
                          <a:solidFill>
                            <a:srgbClr val="21252B"/>
                          </a:solidFill>
                          <a:latin typeface="Yu Gothic"/>
                          <a:ea typeface="Yu Gothic"/>
                        </a:rPr>
                        <a:t>A案:短期検証プラン</a:t>
                      </a:r>
                    </a:p>
                  </a:txBody>
                  <a:tcPr anchor="ctr" marL="73152" marR="73152" marT="18288" marB="18288">
                    <a:solidFill>
                      <a:srgbClr val="FFFFFF"/>
                    </a:solidFill>
                  </a:tcPr>
                </a:tc>
                <a:tc>
                  <a:txBody>
                    <a:bodyPr/>
                    <a:lstStyle/>
                    <a:p>
                      <a:r>
                        <a:rPr sz="1350" b="0">
                          <a:solidFill>
                            <a:srgbClr val="21252B"/>
                          </a:solidFill>
                          <a:latin typeface="Yu Gothic"/>
                          <a:ea typeface="Yu Gothic"/>
                        </a:rPr>
                        <a:t>3,500万円</a:t>
                      </a:r>
                    </a:p>
                  </a:txBody>
                  <a:tcPr anchor="ctr" marL="73152" marR="73152" marT="18288" marB="18288">
                    <a:solidFill>
                      <a:srgbClr val="FFFFFF"/>
                    </a:solidFill>
                  </a:tcPr>
                </a:tc>
                <a:tc>
                  <a:txBody>
                    <a:bodyPr/>
                    <a:lstStyle/>
                    <a:p>
                      <a:r>
                        <a:rPr sz="1350" b="0">
                          <a:solidFill>
                            <a:srgbClr val="21252B"/>
                          </a:solidFill>
                          <a:latin typeface="Yu Gothic"/>
                          <a:ea typeface="Yu Gothic"/>
                        </a:rPr>
                        <a:t>商業施設イベントの小規模検証(FY26下期パイロット)</a:t>
                      </a:r>
                    </a:p>
                  </a:txBody>
                  <a:tcPr anchor="ctr" marL="73152" marR="73152" marT="18288" marB="18288">
                    <a:solidFill>
                      <a:srgbClr val="FFFFFF"/>
                    </a:solidFill>
                  </a:tcPr>
                </a:tc>
                <a:tc>
                  <a:txBody>
                    <a:bodyPr/>
                    <a:lstStyle/>
                    <a:p>
                      <a:r>
                        <a:rPr sz="1350" b="0">
                          <a:solidFill>
                            <a:srgbClr val="21252B"/>
                          </a:solidFill>
                          <a:latin typeface="Yu Gothic"/>
                          <a:ea typeface="Yu Gothic"/>
                        </a:rPr>
                        <a:t>○</a:t>
                      </a:r>
                    </a:p>
                  </a:txBody>
                  <a:tcPr anchor="ctr" marL="73152" marR="73152" marT="18288" marB="18288">
                    <a:solidFill>
                      <a:srgbClr val="FFFFFF"/>
                    </a:solidFill>
                  </a:tcPr>
                </a:tc>
              </a:tr>
              <a:tr h="621792">
                <a:tc>
                  <a:txBody>
                    <a:bodyPr/>
                    <a:lstStyle/>
                    <a:p>
                      <a:r>
                        <a:rPr sz="1350" b="1">
                          <a:solidFill>
                            <a:srgbClr val="D60012"/>
                          </a:solidFill>
                          <a:latin typeface="Yu Gothic"/>
                          <a:ea typeface="Yu Gothic"/>
                        </a:rPr>
                        <a:t>B案:FY27標準プラン</a:t>
                      </a:r>
                    </a:p>
                  </a:txBody>
                  <a:tcPr anchor="ctr" marL="73152" marR="73152" marT="18288" marB="18288">
                    <a:solidFill>
                      <a:srgbClr val="F2F4F6"/>
                    </a:solidFill>
                  </a:tcPr>
                </a:tc>
                <a:tc>
                  <a:txBody>
                    <a:bodyPr/>
                    <a:lstStyle/>
                    <a:p>
                      <a:r>
                        <a:rPr sz="1350" b="1">
                          <a:solidFill>
                            <a:srgbClr val="D60012"/>
                          </a:solidFill>
                          <a:latin typeface="Yu Gothic"/>
                          <a:ea typeface="Yu Gothic"/>
                        </a:rPr>
                        <a:t>1億2,000万円</a:t>
                      </a:r>
                    </a:p>
                  </a:txBody>
                  <a:tcPr anchor="ctr" marL="73152" marR="73152" marT="18288" marB="18288">
                    <a:solidFill>
                      <a:srgbClr val="F2F4F6"/>
                    </a:solidFill>
                  </a:tcPr>
                </a:tc>
                <a:tc>
                  <a:txBody>
                    <a:bodyPr/>
                    <a:lstStyle/>
                    <a:p>
                      <a:r>
                        <a:rPr sz="1350" b="1">
                          <a:solidFill>
                            <a:srgbClr val="21252B"/>
                          </a:solidFill>
                          <a:latin typeface="Yu Gothic"/>
                          <a:ea typeface="Yu Gothic"/>
                        </a:rPr>
                        <a:t>年間展開の本命。着ぐるみ不可後のリアル集客を補完</a:t>
                      </a:r>
                    </a:p>
                  </a:txBody>
                  <a:tcPr anchor="ctr" marL="73152" marR="73152" marT="18288" marB="18288">
                    <a:solidFill>
                      <a:srgbClr val="F2F4F6"/>
                    </a:solidFill>
                  </a:tcPr>
                </a:tc>
                <a:tc>
                  <a:txBody>
                    <a:bodyPr/>
                    <a:lstStyle/>
                    <a:p>
                      <a:r>
                        <a:rPr sz="1350" b="1">
                          <a:solidFill>
                            <a:srgbClr val="D60012"/>
                          </a:solidFill>
                          <a:latin typeface="Yu Gothic"/>
                          <a:ea typeface="Yu Gothic"/>
                        </a:rPr>
                        <a:t>◎</a:t>
                      </a:r>
                    </a:p>
                  </a:txBody>
                  <a:tcPr anchor="ctr" marL="73152" marR="73152" marT="18288" marB="18288">
                    <a:solidFill>
                      <a:srgbClr val="F2F4F6"/>
                    </a:solidFill>
                  </a:tcPr>
                </a:tc>
              </a:tr>
              <a:tr h="621792">
                <a:tc>
                  <a:txBody>
                    <a:bodyPr/>
                    <a:lstStyle/>
                    <a:p>
                      <a:r>
                        <a:rPr sz="1350" b="0">
                          <a:solidFill>
                            <a:srgbClr val="21252B"/>
                          </a:solidFill>
                          <a:latin typeface="Yu Gothic"/>
                          <a:ea typeface="Yu Gothic"/>
                        </a:rPr>
                        <a:t>C案:60周年大型展開プラン</a:t>
                      </a:r>
                    </a:p>
                  </a:txBody>
                  <a:tcPr anchor="ctr" marL="73152" marR="73152" marT="18288" marB="18288">
                    <a:solidFill>
                      <a:srgbClr val="FFFFFF"/>
                    </a:solidFill>
                  </a:tcPr>
                </a:tc>
                <a:tc>
                  <a:txBody>
                    <a:bodyPr/>
                    <a:lstStyle/>
                    <a:p>
                      <a:r>
                        <a:rPr sz="1350" b="0">
                          <a:solidFill>
                            <a:srgbClr val="21252B"/>
                          </a:solidFill>
                          <a:latin typeface="Yu Gothic"/>
                          <a:ea typeface="Yu Gothic"/>
                        </a:rPr>
                        <a:t>2億5,000万円</a:t>
                      </a:r>
                    </a:p>
                  </a:txBody>
                  <a:tcPr anchor="ctr" marL="73152" marR="73152" marT="18288" marB="18288">
                    <a:solidFill>
                      <a:srgbClr val="FFFFFF"/>
                    </a:solidFill>
                  </a:tcPr>
                </a:tc>
                <a:tc>
                  <a:txBody>
                    <a:bodyPr/>
                    <a:lstStyle/>
                    <a:p>
                      <a:r>
                        <a:rPr sz="1350" b="0">
                          <a:solidFill>
                            <a:srgbClr val="21252B"/>
                          </a:solidFill>
                          <a:latin typeface="Yu Gothic"/>
                          <a:ea typeface="Yu Gothic"/>
                        </a:rPr>
                        <a:t>全国大型キャンペーン(B案実施後の拡張案)</a:t>
                      </a:r>
                    </a:p>
                  </a:txBody>
                  <a:tcPr anchor="ctr" marL="73152" marR="73152" marT="18288" marB="18288">
                    <a:solidFill>
                      <a:srgbClr val="FFFFFF"/>
                    </a:solidFill>
                  </a:tcPr>
                </a:tc>
                <a:tc>
                  <a:txBody>
                    <a:bodyPr/>
                    <a:lstStyle/>
                    <a:p>
                      <a:r>
                        <a:rPr sz="1350" b="0">
                          <a:solidFill>
                            <a:srgbClr val="21252B"/>
                          </a:solidFill>
                          <a:latin typeface="Yu Gothic"/>
                          <a:ea typeface="Yu Gothic"/>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推奨の進め方</a:t>
            </a:r>
          </a:p>
          <a:p>
            <a:pPr algn="l">
              <a:spcAft>
                <a:spcPts val="600"/>
              </a:spcAft>
            </a:pPr>
            <a:r>
              <a:rPr sz="1500" b="1">
                <a:solidFill>
                  <a:srgbClr val="21252B"/>
                </a:solidFill>
                <a:latin typeface="Yu Gothic"/>
                <a:ea typeface="Yu Gothic"/>
              </a:rPr>
              <a:t>A案パイロット(FY26下期)で反応を検証 → B案でFY27年間展開 → 成果に応じてC案へ拡張。</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A案:短期検証プラン|3,500万円(税別)</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FY27本格展開前に、ウルトラマンを核にした商業施設送客の反応を検証(3〜4か月)</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20</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65760">
                <a:tc>
                  <a:txBody>
                    <a:bodyPr/>
                    <a:lstStyle/>
                    <a:p>
                      <a:r>
                        <a:rPr sz="1150" b="0">
                          <a:solidFill>
                            <a:srgbClr val="21252B"/>
                          </a:solidFill>
                          <a:latin typeface="Yu Gothic"/>
                          <a:ea typeface="Yu Gothic"/>
                        </a:rPr>
                        <a:t>ウルトラマンIP使用料・監修費</a:t>
                      </a:r>
                    </a:p>
                  </a:txBody>
                  <a:tcPr anchor="ctr" marL="73152" marR="73152" marT="18288" marB="18288">
                    <a:solidFill>
                      <a:srgbClr val="FFFFFF"/>
                    </a:solidFill>
                  </a:tcPr>
                </a:tc>
                <a:tc>
                  <a:txBody>
                    <a:bodyPr/>
                    <a:lstStyle/>
                    <a:p>
                      <a:r>
                        <a:rPr sz="1150" b="0">
                          <a:solidFill>
                            <a:srgbClr val="21252B"/>
                          </a:solidFill>
                          <a:latin typeface="Yu Gothic"/>
                          <a:ea typeface="Yu Gothic"/>
                        </a:rPr>
                        <a:t>1,200万円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企画設計・PM</a:t>
                      </a:r>
                    </a:p>
                  </a:txBody>
                  <a:tcPr anchor="ctr" marL="73152" marR="73152" marT="18288" marB="18288">
                    <a:solidFill>
                      <a:srgbClr val="F2F4F6"/>
                    </a:solidFill>
                  </a:tcPr>
                </a:tc>
                <a:tc>
                  <a:txBody>
                    <a:bodyPr/>
                    <a:lstStyle/>
                    <a:p>
                      <a:r>
                        <a:rPr sz="1150" b="0">
                          <a:solidFill>
                            <a:srgbClr val="21252B"/>
                          </a:solidFill>
                          <a:latin typeface="Yu Gothic"/>
                          <a:ea typeface="Yu Gothic"/>
                        </a:rPr>
                        <a:t>250万円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キービジュアル・コピー制作</a:t>
                      </a:r>
                    </a:p>
                  </a:txBody>
                  <a:tcPr anchor="ctr" marL="73152" marR="73152" marT="18288" marB="18288">
                    <a:solidFill>
                      <a:srgbClr val="FFFFFF"/>
                    </a:solidFill>
                  </a:tcPr>
                </a:tc>
                <a:tc>
                  <a:txBody>
                    <a:bodyPr/>
                    <a:lstStyle/>
                    <a:p>
                      <a:r>
                        <a:rPr sz="1150" b="0">
                          <a:solidFill>
                            <a:srgbClr val="21252B"/>
                          </a:solidFill>
                          <a:latin typeface="Yu Gothic"/>
                          <a:ea typeface="Yu Gothic"/>
                        </a:rPr>
                        <a:t>300万円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LP/応募フォーム制作</a:t>
                      </a:r>
                    </a:p>
                  </a:txBody>
                  <a:tcPr anchor="ctr" marL="73152" marR="73152" marT="18288" marB="18288">
                    <a:solidFill>
                      <a:srgbClr val="F2F4F6"/>
                    </a:solidFill>
                  </a:tcPr>
                </a:tc>
                <a:tc>
                  <a:txBody>
                    <a:bodyPr/>
                    <a:lstStyle/>
                    <a:p>
                      <a:r>
                        <a:rPr sz="1150" b="0">
                          <a:solidFill>
                            <a:srgbClr val="21252B"/>
                          </a:solidFill>
                          <a:latin typeface="Yu Gothic"/>
                          <a:ea typeface="Yu Gothic"/>
                        </a:rPr>
                        <a:t>350万円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館内ラリーツール制作</a:t>
                      </a:r>
                    </a:p>
                  </a:txBody>
                  <a:tcPr anchor="ctr" marL="73152" marR="73152" marT="18288" marB="18288">
                    <a:solidFill>
                      <a:srgbClr val="FFFFFF"/>
                    </a:solidFill>
                  </a:tcPr>
                </a:tc>
                <a:tc>
                  <a:txBody>
                    <a:bodyPr/>
                    <a:lstStyle/>
                    <a:p>
                      <a:r>
                        <a:rPr sz="1150" b="0">
                          <a:solidFill>
                            <a:srgbClr val="21252B"/>
                          </a:solidFill>
                          <a:latin typeface="Yu Gothic"/>
                          <a:ea typeface="Yu Gothic"/>
                        </a:rPr>
                        <a:t>250万円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ヒーロー登場・イベント運営</a:t>
                      </a:r>
                    </a:p>
                  </a:txBody>
                  <a:tcPr anchor="ctr" marL="73152" marR="73152" marT="18288" marB="18288">
                    <a:solidFill>
                      <a:srgbClr val="F2F4F6"/>
                    </a:solidFill>
                  </a:tcPr>
                </a:tc>
                <a:tc>
                  <a:txBody>
                    <a:bodyPr/>
                    <a:lstStyle/>
                    <a:p>
                      <a:r>
                        <a:rPr sz="1150" b="0">
                          <a:solidFill>
                            <a:srgbClr val="21252B"/>
                          </a:solidFill>
                          <a:latin typeface="Yu Gothic"/>
                          <a:ea typeface="Yu Gothic"/>
                        </a:rPr>
                        <a:t>500万円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SNS/バナー制作</a:t>
                      </a:r>
                    </a:p>
                  </a:txBody>
                  <a:tcPr anchor="ctr" marL="73152" marR="73152" marT="18288" marB="18288">
                    <a:solidFill>
                      <a:srgbClr val="FFFFFF"/>
                    </a:solidFill>
                  </a:tcPr>
                </a:tc>
                <a:tc>
                  <a:txBody>
                    <a:bodyPr/>
                    <a:lstStyle/>
                    <a:p>
                      <a:r>
                        <a:rPr sz="1150" b="0">
                          <a:solidFill>
                            <a:srgbClr val="21252B"/>
                          </a:solidFill>
                          <a:latin typeface="Yu Gothic"/>
                          <a:ea typeface="Yu Gothic"/>
                        </a:rPr>
                        <a:t>250万円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広告・送客費</a:t>
                      </a:r>
                    </a:p>
                  </a:txBody>
                  <a:tcPr anchor="ctr" marL="73152" marR="73152" marT="18288" marB="18288">
                    <a:solidFill>
                      <a:srgbClr val="F2F4F6"/>
                    </a:solidFill>
                  </a:tcPr>
                </a:tc>
                <a:tc>
                  <a:txBody>
                    <a:bodyPr/>
                    <a:lstStyle/>
                    <a:p>
                      <a:r>
                        <a:rPr sz="1150" b="0">
                          <a:solidFill>
                            <a:srgbClr val="21252B"/>
                          </a:solidFill>
                          <a:latin typeface="Yu Gothic"/>
                          <a:ea typeface="Yu Gothic"/>
                        </a:rPr>
                        <a:t>250万円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事務局・レポート</a:t>
                      </a:r>
                    </a:p>
                  </a:txBody>
                  <a:tcPr anchor="ctr" marL="73152" marR="73152" marT="18288" marB="18288">
                    <a:solidFill>
                      <a:srgbClr val="FFFFFF"/>
                    </a:solidFill>
                  </a:tcPr>
                </a:tc>
                <a:tc>
                  <a:txBody>
                    <a:bodyPr/>
                    <a:lstStyle/>
                    <a:p>
                      <a:r>
                        <a:rPr sz="1150" b="0">
                          <a:solidFill>
                            <a:srgbClr val="21252B"/>
                          </a:solidFill>
                          <a:latin typeface="Yu Gothic"/>
                          <a:ea typeface="Yu Gothic"/>
                        </a:rPr>
                        <a:t>150万円</a:t>
                      </a:r>
                    </a:p>
                  </a:txBody>
                  <a:tcPr anchor="ctr" marL="73152" marR="73152" marT="18288" marB="18288">
                    <a:solidFill>
                      <a:srgbClr val="FFFFFF"/>
                    </a:solidFill>
                  </a:tcPr>
                </a:tc>
              </a:tr>
              <a:tr h="365760">
                <a:tc>
                  <a:txBody>
                    <a:bodyPr/>
                    <a:lstStyle/>
                    <a:p>
                      <a:r>
                        <a:rPr sz="1150" b="1">
                          <a:solidFill>
                            <a:srgbClr val="21252B"/>
                          </a:solidFill>
                          <a:latin typeface="Yu Gothic"/>
                          <a:ea typeface="Yu Gothic"/>
                        </a:rPr>
                        <a:t>合計</a:t>
                      </a:r>
                    </a:p>
                  </a:txBody>
                  <a:tcPr anchor="ctr" marL="73152" marR="73152" marT="18288" marB="18288">
                    <a:solidFill>
                      <a:srgbClr val="F2F4F6"/>
                    </a:solidFill>
                  </a:tcPr>
                </a:tc>
                <a:tc>
                  <a:txBody>
                    <a:bodyPr/>
                    <a:lstStyle/>
                    <a:p>
                      <a:r>
                        <a:rPr sz="1150" b="1">
                          <a:solidFill>
                            <a:srgbClr val="D60012"/>
                          </a:solidFill>
                          <a:latin typeface="Yu Gothic"/>
                          <a:ea typeface="Yu Gothic"/>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65760">
                <a:tc>
                  <a:txBody>
                    <a:bodyPr/>
                    <a:lstStyle/>
                    <a:p>
                      <a:r>
                        <a:rPr sz="115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50" b="0">
                          <a:solidFill>
                            <a:srgbClr val="21252B"/>
                          </a:solidFill>
                          <a:latin typeface="Yu Gothic"/>
                          <a:ea typeface="Yu Gothic"/>
                        </a:rPr>
                        <a:t>2〜3施設</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50" b="0">
                          <a:solidFill>
                            <a:srgbClr val="21252B"/>
                          </a:solidFill>
                          <a:latin typeface="Yu Gothic"/>
                          <a:ea typeface="Yu Gothic"/>
                        </a:rPr>
                        <a:t>5,000〜1.5万人</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50" b="0">
                          <a:solidFill>
                            <a:srgbClr val="21252B"/>
                          </a:solidFill>
                          <a:latin typeface="Yu Gothic"/>
                          <a:ea typeface="Yu Gothic"/>
                        </a:rPr>
                        <a:t>500〜1,500組</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50" b="0">
                          <a:solidFill>
                            <a:srgbClr val="21252B"/>
                          </a:solidFill>
                          <a:latin typeface="Yu Gothic"/>
                          <a:ea typeface="Yu Gothic"/>
                        </a:rPr>
                        <a:t>1,500〜4,000人</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SoftBankショップ送客</a:t>
                      </a:r>
                    </a:p>
                  </a:txBody>
                  <a:tcPr anchor="ctr" marL="73152" marR="73152" marT="18288" marB="18288">
                    <a:solidFill>
                      <a:srgbClr val="FFFFFF"/>
                    </a:solidFill>
                  </a:tcPr>
                </a:tc>
                <a:tc>
                  <a:txBody>
                    <a:bodyPr/>
                    <a:lstStyle/>
                    <a:p>
                      <a:r>
                        <a:rPr sz="1150" b="0">
                          <a:solidFill>
                            <a:srgbClr val="21252B"/>
                          </a:solidFill>
                          <a:latin typeface="Yu Gothic"/>
                          <a:ea typeface="Yu Gothic"/>
                        </a:rPr>
                        <a:t>300〜800人</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相談件数</a:t>
                      </a:r>
                    </a:p>
                  </a:txBody>
                  <a:tcPr anchor="ctr" marL="73152" marR="73152" marT="18288" marB="18288">
                    <a:solidFill>
                      <a:srgbClr val="F2F4F6"/>
                    </a:solidFill>
                  </a:tcPr>
                </a:tc>
                <a:tc>
                  <a:txBody>
                    <a:bodyPr/>
                    <a:lstStyle/>
                    <a:p>
                      <a:r>
                        <a:rPr sz="1150" b="0">
                          <a:solidFill>
                            <a:srgbClr val="21252B"/>
                          </a:solidFill>
                          <a:latin typeface="Yu Gothic"/>
                          <a:ea typeface="Yu Gothic"/>
                        </a:rPr>
                        <a:t>100〜300件</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見積・来店予約</a:t>
                      </a:r>
                    </a:p>
                  </a:txBody>
                  <a:tcPr anchor="ctr" marL="73152" marR="73152" marT="18288" marB="18288">
                    <a:solidFill>
                      <a:srgbClr val="FFFFFF"/>
                    </a:solidFill>
                  </a:tcPr>
                </a:tc>
                <a:tc>
                  <a:txBody>
                    <a:bodyPr/>
                    <a:lstStyle/>
                    <a:p>
                      <a:r>
                        <a:rPr sz="1150" b="0">
                          <a:solidFill>
                            <a:srgbClr val="21252B"/>
                          </a:solidFill>
                          <a:latin typeface="Yu Gothic"/>
                          <a:ea typeface="Yu Gothic"/>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D60012"/>
                </a:solidFill>
                <a:latin typeface="Yu Gothic"/>
                <a:ea typeface="Yu Gothic"/>
              </a:rPr>
              <a:t>位置づけ</a:t>
            </a:r>
          </a:p>
          <a:p>
            <a:pPr algn="l">
              <a:spcAft>
                <a:spcPts val="600"/>
              </a:spcAft>
            </a:pPr>
            <a:r>
              <a:rPr sz="1250" b="0">
                <a:solidFill>
                  <a:srgbClr val="21252B"/>
                </a:solidFill>
                <a:latin typeface="Yu Gothic"/>
                <a:ea typeface="Yu Gothic"/>
              </a:rPr>
              <a:t>稟議上の入口として有効。ただし着ぐるみ不可後の空白を本格的に補完するには規模が小さい。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B案:FY27標準プラン|1億2,000万円(税別)【本命】</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FY27年度(2027年4月〜2028年3月)/商業施設10〜20施設/ヒーロー年間稼働枠/BB・でんき本格導線化/他IP併用可</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21</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24612">
                <a:tc>
                  <a:txBody>
                    <a:bodyPr/>
                    <a:lstStyle/>
                    <a:p>
                      <a:r>
                        <a:rPr sz="1100" b="0">
                          <a:solidFill>
                            <a:srgbClr val="21252B"/>
                          </a:solidFill>
                          <a:latin typeface="Yu Gothic"/>
                          <a:ea typeface="Yu Gothic"/>
                        </a:rPr>
                        <a:t>年間IP使用料・監修費</a:t>
                      </a:r>
                    </a:p>
                  </a:txBody>
                  <a:tcPr anchor="ctr" marL="73152" marR="73152" marT="18288" marB="18288">
                    <a:solidFill>
                      <a:srgbClr val="FFFFFF"/>
                    </a:solidFill>
                  </a:tcPr>
                </a:tc>
                <a:tc>
                  <a:txBody>
                    <a:bodyPr/>
                    <a:lstStyle/>
                    <a:p>
                      <a:r>
                        <a:rPr sz="1100" b="0">
                          <a:solidFill>
                            <a:srgbClr val="21252B"/>
                          </a:solidFill>
                          <a:latin typeface="Yu Gothic"/>
                          <a:ea typeface="Yu Gothic"/>
                        </a:rPr>
                        <a:t>5,000万円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ヒーロー登場・撮影会稼働枠</a:t>
                      </a:r>
                    </a:p>
                  </a:txBody>
                  <a:tcPr anchor="ctr" marL="73152" marR="73152" marT="18288" marB="18288">
                    <a:solidFill>
                      <a:srgbClr val="F2F4F6"/>
                    </a:solidFill>
                  </a:tcPr>
                </a:tc>
                <a:tc>
                  <a:txBody>
                    <a:bodyPr/>
                    <a:lstStyle/>
                    <a:p>
                      <a:r>
                        <a:rPr sz="1100" b="0">
                          <a:solidFill>
                            <a:srgbClr val="21252B"/>
                          </a:solidFill>
                          <a:latin typeface="Yu Gothic"/>
                          <a:ea typeface="Yu Gothic"/>
                        </a:rPr>
                        <a:t>1,500万円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商業施設イベント運営費</a:t>
                      </a:r>
                    </a:p>
                  </a:txBody>
                  <a:tcPr anchor="ctr" marL="73152" marR="73152" marT="18288" marB="18288">
                    <a:solidFill>
                      <a:srgbClr val="FFFFFF"/>
                    </a:solidFill>
                  </a:tcPr>
                </a:tc>
                <a:tc>
                  <a:txBody>
                    <a:bodyPr/>
                    <a:lstStyle/>
                    <a:p>
                      <a:r>
                        <a:rPr sz="1100" b="0">
                          <a:solidFill>
                            <a:srgbClr val="21252B"/>
                          </a:solidFill>
                          <a:latin typeface="Yu Gothic"/>
                          <a:ea typeface="Yu Gothic"/>
                        </a:rPr>
                        <a:t>1,200万円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企画設計・PM</a:t>
                      </a:r>
                    </a:p>
                  </a:txBody>
                  <a:tcPr anchor="ctr" marL="73152" marR="73152" marT="18288" marB="18288">
                    <a:solidFill>
                      <a:srgbClr val="F2F4F6"/>
                    </a:solidFill>
                  </a:tcPr>
                </a:tc>
                <a:tc>
                  <a:txBody>
                    <a:bodyPr/>
                    <a:lstStyle/>
                    <a:p>
                      <a:r>
                        <a:rPr sz="1100" b="0">
                          <a:solidFill>
                            <a:srgbClr val="21252B"/>
                          </a:solidFill>
                          <a:latin typeface="Yu Gothic"/>
                          <a:ea typeface="Yu Gothic"/>
                        </a:rPr>
                        <a:t>600万円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キービジュアル・店頭イベント素材</a:t>
                      </a:r>
                    </a:p>
                  </a:txBody>
                  <a:tcPr anchor="ctr" marL="73152" marR="73152" marT="18288" marB="18288">
                    <a:solidFill>
                      <a:srgbClr val="FFFFFF"/>
                    </a:solidFill>
                  </a:tcPr>
                </a:tc>
                <a:tc>
                  <a:txBody>
                    <a:bodyPr/>
                    <a:lstStyle/>
                    <a:p>
                      <a:r>
                        <a:rPr sz="1100" b="0">
                          <a:solidFill>
                            <a:srgbClr val="21252B"/>
                          </a:solidFill>
                          <a:latin typeface="Yu Gothic"/>
                          <a:ea typeface="Yu Gothic"/>
                        </a:rPr>
                        <a:t>500万円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LP/デジタル隊員証/計測導線</a:t>
                      </a:r>
                    </a:p>
                  </a:txBody>
                  <a:tcPr anchor="ctr" marL="73152" marR="73152" marT="18288" marB="18288">
                    <a:solidFill>
                      <a:srgbClr val="F2F4F6"/>
                    </a:solidFill>
                  </a:tcPr>
                </a:tc>
                <a:tc>
                  <a:txBody>
                    <a:bodyPr/>
                    <a:lstStyle/>
                    <a:p>
                      <a:r>
                        <a:rPr sz="1100" b="0">
                          <a:solidFill>
                            <a:srgbClr val="21252B"/>
                          </a:solidFill>
                          <a:latin typeface="Yu Gothic"/>
                          <a:ea typeface="Yu Gothic"/>
                        </a:rPr>
                        <a:t>550万円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館内ラリー・イベントツール制作</a:t>
                      </a:r>
                    </a:p>
                  </a:txBody>
                  <a:tcPr anchor="ctr" marL="73152" marR="73152" marT="18288" marB="18288">
                    <a:solidFill>
                      <a:srgbClr val="FFFFFF"/>
                    </a:solidFill>
                  </a:tcPr>
                </a:tc>
                <a:tc>
                  <a:txBody>
                    <a:bodyPr/>
                    <a:lstStyle/>
                    <a:p>
                      <a:r>
                        <a:rPr sz="1100" b="0">
                          <a:solidFill>
                            <a:srgbClr val="21252B"/>
                          </a:solidFill>
                          <a:latin typeface="Yu Gothic"/>
                          <a:ea typeface="Yu Gothic"/>
                        </a:rPr>
                        <a:t>600万円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ノベルティ初期制作・デザイン</a:t>
                      </a:r>
                    </a:p>
                  </a:txBody>
                  <a:tcPr anchor="ctr" marL="73152" marR="73152" marT="18288" marB="18288">
                    <a:solidFill>
                      <a:srgbClr val="F2F4F6"/>
                    </a:solidFill>
                  </a:tcPr>
                </a:tc>
                <a:tc>
                  <a:txBody>
                    <a:bodyPr/>
                    <a:lstStyle/>
                    <a:p>
                      <a:r>
                        <a:rPr sz="1100" b="0">
                          <a:solidFill>
                            <a:srgbClr val="21252B"/>
                          </a:solidFill>
                          <a:latin typeface="Yu Gothic"/>
                          <a:ea typeface="Yu Gothic"/>
                        </a:rPr>
                        <a:t>500万円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BB/でんき向けコンテンツ</a:t>
                      </a:r>
                    </a:p>
                  </a:txBody>
                  <a:tcPr anchor="ctr" marL="73152" marR="73152" marT="18288" marB="18288">
                    <a:solidFill>
                      <a:srgbClr val="FFFFFF"/>
                    </a:solidFill>
                  </a:tcPr>
                </a:tc>
                <a:tc>
                  <a:txBody>
                    <a:bodyPr/>
                    <a:lstStyle/>
                    <a:p>
                      <a:r>
                        <a:rPr sz="1100" b="0">
                          <a:solidFill>
                            <a:srgbClr val="21252B"/>
                          </a:solidFill>
                          <a:latin typeface="Yu Gothic"/>
                          <a:ea typeface="Yu Gothic"/>
                        </a:rPr>
                        <a:t>300万円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SNS/告知クリエイティブ</a:t>
                      </a:r>
                    </a:p>
                  </a:txBody>
                  <a:tcPr anchor="ctr" marL="73152" marR="73152" marT="18288" marB="18288">
                    <a:solidFill>
                      <a:srgbClr val="F2F4F6"/>
                    </a:solidFill>
                  </a:tcPr>
                </a:tc>
                <a:tc>
                  <a:txBody>
                    <a:bodyPr/>
                    <a:lstStyle/>
                    <a:p>
                      <a:r>
                        <a:rPr sz="1100" b="0">
                          <a:solidFill>
                            <a:srgbClr val="21252B"/>
                          </a:solidFill>
                          <a:latin typeface="Yu Gothic"/>
                          <a:ea typeface="Yu Gothic"/>
                        </a:rPr>
                        <a:t>350万円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広告・送客費</a:t>
                      </a:r>
                    </a:p>
                  </a:txBody>
                  <a:tcPr anchor="ctr" marL="73152" marR="73152" marT="18288" marB="18288">
                    <a:solidFill>
                      <a:srgbClr val="FFFFFF"/>
                    </a:solidFill>
                  </a:tcPr>
                </a:tc>
                <a:tc>
                  <a:txBody>
                    <a:bodyPr/>
                    <a:lstStyle/>
                    <a:p>
                      <a:r>
                        <a:rPr sz="1100" b="0">
                          <a:solidFill>
                            <a:srgbClr val="21252B"/>
                          </a:solidFill>
                          <a:latin typeface="Yu Gothic"/>
                          <a:ea typeface="Yu Gothic"/>
                        </a:rPr>
                        <a:t>700万円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事務局・レポート</a:t>
                      </a:r>
                    </a:p>
                  </a:txBody>
                  <a:tcPr anchor="ctr" marL="73152" marR="73152" marT="18288" marB="18288">
                    <a:solidFill>
                      <a:srgbClr val="F2F4F6"/>
                    </a:solidFill>
                  </a:tcPr>
                </a:tc>
                <a:tc>
                  <a:txBody>
                    <a:bodyPr/>
                    <a:lstStyle/>
                    <a:p>
                      <a:r>
                        <a:rPr sz="1100" b="0">
                          <a:solidFill>
                            <a:srgbClr val="21252B"/>
                          </a:solidFill>
                          <a:latin typeface="Yu Gothic"/>
                          <a:ea typeface="Yu Gothic"/>
                        </a:rPr>
                        <a:t>200万円</a:t>
                      </a:r>
                    </a:p>
                  </a:txBody>
                  <a:tcPr anchor="ctr" marL="73152" marR="73152" marT="18288" marB="18288">
                    <a:solidFill>
                      <a:srgbClr val="F2F4F6"/>
                    </a:solidFill>
                  </a:tcPr>
                </a:tc>
              </a:tr>
              <a:tr h="324612">
                <a:tc>
                  <a:txBody>
                    <a:bodyPr/>
                    <a:lstStyle/>
                    <a:p>
                      <a:r>
                        <a:rPr sz="1100" b="1">
                          <a:solidFill>
                            <a:srgbClr val="21252B"/>
                          </a:solidFill>
                          <a:latin typeface="Yu Gothic"/>
                          <a:ea typeface="Yu Gothic"/>
                        </a:rPr>
                        <a:t>合計</a:t>
                      </a:r>
                    </a:p>
                  </a:txBody>
                  <a:tcPr anchor="ctr" marL="73152" marR="73152" marT="18288" marB="18288">
                    <a:solidFill>
                      <a:srgbClr val="FFFFFF"/>
                    </a:solidFill>
                  </a:tcPr>
                </a:tc>
                <a:tc>
                  <a:txBody>
                    <a:bodyPr/>
                    <a:lstStyle/>
                    <a:p>
                      <a:r>
                        <a:rPr sz="1100" b="1">
                          <a:solidFill>
                            <a:srgbClr val="D60012"/>
                          </a:solidFill>
                          <a:latin typeface="Yu Gothic"/>
                          <a:ea typeface="Yu Gothic"/>
                        </a:rPr>
                        <a:t>1億2,000万円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24612">
                <a:tc>
                  <a:txBody>
                    <a:bodyPr/>
                    <a:lstStyle/>
                    <a:p>
                      <a:r>
                        <a:rPr sz="110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00" b="0">
                          <a:solidFill>
                            <a:srgbClr val="21252B"/>
                          </a:solidFill>
                          <a:latin typeface="Yu Gothic"/>
                          <a:ea typeface="Yu Gothic"/>
                        </a:rPr>
                        <a:t>10〜20施設</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00" b="0">
                          <a:solidFill>
                            <a:srgbClr val="21252B"/>
                          </a:solidFill>
                          <a:latin typeface="Yu Gothic"/>
                          <a:ea typeface="Yu Gothic"/>
                        </a:rPr>
                        <a:t>3万〜8万人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00" b="0">
                          <a:solidFill>
                            <a:srgbClr val="21252B"/>
                          </a:solidFill>
                          <a:latin typeface="Yu Gothic"/>
                          <a:ea typeface="Yu Gothic"/>
                        </a:rPr>
                        <a:t>3,000〜8,000組</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00" b="0">
                          <a:solidFill>
                            <a:srgbClr val="21252B"/>
                          </a:solidFill>
                          <a:latin typeface="Yu Gothic"/>
                          <a:ea typeface="Yu Gothic"/>
                        </a:rPr>
                        <a:t>1万〜3万人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デジタル隊員証発行</a:t>
                      </a:r>
                    </a:p>
                  </a:txBody>
                  <a:tcPr anchor="ctr" marL="73152" marR="73152" marT="18288" marB="18288">
                    <a:solidFill>
                      <a:srgbClr val="FFFFFF"/>
                    </a:solidFill>
                  </a:tcPr>
                </a:tc>
                <a:tc>
                  <a:txBody>
                    <a:bodyPr/>
                    <a:lstStyle/>
                    <a:p>
                      <a:r>
                        <a:rPr sz="1100" b="0">
                          <a:solidFill>
                            <a:srgbClr val="21252B"/>
                          </a:solidFill>
                          <a:latin typeface="Yu Gothic"/>
                          <a:ea typeface="Yu Gothic"/>
                        </a:rPr>
                        <a:t>8,000〜2万人</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SoftBankショップ送客</a:t>
                      </a:r>
                    </a:p>
                  </a:txBody>
                  <a:tcPr anchor="ctr" marL="73152" marR="73152" marT="18288" marB="18288">
                    <a:solidFill>
                      <a:srgbClr val="F2F4F6"/>
                    </a:solidFill>
                  </a:tcPr>
                </a:tc>
                <a:tc>
                  <a:txBody>
                    <a:bodyPr/>
                    <a:lstStyle/>
                    <a:p>
                      <a:r>
                        <a:rPr sz="1100" b="0">
                          <a:solidFill>
                            <a:srgbClr val="21252B"/>
                          </a:solidFill>
                          <a:latin typeface="Yu Gothic"/>
                          <a:ea typeface="Yu Gothic"/>
                        </a:rPr>
                        <a:t>3,000〜8,000人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相談件数</a:t>
                      </a:r>
                    </a:p>
                  </a:txBody>
                  <a:tcPr anchor="ctr" marL="73152" marR="73152" marT="18288" marB="18288">
                    <a:solidFill>
                      <a:srgbClr val="FFFFFF"/>
                    </a:solidFill>
                  </a:tcPr>
                </a:tc>
                <a:tc>
                  <a:txBody>
                    <a:bodyPr/>
                    <a:lstStyle/>
                    <a:p>
                      <a:r>
                        <a:rPr sz="1100" b="0">
                          <a:solidFill>
                            <a:srgbClr val="21252B"/>
                          </a:solidFill>
                          <a:latin typeface="Yu Gothic"/>
                          <a:ea typeface="Yu Gothic"/>
                        </a:rPr>
                        <a:t>1,000〜3,000件</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見積・来店予約</a:t>
                      </a:r>
                    </a:p>
                  </a:txBody>
                  <a:tcPr anchor="ctr" marL="73152" marR="73152" marT="18288" marB="18288">
                    <a:solidFill>
                      <a:srgbClr val="F2F4F6"/>
                    </a:solidFill>
                  </a:tcPr>
                </a:tc>
                <a:tc>
                  <a:txBody>
                    <a:bodyPr/>
                    <a:lstStyle/>
                    <a:p>
                      <a:r>
                        <a:rPr sz="1100" b="0">
                          <a:solidFill>
                            <a:srgbClr val="21252B"/>
                          </a:solidFill>
                          <a:latin typeface="Yu Gothic"/>
                          <a:ea typeface="Yu Gothic"/>
                        </a:rPr>
                        <a:t>500〜1,500件</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BB/でんき相談</a:t>
                      </a:r>
                    </a:p>
                  </a:txBody>
                  <a:tcPr anchor="ctr" marL="73152" marR="73152" marT="18288" marB="18288">
                    <a:solidFill>
                      <a:srgbClr val="FFFFFF"/>
                    </a:solidFill>
                  </a:tcPr>
                </a:tc>
                <a:tc>
                  <a:txBody>
                    <a:bodyPr/>
                    <a:lstStyle/>
                    <a:p>
                      <a:r>
                        <a:rPr sz="1100" b="0">
                          <a:solidFill>
                            <a:srgbClr val="21252B"/>
                          </a:solidFill>
                          <a:latin typeface="Yu Gothic"/>
                          <a:ea typeface="Yu Gothic"/>
                        </a:rPr>
                        <a:t>300〜1,000件</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モバイル関連相談</a:t>
                      </a:r>
                    </a:p>
                  </a:txBody>
                  <a:tcPr anchor="ctr" marL="73152" marR="73152" marT="18288" marB="18288">
                    <a:solidFill>
                      <a:srgbClr val="F2F4F6"/>
                    </a:solidFill>
                  </a:tcPr>
                </a:tc>
                <a:tc>
                  <a:txBody>
                    <a:bodyPr/>
                    <a:lstStyle/>
                    <a:p>
                      <a:r>
                        <a:rPr sz="1100" b="0">
                          <a:solidFill>
                            <a:srgbClr val="21252B"/>
                          </a:solidFill>
                          <a:latin typeface="Yu Gothic"/>
                          <a:ea typeface="Yu Gothic"/>
                        </a:rPr>
                        <a:t>700〜2,000件</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B案が本命である理由</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ポケモン契約7,000万円との単純比較ではなく、「年間IP契約+リアルイベント実行費+店舗送客導線」の総額として評価すべきです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22</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21252B"/>
                </a:solidFill>
                <a:latin typeface="Yu Gothic"/>
                <a:ea typeface="Yu Gothic"/>
              </a:rPr>
              <a:t>ポケモンFY26契約費用7,000万円は年度IP契約の社内ベンチマークとして有効。ただし、B案1億2,000万円はIP使用料だけの金額ではありません。</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Yu Gothic"/>
                <a:ea typeface="Yu Gothic"/>
              </a:rPr>
              <a:t>B案 = 年間IP契約 + リアルイベント実行費 + 店舗送客導線 の一体パッケージ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C案:60周年大型展開プラン|2億5,000万円(税別)</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60周年文脈を活用した全社大型コンシューマキャンペーン(6〜12か月)。初回稟議には大きく、B案実施後の拡張案として位置づけ</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23</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06324">
                <a:tc>
                  <a:txBody>
                    <a:bodyPr/>
                    <a:lstStyle/>
                    <a:p>
                      <a:r>
                        <a:rPr sz="1050" b="0">
                          <a:solidFill>
                            <a:srgbClr val="21252B"/>
                          </a:solidFill>
                          <a:latin typeface="Yu Gothic"/>
                          <a:ea typeface="Yu Gothic"/>
                        </a:rPr>
                        <a:t>年間IP使用料・広範囲監修費</a:t>
                      </a:r>
                    </a:p>
                  </a:txBody>
                  <a:tcPr anchor="ctr" marL="73152" marR="73152" marT="18288" marB="18288">
                    <a:solidFill>
                      <a:srgbClr val="FFFFFF"/>
                    </a:solidFill>
                  </a:tcPr>
                </a:tc>
                <a:tc>
                  <a:txBody>
                    <a:bodyPr/>
                    <a:lstStyle/>
                    <a:p>
                      <a:r>
                        <a:rPr sz="1050" b="0">
                          <a:solidFill>
                            <a:srgbClr val="21252B"/>
                          </a:solidFill>
                          <a:latin typeface="Yu Gothic"/>
                          <a:ea typeface="Yu Gothic"/>
                        </a:rPr>
                        <a:t>8,000万円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ヒーロー登場・イベント稼働枠</a:t>
                      </a:r>
                    </a:p>
                  </a:txBody>
                  <a:tcPr anchor="ctr" marL="73152" marR="73152" marT="18288" marB="18288">
                    <a:solidFill>
                      <a:srgbClr val="F2F4F6"/>
                    </a:solidFill>
                  </a:tcPr>
                </a:tc>
                <a:tc>
                  <a:txBody>
                    <a:bodyPr/>
                    <a:lstStyle/>
                    <a:p>
                      <a:r>
                        <a:rPr sz="1050" b="0">
                          <a:solidFill>
                            <a:srgbClr val="21252B"/>
                          </a:solidFill>
                          <a:latin typeface="Yu Gothic"/>
                          <a:ea typeface="Yu Gothic"/>
                        </a:rPr>
                        <a:t>2,500万円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戦略設計・全体PM</a:t>
                      </a:r>
                    </a:p>
                  </a:txBody>
                  <a:tcPr anchor="ctr" marL="73152" marR="73152" marT="18288" marB="18288">
                    <a:solidFill>
                      <a:srgbClr val="FFFFFF"/>
                    </a:solidFill>
                  </a:tcPr>
                </a:tc>
                <a:tc>
                  <a:txBody>
                    <a:bodyPr/>
                    <a:lstStyle/>
                    <a:p>
                      <a:r>
                        <a:rPr sz="1050" b="0">
                          <a:solidFill>
                            <a:srgbClr val="21252B"/>
                          </a:solidFill>
                          <a:latin typeface="Yu Gothic"/>
                          <a:ea typeface="Yu Gothic"/>
                        </a:rPr>
                        <a:t>1,200万円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キービジュアル・コピー開発</a:t>
                      </a:r>
                    </a:p>
                  </a:txBody>
                  <a:tcPr anchor="ctr" marL="73152" marR="73152" marT="18288" marB="18288">
                    <a:solidFill>
                      <a:srgbClr val="F2F4F6"/>
                    </a:solidFill>
                  </a:tcPr>
                </a:tc>
                <a:tc>
                  <a:txBody>
                    <a:bodyPr/>
                    <a:lstStyle/>
                    <a:p>
                      <a:r>
                        <a:rPr sz="1050" b="0">
                          <a:solidFill>
                            <a:srgbClr val="21252B"/>
                          </a:solidFill>
                          <a:latin typeface="Yu Gothic"/>
                          <a:ea typeface="Yu Gothic"/>
                        </a:rPr>
                        <a:t>1,000万円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Web動画/ショート動画制作</a:t>
                      </a:r>
                    </a:p>
                  </a:txBody>
                  <a:tcPr anchor="ctr" marL="73152" marR="73152" marT="18288" marB="18288">
                    <a:solidFill>
                      <a:srgbClr val="FFFFFF"/>
                    </a:solidFill>
                  </a:tcPr>
                </a:tc>
                <a:tc>
                  <a:txBody>
                    <a:bodyPr/>
                    <a:lstStyle/>
                    <a:p>
                      <a:r>
                        <a:rPr sz="1050" b="0">
                          <a:solidFill>
                            <a:srgbClr val="21252B"/>
                          </a:solidFill>
                          <a:latin typeface="Yu Gothic"/>
                          <a:ea typeface="Yu Gothic"/>
                        </a:rPr>
                        <a:t>2,500万円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LP/ミッション基盤制作</a:t>
                      </a:r>
                    </a:p>
                  </a:txBody>
                  <a:tcPr anchor="ctr" marL="73152" marR="73152" marT="18288" marB="18288">
                    <a:solidFill>
                      <a:srgbClr val="F2F4F6"/>
                    </a:solidFill>
                  </a:tcPr>
                </a:tc>
                <a:tc>
                  <a:txBody>
                    <a:bodyPr/>
                    <a:lstStyle/>
                    <a:p>
                      <a:r>
                        <a:rPr sz="1050" b="0">
                          <a:solidFill>
                            <a:srgbClr val="21252B"/>
                          </a:solidFill>
                          <a:latin typeface="Yu Gothic"/>
                          <a:ea typeface="Yu Gothic"/>
                        </a:rPr>
                        <a:t>1,200万円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AR/デジタルコンテンツ制作</a:t>
                      </a:r>
                    </a:p>
                  </a:txBody>
                  <a:tcPr anchor="ctr" marL="73152" marR="73152" marT="18288" marB="18288">
                    <a:solidFill>
                      <a:srgbClr val="FFFFFF"/>
                    </a:solidFill>
                  </a:tcPr>
                </a:tc>
                <a:tc>
                  <a:txBody>
                    <a:bodyPr/>
                    <a:lstStyle/>
                    <a:p>
                      <a:r>
                        <a:rPr sz="1050" b="0">
                          <a:solidFill>
                            <a:srgbClr val="21252B"/>
                          </a:solidFill>
                          <a:latin typeface="Yu Gothic"/>
                          <a:ea typeface="Yu Gothic"/>
                        </a:rPr>
                        <a:t>800万円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全国店頭ツール制作</a:t>
                      </a:r>
                    </a:p>
                  </a:txBody>
                  <a:tcPr anchor="ctr" marL="73152" marR="73152" marT="18288" marB="18288">
                    <a:solidFill>
                      <a:srgbClr val="F2F4F6"/>
                    </a:solidFill>
                  </a:tcPr>
                </a:tc>
                <a:tc>
                  <a:txBody>
                    <a:bodyPr/>
                    <a:lstStyle/>
                    <a:p>
                      <a:r>
                        <a:rPr sz="1050" b="0">
                          <a:solidFill>
                            <a:srgbClr val="21252B"/>
                          </a:solidFill>
                          <a:latin typeface="Yu Gothic"/>
                          <a:ea typeface="Yu Gothic"/>
                        </a:rPr>
                        <a:t>1,700万円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ノベルティ制作・配送管理</a:t>
                      </a:r>
                    </a:p>
                  </a:txBody>
                  <a:tcPr anchor="ctr" marL="73152" marR="73152" marT="18288" marB="18288">
                    <a:solidFill>
                      <a:srgbClr val="FFFFFF"/>
                    </a:solidFill>
                  </a:tcPr>
                </a:tc>
                <a:tc>
                  <a:txBody>
                    <a:bodyPr/>
                    <a:lstStyle/>
                    <a:p>
                      <a:r>
                        <a:rPr sz="1050" b="0">
                          <a:solidFill>
                            <a:srgbClr val="21252B"/>
                          </a:solidFill>
                          <a:latin typeface="Yu Gothic"/>
                          <a:ea typeface="Yu Gothic"/>
                        </a:rPr>
                        <a:t>1,500万円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BB/でんき/モバイル向けコンテンツ</a:t>
                      </a:r>
                    </a:p>
                  </a:txBody>
                  <a:tcPr anchor="ctr" marL="73152" marR="73152" marT="18288" marB="18288">
                    <a:solidFill>
                      <a:srgbClr val="F2F4F6"/>
                    </a:solidFill>
                  </a:tcPr>
                </a:tc>
                <a:tc>
                  <a:txBody>
                    <a:bodyPr/>
                    <a:lstStyle/>
                    <a:p>
                      <a:r>
                        <a:rPr sz="1050" b="0">
                          <a:solidFill>
                            <a:srgbClr val="21252B"/>
                          </a:solidFill>
                          <a:latin typeface="Yu Gothic"/>
                          <a:ea typeface="Yu Gothic"/>
                        </a:rPr>
                        <a:t>500万円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Web/SNS広告配信</a:t>
                      </a:r>
                    </a:p>
                  </a:txBody>
                  <a:tcPr anchor="ctr" marL="73152" marR="73152" marT="18288" marB="18288">
                    <a:solidFill>
                      <a:srgbClr val="FFFFFF"/>
                    </a:solidFill>
                  </a:tcPr>
                </a:tc>
                <a:tc>
                  <a:txBody>
                    <a:bodyPr/>
                    <a:lstStyle/>
                    <a:p>
                      <a:r>
                        <a:rPr sz="1050" b="0">
                          <a:solidFill>
                            <a:srgbClr val="21252B"/>
                          </a:solidFill>
                          <a:latin typeface="Yu Gothic"/>
                          <a:ea typeface="Yu Gothic"/>
                        </a:rPr>
                        <a:t>3,500万円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PR/タイアップ</a:t>
                      </a:r>
                    </a:p>
                  </a:txBody>
                  <a:tcPr anchor="ctr" marL="73152" marR="73152" marT="18288" marB="18288">
                    <a:solidFill>
                      <a:srgbClr val="F2F4F6"/>
                    </a:solidFill>
                  </a:tcPr>
                </a:tc>
                <a:tc>
                  <a:txBody>
                    <a:bodyPr/>
                    <a:lstStyle/>
                    <a:p>
                      <a:r>
                        <a:rPr sz="1050" b="0">
                          <a:solidFill>
                            <a:srgbClr val="21252B"/>
                          </a:solidFill>
                          <a:latin typeface="Yu Gothic"/>
                          <a:ea typeface="Yu Gothic"/>
                        </a:rPr>
                        <a:t>400万円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事務局・効果測定</a:t>
                      </a:r>
                    </a:p>
                  </a:txBody>
                  <a:tcPr anchor="ctr" marL="73152" marR="73152" marT="18288" marB="18288">
                    <a:solidFill>
                      <a:srgbClr val="FFFFFF"/>
                    </a:solidFill>
                  </a:tcPr>
                </a:tc>
                <a:tc>
                  <a:txBody>
                    <a:bodyPr/>
                    <a:lstStyle/>
                    <a:p>
                      <a:r>
                        <a:rPr sz="1050" b="0">
                          <a:solidFill>
                            <a:srgbClr val="21252B"/>
                          </a:solidFill>
                          <a:latin typeface="Yu Gothic"/>
                          <a:ea typeface="Yu Gothic"/>
                        </a:rPr>
                        <a:t>200万円</a:t>
                      </a:r>
                    </a:p>
                  </a:txBody>
                  <a:tcPr anchor="ctr" marL="73152" marR="73152" marT="18288" marB="18288">
                    <a:solidFill>
                      <a:srgbClr val="FFFFFF"/>
                    </a:solidFill>
                  </a:tcPr>
                </a:tc>
              </a:tr>
              <a:tr h="306324">
                <a:tc>
                  <a:txBody>
                    <a:bodyPr/>
                    <a:lstStyle/>
                    <a:p>
                      <a:r>
                        <a:rPr sz="1050" b="1">
                          <a:solidFill>
                            <a:srgbClr val="21252B"/>
                          </a:solidFill>
                          <a:latin typeface="Yu Gothic"/>
                          <a:ea typeface="Yu Gothic"/>
                        </a:rPr>
                        <a:t>合計</a:t>
                      </a:r>
                    </a:p>
                  </a:txBody>
                  <a:tcPr anchor="ctr" marL="73152" marR="73152" marT="18288" marB="18288">
                    <a:solidFill>
                      <a:srgbClr val="F2F4F6"/>
                    </a:solidFill>
                  </a:tcPr>
                </a:tc>
                <a:tc>
                  <a:txBody>
                    <a:bodyPr/>
                    <a:lstStyle/>
                    <a:p>
                      <a:r>
                        <a:rPr sz="1050" b="1">
                          <a:solidFill>
                            <a:srgbClr val="D60012"/>
                          </a:solidFill>
                          <a:latin typeface="Yu Gothic"/>
                          <a:ea typeface="Yu Gothic"/>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20039">
                <a:tc>
                  <a:txBody>
                    <a:bodyPr/>
                    <a:lstStyle/>
                    <a:p>
                      <a:r>
                        <a:rPr sz="110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00" b="0">
                          <a:solidFill>
                            <a:srgbClr val="21252B"/>
                          </a:solidFill>
                          <a:latin typeface="Yu Gothic"/>
                          <a:ea typeface="Yu Gothic"/>
                        </a:rPr>
                        <a:t>30〜50施設</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00" b="0">
                          <a:solidFill>
                            <a:srgbClr val="21252B"/>
                          </a:solidFill>
                          <a:latin typeface="Yu Gothic"/>
                          <a:ea typeface="Yu Gothic"/>
                        </a:rPr>
                        <a:t>10万〜25万人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00" b="0">
                          <a:solidFill>
                            <a:srgbClr val="21252B"/>
                          </a:solidFill>
                          <a:latin typeface="Yu Gothic"/>
                          <a:ea typeface="Yu Gothic"/>
                        </a:rPr>
                        <a:t>1万〜3万組</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00" b="0">
                          <a:solidFill>
                            <a:srgbClr val="21252B"/>
                          </a:solidFill>
                          <a:latin typeface="Yu Gothic"/>
                          <a:ea typeface="Yu Gothic"/>
                        </a:rPr>
                        <a:t>5万〜10万人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デジタル隊員証発行</a:t>
                      </a:r>
                    </a:p>
                  </a:txBody>
                  <a:tcPr anchor="ctr" marL="73152" marR="73152" marT="18288" marB="18288">
                    <a:solidFill>
                      <a:srgbClr val="FFFFFF"/>
                    </a:solidFill>
                  </a:tcPr>
                </a:tc>
                <a:tc>
                  <a:txBody>
                    <a:bodyPr/>
                    <a:lstStyle/>
                    <a:p>
                      <a:r>
                        <a:rPr sz="1100" b="0">
                          <a:solidFill>
                            <a:srgbClr val="21252B"/>
                          </a:solidFill>
                          <a:latin typeface="Yu Gothic"/>
                          <a:ea typeface="Yu Gothic"/>
                        </a:rPr>
                        <a:t>3万〜8万人</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SoftBankショップ送客</a:t>
                      </a:r>
                    </a:p>
                  </a:txBody>
                  <a:tcPr anchor="ctr" marL="73152" marR="73152" marT="18288" marB="18288">
                    <a:solidFill>
                      <a:srgbClr val="F2F4F6"/>
                    </a:solidFill>
                  </a:tcPr>
                </a:tc>
                <a:tc>
                  <a:txBody>
                    <a:bodyPr/>
                    <a:lstStyle/>
                    <a:p>
                      <a:r>
                        <a:rPr sz="1100" b="0">
                          <a:solidFill>
                            <a:srgbClr val="21252B"/>
                          </a:solidFill>
                          <a:latin typeface="Yu Gothic"/>
                          <a:ea typeface="Yu Gothic"/>
                        </a:rPr>
                        <a:t>1万〜3万人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相談件数</a:t>
                      </a:r>
                    </a:p>
                  </a:txBody>
                  <a:tcPr anchor="ctr" marL="73152" marR="73152" marT="18288" marB="18288">
                    <a:solidFill>
                      <a:srgbClr val="FFFFFF"/>
                    </a:solidFill>
                  </a:tcPr>
                </a:tc>
                <a:tc>
                  <a:txBody>
                    <a:bodyPr/>
                    <a:lstStyle/>
                    <a:p>
                      <a:r>
                        <a:rPr sz="1100" b="0">
                          <a:solidFill>
                            <a:srgbClr val="21252B"/>
                          </a:solidFill>
                          <a:latin typeface="Yu Gothic"/>
                          <a:ea typeface="Yu Gothic"/>
                        </a:rPr>
                        <a:t>3,000〜8,000件</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見積・来店予約</a:t>
                      </a:r>
                    </a:p>
                  </a:txBody>
                  <a:tcPr anchor="ctr" marL="73152" marR="73152" marT="18288" marB="18288">
                    <a:solidFill>
                      <a:srgbClr val="F2F4F6"/>
                    </a:solidFill>
                  </a:tcPr>
                </a:tc>
                <a:tc>
                  <a:txBody>
                    <a:bodyPr/>
                    <a:lstStyle/>
                    <a:p>
                      <a:r>
                        <a:rPr sz="1100" b="0">
                          <a:solidFill>
                            <a:srgbClr val="21252B"/>
                          </a:solidFill>
                          <a:latin typeface="Yu Gothic"/>
                          <a:ea typeface="Yu Gothic"/>
                        </a:rPr>
                        <a:t>1,500〜4,000件</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BB/でんき相談</a:t>
                      </a:r>
                    </a:p>
                  </a:txBody>
                  <a:tcPr anchor="ctr" marL="73152" marR="73152" marT="18288" marB="18288">
                    <a:solidFill>
                      <a:srgbClr val="FFFFFF"/>
                    </a:solidFill>
                  </a:tcPr>
                </a:tc>
                <a:tc>
                  <a:txBody>
                    <a:bodyPr/>
                    <a:lstStyle/>
                    <a:p>
                      <a:r>
                        <a:rPr sz="1100" b="0">
                          <a:solidFill>
                            <a:srgbClr val="21252B"/>
                          </a:solidFill>
                          <a:latin typeface="Yu Gothic"/>
                          <a:ea typeface="Yu Gothic"/>
                        </a:rPr>
                        <a:t>1,000〜3,000件</a:t>
                      </a:r>
                    </a:p>
                  </a:txBody>
                  <a:tcPr anchor="ctr" marL="73152" marR="73152" marT="18288" marB="18288">
                    <a:solidFill>
                      <a:srgbClr val="FFFFFF"/>
                    </a:solidFill>
                  </a:tcPr>
                </a:tc>
              </a:tr>
              <a:tr h="320049">
                <a:tc>
                  <a:txBody>
                    <a:bodyPr/>
                    <a:lstStyle/>
                    <a:p>
                      <a:r>
                        <a:rPr sz="1100" b="0">
                          <a:solidFill>
                            <a:srgbClr val="21252B"/>
                          </a:solidFill>
                          <a:latin typeface="Yu Gothic"/>
                          <a:ea typeface="Yu Gothic"/>
                        </a:rPr>
                        <a:t>PR露出</a:t>
                      </a:r>
                    </a:p>
                  </a:txBody>
                  <a:tcPr anchor="ctr" marL="73152" marR="73152" marT="18288" marB="18288">
                    <a:solidFill>
                      <a:srgbClr val="F2F4F6"/>
                    </a:solidFill>
                  </a:tcPr>
                </a:tc>
                <a:tc>
                  <a:txBody>
                    <a:bodyPr/>
                    <a:lstStyle/>
                    <a:p>
                      <a:r>
                        <a:rPr sz="1100" b="0">
                          <a:solidFill>
                            <a:srgbClr val="21252B"/>
                          </a:solidFill>
                          <a:latin typeface="Yu Gothic"/>
                          <a:ea typeface="Yu Gothic"/>
                        </a:rPr>
                        <a:t>50〜150件</a:t>
                      </a:r>
                    </a:p>
                  </a:txBody>
                  <a:tcPr anchor="ctr" marL="73152" marR="73152" marT="18288" marB="18288">
                    <a:solidFill>
                      <a:srgbClr val="F2F4F6"/>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基本見積に含めない項目(別途費用)</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変動幅が大きい項目・権利体系が異なる項目は、基本見積から切り分けて透明性を担保します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24</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Yu Gothic"/>
                          <a:ea typeface="Yu Gothic"/>
                        </a:rPr>
                        <a:t>別途項目</a:t>
                      </a:r>
                    </a:p>
                  </a:txBody>
                  <a:tcPr anchor="ctr" marL="73152" marR="73152" marT="18288" marB="18288">
                    <a:solidFill>
                      <a:srgbClr val="121A2E"/>
                    </a:solidFill>
                  </a:tcPr>
                </a:tc>
                <a:tc>
                  <a:txBody>
                    <a:bodyPr/>
                    <a:lstStyle/>
                    <a:p>
                      <a:r>
                        <a:rPr sz="1150" b="1">
                          <a:solidFill>
                            <a:srgbClr val="FFFFFF"/>
                          </a:solidFill>
                          <a:latin typeface="Yu Gothic"/>
                          <a:ea typeface="Yu Gothic"/>
                        </a:rPr>
                        <a:t>理由</a:t>
                      </a:r>
                    </a:p>
                  </a:txBody>
                  <a:tcPr anchor="ctr" marL="73152" marR="73152" marT="18288" marB="18288">
                    <a:solidFill>
                      <a:srgbClr val="121A2E"/>
                    </a:solidFill>
                  </a:tcPr>
                </a:tc>
              </a:tr>
              <a:tr h="438912">
                <a:tc>
                  <a:txBody>
                    <a:bodyPr/>
                    <a:lstStyle/>
                    <a:p>
                      <a:r>
                        <a:rPr sz="1300" b="0">
                          <a:solidFill>
                            <a:srgbClr val="21252B"/>
                          </a:solidFill>
                          <a:latin typeface="Yu Gothic"/>
                          <a:ea typeface="Yu Gothic"/>
                        </a:rPr>
                        <a:t>TVCM媒体費</a:t>
                      </a:r>
                    </a:p>
                  </a:txBody>
                  <a:tcPr anchor="ctr" marL="73152" marR="73152" marT="18288" marB="18288">
                    <a:solidFill>
                      <a:srgbClr val="FFFFFF"/>
                    </a:solidFill>
                  </a:tcPr>
                </a:tc>
                <a:tc>
                  <a:txBody>
                    <a:bodyPr/>
                    <a:lstStyle/>
                    <a:p>
                      <a:r>
                        <a:rPr sz="1300" b="0">
                          <a:solidFill>
                            <a:srgbClr val="21252B"/>
                          </a:solidFill>
                          <a:latin typeface="Yu Gothic"/>
                          <a:ea typeface="Yu Gothic"/>
                        </a:rPr>
                        <a:t>出稿量で大きく変動するため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交通広告・大型OOH</a:t>
                      </a:r>
                    </a:p>
                  </a:txBody>
                  <a:tcPr anchor="ctr" marL="73152" marR="73152" marT="18288" marB="18288">
                    <a:solidFill>
                      <a:srgbClr val="F2F4F6"/>
                    </a:solidFill>
                  </a:tcPr>
                </a:tc>
                <a:tc>
                  <a:txBody>
                    <a:bodyPr/>
                    <a:lstStyle/>
                    <a:p>
                      <a:r>
                        <a:rPr sz="1300" b="0">
                          <a:solidFill>
                            <a:srgbClr val="21252B"/>
                          </a:solidFill>
                          <a:latin typeface="Yu Gothic"/>
                          <a:ea typeface="Yu Gothic"/>
                        </a:rPr>
                        <a:t>掲出場所・期間で変動するため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PayPayポイント原資</a:t>
                      </a:r>
                    </a:p>
                  </a:txBody>
                  <a:tcPr anchor="ctr" marL="73152" marR="73152" marT="18288" marB="18288">
                    <a:solidFill>
                      <a:srgbClr val="FFFFFF"/>
                    </a:solidFill>
                  </a:tcPr>
                </a:tc>
                <a:tc>
                  <a:txBody>
                    <a:bodyPr/>
                    <a:lstStyle/>
                    <a:p>
                      <a:r>
                        <a:rPr sz="1300" b="0">
                          <a:solidFill>
                            <a:srgbClr val="21252B"/>
                          </a:solidFill>
                          <a:latin typeface="Yu Gothic"/>
                          <a:ea typeface="Yu Gothic"/>
                        </a:rPr>
                        <a:t>付与条件・人数・上限で変動するため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全国全店の大型施工</a:t>
                      </a:r>
                    </a:p>
                  </a:txBody>
                  <a:tcPr anchor="ctr" marL="73152" marR="73152" marT="18288" marB="18288">
                    <a:solidFill>
                      <a:srgbClr val="F2F4F6"/>
                    </a:solidFill>
                  </a:tcPr>
                </a:tc>
                <a:tc>
                  <a:txBody>
                    <a:bodyPr/>
                    <a:lstStyle/>
                    <a:p>
                      <a:r>
                        <a:rPr sz="1300" b="0">
                          <a:solidFill>
                            <a:srgbClr val="21252B"/>
                          </a:solidFill>
                          <a:latin typeface="Yu Gothic"/>
                          <a:ea typeface="Yu Gothic"/>
                        </a:rPr>
                        <a:t>店舗数・施工仕様で大きく変動するため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販売用グッズの商品化ライセンス</a:t>
                      </a:r>
                    </a:p>
                  </a:txBody>
                  <a:tcPr anchor="ctr" marL="73152" marR="73152" marT="18288" marB="18288">
                    <a:solidFill>
                      <a:srgbClr val="FFFFFF"/>
                    </a:solidFill>
                  </a:tcPr>
                </a:tc>
                <a:tc>
                  <a:txBody>
                    <a:bodyPr/>
                    <a:lstStyle/>
                    <a:p>
                      <a:r>
                        <a:rPr sz="1300" b="0">
                          <a:solidFill>
                            <a:srgbClr val="21252B"/>
                          </a:solidFill>
                          <a:latin typeface="Yu Gothic"/>
                          <a:ea typeface="Yu Gothic"/>
                        </a:rPr>
                        <a:t>ノベルティとは権利体系が異なるため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My SoftBank/PayPayアプリ本体改修</a:t>
                      </a:r>
                    </a:p>
                  </a:txBody>
                  <a:tcPr anchor="ctr" marL="73152" marR="73152" marT="18288" marB="18288">
                    <a:solidFill>
                      <a:srgbClr val="F2F4F6"/>
                    </a:solidFill>
                  </a:tcPr>
                </a:tc>
                <a:tc>
                  <a:txBody>
                    <a:bodyPr/>
                    <a:lstStyle/>
                    <a:p>
                      <a:r>
                        <a:rPr sz="1300" b="0">
                          <a:solidFill>
                            <a:srgbClr val="21252B"/>
                          </a:solidFill>
                          <a:latin typeface="Yu Gothic"/>
                          <a:ea typeface="Yu Gothic"/>
                        </a:rPr>
                        <a:t>開発範囲次第で別見積になるため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大型タレント起用</a:t>
                      </a:r>
                    </a:p>
                  </a:txBody>
                  <a:tcPr anchor="ctr" marL="73152" marR="73152" marT="18288" marB="18288">
                    <a:solidFill>
                      <a:srgbClr val="FFFFFF"/>
                    </a:solidFill>
                  </a:tcPr>
                </a:tc>
                <a:tc>
                  <a:txBody>
                    <a:bodyPr/>
                    <a:lstStyle/>
                    <a:p>
                      <a:r>
                        <a:rPr sz="1300" b="0">
                          <a:solidFill>
                            <a:srgbClr val="21252B"/>
                          </a:solidFill>
                          <a:latin typeface="Yu Gothic"/>
                          <a:ea typeface="Yu Gothic"/>
                        </a:rPr>
                        <a:t>キャスティング費が別途必要なため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商業施設の場所代</a:t>
                      </a:r>
                    </a:p>
                  </a:txBody>
                  <a:tcPr anchor="ctr" marL="73152" marR="73152" marT="18288" marB="18288">
                    <a:solidFill>
                      <a:srgbClr val="F2F4F6"/>
                    </a:solidFill>
                  </a:tcPr>
                </a:tc>
                <a:tc>
                  <a:txBody>
                    <a:bodyPr/>
                    <a:lstStyle/>
                    <a:p>
                      <a:r>
                        <a:rPr sz="1300" b="0">
                          <a:solidFill>
                            <a:srgbClr val="21252B"/>
                          </a:solidFill>
                          <a:latin typeface="Yu Gothic"/>
                          <a:ea typeface="Yu Gothic"/>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契約条件案(円谷プロ側への打診条件)</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独占は求めず、ウルトラマンを「リアルイベント集客IP」として他IPと役割分担する前提です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25</a:t>
            </a:r>
          </a:p>
        </p:txBody>
      </p:sp>
      <p:graphicFrame>
        <p:nvGraphicFramePr>
          <p:cNvPr id="8" name="Table 7"/>
          <p:cNvGraphicFramePr>
            <a:graphicFrameLocks noGrp="1"/>
          </p:cNvGraphicFramePr>
          <p:nvPr/>
        </p:nvGraphicFramePr>
        <p:xfrm>
          <a:off x="640080" y="1600200"/>
          <a:ext cx="10881360" cy="3867911"/>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条件案</a:t>
                      </a:r>
                    </a:p>
                  </a:txBody>
                  <a:tcPr anchor="ctr" marL="73152" marR="73152" marT="18288" marB="18288">
                    <a:solidFill>
                      <a:srgbClr val="121A2E"/>
                    </a:solidFill>
                  </a:tcPr>
                </a:tc>
              </a:tr>
              <a:tr h="429767">
                <a:tc>
                  <a:txBody>
                    <a:bodyPr/>
                    <a:lstStyle/>
                    <a:p>
                      <a:r>
                        <a:rPr sz="1250" b="0">
                          <a:solidFill>
                            <a:srgbClr val="21252B"/>
                          </a:solidFill>
                          <a:latin typeface="Yu Gothic"/>
                          <a:ea typeface="Yu Gothic"/>
                        </a:rPr>
                        <a:t>契約期間</a:t>
                      </a:r>
                    </a:p>
                  </a:txBody>
                  <a:tcPr anchor="ctr" marL="73152" marR="73152" marT="18288" marB="18288">
                    <a:solidFill>
                      <a:srgbClr val="FFFFFF"/>
                    </a:solidFill>
                  </a:tcPr>
                </a:tc>
                <a:tc>
                  <a:txBody>
                    <a:bodyPr/>
                    <a:lstStyle/>
                    <a:p>
                      <a:r>
                        <a:rPr sz="1250" b="0">
                          <a:solidFill>
                            <a:srgbClr val="21252B"/>
                          </a:solidFill>
                          <a:latin typeface="Yu Gothic"/>
                          <a:ea typeface="Yu Gothic"/>
                        </a:rPr>
                        <a:t>FY27年度(2027年4月〜2028年3月)</a:t>
                      </a:r>
                    </a:p>
                  </a:txBody>
                  <a:tcPr anchor="ctr" marL="73152" marR="73152" marT="18288" marB="18288">
                    <a:solidFill>
                      <a:srgbClr val="FFFFFF"/>
                    </a:solidFill>
                  </a:tcPr>
                </a:tc>
              </a:tr>
              <a:tr h="429767">
                <a:tc>
                  <a:txBody>
                    <a:bodyPr/>
                    <a:lstStyle/>
                    <a:p>
                      <a:r>
                        <a:rPr sz="1250" b="0">
                          <a:solidFill>
                            <a:srgbClr val="21252B"/>
                          </a:solidFill>
                          <a:latin typeface="Yu Gothic"/>
                          <a:ea typeface="Yu Gothic"/>
                        </a:rPr>
                        <a:t>使用地域</a:t>
                      </a:r>
                    </a:p>
                  </a:txBody>
                  <a:tcPr anchor="ctr" marL="73152" marR="73152" marT="18288" marB="18288">
                    <a:solidFill>
                      <a:srgbClr val="F2F4F6"/>
                    </a:solidFill>
                  </a:tcPr>
                </a:tc>
                <a:tc>
                  <a:txBody>
                    <a:bodyPr/>
                    <a:lstStyle/>
                    <a:p>
                      <a:r>
                        <a:rPr sz="1250" b="0">
                          <a:solidFill>
                            <a:srgbClr val="21252B"/>
                          </a:solidFill>
                          <a:latin typeface="Yu Gothic"/>
                          <a:ea typeface="Yu Gothic"/>
                        </a:rPr>
                        <a:t>日本国内</a:t>
                      </a:r>
                    </a:p>
                  </a:txBody>
                  <a:tcPr anchor="ctr" marL="73152" marR="73152" marT="18288" marB="18288">
                    <a:solidFill>
                      <a:srgbClr val="F2F4F6"/>
                    </a:solidFill>
                  </a:tcPr>
                </a:tc>
              </a:tr>
              <a:tr h="429767">
                <a:tc>
                  <a:txBody>
                    <a:bodyPr/>
                    <a:lstStyle/>
                    <a:p>
                      <a:r>
                        <a:rPr sz="1250" b="0">
                          <a:solidFill>
                            <a:srgbClr val="21252B"/>
                          </a:solidFill>
                          <a:latin typeface="Yu Gothic"/>
                          <a:ea typeface="Yu Gothic"/>
                        </a:rPr>
                        <a:t>使用範囲</a:t>
                      </a:r>
                    </a:p>
                  </a:txBody>
                  <a:tcPr anchor="ctr" marL="73152" marR="73152" marT="18288" marB="18288">
                    <a:solidFill>
                      <a:srgbClr val="FFFFFF"/>
                    </a:solidFill>
                  </a:tcPr>
                </a:tc>
                <a:tc>
                  <a:txBody>
                    <a:bodyPr/>
                    <a:lstStyle/>
                    <a:p>
                      <a:r>
                        <a:rPr sz="1250" b="0">
                          <a:solidFill>
                            <a:srgbClr val="21252B"/>
                          </a:solidFill>
                          <a:latin typeface="Yu Gothic"/>
                          <a:ea typeface="Yu Gothic"/>
                        </a:rPr>
                        <a:t>イベント、BB、でんき、SoftBankショップ、Web、SNS</a:t>
                      </a:r>
                    </a:p>
                  </a:txBody>
                  <a:tcPr anchor="ctr" marL="73152" marR="73152" marT="18288" marB="18288">
                    <a:solidFill>
                      <a:srgbClr val="FFFFFF"/>
                    </a:solidFill>
                  </a:tcPr>
                </a:tc>
              </a:tr>
              <a:tr h="429767">
                <a:tc>
                  <a:txBody>
                    <a:bodyPr/>
                    <a:lstStyle/>
                    <a:p>
                      <a:r>
                        <a:rPr sz="1250" b="0">
                          <a:solidFill>
                            <a:srgbClr val="21252B"/>
                          </a:solidFill>
                          <a:latin typeface="Yu Gothic"/>
                          <a:ea typeface="Yu Gothic"/>
                        </a:rPr>
                        <a:t>使用形態</a:t>
                      </a:r>
                    </a:p>
                  </a:txBody>
                  <a:tcPr anchor="ctr" marL="73152" marR="73152" marT="18288" marB="18288">
                    <a:solidFill>
                      <a:srgbClr val="F2F4F6"/>
                    </a:solidFill>
                  </a:tcPr>
                </a:tc>
                <a:tc>
                  <a:txBody>
                    <a:bodyPr/>
                    <a:lstStyle/>
                    <a:p>
                      <a:r>
                        <a:rPr sz="1250" b="0">
                          <a:solidFill>
                            <a:srgbClr val="21252B"/>
                          </a:solidFill>
                          <a:latin typeface="Yu Gothic"/>
                          <a:ea typeface="Yu Gothic"/>
                        </a:rPr>
                        <a:t>キャンペーン告知、LP、店頭ツール、ノベルティ、イベント演出</a:t>
                      </a:r>
                    </a:p>
                  </a:txBody>
                  <a:tcPr anchor="ctr" marL="73152" marR="73152" marT="18288" marB="18288">
                    <a:solidFill>
                      <a:srgbClr val="F2F4F6"/>
                    </a:solidFill>
                  </a:tcPr>
                </a:tc>
              </a:tr>
              <a:tr h="429767">
                <a:tc>
                  <a:txBody>
                    <a:bodyPr/>
                    <a:lstStyle/>
                    <a:p>
                      <a:r>
                        <a:rPr sz="1250" b="0">
                          <a:solidFill>
                            <a:srgbClr val="21252B"/>
                          </a:solidFill>
                          <a:latin typeface="Yu Gothic"/>
                          <a:ea typeface="Yu Gothic"/>
                        </a:rPr>
                        <a:t>ヒーロー登場</a:t>
                      </a:r>
                    </a:p>
                  </a:txBody>
                  <a:tcPr anchor="ctr" marL="73152" marR="73152" marT="18288" marB="18288">
                    <a:solidFill>
                      <a:srgbClr val="FFFFFF"/>
                    </a:solidFill>
                  </a:tcPr>
                </a:tc>
                <a:tc>
                  <a:txBody>
                    <a:bodyPr/>
                    <a:lstStyle/>
                    <a:p>
                      <a:r>
                        <a:rPr sz="1250" b="0">
                          <a:solidFill>
                            <a:srgbClr val="21252B"/>
                          </a:solidFill>
                          <a:latin typeface="Yu Gothic"/>
                          <a:ea typeface="Yu Gothic"/>
                        </a:rPr>
                        <a:t>年間稼働枠を設定。追加稼働は別途</a:t>
                      </a:r>
                    </a:p>
                  </a:txBody>
                  <a:tcPr anchor="ctr" marL="73152" marR="73152" marT="18288" marB="18288">
                    <a:solidFill>
                      <a:srgbClr val="FFFFFF"/>
                    </a:solidFill>
                  </a:tcPr>
                </a:tc>
              </a:tr>
              <a:tr h="429767">
                <a:tc>
                  <a:txBody>
                    <a:bodyPr/>
                    <a:lstStyle/>
                    <a:p>
                      <a:r>
                        <a:rPr sz="1250" b="0">
                          <a:solidFill>
                            <a:srgbClr val="21252B"/>
                          </a:solidFill>
                          <a:latin typeface="Yu Gothic"/>
                          <a:ea typeface="Yu Gothic"/>
                        </a:rPr>
                        <a:t>ノベルティ</a:t>
                      </a:r>
                    </a:p>
                  </a:txBody>
                  <a:tcPr anchor="ctr" marL="73152" marR="73152" marT="18288" marB="18288">
                    <a:solidFill>
                      <a:srgbClr val="F2F4F6"/>
                    </a:solidFill>
                  </a:tcPr>
                </a:tc>
                <a:tc>
                  <a:txBody>
                    <a:bodyPr/>
                    <a:lstStyle/>
                    <a:p>
                      <a:r>
                        <a:rPr sz="1250" b="0">
                          <a:solidFill>
                            <a:srgbClr val="21252B"/>
                          </a:solidFill>
                          <a:latin typeface="Yu Gothic"/>
                          <a:ea typeface="Yu Gothic"/>
                        </a:rPr>
                        <a:t>作成数制限なし、数量に応じた許諾対価は別途</a:t>
                      </a:r>
                    </a:p>
                  </a:txBody>
                  <a:tcPr anchor="ctr" marL="73152" marR="73152" marT="18288" marB="18288">
                    <a:solidFill>
                      <a:srgbClr val="F2F4F6"/>
                    </a:solidFill>
                  </a:tcPr>
                </a:tc>
              </a:tr>
              <a:tr h="429767">
                <a:tc>
                  <a:txBody>
                    <a:bodyPr/>
                    <a:lstStyle/>
                    <a:p>
                      <a:r>
                        <a:rPr sz="1250" b="0">
                          <a:solidFill>
                            <a:srgbClr val="21252B"/>
                          </a:solidFill>
                          <a:latin typeface="Yu Gothic"/>
                          <a:ea typeface="Yu Gothic"/>
                        </a:rPr>
                        <a:t>サンプル納品/他IP併用/独占</a:t>
                      </a:r>
                    </a:p>
                  </a:txBody>
                  <a:tcPr anchor="ctr" marL="73152" marR="73152" marT="18288" marB="18288">
                    <a:solidFill>
                      <a:srgbClr val="FFFFFF"/>
                    </a:solidFill>
                  </a:tcPr>
                </a:tc>
                <a:tc>
                  <a:txBody>
                    <a:bodyPr/>
                    <a:lstStyle/>
                    <a:p>
                      <a:r>
                        <a:rPr sz="1250" b="0">
                          <a:solidFill>
                            <a:srgbClr val="21252B"/>
                          </a:solidFill>
                          <a:latin typeface="Yu Gothic"/>
                          <a:ea typeface="Yu Gothic"/>
                        </a:rPr>
                        <a:t>作成物ごとにサンプル提出/他IP併用可/独占は原則なし</a:t>
                      </a:r>
                    </a:p>
                  </a:txBody>
                  <a:tcPr anchor="ctr" marL="73152" marR="73152" marT="18288" marB="18288">
                    <a:solidFill>
                      <a:srgbClr val="FFFFFF"/>
                    </a:solidFill>
                  </a:tcPr>
                </a:tc>
              </a:tr>
              <a:tr h="429775">
                <a:tc>
                  <a:txBody>
                    <a:bodyPr/>
                    <a:lstStyle/>
                    <a:p>
                      <a:r>
                        <a:rPr sz="1250" b="0">
                          <a:solidFill>
                            <a:srgbClr val="21252B"/>
                          </a:solidFill>
                          <a:latin typeface="Yu Gothic"/>
                          <a:ea typeface="Yu Gothic"/>
                        </a:rPr>
                        <a:t>除外</a:t>
                      </a:r>
                    </a:p>
                  </a:txBody>
                  <a:tcPr anchor="ctr" marL="73152" marR="73152" marT="18288" marB="18288">
                    <a:solidFill>
                      <a:srgbClr val="F2F4F6"/>
                    </a:solidFill>
                  </a:tcPr>
                </a:tc>
                <a:tc>
                  <a:txBody>
                    <a:bodyPr/>
                    <a:lstStyle/>
                    <a:p>
                      <a:r>
                        <a:rPr sz="1250" b="0">
                          <a:solidFill>
                            <a:srgbClr val="21252B"/>
                          </a:solidFill>
                          <a:latin typeface="Yu Gothic"/>
                          <a:ea typeface="Yu Gothic"/>
                        </a:rPr>
                        <a:t>TVCM、交通広告、大型OOH、販売グッズ、アプリ改修、PayPayポイント原資</a:t>
                      </a:r>
                    </a:p>
                  </a:txBody>
                  <a:tcPr anchor="ctr" marL="73152" marR="73152" marT="18288" marB="18288">
                    <a:solidFill>
                      <a:srgbClr val="F2F4F6"/>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実施スケジュール案(FY26下期〜FY27本格展開)</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2026年度下期にA案パイロットで検証し、2027年4月からFY27年間契約(B案)へ移行します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26</a:t>
            </a:r>
          </a:p>
        </p:txBody>
      </p:sp>
      <p:graphicFrame>
        <p:nvGraphicFramePr>
          <p:cNvPr id="8" name="Table 7"/>
          <p:cNvGraphicFramePr>
            <a:graphicFrameLocks noGrp="1"/>
          </p:cNvGraphicFramePr>
          <p:nvPr/>
        </p:nvGraphicFramePr>
        <p:xfrm>
          <a:off x="640080" y="1554480"/>
          <a:ext cx="10881359" cy="4224528"/>
        </p:xfrm>
        <a:graphic>
          <a:graphicData uri="http://schemas.openxmlformats.org/drawingml/2006/table">
            <a:tbl>
              <a:tblPr firstRow="1" bandRow="1">
                <a:tableStyleId>{5C22544A-7EE6-4342-B048-85BDC9FD1C3A}</a:tableStyleId>
              </a:tblPr>
              <a:tblGrid>
                <a:gridCol w="3371689"/>
                <a:gridCol w="5823826"/>
                <a:gridCol w="1685844"/>
              </a:tblGrid>
              <a:tr h="384048">
                <a:tc>
                  <a:txBody>
                    <a:bodyPr/>
                    <a:lstStyle/>
                    <a:p>
                      <a:r>
                        <a:rPr sz="1150" b="1">
                          <a:solidFill>
                            <a:srgbClr val="FFFFFF"/>
                          </a:solidFill>
                          <a:latin typeface="Yu Gothic"/>
                          <a:ea typeface="Yu Gothic"/>
                        </a:rPr>
                        <a:t>期間</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c>
                  <a:txBody>
                    <a:bodyPr/>
                    <a:lstStyle/>
                    <a:p>
                      <a:r>
                        <a:rPr sz="1150" b="1">
                          <a:solidFill>
                            <a:srgbClr val="FFFFFF"/>
                          </a:solidFill>
                          <a:latin typeface="Yu Gothic"/>
                          <a:ea typeface="Yu Gothic"/>
                        </a:rPr>
                        <a:t>フェーズ</a:t>
                      </a:r>
                    </a:p>
                  </a:txBody>
                  <a:tcPr anchor="ctr" marL="73152" marR="73152" marT="18288" marB="18288">
                    <a:solidFill>
                      <a:srgbClr val="121A2E"/>
                    </a:solidFill>
                  </a:tcPr>
                </a:tc>
              </a:tr>
              <a:tr h="384048">
                <a:tc>
                  <a:txBody>
                    <a:bodyPr/>
                    <a:lstStyle/>
                    <a:p>
                      <a:r>
                        <a:rPr sz="1200" b="0">
                          <a:solidFill>
                            <a:srgbClr val="21252B"/>
                          </a:solidFill>
                          <a:latin typeface="Yu Gothic"/>
                          <a:ea typeface="Yu Gothic"/>
                        </a:rPr>
                        <a:t>2026年7月〜8月</a:t>
                      </a:r>
                    </a:p>
                  </a:txBody>
                  <a:tcPr anchor="ctr" marL="73152" marR="73152" marT="18288" marB="18288">
                    <a:solidFill>
                      <a:srgbClr val="FFFFFF"/>
                    </a:solidFill>
                  </a:tcPr>
                </a:tc>
                <a:tc>
                  <a:txBody>
                    <a:bodyPr/>
                    <a:lstStyle/>
                    <a:p>
                      <a:r>
                        <a:rPr sz="1200" b="0">
                          <a:solidFill>
                            <a:srgbClr val="21252B"/>
                          </a:solidFill>
                          <a:latin typeface="Yu Gothic"/>
                          <a:ea typeface="Yu Gothic"/>
                        </a:rPr>
                        <a:t>初回提案・方向性合意</a:t>
                      </a:r>
                    </a:p>
                  </a:txBody>
                  <a:tcPr anchor="ctr" marL="73152" marR="73152" marT="18288" marB="18288">
                    <a:solidFill>
                      <a:srgbClr val="FFFFFF"/>
                    </a:solidFill>
                  </a:tcPr>
                </a:tc>
                <a:tc>
                  <a:txBody>
                    <a:bodyPr/>
                    <a:lstStyle/>
                    <a:p>
                      <a:r>
                        <a:rPr sz="1200" b="0">
                          <a:solidFill>
                            <a:srgbClr val="21252B"/>
                          </a:solidFill>
                          <a:latin typeface="Yu Gothic"/>
                          <a:ea typeface="Yu Gothic"/>
                        </a:rPr>
                        <a:t>準備</a:t>
                      </a:r>
                    </a:p>
                  </a:txBody>
                  <a:tcPr anchor="ctr" marL="73152" marR="73152" marT="18288" marB="18288">
                    <a:solidFill>
                      <a:srgbClr val="FFFFFF"/>
                    </a:solidFill>
                  </a:tcPr>
                </a:tc>
              </a:tr>
              <a:tr h="384048">
                <a:tc>
                  <a:txBody>
                    <a:bodyPr/>
                    <a:lstStyle/>
                    <a:p>
                      <a:r>
                        <a:rPr sz="1200" b="0">
                          <a:solidFill>
                            <a:srgbClr val="21252B"/>
                          </a:solidFill>
                          <a:latin typeface="Yu Gothic"/>
                          <a:ea typeface="Yu Gothic"/>
                        </a:rPr>
                        <a:t>2026年9月〜10月</a:t>
                      </a:r>
                    </a:p>
                  </a:txBody>
                  <a:tcPr anchor="ctr" marL="73152" marR="73152" marT="18288" marB="18288">
                    <a:solidFill>
                      <a:srgbClr val="F2F4F6"/>
                    </a:solidFill>
                  </a:tcPr>
                </a:tc>
                <a:tc>
                  <a:txBody>
                    <a:bodyPr/>
                    <a:lstStyle/>
                    <a:p>
                      <a:r>
                        <a:rPr sz="1200" b="0">
                          <a:solidFill>
                            <a:srgbClr val="21252B"/>
                          </a:solidFill>
                          <a:latin typeface="Yu Gothic"/>
                          <a:ea typeface="Yu Gothic"/>
                        </a:rPr>
                        <a:t>円谷プロ条件確認・概算見積精査</a:t>
                      </a:r>
                    </a:p>
                  </a:txBody>
                  <a:tcPr anchor="ctr" marL="73152" marR="73152" marT="18288" marB="18288">
                    <a:solidFill>
                      <a:srgbClr val="F2F4F6"/>
                    </a:solidFill>
                  </a:tcPr>
                </a:tc>
                <a:tc>
                  <a:txBody>
                    <a:bodyPr/>
                    <a:lstStyle/>
                    <a:p>
                      <a:r>
                        <a:rPr sz="1200" b="0">
                          <a:solidFill>
                            <a:srgbClr val="21252B"/>
                          </a:solidFill>
                          <a:latin typeface="Yu Gothic"/>
                          <a:ea typeface="Yu Gothic"/>
                        </a:rPr>
                        <a:t>準備</a:t>
                      </a:r>
                    </a:p>
                  </a:txBody>
                  <a:tcPr anchor="ctr" marL="73152" marR="73152" marT="18288" marB="18288">
                    <a:solidFill>
                      <a:srgbClr val="F2F4F6"/>
                    </a:solidFill>
                  </a:tcPr>
                </a:tc>
              </a:tr>
              <a:tr h="384048">
                <a:tc>
                  <a:txBody>
                    <a:bodyPr/>
                    <a:lstStyle/>
                    <a:p>
                      <a:r>
                        <a:rPr sz="1200" b="0">
                          <a:solidFill>
                            <a:srgbClr val="21252B"/>
                          </a:solidFill>
                          <a:latin typeface="Yu Gothic"/>
                          <a:ea typeface="Yu Gothic"/>
                        </a:rPr>
                        <a:t>2026年11月〜12月</a:t>
                      </a:r>
                    </a:p>
                  </a:txBody>
                  <a:tcPr anchor="ctr" marL="73152" marR="73152" marT="18288" marB="18288">
                    <a:solidFill>
                      <a:srgbClr val="FFFFFF"/>
                    </a:solidFill>
                  </a:tcPr>
                </a:tc>
                <a:tc>
                  <a:txBody>
                    <a:bodyPr/>
                    <a:lstStyle/>
                    <a:p>
                      <a:r>
                        <a:rPr sz="1200" b="0">
                          <a:solidFill>
                            <a:srgbClr val="21252B"/>
                          </a:solidFill>
                          <a:latin typeface="Yu Gothic"/>
                          <a:ea typeface="Yu Gothic"/>
                        </a:rPr>
                        <a:t>A案パイロット設計、商業施設候補選定</a:t>
                      </a:r>
                    </a:p>
                  </a:txBody>
                  <a:tcPr anchor="ctr" marL="73152" marR="73152" marT="18288" marB="18288">
                    <a:solidFill>
                      <a:srgbClr val="FFFFFF"/>
                    </a:solidFill>
                  </a:tcPr>
                </a:tc>
                <a:tc>
                  <a:txBody>
                    <a:bodyPr/>
                    <a:lstStyle/>
                    <a:p>
                      <a:r>
                        <a:rPr sz="1200" b="0">
                          <a:solidFill>
                            <a:srgbClr val="21252B"/>
                          </a:solidFill>
                          <a:latin typeface="Yu Gothic"/>
                          <a:ea typeface="Yu Gothic"/>
                        </a:rPr>
                        <a:t>検証</a:t>
                      </a:r>
                    </a:p>
                  </a:txBody>
                  <a:tcPr anchor="ctr" marL="73152" marR="73152" marT="18288" marB="18288">
                    <a:solidFill>
                      <a:srgbClr val="FFFFFF"/>
                    </a:solidFill>
                  </a:tcPr>
                </a:tc>
              </a:tr>
              <a:tr h="384048">
                <a:tc>
                  <a:txBody>
                    <a:bodyPr/>
                    <a:lstStyle/>
                    <a:p>
                      <a:r>
                        <a:rPr sz="1200" b="0">
                          <a:solidFill>
                            <a:srgbClr val="21252B"/>
                          </a:solidFill>
                          <a:latin typeface="Yu Gothic"/>
                          <a:ea typeface="Yu Gothic"/>
                        </a:rPr>
                        <a:t>2027年1月〜3月</a:t>
                      </a:r>
                    </a:p>
                  </a:txBody>
                  <a:tcPr anchor="ctr" marL="73152" marR="73152" marT="18288" marB="18288">
                    <a:solidFill>
                      <a:srgbClr val="F2F4F6"/>
                    </a:solidFill>
                  </a:tcPr>
                </a:tc>
                <a:tc>
                  <a:txBody>
                    <a:bodyPr/>
                    <a:lstStyle/>
                    <a:p>
                      <a:r>
                        <a:rPr sz="1200" b="0">
                          <a:solidFill>
                            <a:srgbClr val="21252B"/>
                          </a:solidFill>
                          <a:latin typeface="Yu Gothic"/>
                          <a:ea typeface="Yu Gothic"/>
                        </a:rPr>
                        <a:t>小規模検証イベント実施(A案)</a:t>
                      </a:r>
                    </a:p>
                  </a:txBody>
                  <a:tcPr anchor="ctr" marL="73152" marR="73152" marT="18288" marB="18288">
                    <a:solidFill>
                      <a:srgbClr val="F2F4F6"/>
                    </a:solidFill>
                  </a:tcPr>
                </a:tc>
                <a:tc>
                  <a:txBody>
                    <a:bodyPr/>
                    <a:lstStyle/>
                    <a:p>
                      <a:r>
                        <a:rPr sz="1200" b="0">
                          <a:solidFill>
                            <a:srgbClr val="21252B"/>
                          </a:solidFill>
                          <a:latin typeface="Yu Gothic"/>
                          <a:ea typeface="Yu Gothic"/>
                        </a:rPr>
                        <a:t>検証</a:t>
                      </a:r>
                    </a:p>
                  </a:txBody>
                  <a:tcPr anchor="ctr" marL="73152" marR="73152" marT="18288" marB="18288">
                    <a:solidFill>
                      <a:srgbClr val="F2F4F6"/>
                    </a:solidFill>
                  </a:tcPr>
                </a:tc>
              </a:tr>
              <a:tr h="384048">
                <a:tc>
                  <a:txBody>
                    <a:bodyPr/>
                    <a:lstStyle/>
                    <a:p>
                      <a:r>
                        <a:rPr sz="1200" b="1">
                          <a:solidFill>
                            <a:srgbClr val="D60012"/>
                          </a:solidFill>
                          <a:latin typeface="Yu Gothic"/>
                          <a:ea typeface="Yu Gothic"/>
                        </a:rPr>
                        <a:t>2027年4月</a:t>
                      </a:r>
                    </a:p>
                  </a:txBody>
                  <a:tcPr anchor="ctr" marL="73152" marR="73152" marT="18288" marB="18288">
                    <a:solidFill>
                      <a:srgbClr val="FFFFFF"/>
                    </a:solidFill>
                  </a:tcPr>
                </a:tc>
                <a:tc>
                  <a:txBody>
                    <a:bodyPr/>
                    <a:lstStyle/>
                    <a:p>
                      <a:r>
                        <a:rPr sz="1200" b="1">
                          <a:solidFill>
                            <a:srgbClr val="D60012"/>
                          </a:solidFill>
                          <a:latin typeface="Yu Gothic"/>
                          <a:ea typeface="Yu Gothic"/>
                        </a:rPr>
                        <a:t>FY27年間契約開始(B案)</a:t>
                      </a:r>
                    </a:p>
                  </a:txBody>
                  <a:tcPr anchor="ctr" marL="73152" marR="73152" marT="18288" marB="18288">
                    <a:solidFill>
                      <a:srgbClr val="FFFFFF"/>
                    </a:solidFill>
                  </a:tcPr>
                </a:tc>
                <a:tc>
                  <a:txBody>
                    <a:bodyPr/>
                    <a:lstStyle/>
                    <a:p>
                      <a:r>
                        <a:rPr sz="1200" b="1">
                          <a:solidFill>
                            <a:srgbClr val="D60012"/>
                          </a:solidFill>
                          <a:latin typeface="Yu Gothic"/>
                          <a:ea typeface="Yu Gothic"/>
                        </a:rPr>
                        <a:t>本展開</a:t>
                      </a:r>
                    </a:p>
                  </a:txBody>
                  <a:tcPr anchor="ctr" marL="73152" marR="73152" marT="18288" marB="18288">
                    <a:solidFill>
                      <a:srgbClr val="FFFFFF"/>
                    </a:solidFill>
                  </a:tcPr>
                </a:tc>
              </a:tr>
              <a:tr h="384048">
                <a:tc>
                  <a:txBody>
                    <a:bodyPr/>
                    <a:lstStyle/>
                    <a:p>
                      <a:r>
                        <a:rPr sz="1200" b="0">
                          <a:solidFill>
                            <a:srgbClr val="21252B"/>
                          </a:solidFill>
                          <a:latin typeface="Yu Gothic"/>
                          <a:ea typeface="Yu Gothic"/>
                        </a:rPr>
                        <a:t>2027年5月〜6月</a:t>
                      </a:r>
                    </a:p>
                  </a:txBody>
                  <a:tcPr anchor="ctr" marL="73152" marR="73152" marT="18288" marB="18288">
                    <a:solidFill>
                      <a:srgbClr val="F2F4F6"/>
                    </a:solidFill>
                  </a:tcPr>
                </a:tc>
                <a:tc>
                  <a:txBody>
                    <a:bodyPr/>
                    <a:lstStyle/>
                    <a:p>
                      <a:r>
                        <a:rPr sz="1200" b="0">
                          <a:solidFill>
                            <a:srgbClr val="21252B"/>
                          </a:solidFill>
                          <a:latin typeface="Yu Gothic"/>
                          <a:ea typeface="Yu Gothic"/>
                        </a:rPr>
                        <a:t>春〜初夏イベント展開</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r h="384048">
                <a:tc>
                  <a:txBody>
                    <a:bodyPr/>
                    <a:lstStyle/>
                    <a:p>
                      <a:r>
                        <a:rPr sz="1200" b="0">
                          <a:solidFill>
                            <a:srgbClr val="21252B"/>
                          </a:solidFill>
                          <a:latin typeface="Yu Gothic"/>
                          <a:ea typeface="Yu Gothic"/>
                        </a:rPr>
                        <a:t>2027年7月〜8月</a:t>
                      </a:r>
                    </a:p>
                  </a:txBody>
                  <a:tcPr anchor="ctr" marL="73152" marR="73152" marT="18288" marB="18288">
                    <a:solidFill>
                      <a:srgbClr val="FFFFFF"/>
                    </a:solidFill>
                  </a:tcPr>
                </a:tc>
                <a:tc>
                  <a:txBody>
                    <a:bodyPr/>
                    <a:lstStyle/>
                    <a:p>
                      <a:r>
                        <a:rPr sz="1200" b="0">
                          <a:solidFill>
                            <a:srgbClr val="21252B"/>
                          </a:solidFill>
                          <a:latin typeface="Yu Gothic"/>
                          <a:ea typeface="Yu Gothic"/>
                        </a:rPr>
                        <a:t>屋内商業施設中心の夏休み施策</a:t>
                      </a:r>
                    </a:p>
                  </a:txBody>
                  <a:tcPr anchor="ctr" marL="73152" marR="73152" marT="18288" marB="18288">
                    <a:solidFill>
                      <a:srgbClr val="FFFFFF"/>
                    </a:solidFill>
                  </a:tcPr>
                </a:tc>
                <a:tc>
                  <a:txBody>
                    <a:bodyPr/>
                    <a:lstStyle/>
                    <a:p>
                      <a:r>
                        <a:rPr sz="1200" b="0">
                          <a:solidFill>
                            <a:srgbClr val="21252B"/>
                          </a:solidFill>
                          <a:latin typeface="Yu Gothic"/>
                          <a:ea typeface="Yu Gothic"/>
                        </a:rPr>
                        <a:t>本展開</a:t>
                      </a:r>
                    </a:p>
                  </a:txBody>
                  <a:tcPr anchor="ctr" marL="73152" marR="73152" marT="18288" marB="18288">
                    <a:solidFill>
                      <a:srgbClr val="FFFFFF"/>
                    </a:solidFill>
                  </a:tcPr>
                </a:tc>
              </a:tr>
              <a:tr h="384048">
                <a:tc>
                  <a:txBody>
                    <a:bodyPr/>
                    <a:lstStyle/>
                    <a:p>
                      <a:r>
                        <a:rPr sz="1200" b="0">
                          <a:solidFill>
                            <a:srgbClr val="21252B"/>
                          </a:solidFill>
                          <a:latin typeface="Yu Gothic"/>
                          <a:ea typeface="Yu Gothic"/>
                        </a:rPr>
                        <a:t>2027年9月〜11月</a:t>
                      </a:r>
                    </a:p>
                  </a:txBody>
                  <a:tcPr anchor="ctr" marL="73152" marR="73152" marT="18288" marB="18288">
                    <a:solidFill>
                      <a:srgbClr val="F2F4F6"/>
                    </a:solidFill>
                  </a:tcPr>
                </a:tc>
                <a:tc>
                  <a:txBody>
                    <a:bodyPr/>
                    <a:lstStyle/>
                    <a:p>
                      <a:r>
                        <a:rPr sz="1200" b="0">
                          <a:solidFill>
                            <a:srgbClr val="21252B"/>
                          </a:solidFill>
                          <a:latin typeface="Yu Gothic"/>
                          <a:ea typeface="Yu Gothic"/>
                        </a:rPr>
                        <a:t>秋のファミリー送客施策</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r h="384048">
                <a:tc>
                  <a:txBody>
                    <a:bodyPr/>
                    <a:lstStyle/>
                    <a:p>
                      <a:r>
                        <a:rPr sz="1200" b="0">
                          <a:solidFill>
                            <a:srgbClr val="21252B"/>
                          </a:solidFill>
                          <a:latin typeface="Yu Gothic"/>
                          <a:ea typeface="Yu Gothic"/>
                        </a:rPr>
                        <a:t>2027年12月〜2028年1月</a:t>
                      </a:r>
                    </a:p>
                  </a:txBody>
                  <a:tcPr anchor="ctr" marL="73152" marR="73152" marT="18288" marB="18288">
                    <a:solidFill>
                      <a:srgbClr val="FFFFFF"/>
                    </a:solidFill>
                  </a:tcPr>
                </a:tc>
                <a:tc>
                  <a:txBody>
                    <a:bodyPr/>
                    <a:lstStyle/>
                    <a:p>
                      <a:r>
                        <a:rPr sz="1200" b="0">
                          <a:solidFill>
                            <a:srgbClr val="21252B"/>
                          </a:solidFill>
                          <a:latin typeface="Yu Gothic"/>
                          <a:ea typeface="Yu Gothic"/>
                        </a:rPr>
                        <a:t>年末年始商業施設施策</a:t>
                      </a:r>
                    </a:p>
                  </a:txBody>
                  <a:tcPr anchor="ctr" marL="73152" marR="73152" marT="18288" marB="18288">
                    <a:solidFill>
                      <a:srgbClr val="FFFFFF"/>
                    </a:solidFill>
                  </a:tcPr>
                </a:tc>
                <a:tc>
                  <a:txBody>
                    <a:bodyPr/>
                    <a:lstStyle/>
                    <a:p>
                      <a:r>
                        <a:rPr sz="1200" b="0">
                          <a:solidFill>
                            <a:srgbClr val="21252B"/>
                          </a:solidFill>
                          <a:latin typeface="Yu Gothic"/>
                          <a:ea typeface="Yu Gothic"/>
                        </a:rPr>
                        <a:t>本展開</a:t>
                      </a:r>
                    </a:p>
                  </a:txBody>
                  <a:tcPr anchor="ctr" marL="73152" marR="73152" marT="18288" marB="18288">
                    <a:solidFill>
                      <a:srgbClr val="FFFFFF"/>
                    </a:solidFill>
                  </a:tcPr>
                </a:tc>
              </a:tr>
              <a:tr h="384048">
                <a:tc>
                  <a:txBody>
                    <a:bodyPr/>
                    <a:lstStyle/>
                    <a:p>
                      <a:r>
                        <a:rPr sz="1200" b="0">
                          <a:solidFill>
                            <a:srgbClr val="21252B"/>
                          </a:solidFill>
                          <a:latin typeface="Yu Gothic"/>
                          <a:ea typeface="Yu Gothic"/>
                        </a:rPr>
                        <a:t>2028年2月〜3月</a:t>
                      </a:r>
                    </a:p>
                  </a:txBody>
                  <a:tcPr anchor="ctr" marL="73152" marR="73152" marT="18288" marB="18288">
                    <a:solidFill>
                      <a:srgbClr val="F2F4F6"/>
                    </a:solidFill>
                  </a:tcPr>
                </a:tc>
                <a:tc>
                  <a:txBody>
                    <a:bodyPr/>
                    <a:lstStyle/>
                    <a:p>
                      <a:r>
                        <a:rPr sz="1200" b="0">
                          <a:solidFill>
                            <a:srgbClr val="21252B"/>
                          </a:solidFill>
                          <a:latin typeface="Yu Gothic"/>
                          <a:ea typeface="Yu Gothic"/>
                        </a:rPr>
                        <a:t>新生活・春商戦連動</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実施体制</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SoftBank・円谷プロダクション・提案側チームの三者連携で推進します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27</a:t>
            </a:r>
          </a:p>
        </p:txBody>
      </p:sp>
      <p:graphicFrame>
        <p:nvGraphicFramePr>
          <p:cNvPr id="8" name="Table 7"/>
          <p:cNvGraphicFramePr>
            <a:graphicFrameLocks noGrp="1"/>
          </p:cNvGraphicFramePr>
          <p:nvPr/>
        </p:nvGraphicFramePr>
        <p:xfrm>
          <a:off x="640080" y="1645920"/>
          <a:ext cx="10881360" cy="4023360"/>
        </p:xfrm>
        <a:graphic>
          <a:graphicData uri="http://schemas.openxmlformats.org/drawingml/2006/table">
            <a:tbl>
              <a:tblPr firstRow="1" bandRow="1">
                <a:tableStyleId>{5C22544A-7EE6-4342-B048-85BDC9FD1C3A}</a:tableStyleId>
              </a:tblPr>
              <a:tblGrid>
                <a:gridCol w="3627120"/>
                <a:gridCol w="7254240"/>
              </a:tblGrid>
              <a:tr h="402336">
                <a:tc>
                  <a:txBody>
                    <a:bodyPr/>
                    <a:lstStyle/>
                    <a:p>
                      <a:r>
                        <a:rPr sz="1150" b="1">
                          <a:solidFill>
                            <a:srgbClr val="FFFFFF"/>
                          </a:solidFill>
                          <a:latin typeface="Yu Gothic"/>
                          <a:ea typeface="Yu Gothic"/>
                        </a:rPr>
                        <a:t>役割</a:t>
                      </a:r>
                    </a:p>
                  </a:txBody>
                  <a:tcPr anchor="ctr" marL="73152" marR="73152" marT="18288" marB="18288">
                    <a:solidFill>
                      <a:srgbClr val="121A2E"/>
                    </a:solidFill>
                  </a:tcPr>
                </a:tc>
                <a:tc>
                  <a:txBody>
                    <a:bodyPr/>
                    <a:lstStyle/>
                    <a:p>
                      <a:r>
                        <a:rPr sz="1150" b="1">
                          <a:solidFill>
                            <a:srgbClr val="FFFFFF"/>
                          </a:solidFill>
                          <a:latin typeface="Yu Gothic"/>
                          <a:ea typeface="Yu Gothic"/>
                        </a:rPr>
                        <a:t>担当</a:t>
                      </a:r>
                    </a:p>
                  </a:txBody>
                  <a:tcPr anchor="ctr" marL="73152" marR="73152" marT="18288" marB="18288">
                    <a:solidFill>
                      <a:srgbClr val="121A2E"/>
                    </a:solidFill>
                  </a:tcPr>
                </a:tc>
              </a:tr>
              <a:tr h="402336">
                <a:tc>
                  <a:txBody>
                    <a:bodyPr/>
                    <a:lstStyle/>
                    <a:p>
                      <a:r>
                        <a:rPr sz="1250" b="0">
                          <a:solidFill>
                            <a:srgbClr val="21252B"/>
                          </a:solidFill>
                          <a:latin typeface="Yu Gothic"/>
                          <a:ea typeface="Yu Gothic"/>
                        </a:rPr>
                        <a:t>全体統括</a:t>
                      </a:r>
                    </a:p>
                  </a:txBody>
                  <a:tcPr anchor="ctr" marL="73152" marR="73152" marT="18288" marB="18288">
                    <a:solidFill>
                      <a:srgbClr val="FFFFFF"/>
                    </a:solidFill>
                  </a:tcPr>
                </a:tc>
                <a:tc>
                  <a:txBody>
                    <a:bodyPr/>
                    <a:lstStyle/>
                    <a:p>
                      <a:r>
                        <a:rPr sz="1250" b="0">
                          <a:solidFill>
                            <a:srgbClr val="21252B"/>
                          </a:solidFill>
                          <a:latin typeface="Yu Gothic"/>
                          <a:ea typeface="Yu Gothic"/>
                        </a:rPr>
                        <a:t>SoftBank コンシューマ事業側</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IP監修</a:t>
                      </a:r>
                    </a:p>
                  </a:txBody>
                  <a:tcPr anchor="ctr" marL="73152" marR="73152" marT="18288" marB="18288">
                    <a:solidFill>
                      <a:srgbClr val="F2F4F6"/>
                    </a:solidFill>
                  </a:tcPr>
                </a:tc>
                <a:tc>
                  <a:txBody>
                    <a:bodyPr/>
                    <a:lstStyle/>
                    <a:p>
                      <a:r>
                        <a:rPr sz="1250" b="0">
                          <a:solidFill>
                            <a:srgbClr val="21252B"/>
                          </a:solidFill>
                          <a:latin typeface="Yu Gothic"/>
                          <a:ea typeface="Yu Gothic"/>
                        </a:rPr>
                        <a:t>円谷プロダクション</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企画・制作</a:t>
                      </a:r>
                    </a:p>
                  </a:txBody>
                  <a:tcPr anchor="ctr" marL="73152" marR="73152" marT="18288" marB="18288">
                    <a:solidFill>
                      <a:srgbClr val="FFFFFF"/>
                    </a:solidFill>
                  </a:tcPr>
                </a:tc>
                <a:tc>
                  <a:txBody>
                    <a:bodyPr/>
                    <a:lstStyle/>
                    <a:p>
                      <a:r>
                        <a:rPr sz="1250" b="0">
                          <a:solidFill>
                            <a:srgbClr val="21252B"/>
                          </a:solidFill>
                          <a:latin typeface="Yu Gothic"/>
                          <a:ea typeface="Yu Gothic"/>
                        </a:rPr>
                        <a:t>提案側チーム</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商業施設調整</a:t>
                      </a:r>
                    </a:p>
                  </a:txBody>
                  <a:tcPr anchor="ctr" marL="73152" marR="73152" marT="18288" marB="18288">
                    <a:solidFill>
                      <a:srgbClr val="F2F4F6"/>
                    </a:solidFill>
                  </a:tcPr>
                </a:tc>
                <a:tc>
                  <a:txBody>
                    <a:bodyPr/>
                    <a:lstStyle/>
                    <a:p>
                      <a:r>
                        <a:rPr sz="1250" b="0">
                          <a:solidFill>
                            <a:srgbClr val="21252B"/>
                          </a:solidFill>
                          <a:latin typeface="Yu Gothic"/>
                          <a:ea typeface="Yu Gothic"/>
                        </a:rPr>
                        <a:t>SoftBank営業/代理店/イベント運営側</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店舗連携</a:t>
                      </a:r>
                    </a:p>
                  </a:txBody>
                  <a:tcPr anchor="ctr" marL="73152" marR="73152" marT="18288" marB="18288">
                    <a:solidFill>
                      <a:srgbClr val="FFFFFF"/>
                    </a:solidFill>
                  </a:tcPr>
                </a:tc>
                <a:tc>
                  <a:txBody>
                    <a:bodyPr/>
                    <a:lstStyle/>
                    <a:p>
                      <a:r>
                        <a:rPr sz="1250" b="0">
                          <a:solidFill>
                            <a:srgbClr val="21252B"/>
                          </a:solidFill>
                          <a:latin typeface="Yu Gothic"/>
                          <a:ea typeface="Yu Gothic"/>
                        </a:rPr>
                        <a:t>SoftBankショップ、代理店運営会社</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BB/でんき導線</a:t>
                      </a:r>
                    </a:p>
                  </a:txBody>
                  <a:tcPr anchor="ctr" marL="73152" marR="73152" marT="18288" marB="18288">
                    <a:solidFill>
                      <a:srgbClr val="F2F4F6"/>
                    </a:solidFill>
                  </a:tcPr>
                </a:tc>
                <a:tc>
                  <a:txBody>
                    <a:bodyPr/>
                    <a:lstStyle/>
                    <a:p>
                      <a:r>
                        <a:rPr sz="1250" b="0">
                          <a:solidFill>
                            <a:srgbClr val="21252B"/>
                          </a:solidFill>
                          <a:latin typeface="Yu Gothic"/>
                          <a:ea typeface="Yu Gothic"/>
                        </a:rPr>
                        <a:t>各サービス担当部門</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デジタル導線</a:t>
                      </a:r>
                    </a:p>
                  </a:txBody>
                  <a:tcPr anchor="ctr" marL="73152" marR="73152" marT="18288" marB="18288">
                    <a:solidFill>
                      <a:srgbClr val="FFFFFF"/>
                    </a:solidFill>
                  </a:tcPr>
                </a:tc>
                <a:tc>
                  <a:txBody>
                    <a:bodyPr/>
                    <a:lstStyle/>
                    <a:p>
                      <a:r>
                        <a:rPr sz="1250" b="0">
                          <a:solidFill>
                            <a:srgbClr val="21252B"/>
                          </a:solidFill>
                          <a:latin typeface="Yu Gothic"/>
                          <a:ea typeface="Yu Gothic"/>
                        </a:rPr>
                        <a:t>LP、計測、デジタル隊員証担当</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法務・ライセンス</a:t>
                      </a:r>
                    </a:p>
                  </a:txBody>
                  <a:tcPr anchor="ctr" marL="73152" marR="73152" marT="18288" marB="18288">
                    <a:solidFill>
                      <a:srgbClr val="F2F4F6"/>
                    </a:solidFill>
                  </a:tcPr>
                </a:tc>
                <a:tc>
                  <a:txBody>
                    <a:bodyPr/>
                    <a:lstStyle/>
                    <a:p>
                      <a:r>
                        <a:rPr sz="1250" b="0">
                          <a:solidFill>
                            <a:srgbClr val="21252B"/>
                          </a:solidFill>
                          <a:latin typeface="Yu Gothic"/>
                          <a:ea typeface="Yu Gothic"/>
                        </a:rPr>
                        <a:t>双方法務・ライセンス担当</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効果測定</a:t>
                      </a:r>
                    </a:p>
                  </a:txBody>
                  <a:tcPr anchor="ctr" marL="73152" marR="73152" marT="18288" marB="18288">
                    <a:solidFill>
                      <a:srgbClr val="FFFFFF"/>
                    </a:solidFill>
                  </a:tcPr>
                </a:tc>
                <a:tc>
                  <a:txBody>
                    <a:bodyPr/>
                    <a:lstStyle/>
                    <a:p>
                      <a:r>
                        <a:rPr sz="1250" b="0">
                          <a:solidFill>
                            <a:srgbClr val="21252B"/>
                          </a:solidFill>
                          <a:latin typeface="Yu Gothic"/>
                          <a:ea typeface="Yu Gothic"/>
                        </a:rPr>
                        <a:t>SoftBankマーケティング/提案側チーム</a:t>
                      </a:r>
                    </a:p>
                  </a:txBody>
                  <a:tcPr anchor="ctr" marL="73152" marR="73152" marT="18288" marB="18288">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最終提案:B案 FY27標準プラン</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ポケモン着ぐるみ不可後のリアルイベント機能を補完する本命施策</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28</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r>
              <a:tr h="457200">
                <a:tc>
                  <a:txBody>
                    <a:bodyPr/>
                    <a:lstStyle/>
                    <a:p>
                      <a:r>
                        <a:rPr sz="1300" b="0">
                          <a:solidFill>
                            <a:srgbClr val="21252B"/>
                          </a:solidFill>
                          <a:latin typeface="Yu Gothic"/>
                          <a:ea typeface="Yu Gothic"/>
                        </a:rPr>
                        <a:t>金額</a:t>
                      </a:r>
                    </a:p>
                  </a:txBody>
                  <a:tcPr anchor="ctr" marL="73152" marR="73152" marT="18288" marB="18288">
                    <a:solidFill>
                      <a:srgbClr val="FFFFFF"/>
                    </a:solidFill>
                  </a:tcPr>
                </a:tc>
                <a:tc>
                  <a:txBody>
                    <a:bodyPr/>
                    <a:lstStyle/>
                    <a:p>
                      <a:r>
                        <a:rPr sz="1300" b="1">
                          <a:solidFill>
                            <a:srgbClr val="D60012"/>
                          </a:solidFill>
                          <a:latin typeface="Yu Gothic"/>
                          <a:ea typeface="Yu Gothic"/>
                        </a:rPr>
                        <a:t>1億2,000万円 税別</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期間</a:t>
                      </a:r>
                    </a:p>
                  </a:txBody>
                  <a:tcPr anchor="ctr" marL="73152" marR="73152" marT="18288" marB="18288">
                    <a:solidFill>
                      <a:srgbClr val="F2F4F6"/>
                    </a:solidFill>
                  </a:tcPr>
                </a:tc>
                <a:tc>
                  <a:txBody>
                    <a:bodyPr/>
                    <a:lstStyle/>
                    <a:p>
                      <a:r>
                        <a:rPr sz="1300" b="0">
                          <a:solidFill>
                            <a:srgbClr val="21252B"/>
                          </a:solidFill>
                          <a:latin typeface="Yu Gothic"/>
                          <a:ea typeface="Yu Gothic"/>
                        </a:rPr>
                        <a:t>FY27年度(2027年4月〜2028年3月)</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目的</a:t>
                      </a:r>
                    </a:p>
                  </a:txBody>
                  <a:tcPr anchor="ctr" marL="73152" marR="73152" marT="18288" marB="18288">
                    <a:solidFill>
                      <a:srgbClr val="FFFFFF"/>
                    </a:solidFill>
                  </a:tcPr>
                </a:tc>
                <a:tc>
                  <a:txBody>
                    <a:bodyPr/>
                    <a:lstStyle/>
                    <a:p>
                      <a:r>
                        <a:rPr sz="1300" b="0">
                          <a:solidFill>
                            <a:srgbClr val="21252B"/>
                          </a:solidFill>
                          <a:latin typeface="Yu Gothic"/>
                          <a:ea typeface="Yu Gothic"/>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実施規模</a:t>
                      </a:r>
                    </a:p>
                  </a:txBody>
                  <a:tcPr anchor="ctr" marL="73152" marR="73152" marT="18288" marB="18288">
                    <a:solidFill>
                      <a:srgbClr val="F2F4F6"/>
                    </a:solidFill>
                  </a:tcPr>
                </a:tc>
                <a:tc>
                  <a:txBody>
                    <a:bodyPr/>
                    <a:lstStyle/>
                    <a:p>
                      <a:r>
                        <a:rPr sz="1300" b="0">
                          <a:solidFill>
                            <a:srgbClr val="21252B"/>
                          </a:solidFill>
                          <a:latin typeface="Yu Gothic"/>
                          <a:ea typeface="Yu Gothic"/>
                        </a:rPr>
                        <a:t>10〜20商業施設</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中核施策</a:t>
                      </a:r>
                    </a:p>
                  </a:txBody>
                  <a:tcPr anchor="ctr" marL="73152" marR="73152" marT="18288" marB="18288">
                    <a:solidFill>
                      <a:srgbClr val="FFFFFF"/>
                    </a:solidFill>
                  </a:tcPr>
                </a:tc>
                <a:tc>
                  <a:txBody>
                    <a:bodyPr/>
                    <a:lstStyle/>
                    <a:p>
                      <a:r>
                        <a:rPr sz="1300" b="0">
                          <a:solidFill>
                            <a:srgbClr val="21252B"/>
                          </a:solidFill>
                          <a:latin typeface="Yu Gothic"/>
                          <a:ea typeface="Yu Gothic"/>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KPI</a:t>
                      </a:r>
                    </a:p>
                  </a:txBody>
                  <a:tcPr anchor="ctr" marL="73152" marR="73152" marT="18288" marB="18288">
                    <a:solidFill>
                      <a:srgbClr val="F2F4F6"/>
                    </a:solidFill>
                  </a:tcPr>
                </a:tc>
                <a:tc>
                  <a:txBody>
                    <a:bodyPr/>
                    <a:lstStyle/>
                    <a:p>
                      <a:r>
                        <a:rPr sz="1300" b="0">
                          <a:solidFill>
                            <a:srgbClr val="21252B"/>
                          </a:solidFill>
                          <a:latin typeface="Yu Gothic"/>
                          <a:ea typeface="Yu Gothic"/>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位置づけ</a:t>
                      </a:r>
                    </a:p>
                  </a:txBody>
                  <a:tcPr anchor="ctr" marL="73152" marR="73152" marT="18288" marB="18288">
                    <a:solidFill>
                      <a:srgbClr val="FFFFFF"/>
                    </a:solidFill>
                  </a:tcPr>
                </a:tc>
                <a:tc>
                  <a:txBody>
                    <a:bodyPr/>
                    <a:lstStyle/>
                    <a:p>
                      <a:r>
                        <a:rPr sz="1300" b="0">
                          <a:solidFill>
                            <a:srgbClr val="21252B"/>
                          </a:solidFill>
                          <a:latin typeface="Yu Gothic"/>
                          <a:ea typeface="Yu Gothic"/>
                        </a:rPr>
                        <a:t>ポケモン着ぐるみ不可後のリアルイベント機能を補完する本命施策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次アクション:</a:t>
            </a:r>
            <a:r>
              <a:rPr sz="1400" b="0">
                <a:solidFill>
                  <a:srgbClr val="21252B"/>
                </a:solidFill>
                <a:latin typeface="Yu Gothic"/>
                <a:ea typeface="Yu Gothic"/>
              </a:rPr>
              <a:t>方向性ご合意のうえ、円谷プロ側への条件打診と概算見積の精査(2026年9月〜10月)、A案パイロットの設計(2026年11月〜)に着手します。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46304" cy="228600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25880"/>
            <a:ext cx="10058400" cy="2468880"/>
          </a:xfrm>
          <a:prstGeom prst="rect">
            <a:avLst/>
          </a:prstGeom>
          <a:noFill/>
        </p:spPr>
        <p:txBody>
          <a:bodyPr wrap="square" anchor="t" lIns="0" rIns="0" tIns="0" bIns="0">
            <a:spAutoFit/>
          </a:bodyPr>
          <a:lstStyle/>
          <a:p>
            <a:pPr algn="l">
              <a:spcAft>
                <a:spcPts val="1200"/>
              </a:spcAft>
            </a:pPr>
            <a:r>
              <a:rPr sz="1500" b="1">
                <a:solidFill>
                  <a:srgbClr val="8E949B"/>
                </a:solidFill>
                <a:latin typeface="Yu Gothic"/>
                <a:ea typeface="Yu Gothic"/>
              </a:rPr>
              <a:t>本企画の最終メッセージ</a:t>
            </a:r>
          </a:p>
          <a:p>
            <a:pPr algn="l">
              <a:spcAft>
                <a:spcPts val="1200"/>
              </a:spcAft>
            </a:pPr>
            <a:r>
              <a:rPr sz="2500" b="1">
                <a:solidFill>
                  <a:srgbClr val="FFFFFF"/>
                </a:solidFill>
                <a:latin typeface="Yu Gothic"/>
                <a:ea typeface="Yu Gothic"/>
              </a:rPr>
              <a:t>ウルトラマンでSoftBankを目立たせる企画ではない。</a:t>
            </a:r>
          </a:p>
          <a:p>
            <a:pPr algn="l">
              <a:spcAft>
                <a:spcPts val="1200"/>
              </a:spcAft>
            </a:pPr>
            <a:r>
              <a:rPr sz="2500" b="1">
                <a:solidFill>
                  <a:srgbClr val="FFFFFF"/>
                </a:solidFill>
                <a:latin typeface="Yu Gothic"/>
                <a:ea typeface="Yu Gothic"/>
              </a:rPr>
              <a:t>ウルトラマンを目的来館の核にして、商業施設に顧客を呼び込み、</a:t>
            </a:r>
          </a:p>
          <a:p>
            <a:pPr algn="l">
              <a:spcAft>
                <a:spcPts val="1200"/>
              </a:spcAft>
            </a:pPr>
            <a:r>
              <a:rPr sz="2500" b="1">
                <a:solidFill>
                  <a:srgbClr val="FFFFFF"/>
                </a:solidFill>
                <a:latin typeface="Yu Gothic"/>
                <a:ea typeface="Yu Gothic"/>
              </a:rPr>
              <a:t>SoftBankの店頭相談・BB・でんき・モバイル獲得へつなげる企画である。</a:t>
            </a:r>
          </a:p>
        </p:txBody>
      </p:sp>
      <p:sp>
        <p:nvSpPr>
          <p:cNvPr id="5" name="TextBox 4"/>
          <p:cNvSpPr txBox="1"/>
          <p:nvPr/>
        </p:nvSpPr>
        <p:spPr>
          <a:xfrm>
            <a:off x="1234440" y="4206240"/>
            <a:ext cx="9875520" cy="1463040"/>
          </a:xfrm>
          <a:prstGeom prst="rect">
            <a:avLst/>
          </a:prstGeom>
          <a:noFill/>
        </p:spPr>
        <p:txBody>
          <a:bodyPr wrap="square" anchor="t" lIns="0" rIns="0" tIns="0" bIns="0">
            <a:spAutoFit/>
          </a:bodyPr>
          <a:lstStyle/>
          <a:p>
            <a:pPr algn="l">
              <a:spcAft>
                <a:spcPts val="1000"/>
              </a:spcAft>
            </a:pPr>
            <a:r>
              <a:rPr sz="1450" b="0">
                <a:solidFill>
                  <a:srgbClr val="C3C9D2"/>
                </a:solidFill>
                <a:latin typeface="Yu Gothic"/>
                <a:ea typeface="Yu Gothic"/>
              </a:rPr>
              <a:t>ポケモン契約との整合/FY27以降の課題/商業施設送客/コンシューマ事業への貢献 — すべてが一本につながります。</a:t>
            </a:r>
          </a:p>
          <a:p>
            <a:pPr algn="l">
              <a:spcAft>
                <a:spcPts val="1000"/>
              </a:spcAft>
            </a:pPr>
            <a:r>
              <a:rPr sz="1450" b="0">
                <a:solidFill>
                  <a:srgbClr val="C3C9D2"/>
                </a:solidFill>
                <a:latin typeface="Yu Gothic"/>
                <a:ea typeface="Yu Gothic"/>
              </a:rPr>
              <a:t>ご清聴ありがとうございました。</a:t>
            </a:r>
          </a:p>
        </p:txBody>
      </p:sp>
      <p:sp>
        <p:nvSpPr>
          <p:cNvPr id="6" name="Rectangle 5"/>
          <p:cNvSpPr/>
          <p:nvPr/>
        </p:nvSpPr>
        <p:spPr>
          <a:xfrm>
            <a:off x="0" y="6309360"/>
            <a:ext cx="12191695" cy="54864"/>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