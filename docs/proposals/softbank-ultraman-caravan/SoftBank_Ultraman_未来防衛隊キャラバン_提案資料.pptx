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3C9D2"/>
                </a:solidFill>
                <a:latin typeface="Yu Gothic"/>
                <a:ea typeface="Yu Gothic"/>
              </a:rPr>
              <a:t>ソフトバンク株式会社 御中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8E949B"/>
                </a:solidFill>
                <a:latin typeface="Yu Gothic"/>
                <a:ea typeface="Yu Gothic"/>
              </a:rPr>
              <a:t>SoftBank × ウルトラマン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FFFFFF"/>
                </a:solidFill>
                <a:latin typeface="Yu Gothic"/>
                <a:ea typeface="Yu Gothic"/>
              </a:rPr>
              <a:t>未来防衛隊キャラバン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Yu Gothic"/>
                <a:ea typeface="Yu Gothic"/>
              </a:rPr>
              <a:t>商業施設に親子・ファミリーを呼び込み、SoftBankショップ・BB・でんき・モバイル相談へ送客する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Yu Gothic"/>
                <a:ea typeface="Yu Gothic"/>
              </a:rPr>
              <a:t>店頭イベント戦略のご提案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>
                <a:solidFill>
                  <a:srgbClr val="E8B4B8"/>
                </a:solidFill>
                <a:latin typeface="Yu Gothic"/>
                <a:ea typeface="Yu Gothic"/>
              </a:rPr>
              <a:t>ウルトラマンが、家族を商業施設へ呼び込む。SoftBankが、暮らしの通信・電気・安心を守る。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8E949B"/>
                </a:solidFill>
                <a:latin typeface="Yu Gothic"/>
                <a:ea typeface="Yu Gothic"/>
              </a:rPr>
              <a:t>2026年7月|Confidential|金額はすべて税別・概算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エグゼクティブサマリー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本企画はキャラクター露出ではなく、商業施設への「目的来館」を作り、店頭相談へ送客する施策です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11183112" cy="1051560"/>
          </a:xfrm>
          <a:prstGeom prst="rect">
            <a:avLst/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00784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結論:</a:t>
            </a:r>
            <a:r>
              <a:rPr sz="1500" b="0">
                <a:solidFill>
                  <a:srgbClr val="21252B"/>
                </a:solidFill>
                <a:latin typeface="Yu Gothic"/>
                <a:ea typeface="Yu Gothic"/>
              </a:rPr>
              <a:t>ウルトラマンを“商業施設に顧客を呼び込む店頭イベントの核”として活用し、来館した親子・ファミリー層を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SoftBankショップ、BB、でんき、モバイル相談へ送客する。</a:t>
            </a: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推奨は、FY27年度の年間活用を前提とした1.2億円プラン(B案)です。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7899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背景:現行のキャラクターIP施策は、FY27以降もコンテンツ活用が継続される一方、イベントでの着ぐるみ活用は終了予定と伺っております。</a:t>
            </a:r>
          </a:p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課題:FY27以降、商業施設イベントにおける「会いに行く理由」=リアル集客機能に空白が生まれます。</a:t>
            </a:r>
          </a:p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解決:現行IPの置き換えではなく、リアルイベント集客機能をウルトラマンで補完します。2026年7月10日にシリーズ60周年を迎える追い風もあります。</a:t>
            </a:r>
          </a:p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仕組み:ヒーロー撮影会・館内ミッションラリー・デジタル隊員証で商業施設に呼び込み、SoftBankショップの相談(スマホ・BB・でんき)へ自然に送客します。</a:t>
            </a:r>
          </a:p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1">
                <a:solidFill>
                  <a:srgbClr val="21252B"/>
                </a:solidFill>
                <a:latin typeface="Yu Gothic"/>
                <a:ea typeface="Yu Gothic"/>
              </a:rPr>
              <a:t>ご提案:A案3,500万円(短期検証)/B案1億2,000万円(FY27年間・推奨)/C案2億5,000万円(60周年大型展開)。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本提案の位置づけ:コンシューマ事業のリアル接点拡張施策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単なるキャラクターコラボではなく、貴社コンシューマ事業の成長に直結する施策としてご提案します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05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貴社コンシューマ事業は、付加価値サービスを備えた料金プランの浸透、グループ経済圏の活用、長期利用が期待できるユーザー層の獲得・定着を通じ、モバイルサービス売上とセグメント利益の継続成長を掲げていらっしゃいます。</a:t>
            </a:r>
          </a:p>
          <a:p>
            <a:pPr algn="l">
              <a:spcAft>
                <a:spcPts val="1000"/>
              </a:spcAft>
            </a:pPr>
            <a:r>
              <a:rPr sz="105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SoftBank/ワイモバイル/LINEMOのマルチブランド展開も、大きな競争優位と拝察しております。</a:t>
            </a:r>
          </a:p>
          <a:p>
            <a:pPr algn="l">
              <a:spcAft>
                <a:spcPts val="1000"/>
              </a:spcAft>
            </a:pPr>
            <a:r>
              <a:rPr sz="105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本企画は、この戦略に対して「商業施設でのリアル顧客接点の創出」という形で貢献するものです。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94760"/>
            <a:ext cx="10607040" cy="1554480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041648"/>
            <a:ext cx="9875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B4B8"/>
                </a:solidFill>
                <a:latin typeface="Yu Gothic"/>
                <a:ea typeface="Yu Gothic"/>
              </a:rPr>
              <a:t>本企画の主語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Yu Gothic"/>
                <a:ea typeface="Yu Gothic"/>
              </a:rPr>
              <a:t>ウルトラマン60周年を活用し、商業施設に親子・ファミリーを呼び込み、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Yu Gothic"/>
                <a:ea typeface="Yu Gothic"/>
              </a:rPr>
              <a:t>SoftBankショップ・BB・でんき・モバイル相談へ送客する、コンシューマ事業成長施策。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現行キャラクターIP施策の整理(ご共有いただいた前提)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FY27以降もコンテンツ活用は継続予定。ただし着ぐるみ活用が終了し、リアル集客機能に課題が残ります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740663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8423"/>
                <a:gridCol w="5228216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現状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契約形態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年度単位(4月〜3月)での契約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利用可能領域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イベント、BB、でんき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作成数制限なし(数量に応じた許諾対価が別途必要)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他コンテンツ制限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なし(他IPとの併用が可能)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着ぐるみ活用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FY26 3月まで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FY27以降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コンテンツ活用は継続予定。ただし着ぐるみ活用は終了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その他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複数のキャラクターIP活用も並行してご検討中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275320" y="1600200"/>
            <a:ext cx="3383280" cy="34747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1828800"/>
            <a:ext cx="2926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ここからの論点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① 現行IPはBB・でんき・既存コンテンツで継続活用が有効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② ただしFY27以降、リアルイベントの「目的来館」機能に空白が生まれる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21252B"/>
                </a:solidFill>
                <a:latin typeface="Yu Gothic"/>
                <a:ea typeface="Yu Gothic"/>
              </a:rPr>
              <a:t>③ その空白を補完できるIPが必要になる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FY27以降の課題:リアル集客機能の空白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着ぐるみ利用不可により、商業施設イベントの「会いに行く理由」が弱まります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645920"/>
            <a:ext cx="585216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現行IPのコンテンツ活用はFY27以降も継続</a:t>
            </a:r>
          </a:p>
        </p:txBody>
      </p:sp>
      <p:sp>
        <p:nvSpPr>
          <p:cNvPr id="9" name="Down Arrow 8"/>
          <p:cNvSpPr/>
          <p:nvPr/>
        </p:nvSpPr>
        <p:spPr>
          <a:xfrm>
            <a:off x="3941064" y="222656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7280" y="2468880"/>
            <a:ext cx="585216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ただし、着ぐるみは利用不可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941064" y="304952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7280" y="3291840"/>
            <a:ext cx="585216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「会いに行く理由」「写真を撮る理由」「親子で参加する理由」が弱まる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941064" y="387248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5852160" cy="566928"/>
          </a:xfrm>
          <a:prstGeom prst="roundRect">
            <a:avLst>
              <a:gd name="adj" fmla="val 16000"/>
            </a:avLst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50" b="1">
                <a:solidFill>
                  <a:srgbClr val="FFFFFF"/>
                </a:solidFill>
                <a:latin typeface="Yu Gothic"/>
                <a:ea typeface="Yu Gothic"/>
              </a:rPr>
              <a:t>商業施設イベントでのリアル集客機能に空白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1645920"/>
            <a:ext cx="4160520" cy="35661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1874519"/>
            <a:ext cx="36576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FY27の店頭イベントに必要なもの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親子・ファミリーを商業施設へ呼び込める「リアル集客コンテンツ」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・ヒーローの登場/撮影会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・ステージ/館内ラリーとの親和性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・親子二世代での認知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・通信・家族・暮らし・未来との文脈接続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5321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答え:</a:t>
            </a: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現行IPを置き換えるのではなく、FY27以降担いにくくなる“リアルイベント集客機能”をウルトラマンで補完する。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IPポートフォリオにおけるウルトラマンの役割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既存IPと競合させず、役割分担で全体最適を作ります(独占は求めない前提)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91640"/>
          <a:ext cx="10881359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0440"/>
                <a:gridCol w="7360919"/>
              </a:tblGrid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IP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役割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現行キャラクターIP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BB・でんき・既存コンテンツで継続活用(FY27以降も活用継続)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かわいい系キャラクターIP(並行ご検討中)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SNS拡散、女性・低年齢層向け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ウルトラマン(本提案)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商業施設イベント、親子撮影会、ヒーロー登場、通信・未来・防衛文脈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114800"/>
            <a:ext cx="10881360" cy="1463040"/>
          </a:xfrm>
          <a:prstGeom prst="rect">
            <a:avLst/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D60012"/>
                </a:solidFill>
                <a:latin typeface="Yu Gothic"/>
                <a:ea typeface="Yu Gothic"/>
              </a:rPr>
              <a:t>ウルトラマンの位置づけ = 「リアルイベント集客IP」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ヒーロー登場・撮影会・ステージ・館内ミッションラリーと相性が高く、商業施設に人を呼ぶイベントの核になれる。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なぜ今、ウルトラマンなのか — 60周年「with U」との接続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2026年7月10日にシリーズ60周年。公式60周年プロジェクトのコアメッセージ「with U」はSoftBankコンシューマ事業と好相性です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425"/>
                <a:gridCol w="7480935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ウルトラマンの文脈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SoftBank側の接続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守る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家族のスマホ安全、通信の安心、暮らしの電気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つながる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モバイル、BB、Wi-Fi、家族契約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未来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5G、AI、デジタルサービス、次世代の生活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親子二世代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商業施設のファミリー集客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目的来館・撮影会・イベント集客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461772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重要な視点:</a:t>
            </a:r>
            <a:r>
              <a:rPr sz="1500" b="0">
                <a:solidFill>
                  <a:srgbClr val="21252B"/>
                </a:solidFill>
                <a:latin typeface="Yu Gothic"/>
                <a:ea typeface="Yu Gothic"/>
              </a:rPr>
              <a:t>ウルトラマンを「懐かしいIP」として使うのではなく、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21252B"/>
                </a:solidFill>
                <a:latin typeface="Yu Gothic"/>
                <a:ea typeface="Yu Gothic"/>
              </a:rPr>
              <a:t>通信・家族・暮らし・未来をわかりやすく伝える“体験装置”として使う。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88920"/>
            <a:ext cx="146304" cy="1051560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8E949B"/>
                </a:solidFill>
                <a:latin typeface="Yu Gothic"/>
                <a:ea typeface="Yu Gothic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78892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SoftBank × ウルトラマン 未来防衛隊キャラバン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77639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3C9D2"/>
                </a:solidFill>
                <a:latin typeface="Yu Gothic"/>
                <a:ea typeface="Yu Gothic"/>
              </a:rPr>
              <a:t>ウルトラヒーローの登場、親子撮影会、館内ミッションラリー、デジタル隊員証、SoftBankショップでのスマホ・BB・でんき相談を一体化し、
商業施設全体の来館動機を創出する「送客型キャンペーン」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企画コンセプト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商業施設とSoftBank、双方に価値が生まれる一体型イベントパッケージ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1">
                <a:solidFill>
                  <a:srgbClr val="21252B"/>
                </a:solidFill>
                <a:latin typeface="Yu Gothic"/>
                <a:ea typeface="Yu Gothic"/>
              </a:rPr>
              <a:t>ウルトラマンを店頭イベントの核として活用し、商業施設に親子・ファミリー層を呼び込む送客型キャンペーン。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26B"/>
                </a:solidFill>
                <a:latin typeface="Yu Gothic"/>
                <a:ea typeface="Yu Gothic"/>
              </a:rPr>
              <a:t>ヒーロー登場/親子撮影会/館内ミッションラリー/デジタル隊員証/ショップでのスマホ・BB・でんき相談を一体化。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5257800" cy="283464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108960"/>
            <a:ext cx="4709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商業施設にとって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・週末・祝日のファミリー集客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・館内回遊の増加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・滞在時間の向上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・テナント全体を盛り上げる参加型イベント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880360"/>
            <a:ext cx="5257800" cy="2834640"/>
          </a:xfrm>
          <a:prstGeom prst="roundRect">
            <a:avLst>
              <a:gd name="adj" fmla="val 5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108960"/>
            <a:ext cx="4709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SoftBankにとって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・店舗前通行量の増加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・相談件数の創出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・家族契約・機種変更への送客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・BB(SoftBank 光/Air)・でんきへの送客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中核戦略:「店頭で待つ」から「商業施設へ呼び込む」へ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すでに来店意思のある人への販促ではなく、来店意向のない層を呼び込み、相談接点へ転換します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91640"/>
            <a:ext cx="4206240" cy="393192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20240"/>
            <a:ext cx="3657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5A626B"/>
                </a:solidFill>
                <a:latin typeface="Yu Gothic"/>
                <a:ea typeface="Yu Gothic"/>
              </a:rPr>
              <a:t>旧来型の店頭施策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SoftBankショップに来た人へ販促する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5A626B"/>
                </a:solidFill>
                <a:latin typeface="Yu Gothic"/>
                <a:ea typeface="Yu Gothic"/>
              </a:rPr>
              <a:t>=すでに来店意思のある人への施策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5A626B"/>
                </a:solidFill>
                <a:latin typeface="Yu Gothic"/>
                <a:ea typeface="Yu Gothic"/>
              </a:rPr>
              <a:t>新規の来館動機は作れない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1691640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ウルトラマンを目的に商業施設へ来てもらう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8513064" y="2217420"/>
            <a:ext cx="164592" cy="155448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77840" y="2386584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館内イベントに参加してもらう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513064" y="2912364"/>
            <a:ext cx="164592" cy="155448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77840" y="3081528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SoftBankショップへ送客する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513064" y="3607308"/>
            <a:ext cx="164592" cy="155448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77840" y="3776472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スマホ・BB・でんき相談へつなげる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513064" y="4302252"/>
            <a:ext cx="164592" cy="155448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77840" y="4471416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見積・予約・申込・後日フォローへ展開する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5216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本企画の最重要メッセージ:</a:t>
            </a: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店頭で待つ施策ではなく、商業施設に顧客を呼び込む施策。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商業施設とのWin-Win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商業施設側の集客課題を解決するイベントパッケージのため、施設側も受け入れやすい企画です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59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3900"/>
                <a:gridCol w="6347459"/>
              </a:tblGrid>
              <a:tr h="42976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商業施設側の課題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ウルトラマン施策での解決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週末・祝日の集客を増やしたい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ウルトラマン撮影会で「目的来館」を作る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親子・ファミリー層を呼びたい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親子二世代に認知があるIP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館内回遊を増やしたい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ミッションラリーで複数フロアを回遊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滞在時間を伸ばしたい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ステージ・撮影会・ラリー・相談を組み合わせる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テナント全体を盛り上げたい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館内参加型イベントとして展開できる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天候に左右されたくない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屋内商業施設イベントと相性が高い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489204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SoftBankショップ単体でのイベントよりも、商業施設全体を巻き込むことで、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60012"/>
                </a:solidFill>
                <a:latin typeface="Yu Gothic"/>
                <a:ea typeface="Yu Gothic"/>
              </a:rPr>
              <a:t>「来館動機」「館内回遊」「店舗送客」を同時に作れる。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ターゲット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来店意向のない親子・ファミリー層を中心に、既存ユーザー・他キャリア利用者までカバーします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6675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0048"/>
                <a:gridCol w="4005072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メインターゲット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狙い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親子・ファミリー層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目的来館、家族契約、子どもスマホ相談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30〜50代の保護者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家庭の通信費、BB、でんき、機種変更相談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既存SoftBankユーザー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料金見直し、機種変更、BB・でんき追加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他キャリア利用者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料金診断、MNP、ワイモバイル・LINEMO送客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商業施設来館者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偶発接触から相談・予約へ誘導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89520" y="1600200"/>
            <a:ext cx="4069080" cy="41605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810512"/>
            <a:ext cx="3611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特に狙うべき生活者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・子どものスマホを検討している家庭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・家族の通信費を見直したい家庭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・自宅Wi-Fiに不満がある家庭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・電気料金の見直しに関心がある家庭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・商業施設に週末来館する親子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・料金相談のきっかけがない既存ユーザー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ユーザー体験設計(生活者導線)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認知から来館・参加・相談・申込まで、8ステップの一気通貫導線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9164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① SNS・商業施設告知・SoftBank告知でイベントを知る</a:t>
            </a:r>
          </a:p>
        </p:txBody>
      </p:sp>
      <p:sp>
        <p:nvSpPr>
          <p:cNvPr id="9" name="Down Arrow 8"/>
          <p:cNvSpPr/>
          <p:nvPr/>
        </p:nvSpPr>
        <p:spPr>
          <a:xfrm>
            <a:off x="3300984" y="227228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51460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② 週末に親子で商業施設へ来館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300984" y="309524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33756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③ ウルトラマン撮影会・ステージを見る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300984" y="391820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416052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④ 館内ミッションラリーに参加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69164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⑤ デジタル隊員証を発行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878824" y="227228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⑥ SoftBankショップで特典・相談導線に接触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878824" y="309524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333756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⑦ スマホ料金診断・家族契約・BB・でんき相談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8878824" y="391820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55080" y="416052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⑧ 見積・来店予約・オンライン申込・後日フォロー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53328" y="3063240"/>
            <a:ext cx="274320" cy="219456"/>
          </a:xfrm>
          <a:prstGeom prst="right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2356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ポイント:</a:t>
            </a:r>
            <a:r>
              <a:rPr sz="1400" b="1">
                <a:solidFill>
                  <a:srgbClr val="21252B"/>
                </a:solidFill>
                <a:latin typeface="Yu Gothic"/>
                <a:ea typeface="Yu Gothic"/>
              </a:rPr>
              <a:t>いきなり契約を狙いすぎない。まず「来館・参加・相談・見積・予約」を作り、その後、店舗またはオンラインで申込につなげる。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店頭イベントの具体内容:「ウルトラマン未来防衛隊 in 商業施設」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集客・回遊・接点化・相談・送客の機能を1パッケージ化した基本メニュー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881358" cy="4197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0908"/>
                <a:gridCol w="4705452"/>
                <a:gridCol w="3234998"/>
              </a:tblGrid>
              <a:tr h="46634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施策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内容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SoftBankへの効果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ウルトラヒーロー撮影会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親子で写真撮影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目的来館を作る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未来防衛隊ステージ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通信・家族・暮らしの安心がテーマのミニステージ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ブランド好意度向上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館内ミッションラリー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館内を回遊しながらミッション達成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商業施設回遊、滞在時間向上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デジタル隊員証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QRで参加登録、スマホ上で表示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顧客接点化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家族スマホ安全診断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子どものスマホ利用、料金、セキュリティ相談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モバイル相談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おうち通信防衛診断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Wi-Fi、BB、通信環境の相談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 光/Air送客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くらしの電気防衛診断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電気料金、でんき契約の見直し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でんき送客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ショップ限定特典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相談・見積でノベルティ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店舗送客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未来防衛隊ミッションラリー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館内回遊と相談接点を同時に生む、本企画の中核コンテンツ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6857999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8297"/>
                <a:gridCol w="3939702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ミッション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目的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家族スマホ安全ミッション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子どもスマホ・見守り・セキュリティ相談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おうちWi-Fi防衛ミッション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 光/Air相談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でんき防衛ミッション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でんき契約・電気料金見直し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料金見直しミッション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家族通信費の診断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ショップ基地ミッション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SoftBankショップへの送客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フォトミッション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ウルトラマン撮影会参加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デジタル隊員証ミッション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顧客接点の取得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0" y="1600200"/>
            <a:ext cx="3886200" cy="306324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10512"/>
            <a:ext cx="3429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ラリー完了特典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・未来防衛隊ステッカー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・デジタル壁紙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・隊員証カード/クリアファイル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・店舗相談者限定ノベルティ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・抽選応募権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749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60012"/>
                </a:solidFill>
                <a:latin typeface="Yu Gothic"/>
                <a:ea typeface="Yu Gothic"/>
              </a:rPr>
              <a:t>ノベルティ設計: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作成数に上限を設けず、数量に応じた許諾対価を別途お支払いする設計を想定しています。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SoftBankショップへの送客設計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SoftBankショップを「未来防衛隊基地」として位置づけ、ラリーの最終ミッションで店舗へ誘導します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91640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中央イベントスペース(広場)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63824" y="2217420"/>
            <a:ext cx="164592" cy="173736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404872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ミッションラリー参加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163824" y="2930652"/>
            <a:ext cx="164592" cy="173736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118104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SoftBankショップで最終ミッション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163824" y="3643884"/>
            <a:ext cx="164592" cy="173736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3831336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料金診断・BB診断・でんき相談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63824" y="4357116"/>
            <a:ext cx="164592" cy="173736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4544568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見積・予約・申込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72200" y="1691640"/>
          <a:ext cx="548640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304800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店舗の相談メニュー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目的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家族スマホ料金診断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家族契約、料金見直し、機種変更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子どもスマホ相談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初スマホ、安心設定、フィルタリング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おうちWi-Fi診断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 光/Air送客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でんき料金診断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でんき契約相談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MNP相談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他キャリア利用者の獲得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ワイモバイル/LINEMO案内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価格・オンライン志向ユーザーの受け皿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562356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マルチブランド(SoftBank/ワイモバイル/LINEMO)展開により、来館者のニーズに応じた最適な受け皿を用意できる。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PayPay/LINE/LYPとの将来連携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初期はPayPayポイント原資を必須とせず、グループ経済圏への拡張余地を残します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PayPayとLINEヤフーは、LINE(国内月間利用者数1億)とPayPay(登録ユーザー7,400万人)のアカウント連携を2026年夏より開始と発表。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86000"/>
          <a:ext cx="1088136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連携先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展開案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PayPay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商業施設内の対象店舗利用で抽選、PayPayポイント施策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LINE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イベント告知、デジタル隊員証、来場後フォロー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LYP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SoftBankユーザー向け特典訴求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Yahoo! JAPAN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特集面・キャンペーン告知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My SoftBank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既存ユーザー向けイベント告知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" y="489204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60012"/>
                </a:solidFill>
                <a:latin typeface="Yu Gothic"/>
                <a:ea typeface="Yu Gothic"/>
              </a:rPr>
              <a:t>注記: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PayPayポイント原資、アプリ本体改修、LINEミニアプリ開発は本見積に含めず、別途費用とする。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88920"/>
            <a:ext cx="146304" cy="1051560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8E949B"/>
                </a:solidFill>
                <a:latin typeface="Yu Gothic"/>
                <a:ea typeface="Yu Gothic"/>
              </a:rPr>
              <a:t>PLAN &amp;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78892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見積もり3パターン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77639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3C9D2"/>
                </a:solidFill>
                <a:latin typeface="Yu Gothic"/>
                <a:ea typeface="Yu Gothic"/>
              </a:rPr>
              <a:t>すべて税別・概算。円谷プロ側の正式なIP使用料、監修条件、ヒーロー稼働条件、使用媒体、使用期間により変動します。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3プラン比較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推奨はB案:FY27標準プラン(1億2,000万円)です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91640"/>
          <a:ext cx="10881358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8056"/>
                <a:gridCol w="1832650"/>
                <a:gridCol w="5039787"/>
                <a:gridCol w="1030865"/>
              </a:tblGrid>
              <a:tr h="62179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プラン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金額(税別)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位置づけ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推奨度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A案:短期検証プラン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商業施設イベントの小規模検証(FY26下期パイロット)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B案:FY27標準プラン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1億2,000万円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年間展開の推奨案。FY27以降のリアル集客を補完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◎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C案:60周年大型展開プラン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2億5,000万円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全国大型キャンペーン(B案実施後の拡張案)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434840"/>
            <a:ext cx="10881360" cy="1371600"/>
          </a:xfrm>
          <a:prstGeom prst="rect">
            <a:avLst/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45152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推奨の進め方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A案パイロット(FY26下期)で反応を検証 → B案でFY27年間展開 → 成果に応じてC案へ拡張。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A案:短期検証プラン|3,500万円(税別)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FY27本格展開前に、ウルトラマンを核にした商業施設送客の反応を検証(3〜4か月)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548639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50208"/>
                <a:gridCol w="1536191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見積項目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金額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ウルトラマンIP使用料・監修費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1,200万円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企画設計・PM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キービジュアル・コピー制作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LP/応募フォーム制作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館内ラリーツール制作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250万円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ヒーロー登場・イベント運営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SNS/バナー制作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250万円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広告・送客費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事務局・レポート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150万円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合計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3,500万円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600200"/>
          <a:ext cx="512063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274"/>
                <a:gridCol w="2226365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KPI目安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目標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実施商業施設数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2〜3施設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総イベント来場者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5,000〜1.5万人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撮影会参加組数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500〜1,500組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館内ラリー参加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1,500〜4,000人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SoftBankショップ送客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300〜800人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相談件数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100〜300件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見積・来店予約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50〜150件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92240" y="46177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60012"/>
                </a:solidFill>
                <a:latin typeface="Yu Gothic"/>
                <a:ea typeface="Yu Gothic"/>
              </a:rPr>
              <a:t>位置づけ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導入の第一歩として有効。ただしFY27以降の年間集客機能を担うには規模が限定的。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B案:FY27標準プラン|1億2,000万円(税別)【推奨】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FY27年度(2027年4月〜2028年3月)/商業施設10〜20施設/ヒーロー年間稼働枠/BB・でんき本格導線化/他IP併用可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5486398" cy="4544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3999"/>
                <a:gridCol w="1422399"/>
              </a:tblGrid>
              <a:tr h="32461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見積項目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金額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年間IP使用料・監修費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5,000万円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ヒーロー登場・撮影会稼働枠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商業施設イベント運営費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1,200万円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企画設計・PM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600万円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キービジュアル・店頭イベント素材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LP/デジタル隊員証/計測導線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館内ラリー・イベントツール制作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600万円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ノベルティ初期制作・デザイン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BB/でんき向けコンテンツ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SNS/告知クリエイティブ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広告・送客費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700万円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事務局・レポート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合計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1億2,000万円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600200"/>
          <a:ext cx="5120639" cy="35707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274"/>
                <a:gridCol w="2226365"/>
              </a:tblGrid>
              <a:tr h="32461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KPI目安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目標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実施商業施設数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10〜20施設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総イベント来場者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3万〜8万人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撮影会参加組数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3,000〜8,000組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館内ラリー参加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1万〜3万人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デジタル隊員証発行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8,000〜2万人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3,000〜8,000人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相談件数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1,000〜3,000件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見積・来店予約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500〜1,500件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300〜1,000件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モバイル関連相談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700〜2,000件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B案を推奨する理由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IP使用料単体ではなく、「年間IP契約+リアルイベント実行費+店舗送客導線」の総額としてご評価ください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B案の1億2,000万円は、IP使用料だけの金額ではありません。年間の企画・制作・イベント運営・店舗送客までを含む、実行費一式の総額です。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年間IP使用料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799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ヒーロー登場・撮影会稼働枠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8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商業施設イベント運営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17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店頭ツール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76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館内ラリー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LP/デジタル隊員証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799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BB/でんき向けコンテンツ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58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SNS告知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17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広告・送客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5476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事務局・レポート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343400"/>
            <a:ext cx="10744200" cy="1371600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61772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Yu Gothic"/>
                <a:ea typeface="Yu Gothic"/>
              </a:rPr>
              <a:t>B案 = 年間IP契約 + リアルイベント実行費 + 店舗送客導線 の一体パッケージ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C案:60周年大型展開プラン|2億5,000万円(税別)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60周年文脈を活用した全社大型コンシューマキャンペーン(6〜12か月)。B案実施後の拡張案としてご提示します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5486398" cy="4594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3999"/>
                <a:gridCol w="1422399"/>
              </a:tblGrid>
              <a:tr h="3063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見積項目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金額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年間IP使用料・広範囲監修費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8,000万円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ヒーロー登場・イベント稼働枠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2,500万円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戦略設計・全体PM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1,200万円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キービジュアル・コピー開発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1,000万円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Web動画/ショート動画制作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2,500万円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LP/ミッション基盤制作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1,200万円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AR/デジタルコンテンツ制作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800万円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全国店頭ツール制作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1,700万円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ノベルティ制作・配送管理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BB/でんき/モバイル向けコンテンツ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Web/SNS広告配信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PR/タイアップ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400万円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事務局・効果測定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合計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2億5,000万円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600200"/>
          <a:ext cx="5120639" cy="35204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274"/>
                <a:gridCol w="2226365"/>
              </a:tblGrid>
              <a:tr h="3200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KPI目安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目標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実施商業施設数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30〜50施設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総イベント来場者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10万〜25万人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撮影会参加組数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1万〜3万組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館内ラリー参加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5万〜10万人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デジタル隊員証発行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3万〜8万人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1万〜3万人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相談件数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3,000〜8,000件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見積・来店予約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1,500〜4,000件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1,000〜3,000件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4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PR露出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50〜150件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基本見積に含めない項目(別途費用)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変動幅が大きい項目・権利体系が異なる項目は、基本見積から切り分けて透明性を担保します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59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87798"/>
                <a:gridCol w="6093561"/>
              </a:tblGrid>
              <a:tr h="43891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別途項目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理由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TVCM媒体費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出稿量で大きく変動するため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交通広告・大型OOH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掲出場所・期間で変動するため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PayPayポイント原資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付与条件・人数・上限で変動するため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全国全店の大型施工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店舗数・施工仕様で大きく変動するため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販売用グッズの商品化ライセンス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ノベルティとは権利体系が異なるため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My SoftBank/PayPayアプリ本体改修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開発範囲次第で別見積になるため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大型タレント起用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キャスティング費が別途必要なため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商業施設の場所代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施設条件により有償・無償が変わるため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契約条件案(円谷プロ側への打診条件)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独占は求めず、ウルトラマンを「リアルイベント集客IP」として他IPと役割分担する前提です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881360" cy="38679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42976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条件案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契約期間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FY27年度(2027年4月〜2028年3月)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使用地域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日本国内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使用範囲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イベント、BB、でんき、SoftBankショップ、Web、SNS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使用形態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キャンペーン告知、LP、店頭ツール、ノベルティ、イベント演出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年間稼働枠を設定。追加稼働は別途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作成数制限なし、数量に応じた許諾対価は別途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サンプル納品/他IP併用/独占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作成物ごとにサンプル提出/他IP併用可/独占は原則なし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75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除外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TVCM、交通広告、大型OOH、販売グッズ、アプリ改修、PayPayポイント原資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実施スケジュール案(FY26下期〜FY27本格展開)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2026年度下期にA案パイロットで検証し、2027年4月からFY27年間契約(B案)へ移行します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54480"/>
          <a:ext cx="10881359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689"/>
                <a:gridCol w="5823826"/>
                <a:gridCol w="1685844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期間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内容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フェーズ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2026年7月〜8月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初回提案・方向性合意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準備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2026年9月〜10月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円谷プロ条件確認・概算見積精査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準備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2026年11月〜12月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A案パイロット設計、商業施設候補選定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検証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2027年1月〜3月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小規模検証イベント実施(A案)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検証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2027年4月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FY27年間契約開始(B案)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2027年5月〜6月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春〜初夏イベント展開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2027年7月〜8月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屋内商業施設中心の夏休み施策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2027年9月〜11月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秋のファミリー送客施策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2027年12月〜2028年1月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年末年始商業施設施策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2028年2月〜3月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新生活・春商戦連動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実施体制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SoftBank・円谷プロダクション・提案側チームの三者連携で推進します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725424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役割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担当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全体統括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 コンシューマ事業側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IP監修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円谷プロダクション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企画・制作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提案側チーム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商業施設調整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SoftBank営業/代理店/イベント運営側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店舗連携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SoftBankショップ、代理店運営会社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BB/でんき導線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各サービス担当部門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デジタル導線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LP、計測、デジタル隊員証担当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法務・ライセンス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双方法務・ライセンス担当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効果測定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SoftBankマーケティング/提案側チーム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最終ご提案:B案 FY27標準プラン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FY27以降のリアルイベント集客機能を担う、推奨プランです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5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7164"/>
                <a:gridCol w="8304195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内容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金額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1億2,000万円 税別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期間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FY27年度(2027年4月〜2028年3月)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目的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商業施設送客、SoftBankショップ送客、BB・でんき・モバイル相談創出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実施規模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10〜20商業施設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中核施策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ウルトラヒーロー登場、撮影会、館内ラリー、デジタル隊員証、店舗相談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KPI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イベント来場3万〜8万人、店舗送客3,000〜8,000人、相談1,000〜3,000件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位置づけ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FY27以降のリアルイベント集客機能を担う中核施策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53212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次アクション: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方向性ご合意のうえ、円谷プロ側への条件打診と概算見積の精査(2026年9月〜10月)、A案パイロットの設計(2026年11月〜)に着手します。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" cy="2286000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325880"/>
            <a:ext cx="10058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8E949B"/>
                </a:solidFill>
                <a:latin typeface="Yu Gothic"/>
                <a:ea typeface="Yu Gothic"/>
              </a:rPr>
              <a:t>本企画の最終メッセージ</a:t>
            </a:r>
          </a:p>
          <a:p>
            <a:pPr algn="l">
              <a:spcAft>
                <a:spcPts val="1200"/>
              </a:spcAft>
            </a:pPr>
            <a:r>
              <a:rPr sz="2500" b="1">
                <a:solidFill>
                  <a:srgbClr val="FFFFFF"/>
                </a:solidFill>
                <a:latin typeface="Yu Gothic"/>
                <a:ea typeface="Yu Gothic"/>
              </a:rPr>
              <a:t>ウルトラマンでSoftBankを目立たせる企画ではない。</a:t>
            </a:r>
          </a:p>
          <a:p>
            <a:pPr algn="l">
              <a:spcAft>
                <a:spcPts val="1200"/>
              </a:spcAft>
            </a:pPr>
            <a:r>
              <a:rPr sz="2500" b="1">
                <a:solidFill>
                  <a:srgbClr val="FFFFFF"/>
                </a:solidFill>
                <a:latin typeface="Yu Gothic"/>
                <a:ea typeface="Yu Gothic"/>
              </a:rPr>
              <a:t>ウルトラマンを目的来館の核にして、商業施設に顧客を呼び込み、</a:t>
            </a:r>
          </a:p>
          <a:p>
            <a:pPr algn="l">
              <a:spcAft>
                <a:spcPts val="1200"/>
              </a:spcAft>
            </a:pPr>
            <a:r>
              <a:rPr sz="2500" b="1">
                <a:solidFill>
                  <a:srgbClr val="FFFFFF"/>
                </a:solidFill>
                <a:latin typeface="Yu Gothic"/>
                <a:ea typeface="Yu Gothic"/>
              </a:rPr>
              <a:t>SoftBankの店頭相談・BB・でんき・モバイル獲得へつなげる企画である。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06240"/>
            <a:ext cx="9875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50" b="0">
                <a:solidFill>
                  <a:srgbClr val="C3C9D2"/>
                </a:solidFill>
                <a:latin typeface="Yu Gothic"/>
                <a:ea typeface="Yu Gothic"/>
              </a:rPr>
              <a:t>現行IP施策との整合/FY27以降の課題/商業施設送客/コンシューマ事業への貢献 — すべてが一本につながります。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C3C9D2"/>
                </a:solidFill>
                <a:latin typeface="Yu Gothic"/>
                <a:ea typeface="Yu Gothic"/>
              </a:rPr>
              <a:t>ご清聴ありがとうございました。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