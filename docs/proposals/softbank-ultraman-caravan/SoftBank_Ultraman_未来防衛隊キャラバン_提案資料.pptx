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54864"/>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10515600" cy="457200"/>
          </a:xfrm>
          <a:prstGeom prst="rect">
            <a:avLst/>
          </a:prstGeom>
          <a:noFill/>
        </p:spPr>
        <p:txBody>
          <a:bodyPr wrap="square" anchor="t" lIns="0" rIns="0" tIns="0" bIns="0">
            <a:spAutoFit/>
          </a:bodyPr>
          <a:lstStyle/>
          <a:p>
            <a:pPr algn="l">
              <a:spcAft>
                <a:spcPts val="600"/>
              </a:spcAft>
            </a:pPr>
            <a:r>
              <a:rPr sz="1500" b="0">
                <a:solidFill>
                  <a:srgbClr val="C3C9D2"/>
                </a:solidFill>
                <a:latin typeface="Yu Gothic"/>
                <a:ea typeface="Yu Gothic"/>
              </a:rPr>
              <a:t>ソフトバンク株式会社 御中</a:t>
            </a:r>
          </a:p>
        </p:txBody>
      </p:sp>
      <p:sp>
        <p:nvSpPr>
          <p:cNvPr id="5" name="TextBox 4"/>
          <p:cNvSpPr txBox="1"/>
          <p:nvPr/>
        </p:nvSpPr>
        <p:spPr>
          <a:xfrm>
            <a:off x="822960" y="1783080"/>
            <a:ext cx="10607040" cy="2377440"/>
          </a:xfrm>
          <a:prstGeom prst="rect">
            <a:avLst/>
          </a:prstGeom>
          <a:noFill/>
        </p:spPr>
        <p:txBody>
          <a:bodyPr wrap="square" anchor="t" lIns="0" rIns="0" tIns="0" bIns="0">
            <a:spAutoFit/>
          </a:bodyPr>
          <a:lstStyle/>
          <a:p>
            <a:pPr algn="l">
              <a:spcAft>
                <a:spcPts val="1000"/>
              </a:spcAft>
            </a:pPr>
            <a:r>
              <a:rPr sz="3000" b="1">
                <a:solidFill>
                  <a:srgbClr val="8E949B"/>
                </a:solidFill>
                <a:latin typeface="Yu Gothic"/>
                <a:ea typeface="Yu Gothic"/>
              </a:rPr>
              <a:t>SoftBank × ウルトラマン</a:t>
            </a:r>
          </a:p>
          <a:p>
            <a:pPr algn="l">
              <a:spcAft>
                <a:spcPts val="1000"/>
              </a:spcAft>
            </a:pPr>
            <a:r>
              <a:rPr sz="5400" b="1">
                <a:solidFill>
                  <a:srgbClr val="FFFFFF"/>
                </a:solidFill>
                <a:latin typeface="Yu Gothic"/>
                <a:ea typeface="Yu Gothic"/>
              </a:rPr>
              <a:t>未来防衛隊キャラバン</a:t>
            </a:r>
          </a:p>
        </p:txBody>
      </p:sp>
      <p:sp>
        <p:nvSpPr>
          <p:cNvPr id="6" name="TextBox 5"/>
          <p:cNvSpPr txBox="1"/>
          <p:nvPr/>
        </p:nvSpPr>
        <p:spPr>
          <a:xfrm>
            <a:off x="822960" y="3703320"/>
            <a:ext cx="10607040" cy="822960"/>
          </a:xfrm>
          <a:prstGeom prst="rect">
            <a:avLst/>
          </a:prstGeom>
          <a:noFill/>
        </p:spPr>
        <p:txBody>
          <a:bodyPr wrap="square" anchor="t" lIns="0" rIns="0" tIns="0" bIns="0">
            <a:spAutoFit/>
          </a:bodyPr>
          <a:lstStyle/>
          <a:p>
            <a:pPr algn="l">
              <a:spcAft>
                <a:spcPts val="400"/>
              </a:spcAft>
            </a:pPr>
            <a:r>
              <a:rPr sz="1600" b="0">
                <a:solidFill>
                  <a:srgbClr val="FFFFFF"/>
                </a:solidFill>
                <a:latin typeface="Yu Gothic"/>
                <a:ea typeface="Yu Gothic"/>
              </a:rPr>
              <a:t>商業施設に親子・ファミリーを呼び込み、SoftBankショップ・BB・でんき・モバイル相談へ送客する</a:t>
            </a:r>
          </a:p>
          <a:p>
            <a:pPr algn="l">
              <a:spcAft>
                <a:spcPts val="400"/>
              </a:spcAft>
            </a:pPr>
            <a:r>
              <a:rPr sz="1600" b="0">
                <a:solidFill>
                  <a:srgbClr val="FFFFFF"/>
                </a:solidFill>
                <a:latin typeface="Yu Gothic"/>
                <a:ea typeface="Yu Gothic"/>
              </a:rPr>
              <a:t>店頭イベント戦略のご提案</a:t>
            </a:r>
          </a:p>
        </p:txBody>
      </p:sp>
      <p:sp>
        <p:nvSpPr>
          <p:cNvPr id="7" name="TextBox 6"/>
          <p:cNvSpPr txBox="1"/>
          <p:nvPr/>
        </p:nvSpPr>
        <p:spPr>
          <a:xfrm>
            <a:off x="822960" y="4892040"/>
            <a:ext cx="10515600" cy="1280160"/>
          </a:xfrm>
          <a:prstGeom prst="rect">
            <a:avLst/>
          </a:prstGeom>
          <a:noFill/>
        </p:spPr>
        <p:txBody>
          <a:bodyPr wrap="square" anchor="t" lIns="0" rIns="0" tIns="0" bIns="0">
            <a:spAutoFit/>
          </a:bodyPr>
          <a:lstStyle/>
          <a:p>
            <a:pPr algn="l">
              <a:spcAft>
                <a:spcPts val="800"/>
              </a:spcAft>
            </a:pPr>
            <a:r>
              <a:rPr sz="1350" b="0">
                <a:solidFill>
                  <a:srgbClr val="E8B4B8"/>
                </a:solidFill>
                <a:latin typeface="Yu Gothic"/>
                <a:ea typeface="Yu Gothic"/>
              </a:rPr>
              <a:t>ウルトラマンが、家族を商業施設へ呼び込む。SoftBankが、暮らしの通信・電気・安心を守る。</a:t>
            </a:r>
          </a:p>
          <a:p>
            <a:pPr algn="l">
              <a:spcAft>
                <a:spcPts val="800"/>
              </a:spcAft>
            </a:pPr>
            <a:r>
              <a:rPr sz="1200" b="0">
                <a:solidFill>
                  <a:srgbClr val="8E949B"/>
                </a:solidFill>
                <a:latin typeface="Yu Gothic"/>
                <a:ea typeface="Yu Gothic"/>
              </a:rPr>
              <a:t>2026年7月|Confidential|金額はすべて税別・概算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エグゼクティブサマリー</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本企画はキャラクター露出ではなく、商業施設への「目的来館」を作り、店頭相談へ送客する施策です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a:t>
            </a:r>
          </a:p>
        </p:txBody>
      </p:sp>
      <p:sp>
        <p:nvSpPr>
          <p:cNvPr id="8" name="Rectangle 7"/>
          <p:cNvSpPr/>
          <p:nvPr/>
        </p:nvSpPr>
        <p:spPr>
          <a:xfrm>
            <a:off x="502920" y="1554480"/>
            <a:ext cx="11183112" cy="1051560"/>
          </a:xfrm>
          <a:prstGeom prst="rect">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00784"/>
            <a:ext cx="10698480" cy="822960"/>
          </a:xfrm>
          <a:prstGeom prst="rect">
            <a:avLst/>
          </a:prstGeom>
          <a:noFill/>
        </p:spPr>
        <p:txBody>
          <a:bodyPr wrap="square" anchor="t" lIns="0" rIns="0" tIns="0" bIns="0">
            <a:spAutoFit/>
          </a:bodyPr>
          <a:lstStyle/>
          <a:p>
            <a:pPr algn="l">
              <a:spcAft>
                <a:spcPts val="400"/>
              </a:spcAft>
            </a:pPr>
            <a:r>
              <a:rPr sz="1500" b="1">
                <a:solidFill>
                  <a:srgbClr val="D60012"/>
                </a:solidFill>
                <a:latin typeface="Yu Gothic"/>
                <a:ea typeface="Yu Gothic"/>
              </a:rPr>
              <a:t>結論:</a:t>
            </a:r>
            <a:r>
              <a:rPr sz="1500" b="0">
                <a:solidFill>
                  <a:srgbClr val="21252B"/>
                </a:solidFill>
                <a:latin typeface="Yu Gothic"/>
                <a:ea typeface="Yu Gothic"/>
              </a:rPr>
              <a:t>ウルトラマンを“商業施設に顧客を呼び込む店頭イベントの核”として活用し、来館した親子・ファミリー層を</a:t>
            </a:r>
          </a:p>
          <a:p>
            <a:pPr algn="l">
              <a:spcAft>
                <a:spcPts val="400"/>
              </a:spcAft>
            </a:pPr>
            <a:r>
              <a:rPr sz="1500" b="1">
                <a:solidFill>
                  <a:srgbClr val="21252B"/>
                </a:solidFill>
                <a:latin typeface="Yu Gothic"/>
                <a:ea typeface="Yu Gothic"/>
              </a:rPr>
              <a:t>SoftBankショップ、BB、でんき、モバイル相談へ送客する。</a:t>
            </a:r>
            <a:r>
              <a:rPr sz="1500" b="1">
                <a:solidFill>
                  <a:srgbClr val="D60012"/>
                </a:solidFill>
                <a:latin typeface="Yu Gothic"/>
                <a:ea typeface="Yu Gothic"/>
              </a:rPr>
              <a:t>推奨は、FY27年度の年間活用を前提とした1.5億円プラン(B案)です。</a:t>
            </a:r>
          </a:p>
        </p:txBody>
      </p:sp>
      <p:sp>
        <p:nvSpPr>
          <p:cNvPr id="10" name="TextBox 9"/>
          <p:cNvSpPr txBox="1"/>
          <p:nvPr/>
        </p:nvSpPr>
        <p:spPr>
          <a:xfrm>
            <a:off x="777240" y="2880360"/>
            <a:ext cx="10789920" cy="3291840"/>
          </a:xfrm>
          <a:prstGeom prst="rect">
            <a:avLst/>
          </a:prstGeom>
          <a:noFill/>
        </p:spPr>
        <p:txBody>
          <a:bodyPr wrap="square" anchor="t" lIns="0" rIns="0" tIns="0" bIns="0">
            <a:spAutoFit/>
          </a:bodyPr>
          <a:lstStyle/>
          <a:p>
            <a:pPr algn="l">
              <a:spcAft>
                <a:spcPts val="1200"/>
              </a:spcAft>
            </a:pPr>
            <a:r>
              <a:rPr sz="1100" b="1">
                <a:solidFill>
                  <a:srgbClr val="D60012"/>
                </a:solidFill>
                <a:latin typeface="Yu Gothic"/>
                <a:ea typeface="Yu Gothic"/>
              </a:rPr>
              <a:t>● </a:t>
            </a:r>
            <a:r>
              <a:rPr sz="1400" b="0">
                <a:solidFill>
                  <a:srgbClr val="21252B"/>
                </a:solidFill>
                <a:latin typeface="Yu Gothic"/>
                <a:ea typeface="Yu Gothic"/>
              </a:rPr>
              <a:t>背景:現行のキャラクターIP施策は、FY27以降もコンテンツ活用が継続される一方、イベントでの着ぐるみ活用は終了予定と伺っております。</a:t>
            </a:r>
          </a:p>
          <a:p>
            <a:pPr algn="l">
              <a:spcAft>
                <a:spcPts val="1200"/>
              </a:spcAft>
            </a:pPr>
            <a:r>
              <a:rPr sz="1100" b="1">
                <a:solidFill>
                  <a:srgbClr val="D60012"/>
                </a:solidFill>
                <a:latin typeface="Yu Gothic"/>
                <a:ea typeface="Yu Gothic"/>
              </a:rPr>
              <a:t>● </a:t>
            </a:r>
            <a:r>
              <a:rPr sz="1400" b="0">
                <a:solidFill>
                  <a:srgbClr val="21252B"/>
                </a:solidFill>
                <a:latin typeface="Yu Gothic"/>
                <a:ea typeface="Yu Gothic"/>
              </a:rPr>
              <a:t>課題:FY27以降、商業施設イベントにおける「会いに行く理由」=リアル集客機能に空白が生まれます。</a:t>
            </a:r>
          </a:p>
          <a:p>
            <a:pPr algn="l">
              <a:spcAft>
                <a:spcPts val="1200"/>
              </a:spcAft>
            </a:pPr>
            <a:r>
              <a:rPr sz="1100" b="1">
                <a:solidFill>
                  <a:srgbClr val="D60012"/>
                </a:solidFill>
                <a:latin typeface="Yu Gothic"/>
                <a:ea typeface="Yu Gothic"/>
              </a:rPr>
              <a:t>● </a:t>
            </a:r>
            <a:r>
              <a:rPr sz="1400" b="0">
                <a:solidFill>
                  <a:srgbClr val="21252B"/>
                </a:solidFill>
                <a:latin typeface="Yu Gothic"/>
                <a:ea typeface="Yu Gothic"/>
              </a:rPr>
              <a:t>解決:現行IPの置き換えではなく、リアルイベント集客機能をウルトラマンで補完します。2026年7月10日にシリーズ60周年を迎える追い風もあります。</a:t>
            </a:r>
          </a:p>
          <a:p>
            <a:pPr algn="l">
              <a:spcAft>
                <a:spcPts val="1200"/>
              </a:spcAft>
            </a:pPr>
            <a:r>
              <a:rPr sz="1100" b="1">
                <a:solidFill>
                  <a:srgbClr val="D60012"/>
                </a:solidFill>
                <a:latin typeface="Yu Gothic"/>
                <a:ea typeface="Yu Gothic"/>
              </a:rPr>
              <a:t>● </a:t>
            </a:r>
            <a:r>
              <a:rPr sz="1400" b="0">
                <a:solidFill>
                  <a:srgbClr val="21252B"/>
                </a:solidFill>
                <a:latin typeface="Yu Gothic"/>
                <a:ea typeface="Yu Gothic"/>
              </a:rPr>
              <a:t>仕組み:ヒーロー撮影会・館内ミッションラリー・デジタル隊員証で商業施設に呼び込み、SoftBankショップの相談(スマホ・BB・でんき)へ自然に送客します。</a:t>
            </a:r>
          </a:p>
          <a:p>
            <a:pPr algn="l">
              <a:spcAft>
                <a:spcPts val="1200"/>
              </a:spcAft>
            </a:pPr>
            <a:r>
              <a:rPr sz="1100" b="1">
                <a:solidFill>
                  <a:srgbClr val="D60012"/>
                </a:solidFill>
                <a:latin typeface="Yu Gothic"/>
                <a:ea typeface="Yu Gothic"/>
              </a:rPr>
              <a:t>● </a:t>
            </a:r>
            <a:r>
              <a:rPr sz="1400" b="1">
                <a:solidFill>
                  <a:srgbClr val="21252B"/>
                </a:solidFill>
                <a:latin typeface="Yu Gothic"/>
                <a:ea typeface="Yu Gothic"/>
              </a:rPr>
              <a:t>ご提案:A案3,500万円(短期検証)/B案1億5,000万円(FY27年間・推奨)/C案2億5,000万円(60周年大型展開)。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本提案の位置づけ:コンシューマ事業のリアル接点拡張施策</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単なるキャラクターコラボではなく、貴社コンシューマ事業の成長に直結する施策としてご提案します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3</a:t>
            </a:r>
          </a:p>
        </p:txBody>
      </p:sp>
      <p:sp>
        <p:nvSpPr>
          <p:cNvPr id="8" name="TextBox 7"/>
          <p:cNvSpPr txBox="1"/>
          <p:nvPr/>
        </p:nvSpPr>
        <p:spPr>
          <a:xfrm>
            <a:off x="777240" y="1600200"/>
            <a:ext cx="10789920" cy="1554480"/>
          </a:xfrm>
          <a:prstGeom prst="rect">
            <a:avLst/>
          </a:prstGeom>
          <a:noFill/>
        </p:spPr>
        <p:txBody>
          <a:bodyPr wrap="square" anchor="t" lIns="0" rIns="0" tIns="0" bIns="0">
            <a:spAutoFit/>
          </a:bodyPr>
          <a:lstStyle/>
          <a:p>
            <a:pPr algn="l">
              <a:spcAft>
                <a:spcPts val="1000"/>
              </a:spcAft>
            </a:pPr>
            <a:r>
              <a:rPr sz="1050" b="1">
                <a:solidFill>
                  <a:srgbClr val="D60012"/>
                </a:solidFill>
                <a:latin typeface="Yu Gothic"/>
                <a:ea typeface="Yu Gothic"/>
              </a:rPr>
              <a:t>● </a:t>
            </a:r>
            <a:r>
              <a:rPr sz="1350" b="0">
                <a:solidFill>
                  <a:srgbClr val="21252B"/>
                </a:solidFill>
                <a:latin typeface="Yu Gothic"/>
                <a:ea typeface="Yu Gothic"/>
              </a:rPr>
              <a:t>貴社コンシューマ事業は、付加価値サービスを備えた料金プランの浸透、グループ経済圏の活用、長期利用が期待できるユーザー層の獲得・定着を通じ、モバイルサービス売上とセグメント利益の継続成長を掲げていらっしゃいます。</a:t>
            </a:r>
          </a:p>
          <a:p>
            <a:pPr algn="l">
              <a:spcAft>
                <a:spcPts val="1000"/>
              </a:spcAft>
            </a:pPr>
            <a:r>
              <a:rPr sz="1050" b="1">
                <a:solidFill>
                  <a:srgbClr val="D60012"/>
                </a:solidFill>
                <a:latin typeface="Yu Gothic"/>
                <a:ea typeface="Yu Gothic"/>
              </a:rPr>
              <a:t>● </a:t>
            </a:r>
            <a:r>
              <a:rPr sz="1350" b="0">
                <a:solidFill>
                  <a:srgbClr val="21252B"/>
                </a:solidFill>
                <a:latin typeface="Yu Gothic"/>
                <a:ea typeface="Yu Gothic"/>
              </a:rPr>
              <a:t>SoftBank/ワイモバイル/LINEMOのマルチブランド展開も、大きな競争優位と拝察しております。</a:t>
            </a:r>
          </a:p>
          <a:p>
            <a:pPr algn="l">
              <a:spcAft>
                <a:spcPts val="1000"/>
              </a:spcAft>
            </a:pPr>
            <a:r>
              <a:rPr sz="1050" b="1">
                <a:solidFill>
                  <a:srgbClr val="D60012"/>
                </a:solidFill>
                <a:latin typeface="Yu Gothic"/>
                <a:ea typeface="Yu Gothic"/>
              </a:rPr>
              <a:t>● </a:t>
            </a:r>
            <a:r>
              <a:rPr sz="1350" b="0">
                <a:solidFill>
                  <a:srgbClr val="21252B"/>
                </a:solidFill>
                <a:latin typeface="Yu Gothic"/>
                <a:ea typeface="Yu Gothic"/>
              </a:rPr>
              <a:t>本企画は、この戦略に対して「商業施設でのリアル顧客接点の創出」という形で貢献するものです。</a:t>
            </a:r>
          </a:p>
        </p:txBody>
      </p:sp>
      <p:sp>
        <p:nvSpPr>
          <p:cNvPr id="9" name="Rounded Rectangle 8"/>
          <p:cNvSpPr/>
          <p:nvPr/>
        </p:nvSpPr>
        <p:spPr>
          <a:xfrm>
            <a:off x="777240" y="3794760"/>
            <a:ext cx="10607040" cy="1554480"/>
          </a:xfrm>
          <a:prstGeom prst="roundRect">
            <a:avLst>
              <a:gd name="adj" fmla="val 8000"/>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4041648"/>
            <a:ext cx="9875520" cy="1188720"/>
          </a:xfrm>
          <a:prstGeom prst="rect">
            <a:avLst/>
          </a:prstGeom>
          <a:noFill/>
        </p:spPr>
        <p:txBody>
          <a:bodyPr wrap="square" anchor="t" lIns="0" rIns="0" tIns="0" bIns="0">
            <a:spAutoFit/>
          </a:bodyPr>
          <a:lstStyle/>
          <a:p>
            <a:pPr algn="l">
              <a:spcAft>
                <a:spcPts val="600"/>
              </a:spcAft>
            </a:pPr>
            <a:r>
              <a:rPr sz="1300" b="1">
                <a:solidFill>
                  <a:srgbClr val="E8B4B8"/>
                </a:solidFill>
                <a:latin typeface="Yu Gothic"/>
                <a:ea typeface="Yu Gothic"/>
              </a:rPr>
              <a:t>本企画の主語</a:t>
            </a:r>
          </a:p>
          <a:p>
            <a:pPr algn="l">
              <a:spcAft>
                <a:spcPts val="600"/>
              </a:spcAft>
            </a:pPr>
            <a:r>
              <a:rPr sz="1700" b="1">
                <a:solidFill>
                  <a:srgbClr val="FFFFFF"/>
                </a:solidFill>
                <a:latin typeface="Yu Gothic"/>
                <a:ea typeface="Yu Gothic"/>
              </a:rPr>
              <a:t>ウルトラマン60周年を活用し、商業施設に親子・ファミリーを呼び込み、</a:t>
            </a:r>
          </a:p>
          <a:p>
            <a:pPr algn="l">
              <a:spcAft>
                <a:spcPts val="600"/>
              </a:spcAft>
            </a:pPr>
            <a:r>
              <a:rPr sz="1700" b="1">
                <a:solidFill>
                  <a:srgbClr val="FFFFFF"/>
                </a:solidFill>
                <a:latin typeface="Yu Gothic"/>
                <a:ea typeface="Yu Gothic"/>
              </a:rPr>
              <a:t>SoftBankショップ・BB・でんき・モバイル相談へ送客する、コンシューマ事業成長施策。</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現行キャラクターIP施策の整理(ご共有いただいた前提)</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FY27以降もコンテンツ活用は継続予定。ただし着ぐるみ活用が終了し、リアル集客機能に課題が残ります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4</a:t>
            </a:r>
          </a:p>
        </p:txBody>
      </p:sp>
      <p:graphicFrame>
        <p:nvGraphicFramePr>
          <p:cNvPr id="8" name="Table 7"/>
          <p:cNvGraphicFramePr>
            <a:graphicFrameLocks noGrp="1"/>
          </p:cNvGraphicFramePr>
          <p:nvPr/>
        </p:nvGraphicFramePr>
        <p:xfrm>
          <a:off x="640080" y="1600200"/>
          <a:ext cx="7406639" cy="3072384"/>
        </p:xfrm>
        <a:graphic>
          <a:graphicData uri="http://schemas.openxmlformats.org/drawingml/2006/table">
            <a:tbl>
              <a:tblPr firstRow="1" bandRow="1">
                <a:tableStyleId>{5C22544A-7EE6-4342-B048-85BDC9FD1C3A}</a:tableStyleId>
              </a:tblPr>
              <a:tblGrid>
                <a:gridCol w="2178423"/>
                <a:gridCol w="5228216"/>
              </a:tblGrid>
              <a:tr h="384048">
                <a:tc>
                  <a:txBody>
                    <a:bodyPr/>
                    <a:lstStyle/>
                    <a:p>
                      <a:r>
                        <a:rPr sz="1150" b="1">
                          <a:solidFill>
                            <a:srgbClr val="FFFFFF"/>
                          </a:solidFill>
                          <a:latin typeface="Yu Gothic"/>
                          <a:ea typeface="Yu Gothic"/>
                        </a:rPr>
                        <a:t>項目</a:t>
                      </a:r>
                    </a:p>
                  </a:txBody>
                  <a:tcPr anchor="ctr" marL="73152" marR="73152" marT="18288" marB="18288">
                    <a:solidFill>
                      <a:srgbClr val="121A2E"/>
                    </a:solidFill>
                  </a:tcPr>
                </a:tc>
                <a:tc>
                  <a:txBody>
                    <a:bodyPr/>
                    <a:lstStyle/>
                    <a:p>
                      <a:r>
                        <a:rPr sz="1150" b="1">
                          <a:solidFill>
                            <a:srgbClr val="FFFFFF"/>
                          </a:solidFill>
                          <a:latin typeface="Yu Gothic"/>
                          <a:ea typeface="Yu Gothic"/>
                        </a:rPr>
                        <a:t>現状</a:t>
                      </a:r>
                    </a:p>
                  </a:txBody>
                  <a:tcPr anchor="ctr" marL="73152" marR="73152" marT="18288" marB="18288">
                    <a:solidFill>
                      <a:srgbClr val="121A2E"/>
                    </a:solidFill>
                  </a:tcPr>
                </a:tc>
              </a:tr>
              <a:tr h="384048">
                <a:tc>
                  <a:txBody>
                    <a:bodyPr/>
                    <a:lstStyle/>
                    <a:p>
                      <a:r>
                        <a:rPr sz="1150" b="0">
                          <a:solidFill>
                            <a:srgbClr val="21252B"/>
                          </a:solidFill>
                          <a:latin typeface="Yu Gothic"/>
                          <a:ea typeface="Yu Gothic"/>
                        </a:rPr>
                        <a:t>契約形態</a:t>
                      </a:r>
                    </a:p>
                  </a:txBody>
                  <a:tcPr anchor="ctr" marL="73152" marR="73152" marT="18288" marB="18288">
                    <a:solidFill>
                      <a:srgbClr val="FFFFFF"/>
                    </a:solidFill>
                  </a:tcPr>
                </a:tc>
                <a:tc>
                  <a:txBody>
                    <a:bodyPr/>
                    <a:lstStyle/>
                    <a:p>
                      <a:r>
                        <a:rPr sz="1150" b="0">
                          <a:solidFill>
                            <a:srgbClr val="21252B"/>
                          </a:solidFill>
                          <a:latin typeface="Yu Gothic"/>
                          <a:ea typeface="Yu Gothic"/>
                        </a:rPr>
                        <a:t>年度単位(4月〜3月)での契約</a:t>
                      </a:r>
                    </a:p>
                  </a:txBody>
                  <a:tcPr anchor="ctr" marL="73152" marR="73152" marT="18288" marB="18288">
                    <a:solidFill>
                      <a:srgbClr val="FFFFFF"/>
                    </a:solidFill>
                  </a:tcPr>
                </a:tc>
              </a:tr>
              <a:tr h="384048">
                <a:tc>
                  <a:txBody>
                    <a:bodyPr/>
                    <a:lstStyle/>
                    <a:p>
                      <a:r>
                        <a:rPr sz="1150" b="0">
                          <a:solidFill>
                            <a:srgbClr val="21252B"/>
                          </a:solidFill>
                          <a:latin typeface="Yu Gothic"/>
                          <a:ea typeface="Yu Gothic"/>
                        </a:rPr>
                        <a:t>利用可能領域</a:t>
                      </a:r>
                    </a:p>
                  </a:txBody>
                  <a:tcPr anchor="ctr" marL="73152" marR="73152" marT="18288" marB="18288">
                    <a:solidFill>
                      <a:srgbClr val="F2F4F6"/>
                    </a:solidFill>
                  </a:tcPr>
                </a:tc>
                <a:tc>
                  <a:txBody>
                    <a:bodyPr/>
                    <a:lstStyle/>
                    <a:p>
                      <a:r>
                        <a:rPr sz="1150" b="0">
                          <a:solidFill>
                            <a:srgbClr val="21252B"/>
                          </a:solidFill>
                          <a:latin typeface="Yu Gothic"/>
                          <a:ea typeface="Yu Gothic"/>
                        </a:rPr>
                        <a:t>イベント、BB、でんき</a:t>
                      </a:r>
                    </a:p>
                  </a:txBody>
                  <a:tcPr anchor="ctr" marL="73152" marR="73152" marT="18288" marB="18288">
                    <a:solidFill>
                      <a:srgbClr val="F2F4F6"/>
                    </a:solidFill>
                  </a:tcPr>
                </a:tc>
              </a:tr>
              <a:tr h="384048">
                <a:tc>
                  <a:txBody>
                    <a:bodyPr/>
                    <a:lstStyle/>
                    <a:p>
                      <a:r>
                        <a:rPr sz="1150" b="0">
                          <a:solidFill>
                            <a:srgbClr val="21252B"/>
                          </a:solidFill>
                          <a:latin typeface="Yu Gothic"/>
                          <a:ea typeface="Yu Gothic"/>
                        </a:rPr>
                        <a:t>ノベルティ</a:t>
                      </a:r>
                    </a:p>
                  </a:txBody>
                  <a:tcPr anchor="ctr" marL="73152" marR="73152" marT="18288" marB="18288">
                    <a:solidFill>
                      <a:srgbClr val="FFFFFF"/>
                    </a:solidFill>
                  </a:tcPr>
                </a:tc>
                <a:tc>
                  <a:txBody>
                    <a:bodyPr/>
                    <a:lstStyle/>
                    <a:p>
                      <a:r>
                        <a:rPr sz="1150" b="0">
                          <a:solidFill>
                            <a:srgbClr val="21252B"/>
                          </a:solidFill>
                          <a:latin typeface="Yu Gothic"/>
                          <a:ea typeface="Yu Gothic"/>
                        </a:rPr>
                        <a:t>作成数制限なし(数量に応じた許諾対価が別途必要)</a:t>
                      </a:r>
                    </a:p>
                  </a:txBody>
                  <a:tcPr anchor="ctr" marL="73152" marR="73152" marT="18288" marB="18288">
                    <a:solidFill>
                      <a:srgbClr val="FFFFFF"/>
                    </a:solidFill>
                  </a:tcPr>
                </a:tc>
              </a:tr>
              <a:tr h="384048">
                <a:tc>
                  <a:txBody>
                    <a:bodyPr/>
                    <a:lstStyle/>
                    <a:p>
                      <a:r>
                        <a:rPr sz="1150" b="0">
                          <a:solidFill>
                            <a:srgbClr val="21252B"/>
                          </a:solidFill>
                          <a:latin typeface="Yu Gothic"/>
                          <a:ea typeface="Yu Gothic"/>
                        </a:rPr>
                        <a:t>他コンテンツ制限</a:t>
                      </a:r>
                    </a:p>
                  </a:txBody>
                  <a:tcPr anchor="ctr" marL="73152" marR="73152" marT="18288" marB="18288">
                    <a:solidFill>
                      <a:srgbClr val="F2F4F6"/>
                    </a:solidFill>
                  </a:tcPr>
                </a:tc>
                <a:tc>
                  <a:txBody>
                    <a:bodyPr/>
                    <a:lstStyle/>
                    <a:p>
                      <a:r>
                        <a:rPr sz="1150" b="0">
                          <a:solidFill>
                            <a:srgbClr val="21252B"/>
                          </a:solidFill>
                          <a:latin typeface="Yu Gothic"/>
                          <a:ea typeface="Yu Gothic"/>
                        </a:rPr>
                        <a:t>なし(他IPとの併用が可能)</a:t>
                      </a:r>
                    </a:p>
                  </a:txBody>
                  <a:tcPr anchor="ctr" marL="73152" marR="73152" marT="18288" marB="18288">
                    <a:solidFill>
                      <a:srgbClr val="F2F4F6"/>
                    </a:solidFill>
                  </a:tcPr>
                </a:tc>
              </a:tr>
              <a:tr h="384048">
                <a:tc>
                  <a:txBody>
                    <a:bodyPr/>
                    <a:lstStyle/>
                    <a:p>
                      <a:r>
                        <a:rPr sz="1150" b="0">
                          <a:solidFill>
                            <a:srgbClr val="21252B"/>
                          </a:solidFill>
                          <a:latin typeface="Yu Gothic"/>
                          <a:ea typeface="Yu Gothic"/>
                        </a:rPr>
                        <a:t>着ぐるみ活用</a:t>
                      </a:r>
                    </a:p>
                  </a:txBody>
                  <a:tcPr anchor="ctr" marL="73152" marR="73152" marT="18288" marB="18288">
                    <a:solidFill>
                      <a:srgbClr val="FFFFFF"/>
                    </a:solidFill>
                  </a:tcPr>
                </a:tc>
                <a:tc>
                  <a:txBody>
                    <a:bodyPr/>
                    <a:lstStyle/>
                    <a:p>
                      <a:r>
                        <a:rPr sz="1150" b="1">
                          <a:solidFill>
                            <a:srgbClr val="21252B"/>
                          </a:solidFill>
                          <a:latin typeface="Yu Gothic"/>
                          <a:ea typeface="Yu Gothic"/>
                        </a:rPr>
                        <a:t>FY26 3月まで</a:t>
                      </a:r>
                    </a:p>
                  </a:txBody>
                  <a:tcPr anchor="ctr" marL="73152" marR="73152" marT="18288" marB="18288">
                    <a:solidFill>
                      <a:srgbClr val="FFFFFF"/>
                    </a:solidFill>
                  </a:tcPr>
                </a:tc>
              </a:tr>
              <a:tr h="384048">
                <a:tc>
                  <a:txBody>
                    <a:bodyPr/>
                    <a:lstStyle/>
                    <a:p>
                      <a:r>
                        <a:rPr sz="1150" b="0">
                          <a:solidFill>
                            <a:srgbClr val="21252B"/>
                          </a:solidFill>
                          <a:latin typeface="Yu Gothic"/>
                          <a:ea typeface="Yu Gothic"/>
                        </a:rPr>
                        <a:t>FY27以降</a:t>
                      </a:r>
                    </a:p>
                  </a:txBody>
                  <a:tcPr anchor="ctr" marL="73152" marR="73152" marT="18288" marB="18288">
                    <a:solidFill>
                      <a:srgbClr val="F2F4F6"/>
                    </a:solidFill>
                  </a:tcPr>
                </a:tc>
                <a:tc>
                  <a:txBody>
                    <a:bodyPr/>
                    <a:lstStyle/>
                    <a:p>
                      <a:r>
                        <a:rPr sz="1150" b="1">
                          <a:solidFill>
                            <a:srgbClr val="D60012"/>
                          </a:solidFill>
                          <a:latin typeface="Yu Gothic"/>
                          <a:ea typeface="Yu Gothic"/>
                        </a:rPr>
                        <a:t>コンテンツ活用は継続予定。ただし着ぐるみ活用は終了</a:t>
                      </a:r>
                    </a:p>
                  </a:txBody>
                  <a:tcPr anchor="ctr" marL="73152" marR="73152" marT="18288" marB="18288">
                    <a:solidFill>
                      <a:srgbClr val="F2F4F6"/>
                    </a:solidFill>
                  </a:tcPr>
                </a:tc>
              </a:tr>
              <a:tr h="384048">
                <a:tc>
                  <a:txBody>
                    <a:bodyPr/>
                    <a:lstStyle/>
                    <a:p>
                      <a:r>
                        <a:rPr sz="1150" b="0">
                          <a:solidFill>
                            <a:srgbClr val="21252B"/>
                          </a:solidFill>
                          <a:latin typeface="Yu Gothic"/>
                          <a:ea typeface="Yu Gothic"/>
                        </a:rPr>
                        <a:t>その他</a:t>
                      </a:r>
                    </a:p>
                  </a:txBody>
                  <a:tcPr anchor="ctr" marL="73152" marR="73152" marT="18288" marB="18288">
                    <a:solidFill>
                      <a:srgbClr val="FFFFFF"/>
                    </a:solidFill>
                  </a:tcPr>
                </a:tc>
                <a:tc>
                  <a:txBody>
                    <a:bodyPr/>
                    <a:lstStyle/>
                    <a:p>
                      <a:r>
                        <a:rPr sz="1150" b="0">
                          <a:solidFill>
                            <a:srgbClr val="21252B"/>
                          </a:solidFill>
                          <a:latin typeface="Yu Gothic"/>
                          <a:ea typeface="Yu Gothic"/>
                        </a:rPr>
                        <a:t>複数のキャラクターIP活用も並行してご検討中</a:t>
                      </a:r>
                    </a:p>
                  </a:txBody>
                  <a:tcPr anchor="ctr" marL="73152" marR="73152" marT="18288" marB="18288">
                    <a:solidFill>
                      <a:srgbClr val="FFFFFF"/>
                    </a:solidFill>
                  </a:tcPr>
                </a:tc>
              </a:tr>
            </a:tbl>
          </a:graphicData>
        </a:graphic>
      </p:graphicFrame>
      <p:sp>
        <p:nvSpPr>
          <p:cNvPr id="9" name="Rectangle 8"/>
          <p:cNvSpPr/>
          <p:nvPr/>
        </p:nvSpPr>
        <p:spPr>
          <a:xfrm>
            <a:off x="8275320" y="1600200"/>
            <a:ext cx="3383280" cy="34747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1828800"/>
            <a:ext cx="2926080" cy="3108960"/>
          </a:xfrm>
          <a:prstGeom prst="rect">
            <a:avLst/>
          </a:prstGeom>
          <a:noFill/>
        </p:spPr>
        <p:txBody>
          <a:bodyPr wrap="square" anchor="t" lIns="0" rIns="0" tIns="0" bIns="0">
            <a:spAutoFit/>
          </a:bodyPr>
          <a:lstStyle/>
          <a:p>
            <a:pPr algn="l">
              <a:spcAft>
                <a:spcPts val="1000"/>
              </a:spcAft>
            </a:pPr>
            <a:r>
              <a:rPr sz="1400" b="1">
                <a:solidFill>
                  <a:srgbClr val="D60012"/>
                </a:solidFill>
                <a:latin typeface="Yu Gothic"/>
                <a:ea typeface="Yu Gothic"/>
              </a:rPr>
              <a:t>ここからの論点</a:t>
            </a:r>
          </a:p>
          <a:p>
            <a:pPr algn="l">
              <a:spcAft>
                <a:spcPts val="1000"/>
              </a:spcAft>
            </a:pPr>
            <a:r>
              <a:rPr sz="1250" b="0">
                <a:solidFill>
                  <a:srgbClr val="21252B"/>
                </a:solidFill>
                <a:latin typeface="Yu Gothic"/>
                <a:ea typeface="Yu Gothic"/>
              </a:rPr>
              <a:t>① 現行IPはBB・でんき・既存コンテンツで継続活用が有効</a:t>
            </a:r>
          </a:p>
          <a:p>
            <a:pPr algn="l">
              <a:spcAft>
                <a:spcPts val="1000"/>
              </a:spcAft>
            </a:pPr>
            <a:r>
              <a:rPr sz="1250" b="0">
                <a:solidFill>
                  <a:srgbClr val="21252B"/>
                </a:solidFill>
                <a:latin typeface="Yu Gothic"/>
                <a:ea typeface="Yu Gothic"/>
              </a:rPr>
              <a:t>② ただしFY27以降、リアルイベントの「目的来館」機能に空白が生まれる</a:t>
            </a:r>
          </a:p>
          <a:p>
            <a:pPr algn="l">
              <a:spcAft>
                <a:spcPts val="1000"/>
              </a:spcAft>
            </a:pPr>
            <a:r>
              <a:rPr sz="1250" b="1">
                <a:solidFill>
                  <a:srgbClr val="21252B"/>
                </a:solidFill>
                <a:latin typeface="Yu Gothic"/>
                <a:ea typeface="Yu Gothic"/>
              </a:rPr>
              <a:t>③ その空白を補完できるIPが必要になる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FY27以降の課題:リアル集客機能の空白</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着ぐるみ利用不可により、商業施設イベントの「会いに行く理由」が弱まります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5</a:t>
            </a:r>
          </a:p>
        </p:txBody>
      </p:sp>
      <p:sp>
        <p:nvSpPr>
          <p:cNvPr id="8" name="Rounded Rectangle 7"/>
          <p:cNvSpPr/>
          <p:nvPr/>
        </p:nvSpPr>
        <p:spPr>
          <a:xfrm>
            <a:off x="1097280" y="1645920"/>
            <a:ext cx="5852160" cy="566928"/>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50" b="0">
                <a:solidFill>
                  <a:srgbClr val="21252B"/>
                </a:solidFill>
                <a:latin typeface="Yu Gothic"/>
                <a:ea typeface="Yu Gothic"/>
              </a:rPr>
              <a:t>現行IPのコンテンツ活用はFY27以降も継続</a:t>
            </a:r>
          </a:p>
        </p:txBody>
      </p:sp>
      <p:sp>
        <p:nvSpPr>
          <p:cNvPr id="9" name="Down Arrow 8"/>
          <p:cNvSpPr/>
          <p:nvPr/>
        </p:nvSpPr>
        <p:spPr>
          <a:xfrm>
            <a:off x="3941064" y="2226564"/>
            <a:ext cx="164592" cy="228600"/>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97280" y="2468880"/>
            <a:ext cx="5852160" cy="566928"/>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50" b="0">
                <a:solidFill>
                  <a:srgbClr val="21252B"/>
                </a:solidFill>
                <a:latin typeface="Yu Gothic"/>
                <a:ea typeface="Yu Gothic"/>
              </a:rPr>
              <a:t>ただし、着ぐるみは利用不可</a:t>
            </a:r>
          </a:p>
        </p:txBody>
      </p:sp>
      <p:sp>
        <p:nvSpPr>
          <p:cNvPr id="11" name="Down Arrow 10"/>
          <p:cNvSpPr/>
          <p:nvPr/>
        </p:nvSpPr>
        <p:spPr>
          <a:xfrm>
            <a:off x="3941064" y="3049524"/>
            <a:ext cx="164592" cy="228600"/>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97280" y="3291840"/>
            <a:ext cx="5852160" cy="566928"/>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50" b="0">
                <a:solidFill>
                  <a:srgbClr val="21252B"/>
                </a:solidFill>
                <a:latin typeface="Yu Gothic"/>
                <a:ea typeface="Yu Gothic"/>
              </a:rPr>
              <a:t>「会いに行く理由」「写真を撮る理由」「親子で参加する理由」が弱まる</a:t>
            </a:r>
          </a:p>
        </p:txBody>
      </p:sp>
      <p:sp>
        <p:nvSpPr>
          <p:cNvPr id="13" name="Down Arrow 12"/>
          <p:cNvSpPr/>
          <p:nvPr/>
        </p:nvSpPr>
        <p:spPr>
          <a:xfrm>
            <a:off x="3941064" y="3872484"/>
            <a:ext cx="164592" cy="228600"/>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97280" y="4114800"/>
            <a:ext cx="5852160" cy="566928"/>
          </a:xfrm>
          <a:prstGeom prst="roundRect">
            <a:avLst>
              <a:gd name="adj" fmla="val 16000"/>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50" b="1">
                <a:solidFill>
                  <a:srgbClr val="FFFFFF"/>
                </a:solidFill>
                <a:latin typeface="Yu Gothic"/>
                <a:ea typeface="Yu Gothic"/>
              </a:rPr>
              <a:t>商業施設イベントでのリアル集客機能に空白</a:t>
            </a:r>
          </a:p>
        </p:txBody>
      </p:sp>
      <p:sp>
        <p:nvSpPr>
          <p:cNvPr id="15" name="Rectangle 14"/>
          <p:cNvSpPr/>
          <p:nvPr/>
        </p:nvSpPr>
        <p:spPr>
          <a:xfrm>
            <a:off x="7498079" y="1645920"/>
            <a:ext cx="4160520" cy="35661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1874519"/>
            <a:ext cx="3657600" cy="3200400"/>
          </a:xfrm>
          <a:prstGeom prst="rect">
            <a:avLst/>
          </a:prstGeom>
          <a:noFill/>
        </p:spPr>
        <p:txBody>
          <a:bodyPr wrap="square" anchor="t" lIns="0" rIns="0" tIns="0" bIns="0">
            <a:spAutoFit/>
          </a:bodyPr>
          <a:lstStyle/>
          <a:p>
            <a:pPr algn="l">
              <a:spcAft>
                <a:spcPts val="900"/>
              </a:spcAft>
            </a:pPr>
            <a:r>
              <a:rPr sz="1400" b="1">
                <a:solidFill>
                  <a:srgbClr val="D60012"/>
                </a:solidFill>
                <a:latin typeface="Yu Gothic"/>
                <a:ea typeface="Yu Gothic"/>
              </a:rPr>
              <a:t>FY27の店頭イベントに必要なもの</a:t>
            </a:r>
          </a:p>
          <a:p>
            <a:pPr algn="l">
              <a:spcAft>
                <a:spcPts val="900"/>
              </a:spcAft>
            </a:pPr>
            <a:r>
              <a:rPr sz="1500" b="1">
                <a:solidFill>
                  <a:srgbClr val="21252B"/>
                </a:solidFill>
                <a:latin typeface="Yu Gothic"/>
                <a:ea typeface="Yu Gothic"/>
              </a:rPr>
              <a:t>親子・ファミリーを商業施設へ呼び込める「リアル集客コンテンツ」</a:t>
            </a:r>
          </a:p>
          <a:p>
            <a:pPr algn="l">
              <a:spcAft>
                <a:spcPts val="900"/>
              </a:spcAft>
            </a:pPr>
            <a:r>
              <a:rPr sz="1250" b="0">
                <a:solidFill>
                  <a:srgbClr val="21252B"/>
                </a:solidFill>
                <a:latin typeface="Yu Gothic"/>
                <a:ea typeface="Yu Gothic"/>
              </a:rPr>
              <a:t>・ヒーローの登場/撮影会</a:t>
            </a:r>
          </a:p>
          <a:p>
            <a:pPr algn="l">
              <a:spcAft>
                <a:spcPts val="900"/>
              </a:spcAft>
            </a:pPr>
            <a:r>
              <a:rPr sz="1250" b="0">
                <a:solidFill>
                  <a:srgbClr val="21252B"/>
                </a:solidFill>
                <a:latin typeface="Yu Gothic"/>
                <a:ea typeface="Yu Gothic"/>
              </a:rPr>
              <a:t>・ステージ/館内ラリーとの親和性</a:t>
            </a:r>
          </a:p>
          <a:p>
            <a:pPr algn="l">
              <a:spcAft>
                <a:spcPts val="900"/>
              </a:spcAft>
            </a:pPr>
            <a:r>
              <a:rPr sz="1250" b="0">
                <a:solidFill>
                  <a:srgbClr val="21252B"/>
                </a:solidFill>
                <a:latin typeface="Yu Gothic"/>
                <a:ea typeface="Yu Gothic"/>
              </a:rPr>
              <a:t>・親子二世代での認知</a:t>
            </a:r>
          </a:p>
          <a:p>
            <a:pPr algn="l">
              <a:spcAft>
                <a:spcPts val="900"/>
              </a:spcAft>
            </a:pPr>
            <a:r>
              <a:rPr sz="1250" b="0">
                <a:solidFill>
                  <a:srgbClr val="21252B"/>
                </a:solidFill>
                <a:latin typeface="Yu Gothic"/>
                <a:ea typeface="Yu Gothic"/>
              </a:rPr>
              <a:t>・通信・家族・暮らし・未来との文脈接続</a:t>
            </a:r>
          </a:p>
        </p:txBody>
      </p:sp>
      <p:sp>
        <p:nvSpPr>
          <p:cNvPr id="17" name="TextBox 16"/>
          <p:cNvSpPr txBox="1"/>
          <p:nvPr/>
        </p:nvSpPr>
        <p:spPr>
          <a:xfrm>
            <a:off x="777240" y="5532120"/>
            <a:ext cx="10789920" cy="640080"/>
          </a:xfrm>
          <a:prstGeom prst="rect">
            <a:avLst/>
          </a:prstGeom>
          <a:noFill/>
        </p:spPr>
        <p:txBody>
          <a:bodyPr wrap="square" anchor="t" lIns="0" rIns="0" tIns="0" bIns="0">
            <a:spAutoFit/>
          </a:bodyPr>
          <a:lstStyle/>
          <a:p>
            <a:pPr algn="l">
              <a:spcAft>
                <a:spcPts val="600"/>
              </a:spcAft>
            </a:pPr>
            <a:r>
              <a:rPr sz="1500" b="1">
                <a:solidFill>
                  <a:srgbClr val="D60012"/>
                </a:solidFill>
                <a:latin typeface="Yu Gothic"/>
                <a:ea typeface="Yu Gothic"/>
              </a:rPr>
              <a:t>答え:</a:t>
            </a:r>
            <a:r>
              <a:rPr sz="1500" b="1">
                <a:solidFill>
                  <a:srgbClr val="21252B"/>
                </a:solidFill>
                <a:latin typeface="Yu Gothic"/>
                <a:ea typeface="Yu Gothic"/>
              </a:rPr>
              <a:t>現行IPを置き換えるのではなく、FY27以降担いにくくなる“リアルイベント集客機能”をウルトラマンで補完する。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IPポートフォリオにおけるウルトラマンの役割</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既存IPと競合させず、役割分担で全体最適を作ります(独占は求めない前提)</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6</a:t>
            </a:r>
          </a:p>
        </p:txBody>
      </p:sp>
      <p:graphicFrame>
        <p:nvGraphicFramePr>
          <p:cNvPr id="8" name="Table 7"/>
          <p:cNvGraphicFramePr>
            <a:graphicFrameLocks noGrp="1"/>
          </p:cNvGraphicFramePr>
          <p:nvPr/>
        </p:nvGraphicFramePr>
        <p:xfrm>
          <a:off x="640080" y="1691640"/>
          <a:ext cx="10881359" cy="2267712"/>
        </p:xfrm>
        <a:graphic>
          <a:graphicData uri="http://schemas.openxmlformats.org/drawingml/2006/table">
            <a:tbl>
              <a:tblPr firstRow="1" bandRow="1">
                <a:tableStyleId>{5C22544A-7EE6-4342-B048-85BDC9FD1C3A}</a:tableStyleId>
              </a:tblPr>
              <a:tblGrid>
                <a:gridCol w="3520440"/>
                <a:gridCol w="7360919"/>
              </a:tblGrid>
              <a:tr h="566928">
                <a:tc>
                  <a:txBody>
                    <a:bodyPr/>
                    <a:lstStyle/>
                    <a:p>
                      <a:r>
                        <a:rPr sz="1150" b="1">
                          <a:solidFill>
                            <a:srgbClr val="FFFFFF"/>
                          </a:solidFill>
                          <a:latin typeface="Yu Gothic"/>
                          <a:ea typeface="Yu Gothic"/>
                        </a:rPr>
                        <a:t>IP</a:t>
                      </a:r>
                    </a:p>
                  </a:txBody>
                  <a:tcPr anchor="ctr" marL="73152" marR="73152" marT="18288" marB="18288">
                    <a:solidFill>
                      <a:srgbClr val="121A2E"/>
                    </a:solidFill>
                  </a:tcPr>
                </a:tc>
                <a:tc>
                  <a:txBody>
                    <a:bodyPr/>
                    <a:lstStyle/>
                    <a:p>
                      <a:r>
                        <a:rPr sz="1150" b="1">
                          <a:solidFill>
                            <a:srgbClr val="FFFFFF"/>
                          </a:solidFill>
                          <a:latin typeface="Yu Gothic"/>
                          <a:ea typeface="Yu Gothic"/>
                        </a:rPr>
                        <a:t>役割</a:t>
                      </a:r>
                    </a:p>
                  </a:txBody>
                  <a:tcPr anchor="ctr" marL="73152" marR="73152" marT="18288" marB="18288">
                    <a:solidFill>
                      <a:srgbClr val="121A2E"/>
                    </a:solidFill>
                  </a:tcPr>
                </a:tc>
              </a:tr>
              <a:tr h="566928">
                <a:tc>
                  <a:txBody>
                    <a:bodyPr/>
                    <a:lstStyle/>
                    <a:p>
                      <a:r>
                        <a:rPr sz="1400" b="0">
                          <a:solidFill>
                            <a:srgbClr val="21252B"/>
                          </a:solidFill>
                          <a:latin typeface="Yu Gothic"/>
                          <a:ea typeface="Yu Gothic"/>
                        </a:rPr>
                        <a:t>現行キャラクターIP</a:t>
                      </a:r>
                    </a:p>
                  </a:txBody>
                  <a:tcPr anchor="ctr" marL="73152" marR="73152" marT="18288" marB="18288">
                    <a:solidFill>
                      <a:srgbClr val="FFFFFF"/>
                    </a:solidFill>
                  </a:tcPr>
                </a:tc>
                <a:tc>
                  <a:txBody>
                    <a:bodyPr/>
                    <a:lstStyle/>
                    <a:p>
                      <a:r>
                        <a:rPr sz="1400" b="0">
                          <a:solidFill>
                            <a:srgbClr val="21252B"/>
                          </a:solidFill>
                          <a:latin typeface="Yu Gothic"/>
                          <a:ea typeface="Yu Gothic"/>
                        </a:rPr>
                        <a:t>BB・でんき・既存コンテンツで継続活用(FY27以降も活用継続)</a:t>
                      </a:r>
                    </a:p>
                  </a:txBody>
                  <a:tcPr anchor="ctr" marL="73152" marR="73152" marT="18288" marB="18288">
                    <a:solidFill>
                      <a:srgbClr val="FFFFFF"/>
                    </a:solidFill>
                  </a:tcPr>
                </a:tc>
              </a:tr>
              <a:tr h="566928">
                <a:tc>
                  <a:txBody>
                    <a:bodyPr/>
                    <a:lstStyle/>
                    <a:p>
                      <a:r>
                        <a:rPr sz="1400" b="0">
                          <a:solidFill>
                            <a:srgbClr val="21252B"/>
                          </a:solidFill>
                          <a:latin typeface="Yu Gothic"/>
                          <a:ea typeface="Yu Gothic"/>
                        </a:rPr>
                        <a:t>かわいい系キャラクターIP(並行ご検討中)</a:t>
                      </a:r>
                    </a:p>
                  </a:txBody>
                  <a:tcPr anchor="ctr" marL="73152" marR="73152" marT="18288" marB="18288">
                    <a:solidFill>
                      <a:srgbClr val="F2F4F6"/>
                    </a:solidFill>
                  </a:tcPr>
                </a:tc>
                <a:tc>
                  <a:txBody>
                    <a:bodyPr/>
                    <a:lstStyle/>
                    <a:p>
                      <a:r>
                        <a:rPr sz="1400" b="0">
                          <a:solidFill>
                            <a:srgbClr val="21252B"/>
                          </a:solidFill>
                          <a:latin typeface="Yu Gothic"/>
                          <a:ea typeface="Yu Gothic"/>
                        </a:rPr>
                        <a:t>SNS拡散、女性・低年齢層向け</a:t>
                      </a:r>
                    </a:p>
                  </a:txBody>
                  <a:tcPr anchor="ctr" marL="73152" marR="73152" marT="18288" marB="18288">
                    <a:solidFill>
                      <a:srgbClr val="F2F4F6"/>
                    </a:solidFill>
                  </a:tcPr>
                </a:tc>
              </a:tr>
              <a:tr h="566928">
                <a:tc>
                  <a:txBody>
                    <a:bodyPr/>
                    <a:lstStyle/>
                    <a:p>
                      <a:r>
                        <a:rPr sz="1400" b="1">
                          <a:solidFill>
                            <a:srgbClr val="D60012"/>
                          </a:solidFill>
                          <a:latin typeface="Yu Gothic"/>
                          <a:ea typeface="Yu Gothic"/>
                        </a:rPr>
                        <a:t>ウルトラマン(本提案)</a:t>
                      </a:r>
                    </a:p>
                  </a:txBody>
                  <a:tcPr anchor="ctr" marL="73152" marR="73152" marT="18288" marB="18288">
                    <a:solidFill>
                      <a:srgbClr val="FFFFFF"/>
                    </a:solidFill>
                  </a:tcPr>
                </a:tc>
                <a:tc>
                  <a:txBody>
                    <a:bodyPr/>
                    <a:lstStyle/>
                    <a:p>
                      <a:r>
                        <a:rPr sz="1400" b="1">
                          <a:solidFill>
                            <a:srgbClr val="21252B"/>
                          </a:solidFill>
                          <a:latin typeface="Yu Gothic"/>
                          <a:ea typeface="Yu Gothic"/>
                        </a:rPr>
                        <a:t>商業施設イベント、親子撮影会、ヒーロー登場、通信・未来・防衛文脈</a:t>
                      </a:r>
                    </a:p>
                  </a:txBody>
                  <a:tcPr anchor="ctr" marL="73152" marR="73152" marT="18288" marB="18288">
                    <a:solidFill>
                      <a:srgbClr val="FFFFFF"/>
                    </a:solidFill>
                  </a:tcPr>
                </a:tc>
              </a:tr>
            </a:tbl>
          </a:graphicData>
        </a:graphic>
      </p:graphicFrame>
      <p:sp>
        <p:nvSpPr>
          <p:cNvPr id="9" name="Rectangle 8"/>
          <p:cNvSpPr/>
          <p:nvPr/>
        </p:nvSpPr>
        <p:spPr>
          <a:xfrm>
            <a:off x="640080" y="4114800"/>
            <a:ext cx="10881360" cy="1463040"/>
          </a:xfrm>
          <a:prstGeom prst="rect">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343400"/>
            <a:ext cx="10332720" cy="1097280"/>
          </a:xfrm>
          <a:prstGeom prst="rect">
            <a:avLst/>
          </a:prstGeom>
          <a:noFill/>
        </p:spPr>
        <p:txBody>
          <a:bodyPr wrap="square" anchor="t" lIns="0" rIns="0" tIns="0" bIns="0">
            <a:spAutoFit/>
          </a:bodyPr>
          <a:lstStyle/>
          <a:p>
            <a:pPr algn="l">
              <a:spcAft>
                <a:spcPts val="800"/>
              </a:spcAft>
            </a:pPr>
            <a:r>
              <a:rPr sz="1600" b="1">
                <a:solidFill>
                  <a:srgbClr val="D60012"/>
                </a:solidFill>
                <a:latin typeface="Yu Gothic"/>
                <a:ea typeface="Yu Gothic"/>
              </a:rPr>
              <a:t>ウルトラマンの位置づけ = 「リアルイベント集客IP」</a:t>
            </a:r>
          </a:p>
          <a:p>
            <a:pPr algn="l">
              <a:spcAft>
                <a:spcPts val="800"/>
              </a:spcAft>
            </a:pPr>
            <a:r>
              <a:rPr sz="1400" b="0">
                <a:solidFill>
                  <a:srgbClr val="21252B"/>
                </a:solidFill>
                <a:latin typeface="Yu Gothic"/>
                <a:ea typeface="Yu Gothic"/>
              </a:rPr>
              <a:t>ヒーロー登場・撮影会・ステージ・館内ミッションラリーと相性が高く、商業施設に人を呼ぶイベントの核になれる。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なぜ今、ウルトラマンなのか — 60周年「with U」との接続</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2026年7月10日にシリーズ60周年。公式60周年プロジェクトのコアメッセージ「with U」はSoftBankコンシューマ事業と好相性です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7</a:t>
            </a:r>
          </a:p>
        </p:txBody>
      </p:sp>
      <p:graphicFrame>
        <p:nvGraphicFramePr>
          <p:cNvPr id="8" name="Table 7"/>
          <p:cNvGraphicFramePr>
            <a:graphicFrameLocks noGrp="1"/>
          </p:cNvGraphicFramePr>
          <p:nvPr/>
        </p:nvGraphicFramePr>
        <p:xfrm>
          <a:off x="640080" y="1645920"/>
          <a:ext cx="10881360" cy="2743200"/>
        </p:xfrm>
        <a:graphic>
          <a:graphicData uri="http://schemas.openxmlformats.org/drawingml/2006/table">
            <a:tbl>
              <a:tblPr firstRow="1" bandRow="1">
                <a:tableStyleId>{5C22544A-7EE6-4342-B048-85BDC9FD1C3A}</a:tableStyleId>
              </a:tblPr>
              <a:tblGrid>
                <a:gridCol w="3400425"/>
                <a:gridCol w="7480935"/>
              </a:tblGrid>
              <a:tr h="457200">
                <a:tc>
                  <a:txBody>
                    <a:bodyPr/>
                    <a:lstStyle/>
                    <a:p>
                      <a:r>
                        <a:rPr sz="1150" b="1">
                          <a:solidFill>
                            <a:srgbClr val="FFFFFF"/>
                          </a:solidFill>
                          <a:latin typeface="Yu Gothic"/>
                          <a:ea typeface="Yu Gothic"/>
                        </a:rPr>
                        <a:t>ウルトラマンの文脈</a:t>
                      </a:r>
                    </a:p>
                  </a:txBody>
                  <a:tcPr anchor="ctr" marL="73152" marR="73152" marT="18288" marB="18288">
                    <a:solidFill>
                      <a:srgbClr val="121A2E"/>
                    </a:solidFill>
                  </a:tcPr>
                </a:tc>
                <a:tc>
                  <a:txBody>
                    <a:bodyPr/>
                    <a:lstStyle/>
                    <a:p>
                      <a:r>
                        <a:rPr sz="1150" b="1">
                          <a:solidFill>
                            <a:srgbClr val="FFFFFF"/>
                          </a:solidFill>
                          <a:latin typeface="Yu Gothic"/>
                          <a:ea typeface="Yu Gothic"/>
                        </a:rPr>
                        <a:t>SoftBank側の接続</a:t>
                      </a:r>
                    </a:p>
                  </a:txBody>
                  <a:tcPr anchor="ctr" marL="73152" marR="73152" marT="18288" marB="18288">
                    <a:solidFill>
                      <a:srgbClr val="121A2E"/>
                    </a:solidFill>
                  </a:tcPr>
                </a:tc>
              </a:tr>
              <a:tr h="457200">
                <a:tc>
                  <a:txBody>
                    <a:bodyPr/>
                    <a:lstStyle/>
                    <a:p>
                      <a:r>
                        <a:rPr sz="1350" b="0">
                          <a:solidFill>
                            <a:srgbClr val="21252B"/>
                          </a:solidFill>
                          <a:latin typeface="Yu Gothic"/>
                          <a:ea typeface="Yu Gothic"/>
                        </a:rPr>
                        <a:t>守る</a:t>
                      </a:r>
                    </a:p>
                  </a:txBody>
                  <a:tcPr anchor="ctr" marL="73152" marR="73152" marT="18288" marB="18288">
                    <a:solidFill>
                      <a:srgbClr val="FFFFFF"/>
                    </a:solidFill>
                  </a:tcPr>
                </a:tc>
                <a:tc>
                  <a:txBody>
                    <a:bodyPr/>
                    <a:lstStyle/>
                    <a:p>
                      <a:r>
                        <a:rPr sz="1350" b="0">
                          <a:solidFill>
                            <a:srgbClr val="21252B"/>
                          </a:solidFill>
                          <a:latin typeface="Yu Gothic"/>
                          <a:ea typeface="Yu Gothic"/>
                        </a:rPr>
                        <a:t>家族のスマホ安全、通信の安心、暮らしの電気</a:t>
                      </a:r>
                    </a:p>
                  </a:txBody>
                  <a:tcPr anchor="ctr" marL="73152" marR="73152" marT="18288" marB="18288">
                    <a:solidFill>
                      <a:srgbClr val="FFFFFF"/>
                    </a:solidFill>
                  </a:tcPr>
                </a:tc>
              </a:tr>
              <a:tr h="457200">
                <a:tc>
                  <a:txBody>
                    <a:bodyPr/>
                    <a:lstStyle/>
                    <a:p>
                      <a:r>
                        <a:rPr sz="1350" b="0">
                          <a:solidFill>
                            <a:srgbClr val="21252B"/>
                          </a:solidFill>
                          <a:latin typeface="Yu Gothic"/>
                          <a:ea typeface="Yu Gothic"/>
                        </a:rPr>
                        <a:t>つながる</a:t>
                      </a:r>
                    </a:p>
                  </a:txBody>
                  <a:tcPr anchor="ctr" marL="73152" marR="73152" marT="18288" marB="18288">
                    <a:solidFill>
                      <a:srgbClr val="F2F4F6"/>
                    </a:solidFill>
                  </a:tcPr>
                </a:tc>
                <a:tc>
                  <a:txBody>
                    <a:bodyPr/>
                    <a:lstStyle/>
                    <a:p>
                      <a:r>
                        <a:rPr sz="1350" b="0">
                          <a:solidFill>
                            <a:srgbClr val="21252B"/>
                          </a:solidFill>
                          <a:latin typeface="Yu Gothic"/>
                          <a:ea typeface="Yu Gothic"/>
                        </a:rPr>
                        <a:t>モバイル、BB、Wi-Fi、家族契約</a:t>
                      </a:r>
                    </a:p>
                  </a:txBody>
                  <a:tcPr anchor="ctr" marL="73152" marR="73152" marT="18288" marB="18288">
                    <a:solidFill>
                      <a:srgbClr val="F2F4F6"/>
                    </a:solidFill>
                  </a:tcPr>
                </a:tc>
              </a:tr>
              <a:tr h="457200">
                <a:tc>
                  <a:txBody>
                    <a:bodyPr/>
                    <a:lstStyle/>
                    <a:p>
                      <a:r>
                        <a:rPr sz="1350" b="0">
                          <a:solidFill>
                            <a:srgbClr val="21252B"/>
                          </a:solidFill>
                          <a:latin typeface="Yu Gothic"/>
                          <a:ea typeface="Yu Gothic"/>
                        </a:rPr>
                        <a:t>未来</a:t>
                      </a:r>
                    </a:p>
                  </a:txBody>
                  <a:tcPr anchor="ctr" marL="73152" marR="73152" marT="18288" marB="18288">
                    <a:solidFill>
                      <a:srgbClr val="FFFFFF"/>
                    </a:solidFill>
                  </a:tcPr>
                </a:tc>
                <a:tc>
                  <a:txBody>
                    <a:bodyPr/>
                    <a:lstStyle/>
                    <a:p>
                      <a:r>
                        <a:rPr sz="1350" b="0">
                          <a:solidFill>
                            <a:srgbClr val="21252B"/>
                          </a:solidFill>
                          <a:latin typeface="Yu Gothic"/>
                          <a:ea typeface="Yu Gothic"/>
                        </a:rPr>
                        <a:t>5G、AI、デジタルサービス、次世代の生活</a:t>
                      </a:r>
                    </a:p>
                  </a:txBody>
                  <a:tcPr anchor="ctr" marL="73152" marR="73152" marT="18288" marB="18288">
                    <a:solidFill>
                      <a:srgbClr val="FFFFFF"/>
                    </a:solidFill>
                  </a:tcPr>
                </a:tc>
              </a:tr>
              <a:tr h="457200">
                <a:tc>
                  <a:txBody>
                    <a:bodyPr/>
                    <a:lstStyle/>
                    <a:p>
                      <a:r>
                        <a:rPr sz="1350" b="0">
                          <a:solidFill>
                            <a:srgbClr val="21252B"/>
                          </a:solidFill>
                          <a:latin typeface="Yu Gothic"/>
                          <a:ea typeface="Yu Gothic"/>
                        </a:rPr>
                        <a:t>親子二世代</a:t>
                      </a:r>
                    </a:p>
                  </a:txBody>
                  <a:tcPr anchor="ctr" marL="73152" marR="73152" marT="18288" marB="18288">
                    <a:solidFill>
                      <a:srgbClr val="F2F4F6"/>
                    </a:solidFill>
                  </a:tcPr>
                </a:tc>
                <a:tc>
                  <a:txBody>
                    <a:bodyPr/>
                    <a:lstStyle/>
                    <a:p>
                      <a:r>
                        <a:rPr sz="1350" b="0">
                          <a:solidFill>
                            <a:srgbClr val="21252B"/>
                          </a:solidFill>
                          <a:latin typeface="Yu Gothic"/>
                          <a:ea typeface="Yu Gothic"/>
                        </a:rPr>
                        <a:t>商業施設のファミリー集客</a:t>
                      </a:r>
                    </a:p>
                  </a:txBody>
                  <a:tcPr anchor="ctr" marL="73152" marR="73152" marT="18288" marB="18288">
                    <a:solidFill>
                      <a:srgbClr val="F2F4F6"/>
                    </a:solidFill>
                  </a:tcPr>
                </a:tc>
              </a:tr>
              <a:tr h="457200">
                <a:tc>
                  <a:txBody>
                    <a:bodyPr/>
                    <a:lstStyle/>
                    <a:p>
                      <a:r>
                        <a:rPr sz="1350" b="0">
                          <a:solidFill>
                            <a:srgbClr val="21252B"/>
                          </a:solidFill>
                          <a:latin typeface="Yu Gothic"/>
                          <a:ea typeface="Yu Gothic"/>
                        </a:rPr>
                        <a:t>ヒーロー登場</a:t>
                      </a:r>
                    </a:p>
                  </a:txBody>
                  <a:tcPr anchor="ctr" marL="73152" marR="73152" marT="18288" marB="18288">
                    <a:solidFill>
                      <a:srgbClr val="FFFFFF"/>
                    </a:solidFill>
                  </a:tcPr>
                </a:tc>
                <a:tc>
                  <a:txBody>
                    <a:bodyPr/>
                    <a:lstStyle/>
                    <a:p>
                      <a:r>
                        <a:rPr sz="1350" b="0">
                          <a:solidFill>
                            <a:srgbClr val="21252B"/>
                          </a:solidFill>
                          <a:latin typeface="Yu Gothic"/>
                          <a:ea typeface="Yu Gothic"/>
                        </a:rPr>
                        <a:t>目的来館・撮影会・イベント集客</a:t>
                      </a:r>
                    </a:p>
                  </a:txBody>
                  <a:tcPr anchor="ctr" marL="73152" marR="73152" marT="18288" marB="18288">
                    <a:solidFill>
                      <a:srgbClr val="FFFFFF"/>
                    </a:solidFill>
                  </a:tcPr>
                </a:tc>
              </a:tr>
            </a:tbl>
          </a:graphicData>
        </a:graphic>
      </p:graphicFrame>
      <p:sp>
        <p:nvSpPr>
          <p:cNvPr id="9" name="TextBox 8"/>
          <p:cNvSpPr txBox="1"/>
          <p:nvPr/>
        </p:nvSpPr>
        <p:spPr>
          <a:xfrm>
            <a:off x="777240" y="4617720"/>
            <a:ext cx="10789920" cy="1280160"/>
          </a:xfrm>
          <a:prstGeom prst="rect">
            <a:avLst/>
          </a:prstGeom>
          <a:noFill/>
        </p:spPr>
        <p:txBody>
          <a:bodyPr wrap="square" anchor="t" lIns="0" rIns="0" tIns="0" bIns="0">
            <a:spAutoFit/>
          </a:bodyPr>
          <a:lstStyle/>
          <a:p>
            <a:pPr algn="l">
              <a:spcAft>
                <a:spcPts val="800"/>
              </a:spcAft>
            </a:pPr>
            <a:r>
              <a:rPr sz="1500" b="1">
                <a:solidFill>
                  <a:srgbClr val="D60012"/>
                </a:solidFill>
                <a:latin typeface="Yu Gothic"/>
                <a:ea typeface="Yu Gothic"/>
              </a:rPr>
              <a:t>重要な視点:</a:t>
            </a:r>
            <a:r>
              <a:rPr sz="1500" b="0">
                <a:solidFill>
                  <a:srgbClr val="21252B"/>
                </a:solidFill>
                <a:latin typeface="Yu Gothic"/>
                <a:ea typeface="Yu Gothic"/>
              </a:rPr>
              <a:t>ウルトラマンを「懐かしいIP」として使うのではなく、</a:t>
            </a:r>
          </a:p>
          <a:p>
            <a:pPr algn="l">
              <a:spcAft>
                <a:spcPts val="800"/>
              </a:spcAft>
            </a:pPr>
            <a:r>
              <a:rPr sz="1700" b="1">
                <a:solidFill>
                  <a:srgbClr val="21252B"/>
                </a:solidFill>
                <a:latin typeface="Yu Gothic"/>
                <a:ea typeface="Yu Gothic"/>
              </a:rPr>
              <a:t>通信・家族・暮らし・未来をわかりやすく伝える“体験装置”として使う。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88920"/>
            <a:ext cx="146304" cy="1051560"/>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331720"/>
            <a:ext cx="10058400" cy="548640"/>
          </a:xfrm>
          <a:prstGeom prst="rect">
            <a:avLst/>
          </a:prstGeom>
          <a:noFill/>
        </p:spPr>
        <p:txBody>
          <a:bodyPr wrap="square" anchor="t" lIns="0" rIns="0" tIns="0" bIns="0">
            <a:spAutoFit/>
          </a:bodyPr>
          <a:lstStyle/>
          <a:p>
            <a:pPr algn="l">
              <a:spcAft>
                <a:spcPts val="600"/>
              </a:spcAft>
            </a:pPr>
            <a:r>
              <a:rPr sz="1800" b="1">
                <a:solidFill>
                  <a:srgbClr val="8E949B"/>
                </a:solidFill>
                <a:latin typeface="Yu Gothic"/>
                <a:ea typeface="Yu Gothic"/>
              </a:rPr>
              <a:t>CONCEPT</a:t>
            </a:r>
          </a:p>
        </p:txBody>
      </p:sp>
      <p:sp>
        <p:nvSpPr>
          <p:cNvPr id="5" name="TextBox 4"/>
          <p:cNvSpPr txBox="1"/>
          <p:nvPr/>
        </p:nvSpPr>
        <p:spPr>
          <a:xfrm>
            <a:off x="1234440" y="2788920"/>
            <a:ext cx="10241280" cy="1097280"/>
          </a:xfrm>
          <a:prstGeom prst="rect">
            <a:avLst/>
          </a:prstGeom>
          <a:noFill/>
        </p:spPr>
        <p:txBody>
          <a:bodyPr wrap="square" anchor="t" lIns="0" rIns="0" tIns="0" bIns="0">
            <a:spAutoFit/>
          </a:bodyPr>
          <a:lstStyle/>
          <a:p>
            <a:pPr algn="l">
              <a:spcAft>
                <a:spcPts val="600"/>
              </a:spcAft>
            </a:pPr>
            <a:r>
              <a:rPr sz="3400" b="1">
                <a:solidFill>
                  <a:srgbClr val="FFFFFF"/>
                </a:solidFill>
                <a:latin typeface="Yu Gothic"/>
                <a:ea typeface="Yu Gothic"/>
              </a:rPr>
              <a:t>SoftBank × ウルトラマン 未来防衛隊キャラバン</a:t>
            </a:r>
          </a:p>
        </p:txBody>
      </p:sp>
      <p:sp>
        <p:nvSpPr>
          <p:cNvPr id="6" name="TextBox 5"/>
          <p:cNvSpPr txBox="1"/>
          <p:nvPr/>
        </p:nvSpPr>
        <p:spPr>
          <a:xfrm>
            <a:off x="1234440" y="3977639"/>
            <a:ext cx="9875520" cy="1097280"/>
          </a:xfrm>
          <a:prstGeom prst="rect">
            <a:avLst/>
          </a:prstGeom>
          <a:noFill/>
        </p:spPr>
        <p:txBody>
          <a:bodyPr wrap="square" anchor="t" lIns="0" rIns="0" tIns="0" bIns="0">
            <a:spAutoFit/>
          </a:bodyPr>
          <a:lstStyle/>
          <a:p>
            <a:pPr algn="l">
              <a:spcAft>
                <a:spcPts val="600"/>
              </a:spcAft>
            </a:pPr>
            <a:r>
              <a:rPr sz="1500" b="0">
                <a:solidFill>
                  <a:srgbClr val="C3C9D2"/>
                </a:solidFill>
                <a:latin typeface="Yu Gothic"/>
                <a:ea typeface="Yu Gothic"/>
              </a:rPr>
              <a:t>ウルトラヒーローの登場、親子撮影会、館内ミッションラリー、デジタル隊員証、SoftBankショップでのスマホ・BB・でんき相談を一体化し、
商業施設全体の来館動機を創出する「送客型キャンペーン」</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企画コンセプト</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商業施設とSoftBank、双方に価値が生まれる一体型イベントパッケージ</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9</a:t>
            </a:r>
          </a:p>
        </p:txBody>
      </p:sp>
      <p:sp>
        <p:nvSpPr>
          <p:cNvPr id="8" name="TextBox 7"/>
          <p:cNvSpPr txBox="1"/>
          <p:nvPr/>
        </p:nvSpPr>
        <p:spPr>
          <a:xfrm>
            <a:off x="777240" y="1600200"/>
            <a:ext cx="10789920" cy="1097280"/>
          </a:xfrm>
          <a:prstGeom prst="rect">
            <a:avLst/>
          </a:prstGeom>
          <a:noFill/>
        </p:spPr>
        <p:txBody>
          <a:bodyPr wrap="square" anchor="t" lIns="0" rIns="0" tIns="0" bIns="0">
            <a:spAutoFit/>
          </a:bodyPr>
          <a:lstStyle/>
          <a:p>
            <a:pPr algn="l">
              <a:spcAft>
                <a:spcPts val="800"/>
              </a:spcAft>
            </a:pPr>
            <a:r>
              <a:rPr sz="1550" b="1">
                <a:solidFill>
                  <a:srgbClr val="21252B"/>
                </a:solidFill>
                <a:latin typeface="Yu Gothic"/>
                <a:ea typeface="Yu Gothic"/>
              </a:rPr>
              <a:t>ウルトラマンを店頭イベントの核として活用し、商業施設に親子・ファミリー層を呼び込む送客型キャンペーン。</a:t>
            </a:r>
          </a:p>
          <a:p>
            <a:pPr algn="l">
              <a:spcAft>
                <a:spcPts val="800"/>
              </a:spcAft>
            </a:pPr>
            <a:r>
              <a:rPr sz="1400" b="0">
                <a:solidFill>
                  <a:srgbClr val="5A626B"/>
                </a:solidFill>
                <a:latin typeface="Yu Gothic"/>
                <a:ea typeface="Yu Gothic"/>
              </a:rPr>
              <a:t>ヒーロー登場/親子撮影会/館内ミッションラリー/デジタル隊員証/ショップでのスマホ・BB・でんき相談を一体化。</a:t>
            </a:r>
          </a:p>
        </p:txBody>
      </p:sp>
      <p:sp>
        <p:nvSpPr>
          <p:cNvPr id="9" name="Rounded Rectangle 8"/>
          <p:cNvSpPr/>
          <p:nvPr/>
        </p:nvSpPr>
        <p:spPr>
          <a:xfrm>
            <a:off x="777240" y="2880360"/>
            <a:ext cx="5257800" cy="2834640"/>
          </a:xfrm>
          <a:prstGeom prst="roundRect">
            <a:avLst>
              <a:gd name="adj" fmla="val 5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108960"/>
            <a:ext cx="4709160" cy="2377440"/>
          </a:xfrm>
          <a:prstGeom prst="rect">
            <a:avLst/>
          </a:prstGeom>
          <a:noFill/>
        </p:spPr>
        <p:txBody>
          <a:bodyPr wrap="square" anchor="t" lIns="0" rIns="0" tIns="0" bIns="0">
            <a:spAutoFit/>
          </a:bodyPr>
          <a:lstStyle/>
          <a:p>
            <a:pPr algn="l">
              <a:spcAft>
                <a:spcPts val="900"/>
              </a:spcAft>
            </a:pPr>
            <a:r>
              <a:rPr sz="1500" b="1">
                <a:solidFill>
                  <a:srgbClr val="D60012"/>
                </a:solidFill>
                <a:latin typeface="Yu Gothic"/>
                <a:ea typeface="Yu Gothic"/>
              </a:rPr>
              <a:t>商業施設にとって</a:t>
            </a:r>
          </a:p>
          <a:p>
            <a:pPr algn="l">
              <a:spcAft>
                <a:spcPts val="900"/>
              </a:spcAft>
            </a:pPr>
            <a:r>
              <a:rPr sz="1350" b="0">
                <a:solidFill>
                  <a:srgbClr val="21252B"/>
                </a:solidFill>
                <a:latin typeface="Yu Gothic"/>
                <a:ea typeface="Yu Gothic"/>
              </a:rPr>
              <a:t>・週末・祝日のファミリー集客</a:t>
            </a:r>
          </a:p>
          <a:p>
            <a:pPr algn="l">
              <a:spcAft>
                <a:spcPts val="900"/>
              </a:spcAft>
            </a:pPr>
            <a:r>
              <a:rPr sz="1350" b="0">
                <a:solidFill>
                  <a:srgbClr val="21252B"/>
                </a:solidFill>
                <a:latin typeface="Yu Gothic"/>
                <a:ea typeface="Yu Gothic"/>
              </a:rPr>
              <a:t>・館内回遊の増加</a:t>
            </a:r>
          </a:p>
          <a:p>
            <a:pPr algn="l">
              <a:spcAft>
                <a:spcPts val="900"/>
              </a:spcAft>
            </a:pPr>
            <a:r>
              <a:rPr sz="1350" b="0">
                <a:solidFill>
                  <a:srgbClr val="21252B"/>
                </a:solidFill>
                <a:latin typeface="Yu Gothic"/>
                <a:ea typeface="Yu Gothic"/>
              </a:rPr>
              <a:t>・滞在時間の向上</a:t>
            </a:r>
          </a:p>
          <a:p>
            <a:pPr algn="l">
              <a:spcAft>
                <a:spcPts val="900"/>
              </a:spcAft>
            </a:pPr>
            <a:r>
              <a:rPr sz="1350" b="0">
                <a:solidFill>
                  <a:srgbClr val="21252B"/>
                </a:solidFill>
                <a:latin typeface="Yu Gothic"/>
                <a:ea typeface="Yu Gothic"/>
              </a:rPr>
              <a:t>・テナント全体を盛り上げる参加型イベント</a:t>
            </a:r>
          </a:p>
        </p:txBody>
      </p:sp>
      <p:sp>
        <p:nvSpPr>
          <p:cNvPr id="11" name="Rounded Rectangle 10"/>
          <p:cNvSpPr/>
          <p:nvPr/>
        </p:nvSpPr>
        <p:spPr>
          <a:xfrm>
            <a:off x="6355080" y="2880360"/>
            <a:ext cx="5257800" cy="2834640"/>
          </a:xfrm>
          <a:prstGeom prst="roundRect">
            <a:avLst>
              <a:gd name="adj" fmla="val 5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3108960"/>
            <a:ext cx="4709160" cy="2377440"/>
          </a:xfrm>
          <a:prstGeom prst="rect">
            <a:avLst/>
          </a:prstGeom>
          <a:noFill/>
        </p:spPr>
        <p:txBody>
          <a:bodyPr wrap="square" anchor="t" lIns="0" rIns="0" tIns="0" bIns="0">
            <a:spAutoFit/>
          </a:bodyPr>
          <a:lstStyle/>
          <a:p>
            <a:pPr algn="l">
              <a:spcAft>
                <a:spcPts val="900"/>
              </a:spcAft>
            </a:pPr>
            <a:r>
              <a:rPr sz="1500" b="1">
                <a:solidFill>
                  <a:srgbClr val="D60012"/>
                </a:solidFill>
                <a:latin typeface="Yu Gothic"/>
                <a:ea typeface="Yu Gothic"/>
              </a:rPr>
              <a:t>SoftBankにとって</a:t>
            </a:r>
          </a:p>
          <a:p>
            <a:pPr algn="l">
              <a:spcAft>
                <a:spcPts val="900"/>
              </a:spcAft>
            </a:pPr>
            <a:r>
              <a:rPr sz="1350" b="0">
                <a:solidFill>
                  <a:srgbClr val="21252B"/>
                </a:solidFill>
                <a:latin typeface="Yu Gothic"/>
                <a:ea typeface="Yu Gothic"/>
              </a:rPr>
              <a:t>・店舗前通行量の増加</a:t>
            </a:r>
          </a:p>
          <a:p>
            <a:pPr algn="l">
              <a:spcAft>
                <a:spcPts val="900"/>
              </a:spcAft>
            </a:pPr>
            <a:r>
              <a:rPr sz="1350" b="0">
                <a:solidFill>
                  <a:srgbClr val="21252B"/>
                </a:solidFill>
                <a:latin typeface="Yu Gothic"/>
                <a:ea typeface="Yu Gothic"/>
              </a:rPr>
              <a:t>・相談件数の創出</a:t>
            </a:r>
          </a:p>
          <a:p>
            <a:pPr algn="l">
              <a:spcAft>
                <a:spcPts val="900"/>
              </a:spcAft>
            </a:pPr>
            <a:r>
              <a:rPr sz="1350" b="0">
                <a:solidFill>
                  <a:srgbClr val="21252B"/>
                </a:solidFill>
                <a:latin typeface="Yu Gothic"/>
                <a:ea typeface="Yu Gothic"/>
              </a:rPr>
              <a:t>・家族契約・機種変更への送客</a:t>
            </a:r>
          </a:p>
          <a:p>
            <a:pPr algn="l">
              <a:spcAft>
                <a:spcPts val="900"/>
              </a:spcAft>
            </a:pPr>
            <a:r>
              <a:rPr sz="1350" b="0">
                <a:solidFill>
                  <a:srgbClr val="21252B"/>
                </a:solidFill>
                <a:latin typeface="Yu Gothic"/>
                <a:ea typeface="Yu Gothic"/>
              </a:rPr>
              <a:t>・BB(SoftBank 光/Air)・でんきへの送客</a:t>
            </a:r>
          </a:p>
          <a:p>
            <a:pPr algn="l">
              <a:spcAft>
                <a:spcPts val="900"/>
              </a:spcAft>
            </a:pPr>
            <a:r>
              <a:rPr sz="1350" b="1">
                <a:solidFill>
                  <a:srgbClr val="D60012"/>
                </a:solidFill>
                <a:latin typeface="Yu Gothic"/>
                <a:ea typeface="Yu Gothic"/>
              </a:rPr>
              <a:t>・最終KGI:新規契約(モバイル・BB・でんき)の獲得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中核戦略:「店頭で待つ」から「商業施設へ呼び込む」へ</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すでに来店意思のある人への販促ではなく、来店意向のない層を呼び込み、相談接点へ転換します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10</a:t>
            </a:r>
          </a:p>
        </p:txBody>
      </p:sp>
      <p:sp>
        <p:nvSpPr>
          <p:cNvPr id="8" name="Rounded Rectangle 7"/>
          <p:cNvSpPr/>
          <p:nvPr/>
        </p:nvSpPr>
        <p:spPr>
          <a:xfrm>
            <a:off x="777240" y="1691640"/>
            <a:ext cx="4206240" cy="3931920"/>
          </a:xfrm>
          <a:prstGeom prst="roundRect">
            <a:avLst>
              <a:gd name="adj" fmla="val 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20240"/>
            <a:ext cx="3657600" cy="3383280"/>
          </a:xfrm>
          <a:prstGeom prst="rect">
            <a:avLst/>
          </a:prstGeom>
          <a:noFill/>
        </p:spPr>
        <p:txBody>
          <a:bodyPr wrap="square" anchor="t" lIns="0" rIns="0" tIns="0" bIns="0">
            <a:spAutoFit/>
          </a:bodyPr>
          <a:lstStyle/>
          <a:p>
            <a:pPr algn="l">
              <a:spcAft>
                <a:spcPts val="1200"/>
              </a:spcAft>
            </a:pPr>
            <a:r>
              <a:rPr sz="1500" b="1">
                <a:solidFill>
                  <a:srgbClr val="5A626B"/>
                </a:solidFill>
                <a:latin typeface="Yu Gothic"/>
                <a:ea typeface="Yu Gothic"/>
              </a:rPr>
              <a:t>旧来型の店頭施策</a:t>
            </a:r>
          </a:p>
          <a:p>
            <a:pPr algn="l">
              <a:spcAft>
                <a:spcPts val="1200"/>
              </a:spcAft>
            </a:pPr>
            <a:r>
              <a:rPr sz="1400" b="0">
                <a:solidFill>
                  <a:srgbClr val="21252B"/>
                </a:solidFill>
                <a:latin typeface="Yu Gothic"/>
                <a:ea typeface="Yu Gothic"/>
              </a:rPr>
              <a:t>SoftBankショップに来た人へ販促する</a:t>
            </a:r>
          </a:p>
          <a:p>
            <a:pPr algn="l">
              <a:spcAft>
                <a:spcPts val="1200"/>
              </a:spcAft>
            </a:pPr>
            <a:r>
              <a:rPr sz="1300" b="0">
                <a:solidFill>
                  <a:srgbClr val="5A626B"/>
                </a:solidFill>
                <a:latin typeface="Yu Gothic"/>
                <a:ea typeface="Yu Gothic"/>
              </a:rPr>
              <a:t>=すでに来店意思のある人への施策</a:t>
            </a:r>
          </a:p>
          <a:p>
            <a:pPr algn="l">
              <a:spcAft>
                <a:spcPts val="1200"/>
              </a:spcAft>
            </a:pPr>
            <a:r>
              <a:rPr sz="1300" b="0">
                <a:solidFill>
                  <a:srgbClr val="5A626B"/>
                </a:solidFill>
                <a:latin typeface="Yu Gothic"/>
                <a:ea typeface="Yu Gothic"/>
              </a:rPr>
              <a:t>新規の来館動機は作れない</a:t>
            </a:r>
          </a:p>
        </p:txBody>
      </p:sp>
      <p:sp>
        <p:nvSpPr>
          <p:cNvPr id="10" name="Rounded Rectangle 9"/>
          <p:cNvSpPr/>
          <p:nvPr/>
        </p:nvSpPr>
        <p:spPr>
          <a:xfrm>
            <a:off x="5577840" y="1691640"/>
            <a:ext cx="6035040" cy="512064"/>
          </a:xfrm>
          <a:prstGeom prst="roundRect">
            <a:avLst>
              <a:gd name="adj" fmla="val 16000"/>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latin typeface="Yu Gothic"/>
                <a:ea typeface="Yu Gothic"/>
              </a:rPr>
              <a:t>ウルトラマンを目的に商業施設へ来てもらう</a:t>
            </a:r>
          </a:p>
        </p:txBody>
      </p:sp>
      <p:sp>
        <p:nvSpPr>
          <p:cNvPr id="11" name="Down Arrow 10"/>
          <p:cNvSpPr/>
          <p:nvPr/>
        </p:nvSpPr>
        <p:spPr>
          <a:xfrm>
            <a:off x="8513064" y="2217420"/>
            <a:ext cx="164592" cy="155448"/>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577840" y="2386584"/>
            <a:ext cx="6035040" cy="512064"/>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館内イベントに参加してもらう</a:t>
            </a:r>
          </a:p>
        </p:txBody>
      </p:sp>
      <p:sp>
        <p:nvSpPr>
          <p:cNvPr id="13" name="Down Arrow 12"/>
          <p:cNvSpPr/>
          <p:nvPr/>
        </p:nvSpPr>
        <p:spPr>
          <a:xfrm>
            <a:off x="8513064" y="2912364"/>
            <a:ext cx="164592" cy="155448"/>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577840" y="3081528"/>
            <a:ext cx="6035040" cy="512064"/>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SoftBankショップへ送客する</a:t>
            </a:r>
          </a:p>
        </p:txBody>
      </p:sp>
      <p:sp>
        <p:nvSpPr>
          <p:cNvPr id="15" name="Down Arrow 14"/>
          <p:cNvSpPr/>
          <p:nvPr/>
        </p:nvSpPr>
        <p:spPr>
          <a:xfrm>
            <a:off x="8513064" y="3607308"/>
            <a:ext cx="164592" cy="155448"/>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577840" y="3776472"/>
            <a:ext cx="6035040" cy="512064"/>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スマホ・BB・でんき相談へつなげる</a:t>
            </a:r>
          </a:p>
        </p:txBody>
      </p:sp>
      <p:sp>
        <p:nvSpPr>
          <p:cNvPr id="17" name="Down Arrow 16"/>
          <p:cNvSpPr/>
          <p:nvPr/>
        </p:nvSpPr>
        <p:spPr>
          <a:xfrm>
            <a:off x="8513064" y="4302252"/>
            <a:ext cx="164592" cy="155448"/>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577840" y="4471416"/>
            <a:ext cx="6035040" cy="512064"/>
          </a:xfrm>
          <a:prstGeom prst="roundRect">
            <a:avLst>
              <a:gd name="adj" fmla="val 16000"/>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latin typeface="Yu Gothic"/>
                <a:ea typeface="Yu Gothic"/>
              </a:rPr>
              <a:t>見積・予約・申込・後日フォローへ展開する</a:t>
            </a:r>
          </a:p>
        </p:txBody>
      </p:sp>
      <p:sp>
        <p:nvSpPr>
          <p:cNvPr id="19" name="TextBox 18"/>
          <p:cNvSpPr txBox="1"/>
          <p:nvPr/>
        </p:nvSpPr>
        <p:spPr>
          <a:xfrm>
            <a:off x="777240" y="5852160"/>
            <a:ext cx="10789920" cy="548640"/>
          </a:xfrm>
          <a:prstGeom prst="rect">
            <a:avLst/>
          </a:prstGeom>
          <a:noFill/>
        </p:spPr>
        <p:txBody>
          <a:bodyPr wrap="square" anchor="t" lIns="0" rIns="0" tIns="0" bIns="0">
            <a:spAutoFit/>
          </a:bodyPr>
          <a:lstStyle/>
          <a:p>
            <a:pPr algn="l">
              <a:spcAft>
                <a:spcPts val="600"/>
              </a:spcAft>
            </a:pPr>
            <a:r>
              <a:rPr sz="1400" b="1">
                <a:solidFill>
                  <a:srgbClr val="D60012"/>
                </a:solidFill>
                <a:latin typeface="Yu Gothic"/>
                <a:ea typeface="Yu Gothic"/>
              </a:rPr>
              <a:t>本企画の最重要メッセージ:</a:t>
            </a:r>
            <a:r>
              <a:rPr sz="1500" b="1">
                <a:solidFill>
                  <a:srgbClr val="21252B"/>
                </a:solidFill>
                <a:latin typeface="Yu Gothic"/>
                <a:ea typeface="Yu Gothic"/>
              </a:rPr>
              <a:t>店頭で待つ施策ではなく、商業施設に顧客を呼び込む施策。</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商業施設とのWin-Win</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商業施設側の集客課題を解決するイベントパッケージのため、施設側も受け入れやすい企画です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11</a:t>
            </a:r>
          </a:p>
        </p:txBody>
      </p:sp>
      <p:graphicFrame>
        <p:nvGraphicFramePr>
          <p:cNvPr id="8" name="Table 7"/>
          <p:cNvGraphicFramePr>
            <a:graphicFrameLocks noGrp="1"/>
          </p:cNvGraphicFramePr>
          <p:nvPr/>
        </p:nvGraphicFramePr>
        <p:xfrm>
          <a:off x="640080" y="1645920"/>
          <a:ext cx="10881359" cy="3008376"/>
        </p:xfrm>
        <a:graphic>
          <a:graphicData uri="http://schemas.openxmlformats.org/drawingml/2006/table">
            <a:tbl>
              <a:tblPr firstRow="1" bandRow="1">
                <a:tableStyleId>{5C22544A-7EE6-4342-B048-85BDC9FD1C3A}</a:tableStyleId>
              </a:tblPr>
              <a:tblGrid>
                <a:gridCol w="4533900"/>
                <a:gridCol w="6347459"/>
              </a:tblGrid>
              <a:tr h="429768">
                <a:tc>
                  <a:txBody>
                    <a:bodyPr/>
                    <a:lstStyle/>
                    <a:p>
                      <a:r>
                        <a:rPr sz="1150" b="1">
                          <a:solidFill>
                            <a:srgbClr val="FFFFFF"/>
                          </a:solidFill>
                          <a:latin typeface="Yu Gothic"/>
                          <a:ea typeface="Yu Gothic"/>
                        </a:rPr>
                        <a:t>商業施設側の課題</a:t>
                      </a:r>
                    </a:p>
                  </a:txBody>
                  <a:tcPr anchor="ctr" marL="73152" marR="73152" marT="18288" marB="18288">
                    <a:solidFill>
                      <a:srgbClr val="121A2E"/>
                    </a:solidFill>
                  </a:tcPr>
                </a:tc>
                <a:tc>
                  <a:txBody>
                    <a:bodyPr/>
                    <a:lstStyle/>
                    <a:p>
                      <a:r>
                        <a:rPr sz="1150" b="1">
                          <a:solidFill>
                            <a:srgbClr val="FFFFFF"/>
                          </a:solidFill>
                          <a:latin typeface="Yu Gothic"/>
                          <a:ea typeface="Yu Gothic"/>
                        </a:rPr>
                        <a:t>ウルトラマン施策での解決</a:t>
                      </a:r>
                    </a:p>
                  </a:txBody>
                  <a:tcPr anchor="ctr" marL="73152" marR="73152" marT="18288" marB="18288">
                    <a:solidFill>
                      <a:srgbClr val="121A2E"/>
                    </a:solidFill>
                  </a:tcPr>
                </a:tc>
              </a:tr>
              <a:tr h="429768">
                <a:tc>
                  <a:txBody>
                    <a:bodyPr/>
                    <a:lstStyle/>
                    <a:p>
                      <a:r>
                        <a:rPr sz="1300" b="0">
                          <a:solidFill>
                            <a:srgbClr val="21252B"/>
                          </a:solidFill>
                          <a:latin typeface="Yu Gothic"/>
                          <a:ea typeface="Yu Gothic"/>
                        </a:rPr>
                        <a:t>週末・祝日の集客を増やしたい</a:t>
                      </a:r>
                    </a:p>
                  </a:txBody>
                  <a:tcPr anchor="ctr" marL="73152" marR="73152" marT="18288" marB="18288">
                    <a:solidFill>
                      <a:srgbClr val="FFFFFF"/>
                    </a:solidFill>
                  </a:tcPr>
                </a:tc>
                <a:tc>
                  <a:txBody>
                    <a:bodyPr/>
                    <a:lstStyle/>
                    <a:p>
                      <a:r>
                        <a:rPr sz="1300" b="0">
                          <a:solidFill>
                            <a:srgbClr val="21252B"/>
                          </a:solidFill>
                          <a:latin typeface="Yu Gothic"/>
                          <a:ea typeface="Yu Gothic"/>
                        </a:rPr>
                        <a:t>ウルトラマン撮影会で「目的来館」を作る</a:t>
                      </a:r>
                    </a:p>
                  </a:txBody>
                  <a:tcPr anchor="ctr" marL="73152" marR="73152" marT="18288" marB="18288">
                    <a:solidFill>
                      <a:srgbClr val="FFFFFF"/>
                    </a:solidFill>
                  </a:tcPr>
                </a:tc>
              </a:tr>
              <a:tr h="429768">
                <a:tc>
                  <a:txBody>
                    <a:bodyPr/>
                    <a:lstStyle/>
                    <a:p>
                      <a:r>
                        <a:rPr sz="1300" b="0">
                          <a:solidFill>
                            <a:srgbClr val="21252B"/>
                          </a:solidFill>
                          <a:latin typeface="Yu Gothic"/>
                          <a:ea typeface="Yu Gothic"/>
                        </a:rPr>
                        <a:t>親子・ファミリー層を呼びたい</a:t>
                      </a:r>
                    </a:p>
                  </a:txBody>
                  <a:tcPr anchor="ctr" marL="73152" marR="73152" marT="18288" marB="18288">
                    <a:solidFill>
                      <a:srgbClr val="F2F4F6"/>
                    </a:solidFill>
                  </a:tcPr>
                </a:tc>
                <a:tc>
                  <a:txBody>
                    <a:bodyPr/>
                    <a:lstStyle/>
                    <a:p>
                      <a:r>
                        <a:rPr sz="1300" b="0">
                          <a:solidFill>
                            <a:srgbClr val="21252B"/>
                          </a:solidFill>
                          <a:latin typeface="Yu Gothic"/>
                          <a:ea typeface="Yu Gothic"/>
                        </a:rPr>
                        <a:t>親子二世代に認知があるIP</a:t>
                      </a:r>
                    </a:p>
                  </a:txBody>
                  <a:tcPr anchor="ctr" marL="73152" marR="73152" marT="18288" marB="18288">
                    <a:solidFill>
                      <a:srgbClr val="F2F4F6"/>
                    </a:solidFill>
                  </a:tcPr>
                </a:tc>
              </a:tr>
              <a:tr h="429768">
                <a:tc>
                  <a:txBody>
                    <a:bodyPr/>
                    <a:lstStyle/>
                    <a:p>
                      <a:r>
                        <a:rPr sz="1300" b="0">
                          <a:solidFill>
                            <a:srgbClr val="21252B"/>
                          </a:solidFill>
                          <a:latin typeface="Yu Gothic"/>
                          <a:ea typeface="Yu Gothic"/>
                        </a:rPr>
                        <a:t>館内回遊を増やしたい</a:t>
                      </a:r>
                    </a:p>
                  </a:txBody>
                  <a:tcPr anchor="ctr" marL="73152" marR="73152" marT="18288" marB="18288">
                    <a:solidFill>
                      <a:srgbClr val="FFFFFF"/>
                    </a:solidFill>
                  </a:tcPr>
                </a:tc>
                <a:tc>
                  <a:txBody>
                    <a:bodyPr/>
                    <a:lstStyle/>
                    <a:p>
                      <a:r>
                        <a:rPr sz="1300" b="0">
                          <a:solidFill>
                            <a:srgbClr val="21252B"/>
                          </a:solidFill>
                          <a:latin typeface="Yu Gothic"/>
                          <a:ea typeface="Yu Gothic"/>
                        </a:rPr>
                        <a:t>ミッションラリーで複数フロアを回遊</a:t>
                      </a:r>
                    </a:p>
                  </a:txBody>
                  <a:tcPr anchor="ctr" marL="73152" marR="73152" marT="18288" marB="18288">
                    <a:solidFill>
                      <a:srgbClr val="FFFFFF"/>
                    </a:solidFill>
                  </a:tcPr>
                </a:tc>
              </a:tr>
              <a:tr h="429768">
                <a:tc>
                  <a:txBody>
                    <a:bodyPr/>
                    <a:lstStyle/>
                    <a:p>
                      <a:r>
                        <a:rPr sz="1300" b="0">
                          <a:solidFill>
                            <a:srgbClr val="21252B"/>
                          </a:solidFill>
                          <a:latin typeface="Yu Gothic"/>
                          <a:ea typeface="Yu Gothic"/>
                        </a:rPr>
                        <a:t>滞在時間を伸ばしたい</a:t>
                      </a:r>
                    </a:p>
                  </a:txBody>
                  <a:tcPr anchor="ctr" marL="73152" marR="73152" marT="18288" marB="18288">
                    <a:solidFill>
                      <a:srgbClr val="F2F4F6"/>
                    </a:solidFill>
                  </a:tcPr>
                </a:tc>
                <a:tc>
                  <a:txBody>
                    <a:bodyPr/>
                    <a:lstStyle/>
                    <a:p>
                      <a:r>
                        <a:rPr sz="1300" b="0">
                          <a:solidFill>
                            <a:srgbClr val="21252B"/>
                          </a:solidFill>
                          <a:latin typeface="Yu Gothic"/>
                          <a:ea typeface="Yu Gothic"/>
                        </a:rPr>
                        <a:t>ステージ・撮影会・ラリー・相談を組み合わせる</a:t>
                      </a:r>
                    </a:p>
                  </a:txBody>
                  <a:tcPr anchor="ctr" marL="73152" marR="73152" marT="18288" marB="18288">
                    <a:solidFill>
                      <a:srgbClr val="F2F4F6"/>
                    </a:solidFill>
                  </a:tcPr>
                </a:tc>
              </a:tr>
              <a:tr h="429768">
                <a:tc>
                  <a:txBody>
                    <a:bodyPr/>
                    <a:lstStyle/>
                    <a:p>
                      <a:r>
                        <a:rPr sz="1300" b="0">
                          <a:solidFill>
                            <a:srgbClr val="21252B"/>
                          </a:solidFill>
                          <a:latin typeface="Yu Gothic"/>
                          <a:ea typeface="Yu Gothic"/>
                        </a:rPr>
                        <a:t>テナント全体を盛り上げたい</a:t>
                      </a:r>
                    </a:p>
                  </a:txBody>
                  <a:tcPr anchor="ctr" marL="73152" marR="73152" marT="18288" marB="18288">
                    <a:solidFill>
                      <a:srgbClr val="FFFFFF"/>
                    </a:solidFill>
                  </a:tcPr>
                </a:tc>
                <a:tc>
                  <a:txBody>
                    <a:bodyPr/>
                    <a:lstStyle/>
                    <a:p>
                      <a:r>
                        <a:rPr sz="1300" b="0">
                          <a:solidFill>
                            <a:srgbClr val="21252B"/>
                          </a:solidFill>
                          <a:latin typeface="Yu Gothic"/>
                          <a:ea typeface="Yu Gothic"/>
                        </a:rPr>
                        <a:t>館内参加型イベントとして展開できる</a:t>
                      </a:r>
                    </a:p>
                  </a:txBody>
                  <a:tcPr anchor="ctr" marL="73152" marR="73152" marT="18288" marB="18288">
                    <a:solidFill>
                      <a:srgbClr val="FFFFFF"/>
                    </a:solidFill>
                  </a:tcPr>
                </a:tc>
              </a:tr>
              <a:tr h="429768">
                <a:tc>
                  <a:txBody>
                    <a:bodyPr/>
                    <a:lstStyle/>
                    <a:p>
                      <a:r>
                        <a:rPr sz="1300" b="0">
                          <a:solidFill>
                            <a:srgbClr val="21252B"/>
                          </a:solidFill>
                          <a:latin typeface="Yu Gothic"/>
                          <a:ea typeface="Yu Gothic"/>
                        </a:rPr>
                        <a:t>天候に左右されたくない</a:t>
                      </a:r>
                    </a:p>
                  </a:txBody>
                  <a:tcPr anchor="ctr" marL="73152" marR="73152" marT="18288" marB="18288">
                    <a:solidFill>
                      <a:srgbClr val="F2F4F6"/>
                    </a:solidFill>
                  </a:tcPr>
                </a:tc>
                <a:tc>
                  <a:txBody>
                    <a:bodyPr/>
                    <a:lstStyle/>
                    <a:p>
                      <a:r>
                        <a:rPr sz="1300" b="0">
                          <a:solidFill>
                            <a:srgbClr val="21252B"/>
                          </a:solidFill>
                          <a:latin typeface="Yu Gothic"/>
                          <a:ea typeface="Yu Gothic"/>
                        </a:rPr>
                        <a:t>屋内商業施設イベントと相性が高い</a:t>
                      </a:r>
                    </a:p>
                  </a:txBody>
                  <a:tcPr anchor="ctr" marL="73152" marR="73152" marT="18288" marB="18288">
                    <a:solidFill>
                      <a:srgbClr val="F2F4F6"/>
                    </a:solidFill>
                  </a:tcPr>
                </a:tc>
              </a:tr>
            </a:tbl>
          </a:graphicData>
        </a:graphic>
      </p:graphicFrame>
      <p:sp>
        <p:nvSpPr>
          <p:cNvPr id="9" name="TextBox 8"/>
          <p:cNvSpPr txBox="1"/>
          <p:nvPr/>
        </p:nvSpPr>
        <p:spPr>
          <a:xfrm>
            <a:off x="777240" y="4892040"/>
            <a:ext cx="10789920" cy="1097280"/>
          </a:xfrm>
          <a:prstGeom prst="rect">
            <a:avLst/>
          </a:prstGeom>
          <a:noFill/>
        </p:spPr>
        <p:txBody>
          <a:bodyPr wrap="square" anchor="t" lIns="0" rIns="0" tIns="0" bIns="0">
            <a:spAutoFit/>
          </a:bodyPr>
          <a:lstStyle/>
          <a:p>
            <a:pPr algn="l">
              <a:spcAft>
                <a:spcPts val="600"/>
              </a:spcAft>
            </a:pPr>
            <a:r>
              <a:rPr sz="1400" b="0">
                <a:solidFill>
                  <a:srgbClr val="21252B"/>
                </a:solidFill>
                <a:latin typeface="Yu Gothic"/>
                <a:ea typeface="Yu Gothic"/>
              </a:rPr>
              <a:t>SoftBankショップ単体でのイベントよりも、商業施設全体を巻き込むことで、</a:t>
            </a:r>
          </a:p>
          <a:p>
            <a:pPr algn="l">
              <a:spcAft>
                <a:spcPts val="600"/>
              </a:spcAft>
            </a:pPr>
            <a:r>
              <a:rPr sz="1600" b="1">
                <a:solidFill>
                  <a:srgbClr val="D60012"/>
                </a:solidFill>
                <a:latin typeface="Yu Gothic"/>
                <a:ea typeface="Yu Gothic"/>
              </a:rPr>
              <a:t>「来館動機」「館内回遊」「店舗送客」を同時に作れる。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ターゲット</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来店意向のない親子・ファミリー層を中心に、既存ユーザー・他キャリア利用者までカバーします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12</a:t>
            </a:r>
          </a:p>
        </p:txBody>
      </p:sp>
      <p:graphicFrame>
        <p:nvGraphicFramePr>
          <p:cNvPr id="8" name="Table 7"/>
          <p:cNvGraphicFramePr>
            <a:graphicFrameLocks noGrp="1"/>
          </p:cNvGraphicFramePr>
          <p:nvPr/>
        </p:nvGraphicFramePr>
        <p:xfrm>
          <a:off x="640080" y="1600200"/>
          <a:ext cx="6675120" cy="2743200"/>
        </p:xfrm>
        <a:graphic>
          <a:graphicData uri="http://schemas.openxmlformats.org/drawingml/2006/table">
            <a:tbl>
              <a:tblPr firstRow="1" bandRow="1">
                <a:tableStyleId>{5C22544A-7EE6-4342-B048-85BDC9FD1C3A}</a:tableStyleId>
              </a:tblPr>
              <a:tblGrid>
                <a:gridCol w="2670048"/>
                <a:gridCol w="4005072"/>
              </a:tblGrid>
              <a:tr h="457200">
                <a:tc>
                  <a:txBody>
                    <a:bodyPr/>
                    <a:lstStyle/>
                    <a:p>
                      <a:r>
                        <a:rPr sz="1150" b="1">
                          <a:solidFill>
                            <a:srgbClr val="FFFFFF"/>
                          </a:solidFill>
                          <a:latin typeface="Yu Gothic"/>
                          <a:ea typeface="Yu Gothic"/>
                        </a:rPr>
                        <a:t>メインターゲット</a:t>
                      </a:r>
                    </a:p>
                  </a:txBody>
                  <a:tcPr anchor="ctr" marL="73152" marR="73152" marT="18288" marB="18288">
                    <a:solidFill>
                      <a:srgbClr val="121A2E"/>
                    </a:solidFill>
                  </a:tcPr>
                </a:tc>
                <a:tc>
                  <a:txBody>
                    <a:bodyPr/>
                    <a:lstStyle/>
                    <a:p>
                      <a:r>
                        <a:rPr sz="1150" b="1">
                          <a:solidFill>
                            <a:srgbClr val="FFFFFF"/>
                          </a:solidFill>
                          <a:latin typeface="Yu Gothic"/>
                          <a:ea typeface="Yu Gothic"/>
                        </a:rPr>
                        <a:t>狙い</a:t>
                      </a:r>
                    </a:p>
                  </a:txBody>
                  <a:tcPr anchor="ctr" marL="73152" marR="73152" marT="18288" marB="18288">
                    <a:solidFill>
                      <a:srgbClr val="121A2E"/>
                    </a:solidFill>
                  </a:tcPr>
                </a:tc>
              </a:tr>
              <a:tr h="457200">
                <a:tc>
                  <a:txBody>
                    <a:bodyPr/>
                    <a:lstStyle/>
                    <a:p>
                      <a:r>
                        <a:rPr sz="1250" b="0">
                          <a:solidFill>
                            <a:srgbClr val="21252B"/>
                          </a:solidFill>
                          <a:latin typeface="Yu Gothic"/>
                          <a:ea typeface="Yu Gothic"/>
                        </a:rPr>
                        <a:t>親子・ファミリー層</a:t>
                      </a:r>
                    </a:p>
                  </a:txBody>
                  <a:tcPr anchor="ctr" marL="73152" marR="73152" marT="18288" marB="18288">
                    <a:solidFill>
                      <a:srgbClr val="FFFFFF"/>
                    </a:solidFill>
                  </a:tcPr>
                </a:tc>
                <a:tc>
                  <a:txBody>
                    <a:bodyPr/>
                    <a:lstStyle/>
                    <a:p>
                      <a:r>
                        <a:rPr sz="1250" b="0">
                          <a:solidFill>
                            <a:srgbClr val="21252B"/>
                          </a:solidFill>
                          <a:latin typeface="Yu Gothic"/>
                          <a:ea typeface="Yu Gothic"/>
                        </a:rPr>
                        <a:t>目的来館、家族契約、子どもスマホ相談</a:t>
                      </a:r>
                    </a:p>
                  </a:txBody>
                  <a:tcPr anchor="ctr" marL="73152" marR="73152" marT="18288" marB="18288">
                    <a:solidFill>
                      <a:srgbClr val="FFFFFF"/>
                    </a:solidFill>
                  </a:tcPr>
                </a:tc>
              </a:tr>
              <a:tr h="457200">
                <a:tc>
                  <a:txBody>
                    <a:bodyPr/>
                    <a:lstStyle/>
                    <a:p>
                      <a:r>
                        <a:rPr sz="1250" b="0">
                          <a:solidFill>
                            <a:srgbClr val="21252B"/>
                          </a:solidFill>
                          <a:latin typeface="Yu Gothic"/>
                          <a:ea typeface="Yu Gothic"/>
                        </a:rPr>
                        <a:t>30〜50代の保護者</a:t>
                      </a:r>
                    </a:p>
                  </a:txBody>
                  <a:tcPr anchor="ctr" marL="73152" marR="73152" marT="18288" marB="18288">
                    <a:solidFill>
                      <a:srgbClr val="F2F4F6"/>
                    </a:solidFill>
                  </a:tcPr>
                </a:tc>
                <a:tc>
                  <a:txBody>
                    <a:bodyPr/>
                    <a:lstStyle/>
                    <a:p>
                      <a:r>
                        <a:rPr sz="1250" b="0">
                          <a:solidFill>
                            <a:srgbClr val="21252B"/>
                          </a:solidFill>
                          <a:latin typeface="Yu Gothic"/>
                          <a:ea typeface="Yu Gothic"/>
                        </a:rPr>
                        <a:t>家庭の通信費、BB、でんき、機種変更相談</a:t>
                      </a:r>
                    </a:p>
                  </a:txBody>
                  <a:tcPr anchor="ctr" marL="73152" marR="73152" marT="18288" marB="18288">
                    <a:solidFill>
                      <a:srgbClr val="F2F4F6"/>
                    </a:solidFill>
                  </a:tcPr>
                </a:tc>
              </a:tr>
              <a:tr h="457200">
                <a:tc>
                  <a:txBody>
                    <a:bodyPr/>
                    <a:lstStyle/>
                    <a:p>
                      <a:r>
                        <a:rPr sz="1250" b="0">
                          <a:solidFill>
                            <a:srgbClr val="21252B"/>
                          </a:solidFill>
                          <a:latin typeface="Yu Gothic"/>
                          <a:ea typeface="Yu Gothic"/>
                        </a:rPr>
                        <a:t>既存SoftBankユーザー</a:t>
                      </a:r>
                    </a:p>
                  </a:txBody>
                  <a:tcPr anchor="ctr" marL="73152" marR="73152" marT="18288" marB="18288">
                    <a:solidFill>
                      <a:srgbClr val="FFFFFF"/>
                    </a:solidFill>
                  </a:tcPr>
                </a:tc>
                <a:tc>
                  <a:txBody>
                    <a:bodyPr/>
                    <a:lstStyle/>
                    <a:p>
                      <a:r>
                        <a:rPr sz="1250" b="0">
                          <a:solidFill>
                            <a:srgbClr val="21252B"/>
                          </a:solidFill>
                          <a:latin typeface="Yu Gothic"/>
                          <a:ea typeface="Yu Gothic"/>
                        </a:rPr>
                        <a:t>料金見直し、機種変更、BB・でんき追加</a:t>
                      </a:r>
                    </a:p>
                  </a:txBody>
                  <a:tcPr anchor="ctr" marL="73152" marR="73152" marT="18288" marB="18288">
                    <a:solidFill>
                      <a:srgbClr val="FFFFFF"/>
                    </a:solidFill>
                  </a:tcPr>
                </a:tc>
              </a:tr>
              <a:tr h="457200">
                <a:tc>
                  <a:txBody>
                    <a:bodyPr/>
                    <a:lstStyle/>
                    <a:p>
                      <a:r>
                        <a:rPr sz="1250" b="0">
                          <a:solidFill>
                            <a:srgbClr val="21252B"/>
                          </a:solidFill>
                          <a:latin typeface="Yu Gothic"/>
                          <a:ea typeface="Yu Gothic"/>
                        </a:rPr>
                        <a:t>他キャリア利用者</a:t>
                      </a:r>
                    </a:p>
                  </a:txBody>
                  <a:tcPr anchor="ctr" marL="73152" marR="73152" marT="18288" marB="18288">
                    <a:solidFill>
                      <a:srgbClr val="F2F4F6"/>
                    </a:solidFill>
                  </a:tcPr>
                </a:tc>
                <a:tc>
                  <a:txBody>
                    <a:bodyPr/>
                    <a:lstStyle/>
                    <a:p>
                      <a:r>
                        <a:rPr sz="1250" b="0">
                          <a:solidFill>
                            <a:srgbClr val="21252B"/>
                          </a:solidFill>
                          <a:latin typeface="Yu Gothic"/>
                          <a:ea typeface="Yu Gothic"/>
                        </a:rPr>
                        <a:t>料金診断、MNP、ワイモバイル・LINEMO送客</a:t>
                      </a:r>
                    </a:p>
                  </a:txBody>
                  <a:tcPr anchor="ctr" marL="73152" marR="73152" marT="18288" marB="18288">
                    <a:solidFill>
                      <a:srgbClr val="F2F4F6"/>
                    </a:solidFill>
                  </a:tcPr>
                </a:tc>
              </a:tr>
              <a:tr h="457200">
                <a:tc>
                  <a:txBody>
                    <a:bodyPr/>
                    <a:lstStyle/>
                    <a:p>
                      <a:r>
                        <a:rPr sz="1250" b="0">
                          <a:solidFill>
                            <a:srgbClr val="21252B"/>
                          </a:solidFill>
                          <a:latin typeface="Yu Gothic"/>
                          <a:ea typeface="Yu Gothic"/>
                        </a:rPr>
                        <a:t>商業施設来館者</a:t>
                      </a:r>
                    </a:p>
                  </a:txBody>
                  <a:tcPr anchor="ctr" marL="73152" marR="73152" marT="18288" marB="18288">
                    <a:solidFill>
                      <a:srgbClr val="FFFFFF"/>
                    </a:solidFill>
                  </a:tcPr>
                </a:tc>
                <a:tc>
                  <a:txBody>
                    <a:bodyPr/>
                    <a:lstStyle/>
                    <a:p>
                      <a:r>
                        <a:rPr sz="1250" b="0">
                          <a:solidFill>
                            <a:srgbClr val="21252B"/>
                          </a:solidFill>
                          <a:latin typeface="Yu Gothic"/>
                          <a:ea typeface="Yu Gothic"/>
                        </a:rPr>
                        <a:t>偶発接触から相談・予約へ誘導</a:t>
                      </a:r>
                    </a:p>
                  </a:txBody>
                  <a:tcPr anchor="ctr" marL="73152" marR="73152" marT="18288" marB="18288">
                    <a:solidFill>
                      <a:srgbClr val="FFFFFF"/>
                    </a:solidFill>
                  </a:tcPr>
                </a:tc>
              </a:tr>
            </a:tbl>
          </a:graphicData>
        </a:graphic>
      </p:graphicFrame>
      <p:sp>
        <p:nvSpPr>
          <p:cNvPr id="9" name="Rectangle 8"/>
          <p:cNvSpPr/>
          <p:nvPr/>
        </p:nvSpPr>
        <p:spPr>
          <a:xfrm>
            <a:off x="7589520" y="1600200"/>
            <a:ext cx="4069080" cy="41605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1810512"/>
            <a:ext cx="3611880" cy="3840480"/>
          </a:xfrm>
          <a:prstGeom prst="rect">
            <a:avLst/>
          </a:prstGeom>
          <a:noFill/>
        </p:spPr>
        <p:txBody>
          <a:bodyPr wrap="square" anchor="t" lIns="0" rIns="0" tIns="0" bIns="0">
            <a:spAutoFit/>
          </a:bodyPr>
          <a:lstStyle/>
          <a:p>
            <a:pPr algn="l">
              <a:spcAft>
                <a:spcPts val="900"/>
              </a:spcAft>
            </a:pPr>
            <a:r>
              <a:rPr sz="1400" b="1">
                <a:solidFill>
                  <a:srgbClr val="D60012"/>
                </a:solidFill>
                <a:latin typeface="Yu Gothic"/>
                <a:ea typeface="Yu Gothic"/>
              </a:rPr>
              <a:t>特に狙うべき生活者</a:t>
            </a:r>
          </a:p>
          <a:p>
            <a:pPr algn="l">
              <a:spcAft>
                <a:spcPts val="900"/>
              </a:spcAft>
            </a:pPr>
            <a:r>
              <a:rPr sz="1250" b="0">
                <a:solidFill>
                  <a:srgbClr val="21252B"/>
                </a:solidFill>
                <a:latin typeface="Yu Gothic"/>
                <a:ea typeface="Yu Gothic"/>
              </a:rPr>
              <a:t>・子どものスマホを検討している家庭</a:t>
            </a:r>
          </a:p>
          <a:p>
            <a:pPr algn="l">
              <a:spcAft>
                <a:spcPts val="900"/>
              </a:spcAft>
            </a:pPr>
            <a:r>
              <a:rPr sz="1250" b="0">
                <a:solidFill>
                  <a:srgbClr val="21252B"/>
                </a:solidFill>
                <a:latin typeface="Yu Gothic"/>
                <a:ea typeface="Yu Gothic"/>
              </a:rPr>
              <a:t>・家族の通信費を見直したい家庭</a:t>
            </a:r>
          </a:p>
          <a:p>
            <a:pPr algn="l">
              <a:spcAft>
                <a:spcPts val="900"/>
              </a:spcAft>
            </a:pPr>
            <a:r>
              <a:rPr sz="1250" b="0">
                <a:solidFill>
                  <a:srgbClr val="21252B"/>
                </a:solidFill>
                <a:latin typeface="Yu Gothic"/>
                <a:ea typeface="Yu Gothic"/>
              </a:rPr>
              <a:t>・自宅Wi-Fiに不満がある家庭</a:t>
            </a:r>
          </a:p>
          <a:p>
            <a:pPr algn="l">
              <a:spcAft>
                <a:spcPts val="900"/>
              </a:spcAft>
            </a:pPr>
            <a:r>
              <a:rPr sz="1250" b="0">
                <a:solidFill>
                  <a:srgbClr val="21252B"/>
                </a:solidFill>
                <a:latin typeface="Yu Gothic"/>
                <a:ea typeface="Yu Gothic"/>
              </a:rPr>
              <a:t>・電気料金の見直しに関心がある家庭</a:t>
            </a:r>
          </a:p>
          <a:p>
            <a:pPr algn="l">
              <a:spcAft>
                <a:spcPts val="900"/>
              </a:spcAft>
            </a:pPr>
            <a:r>
              <a:rPr sz="1250" b="0">
                <a:solidFill>
                  <a:srgbClr val="21252B"/>
                </a:solidFill>
                <a:latin typeface="Yu Gothic"/>
                <a:ea typeface="Yu Gothic"/>
              </a:rPr>
              <a:t>・商業施設に週末来館する親子</a:t>
            </a:r>
          </a:p>
          <a:p>
            <a:pPr algn="l">
              <a:spcAft>
                <a:spcPts val="900"/>
              </a:spcAft>
            </a:pPr>
            <a:r>
              <a:rPr sz="1250" b="0">
                <a:solidFill>
                  <a:srgbClr val="21252B"/>
                </a:solidFill>
                <a:latin typeface="Yu Gothic"/>
                <a:ea typeface="Yu Gothic"/>
              </a:rPr>
              <a:t>・料金相談のきっかけがない既存ユーザー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ユーザー体験設計(生活者導線)</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認知から来館・参加・相談・申込まで、8ステップの一気通貫導線</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13</a:t>
            </a:r>
          </a:p>
        </p:txBody>
      </p:sp>
      <p:sp>
        <p:nvSpPr>
          <p:cNvPr id="8" name="Rounded Rectangle 7"/>
          <p:cNvSpPr/>
          <p:nvPr/>
        </p:nvSpPr>
        <p:spPr>
          <a:xfrm>
            <a:off x="777240" y="1691640"/>
            <a:ext cx="5212080" cy="566928"/>
          </a:xfrm>
          <a:prstGeom prst="roundRect">
            <a:avLst>
              <a:gd name="adj" fmla="val 16000"/>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latin typeface="Yu Gothic"/>
                <a:ea typeface="Yu Gothic"/>
              </a:rPr>
              <a:t>① SNS・商業施設告知・SoftBank告知でイベントを知る</a:t>
            </a:r>
          </a:p>
        </p:txBody>
      </p:sp>
      <p:sp>
        <p:nvSpPr>
          <p:cNvPr id="9" name="Down Arrow 8"/>
          <p:cNvSpPr/>
          <p:nvPr/>
        </p:nvSpPr>
        <p:spPr>
          <a:xfrm>
            <a:off x="3300984" y="2272284"/>
            <a:ext cx="164592" cy="228600"/>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2514600"/>
            <a:ext cx="5212080" cy="566928"/>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② 週末に親子で商業施設へ来館</a:t>
            </a:r>
          </a:p>
        </p:txBody>
      </p:sp>
      <p:sp>
        <p:nvSpPr>
          <p:cNvPr id="11" name="Down Arrow 10"/>
          <p:cNvSpPr/>
          <p:nvPr/>
        </p:nvSpPr>
        <p:spPr>
          <a:xfrm>
            <a:off x="3300984" y="3095244"/>
            <a:ext cx="164592" cy="228600"/>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3337560"/>
            <a:ext cx="5212080" cy="566928"/>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③ ウルトラマン撮影会・ステージを見る</a:t>
            </a:r>
          </a:p>
        </p:txBody>
      </p:sp>
      <p:sp>
        <p:nvSpPr>
          <p:cNvPr id="13" name="Down Arrow 12"/>
          <p:cNvSpPr/>
          <p:nvPr/>
        </p:nvSpPr>
        <p:spPr>
          <a:xfrm>
            <a:off x="3300984" y="3918204"/>
            <a:ext cx="164592" cy="228600"/>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 y="4160520"/>
            <a:ext cx="5212080" cy="566928"/>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④ 館内ミッションラリーに参加</a:t>
            </a:r>
          </a:p>
        </p:txBody>
      </p:sp>
      <p:sp>
        <p:nvSpPr>
          <p:cNvPr id="15" name="Rounded Rectangle 14"/>
          <p:cNvSpPr/>
          <p:nvPr/>
        </p:nvSpPr>
        <p:spPr>
          <a:xfrm>
            <a:off x="6355080" y="1691640"/>
            <a:ext cx="5212080" cy="566928"/>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⑤ デジタル隊員証を発行</a:t>
            </a:r>
          </a:p>
        </p:txBody>
      </p:sp>
      <p:sp>
        <p:nvSpPr>
          <p:cNvPr id="16" name="Down Arrow 15"/>
          <p:cNvSpPr/>
          <p:nvPr/>
        </p:nvSpPr>
        <p:spPr>
          <a:xfrm>
            <a:off x="8878824" y="2272284"/>
            <a:ext cx="164592" cy="228600"/>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55080" y="2514600"/>
            <a:ext cx="5212080" cy="566928"/>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⑥ SoftBankショップで特典・相談導線に接触</a:t>
            </a:r>
          </a:p>
        </p:txBody>
      </p:sp>
      <p:sp>
        <p:nvSpPr>
          <p:cNvPr id="18" name="Down Arrow 17"/>
          <p:cNvSpPr/>
          <p:nvPr/>
        </p:nvSpPr>
        <p:spPr>
          <a:xfrm>
            <a:off x="8878824" y="3095244"/>
            <a:ext cx="164592" cy="228600"/>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55080" y="3337560"/>
            <a:ext cx="5212080" cy="566928"/>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⑦ スマホ料金診断・家族契約・BB・でんき相談</a:t>
            </a:r>
          </a:p>
        </p:txBody>
      </p:sp>
      <p:sp>
        <p:nvSpPr>
          <p:cNvPr id="20" name="Down Arrow 19"/>
          <p:cNvSpPr/>
          <p:nvPr/>
        </p:nvSpPr>
        <p:spPr>
          <a:xfrm>
            <a:off x="8878824" y="3918204"/>
            <a:ext cx="164592" cy="228600"/>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55080" y="4160520"/>
            <a:ext cx="5212080" cy="566928"/>
          </a:xfrm>
          <a:prstGeom prst="roundRect">
            <a:avLst>
              <a:gd name="adj" fmla="val 16000"/>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latin typeface="Yu Gothic"/>
                <a:ea typeface="Yu Gothic"/>
              </a:rPr>
              <a:t>⑧ 見積・来店予約・オンライン申込・後日フォロー</a:t>
            </a:r>
          </a:p>
        </p:txBody>
      </p:sp>
      <p:sp>
        <p:nvSpPr>
          <p:cNvPr id="22" name="Right Arrow 21"/>
          <p:cNvSpPr/>
          <p:nvPr/>
        </p:nvSpPr>
        <p:spPr>
          <a:xfrm>
            <a:off x="6053328" y="3063240"/>
            <a:ext cx="274320" cy="219456"/>
          </a:xfrm>
          <a:prstGeom prst="right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623560"/>
            <a:ext cx="10789920" cy="731520"/>
          </a:xfrm>
          <a:prstGeom prst="rect">
            <a:avLst/>
          </a:prstGeom>
          <a:noFill/>
        </p:spPr>
        <p:txBody>
          <a:bodyPr wrap="square" anchor="t" lIns="0" rIns="0" tIns="0" bIns="0">
            <a:spAutoFit/>
          </a:bodyPr>
          <a:lstStyle/>
          <a:p>
            <a:pPr algn="l">
              <a:spcAft>
                <a:spcPts val="600"/>
              </a:spcAft>
            </a:pPr>
            <a:r>
              <a:rPr sz="1400" b="1">
                <a:solidFill>
                  <a:srgbClr val="D60012"/>
                </a:solidFill>
                <a:latin typeface="Yu Gothic"/>
                <a:ea typeface="Yu Gothic"/>
              </a:rPr>
              <a:t>ポイント:</a:t>
            </a:r>
            <a:r>
              <a:rPr sz="1400" b="1">
                <a:solidFill>
                  <a:srgbClr val="21252B"/>
                </a:solidFill>
                <a:latin typeface="Yu Gothic"/>
                <a:ea typeface="Yu Gothic"/>
              </a:rPr>
              <a:t>いきなり契約を狙いすぎない。まず「来館・参加・相談・見積・予約」を作り、その後、店舗またはオンラインで申込につなげる。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店頭イベントの具体内容:「ウルトラマン未来防衛隊 in 商業施設」</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集客・回遊・接点化・相談・送客の機能を1パッケージ化した基本メニュー</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14</a:t>
            </a:r>
          </a:p>
        </p:txBody>
      </p:sp>
      <p:graphicFrame>
        <p:nvGraphicFramePr>
          <p:cNvPr id="8" name="Table 7"/>
          <p:cNvGraphicFramePr>
            <a:graphicFrameLocks noGrp="1"/>
          </p:cNvGraphicFramePr>
          <p:nvPr/>
        </p:nvGraphicFramePr>
        <p:xfrm>
          <a:off x="640080" y="1600200"/>
          <a:ext cx="10881358" cy="4197096"/>
        </p:xfrm>
        <a:graphic>
          <a:graphicData uri="http://schemas.openxmlformats.org/drawingml/2006/table">
            <a:tbl>
              <a:tblPr firstRow="1" bandRow="1">
                <a:tableStyleId>{5C22544A-7EE6-4342-B048-85BDC9FD1C3A}</a:tableStyleId>
              </a:tblPr>
              <a:tblGrid>
                <a:gridCol w="2940908"/>
                <a:gridCol w="4705452"/>
                <a:gridCol w="3234998"/>
              </a:tblGrid>
              <a:tr h="466344">
                <a:tc>
                  <a:txBody>
                    <a:bodyPr/>
                    <a:lstStyle/>
                    <a:p>
                      <a:r>
                        <a:rPr sz="1150" b="1">
                          <a:solidFill>
                            <a:srgbClr val="FFFFFF"/>
                          </a:solidFill>
                          <a:latin typeface="Yu Gothic"/>
                          <a:ea typeface="Yu Gothic"/>
                        </a:rPr>
                        <a:t>施策</a:t>
                      </a:r>
                    </a:p>
                  </a:txBody>
                  <a:tcPr anchor="ctr" marL="73152" marR="73152" marT="18288" marB="18288">
                    <a:solidFill>
                      <a:srgbClr val="121A2E"/>
                    </a:solidFill>
                  </a:tcPr>
                </a:tc>
                <a:tc>
                  <a:txBody>
                    <a:bodyPr/>
                    <a:lstStyle/>
                    <a:p>
                      <a:r>
                        <a:rPr sz="1150" b="1">
                          <a:solidFill>
                            <a:srgbClr val="FFFFFF"/>
                          </a:solidFill>
                          <a:latin typeface="Yu Gothic"/>
                          <a:ea typeface="Yu Gothic"/>
                        </a:rPr>
                        <a:t>内容</a:t>
                      </a:r>
                    </a:p>
                  </a:txBody>
                  <a:tcPr anchor="ctr" marL="73152" marR="73152" marT="18288" marB="18288">
                    <a:solidFill>
                      <a:srgbClr val="121A2E"/>
                    </a:solidFill>
                  </a:tcPr>
                </a:tc>
                <a:tc>
                  <a:txBody>
                    <a:bodyPr/>
                    <a:lstStyle/>
                    <a:p>
                      <a:r>
                        <a:rPr sz="1150" b="1">
                          <a:solidFill>
                            <a:srgbClr val="FFFFFF"/>
                          </a:solidFill>
                          <a:latin typeface="Yu Gothic"/>
                          <a:ea typeface="Yu Gothic"/>
                        </a:rPr>
                        <a:t>SoftBankへの効果</a:t>
                      </a:r>
                    </a:p>
                  </a:txBody>
                  <a:tcPr anchor="ctr" marL="73152" marR="73152" marT="18288" marB="18288">
                    <a:solidFill>
                      <a:srgbClr val="121A2E"/>
                    </a:solidFill>
                  </a:tcPr>
                </a:tc>
              </a:tr>
              <a:tr h="466344">
                <a:tc>
                  <a:txBody>
                    <a:bodyPr/>
                    <a:lstStyle/>
                    <a:p>
                      <a:r>
                        <a:rPr sz="1250" b="0">
                          <a:solidFill>
                            <a:srgbClr val="21252B"/>
                          </a:solidFill>
                          <a:latin typeface="Yu Gothic"/>
                          <a:ea typeface="Yu Gothic"/>
                        </a:rPr>
                        <a:t>ウルトラヒーロー撮影会</a:t>
                      </a:r>
                    </a:p>
                  </a:txBody>
                  <a:tcPr anchor="ctr" marL="73152" marR="73152" marT="18288" marB="18288">
                    <a:solidFill>
                      <a:srgbClr val="FFFFFF"/>
                    </a:solidFill>
                  </a:tcPr>
                </a:tc>
                <a:tc>
                  <a:txBody>
                    <a:bodyPr/>
                    <a:lstStyle/>
                    <a:p>
                      <a:r>
                        <a:rPr sz="1250" b="0">
                          <a:solidFill>
                            <a:srgbClr val="21252B"/>
                          </a:solidFill>
                          <a:latin typeface="Yu Gothic"/>
                          <a:ea typeface="Yu Gothic"/>
                        </a:rPr>
                        <a:t>親子で写真撮影</a:t>
                      </a:r>
                    </a:p>
                  </a:txBody>
                  <a:tcPr anchor="ctr" marL="73152" marR="73152" marT="18288" marB="18288">
                    <a:solidFill>
                      <a:srgbClr val="FFFFFF"/>
                    </a:solidFill>
                  </a:tcPr>
                </a:tc>
                <a:tc>
                  <a:txBody>
                    <a:bodyPr/>
                    <a:lstStyle/>
                    <a:p>
                      <a:r>
                        <a:rPr sz="1250" b="0">
                          <a:solidFill>
                            <a:srgbClr val="21252B"/>
                          </a:solidFill>
                          <a:latin typeface="Yu Gothic"/>
                          <a:ea typeface="Yu Gothic"/>
                        </a:rPr>
                        <a:t>目的来館を作る</a:t>
                      </a:r>
                    </a:p>
                  </a:txBody>
                  <a:tcPr anchor="ctr" marL="73152" marR="73152" marT="18288" marB="18288">
                    <a:solidFill>
                      <a:srgbClr val="FFFFFF"/>
                    </a:solidFill>
                  </a:tcPr>
                </a:tc>
              </a:tr>
              <a:tr h="466344">
                <a:tc>
                  <a:txBody>
                    <a:bodyPr/>
                    <a:lstStyle/>
                    <a:p>
                      <a:r>
                        <a:rPr sz="1250" b="0">
                          <a:solidFill>
                            <a:srgbClr val="21252B"/>
                          </a:solidFill>
                          <a:latin typeface="Yu Gothic"/>
                          <a:ea typeface="Yu Gothic"/>
                        </a:rPr>
                        <a:t>未来防衛隊ステージ</a:t>
                      </a:r>
                    </a:p>
                  </a:txBody>
                  <a:tcPr anchor="ctr" marL="73152" marR="73152" marT="18288" marB="18288">
                    <a:solidFill>
                      <a:srgbClr val="F2F4F6"/>
                    </a:solidFill>
                  </a:tcPr>
                </a:tc>
                <a:tc>
                  <a:txBody>
                    <a:bodyPr/>
                    <a:lstStyle/>
                    <a:p>
                      <a:r>
                        <a:rPr sz="1250" b="0">
                          <a:solidFill>
                            <a:srgbClr val="21252B"/>
                          </a:solidFill>
                          <a:latin typeface="Yu Gothic"/>
                          <a:ea typeface="Yu Gothic"/>
                        </a:rPr>
                        <a:t>通信・家族・暮らしの安心がテーマのミニステージ</a:t>
                      </a:r>
                    </a:p>
                  </a:txBody>
                  <a:tcPr anchor="ctr" marL="73152" marR="73152" marT="18288" marB="18288">
                    <a:solidFill>
                      <a:srgbClr val="F2F4F6"/>
                    </a:solidFill>
                  </a:tcPr>
                </a:tc>
                <a:tc>
                  <a:txBody>
                    <a:bodyPr/>
                    <a:lstStyle/>
                    <a:p>
                      <a:r>
                        <a:rPr sz="1250" b="0">
                          <a:solidFill>
                            <a:srgbClr val="21252B"/>
                          </a:solidFill>
                          <a:latin typeface="Yu Gothic"/>
                          <a:ea typeface="Yu Gothic"/>
                        </a:rPr>
                        <a:t>ブランド好意度向上</a:t>
                      </a:r>
                    </a:p>
                  </a:txBody>
                  <a:tcPr anchor="ctr" marL="73152" marR="73152" marT="18288" marB="18288">
                    <a:solidFill>
                      <a:srgbClr val="F2F4F6"/>
                    </a:solidFill>
                  </a:tcPr>
                </a:tc>
              </a:tr>
              <a:tr h="466344">
                <a:tc>
                  <a:txBody>
                    <a:bodyPr/>
                    <a:lstStyle/>
                    <a:p>
                      <a:r>
                        <a:rPr sz="1250" b="0">
                          <a:solidFill>
                            <a:srgbClr val="21252B"/>
                          </a:solidFill>
                          <a:latin typeface="Yu Gothic"/>
                          <a:ea typeface="Yu Gothic"/>
                        </a:rPr>
                        <a:t>館内ミッションラリー</a:t>
                      </a:r>
                    </a:p>
                  </a:txBody>
                  <a:tcPr anchor="ctr" marL="73152" marR="73152" marT="18288" marB="18288">
                    <a:solidFill>
                      <a:srgbClr val="FFFFFF"/>
                    </a:solidFill>
                  </a:tcPr>
                </a:tc>
                <a:tc>
                  <a:txBody>
                    <a:bodyPr/>
                    <a:lstStyle/>
                    <a:p>
                      <a:r>
                        <a:rPr sz="1250" b="0">
                          <a:solidFill>
                            <a:srgbClr val="21252B"/>
                          </a:solidFill>
                          <a:latin typeface="Yu Gothic"/>
                          <a:ea typeface="Yu Gothic"/>
                        </a:rPr>
                        <a:t>館内を回遊しながらミッション達成</a:t>
                      </a:r>
                    </a:p>
                  </a:txBody>
                  <a:tcPr anchor="ctr" marL="73152" marR="73152" marT="18288" marB="18288">
                    <a:solidFill>
                      <a:srgbClr val="FFFFFF"/>
                    </a:solidFill>
                  </a:tcPr>
                </a:tc>
                <a:tc>
                  <a:txBody>
                    <a:bodyPr/>
                    <a:lstStyle/>
                    <a:p>
                      <a:r>
                        <a:rPr sz="1250" b="0">
                          <a:solidFill>
                            <a:srgbClr val="21252B"/>
                          </a:solidFill>
                          <a:latin typeface="Yu Gothic"/>
                          <a:ea typeface="Yu Gothic"/>
                        </a:rPr>
                        <a:t>商業施設回遊、滞在時間向上</a:t>
                      </a:r>
                    </a:p>
                  </a:txBody>
                  <a:tcPr anchor="ctr" marL="73152" marR="73152" marT="18288" marB="18288">
                    <a:solidFill>
                      <a:srgbClr val="FFFFFF"/>
                    </a:solidFill>
                  </a:tcPr>
                </a:tc>
              </a:tr>
              <a:tr h="466344">
                <a:tc>
                  <a:txBody>
                    <a:bodyPr/>
                    <a:lstStyle/>
                    <a:p>
                      <a:r>
                        <a:rPr sz="1250" b="0">
                          <a:solidFill>
                            <a:srgbClr val="21252B"/>
                          </a:solidFill>
                          <a:latin typeface="Yu Gothic"/>
                          <a:ea typeface="Yu Gothic"/>
                        </a:rPr>
                        <a:t>デジタル隊員証</a:t>
                      </a:r>
                    </a:p>
                  </a:txBody>
                  <a:tcPr anchor="ctr" marL="73152" marR="73152" marT="18288" marB="18288">
                    <a:solidFill>
                      <a:srgbClr val="F2F4F6"/>
                    </a:solidFill>
                  </a:tcPr>
                </a:tc>
                <a:tc>
                  <a:txBody>
                    <a:bodyPr/>
                    <a:lstStyle/>
                    <a:p>
                      <a:r>
                        <a:rPr sz="1250" b="0">
                          <a:solidFill>
                            <a:srgbClr val="21252B"/>
                          </a:solidFill>
                          <a:latin typeface="Yu Gothic"/>
                          <a:ea typeface="Yu Gothic"/>
                        </a:rPr>
                        <a:t>QRで参加登録、スマホ上で表示</a:t>
                      </a:r>
                    </a:p>
                  </a:txBody>
                  <a:tcPr anchor="ctr" marL="73152" marR="73152" marT="18288" marB="18288">
                    <a:solidFill>
                      <a:srgbClr val="F2F4F6"/>
                    </a:solidFill>
                  </a:tcPr>
                </a:tc>
                <a:tc>
                  <a:txBody>
                    <a:bodyPr/>
                    <a:lstStyle/>
                    <a:p>
                      <a:r>
                        <a:rPr sz="1250" b="0">
                          <a:solidFill>
                            <a:srgbClr val="21252B"/>
                          </a:solidFill>
                          <a:latin typeface="Yu Gothic"/>
                          <a:ea typeface="Yu Gothic"/>
                        </a:rPr>
                        <a:t>顧客接点化</a:t>
                      </a:r>
                    </a:p>
                  </a:txBody>
                  <a:tcPr anchor="ctr" marL="73152" marR="73152" marT="18288" marB="18288">
                    <a:solidFill>
                      <a:srgbClr val="F2F4F6"/>
                    </a:solidFill>
                  </a:tcPr>
                </a:tc>
              </a:tr>
              <a:tr h="466344">
                <a:tc>
                  <a:txBody>
                    <a:bodyPr/>
                    <a:lstStyle/>
                    <a:p>
                      <a:r>
                        <a:rPr sz="1250" b="0">
                          <a:solidFill>
                            <a:srgbClr val="21252B"/>
                          </a:solidFill>
                          <a:latin typeface="Yu Gothic"/>
                          <a:ea typeface="Yu Gothic"/>
                        </a:rPr>
                        <a:t>家族スマホ安全診断</a:t>
                      </a:r>
                    </a:p>
                  </a:txBody>
                  <a:tcPr anchor="ctr" marL="73152" marR="73152" marT="18288" marB="18288">
                    <a:solidFill>
                      <a:srgbClr val="FFFFFF"/>
                    </a:solidFill>
                  </a:tcPr>
                </a:tc>
                <a:tc>
                  <a:txBody>
                    <a:bodyPr/>
                    <a:lstStyle/>
                    <a:p>
                      <a:r>
                        <a:rPr sz="1250" b="0">
                          <a:solidFill>
                            <a:srgbClr val="21252B"/>
                          </a:solidFill>
                          <a:latin typeface="Yu Gothic"/>
                          <a:ea typeface="Yu Gothic"/>
                        </a:rPr>
                        <a:t>子どものスマホ利用、料金、セキュリティ相談</a:t>
                      </a:r>
                    </a:p>
                  </a:txBody>
                  <a:tcPr anchor="ctr" marL="73152" marR="73152" marT="18288" marB="18288">
                    <a:solidFill>
                      <a:srgbClr val="FFFFFF"/>
                    </a:solidFill>
                  </a:tcPr>
                </a:tc>
                <a:tc>
                  <a:txBody>
                    <a:bodyPr/>
                    <a:lstStyle/>
                    <a:p>
                      <a:r>
                        <a:rPr sz="1250" b="0">
                          <a:solidFill>
                            <a:srgbClr val="21252B"/>
                          </a:solidFill>
                          <a:latin typeface="Yu Gothic"/>
                          <a:ea typeface="Yu Gothic"/>
                        </a:rPr>
                        <a:t>モバイル相談</a:t>
                      </a:r>
                    </a:p>
                  </a:txBody>
                  <a:tcPr anchor="ctr" marL="73152" marR="73152" marT="18288" marB="18288">
                    <a:solidFill>
                      <a:srgbClr val="FFFFFF"/>
                    </a:solidFill>
                  </a:tcPr>
                </a:tc>
              </a:tr>
              <a:tr h="466344">
                <a:tc>
                  <a:txBody>
                    <a:bodyPr/>
                    <a:lstStyle/>
                    <a:p>
                      <a:r>
                        <a:rPr sz="1250" b="0">
                          <a:solidFill>
                            <a:srgbClr val="21252B"/>
                          </a:solidFill>
                          <a:latin typeface="Yu Gothic"/>
                          <a:ea typeface="Yu Gothic"/>
                        </a:rPr>
                        <a:t>おうち通信防衛診断</a:t>
                      </a:r>
                    </a:p>
                  </a:txBody>
                  <a:tcPr anchor="ctr" marL="73152" marR="73152" marT="18288" marB="18288">
                    <a:solidFill>
                      <a:srgbClr val="F2F4F6"/>
                    </a:solidFill>
                  </a:tcPr>
                </a:tc>
                <a:tc>
                  <a:txBody>
                    <a:bodyPr/>
                    <a:lstStyle/>
                    <a:p>
                      <a:r>
                        <a:rPr sz="1250" b="0">
                          <a:solidFill>
                            <a:srgbClr val="21252B"/>
                          </a:solidFill>
                          <a:latin typeface="Yu Gothic"/>
                          <a:ea typeface="Yu Gothic"/>
                        </a:rPr>
                        <a:t>Wi-Fi、BB、通信環境の相談</a:t>
                      </a:r>
                    </a:p>
                  </a:txBody>
                  <a:tcPr anchor="ctr" marL="73152" marR="73152" marT="18288" marB="18288">
                    <a:solidFill>
                      <a:srgbClr val="F2F4F6"/>
                    </a:solidFill>
                  </a:tcPr>
                </a:tc>
                <a:tc>
                  <a:txBody>
                    <a:bodyPr/>
                    <a:lstStyle/>
                    <a:p>
                      <a:r>
                        <a:rPr sz="1250" b="0">
                          <a:solidFill>
                            <a:srgbClr val="21252B"/>
                          </a:solidFill>
                          <a:latin typeface="Yu Gothic"/>
                          <a:ea typeface="Yu Gothic"/>
                        </a:rPr>
                        <a:t>SoftBank 光/Air送客</a:t>
                      </a:r>
                    </a:p>
                  </a:txBody>
                  <a:tcPr anchor="ctr" marL="73152" marR="73152" marT="18288" marB="18288">
                    <a:solidFill>
                      <a:srgbClr val="F2F4F6"/>
                    </a:solidFill>
                  </a:tcPr>
                </a:tc>
              </a:tr>
              <a:tr h="466344">
                <a:tc>
                  <a:txBody>
                    <a:bodyPr/>
                    <a:lstStyle/>
                    <a:p>
                      <a:r>
                        <a:rPr sz="1250" b="0">
                          <a:solidFill>
                            <a:srgbClr val="21252B"/>
                          </a:solidFill>
                          <a:latin typeface="Yu Gothic"/>
                          <a:ea typeface="Yu Gothic"/>
                        </a:rPr>
                        <a:t>くらしの電気防衛診断</a:t>
                      </a:r>
                    </a:p>
                  </a:txBody>
                  <a:tcPr anchor="ctr" marL="73152" marR="73152" marT="18288" marB="18288">
                    <a:solidFill>
                      <a:srgbClr val="FFFFFF"/>
                    </a:solidFill>
                  </a:tcPr>
                </a:tc>
                <a:tc>
                  <a:txBody>
                    <a:bodyPr/>
                    <a:lstStyle/>
                    <a:p>
                      <a:r>
                        <a:rPr sz="1250" b="0">
                          <a:solidFill>
                            <a:srgbClr val="21252B"/>
                          </a:solidFill>
                          <a:latin typeface="Yu Gothic"/>
                          <a:ea typeface="Yu Gothic"/>
                        </a:rPr>
                        <a:t>電気料金、でんき契約の見直し</a:t>
                      </a:r>
                    </a:p>
                  </a:txBody>
                  <a:tcPr anchor="ctr" marL="73152" marR="73152" marT="18288" marB="18288">
                    <a:solidFill>
                      <a:srgbClr val="FFFFFF"/>
                    </a:solidFill>
                  </a:tcPr>
                </a:tc>
                <a:tc>
                  <a:txBody>
                    <a:bodyPr/>
                    <a:lstStyle/>
                    <a:p>
                      <a:r>
                        <a:rPr sz="1250" b="0">
                          <a:solidFill>
                            <a:srgbClr val="21252B"/>
                          </a:solidFill>
                          <a:latin typeface="Yu Gothic"/>
                          <a:ea typeface="Yu Gothic"/>
                        </a:rPr>
                        <a:t>でんき送客</a:t>
                      </a:r>
                    </a:p>
                  </a:txBody>
                  <a:tcPr anchor="ctr" marL="73152" marR="73152" marT="18288" marB="18288">
                    <a:solidFill>
                      <a:srgbClr val="FFFFFF"/>
                    </a:solidFill>
                  </a:tcPr>
                </a:tc>
              </a:tr>
              <a:tr h="466344">
                <a:tc>
                  <a:txBody>
                    <a:bodyPr/>
                    <a:lstStyle/>
                    <a:p>
                      <a:r>
                        <a:rPr sz="1250" b="0">
                          <a:solidFill>
                            <a:srgbClr val="21252B"/>
                          </a:solidFill>
                          <a:latin typeface="Yu Gothic"/>
                          <a:ea typeface="Yu Gothic"/>
                        </a:rPr>
                        <a:t>ショップ限定特典</a:t>
                      </a:r>
                    </a:p>
                  </a:txBody>
                  <a:tcPr anchor="ctr" marL="73152" marR="73152" marT="18288" marB="18288">
                    <a:solidFill>
                      <a:srgbClr val="F2F4F6"/>
                    </a:solidFill>
                  </a:tcPr>
                </a:tc>
                <a:tc>
                  <a:txBody>
                    <a:bodyPr/>
                    <a:lstStyle/>
                    <a:p>
                      <a:r>
                        <a:rPr sz="1250" b="0">
                          <a:solidFill>
                            <a:srgbClr val="21252B"/>
                          </a:solidFill>
                          <a:latin typeface="Yu Gothic"/>
                          <a:ea typeface="Yu Gothic"/>
                        </a:rPr>
                        <a:t>相談・見積でノベルティ</a:t>
                      </a:r>
                    </a:p>
                  </a:txBody>
                  <a:tcPr anchor="ctr" marL="73152" marR="73152" marT="18288" marB="18288">
                    <a:solidFill>
                      <a:srgbClr val="F2F4F6"/>
                    </a:solidFill>
                  </a:tcPr>
                </a:tc>
                <a:tc>
                  <a:txBody>
                    <a:bodyPr/>
                    <a:lstStyle/>
                    <a:p>
                      <a:r>
                        <a:rPr sz="1250" b="0">
                          <a:solidFill>
                            <a:srgbClr val="21252B"/>
                          </a:solidFill>
                          <a:latin typeface="Yu Gothic"/>
                          <a:ea typeface="Yu Gothic"/>
                        </a:rPr>
                        <a:t>店舗送客</a:t>
                      </a:r>
                    </a:p>
                  </a:txBody>
                  <a:tcPr anchor="ctr" marL="73152" marR="73152" marT="18288" marB="18288">
                    <a:solidFill>
                      <a:srgbClr val="F2F4F6"/>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未来防衛隊ミッションラリー</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「基本ミッション(SoftBank固定)」+「拡張ミッション(施設側で追加自由)」の2層設計です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15</a:t>
            </a:r>
          </a:p>
        </p:txBody>
      </p:sp>
      <p:graphicFrame>
        <p:nvGraphicFramePr>
          <p:cNvPr id="8" name="Table 7"/>
          <p:cNvGraphicFramePr>
            <a:graphicFrameLocks noGrp="1"/>
          </p:cNvGraphicFramePr>
          <p:nvPr/>
        </p:nvGraphicFramePr>
        <p:xfrm>
          <a:off x="640080" y="1600200"/>
          <a:ext cx="6857999" cy="3218688"/>
        </p:xfrm>
        <a:graphic>
          <a:graphicData uri="http://schemas.openxmlformats.org/drawingml/2006/table">
            <a:tbl>
              <a:tblPr firstRow="1" bandRow="1">
                <a:tableStyleId>{5C22544A-7EE6-4342-B048-85BDC9FD1C3A}</a:tableStyleId>
              </a:tblPr>
              <a:tblGrid>
                <a:gridCol w="2918297"/>
                <a:gridCol w="3939702"/>
              </a:tblGrid>
              <a:tr h="402336">
                <a:tc>
                  <a:txBody>
                    <a:bodyPr/>
                    <a:lstStyle/>
                    <a:p>
                      <a:r>
                        <a:rPr sz="1150" b="1">
                          <a:solidFill>
                            <a:srgbClr val="FFFFFF"/>
                          </a:solidFill>
                          <a:latin typeface="Yu Gothic"/>
                          <a:ea typeface="Yu Gothic"/>
                        </a:rPr>
                        <a:t>基本ミッション(SoftBank・固定)</a:t>
                      </a:r>
                    </a:p>
                  </a:txBody>
                  <a:tcPr anchor="ctr" marL="73152" marR="73152" marT="18288" marB="18288">
                    <a:solidFill>
                      <a:srgbClr val="121A2E"/>
                    </a:solidFill>
                  </a:tcPr>
                </a:tc>
                <a:tc>
                  <a:txBody>
                    <a:bodyPr/>
                    <a:lstStyle/>
                    <a:p>
                      <a:r>
                        <a:rPr sz="1150" b="1">
                          <a:solidFill>
                            <a:srgbClr val="FFFFFF"/>
                          </a:solidFill>
                          <a:latin typeface="Yu Gothic"/>
                          <a:ea typeface="Yu Gothic"/>
                        </a:rPr>
                        <a:t>目的</a:t>
                      </a:r>
                    </a:p>
                  </a:txBody>
                  <a:tcPr anchor="ctr" marL="73152" marR="73152" marT="18288" marB="18288">
                    <a:solidFill>
                      <a:srgbClr val="121A2E"/>
                    </a:solidFill>
                  </a:tcPr>
                </a:tc>
              </a:tr>
              <a:tr h="402336">
                <a:tc>
                  <a:txBody>
                    <a:bodyPr/>
                    <a:lstStyle/>
                    <a:p>
                      <a:r>
                        <a:rPr sz="1250" b="0">
                          <a:solidFill>
                            <a:srgbClr val="21252B"/>
                          </a:solidFill>
                          <a:latin typeface="Yu Gothic"/>
                          <a:ea typeface="Yu Gothic"/>
                        </a:rPr>
                        <a:t>家族スマホ安全ミッション</a:t>
                      </a:r>
                    </a:p>
                  </a:txBody>
                  <a:tcPr anchor="ctr" marL="73152" marR="73152" marT="18288" marB="18288">
                    <a:solidFill>
                      <a:srgbClr val="FFFFFF"/>
                    </a:solidFill>
                  </a:tcPr>
                </a:tc>
                <a:tc>
                  <a:txBody>
                    <a:bodyPr/>
                    <a:lstStyle/>
                    <a:p>
                      <a:r>
                        <a:rPr sz="1250" b="0">
                          <a:solidFill>
                            <a:srgbClr val="21252B"/>
                          </a:solidFill>
                          <a:latin typeface="Yu Gothic"/>
                          <a:ea typeface="Yu Gothic"/>
                        </a:rPr>
                        <a:t>子どもスマホ・見守り・セキュリティ相談</a:t>
                      </a:r>
                    </a:p>
                  </a:txBody>
                  <a:tcPr anchor="ctr" marL="73152" marR="73152" marT="18288" marB="18288">
                    <a:solidFill>
                      <a:srgbClr val="FFFFFF"/>
                    </a:solidFill>
                  </a:tcPr>
                </a:tc>
              </a:tr>
              <a:tr h="402336">
                <a:tc>
                  <a:txBody>
                    <a:bodyPr/>
                    <a:lstStyle/>
                    <a:p>
                      <a:r>
                        <a:rPr sz="1250" b="0">
                          <a:solidFill>
                            <a:srgbClr val="21252B"/>
                          </a:solidFill>
                          <a:latin typeface="Yu Gothic"/>
                          <a:ea typeface="Yu Gothic"/>
                        </a:rPr>
                        <a:t>おうちWi-Fi防衛ミッション</a:t>
                      </a:r>
                    </a:p>
                  </a:txBody>
                  <a:tcPr anchor="ctr" marL="73152" marR="73152" marT="18288" marB="18288">
                    <a:solidFill>
                      <a:srgbClr val="F2F4F6"/>
                    </a:solidFill>
                  </a:tcPr>
                </a:tc>
                <a:tc>
                  <a:txBody>
                    <a:bodyPr/>
                    <a:lstStyle/>
                    <a:p>
                      <a:r>
                        <a:rPr sz="1250" b="0">
                          <a:solidFill>
                            <a:srgbClr val="21252B"/>
                          </a:solidFill>
                          <a:latin typeface="Yu Gothic"/>
                          <a:ea typeface="Yu Gothic"/>
                        </a:rPr>
                        <a:t>SoftBank 光/Air相談</a:t>
                      </a:r>
                    </a:p>
                  </a:txBody>
                  <a:tcPr anchor="ctr" marL="73152" marR="73152" marT="18288" marB="18288">
                    <a:solidFill>
                      <a:srgbClr val="F2F4F6"/>
                    </a:solidFill>
                  </a:tcPr>
                </a:tc>
              </a:tr>
              <a:tr h="402336">
                <a:tc>
                  <a:txBody>
                    <a:bodyPr/>
                    <a:lstStyle/>
                    <a:p>
                      <a:r>
                        <a:rPr sz="1250" b="0">
                          <a:solidFill>
                            <a:srgbClr val="21252B"/>
                          </a:solidFill>
                          <a:latin typeface="Yu Gothic"/>
                          <a:ea typeface="Yu Gothic"/>
                        </a:rPr>
                        <a:t>でんき防衛ミッション</a:t>
                      </a:r>
                    </a:p>
                  </a:txBody>
                  <a:tcPr anchor="ctr" marL="73152" marR="73152" marT="18288" marB="18288">
                    <a:solidFill>
                      <a:srgbClr val="FFFFFF"/>
                    </a:solidFill>
                  </a:tcPr>
                </a:tc>
                <a:tc>
                  <a:txBody>
                    <a:bodyPr/>
                    <a:lstStyle/>
                    <a:p>
                      <a:r>
                        <a:rPr sz="1250" b="0">
                          <a:solidFill>
                            <a:srgbClr val="21252B"/>
                          </a:solidFill>
                          <a:latin typeface="Yu Gothic"/>
                          <a:ea typeface="Yu Gothic"/>
                        </a:rPr>
                        <a:t>でんき契約・電気料金見直し</a:t>
                      </a:r>
                    </a:p>
                  </a:txBody>
                  <a:tcPr anchor="ctr" marL="73152" marR="73152" marT="18288" marB="18288">
                    <a:solidFill>
                      <a:srgbClr val="FFFFFF"/>
                    </a:solidFill>
                  </a:tcPr>
                </a:tc>
              </a:tr>
              <a:tr h="402336">
                <a:tc>
                  <a:txBody>
                    <a:bodyPr/>
                    <a:lstStyle/>
                    <a:p>
                      <a:r>
                        <a:rPr sz="1250" b="0">
                          <a:solidFill>
                            <a:srgbClr val="21252B"/>
                          </a:solidFill>
                          <a:latin typeface="Yu Gothic"/>
                          <a:ea typeface="Yu Gothic"/>
                        </a:rPr>
                        <a:t>料金見直しミッション</a:t>
                      </a:r>
                    </a:p>
                  </a:txBody>
                  <a:tcPr anchor="ctr" marL="73152" marR="73152" marT="18288" marB="18288">
                    <a:solidFill>
                      <a:srgbClr val="F2F4F6"/>
                    </a:solidFill>
                  </a:tcPr>
                </a:tc>
                <a:tc>
                  <a:txBody>
                    <a:bodyPr/>
                    <a:lstStyle/>
                    <a:p>
                      <a:r>
                        <a:rPr sz="1250" b="0">
                          <a:solidFill>
                            <a:srgbClr val="21252B"/>
                          </a:solidFill>
                          <a:latin typeface="Yu Gothic"/>
                          <a:ea typeface="Yu Gothic"/>
                        </a:rPr>
                        <a:t>家族通信費の診断</a:t>
                      </a:r>
                    </a:p>
                  </a:txBody>
                  <a:tcPr anchor="ctr" marL="73152" marR="73152" marT="18288" marB="18288">
                    <a:solidFill>
                      <a:srgbClr val="F2F4F6"/>
                    </a:solidFill>
                  </a:tcPr>
                </a:tc>
              </a:tr>
              <a:tr h="402336">
                <a:tc>
                  <a:txBody>
                    <a:bodyPr/>
                    <a:lstStyle/>
                    <a:p>
                      <a:r>
                        <a:rPr sz="1250" b="0">
                          <a:solidFill>
                            <a:srgbClr val="21252B"/>
                          </a:solidFill>
                          <a:latin typeface="Yu Gothic"/>
                          <a:ea typeface="Yu Gothic"/>
                        </a:rPr>
                        <a:t>ショップ基地ミッション</a:t>
                      </a:r>
                    </a:p>
                  </a:txBody>
                  <a:tcPr anchor="ctr" marL="73152" marR="73152" marT="18288" marB="18288">
                    <a:solidFill>
                      <a:srgbClr val="FFFFFF"/>
                    </a:solidFill>
                  </a:tcPr>
                </a:tc>
                <a:tc>
                  <a:txBody>
                    <a:bodyPr/>
                    <a:lstStyle/>
                    <a:p>
                      <a:r>
                        <a:rPr sz="1250" b="0">
                          <a:solidFill>
                            <a:srgbClr val="21252B"/>
                          </a:solidFill>
                          <a:latin typeface="Yu Gothic"/>
                          <a:ea typeface="Yu Gothic"/>
                        </a:rPr>
                        <a:t>SoftBankショップへの送客</a:t>
                      </a:r>
                    </a:p>
                  </a:txBody>
                  <a:tcPr anchor="ctr" marL="73152" marR="73152" marT="18288" marB="18288">
                    <a:solidFill>
                      <a:srgbClr val="FFFFFF"/>
                    </a:solidFill>
                  </a:tcPr>
                </a:tc>
              </a:tr>
              <a:tr h="402336">
                <a:tc>
                  <a:txBody>
                    <a:bodyPr/>
                    <a:lstStyle/>
                    <a:p>
                      <a:r>
                        <a:rPr sz="1250" b="0">
                          <a:solidFill>
                            <a:srgbClr val="21252B"/>
                          </a:solidFill>
                          <a:latin typeface="Yu Gothic"/>
                          <a:ea typeface="Yu Gothic"/>
                        </a:rPr>
                        <a:t>フォトミッション</a:t>
                      </a:r>
                    </a:p>
                  </a:txBody>
                  <a:tcPr anchor="ctr" marL="73152" marR="73152" marT="18288" marB="18288">
                    <a:solidFill>
                      <a:srgbClr val="F2F4F6"/>
                    </a:solidFill>
                  </a:tcPr>
                </a:tc>
                <a:tc>
                  <a:txBody>
                    <a:bodyPr/>
                    <a:lstStyle/>
                    <a:p>
                      <a:r>
                        <a:rPr sz="1250" b="0">
                          <a:solidFill>
                            <a:srgbClr val="21252B"/>
                          </a:solidFill>
                          <a:latin typeface="Yu Gothic"/>
                          <a:ea typeface="Yu Gothic"/>
                        </a:rPr>
                        <a:t>ウルトラマン撮影会参加</a:t>
                      </a:r>
                    </a:p>
                  </a:txBody>
                  <a:tcPr anchor="ctr" marL="73152" marR="73152" marT="18288" marB="18288">
                    <a:solidFill>
                      <a:srgbClr val="F2F4F6"/>
                    </a:solidFill>
                  </a:tcPr>
                </a:tc>
              </a:tr>
              <a:tr h="402336">
                <a:tc>
                  <a:txBody>
                    <a:bodyPr/>
                    <a:lstStyle/>
                    <a:p>
                      <a:r>
                        <a:rPr sz="1250" b="0">
                          <a:solidFill>
                            <a:srgbClr val="21252B"/>
                          </a:solidFill>
                          <a:latin typeface="Yu Gothic"/>
                          <a:ea typeface="Yu Gothic"/>
                        </a:rPr>
                        <a:t>デジタル隊員証ミッション</a:t>
                      </a:r>
                    </a:p>
                  </a:txBody>
                  <a:tcPr anchor="ctr" marL="73152" marR="73152" marT="18288" marB="18288">
                    <a:solidFill>
                      <a:srgbClr val="FFFFFF"/>
                    </a:solidFill>
                  </a:tcPr>
                </a:tc>
                <a:tc>
                  <a:txBody>
                    <a:bodyPr/>
                    <a:lstStyle/>
                    <a:p>
                      <a:r>
                        <a:rPr sz="1250" b="0">
                          <a:solidFill>
                            <a:srgbClr val="21252B"/>
                          </a:solidFill>
                          <a:latin typeface="Yu Gothic"/>
                          <a:ea typeface="Yu Gothic"/>
                        </a:rPr>
                        <a:t>顧客接点の取得</a:t>
                      </a:r>
                    </a:p>
                  </a:txBody>
                  <a:tcPr anchor="ctr" marL="73152" marR="73152" marT="18288" marB="18288">
                    <a:solidFill>
                      <a:srgbClr val="FFFFFF"/>
                    </a:solidFill>
                  </a:tcPr>
                </a:tc>
              </a:tr>
            </a:tbl>
          </a:graphicData>
        </a:graphic>
      </p:graphicFrame>
      <p:sp>
        <p:nvSpPr>
          <p:cNvPr id="9" name="Rectangle 8"/>
          <p:cNvSpPr/>
          <p:nvPr/>
        </p:nvSpPr>
        <p:spPr>
          <a:xfrm>
            <a:off x="7772400" y="1600200"/>
            <a:ext cx="3886200" cy="30632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810512"/>
            <a:ext cx="3429000" cy="2743200"/>
          </a:xfrm>
          <a:prstGeom prst="rect">
            <a:avLst/>
          </a:prstGeom>
          <a:noFill/>
        </p:spPr>
        <p:txBody>
          <a:bodyPr wrap="square" anchor="t" lIns="0" rIns="0" tIns="0" bIns="0">
            <a:spAutoFit/>
          </a:bodyPr>
          <a:lstStyle/>
          <a:p>
            <a:pPr algn="l">
              <a:spcAft>
                <a:spcPts val="800"/>
              </a:spcAft>
            </a:pPr>
            <a:r>
              <a:rPr sz="1400" b="1">
                <a:solidFill>
                  <a:srgbClr val="D60012"/>
                </a:solidFill>
                <a:latin typeface="Yu Gothic"/>
                <a:ea typeface="Yu Gothic"/>
              </a:rPr>
              <a:t>ラリー完了特典</a:t>
            </a:r>
          </a:p>
          <a:p>
            <a:pPr algn="l">
              <a:spcAft>
                <a:spcPts val="800"/>
              </a:spcAft>
            </a:pPr>
            <a:r>
              <a:rPr sz="1250" b="0">
                <a:solidFill>
                  <a:srgbClr val="21252B"/>
                </a:solidFill>
                <a:latin typeface="Yu Gothic"/>
                <a:ea typeface="Yu Gothic"/>
              </a:rPr>
              <a:t>・未来防衛隊ステッカー</a:t>
            </a:r>
          </a:p>
          <a:p>
            <a:pPr algn="l">
              <a:spcAft>
                <a:spcPts val="800"/>
              </a:spcAft>
            </a:pPr>
            <a:r>
              <a:rPr sz="1250" b="0">
                <a:solidFill>
                  <a:srgbClr val="21252B"/>
                </a:solidFill>
                <a:latin typeface="Yu Gothic"/>
                <a:ea typeface="Yu Gothic"/>
              </a:rPr>
              <a:t>・デジタル壁紙</a:t>
            </a:r>
          </a:p>
          <a:p>
            <a:pPr algn="l">
              <a:spcAft>
                <a:spcPts val="800"/>
              </a:spcAft>
            </a:pPr>
            <a:r>
              <a:rPr sz="1250" b="0">
                <a:solidFill>
                  <a:srgbClr val="21252B"/>
                </a:solidFill>
                <a:latin typeface="Yu Gothic"/>
                <a:ea typeface="Yu Gothic"/>
              </a:rPr>
              <a:t>・隊員証カード/クリアファイル</a:t>
            </a:r>
          </a:p>
          <a:p>
            <a:pPr algn="l">
              <a:spcAft>
                <a:spcPts val="800"/>
              </a:spcAft>
            </a:pPr>
            <a:r>
              <a:rPr sz="1250" b="0">
                <a:solidFill>
                  <a:srgbClr val="21252B"/>
                </a:solidFill>
                <a:latin typeface="Yu Gothic"/>
                <a:ea typeface="Yu Gothic"/>
              </a:rPr>
              <a:t>・店舗相談者限定ノベルティ</a:t>
            </a:r>
          </a:p>
          <a:p>
            <a:pPr algn="l">
              <a:spcAft>
                <a:spcPts val="800"/>
              </a:spcAft>
            </a:pPr>
            <a:r>
              <a:rPr sz="1250" b="0">
                <a:solidFill>
                  <a:srgbClr val="21252B"/>
                </a:solidFill>
                <a:latin typeface="Yu Gothic"/>
                <a:ea typeface="Yu Gothic"/>
              </a:rPr>
              <a:t>・抽選応募権</a:t>
            </a:r>
          </a:p>
        </p:txBody>
      </p:sp>
      <p:sp>
        <p:nvSpPr>
          <p:cNvPr id="11" name="Rectangle 10"/>
          <p:cNvSpPr/>
          <p:nvPr/>
        </p:nvSpPr>
        <p:spPr>
          <a:xfrm>
            <a:off x="640080" y="4937760"/>
            <a:ext cx="10881360" cy="841248"/>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047488"/>
            <a:ext cx="10332720" cy="640080"/>
          </a:xfrm>
          <a:prstGeom prst="rect">
            <a:avLst/>
          </a:prstGeom>
          <a:noFill/>
        </p:spPr>
        <p:txBody>
          <a:bodyPr wrap="square" anchor="t" lIns="0" rIns="0" tIns="0" bIns="0">
            <a:spAutoFit/>
          </a:bodyPr>
          <a:lstStyle/>
          <a:p>
            <a:pPr algn="l">
              <a:spcAft>
                <a:spcPts val="300"/>
              </a:spcAft>
            </a:pPr>
            <a:r>
              <a:rPr sz="1250" b="1">
                <a:solidFill>
                  <a:srgbClr val="D60012"/>
                </a:solidFill>
                <a:latin typeface="Yu Gothic"/>
                <a:ea typeface="Yu Gothic"/>
              </a:rPr>
              <a:t>拡張ミッション(施設・テナント側で追加自由):</a:t>
            </a:r>
            <a:r>
              <a:rPr sz="1250" b="0">
                <a:solidFill>
                  <a:srgbClr val="21252B"/>
                </a:solidFill>
                <a:latin typeface="Yu Gothic"/>
                <a:ea typeface="Yu Gothic"/>
              </a:rPr>
              <a:t>館内テナントを回遊するミッションを施設側で自由に追加可能。テナント送客協賛も設計でき、</a:t>
            </a:r>
          </a:p>
          <a:p>
            <a:pPr algn="l">
              <a:spcAft>
                <a:spcPts val="300"/>
              </a:spcAft>
            </a:pPr>
            <a:r>
              <a:rPr sz="1250" b="0">
                <a:solidFill>
                  <a:srgbClr val="21252B"/>
                </a:solidFill>
                <a:latin typeface="Yu Gothic"/>
                <a:ea typeface="Yu Gothic"/>
              </a:rPr>
              <a:t>施設全体の回遊・売上に貢献するため、場所代交渉の材料にもなります。</a:t>
            </a:r>
          </a:p>
        </p:txBody>
      </p:sp>
      <p:sp>
        <p:nvSpPr>
          <p:cNvPr id="13" name="TextBox 12"/>
          <p:cNvSpPr txBox="1"/>
          <p:nvPr/>
        </p:nvSpPr>
        <p:spPr>
          <a:xfrm>
            <a:off x="777240" y="5989320"/>
            <a:ext cx="10789920" cy="411480"/>
          </a:xfrm>
          <a:prstGeom prst="rect">
            <a:avLst/>
          </a:prstGeom>
          <a:noFill/>
        </p:spPr>
        <p:txBody>
          <a:bodyPr wrap="square" anchor="t" lIns="0" rIns="0" tIns="0" bIns="0">
            <a:spAutoFit/>
          </a:bodyPr>
          <a:lstStyle/>
          <a:p>
            <a:pPr algn="l">
              <a:spcAft>
                <a:spcPts val="600"/>
              </a:spcAft>
            </a:pPr>
            <a:r>
              <a:rPr sz="1200" b="1">
                <a:solidFill>
                  <a:srgbClr val="D60012"/>
                </a:solidFill>
                <a:latin typeface="Yu Gothic"/>
                <a:ea typeface="Yu Gothic"/>
              </a:rPr>
              <a:t>ノベルティ設計:</a:t>
            </a:r>
            <a:r>
              <a:rPr sz="1200" b="0">
                <a:solidFill>
                  <a:srgbClr val="21252B"/>
                </a:solidFill>
                <a:latin typeface="Yu Gothic"/>
                <a:ea typeface="Yu Gothic"/>
              </a:rPr>
              <a:t>作成数に上限を設けず、数量に応じた許諾対価を別途お支払いする設計を想定しています。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デジタル隊員証の設計</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アプリ開発を伴わない軽い仕組みで、「接客の質」と「再来館動機」を同時に作ります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16</a:t>
            </a:r>
          </a:p>
        </p:txBody>
      </p:sp>
      <p:graphicFrame>
        <p:nvGraphicFramePr>
          <p:cNvPr id="8" name="Table 7"/>
          <p:cNvGraphicFramePr>
            <a:graphicFrameLocks noGrp="1"/>
          </p:cNvGraphicFramePr>
          <p:nvPr/>
        </p:nvGraphicFramePr>
        <p:xfrm>
          <a:off x="640080" y="1600200"/>
          <a:ext cx="10881360" cy="3401568"/>
        </p:xfrm>
        <a:graphic>
          <a:graphicData uri="http://schemas.openxmlformats.org/drawingml/2006/table">
            <a:tbl>
              <a:tblPr firstRow="1" bandRow="1">
                <a:tableStyleId>{5C22544A-7EE6-4342-B048-85BDC9FD1C3A}</a:tableStyleId>
              </a:tblPr>
              <a:tblGrid>
                <a:gridCol w="2590800"/>
                <a:gridCol w="8290560"/>
              </a:tblGrid>
              <a:tr h="566928">
                <a:tc>
                  <a:txBody>
                    <a:bodyPr/>
                    <a:lstStyle/>
                    <a:p>
                      <a:r>
                        <a:rPr sz="1150" b="1">
                          <a:solidFill>
                            <a:srgbClr val="FFFFFF"/>
                          </a:solidFill>
                          <a:latin typeface="Yu Gothic"/>
                          <a:ea typeface="Yu Gothic"/>
                        </a:rPr>
                        <a:t>設計ポイント</a:t>
                      </a:r>
                    </a:p>
                  </a:txBody>
                  <a:tcPr anchor="ctr" marL="73152" marR="73152" marT="18288" marB="18288">
                    <a:solidFill>
                      <a:srgbClr val="121A2E"/>
                    </a:solidFill>
                  </a:tcPr>
                </a:tc>
                <a:tc>
                  <a:txBody>
                    <a:bodyPr/>
                    <a:lstStyle/>
                    <a:p>
                      <a:r>
                        <a:rPr sz="1150" b="1">
                          <a:solidFill>
                            <a:srgbClr val="FFFFFF"/>
                          </a:solidFill>
                          <a:latin typeface="Yu Gothic"/>
                          <a:ea typeface="Yu Gothic"/>
                        </a:rPr>
                        <a:t>内容</a:t>
                      </a:r>
                    </a:p>
                  </a:txBody>
                  <a:tcPr anchor="ctr" marL="73152" marR="73152" marT="18288" marB="18288">
                    <a:solidFill>
                      <a:srgbClr val="121A2E"/>
                    </a:solidFill>
                  </a:tcPr>
                </a:tc>
              </a:tr>
              <a:tr h="566928">
                <a:tc>
                  <a:txBody>
                    <a:bodyPr/>
                    <a:lstStyle/>
                    <a:p>
                      <a:r>
                        <a:rPr sz="1200" b="0">
                          <a:solidFill>
                            <a:srgbClr val="21252B"/>
                          </a:solidFill>
                          <a:latin typeface="Yu Gothic"/>
                          <a:ea typeface="Yu Gothic"/>
                        </a:rPr>
                        <a:t>発行フロー</a:t>
                      </a:r>
                    </a:p>
                  </a:txBody>
                  <a:tcPr anchor="ctr" marL="73152" marR="73152" marT="18288" marB="18288">
                    <a:solidFill>
                      <a:srgbClr val="FFFFFF"/>
                    </a:solidFill>
                  </a:tcPr>
                </a:tc>
                <a:tc>
                  <a:txBody>
                    <a:bodyPr/>
                    <a:lstStyle/>
                    <a:p>
                      <a:r>
                        <a:rPr sz="1200" b="0">
                          <a:solidFill>
                            <a:srgbClr val="21252B"/>
                          </a:solidFill>
                          <a:latin typeface="Yu Gothic"/>
                          <a:ea typeface="Yu Gothic"/>
                        </a:rPr>
                        <a:t>QRからアンケートに回答 → その場でオリジナル隊員証“画像”を発行(アプリ開発不要・画像保存のみの軽い設計)</a:t>
                      </a:r>
                    </a:p>
                  </a:txBody>
                  <a:tcPr anchor="ctr" marL="73152" marR="73152" marT="18288" marB="18288">
                    <a:solidFill>
                      <a:srgbClr val="FFFFFF"/>
                    </a:solidFill>
                  </a:tcPr>
                </a:tc>
              </a:tr>
              <a:tr h="566928">
                <a:tc>
                  <a:txBody>
                    <a:bodyPr/>
                    <a:lstStyle/>
                    <a:p>
                      <a:r>
                        <a:rPr sz="1200" b="1">
                          <a:solidFill>
                            <a:srgbClr val="D60012"/>
                          </a:solidFill>
                          <a:latin typeface="Yu Gothic"/>
                          <a:ea typeface="Yu Gothic"/>
                        </a:rPr>
                        <a:t>デザインの出し分け</a:t>
                      </a:r>
                    </a:p>
                  </a:txBody>
                  <a:tcPr anchor="ctr" marL="73152" marR="73152" marT="18288" marB="18288">
                    <a:solidFill>
                      <a:srgbClr val="F2F4F6"/>
                    </a:solidFill>
                  </a:tcPr>
                </a:tc>
                <a:tc>
                  <a:txBody>
                    <a:bodyPr/>
                    <a:lstStyle/>
                    <a:p>
                      <a:r>
                        <a:rPr sz="1200" b="1">
                          <a:solidFill>
                            <a:srgbClr val="21252B"/>
                          </a:solidFill>
                          <a:latin typeface="Yu Gothic"/>
                          <a:ea typeface="Yu Gothic"/>
                        </a:rPr>
                        <a:t>アンケート結果に応じて隊員証デザインを出し分け → スタッフが隊員証を見た瞬間に、ご案内すべき相談メニューを判別できる(お客様に合ったミッションだけをご案内)</a:t>
                      </a:r>
                    </a:p>
                  </a:txBody>
                  <a:tcPr anchor="ctr" marL="73152" marR="73152" marT="18288" marB="18288">
                    <a:solidFill>
                      <a:srgbClr val="F2F4F6"/>
                    </a:solidFill>
                  </a:tcPr>
                </a:tc>
              </a:tr>
              <a:tr h="566928">
                <a:tc>
                  <a:txBody>
                    <a:bodyPr/>
                    <a:lstStyle/>
                    <a:p>
                      <a:r>
                        <a:rPr sz="1200" b="0">
                          <a:solidFill>
                            <a:srgbClr val="21252B"/>
                          </a:solidFill>
                          <a:latin typeface="Yu Gothic"/>
                          <a:ea typeface="Yu Gothic"/>
                        </a:rPr>
                        <a:t>ランクアップ演出</a:t>
                      </a:r>
                    </a:p>
                  </a:txBody>
                  <a:tcPr anchor="ctr" marL="73152" marR="73152" marT="18288" marB="18288">
                    <a:solidFill>
                      <a:srgbClr val="FFFFFF"/>
                    </a:solidFill>
                  </a:tcPr>
                </a:tc>
                <a:tc>
                  <a:txBody>
                    <a:bodyPr/>
                    <a:lstStyle/>
                    <a:p>
                      <a:r>
                        <a:rPr sz="1200" b="0">
                          <a:solidFill>
                            <a:srgbClr val="21252B"/>
                          </a:solidFill>
                          <a:latin typeface="Yu Gothic"/>
                          <a:ea typeface="Yu Gothic"/>
                        </a:rPr>
                        <a:t>来場・ミッション達成で隊員ランクが上がる演出 → 再来館・リピート参加の動機に</a:t>
                      </a:r>
                    </a:p>
                  </a:txBody>
                  <a:tcPr anchor="ctr" marL="73152" marR="73152" marT="18288" marB="18288">
                    <a:solidFill>
                      <a:srgbClr val="FFFFFF"/>
                    </a:solidFill>
                  </a:tcPr>
                </a:tc>
              </a:tr>
              <a:tr h="566928">
                <a:tc>
                  <a:txBody>
                    <a:bodyPr/>
                    <a:lstStyle/>
                    <a:p>
                      <a:r>
                        <a:rPr sz="1200" b="0">
                          <a:solidFill>
                            <a:srgbClr val="21252B"/>
                          </a:solidFill>
                          <a:latin typeface="Yu Gothic"/>
                          <a:ea typeface="Yu Gothic"/>
                        </a:rPr>
                        <a:t>体験への配慮</a:t>
                      </a:r>
                    </a:p>
                  </a:txBody>
                  <a:tcPr anchor="ctr" marL="73152" marR="73152" marT="18288" marB="18288">
                    <a:solidFill>
                      <a:srgbClr val="F2F4F6"/>
                    </a:solidFill>
                  </a:tcPr>
                </a:tc>
                <a:tc>
                  <a:txBody>
                    <a:bodyPr/>
                    <a:lstStyle/>
                    <a:p>
                      <a:r>
                        <a:rPr sz="1200" b="0">
                          <a:solidFill>
                            <a:srgbClr val="21252B"/>
                          </a:solidFill>
                          <a:latin typeface="Yu Gothic"/>
                          <a:ea typeface="Yu Gothic"/>
                        </a:rPr>
                        <a:t>アンケートは遊びの中で自然に答えられる設計とし、営業感を出さない</a:t>
                      </a:r>
                    </a:p>
                  </a:txBody>
                  <a:tcPr anchor="ctr" marL="73152" marR="73152" marT="18288" marB="18288">
                    <a:solidFill>
                      <a:srgbClr val="F2F4F6"/>
                    </a:solidFill>
                  </a:tcPr>
                </a:tc>
              </a:tr>
              <a:tr h="566928">
                <a:tc>
                  <a:txBody>
                    <a:bodyPr/>
                    <a:lstStyle/>
                    <a:p>
                      <a:r>
                        <a:rPr sz="1200" b="0">
                          <a:solidFill>
                            <a:srgbClr val="21252B"/>
                          </a:solidFill>
                          <a:latin typeface="Yu Gothic"/>
                          <a:ea typeface="Yu Gothic"/>
                        </a:rPr>
                        <a:t>将来拡張</a:t>
                      </a:r>
                    </a:p>
                  </a:txBody>
                  <a:tcPr anchor="ctr" marL="73152" marR="73152" marT="18288" marB="18288">
                    <a:solidFill>
                      <a:srgbClr val="FFFFFF"/>
                    </a:solidFill>
                  </a:tcPr>
                </a:tc>
                <a:tc>
                  <a:txBody>
                    <a:bodyPr/>
                    <a:lstStyle/>
                    <a:p>
                      <a:r>
                        <a:rPr sz="1200" b="0">
                          <a:solidFill>
                            <a:srgbClr val="21252B"/>
                          </a:solidFill>
                          <a:latin typeface="Yu Gothic"/>
                          <a:ea typeface="Yu Gothic"/>
                        </a:rPr>
                        <a:t>ポイント連携・アプリ連携・LINE連携は将来オプション(初期スコープ外として切り分け)</a:t>
                      </a:r>
                    </a:p>
                  </a:txBody>
                  <a:tcPr anchor="ctr" marL="73152" marR="73152" marT="18288" marB="18288">
                    <a:solidFill>
                      <a:srgbClr val="FFFFFF"/>
                    </a:solidFill>
                  </a:tcPr>
                </a:tc>
              </a:tr>
            </a:tbl>
          </a:graphicData>
        </a:graphic>
      </p:graphicFrame>
      <p:sp>
        <p:nvSpPr>
          <p:cNvPr id="9" name="TextBox 8"/>
          <p:cNvSpPr txBox="1"/>
          <p:nvPr/>
        </p:nvSpPr>
        <p:spPr>
          <a:xfrm>
            <a:off x="777240" y="5349240"/>
            <a:ext cx="10789920" cy="731520"/>
          </a:xfrm>
          <a:prstGeom prst="rect">
            <a:avLst/>
          </a:prstGeom>
          <a:noFill/>
        </p:spPr>
        <p:txBody>
          <a:bodyPr wrap="square" anchor="t" lIns="0" rIns="0" tIns="0" bIns="0">
            <a:spAutoFit/>
          </a:bodyPr>
          <a:lstStyle/>
          <a:p>
            <a:pPr algn="l">
              <a:spcAft>
                <a:spcPts val="600"/>
              </a:spcAft>
            </a:pPr>
            <a:r>
              <a:rPr sz="1400" b="1">
                <a:solidFill>
                  <a:srgbClr val="D60012"/>
                </a:solidFill>
                <a:latin typeface="Yu Gothic"/>
                <a:ea typeface="Yu Gothic"/>
              </a:rPr>
              <a:t>狙い:</a:t>
            </a:r>
            <a:r>
              <a:rPr sz="1400" b="1">
                <a:solidFill>
                  <a:srgbClr val="21252B"/>
                </a:solidFill>
                <a:latin typeface="Yu Gothic"/>
                <a:ea typeface="Yu Gothic"/>
              </a:rPr>
              <a:t>既にご契約中のお客様に不要なご案内をしない=接客効率と顧客体験を両立し、獲得ターゲットに接客リソースを集中します。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SoftBankショップへの送客設計</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SoftBankショップを「未来防衛隊基地」として位置づけ、ラリーの最終ミッションで店舗へ誘導します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17</a:t>
            </a:r>
          </a:p>
        </p:txBody>
      </p:sp>
      <p:sp>
        <p:nvSpPr>
          <p:cNvPr id="8" name="Rounded Rectangle 7"/>
          <p:cNvSpPr/>
          <p:nvPr/>
        </p:nvSpPr>
        <p:spPr>
          <a:xfrm>
            <a:off x="777240" y="1691640"/>
            <a:ext cx="4937760" cy="512064"/>
          </a:xfrm>
          <a:prstGeom prst="roundRect">
            <a:avLst>
              <a:gd name="adj" fmla="val 16000"/>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latin typeface="Yu Gothic"/>
                <a:ea typeface="Yu Gothic"/>
              </a:rPr>
              <a:t>中央イベントスペース(広場)</a:t>
            </a:r>
          </a:p>
        </p:txBody>
      </p:sp>
      <p:sp>
        <p:nvSpPr>
          <p:cNvPr id="9" name="Down Arrow 8"/>
          <p:cNvSpPr/>
          <p:nvPr/>
        </p:nvSpPr>
        <p:spPr>
          <a:xfrm>
            <a:off x="3163824" y="2217420"/>
            <a:ext cx="164592" cy="173736"/>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2404872"/>
            <a:ext cx="4937760" cy="512064"/>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ミッションラリー参加</a:t>
            </a:r>
          </a:p>
        </p:txBody>
      </p:sp>
      <p:sp>
        <p:nvSpPr>
          <p:cNvPr id="11" name="Down Arrow 10"/>
          <p:cNvSpPr/>
          <p:nvPr/>
        </p:nvSpPr>
        <p:spPr>
          <a:xfrm>
            <a:off x="3163824" y="2930652"/>
            <a:ext cx="164592" cy="173736"/>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3118104"/>
            <a:ext cx="4937760" cy="512064"/>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SoftBankショップで最終ミッション</a:t>
            </a:r>
          </a:p>
        </p:txBody>
      </p:sp>
      <p:sp>
        <p:nvSpPr>
          <p:cNvPr id="13" name="Down Arrow 12"/>
          <p:cNvSpPr/>
          <p:nvPr/>
        </p:nvSpPr>
        <p:spPr>
          <a:xfrm>
            <a:off x="3163824" y="3643884"/>
            <a:ext cx="164592" cy="173736"/>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 y="3831336"/>
            <a:ext cx="4937760" cy="512064"/>
          </a:xfrm>
          <a:prstGeom prst="roundRect">
            <a:avLst>
              <a:gd name="adj" fmla="val 1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0">
                <a:solidFill>
                  <a:srgbClr val="21252B"/>
                </a:solidFill>
                <a:latin typeface="Yu Gothic"/>
                <a:ea typeface="Yu Gothic"/>
              </a:rPr>
              <a:t>料金診断・BB診断・でんき相談</a:t>
            </a:r>
          </a:p>
        </p:txBody>
      </p:sp>
      <p:sp>
        <p:nvSpPr>
          <p:cNvPr id="15" name="Down Arrow 14"/>
          <p:cNvSpPr/>
          <p:nvPr/>
        </p:nvSpPr>
        <p:spPr>
          <a:xfrm>
            <a:off x="3163824" y="4357116"/>
            <a:ext cx="164592" cy="173736"/>
          </a:xfrm>
          <a:prstGeom prst="downArrow">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4544568"/>
            <a:ext cx="4937760" cy="512064"/>
          </a:xfrm>
          <a:prstGeom prst="roundRect">
            <a:avLst>
              <a:gd name="adj" fmla="val 16000"/>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latin typeface="Yu Gothic"/>
                <a:ea typeface="Yu Gothic"/>
              </a:rPr>
              <a:t>見積・予約・申込</a:t>
            </a:r>
          </a:p>
        </p:txBody>
      </p:sp>
      <p:graphicFrame>
        <p:nvGraphicFramePr>
          <p:cNvPr id="17" name="Table 16"/>
          <p:cNvGraphicFramePr>
            <a:graphicFrameLocks noGrp="1"/>
          </p:cNvGraphicFramePr>
          <p:nvPr/>
        </p:nvGraphicFramePr>
        <p:xfrm>
          <a:off x="6172200" y="1691640"/>
          <a:ext cx="5486400" cy="2816352"/>
        </p:xfrm>
        <a:graphic>
          <a:graphicData uri="http://schemas.openxmlformats.org/drawingml/2006/table">
            <a:tbl>
              <a:tblPr firstRow="1" bandRow="1">
                <a:tableStyleId>{5C22544A-7EE6-4342-B048-85BDC9FD1C3A}</a:tableStyleId>
              </a:tblPr>
              <a:tblGrid>
                <a:gridCol w="2438400"/>
                <a:gridCol w="3048000"/>
              </a:tblGrid>
              <a:tr h="402336">
                <a:tc>
                  <a:txBody>
                    <a:bodyPr/>
                    <a:lstStyle/>
                    <a:p>
                      <a:r>
                        <a:rPr sz="1150" b="1">
                          <a:solidFill>
                            <a:srgbClr val="FFFFFF"/>
                          </a:solidFill>
                          <a:latin typeface="Yu Gothic"/>
                          <a:ea typeface="Yu Gothic"/>
                        </a:rPr>
                        <a:t>店舗の相談メニュー</a:t>
                      </a:r>
                    </a:p>
                  </a:txBody>
                  <a:tcPr anchor="ctr" marL="73152" marR="73152" marT="18288" marB="18288">
                    <a:solidFill>
                      <a:srgbClr val="121A2E"/>
                    </a:solidFill>
                  </a:tcPr>
                </a:tc>
                <a:tc>
                  <a:txBody>
                    <a:bodyPr/>
                    <a:lstStyle/>
                    <a:p>
                      <a:r>
                        <a:rPr sz="1150" b="1">
                          <a:solidFill>
                            <a:srgbClr val="FFFFFF"/>
                          </a:solidFill>
                          <a:latin typeface="Yu Gothic"/>
                          <a:ea typeface="Yu Gothic"/>
                        </a:rPr>
                        <a:t>目的</a:t>
                      </a:r>
                    </a:p>
                  </a:txBody>
                  <a:tcPr anchor="ctr" marL="73152" marR="73152" marT="18288" marB="18288">
                    <a:solidFill>
                      <a:srgbClr val="121A2E"/>
                    </a:solidFill>
                  </a:tcPr>
                </a:tc>
              </a:tr>
              <a:tr h="402336">
                <a:tc>
                  <a:txBody>
                    <a:bodyPr/>
                    <a:lstStyle/>
                    <a:p>
                      <a:r>
                        <a:rPr sz="1200" b="0">
                          <a:solidFill>
                            <a:srgbClr val="21252B"/>
                          </a:solidFill>
                          <a:latin typeface="Yu Gothic"/>
                          <a:ea typeface="Yu Gothic"/>
                        </a:rPr>
                        <a:t>家族スマホ料金診断</a:t>
                      </a:r>
                    </a:p>
                  </a:txBody>
                  <a:tcPr anchor="ctr" marL="73152" marR="73152" marT="18288" marB="18288">
                    <a:solidFill>
                      <a:srgbClr val="FFFFFF"/>
                    </a:solidFill>
                  </a:tcPr>
                </a:tc>
                <a:tc>
                  <a:txBody>
                    <a:bodyPr/>
                    <a:lstStyle/>
                    <a:p>
                      <a:r>
                        <a:rPr sz="1200" b="0">
                          <a:solidFill>
                            <a:srgbClr val="21252B"/>
                          </a:solidFill>
                          <a:latin typeface="Yu Gothic"/>
                          <a:ea typeface="Yu Gothic"/>
                        </a:rPr>
                        <a:t>家族契約、料金見直し、機種変更</a:t>
                      </a:r>
                    </a:p>
                  </a:txBody>
                  <a:tcPr anchor="ctr" marL="73152" marR="73152" marT="18288" marB="18288">
                    <a:solidFill>
                      <a:srgbClr val="FFFFFF"/>
                    </a:solidFill>
                  </a:tcPr>
                </a:tc>
              </a:tr>
              <a:tr h="402336">
                <a:tc>
                  <a:txBody>
                    <a:bodyPr/>
                    <a:lstStyle/>
                    <a:p>
                      <a:r>
                        <a:rPr sz="1200" b="0">
                          <a:solidFill>
                            <a:srgbClr val="21252B"/>
                          </a:solidFill>
                          <a:latin typeface="Yu Gothic"/>
                          <a:ea typeface="Yu Gothic"/>
                        </a:rPr>
                        <a:t>子どもスマホ相談</a:t>
                      </a:r>
                    </a:p>
                  </a:txBody>
                  <a:tcPr anchor="ctr" marL="73152" marR="73152" marT="18288" marB="18288">
                    <a:solidFill>
                      <a:srgbClr val="F2F4F6"/>
                    </a:solidFill>
                  </a:tcPr>
                </a:tc>
                <a:tc>
                  <a:txBody>
                    <a:bodyPr/>
                    <a:lstStyle/>
                    <a:p>
                      <a:r>
                        <a:rPr sz="1200" b="0">
                          <a:solidFill>
                            <a:srgbClr val="21252B"/>
                          </a:solidFill>
                          <a:latin typeface="Yu Gothic"/>
                          <a:ea typeface="Yu Gothic"/>
                        </a:rPr>
                        <a:t>初スマホ、安心設定、フィルタリング</a:t>
                      </a:r>
                    </a:p>
                  </a:txBody>
                  <a:tcPr anchor="ctr" marL="73152" marR="73152" marT="18288" marB="18288">
                    <a:solidFill>
                      <a:srgbClr val="F2F4F6"/>
                    </a:solidFill>
                  </a:tcPr>
                </a:tc>
              </a:tr>
              <a:tr h="402336">
                <a:tc>
                  <a:txBody>
                    <a:bodyPr/>
                    <a:lstStyle/>
                    <a:p>
                      <a:r>
                        <a:rPr sz="1200" b="0">
                          <a:solidFill>
                            <a:srgbClr val="21252B"/>
                          </a:solidFill>
                          <a:latin typeface="Yu Gothic"/>
                          <a:ea typeface="Yu Gothic"/>
                        </a:rPr>
                        <a:t>おうちWi-Fi診断</a:t>
                      </a:r>
                    </a:p>
                  </a:txBody>
                  <a:tcPr anchor="ctr" marL="73152" marR="73152" marT="18288" marB="18288">
                    <a:solidFill>
                      <a:srgbClr val="FFFFFF"/>
                    </a:solidFill>
                  </a:tcPr>
                </a:tc>
                <a:tc>
                  <a:txBody>
                    <a:bodyPr/>
                    <a:lstStyle/>
                    <a:p>
                      <a:r>
                        <a:rPr sz="1200" b="0">
                          <a:solidFill>
                            <a:srgbClr val="21252B"/>
                          </a:solidFill>
                          <a:latin typeface="Yu Gothic"/>
                          <a:ea typeface="Yu Gothic"/>
                        </a:rPr>
                        <a:t>SoftBank 光/Air送客</a:t>
                      </a:r>
                    </a:p>
                  </a:txBody>
                  <a:tcPr anchor="ctr" marL="73152" marR="73152" marT="18288" marB="18288">
                    <a:solidFill>
                      <a:srgbClr val="FFFFFF"/>
                    </a:solidFill>
                  </a:tcPr>
                </a:tc>
              </a:tr>
              <a:tr h="402336">
                <a:tc>
                  <a:txBody>
                    <a:bodyPr/>
                    <a:lstStyle/>
                    <a:p>
                      <a:r>
                        <a:rPr sz="1200" b="0">
                          <a:solidFill>
                            <a:srgbClr val="21252B"/>
                          </a:solidFill>
                          <a:latin typeface="Yu Gothic"/>
                          <a:ea typeface="Yu Gothic"/>
                        </a:rPr>
                        <a:t>でんき料金診断</a:t>
                      </a:r>
                    </a:p>
                  </a:txBody>
                  <a:tcPr anchor="ctr" marL="73152" marR="73152" marT="18288" marB="18288">
                    <a:solidFill>
                      <a:srgbClr val="F2F4F6"/>
                    </a:solidFill>
                  </a:tcPr>
                </a:tc>
                <a:tc>
                  <a:txBody>
                    <a:bodyPr/>
                    <a:lstStyle/>
                    <a:p>
                      <a:r>
                        <a:rPr sz="1200" b="0">
                          <a:solidFill>
                            <a:srgbClr val="21252B"/>
                          </a:solidFill>
                          <a:latin typeface="Yu Gothic"/>
                          <a:ea typeface="Yu Gothic"/>
                        </a:rPr>
                        <a:t>でんき契約相談</a:t>
                      </a:r>
                    </a:p>
                  </a:txBody>
                  <a:tcPr anchor="ctr" marL="73152" marR="73152" marT="18288" marB="18288">
                    <a:solidFill>
                      <a:srgbClr val="F2F4F6"/>
                    </a:solidFill>
                  </a:tcPr>
                </a:tc>
              </a:tr>
              <a:tr h="402336">
                <a:tc>
                  <a:txBody>
                    <a:bodyPr/>
                    <a:lstStyle/>
                    <a:p>
                      <a:r>
                        <a:rPr sz="1200" b="0">
                          <a:solidFill>
                            <a:srgbClr val="21252B"/>
                          </a:solidFill>
                          <a:latin typeface="Yu Gothic"/>
                          <a:ea typeface="Yu Gothic"/>
                        </a:rPr>
                        <a:t>MNP相談</a:t>
                      </a:r>
                    </a:p>
                  </a:txBody>
                  <a:tcPr anchor="ctr" marL="73152" marR="73152" marT="18288" marB="18288">
                    <a:solidFill>
                      <a:srgbClr val="FFFFFF"/>
                    </a:solidFill>
                  </a:tcPr>
                </a:tc>
                <a:tc>
                  <a:txBody>
                    <a:bodyPr/>
                    <a:lstStyle/>
                    <a:p>
                      <a:r>
                        <a:rPr sz="1200" b="0">
                          <a:solidFill>
                            <a:srgbClr val="21252B"/>
                          </a:solidFill>
                          <a:latin typeface="Yu Gothic"/>
                          <a:ea typeface="Yu Gothic"/>
                        </a:rPr>
                        <a:t>他キャリア利用者の獲得</a:t>
                      </a:r>
                    </a:p>
                  </a:txBody>
                  <a:tcPr anchor="ctr" marL="73152" marR="73152" marT="18288" marB="18288">
                    <a:solidFill>
                      <a:srgbClr val="FFFFFF"/>
                    </a:solidFill>
                  </a:tcPr>
                </a:tc>
              </a:tr>
              <a:tr h="402336">
                <a:tc>
                  <a:txBody>
                    <a:bodyPr/>
                    <a:lstStyle/>
                    <a:p>
                      <a:r>
                        <a:rPr sz="1200" b="0">
                          <a:solidFill>
                            <a:srgbClr val="21252B"/>
                          </a:solidFill>
                          <a:latin typeface="Yu Gothic"/>
                          <a:ea typeface="Yu Gothic"/>
                        </a:rPr>
                        <a:t>ワイモバイル/LINEMO案内</a:t>
                      </a:r>
                    </a:p>
                  </a:txBody>
                  <a:tcPr anchor="ctr" marL="73152" marR="73152" marT="18288" marB="18288">
                    <a:solidFill>
                      <a:srgbClr val="F2F4F6"/>
                    </a:solidFill>
                  </a:tcPr>
                </a:tc>
                <a:tc>
                  <a:txBody>
                    <a:bodyPr/>
                    <a:lstStyle/>
                    <a:p>
                      <a:r>
                        <a:rPr sz="1200" b="0">
                          <a:solidFill>
                            <a:srgbClr val="21252B"/>
                          </a:solidFill>
                          <a:latin typeface="Yu Gothic"/>
                          <a:ea typeface="Yu Gothic"/>
                        </a:rPr>
                        <a:t>価格・オンライン志向ユーザーの受け皿</a:t>
                      </a:r>
                    </a:p>
                  </a:txBody>
                  <a:tcPr anchor="ctr" marL="73152" marR="73152" marT="18288" marB="18288">
                    <a:solidFill>
                      <a:srgbClr val="F2F4F6"/>
                    </a:solidFill>
                  </a:tcPr>
                </a:tc>
              </a:tr>
            </a:tbl>
          </a:graphicData>
        </a:graphic>
      </p:graphicFrame>
      <p:sp>
        <p:nvSpPr>
          <p:cNvPr id="18" name="TextBox 17"/>
          <p:cNvSpPr txBox="1"/>
          <p:nvPr/>
        </p:nvSpPr>
        <p:spPr>
          <a:xfrm>
            <a:off x="777240" y="5623560"/>
            <a:ext cx="10789920" cy="731520"/>
          </a:xfrm>
          <a:prstGeom prst="rect">
            <a:avLst/>
          </a:prstGeom>
          <a:noFill/>
        </p:spPr>
        <p:txBody>
          <a:bodyPr wrap="square" anchor="t" lIns="0" rIns="0" tIns="0" bIns="0">
            <a:spAutoFit/>
          </a:bodyPr>
          <a:lstStyle/>
          <a:p>
            <a:pPr algn="l">
              <a:spcAft>
                <a:spcPts val="600"/>
              </a:spcAft>
            </a:pPr>
            <a:r>
              <a:rPr sz="1350" b="0">
                <a:solidFill>
                  <a:srgbClr val="21252B"/>
                </a:solidFill>
                <a:latin typeface="Yu Gothic"/>
                <a:ea typeface="Yu Gothic"/>
              </a:rPr>
              <a:t>マルチブランド(SoftBank/ワイモバイル/LINEMO)展開により、来館者のニーズに応じた最適な受け皿を用意できる。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PayPay/LINE/LYPとの将来連携</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初期はPayPayポイント原資を必須とせず、グループ経済圏への拡張余地を残します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18</a:t>
            </a:r>
          </a:p>
        </p:txBody>
      </p:sp>
      <p:sp>
        <p:nvSpPr>
          <p:cNvPr id="8" name="TextBox 7"/>
          <p:cNvSpPr txBox="1"/>
          <p:nvPr/>
        </p:nvSpPr>
        <p:spPr>
          <a:xfrm>
            <a:off x="777240" y="1600200"/>
            <a:ext cx="10789920" cy="822960"/>
          </a:xfrm>
          <a:prstGeom prst="rect">
            <a:avLst/>
          </a:prstGeom>
          <a:noFill/>
        </p:spPr>
        <p:txBody>
          <a:bodyPr wrap="square" anchor="t" lIns="0" rIns="0" tIns="0" bIns="0">
            <a:spAutoFit/>
          </a:bodyPr>
          <a:lstStyle/>
          <a:p>
            <a:pPr algn="l">
              <a:spcAft>
                <a:spcPts val="800"/>
              </a:spcAft>
            </a:pPr>
            <a:r>
              <a:rPr sz="1050" b="1">
                <a:solidFill>
                  <a:srgbClr val="D60012"/>
                </a:solidFill>
                <a:latin typeface="Yu Gothic"/>
                <a:ea typeface="Yu Gothic"/>
              </a:rPr>
              <a:t>● </a:t>
            </a:r>
            <a:r>
              <a:rPr sz="1350" b="0">
                <a:solidFill>
                  <a:srgbClr val="21252B"/>
                </a:solidFill>
                <a:latin typeface="Yu Gothic"/>
                <a:ea typeface="Yu Gothic"/>
              </a:rPr>
              <a:t>PayPayとLINEヤフーは、LINE(国内月間利用者数1億)とPayPay(登録ユーザー7,400万人)のアカウント連携を2026年夏より開始と発表。LINEヤフー側とも既に対話を開始しています。</a:t>
            </a:r>
          </a:p>
        </p:txBody>
      </p:sp>
      <p:graphicFrame>
        <p:nvGraphicFramePr>
          <p:cNvPr id="9" name="Table 8"/>
          <p:cNvGraphicFramePr>
            <a:graphicFrameLocks noGrp="1"/>
          </p:cNvGraphicFramePr>
          <p:nvPr/>
        </p:nvGraphicFramePr>
        <p:xfrm>
          <a:off x="640080" y="2286000"/>
          <a:ext cx="10881360" cy="2523744"/>
        </p:xfrm>
        <a:graphic>
          <a:graphicData uri="http://schemas.openxmlformats.org/drawingml/2006/table">
            <a:tbl>
              <a:tblPr firstRow="1" bandRow="1">
                <a:tableStyleId>{5C22544A-7EE6-4342-B048-85BDC9FD1C3A}</a:tableStyleId>
              </a:tblPr>
              <a:tblGrid>
                <a:gridCol w="3108960"/>
                <a:gridCol w="7772400"/>
              </a:tblGrid>
              <a:tr h="420624">
                <a:tc>
                  <a:txBody>
                    <a:bodyPr/>
                    <a:lstStyle/>
                    <a:p>
                      <a:r>
                        <a:rPr sz="1150" b="1">
                          <a:solidFill>
                            <a:srgbClr val="FFFFFF"/>
                          </a:solidFill>
                          <a:latin typeface="Yu Gothic"/>
                          <a:ea typeface="Yu Gothic"/>
                        </a:rPr>
                        <a:t>連携先</a:t>
                      </a:r>
                    </a:p>
                  </a:txBody>
                  <a:tcPr anchor="ctr" marL="73152" marR="73152" marT="18288" marB="18288">
                    <a:solidFill>
                      <a:srgbClr val="121A2E"/>
                    </a:solidFill>
                  </a:tcPr>
                </a:tc>
                <a:tc>
                  <a:txBody>
                    <a:bodyPr/>
                    <a:lstStyle/>
                    <a:p>
                      <a:r>
                        <a:rPr sz="1150" b="1">
                          <a:solidFill>
                            <a:srgbClr val="FFFFFF"/>
                          </a:solidFill>
                          <a:latin typeface="Yu Gothic"/>
                          <a:ea typeface="Yu Gothic"/>
                        </a:rPr>
                        <a:t>展開案</a:t>
                      </a:r>
                    </a:p>
                  </a:txBody>
                  <a:tcPr anchor="ctr" marL="73152" marR="73152" marT="18288" marB="18288">
                    <a:solidFill>
                      <a:srgbClr val="121A2E"/>
                    </a:solidFill>
                  </a:tcPr>
                </a:tc>
              </a:tr>
              <a:tr h="420624">
                <a:tc>
                  <a:txBody>
                    <a:bodyPr/>
                    <a:lstStyle/>
                    <a:p>
                      <a:r>
                        <a:rPr sz="1300" b="0">
                          <a:solidFill>
                            <a:srgbClr val="21252B"/>
                          </a:solidFill>
                          <a:latin typeface="Yu Gothic"/>
                          <a:ea typeface="Yu Gothic"/>
                        </a:rPr>
                        <a:t>PayPay</a:t>
                      </a:r>
                    </a:p>
                  </a:txBody>
                  <a:tcPr anchor="ctr" marL="73152" marR="73152" marT="18288" marB="18288">
                    <a:solidFill>
                      <a:srgbClr val="FFFFFF"/>
                    </a:solidFill>
                  </a:tcPr>
                </a:tc>
                <a:tc>
                  <a:txBody>
                    <a:bodyPr/>
                    <a:lstStyle/>
                    <a:p>
                      <a:r>
                        <a:rPr sz="1300" b="0">
                          <a:solidFill>
                            <a:srgbClr val="21252B"/>
                          </a:solidFill>
                          <a:latin typeface="Yu Gothic"/>
                          <a:ea typeface="Yu Gothic"/>
                        </a:rPr>
                        <a:t>商業施設内の対象店舗利用で抽選、PayPayポイント施策</a:t>
                      </a:r>
                    </a:p>
                  </a:txBody>
                  <a:tcPr anchor="ctr" marL="73152" marR="73152" marT="18288" marB="18288">
                    <a:solidFill>
                      <a:srgbClr val="FFFFFF"/>
                    </a:solidFill>
                  </a:tcPr>
                </a:tc>
              </a:tr>
              <a:tr h="420624">
                <a:tc>
                  <a:txBody>
                    <a:bodyPr/>
                    <a:lstStyle/>
                    <a:p>
                      <a:r>
                        <a:rPr sz="1300" b="0">
                          <a:solidFill>
                            <a:srgbClr val="21252B"/>
                          </a:solidFill>
                          <a:latin typeface="Yu Gothic"/>
                          <a:ea typeface="Yu Gothic"/>
                        </a:rPr>
                        <a:t>LINE</a:t>
                      </a:r>
                    </a:p>
                  </a:txBody>
                  <a:tcPr anchor="ctr" marL="73152" marR="73152" marT="18288" marB="18288">
                    <a:solidFill>
                      <a:srgbClr val="F2F4F6"/>
                    </a:solidFill>
                  </a:tcPr>
                </a:tc>
                <a:tc>
                  <a:txBody>
                    <a:bodyPr/>
                    <a:lstStyle/>
                    <a:p>
                      <a:r>
                        <a:rPr sz="1300" b="0">
                          <a:solidFill>
                            <a:srgbClr val="21252B"/>
                          </a:solidFill>
                          <a:latin typeface="Yu Gothic"/>
                          <a:ea typeface="Yu Gothic"/>
                        </a:rPr>
                        <a:t>イベント告知、デジタル隊員証、来場後フォロー</a:t>
                      </a:r>
                    </a:p>
                  </a:txBody>
                  <a:tcPr anchor="ctr" marL="73152" marR="73152" marT="18288" marB="18288">
                    <a:solidFill>
                      <a:srgbClr val="F2F4F6"/>
                    </a:solidFill>
                  </a:tcPr>
                </a:tc>
              </a:tr>
              <a:tr h="420624">
                <a:tc>
                  <a:txBody>
                    <a:bodyPr/>
                    <a:lstStyle/>
                    <a:p>
                      <a:r>
                        <a:rPr sz="1300" b="0">
                          <a:solidFill>
                            <a:srgbClr val="21252B"/>
                          </a:solidFill>
                          <a:latin typeface="Yu Gothic"/>
                          <a:ea typeface="Yu Gothic"/>
                        </a:rPr>
                        <a:t>LYP</a:t>
                      </a:r>
                    </a:p>
                  </a:txBody>
                  <a:tcPr anchor="ctr" marL="73152" marR="73152" marT="18288" marB="18288">
                    <a:solidFill>
                      <a:srgbClr val="FFFFFF"/>
                    </a:solidFill>
                  </a:tcPr>
                </a:tc>
                <a:tc>
                  <a:txBody>
                    <a:bodyPr/>
                    <a:lstStyle/>
                    <a:p>
                      <a:r>
                        <a:rPr sz="1300" b="0">
                          <a:solidFill>
                            <a:srgbClr val="21252B"/>
                          </a:solidFill>
                          <a:latin typeface="Yu Gothic"/>
                          <a:ea typeface="Yu Gothic"/>
                        </a:rPr>
                        <a:t>SoftBankユーザー向け特典訴求</a:t>
                      </a:r>
                    </a:p>
                  </a:txBody>
                  <a:tcPr anchor="ctr" marL="73152" marR="73152" marT="18288" marB="18288">
                    <a:solidFill>
                      <a:srgbClr val="FFFFFF"/>
                    </a:solidFill>
                  </a:tcPr>
                </a:tc>
              </a:tr>
              <a:tr h="420624">
                <a:tc>
                  <a:txBody>
                    <a:bodyPr/>
                    <a:lstStyle/>
                    <a:p>
                      <a:r>
                        <a:rPr sz="1300" b="0">
                          <a:solidFill>
                            <a:srgbClr val="21252B"/>
                          </a:solidFill>
                          <a:latin typeface="Yu Gothic"/>
                          <a:ea typeface="Yu Gothic"/>
                        </a:rPr>
                        <a:t>Yahoo! JAPAN</a:t>
                      </a:r>
                    </a:p>
                  </a:txBody>
                  <a:tcPr anchor="ctr" marL="73152" marR="73152" marT="18288" marB="18288">
                    <a:solidFill>
                      <a:srgbClr val="F2F4F6"/>
                    </a:solidFill>
                  </a:tcPr>
                </a:tc>
                <a:tc>
                  <a:txBody>
                    <a:bodyPr/>
                    <a:lstStyle/>
                    <a:p>
                      <a:r>
                        <a:rPr sz="1300" b="0">
                          <a:solidFill>
                            <a:srgbClr val="21252B"/>
                          </a:solidFill>
                          <a:latin typeface="Yu Gothic"/>
                          <a:ea typeface="Yu Gothic"/>
                        </a:rPr>
                        <a:t>特集面・キャンペーン告知</a:t>
                      </a:r>
                    </a:p>
                  </a:txBody>
                  <a:tcPr anchor="ctr" marL="73152" marR="73152" marT="18288" marB="18288">
                    <a:solidFill>
                      <a:srgbClr val="F2F4F6"/>
                    </a:solidFill>
                  </a:tcPr>
                </a:tc>
              </a:tr>
              <a:tr h="420624">
                <a:tc>
                  <a:txBody>
                    <a:bodyPr/>
                    <a:lstStyle/>
                    <a:p>
                      <a:r>
                        <a:rPr sz="1300" b="0">
                          <a:solidFill>
                            <a:srgbClr val="21252B"/>
                          </a:solidFill>
                          <a:latin typeface="Yu Gothic"/>
                          <a:ea typeface="Yu Gothic"/>
                        </a:rPr>
                        <a:t>My SoftBank</a:t>
                      </a:r>
                    </a:p>
                  </a:txBody>
                  <a:tcPr anchor="ctr" marL="73152" marR="73152" marT="18288" marB="18288">
                    <a:solidFill>
                      <a:srgbClr val="FFFFFF"/>
                    </a:solidFill>
                  </a:tcPr>
                </a:tc>
                <a:tc>
                  <a:txBody>
                    <a:bodyPr/>
                    <a:lstStyle/>
                    <a:p>
                      <a:r>
                        <a:rPr sz="1300" b="0">
                          <a:solidFill>
                            <a:srgbClr val="21252B"/>
                          </a:solidFill>
                          <a:latin typeface="Yu Gothic"/>
                          <a:ea typeface="Yu Gothic"/>
                        </a:rPr>
                        <a:t>既存ユーザー向けイベント告知</a:t>
                      </a:r>
                    </a:p>
                  </a:txBody>
                  <a:tcPr anchor="ctr" marL="73152" marR="73152" marT="18288" marB="18288">
                    <a:solidFill>
                      <a:srgbClr val="FFFFFF"/>
                    </a:solidFill>
                  </a:tcPr>
                </a:tc>
              </a:tr>
            </a:tbl>
          </a:graphicData>
        </a:graphic>
      </p:graphicFrame>
      <p:sp>
        <p:nvSpPr>
          <p:cNvPr id="10" name="TextBox 9"/>
          <p:cNvSpPr txBox="1"/>
          <p:nvPr/>
        </p:nvSpPr>
        <p:spPr>
          <a:xfrm>
            <a:off x="777240" y="4892040"/>
            <a:ext cx="10789920" cy="731520"/>
          </a:xfrm>
          <a:prstGeom prst="rect">
            <a:avLst/>
          </a:prstGeom>
          <a:noFill/>
        </p:spPr>
        <p:txBody>
          <a:bodyPr wrap="square" anchor="t" lIns="0" rIns="0" tIns="0" bIns="0">
            <a:spAutoFit/>
          </a:bodyPr>
          <a:lstStyle/>
          <a:p>
            <a:pPr algn="l">
              <a:spcAft>
                <a:spcPts val="600"/>
              </a:spcAft>
            </a:pPr>
            <a:r>
              <a:rPr sz="1350" b="1">
                <a:solidFill>
                  <a:srgbClr val="D60012"/>
                </a:solidFill>
                <a:latin typeface="Yu Gothic"/>
                <a:ea typeface="Yu Gothic"/>
              </a:rPr>
              <a:t>注記:</a:t>
            </a:r>
            <a:r>
              <a:rPr sz="1350" b="0">
                <a:solidFill>
                  <a:srgbClr val="21252B"/>
                </a:solidFill>
                <a:latin typeface="Yu Gothic"/>
                <a:ea typeface="Yu Gothic"/>
              </a:rPr>
              <a:t>PayPayポイント原資、アプリ本体改修、LINEミニアプリ開発は本見積に含めず、別途費用とする。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88920"/>
            <a:ext cx="146304" cy="1051560"/>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331720"/>
            <a:ext cx="10058400" cy="548640"/>
          </a:xfrm>
          <a:prstGeom prst="rect">
            <a:avLst/>
          </a:prstGeom>
          <a:noFill/>
        </p:spPr>
        <p:txBody>
          <a:bodyPr wrap="square" anchor="t" lIns="0" rIns="0" tIns="0" bIns="0">
            <a:spAutoFit/>
          </a:bodyPr>
          <a:lstStyle/>
          <a:p>
            <a:pPr algn="l">
              <a:spcAft>
                <a:spcPts val="600"/>
              </a:spcAft>
            </a:pPr>
            <a:r>
              <a:rPr sz="1800" b="1">
                <a:solidFill>
                  <a:srgbClr val="8E949B"/>
                </a:solidFill>
                <a:latin typeface="Yu Gothic"/>
                <a:ea typeface="Yu Gothic"/>
              </a:rPr>
              <a:t>PLAN &amp; BUDGET</a:t>
            </a:r>
          </a:p>
        </p:txBody>
      </p:sp>
      <p:sp>
        <p:nvSpPr>
          <p:cNvPr id="5" name="TextBox 4"/>
          <p:cNvSpPr txBox="1"/>
          <p:nvPr/>
        </p:nvSpPr>
        <p:spPr>
          <a:xfrm>
            <a:off x="1234440" y="2788920"/>
            <a:ext cx="10241280" cy="1097280"/>
          </a:xfrm>
          <a:prstGeom prst="rect">
            <a:avLst/>
          </a:prstGeom>
          <a:noFill/>
        </p:spPr>
        <p:txBody>
          <a:bodyPr wrap="square" anchor="t" lIns="0" rIns="0" tIns="0" bIns="0">
            <a:spAutoFit/>
          </a:bodyPr>
          <a:lstStyle/>
          <a:p>
            <a:pPr algn="l">
              <a:spcAft>
                <a:spcPts val="600"/>
              </a:spcAft>
            </a:pPr>
            <a:r>
              <a:rPr sz="3400" b="1">
                <a:solidFill>
                  <a:srgbClr val="FFFFFF"/>
                </a:solidFill>
                <a:latin typeface="Yu Gothic"/>
                <a:ea typeface="Yu Gothic"/>
              </a:rPr>
              <a:t>見積もり3パターン</a:t>
            </a:r>
          </a:p>
        </p:txBody>
      </p:sp>
      <p:sp>
        <p:nvSpPr>
          <p:cNvPr id="6" name="TextBox 5"/>
          <p:cNvSpPr txBox="1"/>
          <p:nvPr/>
        </p:nvSpPr>
        <p:spPr>
          <a:xfrm>
            <a:off x="1234440" y="3977639"/>
            <a:ext cx="9875520" cy="1097280"/>
          </a:xfrm>
          <a:prstGeom prst="rect">
            <a:avLst/>
          </a:prstGeom>
          <a:noFill/>
        </p:spPr>
        <p:txBody>
          <a:bodyPr wrap="square" anchor="t" lIns="0" rIns="0" tIns="0" bIns="0">
            <a:spAutoFit/>
          </a:bodyPr>
          <a:lstStyle/>
          <a:p>
            <a:pPr algn="l">
              <a:spcAft>
                <a:spcPts val="600"/>
              </a:spcAft>
            </a:pPr>
            <a:r>
              <a:rPr sz="1500" b="0">
                <a:solidFill>
                  <a:srgbClr val="C3C9D2"/>
                </a:solidFill>
                <a:latin typeface="Yu Gothic"/>
                <a:ea typeface="Yu Gothic"/>
              </a:rPr>
              <a:t>すべて税別・概算。円谷プロ側の正式なIP使用料、監修条件、ヒーロー稼働条件、使用媒体、使用期間により変動します。</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3プラン比較</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推奨はB案:FY27標準プラン(1億5,000万円)です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20</a:t>
            </a:r>
          </a:p>
        </p:txBody>
      </p:sp>
      <p:graphicFrame>
        <p:nvGraphicFramePr>
          <p:cNvPr id="8" name="Table 7"/>
          <p:cNvGraphicFramePr>
            <a:graphicFrameLocks noGrp="1"/>
          </p:cNvGraphicFramePr>
          <p:nvPr/>
        </p:nvGraphicFramePr>
        <p:xfrm>
          <a:off x="640080" y="1691640"/>
          <a:ext cx="10881358" cy="2487168"/>
        </p:xfrm>
        <a:graphic>
          <a:graphicData uri="http://schemas.openxmlformats.org/drawingml/2006/table">
            <a:tbl>
              <a:tblPr firstRow="1" bandRow="1">
                <a:tableStyleId>{5C22544A-7EE6-4342-B048-85BDC9FD1C3A}</a:tableStyleId>
              </a:tblPr>
              <a:tblGrid>
                <a:gridCol w="2978056"/>
                <a:gridCol w="1832650"/>
                <a:gridCol w="5039787"/>
                <a:gridCol w="1030865"/>
              </a:tblGrid>
              <a:tr h="621792">
                <a:tc>
                  <a:txBody>
                    <a:bodyPr/>
                    <a:lstStyle/>
                    <a:p>
                      <a:r>
                        <a:rPr sz="1150" b="1">
                          <a:solidFill>
                            <a:srgbClr val="FFFFFF"/>
                          </a:solidFill>
                          <a:latin typeface="Yu Gothic"/>
                          <a:ea typeface="Yu Gothic"/>
                        </a:rPr>
                        <a:t>プラン</a:t>
                      </a:r>
                    </a:p>
                  </a:txBody>
                  <a:tcPr anchor="ctr" marL="73152" marR="73152" marT="18288" marB="18288">
                    <a:solidFill>
                      <a:srgbClr val="121A2E"/>
                    </a:solidFill>
                  </a:tcPr>
                </a:tc>
                <a:tc>
                  <a:txBody>
                    <a:bodyPr/>
                    <a:lstStyle/>
                    <a:p>
                      <a:r>
                        <a:rPr sz="1150" b="1">
                          <a:solidFill>
                            <a:srgbClr val="FFFFFF"/>
                          </a:solidFill>
                          <a:latin typeface="Yu Gothic"/>
                          <a:ea typeface="Yu Gothic"/>
                        </a:rPr>
                        <a:t>金額(税別)</a:t>
                      </a:r>
                    </a:p>
                  </a:txBody>
                  <a:tcPr anchor="ctr" marL="73152" marR="73152" marT="18288" marB="18288">
                    <a:solidFill>
                      <a:srgbClr val="121A2E"/>
                    </a:solidFill>
                  </a:tcPr>
                </a:tc>
                <a:tc>
                  <a:txBody>
                    <a:bodyPr/>
                    <a:lstStyle/>
                    <a:p>
                      <a:r>
                        <a:rPr sz="1150" b="1">
                          <a:solidFill>
                            <a:srgbClr val="FFFFFF"/>
                          </a:solidFill>
                          <a:latin typeface="Yu Gothic"/>
                          <a:ea typeface="Yu Gothic"/>
                        </a:rPr>
                        <a:t>位置づけ</a:t>
                      </a:r>
                    </a:p>
                  </a:txBody>
                  <a:tcPr anchor="ctr" marL="73152" marR="73152" marT="18288" marB="18288">
                    <a:solidFill>
                      <a:srgbClr val="121A2E"/>
                    </a:solidFill>
                  </a:tcPr>
                </a:tc>
                <a:tc>
                  <a:txBody>
                    <a:bodyPr/>
                    <a:lstStyle/>
                    <a:p>
                      <a:r>
                        <a:rPr sz="1150" b="1">
                          <a:solidFill>
                            <a:srgbClr val="FFFFFF"/>
                          </a:solidFill>
                          <a:latin typeface="Yu Gothic"/>
                          <a:ea typeface="Yu Gothic"/>
                        </a:rPr>
                        <a:t>推奨度</a:t>
                      </a:r>
                    </a:p>
                  </a:txBody>
                  <a:tcPr anchor="ctr" marL="73152" marR="73152" marT="18288" marB="18288">
                    <a:solidFill>
                      <a:srgbClr val="121A2E"/>
                    </a:solidFill>
                  </a:tcPr>
                </a:tc>
              </a:tr>
              <a:tr h="621792">
                <a:tc>
                  <a:txBody>
                    <a:bodyPr/>
                    <a:lstStyle/>
                    <a:p>
                      <a:r>
                        <a:rPr sz="1350" b="0">
                          <a:solidFill>
                            <a:srgbClr val="21252B"/>
                          </a:solidFill>
                          <a:latin typeface="Yu Gothic"/>
                          <a:ea typeface="Yu Gothic"/>
                        </a:rPr>
                        <a:t>A案:短期検証プラン</a:t>
                      </a:r>
                    </a:p>
                  </a:txBody>
                  <a:tcPr anchor="ctr" marL="73152" marR="73152" marT="18288" marB="18288">
                    <a:solidFill>
                      <a:srgbClr val="FFFFFF"/>
                    </a:solidFill>
                  </a:tcPr>
                </a:tc>
                <a:tc>
                  <a:txBody>
                    <a:bodyPr/>
                    <a:lstStyle/>
                    <a:p>
                      <a:r>
                        <a:rPr sz="1350" b="0">
                          <a:solidFill>
                            <a:srgbClr val="21252B"/>
                          </a:solidFill>
                          <a:latin typeface="Yu Gothic"/>
                          <a:ea typeface="Yu Gothic"/>
                        </a:rPr>
                        <a:t>3,500万円</a:t>
                      </a:r>
                    </a:p>
                  </a:txBody>
                  <a:tcPr anchor="ctr" marL="73152" marR="73152" marT="18288" marB="18288">
                    <a:solidFill>
                      <a:srgbClr val="FFFFFF"/>
                    </a:solidFill>
                  </a:tcPr>
                </a:tc>
                <a:tc>
                  <a:txBody>
                    <a:bodyPr/>
                    <a:lstStyle/>
                    <a:p>
                      <a:r>
                        <a:rPr sz="1350" b="0">
                          <a:solidFill>
                            <a:srgbClr val="21252B"/>
                          </a:solidFill>
                          <a:latin typeface="Yu Gothic"/>
                          <a:ea typeface="Yu Gothic"/>
                        </a:rPr>
                        <a:t>商業施設イベントの小規模検証(FY27期首:2027年4月〜)</a:t>
                      </a:r>
                    </a:p>
                  </a:txBody>
                  <a:tcPr anchor="ctr" marL="73152" marR="73152" marT="18288" marB="18288">
                    <a:solidFill>
                      <a:srgbClr val="FFFFFF"/>
                    </a:solidFill>
                  </a:tcPr>
                </a:tc>
                <a:tc>
                  <a:txBody>
                    <a:bodyPr/>
                    <a:lstStyle/>
                    <a:p>
                      <a:r>
                        <a:rPr sz="1350" b="0">
                          <a:solidFill>
                            <a:srgbClr val="21252B"/>
                          </a:solidFill>
                          <a:latin typeface="Yu Gothic"/>
                          <a:ea typeface="Yu Gothic"/>
                        </a:rPr>
                        <a:t>○</a:t>
                      </a:r>
                    </a:p>
                  </a:txBody>
                  <a:tcPr anchor="ctr" marL="73152" marR="73152" marT="18288" marB="18288">
                    <a:solidFill>
                      <a:srgbClr val="FFFFFF"/>
                    </a:solidFill>
                  </a:tcPr>
                </a:tc>
              </a:tr>
              <a:tr h="621792">
                <a:tc>
                  <a:txBody>
                    <a:bodyPr/>
                    <a:lstStyle/>
                    <a:p>
                      <a:r>
                        <a:rPr sz="1350" b="1">
                          <a:solidFill>
                            <a:srgbClr val="D60012"/>
                          </a:solidFill>
                          <a:latin typeface="Yu Gothic"/>
                          <a:ea typeface="Yu Gothic"/>
                        </a:rPr>
                        <a:t>B案:FY27標準プラン</a:t>
                      </a:r>
                    </a:p>
                  </a:txBody>
                  <a:tcPr anchor="ctr" marL="73152" marR="73152" marT="18288" marB="18288">
                    <a:solidFill>
                      <a:srgbClr val="F2F4F6"/>
                    </a:solidFill>
                  </a:tcPr>
                </a:tc>
                <a:tc>
                  <a:txBody>
                    <a:bodyPr/>
                    <a:lstStyle/>
                    <a:p>
                      <a:r>
                        <a:rPr sz="1350" b="1">
                          <a:solidFill>
                            <a:srgbClr val="D60012"/>
                          </a:solidFill>
                          <a:latin typeface="Yu Gothic"/>
                          <a:ea typeface="Yu Gothic"/>
                        </a:rPr>
                        <a:t>1億5,000万円</a:t>
                      </a:r>
                    </a:p>
                  </a:txBody>
                  <a:tcPr anchor="ctr" marL="73152" marR="73152" marT="18288" marB="18288">
                    <a:solidFill>
                      <a:srgbClr val="F2F4F6"/>
                    </a:solidFill>
                  </a:tcPr>
                </a:tc>
                <a:tc>
                  <a:txBody>
                    <a:bodyPr/>
                    <a:lstStyle/>
                    <a:p>
                      <a:r>
                        <a:rPr sz="1350" b="1">
                          <a:solidFill>
                            <a:srgbClr val="21252B"/>
                          </a:solidFill>
                          <a:latin typeface="Yu Gothic"/>
                          <a:ea typeface="Yu Gothic"/>
                        </a:rPr>
                        <a:t>年間展開の推奨案。FY27以降のリアル集客を補完</a:t>
                      </a:r>
                    </a:p>
                  </a:txBody>
                  <a:tcPr anchor="ctr" marL="73152" marR="73152" marT="18288" marB="18288">
                    <a:solidFill>
                      <a:srgbClr val="F2F4F6"/>
                    </a:solidFill>
                  </a:tcPr>
                </a:tc>
                <a:tc>
                  <a:txBody>
                    <a:bodyPr/>
                    <a:lstStyle/>
                    <a:p>
                      <a:r>
                        <a:rPr sz="1350" b="1">
                          <a:solidFill>
                            <a:srgbClr val="D60012"/>
                          </a:solidFill>
                          <a:latin typeface="Yu Gothic"/>
                          <a:ea typeface="Yu Gothic"/>
                        </a:rPr>
                        <a:t>◎</a:t>
                      </a:r>
                    </a:p>
                  </a:txBody>
                  <a:tcPr anchor="ctr" marL="73152" marR="73152" marT="18288" marB="18288">
                    <a:solidFill>
                      <a:srgbClr val="F2F4F6"/>
                    </a:solidFill>
                  </a:tcPr>
                </a:tc>
              </a:tr>
              <a:tr h="621792">
                <a:tc>
                  <a:txBody>
                    <a:bodyPr/>
                    <a:lstStyle/>
                    <a:p>
                      <a:r>
                        <a:rPr sz="1350" b="0">
                          <a:solidFill>
                            <a:srgbClr val="21252B"/>
                          </a:solidFill>
                          <a:latin typeface="Yu Gothic"/>
                          <a:ea typeface="Yu Gothic"/>
                        </a:rPr>
                        <a:t>C案:60周年大型展開プラン</a:t>
                      </a:r>
                    </a:p>
                  </a:txBody>
                  <a:tcPr anchor="ctr" marL="73152" marR="73152" marT="18288" marB="18288">
                    <a:solidFill>
                      <a:srgbClr val="FFFFFF"/>
                    </a:solidFill>
                  </a:tcPr>
                </a:tc>
                <a:tc>
                  <a:txBody>
                    <a:bodyPr/>
                    <a:lstStyle/>
                    <a:p>
                      <a:r>
                        <a:rPr sz="1350" b="0">
                          <a:solidFill>
                            <a:srgbClr val="21252B"/>
                          </a:solidFill>
                          <a:latin typeface="Yu Gothic"/>
                          <a:ea typeface="Yu Gothic"/>
                        </a:rPr>
                        <a:t>2億5,000万円</a:t>
                      </a:r>
                    </a:p>
                  </a:txBody>
                  <a:tcPr anchor="ctr" marL="73152" marR="73152" marT="18288" marB="18288">
                    <a:solidFill>
                      <a:srgbClr val="FFFFFF"/>
                    </a:solidFill>
                  </a:tcPr>
                </a:tc>
                <a:tc>
                  <a:txBody>
                    <a:bodyPr/>
                    <a:lstStyle/>
                    <a:p>
                      <a:r>
                        <a:rPr sz="1350" b="0">
                          <a:solidFill>
                            <a:srgbClr val="21252B"/>
                          </a:solidFill>
                          <a:latin typeface="Yu Gothic"/>
                          <a:ea typeface="Yu Gothic"/>
                        </a:rPr>
                        <a:t>全国大型キャンペーン(B案実施後の拡張案)</a:t>
                      </a:r>
                    </a:p>
                  </a:txBody>
                  <a:tcPr anchor="ctr" marL="73152" marR="73152" marT="18288" marB="18288">
                    <a:solidFill>
                      <a:srgbClr val="FFFFFF"/>
                    </a:solidFill>
                  </a:tcPr>
                </a:tc>
                <a:tc>
                  <a:txBody>
                    <a:bodyPr/>
                    <a:lstStyle/>
                    <a:p>
                      <a:r>
                        <a:rPr sz="1350" b="0">
                          <a:solidFill>
                            <a:srgbClr val="21252B"/>
                          </a:solidFill>
                          <a:latin typeface="Yu Gothic"/>
                          <a:ea typeface="Yu Gothic"/>
                        </a:rPr>
                        <a:t>○</a:t>
                      </a:r>
                    </a:p>
                  </a:txBody>
                  <a:tcPr anchor="ctr" marL="73152" marR="73152" marT="18288" marB="18288">
                    <a:solidFill>
                      <a:srgbClr val="FFFFFF"/>
                    </a:solidFill>
                  </a:tcPr>
                </a:tc>
              </a:tr>
            </a:tbl>
          </a:graphicData>
        </a:graphic>
      </p:graphicFrame>
      <p:sp>
        <p:nvSpPr>
          <p:cNvPr id="9" name="Rectangle 8"/>
          <p:cNvSpPr/>
          <p:nvPr/>
        </p:nvSpPr>
        <p:spPr>
          <a:xfrm>
            <a:off x="640080" y="4434840"/>
            <a:ext cx="10881360" cy="1371600"/>
          </a:xfrm>
          <a:prstGeom prst="rect">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45152"/>
            <a:ext cx="10332720" cy="1005840"/>
          </a:xfrm>
          <a:prstGeom prst="rect">
            <a:avLst/>
          </a:prstGeom>
          <a:noFill/>
        </p:spPr>
        <p:txBody>
          <a:bodyPr wrap="square" anchor="t" lIns="0" rIns="0" tIns="0" bIns="0">
            <a:spAutoFit/>
          </a:bodyPr>
          <a:lstStyle/>
          <a:p>
            <a:pPr algn="l">
              <a:spcAft>
                <a:spcPts val="600"/>
              </a:spcAft>
            </a:pPr>
            <a:r>
              <a:rPr sz="1400" b="1">
                <a:solidFill>
                  <a:srgbClr val="D60012"/>
                </a:solidFill>
                <a:latin typeface="Yu Gothic"/>
                <a:ea typeface="Yu Gothic"/>
              </a:rPr>
              <a:t>推奨の進め方</a:t>
            </a:r>
          </a:p>
          <a:p>
            <a:pPr algn="l">
              <a:spcAft>
                <a:spcPts val="600"/>
              </a:spcAft>
            </a:pPr>
            <a:r>
              <a:rPr sz="1500" b="1">
                <a:solidFill>
                  <a:srgbClr val="21252B"/>
                </a:solidFill>
                <a:latin typeface="Yu Gothic"/>
                <a:ea typeface="Yu Gothic"/>
              </a:rPr>
              <a:t>A案パイロット(FY27期首:2027年4月〜)で反応を検証 → B案で年間展開 → 成果に応じてC案(全国)へ拡張。</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お見積りの前提と積算の考え方</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各金額の積算根拠を明示のうえ、円谷プロ側との条件確認をもって精査版をご提示します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21</a:t>
            </a:r>
          </a:p>
        </p:txBody>
      </p:sp>
      <p:graphicFrame>
        <p:nvGraphicFramePr>
          <p:cNvPr id="8" name="Table 7"/>
          <p:cNvGraphicFramePr>
            <a:graphicFrameLocks noGrp="1"/>
          </p:cNvGraphicFramePr>
          <p:nvPr/>
        </p:nvGraphicFramePr>
        <p:xfrm>
          <a:off x="640080" y="1600200"/>
          <a:ext cx="10881360" cy="4224528"/>
        </p:xfrm>
        <a:graphic>
          <a:graphicData uri="http://schemas.openxmlformats.org/drawingml/2006/table">
            <a:tbl>
              <a:tblPr firstRow="1" bandRow="1">
                <a:tableStyleId>{5C22544A-7EE6-4342-B048-85BDC9FD1C3A}</a:tableStyleId>
              </a:tblPr>
              <a:tblGrid>
                <a:gridCol w="3324860"/>
                <a:gridCol w="7556500"/>
              </a:tblGrid>
              <a:tr h="603504">
                <a:tc>
                  <a:txBody>
                    <a:bodyPr/>
                    <a:lstStyle/>
                    <a:p>
                      <a:r>
                        <a:rPr sz="1150" b="1">
                          <a:solidFill>
                            <a:srgbClr val="FFFFFF"/>
                          </a:solidFill>
                          <a:latin typeface="Yu Gothic"/>
                          <a:ea typeface="Yu Gothic"/>
                        </a:rPr>
                        <a:t>項目</a:t>
                      </a:r>
                    </a:p>
                  </a:txBody>
                  <a:tcPr anchor="ctr" marL="73152" marR="73152" marT="18288" marB="18288">
                    <a:solidFill>
                      <a:srgbClr val="121A2E"/>
                    </a:solidFill>
                  </a:tcPr>
                </a:tc>
                <a:tc>
                  <a:txBody>
                    <a:bodyPr/>
                    <a:lstStyle/>
                    <a:p>
                      <a:r>
                        <a:rPr sz="1150" b="1">
                          <a:solidFill>
                            <a:srgbClr val="FFFFFF"/>
                          </a:solidFill>
                          <a:latin typeface="Yu Gothic"/>
                          <a:ea typeface="Yu Gothic"/>
                        </a:rPr>
                        <a:t>積算の考え方</a:t>
                      </a:r>
                    </a:p>
                  </a:txBody>
                  <a:tcPr anchor="ctr" marL="73152" marR="73152" marT="18288" marB="18288">
                    <a:solidFill>
                      <a:srgbClr val="121A2E"/>
                    </a:solidFill>
                  </a:tcPr>
                </a:tc>
              </a:tr>
              <a:tr h="603504">
                <a:tc>
                  <a:txBody>
                    <a:bodyPr/>
                    <a:lstStyle/>
                    <a:p>
                      <a:r>
                        <a:rPr sz="1150" b="0">
                          <a:solidFill>
                            <a:srgbClr val="21252B"/>
                          </a:solidFill>
                          <a:latin typeface="Yu Gothic"/>
                          <a:ea typeface="Yu Gothic"/>
                        </a:rPr>
                        <a:t>年間IP使用料(B案・C案:8,000万円)</a:t>
                      </a:r>
                    </a:p>
                  </a:txBody>
                  <a:tcPr anchor="ctr" marL="73152" marR="73152" marT="18288" marB="18288">
                    <a:solidFill>
                      <a:srgbClr val="FFFFFF"/>
                    </a:solidFill>
                  </a:tcPr>
                </a:tc>
                <a:tc>
                  <a:txBody>
                    <a:bodyPr/>
                    <a:lstStyle/>
                    <a:p>
                      <a:r>
                        <a:rPr sz="1150" b="0">
                          <a:solidFill>
                            <a:srgbClr val="21252B"/>
                          </a:solidFill>
                          <a:latin typeface="Yu Gothic"/>
                          <a:ea typeface="Yu Gothic"/>
                        </a:rPr>
                        <a:t>円谷プロとの年間包括契約を想定した上限側の概算。60周年記念年のプレミアム、ヒーロー稼働との一体運用、広範な使用範囲(イベント/BB/でんき/店頭/Web/SNS)を含む水準</a:t>
                      </a:r>
                    </a:p>
                  </a:txBody>
                  <a:tcPr anchor="ctr" marL="73152" marR="73152" marT="18288" marB="18288">
                    <a:solidFill>
                      <a:srgbClr val="FFFFFF"/>
                    </a:solidFill>
                  </a:tcPr>
                </a:tc>
              </a:tr>
              <a:tr h="603504">
                <a:tc>
                  <a:txBody>
                    <a:bodyPr/>
                    <a:lstStyle/>
                    <a:p>
                      <a:r>
                        <a:rPr sz="1150" b="0">
                          <a:solidFill>
                            <a:srgbClr val="21252B"/>
                          </a:solidFill>
                          <a:latin typeface="Yu Gothic"/>
                          <a:ea typeface="Yu Gothic"/>
                        </a:rPr>
                        <a:t>短期IP使用料(A案:1,200万円)</a:t>
                      </a:r>
                    </a:p>
                  </a:txBody>
                  <a:tcPr anchor="ctr" marL="73152" marR="73152" marT="18288" marB="18288">
                    <a:solidFill>
                      <a:srgbClr val="F2F4F6"/>
                    </a:solidFill>
                  </a:tcPr>
                </a:tc>
                <a:tc>
                  <a:txBody>
                    <a:bodyPr/>
                    <a:lstStyle/>
                    <a:p>
                      <a:r>
                        <a:rPr sz="1150" b="0">
                          <a:solidFill>
                            <a:srgbClr val="21252B"/>
                          </a:solidFill>
                          <a:latin typeface="Yu Gothic"/>
                          <a:ea typeface="Yu Gothic"/>
                        </a:rPr>
                        <a:t>月額換算約300〜400万円×3〜4か月。短期プロモーションライセンスの一般的な水準(1クール数百万〜数千万円)の範囲内</a:t>
                      </a:r>
                    </a:p>
                  </a:txBody>
                  <a:tcPr anchor="ctr" marL="73152" marR="73152" marT="18288" marB="18288">
                    <a:solidFill>
                      <a:srgbClr val="F2F4F6"/>
                    </a:solidFill>
                  </a:tcPr>
                </a:tc>
              </a:tr>
              <a:tr h="603504">
                <a:tc>
                  <a:txBody>
                    <a:bodyPr/>
                    <a:lstStyle/>
                    <a:p>
                      <a:r>
                        <a:rPr sz="1150" b="0">
                          <a:solidFill>
                            <a:srgbClr val="21252B"/>
                          </a:solidFill>
                          <a:latin typeface="Yu Gothic"/>
                          <a:ea typeface="Yu Gothic"/>
                        </a:rPr>
                        <a:t>ヒーロー登場・イベント運営費</a:t>
                      </a:r>
                    </a:p>
                  </a:txBody>
                  <a:tcPr anchor="ctr" marL="73152" marR="73152" marT="18288" marB="18288">
                    <a:solidFill>
                      <a:srgbClr val="FFFFFF"/>
                    </a:solidFill>
                  </a:tcPr>
                </a:tc>
                <a:tc>
                  <a:txBody>
                    <a:bodyPr/>
                    <a:lstStyle/>
                    <a:p>
                      <a:r>
                        <a:rPr sz="1150" b="0">
                          <a:solidFill>
                            <a:srgbClr val="21252B"/>
                          </a:solidFill>
                          <a:latin typeface="Yu Gothic"/>
                          <a:ea typeface="Yu Gothic"/>
                        </a:rPr>
                        <a:t>キャラクターショーの実勢価格(1回あたり数十万円+設営・音響・運営)をもとに、1施設あたり週末1〜2回の開催を想定して積算。B案は首都圏中心、全国展開はC案で想定</a:t>
                      </a:r>
                    </a:p>
                  </a:txBody>
                  <a:tcPr anchor="ctr" marL="73152" marR="73152" marT="18288" marB="18288">
                    <a:solidFill>
                      <a:srgbClr val="FFFFFF"/>
                    </a:solidFill>
                  </a:tcPr>
                </a:tc>
              </a:tr>
              <a:tr h="603504">
                <a:tc>
                  <a:txBody>
                    <a:bodyPr/>
                    <a:lstStyle/>
                    <a:p>
                      <a:r>
                        <a:rPr sz="1150" b="0">
                          <a:solidFill>
                            <a:srgbClr val="21252B"/>
                          </a:solidFill>
                          <a:latin typeface="Yu Gothic"/>
                          <a:ea typeface="Yu Gothic"/>
                        </a:rPr>
                        <a:t>広告・送客費</a:t>
                      </a:r>
                    </a:p>
                  </a:txBody>
                  <a:tcPr anchor="ctr" marL="73152" marR="73152" marT="18288" marB="18288">
                    <a:solidFill>
                      <a:srgbClr val="F2F4F6"/>
                    </a:solidFill>
                  </a:tcPr>
                </a:tc>
                <a:tc>
                  <a:txBody>
                    <a:bodyPr/>
                    <a:lstStyle/>
                    <a:p>
                      <a:r>
                        <a:rPr sz="1150" b="0">
                          <a:solidFill>
                            <a:srgbClr val="21252B"/>
                          </a:solidFill>
                          <a:latin typeface="Yu Gothic"/>
                          <a:ea typeface="Yu Gothic"/>
                        </a:rPr>
                        <a:t>集客は商業施設の館内媒体・施設告知との相互送客が主体。広告費はデジタル告知の補助として計上</a:t>
                      </a:r>
                    </a:p>
                  </a:txBody>
                  <a:tcPr anchor="ctr" marL="73152" marR="73152" marT="18288" marB="18288">
                    <a:solidFill>
                      <a:srgbClr val="F2F4F6"/>
                    </a:solidFill>
                  </a:tcPr>
                </a:tc>
              </a:tr>
              <a:tr h="603504">
                <a:tc>
                  <a:txBody>
                    <a:bodyPr/>
                    <a:lstStyle/>
                    <a:p>
                      <a:r>
                        <a:rPr sz="1150" b="0">
                          <a:solidFill>
                            <a:srgbClr val="21252B"/>
                          </a:solidFill>
                          <a:latin typeface="Yu Gothic"/>
                          <a:ea typeface="Yu Gothic"/>
                        </a:rPr>
                        <a:t>事務局・レポート</a:t>
                      </a:r>
                    </a:p>
                  </a:txBody>
                  <a:tcPr anchor="ctr" marL="73152" marR="73152" marT="18288" marB="18288">
                    <a:solidFill>
                      <a:srgbClr val="FFFFFF"/>
                    </a:solidFill>
                  </a:tcPr>
                </a:tc>
                <a:tc>
                  <a:txBody>
                    <a:bodyPr/>
                    <a:lstStyle/>
                    <a:p>
                      <a:r>
                        <a:rPr sz="1150" b="0">
                          <a:solidFill>
                            <a:srgbClr val="21252B"/>
                          </a:solidFill>
                          <a:latin typeface="Yu Gothic"/>
                          <a:ea typeface="Yu Gothic"/>
                        </a:rPr>
                        <a:t>店舗・イベント主体の軽量運用を想定。大規模な抽選・賞品発送を伴う場合は別途お見積り</a:t>
                      </a:r>
                    </a:p>
                  </a:txBody>
                  <a:tcPr anchor="ctr" marL="73152" marR="73152" marT="18288" marB="18288">
                    <a:solidFill>
                      <a:srgbClr val="FFFFFF"/>
                    </a:solidFill>
                  </a:tcPr>
                </a:tc>
              </a:tr>
              <a:tr h="603504">
                <a:tc>
                  <a:txBody>
                    <a:bodyPr/>
                    <a:lstStyle/>
                    <a:p>
                      <a:r>
                        <a:rPr sz="1150" b="0">
                          <a:solidFill>
                            <a:srgbClr val="21252B"/>
                          </a:solidFill>
                          <a:latin typeface="Yu Gothic"/>
                          <a:ea typeface="Yu Gothic"/>
                        </a:rPr>
                        <a:t>変動要因と確定プロセス</a:t>
                      </a:r>
                    </a:p>
                  </a:txBody>
                  <a:tcPr anchor="ctr" marL="73152" marR="73152" marT="18288" marB="18288">
                    <a:solidFill>
                      <a:srgbClr val="F2F4F6"/>
                    </a:solidFill>
                  </a:tcPr>
                </a:tc>
                <a:tc>
                  <a:txBody>
                    <a:bodyPr/>
                    <a:lstStyle/>
                    <a:p>
                      <a:r>
                        <a:rPr sz="1150" b="0">
                          <a:solidFill>
                            <a:srgbClr val="21252B"/>
                          </a:solidFill>
                          <a:latin typeface="Yu Gothic"/>
                          <a:ea typeface="Yu Gothic"/>
                        </a:rPr>
                        <a:t>正式なIP使用料・監修条件・稼働条件・使用媒体により変動。2026年9〜10月の条件確認をもって精査版をご提示</a:t>
                      </a:r>
                    </a:p>
                  </a:txBody>
                  <a:tcPr anchor="ctr" marL="73152" marR="73152" marT="18288" marB="18288">
                    <a:solidFill>
                      <a:srgbClr val="F2F4F6"/>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A案:短期検証プラン|3,500万円(税別)</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FY27期首(2027年4月〜)の3〜4か月で、ウルトラマンを核にした商業施設送客の反応を検証します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22</a:t>
            </a:r>
          </a:p>
        </p:txBody>
      </p:sp>
      <p:graphicFrame>
        <p:nvGraphicFramePr>
          <p:cNvPr id="8" name="Table 7"/>
          <p:cNvGraphicFramePr>
            <a:graphicFrameLocks noGrp="1"/>
          </p:cNvGraphicFramePr>
          <p:nvPr/>
        </p:nvGraphicFramePr>
        <p:xfrm>
          <a:off x="640080" y="1600200"/>
          <a:ext cx="5486399" cy="4023360"/>
        </p:xfrm>
        <a:graphic>
          <a:graphicData uri="http://schemas.openxmlformats.org/drawingml/2006/table">
            <a:tbl>
              <a:tblPr firstRow="1" bandRow="1">
                <a:tableStyleId>{5C22544A-7EE6-4342-B048-85BDC9FD1C3A}</a:tableStyleId>
              </a:tblPr>
              <a:tblGrid>
                <a:gridCol w="3950208"/>
                <a:gridCol w="1536191"/>
              </a:tblGrid>
              <a:tr h="365760">
                <a:tc>
                  <a:txBody>
                    <a:bodyPr/>
                    <a:lstStyle/>
                    <a:p>
                      <a:r>
                        <a:rPr sz="1150" b="1">
                          <a:solidFill>
                            <a:srgbClr val="FFFFFF"/>
                          </a:solidFill>
                          <a:latin typeface="Yu Gothic"/>
                          <a:ea typeface="Yu Gothic"/>
                        </a:rPr>
                        <a:t>見積項目</a:t>
                      </a:r>
                    </a:p>
                  </a:txBody>
                  <a:tcPr anchor="ctr" marL="73152" marR="73152" marT="18288" marB="18288">
                    <a:solidFill>
                      <a:srgbClr val="121A2E"/>
                    </a:solidFill>
                  </a:tcPr>
                </a:tc>
                <a:tc>
                  <a:txBody>
                    <a:bodyPr/>
                    <a:lstStyle/>
                    <a:p>
                      <a:r>
                        <a:rPr sz="1150" b="1">
                          <a:solidFill>
                            <a:srgbClr val="FFFFFF"/>
                          </a:solidFill>
                          <a:latin typeface="Yu Gothic"/>
                          <a:ea typeface="Yu Gothic"/>
                        </a:rPr>
                        <a:t>金額</a:t>
                      </a:r>
                    </a:p>
                  </a:txBody>
                  <a:tcPr anchor="ctr" marL="73152" marR="73152" marT="18288" marB="18288">
                    <a:solidFill>
                      <a:srgbClr val="121A2E"/>
                    </a:solidFill>
                  </a:tcPr>
                </a:tc>
              </a:tr>
              <a:tr h="365760">
                <a:tc>
                  <a:txBody>
                    <a:bodyPr/>
                    <a:lstStyle/>
                    <a:p>
                      <a:r>
                        <a:rPr sz="1150" b="0">
                          <a:solidFill>
                            <a:srgbClr val="21252B"/>
                          </a:solidFill>
                          <a:latin typeface="Yu Gothic"/>
                          <a:ea typeface="Yu Gothic"/>
                        </a:rPr>
                        <a:t>ウルトラマンIP使用料・監修費</a:t>
                      </a:r>
                    </a:p>
                  </a:txBody>
                  <a:tcPr anchor="ctr" marL="73152" marR="73152" marT="18288" marB="18288">
                    <a:solidFill>
                      <a:srgbClr val="FFFFFF"/>
                    </a:solidFill>
                  </a:tcPr>
                </a:tc>
                <a:tc>
                  <a:txBody>
                    <a:bodyPr/>
                    <a:lstStyle/>
                    <a:p>
                      <a:r>
                        <a:rPr sz="1150" b="0">
                          <a:solidFill>
                            <a:srgbClr val="21252B"/>
                          </a:solidFill>
                          <a:latin typeface="Yu Gothic"/>
                          <a:ea typeface="Yu Gothic"/>
                        </a:rPr>
                        <a:t>1,200万円</a:t>
                      </a:r>
                    </a:p>
                  </a:txBody>
                  <a:tcPr anchor="ctr" marL="73152" marR="73152" marT="18288" marB="18288">
                    <a:solidFill>
                      <a:srgbClr val="FFFFFF"/>
                    </a:solidFill>
                  </a:tcPr>
                </a:tc>
              </a:tr>
              <a:tr h="365760">
                <a:tc>
                  <a:txBody>
                    <a:bodyPr/>
                    <a:lstStyle/>
                    <a:p>
                      <a:r>
                        <a:rPr sz="1150" b="0">
                          <a:solidFill>
                            <a:srgbClr val="21252B"/>
                          </a:solidFill>
                          <a:latin typeface="Yu Gothic"/>
                          <a:ea typeface="Yu Gothic"/>
                        </a:rPr>
                        <a:t>企画設計・PM</a:t>
                      </a:r>
                    </a:p>
                  </a:txBody>
                  <a:tcPr anchor="ctr" marL="73152" marR="73152" marT="18288" marB="18288">
                    <a:solidFill>
                      <a:srgbClr val="F2F4F6"/>
                    </a:solidFill>
                  </a:tcPr>
                </a:tc>
                <a:tc>
                  <a:txBody>
                    <a:bodyPr/>
                    <a:lstStyle/>
                    <a:p>
                      <a:r>
                        <a:rPr sz="1150" b="0">
                          <a:solidFill>
                            <a:srgbClr val="21252B"/>
                          </a:solidFill>
                          <a:latin typeface="Yu Gothic"/>
                          <a:ea typeface="Yu Gothic"/>
                        </a:rPr>
                        <a:t>250万円</a:t>
                      </a:r>
                    </a:p>
                  </a:txBody>
                  <a:tcPr anchor="ctr" marL="73152" marR="73152" marT="18288" marB="18288">
                    <a:solidFill>
                      <a:srgbClr val="F2F4F6"/>
                    </a:solidFill>
                  </a:tcPr>
                </a:tc>
              </a:tr>
              <a:tr h="365760">
                <a:tc>
                  <a:txBody>
                    <a:bodyPr/>
                    <a:lstStyle/>
                    <a:p>
                      <a:r>
                        <a:rPr sz="1150" b="0">
                          <a:solidFill>
                            <a:srgbClr val="21252B"/>
                          </a:solidFill>
                          <a:latin typeface="Yu Gothic"/>
                          <a:ea typeface="Yu Gothic"/>
                        </a:rPr>
                        <a:t>キービジュアル・コピー制作</a:t>
                      </a:r>
                    </a:p>
                  </a:txBody>
                  <a:tcPr anchor="ctr" marL="73152" marR="73152" marT="18288" marB="18288">
                    <a:solidFill>
                      <a:srgbClr val="FFFFFF"/>
                    </a:solidFill>
                  </a:tcPr>
                </a:tc>
                <a:tc>
                  <a:txBody>
                    <a:bodyPr/>
                    <a:lstStyle/>
                    <a:p>
                      <a:r>
                        <a:rPr sz="1150" b="0">
                          <a:solidFill>
                            <a:srgbClr val="21252B"/>
                          </a:solidFill>
                          <a:latin typeface="Yu Gothic"/>
                          <a:ea typeface="Yu Gothic"/>
                        </a:rPr>
                        <a:t>300万円</a:t>
                      </a:r>
                    </a:p>
                  </a:txBody>
                  <a:tcPr anchor="ctr" marL="73152" marR="73152" marT="18288" marB="18288">
                    <a:solidFill>
                      <a:srgbClr val="FFFFFF"/>
                    </a:solidFill>
                  </a:tcPr>
                </a:tc>
              </a:tr>
              <a:tr h="365760">
                <a:tc>
                  <a:txBody>
                    <a:bodyPr/>
                    <a:lstStyle/>
                    <a:p>
                      <a:r>
                        <a:rPr sz="1150" b="0">
                          <a:solidFill>
                            <a:srgbClr val="21252B"/>
                          </a:solidFill>
                          <a:latin typeface="Yu Gothic"/>
                          <a:ea typeface="Yu Gothic"/>
                        </a:rPr>
                        <a:t>LP/応募フォーム制作</a:t>
                      </a:r>
                    </a:p>
                  </a:txBody>
                  <a:tcPr anchor="ctr" marL="73152" marR="73152" marT="18288" marB="18288">
                    <a:solidFill>
                      <a:srgbClr val="F2F4F6"/>
                    </a:solidFill>
                  </a:tcPr>
                </a:tc>
                <a:tc>
                  <a:txBody>
                    <a:bodyPr/>
                    <a:lstStyle/>
                    <a:p>
                      <a:r>
                        <a:rPr sz="1150" b="0">
                          <a:solidFill>
                            <a:srgbClr val="21252B"/>
                          </a:solidFill>
                          <a:latin typeface="Yu Gothic"/>
                          <a:ea typeface="Yu Gothic"/>
                        </a:rPr>
                        <a:t>350万円</a:t>
                      </a:r>
                    </a:p>
                  </a:txBody>
                  <a:tcPr anchor="ctr" marL="73152" marR="73152" marT="18288" marB="18288">
                    <a:solidFill>
                      <a:srgbClr val="F2F4F6"/>
                    </a:solidFill>
                  </a:tcPr>
                </a:tc>
              </a:tr>
              <a:tr h="365760">
                <a:tc>
                  <a:txBody>
                    <a:bodyPr/>
                    <a:lstStyle/>
                    <a:p>
                      <a:r>
                        <a:rPr sz="1150" b="0">
                          <a:solidFill>
                            <a:srgbClr val="21252B"/>
                          </a:solidFill>
                          <a:latin typeface="Yu Gothic"/>
                          <a:ea typeface="Yu Gothic"/>
                        </a:rPr>
                        <a:t>館内ラリーツール制作</a:t>
                      </a:r>
                    </a:p>
                  </a:txBody>
                  <a:tcPr anchor="ctr" marL="73152" marR="73152" marT="18288" marB="18288">
                    <a:solidFill>
                      <a:srgbClr val="FFFFFF"/>
                    </a:solidFill>
                  </a:tcPr>
                </a:tc>
                <a:tc>
                  <a:txBody>
                    <a:bodyPr/>
                    <a:lstStyle/>
                    <a:p>
                      <a:r>
                        <a:rPr sz="1150" b="0">
                          <a:solidFill>
                            <a:srgbClr val="21252B"/>
                          </a:solidFill>
                          <a:latin typeface="Yu Gothic"/>
                          <a:ea typeface="Yu Gothic"/>
                        </a:rPr>
                        <a:t>250万円</a:t>
                      </a:r>
                    </a:p>
                  </a:txBody>
                  <a:tcPr anchor="ctr" marL="73152" marR="73152" marT="18288" marB="18288">
                    <a:solidFill>
                      <a:srgbClr val="FFFFFF"/>
                    </a:solidFill>
                  </a:tcPr>
                </a:tc>
              </a:tr>
              <a:tr h="365760">
                <a:tc>
                  <a:txBody>
                    <a:bodyPr/>
                    <a:lstStyle/>
                    <a:p>
                      <a:r>
                        <a:rPr sz="1150" b="0">
                          <a:solidFill>
                            <a:srgbClr val="21252B"/>
                          </a:solidFill>
                          <a:latin typeface="Yu Gothic"/>
                          <a:ea typeface="Yu Gothic"/>
                        </a:rPr>
                        <a:t>ヒーロー登場・イベント運営</a:t>
                      </a:r>
                    </a:p>
                  </a:txBody>
                  <a:tcPr anchor="ctr" marL="73152" marR="73152" marT="18288" marB="18288">
                    <a:solidFill>
                      <a:srgbClr val="F2F4F6"/>
                    </a:solidFill>
                  </a:tcPr>
                </a:tc>
                <a:tc>
                  <a:txBody>
                    <a:bodyPr/>
                    <a:lstStyle/>
                    <a:p>
                      <a:r>
                        <a:rPr sz="1150" b="0">
                          <a:solidFill>
                            <a:srgbClr val="21252B"/>
                          </a:solidFill>
                          <a:latin typeface="Yu Gothic"/>
                          <a:ea typeface="Yu Gothic"/>
                        </a:rPr>
                        <a:t>500万円</a:t>
                      </a:r>
                    </a:p>
                  </a:txBody>
                  <a:tcPr anchor="ctr" marL="73152" marR="73152" marT="18288" marB="18288">
                    <a:solidFill>
                      <a:srgbClr val="F2F4F6"/>
                    </a:solidFill>
                  </a:tcPr>
                </a:tc>
              </a:tr>
              <a:tr h="365760">
                <a:tc>
                  <a:txBody>
                    <a:bodyPr/>
                    <a:lstStyle/>
                    <a:p>
                      <a:r>
                        <a:rPr sz="1150" b="0">
                          <a:solidFill>
                            <a:srgbClr val="21252B"/>
                          </a:solidFill>
                          <a:latin typeface="Yu Gothic"/>
                          <a:ea typeface="Yu Gothic"/>
                        </a:rPr>
                        <a:t>SNS/バナー制作</a:t>
                      </a:r>
                    </a:p>
                  </a:txBody>
                  <a:tcPr anchor="ctr" marL="73152" marR="73152" marT="18288" marB="18288">
                    <a:solidFill>
                      <a:srgbClr val="FFFFFF"/>
                    </a:solidFill>
                  </a:tcPr>
                </a:tc>
                <a:tc>
                  <a:txBody>
                    <a:bodyPr/>
                    <a:lstStyle/>
                    <a:p>
                      <a:r>
                        <a:rPr sz="1150" b="0">
                          <a:solidFill>
                            <a:srgbClr val="21252B"/>
                          </a:solidFill>
                          <a:latin typeface="Yu Gothic"/>
                          <a:ea typeface="Yu Gothic"/>
                        </a:rPr>
                        <a:t>250万円</a:t>
                      </a:r>
                    </a:p>
                  </a:txBody>
                  <a:tcPr anchor="ctr" marL="73152" marR="73152" marT="18288" marB="18288">
                    <a:solidFill>
                      <a:srgbClr val="FFFFFF"/>
                    </a:solidFill>
                  </a:tcPr>
                </a:tc>
              </a:tr>
              <a:tr h="365760">
                <a:tc>
                  <a:txBody>
                    <a:bodyPr/>
                    <a:lstStyle/>
                    <a:p>
                      <a:r>
                        <a:rPr sz="1150" b="0">
                          <a:solidFill>
                            <a:srgbClr val="21252B"/>
                          </a:solidFill>
                          <a:latin typeface="Yu Gothic"/>
                          <a:ea typeface="Yu Gothic"/>
                        </a:rPr>
                        <a:t>広告・送客費</a:t>
                      </a:r>
                    </a:p>
                  </a:txBody>
                  <a:tcPr anchor="ctr" marL="73152" marR="73152" marT="18288" marB="18288">
                    <a:solidFill>
                      <a:srgbClr val="F2F4F6"/>
                    </a:solidFill>
                  </a:tcPr>
                </a:tc>
                <a:tc>
                  <a:txBody>
                    <a:bodyPr/>
                    <a:lstStyle/>
                    <a:p>
                      <a:r>
                        <a:rPr sz="1150" b="0">
                          <a:solidFill>
                            <a:srgbClr val="21252B"/>
                          </a:solidFill>
                          <a:latin typeface="Yu Gothic"/>
                          <a:ea typeface="Yu Gothic"/>
                        </a:rPr>
                        <a:t>250万円</a:t>
                      </a:r>
                    </a:p>
                  </a:txBody>
                  <a:tcPr anchor="ctr" marL="73152" marR="73152" marT="18288" marB="18288">
                    <a:solidFill>
                      <a:srgbClr val="F2F4F6"/>
                    </a:solidFill>
                  </a:tcPr>
                </a:tc>
              </a:tr>
              <a:tr h="365760">
                <a:tc>
                  <a:txBody>
                    <a:bodyPr/>
                    <a:lstStyle/>
                    <a:p>
                      <a:r>
                        <a:rPr sz="1150" b="0">
                          <a:solidFill>
                            <a:srgbClr val="21252B"/>
                          </a:solidFill>
                          <a:latin typeface="Yu Gothic"/>
                          <a:ea typeface="Yu Gothic"/>
                        </a:rPr>
                        <a:t>事務局・レポート</a:t>
                      </a:r>
                    </a:p>
                  </a:txBody>
                  <a:tcPr anchor="ctr" marL="73152" marR="73152" marT="18288" marB="18288">
                    <a:solidFill>
                      <a:srgbClr val="FFFFFF"/>
                    </a:solidFill>
                  </a:tcPr>
                </a:tc>
                <a:tc>
                  <a:txBody>
                    <a:bodyPr/>
                    <a:lstStyle/>
                    <a:p>
                      <a:r>
                        <a:rPr sz="1150" b="0">
                          <a:solidFill>
                            <a:srgbClr val="21252B"/>
                          </a:solidFill>
                          <a:latin typeface="Yu Gothic"/>
                          <a:ea typeface="Yu Gothic"/>
                        </a:rPr>
                        <a:t>150万円</a:t>
                      </a:r>
                    </a:p>
                  </a:txBody>
                  <a:tcPr anchor="ctr" marL="73152" marR="73152" marT="18288" marB="18288">
                    <a:solidFill>
                      <a:srgbClr val="FFFFFF"/>
                    </a:solidFill>
                  </a:tcPr>
                </a:tc>
              </a:tr>
              <a:tr h="365760">
                <a:tc>
                  <a:txBody>
                    <a:bodyPr/>
                    <a:lstStyle/>
                    <a:p>
                      <a:r>
                        <a:rPr sz="1150" b="1">
                          <a:solidFill>
                            <a:srgbClr val="21252B"/>
                          </a:solidFill>
                          <a:latin typeface="Yu Gothic"/>
                          <a:ea typeface="Yu Gothic"/>
                        </a:rPr>
                        <a:t>合計</a:t>
                      </a:r>
                    </a:p>
                  </a:txBody>
                  <a:tcPr anchor="ctr" marL="73152" marR="73152" marT="18288" marB="18288">
                    <a:solidFill>
                      <a:srgbClr val="F2F4F6"/>
                    </a:solidFill>
                  </a:tcPr>
                </a:tc>
                <a:tc>
                  <a:txBody>
                    <a:bodyPr/>
                    <a:lstStyle/>
                    <a:p>
                      <a:r>
                        <a:rPr sz="1150" b="1">
                          <a:solidFill>
                            <a:srgbClr val="D60012"/>
                          </a:solidFill>
                          <a:latin typeface="Yu Gothic"/>
                          <a:ea typeface="Yu Gothic"/>
                        </a:rPr>
                        <a:t>3,500万円</a:t>
                      </a:r>
                    </a:p>
                  </a:txBody>
                  <a:tcPr anchor="ctr" marL="73152" marR="73152" marT="18288" marB="18288">
                    <a:solidFill>
                      <a:srgbClr val="F2F4F6"/>
                    </a:solidFill>
                  </a:tcPr>
                </a:tc>
              </a:tr>
            </a:tbl>
          </a:graphicData>
        </a:graphic>
      </p:graphicFrame>
      <p:graphicFrame>
        <p:nvGraphicFramePr>
          <p:cNvPr id="9" name="Table 8"/>
          <p:cNvGraphicFramePr>
            <a:graphicFrameLocks noGrp="1"/>
          </p:cNvGraphicFramePr>
          <p:nvPr/>
        </p:nvGraphicFramePr>
        <p:xfrm>
          <a:off x="6492240" y="1600200"/>
          <a:ext cx="5120639" cy="2926080"/>
        </p:xfrm>
        <a:graphic>
          <a:graphicData uri="http://schemas.openxmlformats.org/drawingml/2006/table">
            <a:tbl>
              <a:tblPr firstRow="1" bandRow="1">
                <a:tableStyleId>{5C22544A-7EE6-4342-B048-85BDC9FD1C3A}</a:tableStyleId>
              </a:tblPr>
              <a:tblGrid>
                <a:gridCol w="2894274"/>
                <a:gridCol w="2226365"/>
              </a:tblGrid>
              <a:tr h="365760">
                <a:tc>
                  <a:txBody>
                    <a:bodyPr/>
                    <a:lstStyle/>
                    <a:p>
                      <a:r>
                        <a:rPr sz="1150" b="1">
                          <a:solidFill>
                            <a:srgbClr val="FFFFFF"/>
                          </a:solidFill>
                          <a:latin typeface="Yu Gothic"/>
                          <a:ea typeface="Yu Gothic"/>
                        </a:rPr>
                        <a:t>KPI目安</a:t>
                      </a:r>
                    </a:p>
                  </a:txBody>
                  <a:tcPr anchor="ctr" marL="73152" marR="73152" marT="18288" marB="18288">
                    <a:solidFill>
                      <a:srgbClr val="121A2E"/>
                    </a:solidFill>
                  </a:tcPr>
                </a:tc>
                <a:tc>
                  <a:txBody>
                    <a:bodyPr/>
                    <a:lstStyle/>
                    <a:p>
                      <a:r>
                        <a:rPr sz="1150" b="1">
                          <a:solidFill>
                            <a:srgbClr val="FFFFFF"/>
                          </a:solidFill>
                          <a:latin typeface="Yu Gothic"/>
                          <a:ea typeface="Yu Gothic"/>
                        </a:rPr>
                        <a:t>目標</a:t>
                      </a:r>
                    </a:p>
                  </a:txBody>
                  <a:tcPr anchor="ctr" marL="73152" marR="73152" marT="18288" marB="18288">
                    <a:solidFill>
                      <a:srgbClr val="121A2E"/>
                    </a:solidFill>
                  </a:tcPr>
                </a:tc>
              </a:tr>
              <a:tr h="365760">
                <a:tc>
                  <a:txBody>
                    <a:bodyPr/>
                    <a:lstStyle/>
                    <a:p>
                      <a:r>
                        <a:rPr sz="1150" b="0">
                          <a:solidFill>
                            <a:srgbClr val="21252B"/>
                          </a:solidFill>
                          <a:latin typeface="Yu Gothic"/>
                          <a:ea typeface="Yu Gothic"/>
                        </a:rPr>
                        <a:t>実施商業施設数</a:t>
                      </a:r>
                    </a:p>
                  </a:txBody>
                  <a:tcPr anchor="ctr" marL="73152" marR="73152" marT="18288" marB="18288">
                    <a:solidFill>
                      <a:srgbClr val="FFFFFF"/>
                    </a:solidFill>
                  </a:tcPr>
                </a:tc>
                <a:tc>
                  <a:txBody>
                    <a:bodyPr/>
                    <a:lstStyle/>
                    <a:p>
                      <a:r>
                        <a:rPr sz="1150" b="0">
                          <a:solidFill>
                            <a:srgbClr val="21252B"/>
                          </a:solidFill>
                          <a:latin typeface="Yu Gothic"/>
                          <a:ea typeface="Yu Gothic"/>
                        </a:rPr>
                        <a:t>2〜3施設</a:t>
                      </a:r>
                    </a:p>
                  </a:txBody>
                  <a:tcPr anchor="ctr" marL="73152" marR="73152" marT="18288" marB="18288">
                    <a:solidFill>
                      <a:srgbClr val="FFFFFF"/>
                    </a:solidFill>
                  </a:tcPr>
                </a:tc>
              </a:tr>
              <a:tr h="365760">
                <a:tc>
                  <a:txBody>
                    <a:bodyPr/>
                    <a:lstStyle/>
                    <a:p>
                      <a:r>
                        <a:rPr sz="1150" b="0">
                          <a:solidFill>
                            <a:srgbClr val="21252B"/>
                          </a:solidFill>
                          <a:latin typeface="Yu Gothic"/>
                          <a:ea typeface="Yu Gothic"/>
                        </a:rPr>
                        <a:t>総イベント来場者</a:t>
                      </a:r>
                    </a:p>
                  </a:txBody>
                  <a:tcPr anchor="ctr" marL="73152" marR="73152" marT="18288" marB="18288">
                    <a:solidFill>
                      <a:srgbClr val="F2F4F6"/>
                    </a:solidFill>
                  </a:tcPr>
                </a:tc>
                <a:tc>
                  <a:txBody>
                    <a:bodyPr/>
                    <a:lstStyle/>
                    <a:p>
                      <a:r>
                        <a:rPr sz="1150" b="0">
                          <a:solidFill>
                            <a:srgbClr val="21252B"/>
                          </a:solidFill>
                          <a:latin typeface="Yu Gothic"/>
                          <a:ea typeface="Yu Gothic"/>
                        </a:rPr>
                        <a:t>5,000〜1.5万人</a:t>
                      </a:r>
                    </a:p>
                  </a:txBody>
                  <a:tcPr anchor="ctr" marL="73152" marR="73152" marT="18288" marB="18288">
                    <a:solidFill>
                      <a:srgbClr val="F2F4F6"/>
                    </a:solidFill>
                  </a:tcPr>
                </a:tc>
              </a:tr>
              <a:tr h="365760">
                <a:tc>
                  <a:txBody>
                    <a:bodyPr/>
                    <a:lstStyle/>
                    <a:p>
                      <a:r>
                        <a:rPr sz="1150" b="0">
                          <a:solidFill>
                            <a:srgbClr val="21252B"/>
                          </a:solidFill>
                          <a:latin typeface="Yu Gothic"/>
                          <a:ea typeface="Yu Gothic"/>
                        </a:rPr>
                        <a:t>撮影会参加組数</a:t>
                      </a:r>
                    </a:p>
                  </a:txBody>
                  <a:tcPr anchor="ctr" marL="73152" marR="73152" marT="18288" marB="18288">
                    <a:solidFill>
                      <a:srgbClr val="FFFFFF"/>
                    </a:solidFill>
                  </a:tcPr>
                </a:tc>
                <a:tc>
                  <a:txBody>
                    <a:bodyPr/>
                    <a:lstStyle/>
                    <a:p>
                      <a:r>
                        <a:rPr sz="1150" b="0">
                          <a:solidFill>
                            <a:srgbClr val="21252B"/>
                          </a:solidFill>
                          <a:latin typeface="Yu Gothic"/>
                          <a:ea typeface="Yu Gothic"/>
                        </a:rPr>
                        <a:t>500〜1,500組</a:t>
                      </a:r>
                    </a:p>
                  </a:txBody>
                  <a:tcPr anchor="ctr" marL="73152" marR="73152" marT="18288" marB="18288">
                    <a:solidFill>
                      <a:srgbClr val="FFFFFF"/>
                    </a:solidFill>
                  </a:tcPr>
                </a:tc>
              </a:tr>
              <a:tr h="365760">
                <a:tc>
                  <a:txBody>
                    <a:bodyPr/>
                    <a:lstStyle/>
                    <a:p>
                      <a:r>
                        <a:rPr sz="1150" b="0">
                          <a:solidFill>
                            <a:srgbClr val="21252B"/>
                          </a:solidFill>
                          <a:latin typeface="Yu Gothic"/>
                          <a:ea typeface="Yu Gothic"/>
                        </a:rPr>
                        <a:t>館内ラリー参加</a:t>
                      </a:r>
                    </a:p>
                  </a:txBody>
                  <a:tcPr anchor="ctr" marL="73152" marR="73152" marT="18288" marB="18288">
                    <a:solidFill>
                      <a:srgbClr val="F2F4F6"/>
                    </a:solidFill>
                  </a:tcPr>
                </a:tc>
                <a:tc>
                  <a:txBody>
                    <a:bodyPr/>
                    <a:lstStyle/>
                    <a:p>
                      <a:r>
                        <a:rPr sz="1150" b="0">
                          <a:solidFill>
                            <a:srgbClr val="21252B"/>
                          </a:solidFill>
                          <a:latin typeface="Yu Gothic"/>
                          <a:ea typeface="Yu Gothic"/>
                        </a:rPr>
                        <a:t>1,500〜4,000人</a:t>
                      </a:r>
                    </a:p>
                  </a:txBody>
                  <a:tcPr anchor="ctr" marL="73152" marR="73152" marT="18288" marB="18288">
                    <a:solidFill>
                      <a:srgbClr val="F2F4F6"/>
                    </a:solidFill>
                  </a:tcPr>
                </a:tc>
              </a:tr>
              <a:tr h="365760">
                <a:tc>
                  <a:txBody>
                    <a:bodyPr/>
                    <a:lstStyle/>
                    <a:p>
                      <a:r>
                        <a:rPr sz="1150" b="0">
                          <a:solidFill>
                            <a:srgbClr val="21252B"/>
                          </a:solidFill>
                          <a:latin typeface="Yu Gothic"/>
                          <a:ea typeface="Yu Gothic"/>
                        </a:rPr>
                        <a:t>SoftBankショップ送客</a:t>
                      </a:r>
                    </a:p>
                  </a:txBody>
                  <a:tcPr anchor="ctr" marL="73152" marR="73152" marT="18288" marB="18288">
                    <a:solidFill>
                      <a:srgbClr val="FFFFFF"/>
                    </a:solidFill>
                  </a:tcPr>
                </a:tc>
                <a:tc>
                  <a:txBody>
                    <a:bodyPr/>
                    <a:lstStyle/>
                    <a:p>
                      <a:r>
                        <a:rPr sz="1150" b="0">
                          <a:solidFill>
                            <a:srgbClr val="21252B"/>
                          </a:solidFill>
                          <a:latin typeface="Yu Gothic"/>
                          <a:ea typeface="Yu Gothic"/>
                        </a:rPr>
                        <a:t>300〜800人</a:t>
                      </a:r>
                    </a:p>
                  </a:txBody>
                  <a:tcPr anchor="ctr" marL="73152" marR="73152" marT="18288" marB="18288">
                    <a:solidFill>
                      <a:srgbClr val="FFFFFF"/>
                    </a:solidFill>
                  </a:tcPr>
                </a:tc>
              </a:tr>
              <a:tr h="365760">
                <a:tc>
                  <a:txBody>
                    <a:bodyPr/>
                    <a:lstStyle/>
                    <a:p>
                      <a:r>
                        <a:rPr sz="1150" b="0">
                          <a:solidFill>
                            <a:srgbClr val="21252B"/>
                          </a:solidFill>
                          <a:latin typeface="Yu Gothic"/>
                          <a:ea typeface="Yu Gothic"/>
                        </a:rPr>
                        <a:t>相談件数</a:t>
                      </a:r>
                    </a:p>
                  </a:txBody>
                  <a:tcPr anchor="ctr" marL="73152" marR="73152" marT="18288" marB="18288">
                    <a:solidFill>
                      <a:srgbClr val="F2F4F6"/>
                    </a:solidFill>
                  </a:tcPr>
                </a:tc>
                <a:tc>
                  <a:txBody>
                    <a:bodyPr/>
                    <a:lstStyle/>
                    <a:p>
                      <a:r>
                        <a:rPr sz="1150" b="0">
                          <a:solidFill>
                            <a:srgbClr val="21252B"/>
                          </a:solidFill>
                          <a:latin typeface="Yu Gothic"/>
                          <a:ea typeface="Yu Gothic"/>
                        </a:rPr>
                        <a:t>100〜300件</a:t>
                      </a:r>
                    </a:p>
                  </a:txBody>
                  <a:tcPr anchor="ctr" marL="73152" marR="73152" marT="18288" marB="18288">
                    <a:solidFill>
                      <a:srgbClr val="F2F4F6"/>
                    </a:solidFill>
                  </a:tcPr>
                </a:tc>
              </a:tr>
              <a:tr h="365760">
                <a:tc>
                  <a:txBody>
                    <a:bodyPr/>
                    <a:lstStyle/>
                    <a:p>
                      <a:r>
                        <a:rPr sz="1150" b="0">
                          <a:solidFill>
                            <a:srgbClr val="21252B"/>
                          </a:solidFill>
                          <a:latin typeface="Yu Gothic"/>
                          <a:ea typeface="Yu Gothic"/>
                        </a:rPr>
                        <a:t>見積・来店予約</a:t>
                      </a:r>
                    </a:p>
                  </a:txBody>
                  <a:tcPr anchor="ctr" marL="73152" marR="73152" marT="18288" marB="18288">
                    <a:solidFill>
                      <a:srgbClr val="FFFFFF"/>
                    </a:solidFill>
                  </a:tcPr>
                </a:tc>
                <a:tc>
                  <a:txBody>
                    <a:bodyPr/>
                    <a:lstStyle/>
                    <a:p>
                      <a:r>
                        <a:rPr sz="1150" b="0">
                          <a:solidFill>
                            <a:srgbClr val="21252B"/>
                          </a:solidFill>
                          <a:latin typeface="Yu Gothic"/>
                          <a:ea typeface="Yu Gothic"/>
                        </a:rPr>
                        <a:t>50〜150件</a:t>
                      </a:r>
                    </a:p>
                  </a:txBody>
                  <a:tcPr anchor="ctr" marL="73152" marR="73152" marT="18288" marB="18288">
                    <a:solidFill>
                      <a:srgbClr val="FFFFFF"/>
                    </a:solidFill>
                  </a:tcPr>
                </a:tc>
              </a:tr>
            </a:tbl>
          </a:graphicData>
        </a:graphic>
      </p:graphicFrame>
      <p:sp>
        <p:nvSpPr>
          <p:cNvPr id="10" name="TextBox 9"/>
          <p:cNvSpPr txBox="1"/>
          <p:nvPr/>
        </p:nvSpPr>
        <p:spPr>
          <a:xfrm>
            <a:off x="6492240" y="4617720"/>
            <a:ext cx="5120640" cy="1463040"/>
          </a:xfrm>
          <a:prstGeom prst="rect">
            <a:avLst/>
          </a:prstGeom>
          <a:noFill/>
        </p:spPr>
        <p:txBody>
          <a:bodyPr wrap="square" anchor="t" lIns="0" rIns="0" tIns="0" bIns="0">
            <a:spAutoFit/>
          </a:bodyPr>
          <a:lstStyle/>
          <a:p>
            <a:pPr algn="l">
              <a:spcAft>
                <a:spcPts val="600"/>
              </a:spcAft>
            </a:pPr>
            <a:r>
              <a:rPr sz="1300" b="1">
                <a:solidFill>
                  <a:srgbClr val="D60012"/>
                </a:solidFill>
                <a:latin typeface="Yu Gothic"/>
                <a:ea typeface="Yu Gothic"/>
              </a:rPr>
              <a:t>位置づけ</a:t>
            </a:r>
          </a:p>
          <a:p>
            <a:pPr algn="l">
              <a:spcAft>
                <a:spcPts val="600"/>
              </a:spcAft>
            </a:pPr>
            <a:r>
              <a:rPr sz="1250" b="0">
                <a:solidFill>
                  <a:srgbClr val="21252B"/>
                </a:solidFill>
                <a:latin typeface="Yu Gothic"/>
                <a:ea typeface="Yu Gothic"/>
              </a:rPr>
              <a:t>導入の第一歩として有効。ただしFY27以降の年間集客機能を担うには規模が限定的。</a:t>
            </a:r>
          </a:p>
        </p:txBody>
      </p:sp>
      <p:sp>
        <p:nvSpPr>
          <p:cNvPr id="11" name="TextBox 10"/>
          <p:cNvSpPr txBox="1"/>
          <p:nvPr/>
        </p:nvSpPr>
        <p:spPr>
          <a:xfrm>
            <a:off x="640080" y="5806440"/>
            <a:ext cx="10881360" cy="457200"/>
          </a:xfrm>
          <a:prstGeom prst="rect">
            <a:avLst/>
          </a:prstGeom>
          <a:noFill/>
        </p:spPr>
        <p:txBody>
          <a:bodyPr wrap="square" anchor="t" lIns="0" rIns="0" tIns="0" bIns="0">
            <a:spAutoFit/>
          </a:bodyPr>
          <a:lstStyle/>
          <a:p>
            <a:pPr algn="l">
              <a:spcAft>
                <a:spcPts val="600"/>
              </a:spcAft>
            </a:pPr>
            <a:r>
              <a:rPr sz="1100" b="0">
                <a:solidFill>
                  <a:srgbClr val="5A626B"/>
                </a:solidFill>
                <a:latin typeface="Yu Gothic"/>
                <a:ea typeface="Yu Gothic"/>
              </a:rPr>
              <a:t>※IP使用料は月額換算約300〜400万円で、短期プロモーションライセンスの一般的な水準の範囲内。ヒーロー登場・運営費は2〜3施設×週末開催(計8〜12回想定)で積算しています。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B案:FY27標準プラン|1億5,000万円(税別)【推奨】</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FY27年度(2027年4月〜2028年3月)/商業施設10〜20施設(首都圏中心)/ヒーロー年間稼働枠/BB・でんき本格導線化/他IP併用可</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23</a:t>
            </a:r>
          </a:p>
        </p:txBody>
      </p:sp>
      <p:graphicFrame>
        <p:nvGraphicFramePr>
          <p:cNvPr id="8" name="Table 7"/>
          <p:cNvGraphicFramePr>
            <a:graphicFrameLocks noGrp="1"/>
          </p:cNvGraphicFramePr>
          <p:nvPr/>
        </p:nvGraphicFramePr>
        <p:xfrm>
          <a:off x="640080" y="1600200"/>
          <a:ext cx="5486398" cy="4544568"/>
        </p:xfrm>
        <a:graphic>
          <a:graphicData uri="http://schemas.openxmlformats.org/drawingml/2006/table">
            <a:tbl>
              <a:tblPr firstRow="1" bandRow="1">
                <a:tableStyleId>{5C22544A-7EE6-4342-B048-85BDC9FD1C3A}</a:tableStyleId>
              </a:tblPr>
              <a:tblGrid>
                <a:gridCol w="4063999"/>
                <a:gridCol w="1422399"/>
              </a:tblGrid>
              <a:tr h="324612">
                <a:tc>
                  <a:txBody>
                    <a:bodyPr/>
                    <a:lstStyle/>
                    <a:p>
                      <a:r>
                        <a:rPr sz="1150" b="1">
                          <a:solidFill>
                            <a:srgbClr val="FFFFFF"/>
                          </a:solidFill>
                          <a:latin typeface="Yu Gothic"/>
                          <a:ea typeface="Yu Gothic"/>
                        </a:rPr>
                        <a:t>見積項目</a:t>
                      </a:r>
                    </a:p>
                  </a:txBody>
                  <a:tcPr anchor="ctr" marL="73152" marR="73152" marT="18288" marB="18288">
                    <a:solidFill>
                      <a:srgbClr val="121A2E"/>
                    </a:solidFill>
                  </a:tcPr>
                </a:tc>
                <a:tc>
                  <a:txBody>
                    <a:bodyPr/>
                    <a:lstStyle/>
                    <a:p>
                      <a:r>
                        <a:rPr sz="1150" b="1">
                          <a:solidFill>
                            <a:srgbClr val="FFFFFF"/>
                          </a:solidFill>
                          <a:latin typeface="Yu Gothic"/>
                          <a:ea typeface="Yu Gothic"/>
                        </a:rPr>
                        <a:t>金額</a:t>
                      </a:r>
                    </a:p>
                  </a:txBody>
                  <a:tcPr anchor="ctr" marL="73152" marR="73152" marT="18288" marB="18288">
                    <a:solidFill>
                      <a:srgbClr val="121A2E"/>
                    </a:solidFill>
                  </a:tcPr>
                </a:tc>
              </a:tr>
              <a:tr h="324612">
                <a:tc>
                  <a:txBody>
                    <a:bodyPr/>
                    <a:lstStyle/>
                    <a:p>
                      <a:r>
                        <a:rPr sz="1100" b="0">
                          <a:solidFill>
                            <a:srgbClr val="21252B"/>
                          </a:solidFill>
                          <a:latin typeface="Yu Gothic"/>
                          <a:ea typeface="Yu Gothic"/>
                        </a:rPr>
                        <a:t>年間IP使用料・監修費</a:t>
                      </a:r>
                    </a:p>
                  </a:txBody>
                  <a:tcPr anchor="ctr" marL="73152" marR="73152" marT="18288" marB="18288">
                    <a:solidFill>
                      <a:srgbClr val="FFFFFF"/>
                    </a:solidFill>
                  </a:tcPr>
                </a:tc>
                <a:tc>
                  <a:txBody>
                    <a:bodyPr/>
                    <a:lstStyle/>
                    <a:p>
                      <a:r>
                        <a:rPr sz="1100" b="0">
                          <a:solidFill>
                            <a:srgbClr val="21252B"/>
                          </a:solidFill>
                          <a:latin typeface="Yu Gothic"/>
                          <a:ea typeface="Yu Gothic"/>
                        </a:rPr>
                        <a:t>8,000万円</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ヒーロー登場・撮影会稼働枠</a:t>
                      </a:r>
                    </a:p>
                  </a:txBody>
                  <a:tcPr anchor="ctr" marL="73152" marR="73152" marT="18288" marB="18288">
                    <a:solidFill>
                      <a:srgbClr val="F2F4F6"/>
                    </a:solidFill>
                  </a:tcPr>
                </a:tc>
                <a:tc>
                  <a:txBody>
                    <a:bodyPr/>
                    <a:lstStyle/>
                    <a:p>
                      <a:r>
                        <a:rPr sz="1100" b="0">
                          <a:solidFill>
                            <a:srgbClr val="21252B"/>
                          </a:solidFill>
                          <a:latin typeface="Yu Gothic"/>
                          <a:ea typeface="Yu Gothic"/>
                        </a:rPr>
                        <a:t>1,500万円</a:t>
                      </a:r>
                    </a:p>
                  </a:txBody>
                  <a:tcPr anchor="ctr" marL="73152" marR="73152" marT="18288" marB="18288">
                    <a:solidFill>
                      <a:srgbClr val="F2F4F6"/>
                    </a:solidFill>
                  </a:tcPr>
                </a:tc>
              </a:tr>
              <a:tr h="324612">
                <a:tc>
                  <a:txBody>
                    <a:bodyPr/>
                    <a:lstStyle/>
                    <a:p>
                      <a:r>
                        <a:rPr sz="1100" b="0">
                          <a:solidFill>
                            <a:srgbClr val="21252B"/>
                          </a:solidFill>
                          <a:latin typeface="Yu Gothic"/>
                          <a:ea typeface="Yu Gothic"/>
                        </a:rPr>
                        <a:t>商業施設イベント運営費</a:t>
                      </a:r>
                    </a:p>
                  </a:txBody>
                  <a:tcPr anchor="ctr" marL="73152" marR="73152" marT="18288" marB="18288">
                    <a:solidFill>
                      <a:srgbClr val="FFFFFF"/>
                    </a:solidFill>
                  </a:tcPr>
                </a:tc>
                <a:tc>
                  <a:txBody>
                    <a:bodyPr/>
                    <a:lstStyle/>
                    <a:p>
                      <a:r>
                        <a:rPr sz="1100" b="0">
                          <a:solidFill>
                            <a:srgbClr val="21252B"/>
                          </a:solidFill>
                          <a:latin typeface="Yu Gothic"/>
                          <a:ea typeface="Yu Gothic"/>
                        </a:rPr>
                        <a:t>1,200万円</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企画設計・PM</a:t>
                      </a:r>
                    </a:p>
                  </a:txBody>
                  <a:tcPr anchor="ctr" marL="73152" marR="73152" marT="18288" marB="18288">
                    <a:solidFill>
                      <a:srgbClr val="F2F4F6"/>
                    </a:solidFill>
                  </a:tcPr>
                </a:tc>
                <a:tc>
                  <a:txBody>
                    <a:bodyPr/>
                    <a:lstStyle/>
                    <a:p>
                      <a:r>
                        <a:rPr sz="1100" b="0">
                          <a:solidFill>
                            <a:srgbClr val="21252B"/>
                          </a:solidFill>
                          <a:latin typeface="Yu Gothic"/>
                          <a:ea typeface="Yu Gothic"/>
                        </a:rPr>
                        <a:t>600万円</a:t>
                      </a:r>
                    </a:p>
                  </a:txBody>
                  <a:tcPr anchor="ctr" marL="73152" marR="73152" marT="18288" marB="18288">
                    <a:solidFill>
                      <a:srgbClr val="F2F4F6"/>
                    </a:solidFill>
                  </a:tcPr>
                </a:tc>
              </a:tr>
              <a:tr h="324612">
                <a:tc>
                  <a:txBody>
                    <a:bodyPr/>
                    <a:lstStyle/>
                    <a:p>
                      <a:r>
                        <a:rPr sz="1100" b="0">
                          <a:solidFill>
                            <a:srgbClr val="21252B"/>
                          </a:solidFill>
                          <a:latin typeface="Yu Gothic"/>
                          <a:ea typeface="Yu Gothic"/>
                        </a:rPr>
                        <a:t>キービジュアル・店頭イベント素材</a:t>
                      </a:r>
                    </a:p>
                  </a:txBody>
                  <a:tcPr anchor="ctr" marL="73152" marR="73152" marT="18288" marB="18288">
                    <a:solidFill>
                      <a:srgbClr val="FFFFFF"/>
                    </a:solidFill>
                  </a:tcPr>
                </a:tc>
                <a:tc>
                  <a:txBody>
                    <a:bodyPr/>
                    <a:lstStyle/>
                    <a:p>
                      <a:r>
                        <a:rPr sz="1100" b="0">
                          <a:solidFill>
                            <a:srgbClr val="21252B"/>
                          </a:solidFill>
                          <a:latin typeface="Yu Gothic"/>
                          <a:ea typeface="Yu Gothic"/>
                        </a:rPr>
                        <a:t>500万円</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LP/デジタル隊員証/計測導線</a:t>
                      </a:r>
                    </a:p>
                  </a:txBody>
                  <a:tcPr anchor="ctr" marL="73152" marR="73152" marT="18288" marB="18288">
                    <a:solidFill>
                      <a:srgbClr val="F2F4F6"/>
                    </a:solidFill>
                  </a:tcPr>
                </a:tc>
                <a:tc>
                  <a:txBody>
                    <a:bodyPr/>
                    <a:lstStyle/>
                    <a:p>
                      <a:r>
                        <a:rPr sz="1100" b="0">
                          <a:solidFill>
                            <a:srgbClr val="21252B"/>
                          </a:solidFill>
                          <a:latin typeface="Yu Gothic"/>
                          <a:ea typeface="Yu Gothic"/>
                        </a:rPr>
                        <a:t>550万円</a:t>
                      </a:r>
                    </a:p>
                  </a:txBody>
                  <a:tcPr anchor="ctr" marL="73152" marR="73152" marT="18288" marB="18288">
                    <a:solidFill>
                      <a:srgbClr val="F2F4F6"/>
                    </a:solidFill>
                  </a:tcPr>
                </a:tc>
              </a:tr>
              <a:tr h="324612">
                <a:tc>
                  <a:txBody>
                    <a:bodyPr/>
                    <a:lstStyle/>
                    <a:p>
                      <a:r>
                        <a:rPr sz="1100" b="0">
                          <a:solidFill>
                            <a:srgbClr val="21252B"/>
                          </a:solidFill>
                          <a:latin typeface="Yu Gothic"/>
                          <a:ea typeface="Yu Gothic"/>
                        </a:rPr>
                        <a:t>館内ラリー・イベントツール制作</a:t>
                      </a:r>
                    </a:p>
                  </a:txBody>
                  <a:tcPr anchor="ctr" marL="73152" marR="73152" marT="18288" marB="18288">
                    <a:solidFill>
                      <a:srgbClr val="FFFFFF"/>
                    </a:solidFill>
                  </a:tcPr>
                </a:tc>
                <a:tc>
                  <a:txBody>
                    <a:bodyPr/>
                    <a:lstStyle/>
                    <a:p>
                      <a:r>
                        <a:rPr sz="1100" b="0">
                          <a:solidFill>
                            <a:srgbClr val="21252B"/>
                          </a:solidFill>
                          <a:latin typeface="Yu Gothic"/>
                          <a:ea typeface="Yu Gothic"/>
                        </a:rPr>
                        <a:t>600万円</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ノベルティ初期制作・デザイン</a:t>
                      </a:r>
                    </a:p>
                  </a:txBody>
                  <a:tcPr anchor="ctr" marL="73152" marR="73152" marT="18288" marB="18288">
                    <a:solidFill>
                      <a:srgbClr val="F2F4F6"/>
                    </a:solidFill>
                  </a:tcPr>
                </a:tc>
                <a:tc>
                  <a:txBody>
                    <a:bodyPr/>
                    <a:lstStyle/>
                    <a:p>
                      <a:r>
                        <a:rPr sz="1100" b="0">
                          <a:solidFill>
                            <a:srgbClr val="21252B"/>
                          </a:solidFill>
                          <a:latin typeface="Yu Gothic"/>
                          <a:ea typeface="Yu Gothic"/>
                        </a:rPr>
                        <a:t>500万円</a:t>
                      </a:r>
                    </a:p>
                  </a:txBody>
                  <a:tcPr anchor="ctr" marL="73152" marR="73152" marT="18288" marB="18288">
                    <a:solidFill>
                      <a:srgbClr val="F2F4F6"/>
                    </a:solidFill>
                  </a:tcPr>
                </a:tc>
              </a:tr>
              <a:tr h="324612">
                <a:tc>
                  <a:txBody>
                    <a:bodyPr/>
                    <a:lstStyle/>
                    <a:p>
                      <a:r>
                        <a:rPr sz="1100" b="0">
                          <a:solidFill>
                            <a:srgbClr val="21252B"/>
                          </a:solidFill>
                          <a:latin typeface="Yu Gothic"/>
                          <a:ea typeface="Yu Gothic"/>
                        </a:rPr>
                        <a:t>BB/でんき向けコンテンツ</a:t>
                      </a:r>
                    </a:p>
                  </a:txBody>
                  <a:tcPr anchor="ctr" marL="73152" marR="73152" marT="18288" marB="18288">
                    <a:solidFill>
                      <a:srgbClr val="FFFFFF"/>
                    </a:solidFill>
                  </a:tcPr>
                </a:tc>
                <a:tc>
                  <a:txBody>
                    <a:bodyPr/>
                    <a:lstStyle/>
                    <a:p>
                      <a:r>
                        <a:rPr sz="1100" b="0">
                          <a:solidFill>
                            <a:srgbClr val="21252B"/>
                          </a:solidFill>
                          <a:latin typeface="Yu Gothic"/>
                          <a:ea typeface="Yu Gothic"/>
                        </a:rPr>
                        <a:t>300万円</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SNS/告知クリエイティブ</a:t>
                      </a:r>
                    </a:p>
                  </a:txBody>
                  <a:tcPr anchor="ctr" marL="73152" marR="73152" marT="18288" marB="18288">
                    <a:solidFill>
                      <a:srgbClr val="F2F4F6"/>
                    </a:solidFill>
                  </a:tcPr>
                </a:tc>
                <a:tc>
                  <a:txBody>
                    <a:bodyPr/>
                    <a:lstStyle/>
                    <a:p>
                      <a:r>
                        <a:rPr sz="1100" b="0">
                          <a:solidFill>
                            <a:srgbClr val="21252B"/>
                          </a:solidFill>
                          <a:latin typeface="Yu Gothic"/>
                          <a:ea typeface="Yu Gothic"/>
                        </a:rPr>
                        <a:t>350万円</a:t>
                      </a:r>
                    </a:p>
                  </a:txBody>
                  <a:tcPr anchor="ctr" marL="73152" marR="73152" marT="18288" marB="18288">
                    <a:solidFill>
                      <a:srgbClr val="F2F4F6"/>
                    </a:solidFill>
                  </a:tcPr>
                </a:tc>
              </a:tr>
              <a:tr h="324612">
                <a:tc>
                  <a:txBody>
                    <a:bodyPr/>
                    <a:lstStyle/>
                    <a:p>
                      <a:r>
                        <a:rPr sz="1100" b="0">
                          <a:solidFill>
                            <a:srgbClr val="21252B"/>
                          </a:solidFill>
                          <a:latin typeface="Yu Gothic"/>
                          <a:ea typeface="Yu Gothic"/>
                        </a:rPr>
                        <a:t>広告・送客費</a:t>
                      </a:r>
                    </a:p>
                  </a:txBody>
                  <a:tcPr anchor="ctr" marL="73152" marR="73152" marT="18288" marB="18288">
                    <a:solidFill>
                      <a:srgbClr val="FFFFFF"/>
                    </a:solidFill>
                  </a:tcPr>
                </a:tc>
                <a:tc>
                  <a:txBody>
                    <a:bodyPr/>
                    <a:lstStyle/>
                    <a:p>
                      <a:r>
                        <a:rPr sz="1100" b="0">
                          <a:solidFill>
                            <a:srgbClr val="21252B"/>
                          </a:solidFill>
                          <a:latin typeface="Yu Gothic"/>
                          <a:ea typeface="Yu Gothic"/>
                        </a:rPr>
                        <a:t>700万円</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事務局・レポート</a:t>
                      </a:r>
                    </a:p>
                  </a:txBody>
                  <a:tcPr anchor="ctr" marL="73152" marR="73152" marT="18288" marB="18288">
                    <a:solidFill>
                      <a:srgbClr val="F2F4F6"/>
                    </a:solidFill>
                  </a:tcPr>
                </a:tc>
                <a:tc>
                  <a:txBody>
                    <a:bodyPr/>
                    <a:lstStyle/>
                    <a:p>
                      <a:r>
                        <a:rPr sz="1100" b="0">
                          <a:solidFill>
                            <a:srgbClr val="21252B"/>
                          </a:solidFill>
                          <a:latin typeface="Yu Gothic"/>
                          <a:ea typeface="Yu Gothic"/>
                        </a:rPr>
                        <a:t>200万円</a:t>
                      </a:r>
                    </a:p>
                  </a:txBody>
                  <a:tcPr anchor="ctr" marL="73152" marR="73152" marT="18288" marB="18288">
                    <a:solidFill>
                      <a:srgbClr val="F2F4F6"/>
                    </a:solidFill>
                  </a:tcPr>
                </a:tc>
              </a:tr>
              <a:tr h="324612">
                <a:tc>
                  <a:txBody>
                    <a:bodyPr/>
                    <a:lstStyle/>
                    <a:p>
                      <a:r>
                        <a:rPr sz="1100" b="1">
                          <a:solidFill>
                            <a:srgbClr val="21252B"/>
                          </a:solidFill>
                          <a:latin typeface="Yu Gothic"/>
                          <a:ea typeface="Yu Gothic"/>
                        </a:rPr>
                        <a:t>合計</a:t>
                      </a:r>
                    </a:p>
                  </a:txBody>
                  <a:tcPr anchor="ctr" marL="73152" marR="73152" marT="18288" marB="18288">
                    <a:solidFill>
                      <a:srgbClr val="FFFFFF"/>
                    </a:solidFill>
                  </a:tcPr>
                </a:tc>
                <a:tc>
                  <a:txBody>
                    <a:bodyPr/>
                    <a:lstStyle/>
                    <a:p>
                      <a:r>
                        <a:rPr sz="1100" b="1">
                          <a:solidFill>
                            <a:srgbClr val="D60012"/>
                          </a:solidFill>
                          <a:latin typeface="Yu Gothic"/>
                          <a:ea typeface="Yu Gothic"/>
                        </a:rPr>
                        <a:t>1億5,000万円</a:t>
                      </a:r>
                    </a:p>
                  </a:txBody>
                  <a:tcPr anchor="ctr" marL="73152" marR="73152" marT="18288" marB="18288">
                    <a:solidFill>
                      <a:srgbClr val="FFFFFF"/>
                    </a:solidFill>
                  </a:tcPr>
                </a:tc>
              </a:tr>
            </a:tbl>
          </a:graphicData>
        </a:graphic>
      </p:graphicFrame>
      <p:graphicFrame>
        <p:nvGraphicFramePr>
          <p:cNvPr id="9" name="Table 8"/>
          <p:cNvGraphicFramePr>
            <a:graphicFrameLocks noGrp="1"/>
          </p:cNvGraphicFramePr>
          <p:nvPr/>
        </p:nvGraphicFramePr>
        <p:xfrm>
          <a:off x="6492240" y="1600200"/>
          <a:ext cx="5120639" cy="3570732"/>
        </p:xfrm>
        <a:graphic>
          <a:graphicData uri="http://schemas.openxmlformats.org/drawingml/2006/table">
            <a:tbl>
              <a:tblPr firstRow="1" bandRow="1">
                <a:tableStyleId>{5C22544A-7EE6-4342-B048-85BDC9FD1C3A}</a:tableStyleId>
              </a:tblPr>
              <a:tblGrid>
                <a:gridCol w="2894274"/>
                <a:gridCol w="2226365"/>
              </a:tblGrid>
              <a:tr h="324612">
                <a:tc>
                  <a:txBody>
                    <a:bodyPr/>
                    <a:lstStyle/>
                    <a:p>
                      <a:r>
                        <a:rPr sz="1150" b="1">
                          <a:solidFill>
                            <a:srgbClr val="FFFFFF"/>
                          </a:solidFill>
                          <a:latin typeface="Yu Gothic"/>
                          <a:ea typeface="Yu Gothic"/>
                        </a:rPr>
                        <a:t>KPI目安</a:t>
                      </a:r>
                    </a:p>
                  </a:txBody>
                  <a:tcPr anchor="ctr" marL="73152" marR="73152" marT="18288" marB="18288">
                    <a:solidFill>
                      <a:srgbClr val="121A2E"/>
                    </a:solidFill>
                  </a:tcPr>
                </a:tc>
                <a:tc>
                  <a:txBody>
                    <a:bodyPr/>
                    <a:lstStyle/>
                    <a:p>
                      <a:r>
                        <a:rPr sz="1150" b="1">
                          <a:solidFill>
                            <a:srgbClr val="FFFFFF"/>
                          </a:solidFill>
                          <a:latin typeface="Yu Gothic"/>
                          <a:ea typeface="Yu Gothic"/>
                        </a:rPr>
                        <a:t>目標</a:t>
                      </a:r>
                    </a:p>
                  </a:txBody>
                  <a:tcPr anchor="ctr" marL="73152" marR="73152" marT="18288" marB="18288">
                    <a:solidFill>
                      <a:srgbClr val="121A2E"/>
                    </a:solidFill>
                  </a:tcPr>
                </a:tc>
              </a:tr>
              <a:tr h="324612">
                <a:tc>
                  <a:txBody>
                    <a:bodyPr/>
                    <a:lstStyle/>
                    <a:p>
                      <a:r>
                        <a:rPr sz="1100" b="0">
                          <a:solidFill>
                            <a:srgbClr val="21252B"/>
                          </a:solidFill>
                          <a:latin typeface="Yu Gothic"/>
                          <a:ea typeface="Yu Gothic"/>
                        </a:rPr>
                        <a:t>実施商業施設数</a:t>
                      </a:r>
                    </a:p>
                  </a:txBody>
                  <a:tcPr anchor="ctr" marL="73152" marR="73152" marT="18288" marB="18288">
                    <a:solidFill>
                      <a:srgbClr val="FFFFFF"/>
                    </a:solidFill>
                  </a:tcPr>
                </a:tc>
                <a:tc>
                  <a:txBody>
                    <a:bodyPr/>
                    <a:lstStyle/>
                    <a:p>
                      <a:r>
                        <a:rPr sz="1100" b="0">
                          <a:solidFill>
                            <a:srgbClr val="21252B"/>
                          </a:solidFill>
                          <a:latin typeface="Yu Gothic"/>
                          <a:ea typeface="Yu Gothic"/>
                        </a:rPr>
                        <a:t>10〜20施設</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総イベント来場者</a:t>
                      </a:r>
                    </a:p>
                  </a:txBody>
                  <a:tcPr anchor="ctr" marL="73152" marR="73152" marT="18288" marB="18288">
                    <a:solidFill>
                      <a:srgbClr val="F2F4F6"/>
                    </a:solidFill>
                  </a:tcPr>
                </a:tc>
                <a:tc>
                  <a:txBody>
                    <a:bodyPr/>
                    <a:lstStyle/>
                    <a:p>
                      <a:r>
                        <a:rPr sz="1100" b="0">
                          <a:solidFill>
                            <a:srgbClr val="21252B"/>
                          </a:solidFill>
                          <a:latin typeface="Yu Gothic"/>
                          <a:ea typeface="Yu Gothic"/>
                        </a:rPr>
                        <a:t>3万〜8万人</a:t>
                      </a:r>
                    </a:p>
                  </a:txBody>
                  <a:tcPr anchor="ctr" marL="73152" marR="73152" marT="18288" marB="18288">
                    <a:solidFill>
                      <a:srgbClr val="F2F4F6"/>
                    </a:solidFill>
                  </a:tcPr>
                </a:tc>
              </a:tr>
              <a:tr h="324612">
                <a:tc>
                  <a:txBody>
                    <a:bodyPr/>
                    <a:lstStyle/>
                    <a:p>
                      <a:r>
                        <a:rPr sz="1100" b="0">
                          <a:solidFill>
                            <a:srgbClr val="21252B"/>
                          </a:solidFill>
                          <a:latin typeface="Yu Gothic"/>
                          <a:ea typeface="Yu Gothic"/>
                        </a:rPr>
                        <a:t>撮影会参加組数</a:t>
                      </a:r>
                    </a:p>
                  </a:txBody>
                  <a:tcPr anchor="ctr" marL="73152" marR="73152" marT="18288" marB="18288">
                    <a:solidFill>
                      <a:srgbClr val="FFFFFF"/>
                    </a:solidFill>
                  </a:tcPr>
                </a:tc>
                <a:tc>
                  <a:txBody>
                    <a:bodyPr/>
                    <a:lstStyle/>
                    <a:p>
                      <a:r>
                        <a:rPr sz="1100" b="0">
                          <a:solidFill>
                            <a:srgbClr val="21252B"/>
                          </a:solidFill>
                          <a:latin typeface="Yu Gothic"/>
                          <a:ea typeface="Yu Gothic"/>
                        </a:rPr>
                        <a:t>3,000〜8,000組</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館内ラリー参加</a:t>
                      </a:r>
                    </a:p>
                  </a:txBody>
                  <a:tcPr anchor="ctr" marL="73152" marR="73152" marT="18288" marB="18288">
                    <a:solidFill>
                      <a:srgbClr val="F2F4F6"/>
                    </a:solidFill>
                  </a:tcPr>
                </a:tc>
                <a:tc>
                  <a:txBody>
                    <a:bodyPr/>
                    <a:lstStyle/>
                    <a:p>
                      <a:r>
                        <a:rPr sz="1100" b="0">
                          <a:solidFill>
                            <a:srgbClr val="21252B"/>
                          </a:solidFill>
                          <a:latin typeface="Yu Gothic"/>
                          <a:ea typeface="Yu Gothic"/>
                        </a:rPr>
                        <a:t>1万〜3万人</a:t>
                      </a:r>
                    </a:p>
                  </a:txBody>
                  <a:tcPr anchor="ctr" marL="73152" marR="73152" marT="18288" marB="18288">
                    <a:solidFill>
                      <a:srgbClr val="F2F4F6"/>
                    </a:solidFill>
                  </a:tcPr>
                </a:tc>
              </a:tr>
              <a:tr h="324612">
                <a:tc>
                  <a:txBody>
                    <a:bodyPr/>
                    <a:lstStyle/>
                    <a:p>
                      <a:r>
                        <a:rPr sz="1100" b="0">
                          <a:solidFill>
                            <a:srgbClr val="21252B"/>
                          </a:solidFill>
                          <a:latin typeface="Yu Gothic"/>
                          <a:ea typeface="Yu Gothic"/>
                        </a:rPr>
                        <a:t>デジタル隊員証発行</a:t>
                      </a:r>
                    </a:p>
                  </a:txBody>
                  <a:tcPr anchor="ctr" marL="73152" marR="73152" marT="18288" marB="18288">
                    <a:solidFill>
                      <a:srgbClr val="FFFFFF"/>
                    </a:solidFill>
                  </a:tcPr>
                </a:tc>
                <a:tc>
                  <a:txBody>
                    <a:bodyPr/>
                    <a:lstStyle/>
                    <a:p>
                      <a:r>
                        <a:rPr sz="1100" b="0">
                          <a:solidFill>
                            <a:srgbClr val="21252B"/>
                          </a:solidFill>
                          <a:latin typeface="Yu Gothic"/>
                          <a:ea typeface="Yu Gothic"/>
                        </a:rPr>
                        <a:t>8,000〜2万人</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SoftBankショップ送客</a:t>
                      </a:r>
                    </a:p>
                  </a:txBody>
                  <a:tcPr anchor="ctr" marL="73152" marR="73152" marT="18288" marB="18288">
                    <a:solidFill>
                      <a:srgbClr val="F2F4F6"/>
                    </a:solidFill>
                  </a:tcPr>
                </a:tc>
                <a:tc>
                  <a:txBody>
                    <a:bodyPr/>
                    <a:lstStyle/>
                    <a:p>
                      <a:r>
                        <a:rPr sz="1100" b="0">
                          <a:solidFill>
                            <a:srgbClr val="21252B"/>
                          </a:solidFill>
                          <a:latin typeface="Yu Gothic"/>
                          <a:ea typeface="Yu Gothic"/>
                        </a:rPr>
                        <a:t>3,000〜8,000人</a:t>
                      </a:r>
                    </a:p>
                  </a:txBody>
                  <a:tcPr anchor="ctr" marL="73152" marR="73152" marT="18288" marB="18288">
                    <a:solidFill>
                      <a:srgbClr val="F2F4F6"/>
                    </a:solidFill>
                  </a:tcPr>
                </a:tc>
              </a:tr>
              <a:tr h="324612">
                <a:tc>
                  <a:txBody>
                    <a:bodyPr/>
                    <a:lstStyle/>
                    <a:p>
                      <a:r>
                        <a:rPr sz="1100" b="0">
                          <a:solidFill>
                            <a:srgbClr val="21252B"/>
                          </a:solidFill>
                          <a:latin typeface="Yu Gothic"/>
                          <a:ea typeface="Yu Gothic"/>
                        </a:rPr>
                        <a:t>相談件数</a:t>
                      </a:r>
                    </a:p>
                  </a:txBody>
                  <a:tcPr anchor="ctr" marL="73152" marR="73152" marT="18288" marB="18288">
                    <a:solidFill>
                      <a:srgbClr val="FFFFFF"/>
                    </a:solidFill>
                  </a:tcPr>
                </a:tc>
                <a:tc>
                  <a:txBody>
                    <a:bodyPr/>
                    <a:lstStyle/>
                    <a:p>
                      <a:r>
                        <a:rPr sz="1100" b="0">
                          <a:solidFill>
                            <a:srgbClr val="21252B"/>
                          </a:solidFill>
                          <a:latin typeface="Yu Gothic"/>
                          <a:ea typeface="Yu Gothic"/>
                        </a:rPr>
                        <a:t>1,000〜3,000件</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見積・来店予約</a:t>
                      </a:r>
                    </a:p>
                  </a:txBody>
                  <a:tcPr anchor="ctr" marL="73152" marR="73152" marT="18288" marB="18288">
                    <a:solidFill>
                      <a:srgbClr val="F2F4F6"/>
                    </a:solidFill>
                  </a:tcPr>
                </a:tc>
                <a:tc>
                  <a:txBody>
                    <a:bodyPr/>
                    <a:lstStyle/>
                    <a:p>
                      <a:r>
                        <a:rPr sz="1100" b="0">
                          <a:solidFill>
                            <a:srgbClr val="21252B"/>
                          </a:solidFill>
                          <a:latin typeface="Yu Gothic"/>
                          <a:ea typeface="Yu Gothic"/>
                        </a:rPr>
                        <a:t>500〜1,500件</a:t>
                      </a:r>
                    </a:p>
                  </a:txBody>
                  <a:tcPr anchor="ctr" marL="73152" marR="73152" marT="18288" marB="18288">
                    <a:solidFill>
                      <a:srgbClr val="F2F4F6"/>
                    </a:solidFill>
                  </a:tcPr>
                </a:tc>
              </a:tr>
              <a:tr h="324612">
                <a:tc>
                  <a:txBody>
                    <a:bodyPr/>
                    <a:lstStyle/>
                    <a:p>
                      <a:r>
                        <a:rPr sz="1100" b="0">
                          <a:solidFill>
                            <a:srgbClr val="21252B"/>
                          </a:solidFill>
                          <a:latin typeface="Yu Gothic"/>
                          <a:ea typeface="Yu Gothic"/>
                        </a:rPr>
                        <a:t>BB/でんき相談</a:t>
                      </a:r>
                    </a:p>
                  </a:txBody>
                  <a:tcPr anchor="ctr" marL="73152" marR="73152" marT="18288" marB="18288">
                    <a:solidFill>
                      <a:srgbClr val="FFFFFF"/>
                    </a:solidFill>
                  </a:tcPr>
                </a:tc>
                <a:tc>
                  <a:txBody>
                    <a:bodyPr/>
                    <a:lstStyle/>
                    <a:p>
                      <a:r>
                        <a:rPr sz="1100" b="0">
                          <a:solidFill>
                            <a:srgbClr val="21252B"/>
                          </a:solidFill>
                          <a:latin typeface="Yu Gothic"/>
                          <a:ea typeface="Yu Gothic"/>
                        </a:rPr>
                        <a:t>300〜1,000件</a:t>
                      </a:r>
                    </a:p>
                  </a:txBody>
                  <a:tcPr anchor="ctr" marL="73152" marR="73152" marT="18288" marB="18288">
                    <a:solidFill>
                      <a:srgbClr val="FFFFFF"/>
                    </a:solidFill>
                  </a:tcPr>
                </a:tc>
              </a:tr>
              <a:tr h="324612">
                <a:tc>
                  <a:txBody>
                    <a:bodyPr/>
                    <a:lstStyle/>
                    <a:p>
                      <a:r>
                        <a:rPr sz="1100" b="0">
                          <a:solidFill>
                            <a:srgbClr val="21252B"/>
                          </a:solidFill>
                          <a:latin typeface="Yu Gothic"/>
                          <a:ea typeface="Yu Gothic"/>
                        </a:rPr>
                        <a:t>モバイル関連相談</a:t>
                      </a:r>
                    </a:p>
                  </a:txBody>
                  <a:tcPr anchor="ctr" marL="73152" marR="73152" marT="18288" marB="18288">
                    <a:solidFill>
                      <a:srgbClr val="F2F4F6"/>
                    </a:solidFill>
                  </a:tcPr>
                </a:tc>
                <a:tc>
                  <a:txBody>
                    <a:bodyPr/>
                    <a:lstStyle/>
                    <a:p>
                      <a:r>
                        <a:rPr sz="1100" b="0">
                          <a:solidFill>
                            <a:srgbClr val="21252B"/>
                          </a:solidFill>
                          <a:latin typeface="Yu Gothic"/>
                          <a:ea typeface="Yu Gothic"/>
                        </a:rPr>
                        <a:t>700〜2,000件</a:t>
                      </a:r>
                    </a:p>
                  </a:txBody>
                  <a:tcPr anchor="ctr" marL="73152" marR="73152" marT="18288" marB="18288">
                    <a:solidFill>
                      <a:srgbClr val="F2F4F6"/>
                    </a:solidFill>
                  </a:tcPr>
                </a:tc>
              </a:tr>
            </a:tbl>
          </a:graphicData>
        </a:graphic>
      </p:graphicFrame>
      <p:sp>
        <p:nvSpPr>
          <p:cNvPr id="10" name="TextBox 9"/>
          <p:cNvSpPr txBox="1"/>
          <p:nvPr/>
        </p:nvSpPr>
        <p:spPr>
          <a:xfrm>
            <a:off x="6492240" y="5166360"/>
            <a:ext cx="5120640" cy="1097280"/>
          </a:xfrm>
          <a:prstGeom prst="rect">
            <a:avLst/>
          </a:prstGeom>
          <a:noFill/>
        </p:spPr>
        <p:txBody>
          <a:bodyPr wrap="square" anchor="t" lIns="0" rIns="0" tIns="0" bIns="0">
            <a:spAutoFit/>
          </a:bodyPr>
          <a:lstStyle/>
          <a:p>
            <a:pPr algn="l">
              <a:spcAft>
                <a:spcPts val="600"/>
              </a:spcAft>
            </a:pPr>
            <a:r>
              <a:rPr sz="1050" b="0">
                <a:solidFill>
                  <a:srgbClr val="5A626B"/>
                </a:solidFill>
                <a:latin typeface="Yu Gothic"/>
                <a:ea typeface="Yu Gothic"/>
              </a:rPr>
              <a:t>※年間IP使用料8,000万円は、60周年プレミアム・ヒーロー稼働との一体運用・広範な使用範囲を含む年間包括契約想定の概算です。運営費・稼働枠は首都圏中心・1施設あたり週末1〜2回の開催を想定して積算(全国展開はC案)。KPIは最終KGI(新規契約数)の先行指標として設計してい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B案を推奨する理由</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IP使用料単体ではなく、「年間IP契約+リアルイベント実行費+店舗送客導線」の総額としてご評価ください</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24</a:t>
            </a:r>
          </a:p>
        </p:txBody>
      </p:sp>
      <p:sp>
        <p:nvSpPr>
          <p:cNvPr id="8" name="TextBox 7"/>
          <p:cNvSpPr txBox="1"/>
          <p:nvPr/>
        </p:nvSpPr>
        <p:spPr>
          <a:xfrm>
            <a:off x="777240" y="1600200"/>
            <a:ext cx="10789920" cy="731520"/>
          </a:xfrm>
          <a:prstGeom prst="rect">
            <a:avLst/>
          </a:prstGeom>
          <a:noFill/>
        </p:spPr>
        <p:txBody>
          <a:bodyPr wrap="square" anchor="t" lIns="0" rIns="0" tIns="0" bIns="0">
            <a:spAutoFit/>
          </a:bodyPr>
          <a:lstStyle/>
          <a:p>
            <a:pPr algn="l">
              <a:spcAft>
                <a:spcPts val="400"/>
              </a:spcAft>
            </a:pPr>
            <a:r>
              <a:rPr sz="1400" b="0">
                <a:solidFill>
                  <a:srgbClr val="21252B"/>
                </a:solidFill>
                <a:latin typeface="Yu Gothic"/>
                <a:ea typeface="Yu Gothic"/>
              </a:rPr>
              <a:t>B案の1億5,000万円は、IP使用料だけの金額ではありません。年間の企画・制作・イベント運営・店舗送客までを含む、実行費一式の総額です。</a:t>
            </a:r>
          </a:p>
        </p:txBody>
      </p:sp>
      <p:sp>
        <p:nvSpPr>
          <p:cNvPr id="9" name="Rounded Rectangle 8"/>
          <p:cNvSpPr/>
          <p:nvPr/>
        </p:nvSpPr>
        <p:spPr>
          <a:xfrm>
            <a:off x="777240" y="2377440"/>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年間IP使用料</a:t>
            </a:r>
          </a:p>
        </p:txBody>
      </p:sp>
      <p:sp>
        <p:nvSpPr>
          <p:cNvPr id="10" name="Rounded Rectangle 9"/>
          <p:cNvSpPr/>
          <p:nvPr/>
        </p:nvSpPr>
        <p:spPr>
          <a:xfrm>
            <a:off x="2971799" y="2377440"/>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ヒーロー登場・撮影会稼働枠</a:t>
            </a:r>
          </a:p>
        </p:txBody>
      </p:sp>
      <p:sp>
        <p:nvSpPr>
          <p:cNvPr id="11" name="Rounded Rectangle 10"/>
          <p:cNvSpPr/>
          <p:nvPr/>
        </p:nvSpPr>
        <p:spPr>
          <a:xfrm>
            <a:off x="5166358" y="2377440"/>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商業施設イベント運営</a:t>
            </a:r>
          </a:p>
        </p:txBody>
      </p:sp>
      <p:sp>
        <p:nvSpPr>
          <p:cNvPr id="12" name="Rounded Rectangle 11"/>
          <p:cNvSpPr/>
          <p:nvPr/>
        </p:nvSpPr>
        <p:spPr>
          <a:xfrm>
            <a:off x="7360917" y="2377440"/>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店頭ツール</a:t>
            </a:r>
          </a:p>
        </p:txBody>
      </p:sp>
      <p:sp>
        <p:nvSpPr>
          <p:cNvPr id="13" name="Rounded Rectangle 12"/>
          <p:cNvSpPr/>
          <p:nvPr/>
        </p:nvSpPr>
        <p:spPr>
          <a:xfrm>
            <a:off x="9555476" y="2377440"/>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館内ラリー</a:t>
            </a:r>
          </a:p>
        </p:txBody>
      </p:sp>
      <p:sp>
        <p:nvSpPr>
          <p:cNvPr id="14" name="Rounded Rectangle 13"/>
          <p:cNvSpPr/>
          <p:nvPr/>
        </p:nvSpPr>
        <p:spPr>
          <a:xfrm>
            <a:off x="777240" y="3182112"/>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LP/デジタル隊員証</a:t>
            </a:r>
          </a:p>
        </p:txBody>
      </p:sp>
      <p:sp>
        <p:nvSpPr>
          <p:cNvPr id="15" name="Rounded Rectangle 14"/>
          <p:cNvSpPr/>
          <p:nvPr/>
        </p:nvSpPr>
        <p:spPr>
          <a:xfrm>
            <a:off x="2971799" y="3182112"/>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BB/でんき向けコンテンツ</a:t>
            </a:r>
          </a:p>
        </p:txBody>
      </p:sp>
      <p:sp>
        <p:nvSpPr>
          <p:cNvPr id="16" name="Rounded Rectangle 15"/>
          <p:cNvSpPr/>
          <p:nvPr/>
        </p:nvSpPr>
        <p:spPr>
          <a:xfrm>
            <a:off x="5166358" y="3182112"/>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SNS告知</a:t>
            </a:r>
          </a:p>
        </p:txBody>
      </p:sp>
      <p:sp>
        <p:nvSpPr>
          <p:cNvPr id="17" name="Rounded Rectangle 16"/>
          <p:cNvSpPr/>
          <p:nvPr/>
        </p:nvSpPr>
        <p:spPr>
          <a:xfrm>
            <a:off x="7360917" y="3182112"/>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広告・送客</a:t>
            </a:r>
          </a:p>
        </p:txBody>
      </p:sp>
      <p:sp>
        <p:nvSpPr>
          <p:cNvPr id="18" name="Rounded Rectangle 17"/>
          <p:cNvSpPr/>
          <p:nvPr/>
        </p:nvSpPr>
        <p:spPr>
          <a:xfrm>
            <a:off x="9555476" y="3182112"/>
            <a:ext cx="2084831" cy="658368"/>
          </a:xfrm>
          <a:prstGeom prst="roundRect">
            <a:avLst>
              <a:gd name="adj" fmla="val 1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1252B"/>
                </a:solidFill>
                <a:latin typeface="Yu Gothic"/>
                <a:ea typeface="Yu Gothic"/>
              </a:rPr>
              <a:t>事務局・レポート</a:t>
            </a:r>
          </a:p>
        </p:txBody>
      </p:sp>
      <p:sp>
        <p:nvSpPr>
          <p:cNvPr id="19" name="Rounded Rectangle 18"/>
          <p:cNvSpPr/>
          <p:nvPr/>
        </p:nvSpPr>
        <p:spPr>
          <a:xfrm>
            <a:off x="777240" y="4343400"/>
            <a:ext cx="10744200" cy="1371600"/>
          </a:xfrm>
          <a:prstGeom prst="roundRect">
            <a:avLst>
              <a:gd name="adj" fmla="val 8000"/>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617720"/>
            <a:ext cx="10149840" cy="914400"/>
          </a:xfrm>
          <a:prstGeom prst="rect">
            <a:avLst/>
          </a:prstGeom>
          <a:noFill/>
        </p:spPr>
        <p:txBody>
          <a:bodyPr wrap="square" anchor="ctr" lIns="0" rIns="0" tIns="0" bIns="0">
            <a:spAutoFit/>
          </a:bodyPr>
          <a:lstStyle/>
          <a:p>
            <a:pPr algn="l">
              <a:spcAft>
                <a:spcPts val="600"/>
              </a:spcAft>
            </a:pPr>
            <a:r>
              <a:rPr sz="1800" b="1">
                <a:solidFill>
                  <a:srgbClr val="FFFFFF"/>
                </a:solidFill>
                <a:latin typeface="Yu Gothic"/>
                <a:ea typeface="Yu Gothic"/>
              </a:rPr>
              <a:t>B案 = 年間IP契約 + リアルイベント実行費 + 店舗送客導線 の一体パッケージ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ご参考:場所代の削減効果と実質負担の考え方</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ファミリー集客企画は商業施設の場所代交渉の材料になり、本企画の実質負担を大きく圧縮し得ます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25</a:t>
            </a:r>
          </a:p>
        </p:txBody>
      </p:sp>
      <p:sp>
        <p:nvSpPr>
          <p:cNvPr id="8" name="TextBox 7"/>
          <p:cNvSpPr txBox="1"/>
          <p:nvPr/>
        </p:nvSpPr>
        <p:spPr>
          <a:xfrm>
            <a:off x="777240" y="1554480"/>
            <a:ext cx="10789920" cy="1371600"/>
          </a:xfrm>
          <a:prstGeom prst="rect">
            <a:avLst/>
          </a:prstGeom>
          <a:noFill/>
        </p:spPr>
        <p:txBody>
          <a:bodyPr wrap="square" anchor="t" lIns="0" rIns="0" tIns="0" bIns="0">
            <a:spAutoFit/>
          </a:bodyPr>
          <a:lstStyle/>
          <a:p>
            <a:pPr algn="l">
              <a:spcAft>
                <a:spcPts val="700"/>
              </a:spcAft>
            </a:pPr>
            <a:r>
              <a:rPr sz="1000" b="1">
                <a:solidFill>
                  <a:srgbClr val="D60012"/>
                </a:solidFill>
                <a:latin typeface="Yu Gothic"/>
                <a:ea typeface="Yu Gothic"/>
              </a:rPr>
              <a:t>● </a:t>
            </a:r>
            <a:r>
              <a:rPr sz="1300" b="0">
                <a:solidFill>
                  <a:srgbClr val="21252B"/>
                </a:solidFill>
                <a:latin typeface="Yu Gothic"/>
                <a:ea typeface="Yu Gothic"/>
              </a:rPr>
              <a:t>商業施設のイベントスペース利用料は、1日50万〜100万円が標準的な水準と伺っております。</a:t>
            </a:r>
          </a:p>
          <a:p>
            <a:pPr algn="l">
              <a:spcAft>
                <a:spcPts val="700"/>
              </a:spcAft>
            </a:pPr>
            <a:r>
              <a:rPr sz="1000" b="1">
                <a:solidFill>
                  <a:srgbClr val="D60012"/>
                </a:solidFill>
                <a:latin typeface="Yu Gothic"/>
                <a:ea typeface="Yu Gothic"/>
              </a:rPr>
              <a:t>● </a:t>
            </a:r>
            <a:r>
              <a:rPr sz="1300" b="0">
                <a:solidFill>
                  <a:srgbClr val="21252B"/>
                </a:solidFill>
                <a:latin typeface="Yu Gothic"/>
                <a:ea typeface="Yu Gothic"/>
              </a:rPr>
              <a:t>施設側は「来館者が喜ぶ集客企画」に対して、場所代を減額する交渉余地を持っています。</a:t>
            </a:r>
          </a:p>
          <a:p>
            <a:pPr algn="l">
              <a:spcAft>
                <a:spcPts val="700"/>
              </a:spcAft>
            </a:pPr>
            <a:r>
              <a:rPr sz="1000" b="1">
                <a:solidFill>
                  <a:srgbClr val="D60012"/>
                </a:solidFill>
                <a:latin typeface="Yu Gothic"/>
                <a:ea typeface="Yu Gothic"/>
              </a:rPr>
              <a:t>● </a:t>
            </a:r>
            <a:r>
              <a:rPr sz="1300" b="0">
                <a:solidFill>
                  <a:srgbClr val="21252B"/>
                </a:solidFill>
                <a:latin typeface="Yu Gothic"/>
                <a:ea typeface="Yu Gothic"/>
              </a:rPr>
              <a:t>本企画はファミリーの目的来館・館内回遊・滞在時間向上を直接作るため、場所代交渉の強い材料になります。</a:t>
            </a:r>
          </a:p>
        </p:txBody>
      </p:sp>
      <p:graphicFrame>
        <p:nvGraphicFramePr>
          <p:cNvPr id="9" name="Table 8"/>
          <p:cNvGraphicFramePr>
            <a:graphicFrameLocks noGrp="1"/>
          </p:cNvGraphicFramePr>
          <p:nvPr/>
        </p:nvGraphicFramePr>
        <p:xfrm>
          <a:off x="640080" y="3063240"/>
          <a:ext cx="10881360" cy="1645919"/>
        </p:xfrm>
        <a:graphic>
          <a:graphicData uri="http://schemas.openxmlformats.org/drawingml/2006/table">
            <a:tbl>
              <a:tblPr firstRow="1" bandRow="1">
                <a:tableStyleId>{5C22544A-7EE6-4342-B048-85BDC9FD1C3A}</a:tableStyleId>
              </a:tblPr>
              <a:tblGrid>
                <a:gridCol w="3419856"/>
                <a:gridCol w="7461504"/>
              </a:tblGrid>
              <a:tr h="548639">
                <a:tc>
                  <a:txBody>
                    <a:bodyPr/>
                    <a:lstStyle/>
                    <a:p>
                      <a:r>
                        <a:rPr sz="1150" b="1">
                          <a:solidFill>
                            <a:srgbClr val="FFFFFF"/>
                          </a:solidFill>
                          <a:latin typeface="Yu Gothic"/>
                          <a:ea typeface="Yu Gothic"/>
                        </a:rPr>
                        <a:t>効果の範囲</a:t>
                      </a:r>
                    </a:p>
                  </a:txBody>
                  <a:tcPr anchor="ctr" marL="73152" marR="73152" marT="18288" marB="18288">
                    <a:solidFill>
                      <a:srgbClr val="121A2E"/>
                    </a:solidFill>
                  </a:tcPr>
                </a:tc>
                <a:tc>
                  <a:txBody>
                    <a:bodyPr/>
                    <a:lstStyle/>
                    <a:p>
                      <a:r>
                        <a:rPr sz="1150" b="1">
                          <a:solidFill>
                            <a:srgbClr val="FFFFFF"/>
                          </a:solidFill>
                          <a:latin typeface="Yu Gothic"/>
                          <a:ea typeface="Yu Gothic"/>
                        </a:rPr>
                        <a:t>考え方(参考試算)</a:t>
                      </a:r>
                    </a:p>
                  </a:txBody>
                  <a:tcPr anchor="ctr" marL="73152" marR="73152" marT="18288" marB="18288">
                    <a:solidFill>
                      <a:srgbClr val="121A2E"/>
                    </a:solidFill>
                  </a:tcPr>
                </a:tc>
              </a:tr>
              <a:tr h="548639">
                <a:tc>
                  <a:txBody>
                    <a:bodyPr/>
                    <a:lstStyle/>
                    <a:p>
                      <a:r>
                        <a:rPr sz="1250" b="0">
                          <a:solidFill>
                            <a:srgbClr val="21252B"/>
                          </a:solidFill>
                          <a:latin typeface="Yu Gothic"/>
                          <a:ea typeface="Yu Gothic"/>
                        </a:rPr>
                        <a:t>① 本企画の実施施設での直接効果</a:t>
                      </a:r>
                    </a:p>
                  </a:txBody>
                  <a:tcPr anchor="ctr" marL="73152" marR="73152" marT="18288" marB="18288">
                    <a:solidFill>
                      <a:srgbClr val="FFFFFF"/>
                    </a:solidFill>
                  </a:tcPr>
                </a:tc>
                <a:tc>
                  <a:txBody>
                    <a:bodyPr/>
                    <a:lstStyle/>
                    <a:p>
                      <a:r>
                        <a:rPr sz="1250" b="0">
                          <a:solidFill>
                            <a:srgbClr val="21252B"/>
                          </a:solidFill>
                          <a:latin typeface="Yu Gothic"/>
                          <a:ea typeface="Yu Gothic"/>
                        </a:rPr>
                        <a:t>10〜20施設×年間80〜160日の場所代負担が減額交渉の対象に(数千万円規模)</a:t>
                      </a:r>
                    </a:p>
                  </a:txBody>
                  <a:tcPr anchor="ctr" marL="73152" marR="73152" marT="18288" marB="18288">
                    <a:solidFill>
                      <a:srgbClr val="FFFFFF"/>
                    </a:solidFill>
                  </a:tcPr>
                </a:tc>
              </a:tr>
              <a:tr h="548641">
                <a:tc>
                  <a:txBody>
                    <a:bodyPr/>
                    <a:lstStyle/>
                    <a:p>
                      <a:r>
                        <a:rPr sz="1250" b="0">
                          <a:solidFill>
                            <a:srgbClr val="21252B"/>
                          </a:solidFill>
                          <a:latin typeface="Yu Gothic"/>
                          <a:ea typeface="Yu Gothic"/>
                        </a:rPr>
                        <a:t>② 全国のイベント網への波及</a:t>
                      </a:r>
                    </a:p>
                  </a:txBody>
                  <a:tcPr anchor="ctr" marL="73152" marR="73152" marT="18288" marB="18288">
                    <a:solidFill>
                      <a:srgbClr val="F2F4F6"/>
                    </a:solidFill>
                  </a:tcPr>
                </a:tc>
                <a:tc>
                  <a:txBody>
                    <a:bodyPr/>
                    <a:lstStyle/>
                    <a:p>
                      <a:r>
                        <a:rPr sz="1250" b="0">
                          <a:solidFill>
                            <a:srgbClr val="21252B"/>
                          </a:solidFill>
                          <a:latin typeface="Yu Gothic"/>
                          <a:ea typeface="Yu Gothic"/>
                        </a:rPr>
                        <a:t>全国数百か所で実施される店頭イベントの場所代交渉の標準材料に → 年間数億円規模のコスト構造に波及</a:t>
                      </a:r>
                    </a:p>
                  </a:txBody>
                  <a:tcPr anchor="ctr" marL="73152" marR="73152" marT="18288" marB="18288">
                    <a:solidFill>
                      <a:srgbClr val="F2F4F6"/>
                    </a:solidFill>
                  </a:tcPr>
                </a:tc>
              </a:tr>
            </a:tbl>
          </a:graphicData>
        </a:graphic>
      </p:graphicFrame>
      <p:sp>
        <p:nvSpPr>
          <p:cNvPr id="10" name="Rectangle 9"/>
          <p:cNvSpPr/>
          <p:nvPr/>
        </p:nvSpPr>
        <p:spPr>
          <a:xfrm>
            <a:off x="640080" y="4892040"/>
            <a:ext cx="10881360" cy="914400"/>
          </a:xfrm>
          <a:prstGeom prst="rect">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029200"/>
            <a:ext cx="10332720" cy="731520"/>
          </a:xfrm>
          <a:prstGeom prst="rect">
            <a:avLst/>
          </a:prstGeom>
          <a:noFill/>
        </p:spPr>
        <p:txBody>
          <a:bodyPr wrap="square" anchor="ctr" lIns="0" rIns="0" tIns="0" bIns="0">
            <a:spAutoFit/>
          </a:bodyPr>
          <a:lstStyle/>
          <a:p>
            <a:pPr algn="l">
              <a:spcAft>
                <a:spcPts val="600"/>
              </a:spcAft>
            </a:pPr>
            <a:r>
              <a:rPr sz="1550" b="1">
                <a:solidFill>
                  <a:srgbClr val="D60012"/>
                </a:solidFill>
                <a:latin typeface="Yu Gothic"/>
                <a:ea typeface="Yu Gothic"/>
              </a:rPr>
              <a:t>場所代の削減効果が本企画費用(B案1億5,000万円)を上回れば、実質負担ゼロも視野に入ります。</a:t>
            </a:r>
          </a:p>
        </p:txBody>
      </p:sp>
      <p:sp>
        <p:nvSpPr>
          <p:cNvPr id="12" name="TextBox 11"/>
          <p:cNvSpPr txBox="1"/>
          <p:nvPr/>
        </p:nvSpPr>
        <p:spPr>
          <a:xfrm>
            <a:off x="640080" y="5943600"/>
            <a:ext cx="10881360" cy="365760"/>
          </a:xfrm>
          <a:prstGeom prst="rect">
            <a:avLst/>
          </a:prstGeom>
          <a:noFill/>
        </p:spPr>
        <p:txBody>
          <a:bodyPr wrap="square" anchor="t" lIns="0" rIns="0" tIns="0" bIns="0">
            <a:spAutoFit/>
          </a:bodyPr>
          <a:lstStyle/>
          <a:p>
            <a:pPr algn="l">
              <a:spcAft>
                <a:spcPts val="600"/>
              </a:spcAft>
            </a:pPr>
            <a:r>
              <a:rPr sz="1050" b="0">
                <a:solidFill>
                  <a:srgbClr val="5A626B"/>
                </a:solidFill>
                <a:latin typeface="Yu Gothic"/>
                <a:ea typeface="Yu Gothic"/>
              </a:rPr>
              <a:t>※場所代・減額幅は施設・立地・企画内容および施設側との個別交渉により変動します。上記は考え方をお示しする参考値です。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C案:60周年大型展開プラン|2億5,000万円(税別)</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60周年文脈を活用した全社大型コンシューマキャンペーン(6〜12か月)。B案実施後の拡張案としてご提示します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26</a:t>
            </a:r>
          </a:p>
        </p:txBody>
      </p:sp>
      <p:graphicFrame>
        <p:nvGraphicFramePr>
          <p:cNvPr id="8" name="Table 7"/>
          <p:cNvGraphicFramePr>
            <a:graphicFrameLocks noGrp="1"/>
          </p:cNvGraphicFramePr>
          <p:nvPr/>
        </p:nvGraphicFramePr>
        <p:xfrm>
          <a:off x="640080" y="1600200"/>
          <a:ext cx="5486398" cy="4594860"/>
        </p:xfrm>
        <a:graphic>
          <a:graphicData uri="http://schemas.openxmlformats.org/drawingml/2006/table">
            <a:tbl>
              <a:tblPr firstRow="1" bandRow="1">
                <a:tableStyleId>{5C22544A-7EE6-4342-B048-85BDC9FD1C3A}</a:tableStyleId>
              </a:tblPr>
              <a:tblGrid>
                <a:gridCol w="4063999"/>
                <a:gridCol w="1422399"/>
              </a:tblGrid>
              <a:tr h="306324">
                <a:tc>
                  <a:txBody>
                    <a:bodyPr/>
                    <a:lstStyle/>
                    <a:p>
                      <a:r>
                        <a:rPr sz="1150" b="1">
                          <a:solidFill>
                            <a:srgbClr val="FFFFFF"/>
                          </a:solidFill>
                          <a:latin typeface="Yu Gothic"/>
                          <a:ea typeface="Yu Gothic"/>
                        </a:rPr>
                        <a:t>見積項目</a:t>
                      </a:r>
                    </a:p>
                  </a:txBody>
                  <a:tcPr anchor="ctr" marL="73152" marR="73152" marT="18288" marB="18288">
                    <a:solidFill>
                      <a:srgbClr val="121A2E"/>
                    </a:solidFill>
                  </a:tcPr>
                </a:tc>
                <a:tc>
                  <a:txBody>
                    <a:bodyPr/>
                    <a:lstStyle/>
                    <a:p>
                      <a:r>
                        <a:rPr sz="1150" b="1">
                          <a:solidFill>
                            <a:srgbClr val="FFFFFF"/>
                          </a:solidFill>
                          <a:latin typeface="Yu Gothic"/>
                          <a:ea typeface="Yu Gothic"/>
                        </a:rPr>
                        <a:t>金額</a:t>
                      </a:r>
                    </a:p>
                  </a:txBody>
                  <a:tcPr anchor="ctr" marL="73152" marR="73152" marT="18288" marB="18288">
                    <a:solidFill>
                      <a:srgbClr val="121A2E"/>
                    </a:solidFill>
                  </a:tcPr>
                </a:tc>
              </a:tr>
              <a:tr h="306324">
                <a:tc>
                  <a:txBody>
                    <a:bodyPr/>
                    <a:lstStyle/>
                    <a:p>
                      <a:r>
                        <a:rPr sz="1050" b="0">
                          <a:solidFill>
                            <a:srgbClr val="21252B"/>
                          </a:solidFill>
                          <a:latin typeface="Yu Gothic"/>
                          <a:ea typeface="Yu Gothic"/>
                        </a:rPr>
                        <a:t>年間IP使用料・広範囲監修費</a:t>
                      </a:r>
                    </a:p>
                  </a:txBody>
                  <a:tcPr anchor="ctr" marL="73152" marR="73152" marT="18288" marB="18288">
                    <a:solidFill>
                      <a:srgbClr val="FFFFFF"/>
                    </a:solidFill>
                  </a:tcPr>
                </a:tc>
                <a:tc>
                  <a:txBody>
                    <a:bodyPr/>
                    <a:lstStyle/>
                    <a:p>
                      <a:r>
                        <a:rPr sz="1050" b="0">
                          <a:solidFill>
                            <a:srgbClr val="21252B"/>
                          </a:solidFill>
                          <a:latin typeface="Yu Gothic"/>
                          <a:ea typeface="Yu Gothic"/>
                        </a:rPr>
                        <a:t>8,000万円</a:t>
                      </a:r>
                    </a:p>
                  </a:txBody>
                  <a:tcPr anchor="ctr" marL="73152" marR="73152" marT="18288" marB="18288">
                    <a:solidFill>
                      <a:srgbClr val="FFFFFF"/>
                    </a:solidFill>
                  </a:tcPr>
                </a:tc>
              </a:tr>
              <a:tr h="306324">
                <a:tc>
                  <a:txBody>
                    <a:bodyPr/>
                    <a:lstStyle/>
                    <a:p>
                      <a:r>
                        <a:rPr sz="1050" b="0">
                          <a:solidFill>
                            <a:srgbClr val="21252B"/>
                          </a:solidFill>
                          <a:latin typeface="Yu Gothic"/>
                          <a:ea typeface="Yu Gothic"/>
                        </a:rPr>
                        <a:t>ヒーロー登場・イベント稼働枠</a:t>
                      </a:r>
                    </a:p>
                  </a:txBody>
                  <a:tcPr anchor="ctr" marL="73152" marR="73152" marT="18288" marB="18288">
                    <a:solidFill>
                      <a:srgbClr val="F2F4F6"/>
                    </a:solidFill>
                  </a:tcPr>
                </a:tc>
                <a:tc>
                  <a:txBody>
                    <a:bodyPr/>
                    <a:lstStyle/>
                    <a:p>
                      <a:r>
                        <a:rPr sz="1050" b="0">
                          <a:solidFill>
                            <a:srgbClr val="21252B"/>
                          </a:solidFill>
                          <a:latin typeface="Yu Gothic"/>
                          <a:ea typeface="Yu Gothic"/>
                        </a:rPr>
                        <a:t>2,500万円</a:t>
                      </a:r>
                    </a:p>
                  </a:txBody>
                  <a:tcPr anchor="ctr" marL="73152" marR="73152" marT="18288" marB="18288">
                    <a:solidFill>
                      <a:srgbClr val="F2F4F6"/>
                    </a:solidFill>
                  </a:tcPr>
                </a:tc>
              </a:tr>
              <a:tr h="306324">
                <a:tc>
                  <a:txBody>
                    <a:bodyPr/>
                    <a:lstStyle/>
                    <a:p>
                      <a:r>
                        <a:rPr sz="1050" b="0">
                          <a:solidFill>
                            <a:srgbClr val="21252B"/>
                          </a:solidFill>
                          <a:latin typeface="Yu Gothic"/>
                          <a:ea typeface="Yu Gothic"/>
                        </a:rPr>
                        <a:t>戦略設計・全体PM</a:t>
                      </a:r>
                    </a:p>
                  </a:txBody>
                  <a:tcPr anchor="ctr" marL="73152" marR="73152" marT="18288" marB="18288">
                    <a:solidFill>
                      <a:srgbClr val="FFFFFF"/>
                    </a:solidFill>
                  </a:tcPr>
                </a:tc>
                <a:tc>
                  <a:txBody>
                    <a:bodyPr/>
                    <a:lstStyle/>
                    <a:p>
                      <a:r>
                        <a:rPr sz="1050" b="0">
                          <a:solidFill>
                            <a:srgbClr val="21252B"/>
                          </a:solidFill>
                          <a:latin typeface="Yu Gothic"/>
                          <a:ea typeface="Yu Gothic"/>
                        </a:rPr>
                        <a:t>1,200万円</a:t>
                      </a:r>
                    </a:p>
                  </a:txBody>
                  <a:tcPr anchor="ctr" marL="73152" marR="73152" marT="18288" marB="18288">
                    <a:solidFill>
                      <a:srgbClr val="FFFFFF"/>
                    </a:solidFill>
                  </a:tcPr>
                </a:tc>
              </a:tr>
              <a:tr h="306324">
                <a:tc>
                  <a:txBody>
                    <a:bodyPr/>
                    <a:lstStyle/>
                    <a:p>
                      <a:r>
                        <a:rPr sz="1050" b="0">
                          <a:solidFill>
                            <a:srgbClr val="21252B"/>
                          </a:solidFill>
                          <a:latin typeface="Yu Gothic"/>
                          <a:ea typeface="Yu Gothic"/>
                        </a:rPr>
                        <a:t>キービジュアル・コピー開発</a:t>
                      </a:r>
                    </a:p>
                  </a:txBody>
                  <a:tcPr anchor="ctr" marL="73152" marR="73152" marT="18288" marB="18288">
                    <a:solidFill>
                      <a:srgbClr val="F2F4F6"/>
                    </a:solidFill>
                  </a:tcPr>
                </a:tc>
                <a:tc>
                  <a:txBody>
                    <a:bodyPr/>
                    <a:lstStyle/>
                    <a:p>
                      <a:r>
                        <a:rPr sz="1050" b="0">
                          <a:solidFill>
                            <a:srgbClr val="21252B"/>
                          </a:solidFill>
                          <a:latin typeface="Yu Gothic"/>
                          <a:ea typeface="Yu Gothic"/>
                        </a:rPr>
                        <a:t>1,000万円</a:t>
                      </a:r>
                    </a:p>
                  </a:txBody>
                  <a:tcPr anchor="ctr" marL="73152" marR="73152" marT="18288" marB="18288">
                    <a:solidFill>
                      <a:srgbClr val="F2F4F6"/>
                    </a:solidFill>
                  </a:tcPr>
                </a:tc>
              </a:tr>
              <a:tr h="306324">
                <a:tc>
                  <a:txBody>
                    <a:bodyPr/>
                    <a:lstStyle/>
                    <a:p>
                      <a:r>
                        <a:rPr sz="1050" b="0">
                          <a:solidFill>
                            <a:srgbClr val="21252B"/>
                          </a:solidFill>
                          <a:latin typeface="Yu Gothic"/>
                          <a:ea typeface="Yu Gothic"/>
                        </a:rPr>
                        <a:t>Web動画/ショート動画制作</a:t>
                      </a:r>
                    </a:p>
                  </a:txBody>
                  <a:tcPr anchor="ctr" marL="73152" marR="73152" marT="18288" marB="18288">
                    <a:solidFill>
                      <a:srgbClr val="FFFFFF"/>
                    </a:solidFill>
                  </a:tcPr>
                </a:tc>
                <a:tc>
                  <a:txBody>
                    <a:bodyPr/>
                    <a:lstStyle/>
                    <a:p>
                      <a:r>
                        <a:rPr sz="1050" b="0">
                          <a:solidFill>
                            <a:srgbClr val="21252B"/>
                          </a:solidFill>
                          <a:latin typeface="Yu Gothic"/>
                          <a:ea typeface="Yu Gothic"/>
                        </a:rPr>
                        <a:t>2,500万円</a:t>
                      </a:r>
                    </a:p>
                  </a:txBody>
                  <a:tcPr anchor="ctr" marL="73152" marR="73152" marT="18288" marB="18288">
                    <a:solidFill>
                      <a:srgbClr val="FFFFFF"/>
                    </a:solidFill>
                  </a:tcPr>
                </a:tc>
              </a:tr>
              <a:tr h="306324">
                <a:tc>
                  <a:txBody>
                    <a:bodyPr/>
                    <a:lstStyle/>
                    <a:p>
                      <a:r>
                        <a:rPr sz="1050" b="0">
                          <a:solidFill>
                            <a:srgbClr val="21252B"/>
                          </a:solidFill>
                          <a:latin typeface="Yu Gothic"/>
                          <a:ea typeface="Yu Gothic"/>
                        </a:rPr>
                        <a:t>LP/ミッション基盤制作</a:t>
                      </a:r>
                    </a:p>
                  </a:txBody>
                  <a:tcPr anchor="ctr" marL="73152" marR="73152" marT="18288" marB="18288">
                    <a:solidFill>
                      <a:srgbClr val="F2F4F6"/>
                    </a:solidFill>
                  </a:tcPr>
                </a:tc>
                <a:tc>
                  <a:txBody>
                    <a:bodyPr/>
                    <a:lstStyle/>
                    <a:p>
                      <a:r>
                        <a:rPr sz="1050" b="0">
                          <a:solidFill>
                            <a:srgbClr val="21252B"/>
                          </a:solidFill>
                          <a:latin typeface="Yu Gothic"/>
                          <a:ea typeface="Yu Gothic"/>
                        </a:rPr>
                        <a:t>1,200万円</a:t>
                      </a:r>
                    </a:p>
                  </a:txBody>
                  <a:tcPr anchor="ctr" marL="73152" marR="73152" marT="18288" marB="18288">
                    <a:solidFill>
                      <a:srgbClr val="F2F4F6"/>
                    </a:solidFill>
                  </a:tcPr>
                </a:tc>
              </a:tr>
              <a:tr h="306324">
                <a:tc>
                  <a:txBody>
                    <a:bodyPr/>
                    <a:lstStyle/>
                    <a:p>
                      <a:r>
                        <a:rPr sz="1050" b="0">
                          <a:solidFill>
                            <a:srgbClr val="21252B"/>
                          </a:solidFill>
                          <a:latin typeface="Yu Gothic"/>
                          <a:ea typeface="Yu Gothic"/>
                        </a:rPr>
                        <a:t>AR/デジタルコンテンツ制作</a:t>
                      </a:r>
                    </a:p>
                  </a:txBody>
                  <a:tcPr anchor="ctr" marL="73152" marR="73152" marT="18288" marB="18288">
                    <a:solidFill>
                      <a:srgbClr val="FFFFFF"/>
                    </a:solidFill>
                  </a:tcPr>
                </a:tc>
                <a:tc>
                  <a:txBody>
                    <a:bodyPr/>
                    <a:lstStyle/>
                    <a:p>
                      <a:r>
                        <a:rPr sz="1050" b="0">
                          <a:solidFill>
                            <a:srgbClr val="21252B"/>
                          </a:solidFill>
                          <a:latin typeface="Yu Gothic"/>
                          <a:ea typeface="Yu Gothic"/>
                        </a:rPr>
                        <a:t>800万円</a:t>
                      </a:r>
                    </a:p>
                  </a:txBody>
                  <a:tcPr anchor="ctr" marL="73152" marR="73152" marT="18288" marB="18288">
                    <a:solidFill>
                      <a:srgbClr val="FFFFFF"/>
                    </a:solidFill>
                  </a:tcPr>
                </a:tc>
              </a:tr>
              <a:tr h="306324">
                <a:tc>
                  <a:txBody>
                    <a:bodyPr/>
                    <a:lstStyle/>
                    <a:p>
                      <a:r>
                        <a:rPr sz="1050" b="0">
                          <a:solidFill>
                            <a:srgbClr val="21252B"/>
                          </a:solidFill>
                          <a:latin typeface="Yu Gothic"/>
                          <a:ea typeface="Yu Gothic"/>
                        </a:rPr>
                        <a:t>全国店頭ツール制作</a:t>
                      </a:r>
                    </a:p>
                  </a:txBody>
                  <a:tcPr anchor="ctr" marL="73152" marR="73152" marT="18288" marB="18288">
                    <a:solidFill>
                      <a:srgbClr val="F2F4F6"/>
                    </a:solidFill>
                  </a:tcPr>
                </a:tc>
                <a:tc>
                  <a:txBody>
                    <a:bodyPr/>
                    <a:lstStyle/>
                    <a:p>
                      <a:r>
                        <a:rPr sz="1050" b="0">
                          <a:solidFill>
                            <a:srgbClr val="21252B"/>
                          </a:solidFill>
                          <a:latin typeface="Yu Gothic"/>
                          <a:ea typeface="Yu Gothic"/>
                        </a:rPr>
                        <a:t>1,700万円</a:t>
                      </a:r>
                    </a:p>
                  </a:txBody>
                  <a:tcPr anchor="ctr" marL="73152" marR="73152" marT="18288" marB="18288">
                    <a:solidFill>
                      <a:srgbClr val="F2F4F6"/>
                    </a:solidFill>
                  </a:tcPr>
                </a:tc>
              </a:tr>
              <a:tr h="306324">
                <a:tc>
                  <a:txBody>
                    <a:bodyPr/>
                    <a:lstStyle/>
                    <a:p>
                      <a:r>
                        <a:rPr sz="1050" b="0">
                          <a:solidFill>
                            <a:srgbClr val="21252B"/>
                          </a:solidFill>
                          <a:latin typeface="Yu Gothic"/>
                          <a:ea typeface="Yu Gothic"/>
                        </a:rPr>
                        <a:t>ノベルティ制作・配送管理</a:t>
                      </a:r>
                    </a:p>
                  </a:txBody>
                  <a:tcPr anchor="ctr" marL="73152" marR="73152" marT="18288" marB="18288">
                    <a:solidFill>
                      <a:srgbClr val="FFFFFF"/>
                    </a:solidFill>
                  </a:tcPr>
                </a:tc>
                <a:tc>
                  <a:txBody>
                    <a:bodyPr/>
                    <a:lstStyle/>
                    <a:p>
                      <a:r>
                        <a:rPr sz="1050" b="0">
                          <a:solidFill>
                            <a:srgbClr val="21252B"/>
                          </a:solidFill>
                          <a:latin typeface="Yu Gothic"/>
                          <a:ea typeface="Yu Gothic"/>
                        </a:rPr>
                        <a:t>1,500万円</a:t>
                      </a:r>
                    </a:p>
                  </a:txBody>
                  <a:tcPr anchor="ctr" marL="73152" marR="73152" marT="18288" marB="18288">
                    <a:solidFill>
                      <a:srgbClr val="FFFFFF"/>
                    </a:solidFill>
                  </a:tcPr>
                </a:tc>
              </a:tr>
              <a:tr h="306324">
                <a:tc>
                  <a:txBody>
                    <a:bodyPr/>
                    <a:lstStyle/>
                    <a:p>
                      <a:r>
                        <a:rPr sz="1050" b="0">
                          <a:solidFill>
                            <a:srgbClr val="21252B"/>
                          </a:solidFill>
                          <a:latin typeface="Yu Gothic"/>
                          <a:ea typeface="Yu Gothic"/>
                        </a:rPr>
                        <a:t>BB/でんき/モバイル向けコンテンツ</a:t>
                      </a:r>
                    </a:p>
                  </a:txBody>
                  <a:tcPr anchor="ctr" marL="73152" marR="73152" marT="18288" marB="18288">
                    <a:solidFill>
                      <a:srgbClr val="F2F4F6"/>
                    </a:solidFill>
                  </a:tcPr>
                </a:tc>
                <a:tc>
                  <a:txBody>
                    <a:bodyPr/>
                    <a:lstStyle/>
                    <a:p>
                      <a:r>
                        <a:rPr sz="1050" b="0">
                          <a:solidFill>
                            <a:srgbClr val="21252B"/>
                          </a:solidFill>
                          <a:latin typeface="Yu Gothic"/>
                          <a:ea typeface="Yu Gothic"/>
                        </a:rPr>
                        <a:t>500万円</a:t>
                      </a:r>
                    </a:p>
                  </a:txBody>
                  <a:tcPr anchor="ctr" marL="73152" marR="73152" marT="18288" marB="18288">
                    <a:solidFill>
                      <a:srgbClr val="F2F4F6"/>
                    </a:solidFill>
                  </a:tcPr>
                </a:tc>
              </a:tr>
              <a:tr h="306324">
                <a:tc>
                  <a:txBody>
                    <a:bodyPr/>
                    <a:lstStyle/>
                    <a:p>
                      <a:r>
                        <a:rPr sz="1050" b="0">
                          <a:solidFill>
                            <a:srgbClr val="21252B"/>
                          </a:solidFill>
                          <a:latin typeface="Yu Gothic"/>
                          <a:ea typeface="Yu Gothic"/>
                        </a:rPr>
                        <a:t>Web/SNS広告配信</a:t>
                      </a:r>
                    </a:p>
                  </a:txBody>
                  <a:tcPr anchor="ctr" marL="73152" marR="73152" marT="18288" marB="18288">
                    <a:solidFill>
                      <a:srgbClr val="FFFFFF"/>
                    </a:solidFill>
                  </a:tcPr>
                </a:tc>
                <a:tc>
                  <a:txBody>
                    <a:bodyPr/>
                    <a:lstStyle/>
                    <a:p>
                      <a:r>
                        <a:rPr sz="1050" b="0">
                          <a:solidFill>
                            <a:srgbClr val="21252B"/>
                          </a:solidFill>
                          <a:latin typeface="Yu Gothic"/>
                          <a:ea typeface="Yu Gothic"/>
                        </a:rPr>
                        <a:t>3,500万円</a:t>
                      </a:r>
                    </a:p>
                  </a:txBody>
                  <a:tcPr anchor="ctr" marL="73152" marR="73152" marT="18288" marB="18288">
                    <a:solidFill>
                      <a:srgbClr val="FFFFFF"/>
                    </a:solidFill>
                  </a:tcPr>
                </a:tc>
              </a:tr>
              <a:tr h="306324">
                <a:tc>
                  <a:txBody>
                    <a:bodyPr/>
                    <a:lstStyle/>
                    <a:p>
                      <a:r>
                        <a:rPr sz="1050" b="0">
                          <a:solidFill>
                            <a:srgbClr val="21252B"/>
                          </a:solidFill>
                          <a:latin typeface="Yu Gothic"/>
                          <a:ea typeface="Yu Gothic"/>
                        </a:rPr>
                        <a:t>PR/タイアップ</a:t>
                      </a:r>
                    </a:p>
                  </a:txBody>
                  <a:tcPr anchor="ctr" marL="73152" marR="73152" marT="18288" marB="18288">
                    <a:solidFill>
                      <a:srgbClr val="F2F4F6"/>
                    </a:solidFill>
                  </a:tcPr>
                </a:tc>
                <a:tc>
                  <a:txBody>
                    <a:bodyPr/>
                    <a:lstStyle/>
                    <a:p>
                      <a:r>
                        <a:rPr sz="1050" b="0">
                          <a:solidFill>
                            <a:srgbClr val="21252B"/>
                          </a:solidFill>
                          <a:latin typeface="Yu Gothic"/>
                          <a:ea typeface="Yu Gothic"/>
                        </a:rPr>
                        <a:t>400万円</a:t>
                      </a:r>
                    </a:p>
                  </a:txBody>
                  <a:tcPr anchor="ctr" marL="73152" marR="73152" marT="18288" marB="18288">
                    <a:solidFill>
                      <a:srgbClr val="F2F4F6"/>
                    </a:solidFill>
                  </a:tcPr>
                </a:tc>
              </a:tr>
              <a:tr h="306324">
                <a:tc>
                  <a:txBody>
                    <a:bodyPr/>
                    <a:lstStyle/>
                    <a:p>
                      <a:r>
                        <a:rPr sz="1050" b="0">
                          <a:solidFill>
                            <a:srgbClr val="21252B"/>
                          </a:solidFill>
                          <a:latin typeface="Yu Gothic"/>
                          <a:ea typeface="Yu Gothic"/>
                        </a:rPr>
                        <a:t>事務局・効果測定</a:t>
                      </a:r>
                    </a:p>
                  </a:txBody>
                  <a:tcPr anchor="ctr" marL="73152" marR="73152" marT="18288" marB="18288">
                    <a:solidFill>
                      <a:srgbClr val="FFFFFF"/>
                    </a:solidFill>
                  </a:tcPr>
                </a:tc>
                <a:tc>
                  <a:txBody>
                    <a:bodyPr/>
                    <a:lstStyle/>
                    <a:p>
                      <a:r>
                        <a:rPr sz="1050" b="0">
                          <a:solidFill>
                            <a:srgbClr val="21252B"/>
                          </a:solidFill>
                          <a:latin typeface="Yu Gothic"/>
                          <a:ea typeface="Yu Gothic"/>
                        </a:rPr>
                        <a:t>200万円</a:t>
                      </a:r>
                    </a:p>
                  </a:txBody>
                  <a:tcPr anchor="ctr" marL="73152" marR="73152" marT="18288" marB="18288">
                    <a:solidFill>
                      <a:srgbClr val="FFFFFF"/>
                    </a:solidFill>
                  </a:tcPr>
                </a:tc>
              </a:tr>
              <a:tr h="306324">
                <a:tc>
                  <a:txBody>
                    <a:bodyPr/>
                    <a:lstStyle/>
                    <a:p>
                      <a:r>
                        <a:rPr sz="1050" b="1">
                          <a:solidFill>
                            <a:srgbClr val="21252B"/>
                          </a:solidFill>
                          <a:latin typeface="Yu Gothic"/>
                          <a:ea typeface="Yu Gothic"/>
                        </a:rPr>
                        <a:t>合計</a:t>
                      </a:r>
                    </a:p>
                  </a:txBody>
                  <a:tcPr anchor="ctr" marL="73152" marR="73152" marT="18288" marB="18288">
                    <a:solidFill>
                      <a:srgbClr val="F2F4F6"/>
                    </a:solidFill>
                  </a:tcPr>
                </a:tc>
                <a:tc>
                  <a:txBody>
                    <a:bodyPr/>
                    <a:lstStyle/>
                    <a:p>
                      <a:r>
                        <a:rPr sz="1050" b="1">
                          <a:solidFill>
                            <a:srgbClr val="D60012"/>
                          </a:solidFill>
                          <a:latin typeface="Yu Gothic"/>
                          <a:ea typeface="Yu Gothic"/>
                        </a:rPr>
                        <a:t>2億5,000万円</a:t>
                      </a:r>
                    </a:p>
                  </a:txBody>
                  <a:tcPr anchor="ctr" marL="73152" marR="73152" marT="18288" marB="18288">
                    <a:solidFill>
                      <a:srgbClr val="F2F4F6"/>
                    </a:solidFill>
                  </a:tcPr>
                </a:tc>
              </a:tr>
            </a:tbl>
          </a:graphicData>
        </a:graphic>
      </p:graphicFrame>
      <p:graphicFrame>
        <p:nvGraphicFramePr>
          <p:cNvPr id="9" name="Table 8"/>
          <p:cNvGraphicFramePr>
            <a:graphicFrameLocks noGrp="1"/>
          </p:cNvGraphicFramePr>
          <p:nvPr/>
        </p:nvGraphicFramePr>
        <p:xfrm>
          <a:off x="6492240" y="1600200"/>
          <a:ext cx="5120639" cy="3520439"/>
        </p:xfrm>
        <a:graphic>
          <a:graphicData uri="http://schemas.openxmlformats.org/drawingml/2006/table">
            <a:tbl>
              <a:tblPr firstRow="1" bandRow="1">
                <a:tableStyleId>{5C22544A-7EE6-4342-B048-85BDC9FD1C3A}</a:tableStyleId>
              </a:tblPr>
              <a:tblGrid>
                <a:gridCol w="2894274"/>
                <a:gridCol w="2226365"/>
              </a:tblGrid>
              <a:tr h="320039">
                <a:tc>
                  <a:txBody>
                    <a:bodyPr/>
                    <a:lstStyle/>
                    <a:p>
                      <a:r>
                        <a:rPr sz="1150" b="1">
                          <a:solidFill>
                            <a:srgbClr val="FFFFFF"/>
                          </a:solidFill>
                          <a:latin typeface="Yu Gothic"/>
                          <a:ea typeface="Yu Gothic"/>
                        </a:rPr>
                        <a:t>KPI目安</a:t>
                      </a:r>
                    </a:p>
                  </a:txBody>
                  <a:tcPr anchor="ctr" marL="73152" marR="73152" marT="18288" marB="18288">
                    <a:solidFill>
                      <a:srgbClr val="121A2E"/>
                    </a:solidFill>
                  </a:tcPr>
                </a:tc>
                <a:tc>
                  <a:txBody>
                    <a:bodyPr/>
                    <a:lstStyle/>
                    <a:p>
                      <a:r>
                        <a:rPr sz="1150" b="1">
                          <a:solidFill>
                            <a:srgbClr val="FFFFFF"/>
                          </a:solidFill>
                          <a:latin typeface="Yu Gothic"/>
                          <a:ea typeface="Yu Gothic"/>
                        </a:rPr>
                        <a:t>目標</a:t>
                      </a:r>
                    </a:p>
                  </a:txBody>
                  <a:tcPr anchor="ctr" marL="73152" marR="73152" marT="18288" marB="18288">
                    <a:solidFill>
                      <a:srgbClr val="121A2E"/>
                    </a:solidFill>
                  </a:tcPr>
                </a:tc>
              </a:tr>
              <a:tr h="320039">
                <a:tc>
                  <a:txBody>
                    <a:bodyPr/>
                    <a:lstStyle/>
                    <a:p>
                      <a:r>
                        <a:rPr sz="1100" b="0">
                          <a:solidFill>
                            <a:srgbClr val="21252B"/>
                          </a:solidFill>
                          <a:latin typeface="Yu Gothic"/>
                          <a:ea typeface="Yu Gothic"/>
                        </a:rPr>
                        <a:t>実施商業施設数</a:t>
                      </a:r>
                    </a:p>
                  </a:txBody>
                  <a:tcPr anchor="ctr" marL="73152" marR="73152" marT="18288" marB="18288">
                    <a:solidFill>
                      <a:srgbClr val="FFFFFF"/>
                    </a:solidFill>
                  </a:tcPr>
                </a:tc>
                <a:tc>
                  <a:txBody>
                    <a:bodyPr/>
                    <a:lstStyle/>
                    <a:p>
                      <a:r>
                        <a:rPr sz="1100" b="0">
                          <a:solidFill>
                            <a:srgbClr val="21252B"/>
                          </a:solidFill>
                          <a:latin typeface="Yu Gothic"/>
                          <a:ea typeface="Yu Gothic"/>
                        </a:rPr>
                        <a:t>30〜50施設</a:t>
                      </a:r>
                    </a:p>
                  </a:txBody>
                  <a:tcPr anchor="ctr" marL="73152" marR="73152" marT="18288" marB="18288">
                    <a:solidFill>
                      <a:srgbClr val="FFFFFF"/>
                    </a:solidFill>
                  </a:tcPr>
                </a:tc>
              </a:tr>
              <a:tr h="320039">
                <a:tc>
                  <a:txBody>
                    <a:bodyPr/>
                    <a:lstStyle/>
                    <a:p>
                      <a:r>
                        <a:rPr sz="1100" b="0">
                          <a:solidFill>
                            <a:srgbClr val="21252B"/>
                          </a:solidFill>
                          <a:latin typeface="Yu Gothic"/>
                          <a:ea typeface="Yu Gothic"/>
                        </a:rPr>
                        <a:t>総イベント来場者</a:t>
                      </a:r>
                    </a:p>
                  </a:txBody>
                  <a:tcPr anchor="ctr" marL="73152" marR="73152" marT="18288" marB="18288">
                    <a:solidFill>
                      <a:srgbClr val="F2F4F6"/>
                    </a:solidFill>
                  </a:tcPr>
                </a:tc>
                <a:tc>
                  <a:txBody>
                    <a:bodyPr/>
                    <a:lstStyle/>
                    <a:p>
                      <a:r>
                        <a:rPr sz="1100" b="0">
                          <a:solidFill>
                            <a:srgbClr val="21252B"/>
                          </a:solidFill>
                          <a:latin typeface="Yu Gothic"/>
                          <a:ea typeface="Yu Gothic"/>
                        </a:rPr>
                        <a:t>10万〜25万人</a:t>
                      </a:r>
                    </a:p>
                  </a:txBody>
                  <a:tcPr anchor="ctr" marL="73152" marR="73152" marT="18288" marB="18288">
                    <a:solidFill>
                      <a:srgbClr val="F2F4F6"/>
                    </a:solidFill>
                  </a:tcPr>
                </a:tc>
              </a:tr>
              <a:tr h="320039">
                <a:tc>
                  <a:txBody>
                    <a:bodyPr/>
                    <a:lstStyle/>
                    <a:p>
                      <a:r>
                        <a:rPr sz="1100" b="0">
                          <a:solidFill>
                            <a:srgbClr val="21252B"/>
                          </a:solidFill>
                          <a:latin typeface="Yu Gothic"/>
                          <a:ea typeface="Yu Gothic"/>
                        </a:rPr>
                        <a:t>撮影会参加組数</a:t>
                      </a:r>
                    </a:p>
                  </a:txBody>
                  <a:tcPr anchor="ctr" marL="73152" marR="73152" marT="18288" marB="18288">
                    <a:solidFill>
                      <a:srgbClr val="FFFFFF"/>
                    </a:solidFill>
                  </a:tcPr>
                </a:tc>
                <a:tc>
                  <a:txBody>
                    <a:bodyPr/>
                    <a:lstStyle/>
                    <a:p>
                      <a:r>
                        <a:rPr sz="1100" b="0">
                          <a:solidFill>
                            <a:srgbClr val="21252B"/>
                          </a:solidFill>
                          <a:latin typeface="Yu Gothic"/>
                          <a:ea typeface="Yu Gothic"/>
                        </a:rPr>
                        <a:t>1万〜3万組</a:t>
                      </a:r>
                    </a:p>
                  </a:txBody>
                  <a:tcPr anchor="ctr" marL="73152" marR="73152" marT="18288" marB="18288">
                    <a:solidFill>
                      <a:srgbClr val="FFFFFF"/>
                    </a:solidFill>
                  </a:tcPr>
                </a:tc>
              </a:tr>
              <a:tr h="320039">
                <a:tc>
                  <a:txBody>
                    <a:bodyPr/>
                    <a:lstStyle/>
                    <a:p>
                      <a:r>
                        <a:rPr sz="1100" b="0">
                          <a:solidFill>
                            <a:srgbClr val="21252B"/>
                          </a:solidFill>
                          <a:latin typeface="Yu Gothic"/>
                          <a:ea typeface="Yu Gothic"/>
                        </a:rPr>
                        <a:t>館内ラリー参加</a:t>
                      </a:r>
                    </a:p>
                  </a:txBody>
                  <a:tcPr anchor="ctr" marL="73152" marR="73152" marT="18288" marB="18288">
                    <a:solidFill>
                      <a:srgbClr val="F2F4F6"/>
                    </a:solidFill>
                  </a:tcPr>
                </a:tc>
                <a:tc>
                  <a:txBody>
                    <a:bodyPr/>
                    <a:lstStyle/>
                    <a:p>
                      <a:r>
                        <a:rPr sz="1100" b="0">
                          <a:solidFill>
                            <a:srgbClr val="21252B"/>
                          </a:solidFill>
                          <a:latin typeface="Yu Gothic"/>
                          <a:ea typeface="Yu Gothic"/>
                        </a:rPr>
                        <a:t>5万〜10万人</a:t>
                      </a:r>
                    </a:p>
                  </a:txBody>
                  <a:tcPr anchor="ctr" marL="73152" marR="73152" marT="18288" marB="18288">
                    <a:solidFill>
                      <a:srgbClr val="F2F4F6"/>
                    </a:solidFill>
                  </a:tcPr>
                </a:tc>
              </a:tr>
              <a:tr h="320039">
                <a:tc>
                  <a:txBody>
                    <a:bodyPr/>
                    <a:lstStyle/>
                    <a:p>
                      <a:r>
                        <a:rPr sz="1100" b="0">
                          <a:solidFill>
                            <a:srgbClr val="21252B"/>
                          </a:solidFill>
                          <a:latin typeface="Yu Gothic"/>
                          <a:ea typeface="Yu Gothic"/>
                        </a:rPr>
                        <a:t>デジタル隊員証発行</a:t>
                      </a:r>
                    </a:p>
                  </a:txBody>
                  <a:tcPr anchor="ctr" marL="73152" marR="73152" marT="18288" marB="18288">
                    <a:solidFill>
                      <a:srgbClr val="FFFFFF"/>
                    </a:solidFill>
                  </a:tcPr>
                </a:tc>
                <a:tc>
                  <a:txBody>
                    <a:bodyPr/>
                    <a:lstStyle/>
                    <a:p>
                      <a:r>
                        <a:rPr sz="1100" b="0">
                          <a:solidFill>
                            <a:srgbClr val="21252B"/>
                          </a:solidFill>
                          <a:latin typeface="Yu Gothic"/>
                          <a:ea typeface="Yu Gothic"/>
                        </a:rPr>
                        <a:t>3万〜8万人</a:t>
                      </a:r>
                    </a:p>
                  </a:txBody>
                  <a:tcPr anchor="ctr" marL="73152" marR="73152" marT="18288" marB="18288">
                    <a:solidFill>
                      <a:srgbClr val="FFFFFF"/>
                    </a:solidFill>
                  </a:tcPr>
                </a:tc>
              </a:tr>
              <a:tr h="320039">
                <a:tc>
                  <a:txBody>
                    <a:bodyPr/>
                    <a:lstStyle/>
                    <a:p>
                      <a:r>
                        <a:rPr sz="1100" b="0">
                          <a:solidFill>
                            <a:srgbClr val="21252B"/>
                          </a:solidFill>
                          <a:latin typeface="Yu Gothic"/>
                          <a:ea typeface="Yu Gothic"/>
                        </a:rPr>
                        <a:t>SoftBankショップ送客</a:t>
                      </a:r>
                    </a:p>
                  </a:txBody>
                  <a:tcPr anchor="ctr" marL="73152" marR="73152" marT="18288" marB="18288">
                    <a:solidFill>
                      <a:srgbClr val="F2F4F6"/>
                    </a:solidFill>
                  </a:tcPr>
                </a:tc>
                <a:tc>
                  <a:txBody>
                    <a:bodyPr/>
                    <a:lstStyle/>
                    <a:p>
                      <a:r>
                        <a:rPr sz="1100" b="0">
                          <a:solidFill>
                            <a:srgbClr val="21252B"/>
                          </a:solidFill>
                          <a:latin typeface="Yu Gothic"/>
                          <a:ea typeface="Yu Gothic"/>
                        </a:rPr>
                        <a:t>1万〜3万人</a:t>
                      </a:r>
                    </a:p>
                  </a:txBody>
                  <a:tcPr anchor="ctr" marL="73152" marR="73152" marT="18288" marB="18288">
                    <a:solidFill>
                      <a:srgbClr val="F2F4F6"/>
                    </a:solidFill>
                  </a:tcPr>
                </a:tc>
              </a:tr>
              <a:tr h="320039">
                <a:tc>
                  <a:txBody>
                    <a:bodyPr/>
                    <a:lstStyle/>
                    <a:p>
                      <a:r>
                        <a:rPr sz="1100" b="0">
                          <a:solidFill>
                            <a:srgbClr val="21252B"/>
                          </a:solidFill>
                          <a:latin typeface="Yu Gothic"/>
                          <a:ea typeface="Yu Gothic"/>
                        </a:rPr>
                        <a:t>相談件数</a:t>
                      </a:r>
                    </a:p>
                  </a:txBody>
                  <a:tcPr anchor="ctr" marL="73152" marR="73152" marT="18288" marB="18288">
                    <a:solidFill>
                      <a:srgbClr val="FFFFFF"/>
                    </a:solidFill>
                  </a:tcPr>
                </a:tc>
                <a:tc>
                  <a:txBody>
                    <a:bodyPr/>
                    <a:lstStyle/>
                    <a:p>
                      <a:r>
                        <a:rPr sz="1100" b="0">
                          <a:solidFill>
                            <a:srgbClr val="21252B"/>
                          </a:solidFill>
                          <a:latin typeface="Yu Gothic"/>
                          <a:ea typeface="Yu Gothic"/>
                        </a:rPr>
                        <a:t>3,000〜8,000件</a:t>
                      </a:r>
                    </a:p>
                  </a:txBody>
                  <a:tcPr anchor="ctr" marL="73152" marR="73152" marT="18288" marB="18288">
                    <a:solidFill>
                      <a:srgbClr val="FFFFFF"/>
                    </a:solidFill>
                  </a:tcPr>
                </a:tc>
              </a:tr>
              <a:tr h="320039">
                <a:tc>
                  <a:txBody>
                    <a:bodyPr/>
                    <a:lstStyle/>
                    <a:p>
                      <a:r>
                        <a:rPr sz="1100" b="0">
                          <a:solidFill>
                            <a:srgbClr val="21252B"/>
                          </a:solidFill>
                          <a:latin typeface="Yu Gothic"/>
                          <a:ea typeface="Yu Gothic"/>
                        </a:rPr>
                        <a:t>見積・来店予約</a:t>
                      </a:r>
                    </a:p>
                  </a:txBody>
                  <a:tcPr anchor="ctr" marL="73152" marR="73152" marT="18288" marB="18288">
                    <a:solidFill>
                      <a:srgbClr val="F2F4F6"/>
                    </a:solidFill>
                  </a:tcPr>
                </a:tc>
                <a:tc>
                  <a:txBody>
                    <a:bodyPr/>
                    <a:lstStyle/>
                    <a:p>
                      <a:r>
                        <a:rPr sz="1100" b="0">
                          <a:solidFill>
                            <a:srgbClr val="21252B"/>
                          </a:solidFill>
                          <a:latin typeface="Yu Gothic"/>
                          <a:ea typeface="Yu Gothic"/>
                        </a:rPr>
                        <a:t>1,500〜4,000件</a:t>
                      </a:r>
                    </a:p>
                  </a:txBody>
                  <a:tcPr anchor="ctr" marL="73152" marR="73152" marT="18288" marB="18288">
                    <a:solidFill>
                      <a:srgbClr val="F2F4F6"/>
                    </a:solidFill>
                  </a:tcPr>
                </a:tc>
              </a:tr>
              <a:tr h="320039">
                <a:tc>
                  <a:txBody>
                    <a:bodyPr/>
                    <a:lstStyle/>
                    <a:p>
                      <a:r>
                        <a:rPr sz="1100" b="0">
                          <a:solidFill>
                            <a:srgbClr val="21252B"/>
                          </a:solidFill>
                          <a:latin typeface="Yu Gothic"/>
                          <a:ea typeface="Yu Gothic"/>
                        </a:rPr>
                        <a:t>BB/でんき相談</a:t>
                      </a:r>
                    </a:p>
                  </a:txBody>
                  <a:tcPr anchor="ctr" marL="73152" marR="73152" marT="18288" marB="18288">
                    <a:solidFill>
                      <a:srgbClr val="FFFFFF"/>
                    </a:solidFill>
                  </a:tcPr>
                </a:tc>
                <a:tc>
                  <a:txBody>
                    <a:bodyPr/>
                    <a:lstStyle/>
                    <a:p>
                      <a:r>
                        <a:rPr sz="1100" b="0">
                          <a:solidFill>
                            <a:srgbClr val="21252B"/>
                          </a:solidFill>
                          <a:latin typeface="Yu Gothic"/>
                          <a:ea typeface="Yu Gothic"/>
                        </a:rPr>
                        <a:t>1,000〜3,000件</a:t>
                      </a:r>
                    </a:p>
                  </a:txBody>
                  <a:tcPr anchor="ctr" marL="73152" marR="73152" marT="18288" marB="18288">
                    <a:solidFill>
                      <a:srgbClr val="FFFFFF"/>
                    </a:solidFill>
                  </a:tcPr>
                </a:tc>
              </a:tr>
              <a:tr h="320049">
                <a:tc>
                  <a:txBody>
                    <a:bodyPr/>
                    <a:lstStyle/>
                    <a:p>
                      <a:r>
                        <a:rPr sz="1100" b="0">
                          <a:solidFill>
                            <a:srgbClr val="21252B"/>
                          </a:solidFill>
                          <a:latin typeface="Yu Gothic"/>
                          <a:ea typeface="Yu Gothic"/>
                        </a:rPr>
                        <a:t>PR露出</a:t>
                      </a:r>
                    </a:p>
                  </a:txBody>
                  <a:tcPr anchor="ctr" marL="73152" marR="73152" marT="18288" marB="18288">
                    <a:solidFill>
                      <a:srgbClr val="F2F4F6"/>
                    </a:solidFill>
                  </a:tcPr>
                </a:tc>
                <a:tc>
                  <a:txBody>
                    <a:bodyPr/>
                    <a:lstStyle/>
                    <a:p>
                      <a:r>
                        <a:rPr sz="1100" b="0">
                          <a:solidFill>
                            <a:srgbClr val="21252B"/>
                          </a:solidFill>
                          <a:latin typeface="Yu Gothic"/>
                          <a:ea typeface="Yu Gothic"/>
                        </a:rPr>
                        <a:t>50〜150件</a:t>
                      </a:r>
                    </a:p>
                  </a:txBody>
                  <a:tcPr anchor="ctr" marL="73152" marR="73152" marT="18288" marB="18288">
                    <a:solidFill>
                      <a:srgbClr val="F2F4F6"/>
                    </a:solidFill>
                  </a:tcPr>
                </a:tc>
              </a:tr>
            </a:tbl>
          </a:graphicData>
        </a:graphic>
      </p:graphicFrame>
      <p:sp>
        <p:nvSpPr>
          <p:cNvPr id="10" name="TextBox 9"/>
          <p:cNvSpPr txBox="1"/>
          <p:nvPr/>
        </p:nvSpPr>
        <p:spPr>
          <a:xfrm>
            <a:off x="6492240" y="5285232"/>
            <a:ext cx="5120640" cy="1097280"/>
          </a:xfrm>
          <a:prstGeom prst="rect">
            <a:avLst/>
          </a:prstGeom>
          <a:noFill/>
        </p:spPr>
        <p:txBody>
          <a:bodyPr wrap="square" anchor="t" lIns="0" rIns="0" tIns="0" bIns="0">
            <a:spAutoFit/>
          </a:bodyPr>
          <a:lstStyle/>
          <a:p>
            <a:pPr algn="l">
              <a:spcAft>
                <a:spcPts val="600"/>
              </a:spcAft>
            </a:pPr>
            <a:r>
              <a:rPr sz="1050" b="0">
                <a:solidFill>
                  <a:srgbClr val="5A626B"/>
                </a:solidFill>
                <a:latin typeface="Yu Gothic"/>
                <a:ea typeface="Yu Gothic"/>
              </a:rPr>
              <a:t>※年間IP使用料はB案と同一の年間包括契約水準(8,000万円)で統一(映像・AR等の広範囲利用の監修費込み)。展開規模の拡大分は稼働枠・制作費・広告費側に計上しています。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基本見積に含めない項目(別途費用)</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変動幅が大きい項目・権利体系が異なる項目は、基本見積から切り分けて透明性を担保します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27</a:t>
            </a:r>
          </a:p>
        </p:txBody>
      </p:sp>
      <p:graphicFrame>
        <p:nvGraphicFramePr>
          <p:cNvPr id="8" name="Table 7"/>
          <p:cNvGraphicFramePr>
            <a:graphicFrameLocks noGrp="1"/>
          </p:cNvGraphicFramePr>
          <p:nvPr/>
        </p:nvGraphicFramePr>
        <p:xfrm>
          <a:off x="640080" y="1645920"/>
          <a:ext cx="10881359" cy="3950208"/>
        </p:xfrm>
        <a:graphic>
          <a:graphicData uri="http://schemas.openxmlformats.org/drawingml/2006/table">
            <a:tbl>
              <a:tblPr firstRow="1" bandRow="1">
                <a:tableStyleId>{5C22544A-7EE6-4342-B048-85BDC9FD1C3A}</a:tableStyleId>
              </a:tblPr>
              <a:tblGrid>
                <a:gridCol w="4787798"/>
                <a:gridCol w="6093561"/>
              </a:tblGrid>
              <a:tr h="438912">
                <a:tc>
                  <a:txBody>
                    <a:bodyPr/>
                    <a:lstStyle/>
                    <a:p>
                      <a:r>
                        <a:rPr sz="1150" b="1">
                          <a:solidFill>
                            <a:srgbClr val="FFFFFF"/>
                          </a:solidFill>
                          <a:latin typeface="Yu Gothic"/>
                          <a:ea typeface="Yu Gothic"/>
                        </a:rPr>
                        <a:t>別途項目</a:t>
                      </a:r>
                    </a:p>
                  </a:txBody>
                  <a:tcPr anchor="ctr" marL="73152" marR="73152" marT="18288" marB="18288">
                    <a:solidFill>
                      <a:srgbClr val="121A2E"/>
                    </a:solidFill>
                  </a:tcPr>
                </a:tc>
                <a:tc>
                  <a:txBody>
                    <a:bodyPr/>
                    <a:lstStyle/>
                    <a:p>
                      <a:r>
                        <a:rPr sz="1150" b="1">
                          <a:solidFill>
                            <a:srgbClr val="FFFFFF"/>
                          </a:solidFill>
                          <a:latin typeface="Yu Gothic"/>
                          <a:ea typeface="Yu Gothic"/>
                        </a:rPr>
                        <a:t>理由</a:t>
                      </a:r>
                    </a:p>
                  </a:txBody>
                  <a:tcPr anchor="ctr" marL="73152" marR="73152" marT="18288" marB="18288">
                    <a:solidFill>
                      <a:srgbClr val="121A2E"/>
                    </a:solidFill>
                  </a:tcPr>
                </a:tc>
              </a:tr>
              <a:tr h="438912">
                <a:tc>
                  <a:txBody>
                    <a:bodyPr/>
                    <a:lstStyle/>
                    <a:p>
                      <a:r>
                        <a:rPr sz="1300" b="0">
                          <a:solidFill>
                            <a:srgbClr val="21252B"/>
                          </a:solidFill>
                          <a:latin typeface="Yu Gothic"/>
                          <a:ea typeface="Yu Gothic"/>
                        </a:rPr>
                        <a:t>TVCM媒体費</a:t>
                      </a:r>
                    </a:p>
                  </a:txBody>
                  <a:tcPr anchor="ctr" marL="73152" marR="73152" marT="18288" marB="18288">
                    <a:solidFill>
                      <a:srgbClr val="FFFFFF"/>
                    </a:solidFill>
                  </a:tcPr>
                </a:tc>
                <a:tc>
                  <a:txBody>
                    <a:bodyPr/>
                    <a:lstStyle/>
                    <a:p>
                      <a:r>
                        <a:rPr sz="1300" b="0">
                          <a:solidFill>
                            <a:srgbClr val="21252B"/>
                          </a:solidFill>
                          <a:latin typeface="Yu Gothic"/>
                          <a:ea typeface="Yu Gothic"/>
                        </a:rPr>
                        <a:t>出稿量で大きく変動するため</a:t>
                      </a:r>
                    </a:p>
                  </a:txBody>
                  <a:tcPr anchor="ctr" marL="73152" marR="73152" marT="18288" marB="18288">
                    <a:solidFill>
                      <a:srgbClr val="FFFFFF"/>
                    </a:solidFill>
                  </a:tcPr>
                </a:tc>
              </a:tr>
              <a:tr h="438912">
                <a:tc>
                  <a:txBody>
                    <a:bodyPr/>
                    <a:lstStyle/>
                    <a:p>
                      <a:r>
                        <a:rPr sz="1300" b="0">
                          <a:solidFill>
                            <a:srgbClr val="21252B"/>
                          </a:solidFill>
                          <a:latin typeface="Yu Gothic"/>
                          <a:ea typeface="Yu Gothic"/>
                        </a:rPr>
                        <a:t>交通広告・大型OOH</a:t>
                      </a:r>
                    </a:p>
                  </a:txBody>
                  <a:tcPr anchor="ctr" marL="73152" marR="73152" marT="18288" marB="18288">
                    <a:solidFill>
                      <a:srgbClr val="F2F4F6"/>
                    </a:solidFill>
                  </a:tcPr>
                </a:tc>
                <a:tc>
                  <a:txBody>
                    <a:bodyPr/>
                    <a:lstStyle/>
                    <a:p>
                      <a:r>
                        <a:rPr sz="1300" b="0">
                          <a:solidFill>
                            <a:srgbClr val="21252B"/>
                          </a:solidFill>
                          <a:latin typeface="Yu Gothic"/>
                          <a:ea typeface="Yu Gothic"/>
                        </a:rPr>
                        <a:t>掲出場所・期間で変動するため</a:t>
                      </a:r>
                    </a:p>
                  </a:txBody>
                  <a:tcPr anchor="ctr" marL="73152" marR="73152" marT="18288" marB="18288">
                    <a:solidFill>
                      <a:srgbClr val="F2F4F6"/>
                    </a:solidFill>
                  </a:tcPr>
                </a:tc>
              </a:tr>
              <a:tr h="438912">
                <a:tc>
                  <a:txBody>
                    <a:bodyPr/>
                    <a:lstStyle/>
                    <a:p>
                      <a:r>
                        <a:rPr sz="1300" b="0">
                          <a:solidFill>
                            <a:srgbClr val="21252B"/>
                          </a:solidFill>
                          <a:latin typeface="Yu Gothic"/>
                          <a:ea typeface="Yu Gothic"/>
                        </a:rPr>
                        <a:t>PayPayポイント原資</a:t>
                      </a:r>
                    </a:p>
                  </a:txBody>
                  <a:tcPr anchor="ctr" marL="73152" marR="73152" marT="18288" marB="18288">
                    <a:solidFill>
                      <a:srgbClr val="FFFFFF"/>
                    </a:solidFill>
                  </a:tcPr>
                </a:tc>
                <a:tc>
                  <a:txBody>
                    <a:bodyPr/>
                    <a:lstStyle/>
                    <a:p>
                      <a:r>
                        <a:rPr sz="1300" b="0">
                          <a:solidFill>
                            <a:srgbClr val="21252B"/>
                          </a:solidFill>
                          <a:latin typeface="Yu Gothic"/>
                          <a:ea typeface="Yu Gothic"/>
                        </a:rPr>
                        <a:t>付与条件・人数・上限で変動するため</a:t>
                      </a:r>
                    </a:p>
                  </a:txBody>
                  <a:tcPr anchor="ctr" marL="73152" marR="73152" marT="18288" marB="18288">
                    <a:solidFill>
                      <a:srgbClr val="FFFFFF"/>
                    </a:solidFill>
                  </a:tcPr>
                </a:tc>
              </a:tr>
              <a:tr h="438912">
                <a:tc>
                  <a:txBody>
                    <a:bodyPr/>
                    <a:lstStyle/>
                    <a:p>
                      <a:r>
                        <a:rPr sz="1300" b="0">
                          <a:solidFill>
                            <a:srgbClr val="21252B"/>
                          </a:solidFill>
                          <a:latin typeface="Yu Gothic"/>
                          <a:ea typeface="Yu Gothic"/>
                        </a:rPr>
                        <a:t>全国全店の大型施工</a:t>
                      </a:r>
                    </a:p>
                  </a:txBody>
                  <a:tcPr anchor="ctr" marL="73152" marR="73152" marT="18288" marB="18288">
                    <a:solidFill>
                      <a:srgbClr val="F2F4F6"/>
                    </a:solidFill>
                  </a:tcPr>
                </a:tc>
                <a:tc>
                  <a:txBody>
                    <a:bodyPr/>
                    <a:lstStyle/>
                    <a:p>
                      <a:r>
                        <a:rPr sz="1300" b="0">
                          <a:solidFill>
                            <a:srgbClr val="21252B"/>
                          </a:solidFill>
                          <a:latin typeface="Yu Gothic"/>
                          <a:ea typeface="Yu Gothic"/>
                        </a:rPr>
                        <a:t>店舗数・施工仕様で大きく変動するため</a:t>
                      </a:r>
                    </a:p>
                  </a:txBody>
                  <a:tcPr anchor="ctr" marL="73152" marR="73152" marT="18288" marB="18288">
                    <a:solidFill>
                      <a:srgbClr val="F2F4F6"/>
                    </a:solidFill>
                  </a:tcPr>
                </a:tc>
              </a:tr>
              <a:tr h="438912">
                <a:tc>
                  <a:txBody>
                    <a:bodyPr/>
                    <a:lstStyle/>
                    <a:p>
                      <a:r>
                        <a:rPr sz="1300" b="0">
                          <a:solidFill>
                            <a:srgbClr val="21252B"/>
                          </a:solidFill>
                          <a:latin typeface="Yu Gothic"/>
                          <a:ea typeface="Yu Gothic"/>
                        </a:rPr>
                        <a:t>販売用グッズの商品化ライセンス</a:t>
                      </a:r>
                    </a:p>
                  </a:txBody>
                  <a:tcPr anchor="ctr" marL="73152" marR="73152" marT="18288" marB="18288">
                    <a:solidFill>
                      <a:srgbClr val="FFFFFF"/>
                    </a:solidFill>
                  </a:tcPr>
                </a:tc>
                <a:tc>
                  <a:txBody>
                    <a:bodyPr/>
                    <a:lstStyle/>
                    <a:p>
                      <a:r>
                        <a:rPr sz="1300" b="0">
                          <a:solidFill>
                            <a:srgbClr val="21252B"/>
                          </a:solidFill>
                          <a:latin typeface="Yu Gothic"/>
                          <a:ea typeface="Yu Gothic"/>
                        </a:rPr>
                        <a:t>ノベルティとは権利体系が異なるため</a:t>
                      </a:r>
                    </a:p>
                  </a:txBody>
                  <a:tcPr anchor="ctr" marL="73152" marR="73152" marT="18288" marB="18288">
                    <a:solidFill>
                      <a:srgbClr val="FFFFFF"/>
                    </a:solidFill>
                  </a:tcPr>
                </a:tc>
              </a:tr>
              <a:tr h="438912">
                <a:tc>
                  <a:txBody>
                    <a:bodyPr/>
                    <a:lstStyle/>
                    <a:p>
                      <a:r>
                        <a:rPr sz="1300" b="0">
                          <a:solidFill>
                            <a:srgbClr val="21252B"/>
                          </a:solidFill>
                          <a:latin typeface="Yu Gothic"/>
                          <a:ea typeface="Yu Gothic"/>
                        </a:rPr>
                        <a:t>My SoftBank/PayPayアプリ本体改修</a:t>
                      </a:r>
                    </a:p>
                  </a:txBody>
                  <a:tcPr anchor="ctr" marL="73152" marR="73152" marT="18288" marB="18288">
                    <a:solidFill>
                      <a:srgbClr val="F2F4F6"/>
                    </a:solidFill>
                  </a:tcPr>
                </a:tc>
                <a:tc>
                  <a:txBody>
                    <a:bodyPr/>
                    <a:lstStyle/>
                    <a:p>
                      <a:r>
                        <a:rPr sz="1300" b="0">
                          <a:solidFill>
                            <a:srgbClr val="21252B"/>
                          </a:solidFill>
                          <a:latin typeface="Yu Gothic"/>
                          <a:ea typeface="Yu Gothic"/>
                        </a:rPr>
                        <a:t>開発範囲次第で別見積になるため</a:t>
                      </a:r>
                    </a:p>
                  </a:txBody>
                  <a:tcPr anchor="ctr" marL="73152" marR="73152" marT="18288" marB="18288">
                    <a:solidFill>
                      <a:srgbClr val="F2F4F6"/>
                    </a:solidFill>
                  </a:tcPr>
                </a:tc>
              </a:tr>
              <a:tr h="438912">
                <a:tc>
                  <a:txBody>
                    <a:bodyPr/>
                    <a:lstStyle/>
                    <a:p>
                      <a:r>
                        <a:rPr sz="1300" b="0">
                          <a:solidFill>
                            <a:srgbClr val="21252B"/>
                          </a:solidFill>
                          <a:latin typeface="Yu Gothic"/>
                          <a:ea typeface="Yu Gothic"/>
                        </a:rPr>
                        <a:t>大型タレント起用</a:t>
                      </a:r>
                    </a:p>
                  </a:txBody>
                  <a:tcPr anchor="ctr" marL="73152" marR="73152" marT="18288" marB="18288">
                    <a:solidFill>
                      <a:srgbClr val="FFFFFF"/>
                    </a:solidFill>
                  </a:tcPr>
                </a:tc>
                <a:tc>
                  <a:txBody>
                    <a:bodyPr/>
                    <a:lstStyle/>
                    <a:p>
                      <a:r>
                        <a:rPr sz="1300" b="0">
                          <a:solidFill>
                            <a:srgbClr val="21252B"/>
                          </a:solidFill>
                          <a:latin typeface="Yu Gothic"/>
                          <a:ea typeface="Yu Gothic"/>
                        </a:rPr>
                        <a:t>キャスティング費が別途必要なため</a:t>
                      </a:r>
                    </a:p>
                  </a:txBody>
                  <a:tcPr anchor="ctr" marL="73152" marR="73152" marT="18288" marB="18288">
                    <a:solidFill>
                      <a:srgbClr val="FFFFFF"/>
                    </a:solidFill>
                  </a:tcPr>
                </a:tc>
              </a:tr>
              <a:tr h="438912">
                <a:tc>
                  <a:txBody>
                    <a:bodyPr/>
                    <a:lstStyle/>
                    <a:p>
                      <a:r>
                        <a:rPr sz="1300" b="0">
                          <a:solidFill>
                            <a:srgbClr val="21252B"/>
                          </a:solidFill>
                          <a:latin typeface="Yu Gothic"/>
                          <a:ea typeface="Yu Gothic"/>
                        </a:rPr>
                        <a:t>商業施設の場所代</a:t>
                      </a:r>
                    </a:p>
                  </a:txBody>
                  <a:tcPr anchor="ctr" marL="73152" marR="73152" marT="18288" marB="18288">
                    <a:solidFill>
                      <a:srgbClr val="F2F4F6"/>
                    </a:solidFill>
                  </a:tcPr>
                </a:tc>
                <a:tc>
                  <a:txBody>
                    <a:bodyPr/>
                    <a:lstStyle/>
                    <a:p>
                      <a:r>
                        <a:rPr sz="1300" b="0">
                          <a:solidFill>
                            <a:srgbClr val="21252B"/>
                          </a:solidFill>
                          <a:latin typeface="Yu Gothic"/>
                          <a:ea typeface="Yu Gothic"/>
                        </a:rPr>
                        <a:t>施設条件により有償・無償が変わるため</a:t>
                      </a:r>
                    </a:p>
                  </a:txBody>
                  <a:tcPr anchor="ctr" marL="73152" marR="73152" marT="18288" marB="18288">
                    <a:solidFill>
                      <a:srgbClr val="F2F4F6"/>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契約条件案(円谷プロ側への打診条件)</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独占は求めず、ウルトラマンを「リアルイベント集客IP」として他IPと役割分担する前提です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28</a:t>
            </a:r>
          </a:p>
        </p:txBody>
      </p:sp>
      <p:graphicFrame>
        <p:nvGraphicFramePr>
          <p:cNvPr id="8" name="Table 7"/>
          <p:cNvGraphicFramePr>
            <a:graphicFrameLocks noGrp="1"/>
          </p:cNvGraphicFramePr>
          <p:nvPr/>
        </p:nvGraphicFramePr>
        <p:xfrm>
          <a:off x="640080" y="1600200"/>
          <a:ext cx="10881360" cy="4297679"/>
        </p:xfrm>
        <a:graphic>
          <a:graphicData uri="http://schemas.openxmlformats.org/drawingml/2006/table">
            <a:tbl>
              <a:tblPr firstRow="1" bandRow="1">
                <a:tableStyleId>{5C22544A-7EE6-4342-B048-85BDC9FD1C3A}</a:tableStyleId>
              </a:tblPr>
              <a:tblGrid>
                <a:gridCol w="3108960"/>
                <a:gridCol w="7772400"/>
              </a:tblGrid>
              <a:tr h="429767">
                <a:tc>
                  <a:txBody>
                    <a:bodyPr/>
                    <a:lstStyle/>
                    <a:p>
                      <a:r>
                        <a:rPr sz="1150" b="1">
                          <a:solidFill>
                            <a:srgbClr val="FFFFFF"/>
                          </a:solidFill>
                          <a:latin typeface="Yu Gothic"/>
                          <a:ea typeface="Yu Gothic"/>
                        </a:rPr>
                        <a:t>項目</a:t>
                      </a:r>
                    </a:p>
                  </a:txBody>
                  <a:tcPr anchor="ctr" marL="73152" marR="73152" marT="18288" marB="18288">
                    <a:solidFill>
                      <a:srgbClr val="121A2E"/>
                    </a:solidFill>
                  </a:tcPr>
                </a:tc>
                <a:tc>
                  <a:txBody>
                    <a:bodyPr/>
                    <a:lstStyle/>
                    <a:p>
                      <a:r>
                        <a:rPr sz="1150" b="1">
                          <a:solidFill>
                            <a:srgbClr val="FFFFFF"/>
                          </a:solidFill>
                          <a:latin typeface="Yu Gothic"/>
                          <a:ea typeface="Yu Gothic"/>
                        </a:rPr>
                        <a:t>条件案</a:t>
                      </a:r>
                    </a:p>
                  </a:txBody>
                  <a:tcPr anchor="ctr" marL="73152" marR="73152" marT="18288" marB="18288">
                    <a:solidFill>
                      <a:srgbClr val="121A2E"/>
                    </a:solidFill>
                  </a:tcPr>
                </a:tc>
              </a:tr>
              <a:tr h="429767">
                <a:tc>
                  <a:txBody>
                    <a:bodyPr/>
                    <a:lstStyle/>
                    <a:p>
                      <a:r>
                        <a:rPr sz="1200" b="0">
                          <a:solidFill>
                            <a:srgbClr val="21252B"/>
                          </a:solidFill>
                          <a:latin typeface="Yu Gothic"/>
                          <a:ea typeface="Yu Gothic"/>
                        </a:rPr>
                        <a:t>契約期間</a:t>
                      </a:r>
                    </a:p>
                  </a:txBody>
                  <a:tcPr anchor="ctr" marL="73152" marR="73152" marT="18288" marB="18288">
                    <a:solidFill>
                      <a:srgbClr val="FFFFFF"/>
                    </a:solidFill>
                  </a:tcPr>
                </a:tc>
                <a:tc>
                  <a:txBody>
                    <a:bodyPr/>
                    <a:lstStyle/>
                    <a:p>
                      <a:r>
                        <a:rPr sz="1200" b="0">
                          <a:solidFill>
                            <a:srgbClr val="21252B"/>
                          </a:solidFill>
                          <a:latin typeface="Yu Gothic"/>
                          <a:ea typeface="Yu Gothic"/>
                        </a:rPr>
                        <a:t>FY27年度(2027年4月〜2028年3月)</a:t>
                      </a:r>
                    </a:p>
                  </a:txBody>
                  <a:tcPr anchor="ctr" marL="73152" marR="73152" marT="18288" marB="18288">
                    <a:solidFill>
                      <a:srgbClr val="FFFFFF"/>
                    </a:solidFill>
                  </a:tcPr>
                </a:tc>
              </a:tr>
              <a:tr h="429767">
                <a:tc>
                  <a:txBody>
                    <a:bodyPr/>
                    <a:lstStyle/>
                    <a:p>
                      <a:r>
                        <a:rPr sz="1200" b="0">
                          <a:solidFill>
                            <a:srgbClr val="21252B"/>
                          </a:solidFill>
                          <a:latin typeface="Yu Gothic"/>
                          <a:ea typeface="Yu Gothic"/>
                        </a:rPr>
                        <a:t>使用地域</a:t>
                      </a:r>
                    </a:p>
                  </a:txBody>
                  <a:tcPr anchor="ctr" marL="73152" marR="73152" marT="18288" marB="18288">
                    <a:solidFill>
                      <a:srgbClr val="F2F4F6"/>
                    </a:solidFill>
                  </a:tcPr>
                </a:tc>
                <a:tc>
                  <a:txBody>
                    <a:bodyPr/>
                    <a:lstStyle/>
                    <a:p>
                      <a:r>
                        <a:rPr sz="1200" b="0">
                          <a:solidFill>
                            <a:srgbClr val="21252B"/>
                          </a:solidFill>
                          <a:latin typeface="Yu Gothic"/>
                          <a:ea typeface="Yu Gothic"/>
                        </a:rPr>
                        <a:t>日本国内</a:t>
                      </a:r>
                    </a:p>
                  </a:txBody>
                  <a:tcPr anchor="ctr" marL="73152" marR="73152" marT="18288" marB="18288">
                    <a:solidFill>
                      <a:srgbClr val="F2F4F6"/>
                    </a:solidFill>
                  </a:tcPr>
                </a:tc>
              </a:tr>
              <a:tr h="429767">
                <a:tc>
                  <a:txBody>
                    <a:bodyPr/>
                    <a:lstStyle/>
                    <a:p>
                      <a:r>
                        <a:rPr sz="1200" b="1">
                          <a:solidFill>
                            <a:srgbClr val="21252B"/>
                          </a:solidFill>
                          <a:latin typeface="Yu Gothic"/>
                          <a:ea typeface="Yu Gothic"/>
                        </a:rPr>
                        <a:t>使用業種(プロモーション対象)</a:t>
                      </a:r>
                    </a:p>
                  </a:txBody>
                  <a:tcPr anchor="ctr" marL="73152" marR="73152" marT="18288" marB="18288">
                    <a:solidFill>
                      <a:srgbClr val="FFFFFF"/>
                    </a:solidFill>
                  </a:tcPr>
                </a:tc>
                <a:tc>
                  <a:txBody>
                    <a:bodyPr/>
                    <a:lstStyle/>
                    <a:p>
                      <a:r>
                        <a:rPr sz="1200" b="1">
                          <a:solidFill>
                            <a:srgbClr val="21252B"/>
                          </a:solidFill>
                          <a:latin typeface="Yu Gothic"/>
                          <a:ea typeface="Yu Gothic"/>
                        </a:rPr>
                        <a:t>携帯通信、ブロードバンド、でんき(コンシューマ向けプロモーションに限る)</a:t>
                      </a:r>
                    </a:p>
                  </a:txBody>
                  <a:tcPr anchor="ctr" marL="73152" marR="73152" marT="18288" marB="18288">
                    <a:solidFill>
                      <a:srgbClr val="FFFFFF"/>
                    </a:solidFill>
                  </a:tcPr>
                </a:tc>
              </a:tr>
              <a:tr h="429767">
                <a:tc>
                  <a:txBody>
                    <a:bodyPr/>
                    <a:lstStyle/>
                    <a:p>
                      <a:r>
                        <a:rPr sz="1200" b="0">
                          <a:solidFill>
                            <a:srgbClr val="21252B"/>
                          </a:solidFill>
                          <a:latin typeface="Yu Gothic"/>
                          <a:ea typeface="Yu Gothic"/>
                        </a:rPr>
                        <a:t>使用媒体</a:t>
                      </a:r>
                    </a:p>
                  </a:txBody>
                  <a:tcPr anchor="ctr" marL="73152" marR="73152" marT="18288" marB="18288">
                    <a:solidFill>
                      <a:srgbClr val="F2F4F6"/>
                    </a:solidFill>
                  </a:tcPr>
                </a:tc>
                <a:tc>
                  <a:txBody>
                    <a:bodyPr/>
                    <a:lstStyle/>
                    <a:p>
                      <a:r>
                        <a:rPr sz="1200" b="0">
                          <a:solidFill>
                            <a:srgbClr val="21252B"/>
                          </a:solidFill>
                          <a:latin typeface="Yu Gothic"/>
                          <a:ea typeface="Yu Gothic"/>
                        </a:rPr>
                        <a:t>イベント、店頭ツール、LP/Web、SNS、メール、ノベルティ、イベント演出</a:t>
                      </a:r>
                    </a:p>
                  </a:txBody>
                  <a:tcPr anchor="ctr" marL="73152" marR="73152" marT="18288" marB="18288">
                    <a:solidFill>
                      <a:srgbClr val="F2F4F6"/>
                    </a:solidFill>
                  </a:tcPr>
                </a:tc>
              </a:tr>
              <a:tr h="429767">
                <a:tc>
                  <a:txBody>
                    <a:bodyPr/>
                    <a:lstStyle/>
                    <a:p>
                      <a:r>
                        <a:rPr sz="1200" b="0">
                          <a:solidFill>
                            <a:srgbClr val="21252B"/>
                          </a:solidFill>
                          <a:latin typeface="Yu Gothic"/>
                          <a:ea typeface="Yu Gothic"/>
                        </a:rPr>
                        <a:t>ヒーロー登場</a:t>
                      </a:r>
                    </a:p>
                  </a:txBody>
                  <a:tcPr anchor="ctr" marL="73152" marR="73152" marT="18288" marB="18288">
                    <a:solidFill>
                      <a:srgbClr val="FFFFFF"/>
                    </a:solidFill>
                  </a:tcPr>
                </a:tc>
                <a:tc>
                  <a:txBody>
                    <a:bodyPr/>
                    <a:lstStyle/>
                    <a:p>
                      <a:r>
                        <a:rPr sz="1200" b="0">
                          <a:solidFill>
                            <a:srgbClr val="21252B"/>
                          </a:solidFill>
                          <a:latin typeface="Yu Gothic"/>
                          <a:ea typeface="Yu Gothic"/>
                        </a:rPr>
                        <a:t>年間稼働枠を設定。追加稼働は別途</a:t>
                      </a:r>
                    </a:p>
                  </a:txBody>
                  <a:tcPr anchor="ctr" marL="73152" marR="73152" marT="18288" marB="18288">
                    <a:solidFill>
                      <a:srgbClr val="FFFFFF"/>
                    </a:solidFill>
                  </a:tcPr>
                </a:tc>
              </a:tr>
              <a:tr h="429767">
                <a:tc>
                  <a:txBody>
                    <a:bodyPr/>
                    <a:lstStyle/>
                    <a:p>
                      <a:r>
                        <a:rPr sz="1200" b="0">
                          <a:solidFill>
                            <a:srgbClr val="21252B"/>
                          </a:solidFill>
                          <a:latin typeface="Yu Gothic"/>
                          <a:ea typeface="Yu Gothic"/>
                        </a:rPr>
                        <a:t>ノベルティ</a:t>
                      </a:r>
                    </a:p>
                  </a:txBody>
                  <a:tcPr anchor="ctr" marL="73152" marR="73152" marT="18288" marB="18288">
                    <a:solidFill>
                      <a:srgbClr val="F2F4F6"/>
                    </a:solidFill>
                  </a:tcPr>
                </a:tc>
                <a:tc>
                  <a:txBody>
                    <a:bodyPr/>
                    <a:lstStyle/>
                    <a:p>
                      <a:r>
                        <a:rPr sz="1200" b="0">
                          <a:solidFill>
                            <a:srgbClr val="21252B"/>
                          </a:solidFill>
                          <a:latin typeface="Yu Gothic"/>
                          <a:ea typeface="Yu Gothic"/>
                        </a:rPr>
                        <a:t>作成数制限なし、数量に応じた許諾対価は別途</a:t>
                      </a:r>
                    </a:p>
                  </a:txBody>
                  <a:tcPr anchor="ctr" marL="73152" marR="73152" marT="18288" marB="18288">
                    <a:solidFill>
                      <a:srgbClr val="F2F4F6"/>
                    </a:solidFill>
                  </a:tcPr>
                </a:tc>
              </a:tr>
              <a:tr h="429767">
                <a:tc>
                  <a:txBody>
                    <a:bodyPr/>
                    <a:lstStyle/>
                    <a:p>
                      <a:r>
                        <a:rPr sz="1200" b="0">
                          <a:solidFill>
                            <a:srgbClr val="21252B"/>
                          </a:solidFill>
                          <a:latin typeface="Yu Gothic"/>
                          <a:ea typeface="Yu Gothic"/>
                        </a:rPr>
                        <a:t>サンプル納品/他IP併用/独占</a:t>
                      </a:r>
                    </a:p>
                  </a:txBody>
                  <a:tcPr anchor="ctr" marL="73152" marR="73152" marT="18288" marB="18288">
                    <a:solidFill>
                      <a:srgbClr val="FFFFFF"/>
                    </a:solidFill>
                  </a:tcPr>
                </a:tc>
                <a:tc>
                  <a:txBody>
                    <a:bodyPr/>
                    <a:lstStyle/>
                    <a:p>
                      <a:r>
                        <a:rPr sz="1200" b="0">
                          <a:solidFill>
                            <a:srgbClr val="21252B"/>
                          </a:solidFill>
                          <a:latin typeface="Yu Gothic"/>
                          <a:ea typeface="Yu Gothic"/>
                        </a:rPr>
                        <a:t>作成物ごとにサンプル提出/他IP併用可/独占は原則なし</a:t>
                      </a:r>
                    </a:p>
                  </a:txBody>
                  <a:tcPr anchor="ctr" marL="73152" marR="73152" marT="18288" marB="18288">
                    <a:solidFill>
                      <a:srgbClr val="FFFFFF"/>
                    </a:solidFill>
                  </a:tcPr>
                </a:tc>
              </a:tr>
              <a:tr h="429767">
                <a:tc>
                  <a:txBody>
                    <a:bodyPr/>
                    <a:lstStyle/>
                    <a:p>
                      <a:r>
                        <a:rPr sz="1200" b="0">
                          <a:solidFill>
                            <a:srgbClr val="21252B"/>
                          </a:solidFill>
                          <a:latin typeface="Yu Gothic"/>
                          <a:ea typeface="Yu Gothic"/>
                        </a:rPr>
                        <a:t>競合(バッティング)</a:t>
                      </a:r>
                    </a:p>
                  </a:txBody>
                  <a:tcPr anchor="ctr" marL="73152" marR="73152" marT="18288" marB="18288">
                    <a:solidFill>
                      <a:srgbClr val="F2F4F6"/>
                    </a:solidFill>
                  </a:tcPr>
                </a:tc>
                <a:tc>
                  <a:txBody>
                    <a:bodyPr/>
                    <a:lstStyle/>
                    <a:p>
                      <a:r>
                        <a:rPr sz="1200" b="0">
                          <a:solidFill>
                            <a:srgbClr val="21252B"/>
                          </a:solidFill>
                          <a:latin typeface="Yu Gothic"/>
                          <a:ea typeface="Yu Gothic"/>
                        </a:rPr>
                        <a:t>既存契約書(ディールメモ)の書式に準拠して業種バッティングを規定</a:t>
                      </a:r>
                    </a:p>
                  </a:txBody>
                  <a:tcPr anchor="ctr" marL="73152" marR="73152" marT="18288" marB="18288">
                    <a:solidFill>
                      <a:srgbClr val="F2F4F6"/>
                    </a:solidFill>
                  </a:tcPr>
                </a:tc>
              </a:tr>
              <a:tr h="429776">
                <a:tc>
                  <a:txBody>
                    <a:bodyPr/>
                    <a:lstStyle/>
                    <a:p>
                      <a:r>
                        <a:rPr sz="1200" b="0">
                          <a:solidFill>
                            <a:srgbClr val="21252B"/>
                          </a:solidFill>
                          <a:latin typeface="Yu Gothic"/>
                          <a:ea typeface="Yu Gothic"/>
                        </a:rPr>
                        <a:t>範囲外</a:t>
                      </a:r>
                    </a:p>
                  </a:txBody>
                  <a:tcPr anchor="ctr" marL="73152" marR="73152" marT="18288" marB="18288">
                    <a:solidFill>
                      <a:srgbClr val="FFFFFF"/>
                    </a:solidFill>
                  </a:tcPr>
                </a:tc>
                <a:tc>
                  <a:txBody>
                    <a:bodyPr/>
                    <a:lstStyle/>
                    <a:p>
                      <a:r>
                        <a:rPr sz="1200" b="0">
                          <a:solidFill>
                            <a:srgbClr val="21252B"/>
                          </a:solidFill>
                          <a:latin typeface="Yu Gothic"/>
                          <a:ea typeface="Yu Gothic"/>
                        </a:rPr>
                        <a:t>法人向け、PayPay等グループ他社サービス、TVCM、交通広告、大型OOH、販売グッズ、アプリ改修、ポイント原資</a:t>
                      </a:r>
                    </a:p>
                  </a:txBody>
                  <a:tcPr anchor="ctr" marL="73152" marR="73152" marT="18288" marB="18288">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実施スケジュール案(FY26下期=準備、FY27=実働)</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FY26下期は設計・準備に充て、ウルトラマンのIP利用・実働は2027年4月(FY27期首)から開始します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29</a:t>
            </a:r>
          </a:p>
        </p:txBody>
      </p:sp>
      <p:graphicFrame>
        <p:nvGraphicFramePr>
          <p:cNvPr id="8" name="Table 7"/>
          <p:cNvGraphicFramePr>
            <a:graphicFrameLocks noGrp="1"/>
          </p:cNvGraphicFramePr>
          <p:nvPr/>
        </p:nvGraphicFramePr>
        <p:xfrm>
          <a:off x="640080" y="1554480"/>
          <a:ext cx="10881359" cy="4023360"/>
        </p:xfrm>
        <a:graphic>
          <a:graphicData uri="http://schemas.openxmlformats.org/drawingml/2006/table">
            <a:tbl>
              <a:tblPr firstRow="1" bandRow="1">
                <a:tableStyleId>{5C22544A-7EE6-4342-B048-85BDC9FD1C3A}</a:tableStyleId>
              </a:tblPr>
              <a:tblGrid>
                <a:gridCol w="3371689"/>
                <a:gridCol w="5823826"/>
                <a:gridCol w="1685844"/>
              </a:tblGrid>
              <a:tr h="365760">
                <a:tc>
                  <a:txBody>
                    <a:bodyPr/>
                    <a:lstStyle/>
                    <a:p>
                      <a:r>
                        <a:rPr sz="1150" b="1">
                          <a:solidFill>
                            <a:srgbClr val="FFFFFF"/>
                          </a:solidFill>
                          <a:latin typeface="Yu Gothic"/>
                          <a:ea typeface="Yu Gothic"/>
                        </a:rPr>
                        <a:t>期間</a:t>
                      </a:r>
                    </a:p>
                  </a:txBody>
                  <a:tcPr anchor="ctr" marL="73152" marR="73152" marT="18288" marB="18288">
                    <a:solidFill>
                      <a:srgbClr val="121A2E"/>
                    </a:solidFill>
                  </a:tcPr>
                </a:tc>
                <a:tc>
                  <a:txBody>
                    <a:bodyPr/>
                    <a:lstStyle/>
                    <a:p>
                      <a:r>
                        <a:rPr sz="1150" b="1">
                          <a:solidFill>
                            <a:srgbClr val="FFFFFF"/>
                          </a:solidFill>
                          <a:latin typeface="Yu Gothic"/>
                          <a:ea typeface="Yu Gothic"/>
                        </a:rPr>
                        <a:t>内容</a:t>
                      </a:r>
                    </a:p>
                  </a:txBody>
                  <a:tcPr anchor="ctr" marL="73152" marR="73152" marT="18288" marB="18288">
                    <a:solidFill>
                      <a:srgbClr val="121A2E"/>
                    </a:solidFill>
                  </a:tcPr>
                </a:tc>
                <a:tc>
                  <a:txBody>
                    <a:bodyPr/>
                    <a:lstStyle/>
                    <a:p>
                      <a:r>
                        <a:rPr sz="1150" b="1">
                          <a:solidFill>
                            <a:srgbClr val="FFFFFF"/>
                          </a:solidFill>
                          <a:latin typeface="Yu Gothic"/>
                          <a:ea typeface="Yu Gothic"/>
                        </a:rPr>
                        <a:t>フェーズ</a:t>
                      </a:r>
                    </a:p>
                  </a:txBody>
                  <a:tcPr anchor="ctr" marL="73152" marR="73152" marT="18288" marB="18288">
                    <a:solidFill>
                      <a:srgbClr val="121A2E"/>
                    </a:solidFill>
                  </a:tcPr>
                </a:tc>
              </a:tr>
              <a:tr h="365760">
                <a:tc>
                  <a:txBody>
                    <a:bodyPr/>
                    <a:lstStyle/>
                    <a:p>
                      <a:r>
                        <a:rPr sz="1200" b="0">
                          <a:solidFill>
                            <a:srgbClr val="21252B"/>
                          </a:solidFill>
                          <a:latin typeface="Yu Gothic"/>
                          <a:ea typeface="Yu Gothic"/>
                        </a:rPr>
                        <a:t>2026年7月〜8月</a:t>
                      </a:r>
                    </a:p>
                  </a:txBody>
                  <a:tcPr anchor="ctr" marL="73152" marR="73152" marT="18288" marB="18288">
                    <a:solidFill>
                      <a:srgbClr val="FFFFFF"/>
                    </a:solidFill>
                  </a:tcPr>
                </a:tc>
                <a:tc>
                  <a:txBody>
                    <a:bodyPr/>
                    <a:lstStyle/>
                    <a:p>
                      <a:r>
                        <a:rPr sz="1200" b="0">
                          <a:solidFill>
                            <a:srgbClr val="21252B"/>
                          </a:solidFill>
                          <a:latin typeface="Yu Gothic"/>
                          <a:ea typeface="Yu Gothic"/>
                        </a:rPr>
                        <a:t>初回提案・方向性合意</a:t>
                      </a:r>
                    </a:p>
                  </a:txBody>
                  <a:tcPr anchor="ctr" marL="73152" marR="73152" marT="18288" marB="18288">
                    <a:solidFill>
                      <a:srgbClr val="FFFFFF"/>
                    </a:solidFill>
                  </a:tcPr>
                </a:tc>
                <a:tc>
                  <a:txBody>
                    <a:bodyPr/>
                    <a:lstStyle/>
                    <a:p>
                      <a:r>
                        <a:rPr sz="1200" b="0">
                          <a:solidFill>
                            <a:srgbClr val="21252B"/>
                          </a:solidFill>
                          <a:latin typeface="Yu Gothic"/>
                          <a:ea typeface="Yu Gothic"/>
                        </a:rPr>
                        <a:t>準備</a:t>
                      </a:r>
                    </a:p>
                  </a:txBody>
                  <a:tcPr anchor="ctr" marL="73152" marR="73152" marT="18288" marB="18288">
                    <a:solidFill>
                      <a:srgbClr val="FFFFFF"/>
                    </a:solidFill>
                  </a:tcPr>
                </a:tc>
              </a:tr>
              <a:tr h="365760">
                <a:tc>
                  <a:txBody>
                    <a:bodyPr/>
                    <a:lstStyle/>
                    <a:p>
                      <a:r>
                        <a:rPr sz="1200" b="0">
                          <a:solidFill>
                            <a:srgbClr val="21252B"/>
                          </a:solidFill>
                          <a:latin typeface="Yu Gothic"/>
                          <a:ea typeface="Yu Gothic"/>
                        </a:rPr>
                        <a:t>2026年9月〜10月</a:t>
                      </a:r>
                    </a:p>
                  </a:txBody>
                  <a:tcPr anchor="ctr" marL="73152" marR="73152" marT="18288" marB="18288">
                    <a:solidFill>
                      <a:srgbClr val="F2F4F6"/>
                    </a:solidFill>
                  </a:tcPr>
                </a:tc>
                <a:tc>
                  <a:txBody>
                    <a:bodyPr/>
                    <a:lstStyle/>
                    <a:p>
                      <a:r>
                        <a:rPr sz="1200" b="0">
                          <a:solidFill>
                            <a:srgbClr val="21252B"/>
                          </a:solidFill>
                          <a:latin typeface="Yu Gothic"/>
                          <a:ea typeface="Yu Gothic"/>
                        </a:rPr>
                        <a:t>円谷プロ条件確認・概算見積精査・契約協議</a:t>
                      </a:r>
                    </a:p>
                  </a:txBody>
                  <a:tcPr anchor="ctr" marL="73152" marR="73152" marT="18288" marB="18288">
                    <a:solidFill>
                      <a:srgbClr val="F2F4F6"/>
                    </a:solidFill>
                  </a:tcPr>
                </a:tc>
                <a:tc>
                  <a:txBody>
                    <a:bodyPr/>
                    <a:lstStyle/>
                    <a:p>
                      <a:r>
                        <a:rPr sz="1200" b="0">
                          <a:solidFill>
                            <a:srgbClr val="21252B"/>
                          </a:solidFill>
                          <a:latin typeface="Yu Gothic"/>
                          <a:ea typeface="Yu Gothic"/>
                        </a:rPr>
                        <a:t>準備</a:t>
                      </a:r>
                    </a:p>
                  </a:txBody>
                  <a:tcPr anchor="ctr" marL="73152" marR="73152" marT="18288" marB="18288">
                    <a:solidFill>
                      <a:srgbClr val="F2F4F6"/>
                    </a:solidFill>
                  </a:tcPr>
                </a:tc>
              </a:tr>
              <a:tr h="365760">
                <a:tc>
                  <a:txBody>
                    <a:bodyPr/>
                    <a:lstStyle/>
                    <a:p>
                      <a:r>
                        <a:rPr sz="1200" b="0">
                          <a:solidFill>
                            <a:srgbClr val="21252B"/>
                          </a:solidFill>
                          <a:latin typeface="Yu Gothic"/>
                          <a:ea typeface="Yu Gothic"/>
                        </a:rPr>
                        <a:t>2026年11月〜2027年3月</a:t>
                      </a:r>
                    </a:p>
                  </a:txBody>
                  <a:tcPr anchor="ctr" marL="73152" marR="73152" marT="18288" marB="18288">
                    <a:solidFill>
                      <a:srgbClr val="FFFFFF"/>
                    </a:solidFill>
                  </a:tcPr>
                </a:tc>
                <a:tc>
                  <a:txBody>
                    <a:bodyPr/>
                    <a:lstStyle/>
                    <a:p>
                      <a:r>
                        <a:rPr sz="1200" b="0">
                          <a:solidFill>
                            <a:srgbClr val="21252B"/>
                          </a:solidFill>
                          <a:latin typeface="Yu Gothic"/>
                          <a:ea typeface="Yu Gothic"/>
                        </a:rPr>
                        <a:t>パイロット設計、商業施設候補の選定・調整、制作準備(IP実働前の準備期間)</a:t>
                      </a:r>
                    </a:p>
                  </a:txBody>
                  <a:tcPr anchor="ctr" marL="73152" marR="73152" marT="18288" marB="18288">
                    <a:solidFill>
                      <a:srgbClr val="FFFFFF"/>
                    </a:solidFill>
                  </a:tcPr>
                </a:tc>
                <a:tc>
                  <a:txBody>
                    <a:bodyPr/>
                    <a:lstStyle/>
                    <a:p>
                      <a:r>
                        <a:rPr sz="1200" b="0">
                          <a:solidFill>
                            <a:srgbClr val="21252B"/>
                          </a:solidFill>
                          <a:latin typeface="Yu Gothic"/>
                          <a:ea typeface="Yu Gothic"/>
                        </a:rPr>
                        <a:t>準備</a:t>
                      </a:r>
                    </a:p>
                  </a:txBody>
                  <a:tcPr anchor="ctr" marL="73152" marR="73152" marT="18288" marB="18288">
                    <a:solidFill>
                      <a:srgbClr val="FFFFFF"/>
                    </a:solidFill>
                  </a:tcPr>
                </a:tc>
              </a:tr>
              <a:tr h="365760">
                <a:tc>
                  <a:txBody>
                    <a:bodyPr/>
                    <a:lstStyle/>
                    <a:p>
                      <a:r>
                        <a:rPr sz="1200" b="1">
                          <a:solidFill>
                            <a:srgbClr val="D60012"/>
                          </a:solidFill>
                          <a:latin typeface="Yu Gothic"/>
                          <a:ea typeface="Yu Gothic"/>
                        </a:rPr>
                        <a:t>2027年4月</a:t>
                      </a:r>
                    </a:p>
                  </a:txBody>
                  <a:tcPr anchor="ctr" marL="73152" marR="73152" marT="18288" marB="18288">
                    <a:solidFill>
                      <a:srgbClr val="F2F4F6"/>
                    </a:solidFill>
                  </a:tcPr>
                </a:tc>
                <a:tc>
                  <a:txBody>
                    <a:bodyPr/>
                    <a:lstStyle/>
                    <a:p>
                      <a:r>
                        <a:rPr sz="1200" b="1">
                          <a:solidFill>
                            <a:srgbClr val="D60012"/>
                          </a:solidFill>
                          <a:latin typeface="Yu Gothic"/>
                          <a:ea typeface="Yu Gothic"/>
                        </a:rPr>
                        <a:t>FY27契約開始 — ウルトラマンのIP利用・実働はここから</a:t>
                      </a:r>
                    </a:p>
                  </a:txBody>
                  <a:tcPr anchor="ctr" marL="73152" marR="73152" marT="18288" marB="18288">
                    <a:solidFill>
                      <a:srgbClr val="F2F4F6"/>
                    </a:solidFill>
                  </a:tcPr>
                </a:tc>
                <a:tc>
                  <a:txBody>
                    <a:bodyPr/>
                    <a:lstStyle/>
                    <a:p>
                      <a:r>
                        <a:rPr sz="1200" b="1">
                          <a:solidFill>
                            <a:srgbClr val="D60012"/>
                          </a:solidFill>
                          <a:latin typeface="Yu Gothic"/>
                          <a:ea typeface="Yu Gothic"/>
                        </a:rPr>
                        <a:t>開始</a:t>
                      </a:r>
                    </a:p>
                  </a:txBody>
                  <a:tcPr anchor="ctr" marL="73152" marR="73152" marT="18288" marB="18288">
                    <a:solidFill>
                      <a:srgbClr val="F2F4F6"/>
                    </a:solidFill>
                  </a:tcPr>
                </a:tc>
              </a:tr>
              <a:tr h="365760">
                <a:tc>
                  <a:txBody>
                    <a:bodyPr/>
                    <a:lstStyle/>
                    <a:p>
                      <a:r>
                        <a:rPr sz="1200" b="0">
                          <a:solidFill>
                            <a:srgbClr val="21252B"/>
                          </a:solidFill>
                          <a:latin typeface="Yu Gothic"/>
                          <a:ea typeface="Yu Gothic"/>
                        </a:rPr>
                        <a:t>2027年4月〜6月</a:t>
                      </a:r>
                    </a:p>
                  </a:txBody>
                  <a:tcPr anchor="ctr" marL="73152" marR="73152" marT="18288" marB="18288">
                    <a:solidFill>
                      <a:srgbClr val="FFFFFF"/>
                    </a:solidFill>
                  </a:tcPr>
                </a:tc>
                <a:tc>
                  <a:txBody>
                    <a:bodyPr/>
                    <a:lstStyle/>
                    <a:p>
                      <a:r>
                        <a:rPr sz="1200" b="0">
                          <a:solidFill>
                            <a:srgbClr val="21252B"/>
                          </a:solidFill>
                          <a:latin typeface="Yu Gothic"/>
                          <a:ea typeface="Yu Gothic"/>
                        </a:rPr>
                        <a:t>先行2〜3施設で小規模検証(A案フェーズ)</a:t>
                      </a:r>
                    </a:p>
                  </a:txBody>
                  <a:tcPr anchor="ctr" marL="73152" marR="73152" marT="18288" marB="18288">
                    <a:solidFill>
                      <a:srgbClr val="FFFFFF"/>
                    </a:solidFill>
                  </a:tcPr>
                </a:tc>
                <a:tc>
                  <a:txBody>
                    <a:bodyPr/>
                    <a:lstStyle/>
                    <a:p>
                      <a:r>
                        <a:rPr sz="1200" b="0">
                          <a:solidFill>
                            <a:srgbClr val="21252B"/>
                          </a:solidFill>
                          <a:latin typeface="Yu Gothic"/>
                          <a:ea typeface="Yu Gothic"/>
                        </a:rPr>
                        <a:t>検証</a:t>
                      </a:r>
                    </a:p>
                  </a:txBody>
                  <a:tcPr anchor="ctr" marL="73152" marR="73152" marT="18288" marB="18288">
                    <a:solidFill>
                      <a:srgbClr val="FFFFFF"/>
                    </a:solidFill>
                  </a:tcPr>
                </a:tc>
              </a:tr>
              <a:tr h="365760">
                <a:tc>
                  <a:txBody>
                    <a:bodyPr/>
                    <a:lstStyle/>
                    <a:p>
                      <a:r>
                        <a:rPr sz="1200" b="0">
                          <a:solidFill>
                            <a:srgbClr val="21252B"/>
                          </a:solidFill>
                          <a:latin typeface="Yu Gothic"/>
                          <a:ea typeface="Yu Gothic"/>
                        </a:rPr>
                        <a:t>2027年7月〜8月</a:t>
                      </a:r>
                    </a:p>
                  </a:txBody>
                  <a:tcPr anchor="ctr" marL="73152" marR="73152" marT="18288" marB="18288">
                    <a:solidFill>
                      <a:srgbClr val="F2F4F6"/>
                    </a:solidFill>
                  </a:tcPr>
                </a:tc>
                <a:tc>
                  <a:txBody>
                    <a:bodyPr/>
                    <a:lstStyle/>
                    <a:p>
                      <a:r>
                        <a:rPr sz="1200" b="0">
                          <a:solidFill>
                            <a:srgbClr val="21252B"/>
                          </a:solidFill>
                          <a:latin typeface="Yu Gothic"/>
                          <a:ea typeface="Yu Gothic"/>
                        </a:rPr>
                        <a:t>検証を踏まえ10〜20施設へ拡大。屋内商業施設中心の夏休み施策</a:t>
                      </a:r>
                    </a:p>
                  </a:txBody>
                  <a:tcPr anchor="ctr" marL="73152" marR="73152" marT="18288" marB="18288">
                    <a:solidFill>
                      <a:srgbClr val="F2F4F6"/>
                    </a:solidFill>
                  </a:tcPr>
                </a:tc>
                <a:tc>
                  <a:txBody>
                    <a:bodyPr/>
                    <a:lstStyle/>
                    <a:p>
                      <a:r>
                        <a:rPr sz="1200" b="0">
                          <a:solidFill>
                            <a:srgbClr val="21252B"/>
                          </a:solidFill>
                          <a:latin typeface="Yu Gothic"/>
                          <a:ea typeface="Yu Gothic"/>
                        </a:rPr>
                        <a:t>本展開</a:t>
                      </a:r>
                    </a:p>
                  </a:txBody>
                  <a:tcPr anchor="ctr" marL="73152" marR="73152" marT="18288" marB="18288">
                    <a:solidFill>
                      <a:srgbClr val="F2F4F6"/>
                    </a:solidFill>
                  </a:tcPr>
                </a:tc>
              </a:tr>
              <a:tr h="365760">
                <a:tc>
                  <a:txBody>
                    <a:bodyPr/>
                    <a:lstStyle/>
                    <a:p>
                      <a:r>
                        <a:rPr sz="1200" b="0">
                          <a:solidFill>
                            <a:srgbClr val="21252B"/>
                          </a:solidFill>
                          <a:latin typeface="Yu Gothic"/>
                          <a:ea typeface="Yu Gothic"/>
                        </a:rPr>
                        <a:t>2027年9月〜11月</a:t>
                      </a:r>
                    </a:p>
                  </a:txBody>
                  <a:tcPr anchor="ctr" marL="73152" marR="73152" marT="18288" marB="18288">
                    <a:solidFill>
                      <a:srgbClr val="FFFFFF"/>
                    </a:solidFill>
                  </a:tcPr>
                </a:tc>
                <a:tc>
                  <a:txBody>
                    <a:bodyPr/>
                    <a:lstStyle/>
                    <a:p>
                      <a:r>
                        <a:rPr sz="1200" b="0">
                          <a:solidFill>
                            <a:srgbClr val="21252B"/>
                          </a:solidFill>
                          <a:latin typeface="Yu Gothic"/>
                          <a:ea typeface="Yu Gothic"/>
                        </a:rPr>
                        <a:t>秋のファミリー送客施策</a:t>
                      </a:r>
                    </a:p>
                  </a:txBody>
                  <a:tcPr anchor="ctr" marL="73152" marR="73152" marT="18288" marB="18288">
                    <a:solidFill>
                      <a:srgbClr val="FFFFFF"/>
                    </a:solidFill>
                  </a:tcPr>
                </a:tc>
                <a:tc>
                  <a:txBody>
                    <a:bodyPr/>
                    <a:lstStyle/>
                    <a:p>
                      <a:r>
                        <a:rPr sz="1200" b="0">
                          <a:solidFill>
                            <a:srgbClr val="21252B"/>
                          </a:solidFill>
                          <a:latin typeface="Yu Gothic"/>
                          <a:ea typeface="Yu Gothic"/>
                        </a:rPr>
                        <a:t>本展開</a:t>
                      </a:r>
                    </a:p>
                  </a:txBody>
                  <a:tcPr anchor="ctr" marL="73152" marR="73152" marT="18288" marB="18288">
                    <a:solidFill>
                      <a:srgbClr val="FFFFFF"/>
                    </a:solidFill>
                  </a:tcPr>
                </a:tc>
              </a:tr>
              <a:tr h="365760">
                <a:tc>
                  <a:txBody>
                    <a:bodyPr/>
                    <a:lstStyle/>
                    <a:p>
                      <a:r>
                        <a:rPr sz="1200" b="0">
                          <a:solidFill>
                            <a:srgbClr val="21252B"/>
                          </a:solidFill>
                          <a:latin typeface="Yu Gothic"/>
                          <a:ea typeface="Yu Gothic"/>
                        </a:rPr>
                        <a:t>2027年12月〜2028年1月</a:t>
                      </a:r>
                    </a:p>
                  </a:txBody>
                  <a:tcPr anchor="ctr" marL="73152" marR="73152" marT="18288" marB="18288">
                    <a:solidFill>
                      <a:srgbClr val="F2F4F6"/>
                    </a:solidFill>
                  </a:tcPr>
                </a:tc>
                <a:tc>
                  <a:txBody>
                    <a:bodyPr/>
                    <a:lstStyle/>
                    <a:p>
                      <a:r>
                        <a:rPr sz="1200" b="0">
                          <a:solidFill>
                            <a:srgbClr val="21252B"/>
                          </a:solidFill>
                          <a:latin typeface="Yu Gothic"/>
                          <a:ea typeface="Yu Gothic"/>
                        </a:rPr>
                        <a:t>年末年始商業施設施策</a:t>
                      </a:r>
                    </a:p>
                  </a:txBody>
                  <a:tcPr anchor="ctr" marL="73152" marR="73152" marT="18288" marB="18288">
                    <a:solidFill>
                      <a:srgbClr val="F2F4F6"/>
                    </a:solidFill>
                  </a:tcPr>
                </a:tc>
                <a:tc>
                  <a:txBody>
                    <a:bodyPr/>
                    <a:lstStyle/>
                    <a:p>
                      <a:r>
                        <a:rPr sz="1200" b="0">
                          <a:solidFill>
                            <a:srgbClr val="21252B"/>
                          </a:solidFill>
                          <a:latin typeface="Yu Gothic"/>
                          <a:ea typeface="Yu Gothic"/>
                        </a:rPr>
                        <a:t>本展開</a:t>
                      </a:r>
                    </a:p>
                  </a:txBody>
                  <a:tcPr anchor="ctr" marL="73152" marR="73152" marT="18288" marB="18288">
                    <a:solidFill>
                      <a:srgbClr val="F2F4F6"/>
                    </a:solidFill>
                  </a:tcPr>
                </a:tc>
              </a:tr>
              <a:tr h="365760">
                <a:tc>
                  <a:txBody>
                    <a:bodyPr/>
                    <a:lstStyle/>
                    <a:p>
                      <a:r>
                        <a:rPr sz="1200" b="0">
                          <a:solidFill>
                            <a:srgbClr val="21252B"/>
                          </a:solidFill>
                          <a:latin typeface="Yu Gothic"/>
                          <a:ea typeface="Yu Gothic"/>
                        </a:rPr>
                        <a:t>2028年2月〜3月</a:t>
                      </a:r>
                    </a:p>
                  </a:txBody>
                  <a:tcPr anchor="ctr" marL="73152" marR="73152" marT="18288" marB="18288">
                    <a:solidFill>
                      <a:srgbClr val="FFFFFF"/>
                    </a:solidFill>
                  </a:tcPr>
                </a:tc>
                <a:tc>
                  <a:txBody>
                    <a:bodyPr/>
                    <a:lstStyle/>
                    <a:p>
                      <a:r>
                        <a:rPr sz="1200" b="0">
                          <a:solidFill>
                            <a:srgbClr val="21252B"/>
                          </a:solidFill>
                          <a:latin typeface="Yu Gothic"/>
                          <a:ea typeface="Yu Gothic"/>
                        </a:rPr>
                        <a:t>新生活・春商戦連動</a:t>
                      </a:r>
                    </a:p>
                  </a:txBody>
                  <a:tcPr anchor="ctr" marL="73152" marR="73152" marT="18288" marB="18288">
                    <a:solidFill>
                      <a:srgbClr val="FFFFFF"/>
                    </a:solidFill>
                  </a:tcPr>
                </a:tc>
                <a:tc>
                  <a:txBody>
                    <a:bodyPr/>
                    <a:lstStyle/>
                    <a:p>
                      <a:r>
                        <a:rPr sz="1200" b="0">
                          <a:solidFill>
                            <a:srgbClr val="21252B"/>
                          </a:solidFill>
                          <a:latin typeface="Yu Gothic"/>
                          <a:ea typeface="Yu Gothic"/>
                        </a:rPr>
                        <a:t>本展開</a:t>
                      </a:r>
                    </a:p>
                  </a:txBody>
                  <a:tcPr anchor="ctr" marL="73152" marR="73152" marT="18288" marB="18288">
                    <a:solidFill>
                      <a:srgbClr val="FFFFFF"/>
                    </a:solidFill>
                  </a:tcPr>
                </a:tc>
              </a:tr>
              <a:tr h="365760">
                <a:tc>
                  <a:txBody>
                    <a:bodyPr/>
                    <a:lstStyle/>
                    <a:p>
                      <a:r>
                        <a:rPr sz="1200" b="0">
                          <a:solidFill>
                            <a:srgbClr val="21252B"/>
                          </a:solidFill>
                          <a:latin typeface="Yu Gothic"/>
                          <a:ea typeface="Yu Gothic"/>
                        </a:rPr>
                        <a:t>2028年4月〜</a:t>
                      </a:r>
                    </a:p>
                  </a:txBody>
                  <a:tcPr anchor="ctr" marL="73152" marR="73152" marT="18288" marB="18288">
                    <a:solidFill>
                      <a:srgbClr val="F2F4F6"/>
                    </a:solidFill>
                  </a:tcPr>
                </a:tc>
                <a:tc>
                  <a:txBody>
                    <a:bodyPr/>
                    <a:lstStyle/>
                    <a:p>
                      <a:r>
                        <a:rPr sz="1200" b="0">
                          <a:solidFill>
                            <a:srgbClr val="21252B"/>
                          </a:solidFill>
                          <a:latin typeface="Yu Gothic"/>
                          <a:ea typeface="Yu Gothic"/>
                        </a:rPr>
                        <a:t>初年度の成果を踏まえ、複数年契約・全国展開(C案)への移行を協議</a:t>
                      </a:r>
                    </a:p>
                  </a:txBody>
                  <a:tcPr anchor="ctr" marL="73152" marR="73152" marT="18288" marB="18288">
                    <a:solidFill>
                      <a:srgbClr val="F2F4F6"/>
                    </a:solidFill>
                  </a:tcPr>
                </a:tc>
                <a:tc>
                  <a:txBody>
                    <a:bodyPr/>
                    <a:lstStyle/>
                    <a:p>
                      <a:r>
                        <a:rPr sz="1200" b="0">
                          <a:solidFill>
                            <a:srgbClr val="21252B"/>
                          </a:solidFill>
                          <a:latin typeface="Yu Gothic"/>
                          <a:ea typeface="Yu Gothic"/>
                        </a:rPr>
                        <a:t>拡張</a:t>
                      </a:r>
                    </a:p>
                  </a:txBody>
                  <a:tcPr anchor="ctr" marL="73152" marR="73152" marT="18288" marB="18288">
                    <a:solidFill>
                      <a:srgbClr val="F2F4F6"/>
                    </a:solidFill>
                  </a:tcPr>
                </a:tc>
              </a:tr>
            </a:tbl>
          </a:graphicData>
        </a:graphic>
      </p:graphicFrame>
      <p:sp>
        <p:nvSpPr>
          <p:cNvPr id="9" name="TextBox 8"/>
          <p:cNvSpPr txBox="1"/>
          <p:nvPr/>
        </p:nvSpPr>
        <p:spPr>
          <a:xfrm>
            <a:off x="640080" y="5623560"/>
            <a:ext cx="10881360" cy="457200"/>
          </a:xfrm>
          <a:prstGeom prst="rect">
            <a:avLst/>
          </a:prstGeom>
          <a:noFill/>
        </p:spPr>
        <p:txBody>
          <a:bodyPr wrap="square" anchor="t" lIns="0" rIns="0" tIns="0" bIns="0">
            <a:spAutoFit/>
          </a:bodyPr>
          <a:lstStyle/>
          <a:p>
            <a:pPr algn="l">
              <a:spcAft>
                <a:spcPts val="600"/>
              </a:spcAft>
            </a:pPr>
            <a:r>
              <a:rPr sz="1100" b="0">
                <a:solidFill>
                  <a:srgbClr val="5A626B"/>
                </a:solidFill>
                <a:latin typeface="Yu Gothic"/>
                <a:ea typeface="Yu Gothic"/>
              </a:rPr>
              <a:t>※現行IPの着ぐるみ活用がFY26年度末(2027年3月)まで可能なため、ウルトラマンの実働はFY27期首からの開始が最も効率的かつ空白なく接続できます。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実施体制</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SoftBank・円谷プロダクション・提案側チームの三者連携で推進します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30</a:t>
            </a:r>
          </a:p>
        </p:txBody>
      </p:sp>
      <p:graphicFrame>
        <p:nvGraphicFramePr>
          <p:cNvPr id="8" name="Table 7"/>
          <p:cNvGraphicFramePr>
            <a:graphicFrameLocks noGrp="1"/>
          </p:cNvGraphicFramePr>
          <p:nvPr/>
        </p:nvGraphicFramePr>
        <p:xfrm>
          <a:off x="640080" y="1645920"/>
          <a:ext cx="10881360" cy="4023360"/>
        </p:xfrm>
        <a:graphic>
          <a:graphicData uri="http://schemas.openxmlformats.org/drawingml/2006/table">
            <a:tbl>
              <a:tblPr firstRow="1" bandRow="1">
                <a:tableStyleId>{5C22544A-7EE6-4342-B048-85BDC9FD1C3A}</a:tableStyleId>
              </a:tblPr>
              <a:tblGrid>
                <a:gridCol w="3627120"/>
                <a:gridCol w="7254240"/>
              </a:tblGrid>
              <a:tr h="402336">
                <a:tc>
                  <a:txBody>
                    <a:bodyPr/>
                    <a:lstStyle/>
                    <a:p>
                      <a:r>
                        <a:rPr sz="1150" b="1">
                          <a:solidFill>
                            <a:srgbClr val="FFFFFF"/>
                          </a:solidFill>
                          <a:latin typeface="Yu Gothic"/>
                          <a:ea typeface="Yu Gothic"/>
                        </a:rPr>
                        <a:t>役割</a:t>
                      </a:r>
                    </a:p>
                  </a:txBody>
                  <a:tcPr anchor="ctr" marL="73152" marR="73152" marT="18288" marB="18288">
                    <a:solidFill>
                      <a:srgbClr val="121A2E"/>
                    </a:solidFill>
                  </a:tcPr>
                </a:tc>
                <a:tc>
                  <a:txBody>
                    <a:bodyPr/>
                    <a:lstStyle/>
                    <a:p>
                      <a:r>
                        <a:rPr sz="1150" b="1">
                          <a:solidFill>
                            <a:srgbClr val="FFFFFF"/>
                          </a:solidFill>
                          <a:latin typeface="Yu Gothic"/>
                          <a:ea typeface="Yu Gothic"/>
                        </a:rPr>
                        <a:t>担当</a:t>
                      </a:r>
                    </a:p>
                  </a:txBody>
                  <a:tcPr anchor="ctr" marL="73152" marR="73152" marT="18288" marB="18288">
                    <a:solidFill>
                      <a:srgbClr val="121A2E"/>
                    </a:solidFill>
                  </a:tcPr>
                </a:tc>
              </a:tr>
              <a:tr h="402336">
                <a:tc>
                  <a:txBody>
                    <a:bodyPr/>
                    <a:lstStyle/>
                    <a:p>
                      <a:r>
                        <a:rPr sz="1250" b="0">
                          <a:solidFill>
                            <a:srgbClr val="21252B"/>
                          </a:solidFill>
                          <a:latin typeface="Yu Gothic"/>
                          <a:ea typeface="Yu Gothic"/>
                        </a:rPr>
                        <a:t>全体統括</a:t>
                      </a:r>
                    </a:p>
                  </a:txBody>
                  <a:tcPr anchor="ctr" marL="73152" marR="73152" marT="18288" marB="18288">
                    <a:solidFill>
                      <a:srgbClr val="FFFFFF"/>
                    </a:solidFill>
                  </a:tcPr>
                </a:tc>
                <a:tc>
                  <a:txBody>
                    <a:bodyPr/>
                    <a:lstStyle/>
                    <a:p>
                      <a:r>
                        <a:rPr sz="1250" b="0">
                          <a:solidFill>
                            <a:srgbClr val="21252B"/>
                          </a:solidFill>
                          <a:latin typeface="Yu Gothic"/>
                          <a:ea typeface="Yu Gothic"/>
                        </a:rPr>
                        <a:t>SoftBank コンシューマ事業側</a:t>
                      </a:r>
                    </a:p>
                  </a:txBody>
                  <a:tcPr anchor="ctr" marL="73152" marR="73152" marT="18288" marB="18288">
                    <a:solidFill>
                      <a:srgbClr val="FFFFFF"/>
                    </a:solidFill>
                  </a:tcPr>
                </a:tc>
              </a:tr>
              <a:tr h="402336">
                <a:tc>
                  <a:txBody>
                    <a:bodyPr/>
                    <a:lstStyle/>
                    <a:p>
                      <a:r>
                        <a:rPr sz="1250" b="0">
                          <a:solidFill>
                            <a:srgbClr val="21252B"/>
                          </a:solidFill>
                          <a:latin typeface="Yu Gothic"/>
                          <a:ea typeface="Yu Gothic"/>
                        </a:rPr>
                        <a:t>IP監修</a:t>
                      </a:r>
                    </a:p>
                  </a:txBody>
                  <a:tcPr anchor="ctr" marL="73152" marR="73152" marT="18288" marB="18288">
                    <a:solidFill>
                      <a:srgbClr val="F2F4F6"/>
                    </a:solidFill>
                  </a:tcPr>
                </a:tc>
                <a:tc>
                  <a:txBody>
                    <a:bodyPr/>
                    <a:lstStyle/>
                    <a:p>
                      <a:r>
                        <a:rPr sz="1250" b="0">
                          <a:solidFill>
                            <a:srgbClr val="21252B"/>
                          </a:solidFill>
                          <a:latin typeface="Yu Gothic"/>
                          <a:ea typeface="Yu Gothic"/>
                        </a:rPr>
                        <a:t>円谷プロダクション</a:t>
                      </a:r>
                    </a:p>
                  </a:txBody>
                  <a:tcPr anchor="ctr" marL="73152" marR="73152" marT="18288" marB="18288">
                    <a:solidFill>
                      <a:srgbClr val="F2F4F6"/>
                    </a:solidFill>
                  </a:tcPr>
                </a:tc>
              </a:tr>
              <a:tr h="402336">
                <a:tc>
                  <a:txBody>
                    <a:bodyPr/>
                    <a:lstStyle/>
                    <a:p>
                      <a:r>
                        <a:rPr sz="1250" b="0">
                          <a:solidFill>
                            <a:srgbClr val="21252B"/>
                          </a:solidFill>
                          <a:latin typeface="Yu Gothic"/>
                          <a:ea typeface="Yu Gothic"/>
                        </a:rPr>
                        <a:t>企画・制作</a:t>
                      </a:r>
                    </a:p>
                  </a:txBody>
                  <a:tcPr anchor="ctr" marL="73152" marR="73152" marT="18288" marB="18288">
                    <a:solidFill>
                      <a:srgbClr val="FFFFFF"/>
                    </a:solidFill>
                  </a:tcPr>
                </a:tc>
                <a:tc>
                  <a:txBody>
                    <a:bodyPr/>
                    <a:lstStyle/>
                    <a:p>
                      <a:r>
                        <a:rPr sz="1250" b="0">
                          <a:solidFill>
                            <a:srgbClr val="21252B"/>
                          </a:solidFill>
                          <a:latin typeface="Yu Gothic"/>
                          <a:ea typeface="Yu Gothic"/>
                        </a:rPr>
                        <a:t>提案側チーム</a:t>
                      </a:r>
                    </a:p>
                  </a:txBody>
                  <a:tcPr anchor="ctr" marL="73152" marR="73152" marT="18288" marB="18288">
                    <a:solidFill>
                      <a:srgbClr val="FFFFFF"/>
                    </a:solidFill>
                  </a:tcPr>
                </a:tc>
              </a:tr>
              <a:tr h="402336">
                <a:tc>
                  <a:txBody>
                    <a:bodyPr/>
                    <a:lstStyle/>
                    <a:p>
                      <a:r>
                        <a:rPr sz="1250" b="0">
                          <a:solidFill>
                            <a:srgbClr val="21252B"/>
                          </a:solidFill>
                          <a:latin typeface="Yu Gothic"/>
                          <a:ea typeface="Yu Gothic"/>
                        </a:rPr>
                        <a:t>商業施設調整</a:t>
                      </a:r>
                    </a:p>
                  </a:txBody>
                  <a:tcPr anchor="ctr" marL="73152" marR="73152" marT="18288" marB="18288">
                    <a:solidFill>
                      <a:srgbClr val="F2F4F6"/>
                    </a:solidFill>
                  </a:tcPr>
                </a:tc>
                <a:tc>
                  <a:txBody>
                    <a:bodyPr/>
                    <a:lstStyle/>
                    <a:p>
                      <a:r>
                        <a:rPr sz="1250" b="0">
                          <a:solidFill>
                            <a:srgbClr val="21252B"/>
                          </a:solidFill>
                          <a:latin typeface="Yu Gothic"/>
                          <a:ea typeface="Yu Gothic"/>
                        </a:rPr>
                        <a:t>SoftBank営業/代理店/イベント運営側</a:t>
                      </a:r>
                    </a:p>
                  </a:txBody>
                  <a:tcPr anchor="ctr" marL="73152" marR="73152" marT="18288" marB="18288">
                    <a:solidFill>
                      <a:srgbClr val="F2F4F6"/>
                    </a:solidFill>
                  </a:tcPr>
                </a:tc>
              </a:tr>
              <a:tr h="402336">
                <a:tc>
                  <a:txBody>
                    <a:bodyPr/>
                    <a:lstStyle/>
                    <a:p>
                      <a:r>
                        <a:rPr sz="1250" b="0">
                          <a:solidFill>
                            <a:srgbClr val="21252B"/>
                          </a:solidFill>
                          <a:latin typeface="Yu Gothic"/>
                          <a:ea typeface="Yu Gothic"/>
                        </a:rPr>
                        <a:t>店舗連携</a:t>
                      </a:r>
                    </a:p>
                  </a:txBody>
                  <a:tcPr anchor="ctr" marL="73152" marR="73152" marT="18288" marB="18288">
                    <a:solidFill>
                      <a:srgbClr val="FFFFFF"/>
                    </a:solidFill>
                  </a:tcPr>
                </a:tc>
                <a:tc>
                  <a:txBody>
                    <a:bodyPr/>
                    <a:lstStyle/>
                    <a:p>
                      <a:r>
                        <a:rPr sz="1250" b="0">
                          <a:solidFill>
                            <a:srgbClr val="21252B"/>
                          </a:solidFill>
                          <a:latin typeface="Yu Gothic"/>
                          <a:ea typeface="Yu Gothic"/>
                        </a:rPr>
                        <a:t>SoftBankショップ、代理店運営会社</a:t>
                      </a:r>
                    </a:p>
                  </a:txBody>
                  <a:tcPr anchor="ctr" marL="73152" marR="73152" marT="18288" marB="18288">
                    <a:solidFill>
                      <a:srgbClr val="FFFFFF"/>
                    </a:solidFill>
                  </a:tcPr>
                </a:tc>
              </a:tr>
              <a:tr h="402336">
                <a:tc>
                  <a:txBody>
                    <a:bodyPr/>
                    <a:lstStyle/>
                    <a:p>
                      <a:r>
                        <a:rPr sz="1250" b="0">
                          <a:solidFill>
                            <a:srgbClr val="21252B"/>
                          </a:solidFill>
                          <a:latin typeface="Yu Gothic"/>
                          <a:ea typeface="Yu Gothic"/>
                        </a:rPr>
                        <a:t>BB/でんき導線</a:t>
                      </a:r>
                    </a:p>
                  </a:txBody>
                  <a:tcPr anchor="ctr" marL="73152" marR="73152" marT="18288" marB="18288">
                    <a:solidFill>
                      <a:srgbClr val="F2F4F6"/>
                    </a:solidFill>
                  </a:tcPr>
                </a:tc>
                <a:tc>
                  <a:txBody>
                    <a:bodyPr/>
                    <a:lstStyle/>
                    <a:p>
                      <a:r>
                        <a:rPr sz="1250" b="0">
                          <a:solidFill>
                            <a:srgbClr val="21252B"/>
                          </a:solidFill>
                          <a:latin typeface="Yu Gothic"/>
                          <a:ea typeface="Yu Gothic"/>
                        </a:rPr>
                        <a:t>各サービス担当部門</a:t>
                      </a:r>
                    </a:p>
                  </a:txBody>
                  <a:tcPr anchor="ctr" marL="73152" marR="73152" marT="18288" marB="18288">
                    <a:solidFill>
                      <a:srgbClr val="F2F4F6"/>
                    </a:solidFill>
                  </a:tcPr>
                </a:tc>
              </a:tr>
              <a:tr h="402336">
                <a:tc>
                  <a:txBody>
                    <a:bodyPr/>
                    <a:lstStyle/>
                    <a:p>
                      <a:r>
                        <a:rPr sz="1250" b="0">
                          <a:solidFill>
                            <a:srgbClr val="21252B"/>
                          </a:solidFill>
                          <a:latin typeface="Yu Gothic"/>
                          <a:ea typeface="Yu Gothic"/>
                        </a:rPr>
                        <a:t>デジタル導線</a:t>
                      </a:r>
                    </a:p>
                  </a:txBody>
                  <a:tcPr anchor="ctr" marL="73152" marR="73152" marT="18288" marB="18288">
                    <a:solidFill>
                      <a:srgbClr val="FFFFFF"/>
                    </a:solidFill>
                  </a:tcPr>
                </a:tc>
                <a:tc>
                  <a:txBody>
                    <a:bodyPr/>
                    <a:lstStyle/>
                    <a:p>
                      <a:r>
                        <a:rPr sz="1250" b="0">
                          <a:solidFill>
                            <a:srgbClr val="21252B"/>
                          </a:solidFill>
                          <a:latin typeface="Yu Gothic"/>
                          <a:ea typeface="Yu Gothic"/>
                        </a:rPr>
                        <a:t>LP、計測、デジタル隊員証担当</a:t>
                      </a:r>
                    </a:p>
                  </a:txBody>
                  <a:tcPr anchor="ctr" marL="73152" marR="73152" marT="18288" marB="18288">
                    <a:solidFill>
                      <a:srgbClr val="FFFFFF"/>
                    </a:solidFill>
                  </a:tcPr>
                </a:tc>
              </a:tr>
              <a:tr h="402336">
                <a:tc>
                  <a:txBody>
                    <a:bodyPr/>
                    <a:lstStyle/>
                    <a:p>
                      <a:r>
                        <a:rPr sz="1250" b="0">
                          <a:solidFill>
                            <a:srgbClr val="21252B"/>
                          </a:solidFill>
                          <a:latin typeface="Yu Gothic"/>
                          <a:ea typeface="Yu Gothic"/>
                        </a:rPr>
                        <a:t>法務・ライセンス</a:t>
                      </a:r>
                    </a:p>
                  </a:txBody>
                  <a:tcPr anchor="ctr" marL="73152" marR="73152" marT="18288" marB="18288">
                    <a:solidFill>
                      <a:srgbClr val="F2F4F6"/>
                    </a:solidFill>
                  </a:tcPr>
                </a:tc>
                <a:tc>
                  <a:txBody>
                    <a:bodyPr/>
                    <a:lstStyle/>
                    <a:p>
                      <a:r>
                        <a:rPr sz="1250" b="0">
                          <a:solidFill>
                            <a:srgbClr val="21252B"/>
                          </a:solidFill>
                          <a:latin typeface="Yu Gothic"/>
                          <a:ea typeface="Yu Gothic"/>
                        </a:rPr>
                        <a:t>双方法務・ライセンス担当</a:t>
                      </a:r>
                    </a:p>
                  </a:txBody>
                  <a:tcPr anchor="ctr" marL="73152" marR="73152" marT="18288" marB="18288">
                    <a:solidFill>
                      <a:srgbClr val="F2F4F6"/>
                    </a:solidFill>
                  </a:tcPr>
                </a:tc>
              </a:tr>
              <a:tr h="402336">
                <a:tc>
                  <a:txBody>
                    <a:bodyPr/>
                    <a:lstStyle/>
                    <a:p>
                      <a:r>
                        <a:rPr sz="1250" b="0">
                          <a:solidFill>
                            <a:srgbClr val="21252B"/>
                          </a:solidFill>
                          <a:latin typeface="Yu Gothic"/>
                          <a:ea typeface="Yu Gothic"/>
                        </a:rPr>
                        <a:t>効果測定</a:t>
                      </a:r>
                    </a:p>
                  </a:txBody>
                  <a:tcPr anchor="ctr" marL="73152" marR="73152" marT="18288" marB="18288">
                    <a:solidFill>
                      <a:srgbClr val="FFFFFF"/>
                    </a:solidFill>
                  </a:tcPr>
                </a:tc>
                <a:tc>
                  <a:txBody>
                    <a:bodyPr/>
                    <a:lstStyle/>
                    <a:p>
                      <a:r>
                        <a:rPr sz="1250" b="0">
                          <a:solidFill>
                            <a:srgbClr val="21252B"/>
                          </a:solidFill>
                          <a:latin typeface="Yu Gothic"/>
                          <a:ea typeface="Yu Gothic"/>
                        </a:rPr>
                        <a:t>SoftBankマーケティング/提案側チーム</a:t>
                      </a:r>
                    </a:p>
                  </a:txBody>
                  <a:tcPr anchor="ctr" marL="73152" marR="73152" marT="18288" marB="18288">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18872" cy="566928"/>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47472"/>
            <a:ext cx="10881360" cy="640080"/>
          </a:xfrm>
          <a:prstGeom prst="rect">
            <a:avLst/>
          </a:prstGeom>
          <a:noFill/>
        </p:spPr>
        <p:txBody>
          <a:bodyPr wrap="square" anchor="t" lIns="0" rIns="0" tIns="0" bIns="0">
            <a:spAutoFit/>
          </a:bodyPr>
          <a:lstStyle/>
          <a:p>
            <a:pPr algn="l">
              <a:spcAft>
                <a:spcPts val="600"/>
              </a:spcAft>
            </a:pPr>
            <a:r>
              <a:rPr sz="2500" b="1">
                <a:solidFill>
                  <a:srgbClr val="21252B"/>
                </a:solidFill>
                <a:latin typeface="Yu Gothic"/>
                <a:ea typeface="Yu Gothic"/>
              </a:rPr>
              <a:t>最終ご提案:B案 FY27標準プラン</a:t>
            </a:r>
          </a:p>
        </p:txBody>
      </p:sp>
      <p:sp>
        <p:nvSpPr>
          <p:cNvPr id="4" name="TextBox 3"/>
          <p:cNvSpPr txBox="1"/>
          <p:nvPr/>
        </p:nvSpPr>
        <p:spPr>
          <a:xfrm>
            <a:off x="777240" y="932688"/>
            <a:ext cx="10881360" cy="365760"/>
          </a:xfrm>
          <a:prstGeom prst="rect">
            <a:avLst/>
          </a:prstGeom>
          <a:noFill/>
        </p:spPr>
        <p:txBody>
          <a:bodyPr wrap="square" anchor="t" lIns="0" rIns="0" tIns="0" bIns="0">
            <a:spAutoFit/>
          </a:bodyPr>
          <a:lstStyle/>
          <a:p>
            <a:pPr algn="l">
              <a:spcAft>
                <a:spcPts val="600"/>
              </a:spcAft>
            </a:pPr>
            <a:r>
              <a:rPr sz="1250" b="0">
                <a:solidFill>
                  <a:srgbClr val="5A626B"/>
                </a:solidFill>
                <a:latin typeface="Yu Gothic"/>
                <a:ea typeface="Yu Gothic"/>
              </a:rPr>
              <a:t>FY27以降のリアルイベント集客機能を担う、推奨プランです</a:t>
            </a:r>
          </a:p>
        </p:txBody>
      </p:sp>
      <p:sp>
        <p:nvSpPr>
          <p:cNvPr id="5" name="Rectangle 4"/>
          <p:cNvSpPr/>
          <p:nvPr/>
        </p:nvSpPr>
        <p:spPr>
          <a:xfrm>
            <a:off x="502920" y="1298448"/>
            <a:ext cx="11183112" cy="177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55664"/>
            <a:ext cx="8229600" cy="274320"/>
          </a:xfrm>
          <a:prstGeom prst="rect">
            <a:avLst/>
          </a:prstGeom>
          <a:noFill/>
        </p:spPr>
        <p:txBody>
          <a:bodyPr wrap="square" anchor="t" lIns="0" rIns="0" tIns="0" bIns="0">
            <a:spAutoFit/>
          </a:bodyPr>
          <a:lstStyle/>
          <a:p>
            <a:pPr algn="l">
              <a:spcAft>
                <a:spcPts val="600"/>
              </a:spcAft>
            </a:pPr>
            <a:r>
              <a:rPr sz="900" b="0">
                <a:solidFill>
                  <a:srgbClr val="8E949B"/>
                </a:solidFill>
                <a:latin typeface="Yu Gothic"/>
                <a:ea typeface="Yu Gothic"/>
              </a:rPr>
              <a:t>SoftBank × ウルトラマン 未来防衛隊キャラバン(ご提案)</a:t>
            </a:r>
          </a:p>
        </p:txBody>
      </p:sp>
      <p:sp>
        <p:nvSpPr>
          <p:cNvPr id="7" name="TextBox 6"/>
          <p:cNvSpPr txBox="1"/>
          <p:nvPr/>
        </p:nvSpPr>
        <p:spPr>
          <a:xfrm>
            <a:off x="11155680" y="6455664"/>
            <a:ext cx="548640" cy="274320"/>
          </a:xfrm>
          <a:prstGeom prst="rect">
            <a:avLst/>
          </a:prstGeom>
          <a:noFill/>
        </p:spPr>
        <p:txBody>
          <a:bodyPr wrap="square" anchor="t" lIns="0" rIns="0" tIns="0" bIns="0">
            <a:spAutoFit/>
          </a:bodyPr>
          <a:lstStyle/>
          <a:p>
            <a:pPr algn="r">
              <a:spcAft>
                <a:spcPts val="600"/>
              </a:spcAft>
            </a:pPr>
            <a:r>
              <a:rPr sz="1000" b="0">
                <a:solidFill>
                  <a:srgbClr val="8E949B"/>
                </a:solidFill>
                <a:latin typeface="Yu Gothic"/>
                <a:ea typeface="Yu Gothic"/>
              </a:rPr>
              <a:t>31</a:t>
            </a:r>
          </a:p>
        </p:txBody>
      </p:sp>
      <p:graphicFrame>
        <p:nvGraphicFramePr>
          <p:cNvPr id="8" name="Table 7"/>
          <p:cNvGraphicFramePr>
            <a:graphicFrameLocks noGrp="1"/>
          </p:cNvGraphicFramePr>
          <p:nvPr/>
        </p:nvGraphicFramePr>
        <p:xfrm>
          <a:off x="640080" y="1645920"/>
          <a:ext cx="10881359" cy="3657600"/>
        </p:xfrm>
        <a:graphic>
          <a:graphicData uri="http://schemas.openxmlformats.org/drawingml/2006/table">
            <a:tbl>
              <a:tblPr firstRow="1" bandRow="1">
                <a:tableStyleId>{5C22544A-7EE6-4342-B048-85BDC9FD1C3A}</a:tableStyleId>
              </a:tblPr>
              <a:tblGrid>
                <a:gridCol w="2577164"/>
                <a:gridCol w="8304195"/>
              </a:tblGrid>
              <a:tr h="457200">
                <a:tc>
                  <a:txBody>
                    <a:bodyPr/>
                    <a:lstStyle/>
                    <a:p>
                      <a:r>
                        <a:rPr sz="1150" b="1">
                          <a:solidFill>
                            <a:srgbClr val="FFFFFF"/>
                          </a:solidFill>
                          <a:latin typeface="Yu Gothic"/>
                          <a:ea typeface="Yu Gothic"/>
                        </a:rPr>
                        <a:t>項目</a:t>
                      </a:r>
                    </a:p>
                  </a:txBody>
                  <a:tcPr anchor="ctr" marL="73152" marR="73152" marT="18288" marB="18288">
                    <a:solidFill>
                      <a:srgbClr val="121A2E"/>
                    </a:solidFill>
                  </a:tcPr>
                </a:tc>
                <a:tc>
                  <a:txBody>
                    <a:bodyPr/>
                    <a:lstStyle/>
                    <a:p>
                      <a:r>
                        <a:rPr sz="1150" b="1">
                          <a:solidFill>
                            <a:srgbClr val="FFFFFF"/>
                          </a:solidFill>
                          <a:latin typeface="Yu Gothic"/>
                          <a:ea typeface="Yu Gothic"/>
                        </a:rPr>
                        <a:t>内容</a:t>
                      </a:r>
                    </a:p>
                  </a:txBody>
                  <a:tcPr anchor="ctr" marL="73152" marR="73152" marT="18288" marB="18288">
                    <a:solidFill>
                      <a:srgbClr val="121A2E"/>
                    </a:solidFill>
                  </a:tcPr>
                </a:tc>
              </a:tr>
              <a:tr h="457200">
                <a:tc>
                  <a:txBody>
                    <a:bodyPr/>
                    <a:lstStyle/>
                    <a:p>
                      <a:r>
                        <a:rPr sz="1300" b="0">
                          <a:solidFill>
                            <a:srgbClr val="21252B"/>
                          </a:solidFill>
                          <a:latin typeface="Yu Gothic"/>
                          <a:ea typeface="Yu Gothic"/>
                        </a:rPr>
                        <a:t>金額</a:t>
                      </a:r>
                    </a:p>
                  </a:txBody>
                  <a:tcPr anchor="ctr" marL="73152" marR="73152" marT="18288" marB="18288">
                    <a:solidFill>
                      <a:srgbClr val="FFFFFF"/>
                    </a:solidFill>
                  </a:tcPr>
                </a:tc>
                <a:tc>
                  <a:txBody>
                    <a:bodyPr/>
                    <a:lstStyle/>
                    <a:p>
                      <a:r>
                        <a:rPr sz="1300" b="1">
                          <a:solidFill>
                            <a:srgbClr val="D60012"/>
                          </a:solidFill>
                          <a:latin typeface="Yu Gothic"/>
                          <a:ea typeface="Yu Gothic"/>
                        </a:rPr>
                        <a:t>1億5,000万円 税別</a:t>
                      </a:r>
                    </a:p>
                  </a:txBody>
                  <a:tcPr anchor="ctr" marL="73152" marR="73152" marT="18288" marB="18288">
                    <a:solidFill>
                      <a:srgbClr val="FFFFFF"/>
                    </a:solidFill>
                  </a:tcPr>
                </a:tc>
              </a:tr>
              <a:tr h="457200">
                <a:tc>
                  <a:txBody>
                    <a:bodyPr/>
                    <a:lstStyle/>
                    <a:p>
                      <a:r>
                        <a:rPr sz="1300" b="0">
                          <a:solidFill>
                            <a:srgbClr val="21252B"/>
                          </a:solidFill>
                          <a:latin typeface="Yu Gothic"/>
                          <a:ea typeface="Yu Gothic"/>
                        </a:rPr>
                        <a:t>期間</a:t>
                      </a:r>
                    </a:p>
                  </a:txBody>
                  <a:tcPr anchor="ctr" marL="73152" marR="73152" marT="18288" marB="18288">
                    <a:solidFill>
                      <a:srgbClr val="F2F4F6"/>
                    </a:solidFill>
                  </a:tcPr>
                </a:tc>
                <a:tc>
                  <a:txBody>
                    <a:bodyPr/>
                    <a:lstStyle/>
                    <a:p>
                      <a:r>
                        <a:rPr sz="1300" b="0">
                          <a:solidFill>
                            <a:srgbClr val="21252B"/>
                          </a:solidFill>
                          <a:latin typeface="Yu Gothic"/>
                          <a:ea typeface="Yu Gothic"/>
                        </a:rPr>
                        <a:t>FY27年度(2027年4月〜2028年3月)</a:t>
                      </a:r>
                    </a:p>
                  </a:txBody>
                  <a:tcPr anchor="ctr" marL="73152" marR="73152" marT="18288" marB="18288">
                    <a:solidFill>
                      <a:srgbClr val="F2F4F6"/>
                    </a:solidFill>
                  </a:tcPr>
                </a:tc>
              </a:tr>
              <a:tr h="457200">
                <a:tc>
                  <a:txBody>
                    <a:bodyPr/>
                    <a:lstStyle/>
                    <a:p>
                      <a:r>
                        <a:rPr sz="1300" b="0">
                          <a:solidFill>
                            <a:srgbClr val="21252B"/>
                          </a:solidFill>
                          <a:latin typeface="Yu Gothic"/>
                          <a:ea typeface="Yu Gothic"/>
                        </a:rPr>
                        <a:t>目的</a:t>
                      </a:r>
                    </a:p>
                  </a:txBody>
                  <a:tcPr anchor="ctr" marL="73152" marR="73152" marT="18288" marB="18288">
                    <a:solidFill>
                      <a:srgbClr val="FFFFFF"/>
                    </a:solidFill>
                  </a:tcPr>
                </a:tc>
                <a:tc>
                  <a:txBody>
                    <a:bodyPr/>
                    <a:lstStyle/>
                    <a:p>
                      <a:r>
                        <a:rPr sz="1300" b="0">
                          <a:solidFill>
                            <a:srgbClr val="21252B"/>
                          </a:solidFill>
                          <a:latin typeface="Yu Gothic"/>
                          <a:ea typeface="Yu Gothic"/>
                        </a:rPr>
                        <a:t>商業施設送客、SoftBankショップ送客、BB・でんき・モバイル相談創出</a:t>
                      </a:r>
                    </a:p>
                  </a:txBody>
                  <a:tcPr anchor="ctr" marL="73152" marR="73152" marT="18288" marB="18288">
                    <a:solidFill>
                      <a:srgbClr val="FFFFFF"/>
                    </a:solidFill>
                  </a:tcPr>
                </a:tc>
              </a:tr>
              <a:tr h="457200">
                <a:tc>
                  <a:txBody>
                    <a:bodyPr/>
                    <a:lstStyle/>
                    <a:p>
                      <a:r>
                        <a:rPr sz="1300" b="0">
                          <a:solidFill>
                            <a:srgbClr val="21252B"/>
                          </a:solidFill>
                          <a:latin typeface="Yu Gothic"/>
                          <a:ea typeface="Yu Gothic"/>
                        </a:rPr>
                        <a:t>実施規模</a:t>
                      </a:r>
                    </a:p>
                  </a:txBody>
                  <a:tcPr anchor="ctr" marL="73152" marR="73152" marT="18288" marB="18288">
                    <a:solidFill>
                      <a:srgbClr val="F2F4F6"/>
                    </a:solidFill>
                  </a:tcPr>
                </a:tc>
                <a:tc>
                  <a:txBody>
                    <a:bodyPr/>
                    <a:lstStyle/>
                    <a:p>
                      <a:r>
                        <a:rPr sz="1300" b="0">
                          <a:solidFill>
                            <a:srgbClr val="21252B"/>
                          </a:solidFill>
                          <a:latin typeface="Yu Gothic"/>
                          <a:ea typeface="Yu Gothic"/>
                        </a:rPr>
                        <a:t>10〜20商業施設</a:t>
                      </a:r>
                    </a:p>
                  </a:txBody>
                  <a:tcPr anchor="ctr" marL="73152" marR="73152" marT="18288" marB="18288">
                    <a:solidFill>
                      <a:srgbClr val="F2F4F6"/>
                    </a:solidFill>
                  </a:tcPr>
                </a:tc>
              </a:tr>
              <a:tr h="457200">
                <a:tc>
                  <a:txBody>
                    <a:bodyPr/>
                    <a:lstStyle/>
                    <a:p>
                      <a:r>
                        <a:rPr sz="1300" b="0">
                          <a:solidFill>
                            <a:srgbClr val="21252B"/>
                          </a:solidFill>
                          <a:latin typeface="Yu Gothic"/>
                          <a:ea typeface="Yu Gothic"/>
                        </a:rPr>
                        <a:t>中核施策</a:t>
                      </a:r>
                    </a:p>
                  </a:txBody>
                  <a:tcPr anchor="ctr" marL="73152" marR="73152" marT="18288" marB="18288">
                    <a:solidFill>
                      <a:srgbClr val="FFFFFF"/>
                    </a:solidFill>
                  </a:tcPr>
                </a:tc>
                <a:tc>
                  <a:txBody>
                    <a:bodyPr/>
                    <a:lstStyle/>
                    <a:p>
                      <a:r>
                        <a:rPr sz="1300" b="0">
                          <a:solidFill>
                            <a:srgbClr val="21252B"/>
                          </a:solidFill>
                          <a:latin typeface="Yu Gothic"/>
                          <a:ea typeface="Yu Gothic"/>
                        </a:rPr>
                        <a:t>ウルトラヒーロー登場、撮影会、館内ラリー、デジタル隊員証、店舗相談</a:t>
                      </a:r>
                    </a:p>
                  </a:txBody>
                  <a:tcPr anchor="ctr" marL="73152" marR="73152" marT="18288" marB="18288">
                    <a:solidFill>
                      <a:srgbClr val="FFFFFF"/>
                    </a:solidFill>
                  </a:tcPr>
                </a:tc>
              </a:tr>
              <a:tr h="457200">
                <a:tc>
                  <a:txBody>
                    <a:bodyPr/>
                    <a:lstStyle/>
                    <a:p>
                      <a:r>
                        <a:rPr sz="1300" b="0">
                          <a:solidFill>
                            <a:srgbClr val="21252B"/>
                          </a:solidFill>
                          <a:latin typeface="Yu Gothic"/>
                          <a:ea typeface="Yu Gothic"/>
                        </a:rPr>
                        <a:t>KPI</a:t>
                      </a:r>
                    </a:p>
                  </a:txBody>
                  <a:tcPr anchor="ctr" marL="73152" marR="73152" marT="18288" marB="18288">
                    <a:solidFill>
                      <a:srgbClr val="F2F4F6"/>
                    </a:solidFill>
                  </a:tcPr>
                </a:tc>
                <a:tc>
                  <a:txBody>
                    <a:bodyPr/>
                    <a:lstStyle/>
                    <a:p>
                      <a:r>
                        <a:rPr sz="1300" b="0">
                          <a:solidFill>
                            <a:srgbClr val="21252B"/>
                          </a:solidFill>
                          <a:latin typeface="Yu Gothic"/>
                          <a:ea typeface="Yu Gothic"/>
                        </a:rPr>
                        <a:t>イベント来場3万〜8万人、店舗送客3,000〜8,000人、相談1,000〜3,000件</a:t>
                      </a:r>
                    </a:p>
                  </a:txBody>
                  <a:tcPr anchor="ctr" marL="73152" marR="73152" marT="18288" marB="18288">
                    <a:solidFill>
                      <a:srgbClr val="F2F4F6"/>
                    </a:solidFill>
                  </a:tcPr>
                </a:tc>
              </a:tr>
              <a:tr h="457200">
                <a:tc>
                  <a:txBody>
                    <a:bodyPr/>
                    <a:lstStyle/>
                    <a:p>
                      <a:r>
                        <a:rPr sz="1300" b="0">
                          <a:solidFill>
                            <a:srgbClr val="21252B"/>
                          </a:solidFill>
                          <a:latin typeface="Yu Gothic"/>
                          <a:ea typeface="Yu Gothic"/>
                        </a:rPr>
                        <a:t>位置づけ</a:t>
                      </a:r>
                    </a:p>
                  </a:txBody>
                  <a:tcPr anchor="ctr" marL="73152" marR="73152" marT="18288" marB="18288">
                    <a:solidFill>
                      <a:srgbClr val="FFFFFF"/>
                    </a:solidFill>
                  </a:tcPr>
                </a:tc>
                <a:tc>
                  <a:txBody>
                    <a:bodyPr/>
                    <a:lstStyle/>
                    <a:p>
                      <a:r>
                        <a:rPr sz="1300" b="0">
                          <a:solidFill>
                            <a:srgbClr val="21252B"/>
                          </a:solidFill>
                          <a:latin typeface="Yu Gothic"/>
                          <a:ea typeface="Yu Gothic"/>
                        </a:rPr>
                        <a:t>FY27以降のリアルイベント集客機能を担う中核施策</a:t>
                      </a:r>
                    </a:p>
                  </a:txBody>
                  <a:tcPr anchor="ctr" marL="73152" marR="73152" marT="18288" marB="18288">
                    <a:solidFill>
                      <a:srgbClr val="FFFFFF"/>
                    </a:solidFill>
                  </a:tcPr>
                </a:tc>
              </a:tr>
            </a:tbl>
          </a:graphicData>
        </a:graphic>
      </p:graphicFrame>
      <p:sp>
        <p:nvSpPr>
          <p:cNvPr id="9" name="TextBox 8"/>
          <p:cNvSpPr txBox="1"/>
          <p:nvPr/>
        </p:nvSpPr>
        <p:spPr>
          <a:xfrm>
            <a:off x="777240" y="5532120"/>
            <a:ext cx="10789920" cy="822960"/>
          </a:xfrm>
          <a:prstGeom prst="rect">
            <a:avLst/>
          </a:prstGeom>
          <a:noFill/>
        </p:spPr>
        <p:txBody>
          <a:bodyPr wrap="square" anchor="t" lIns="0" rIns="0" tIns="0" bIns="0">
            <a:spAutoFit/>
          </a:bodyPr>
          <a:lstStyle/>
          <a:p>
            <a:pPr algn="l">
              <a:spcAft>
                <a:spcPts val="600"/>
              </a:spcAft>
            </a:pPr>
            <a:r>
              <a:rPr sz="1400" b="1">
                <a:solidFill>
                  <a:srgbClr val="D60012"/>
                </a:solidFill>
                <a:latin typeface="Yu Gothic"/>
                <a:ea typeface="Yu Gothic"/>
              </a:rPr>
              <a:t>次アクション:</a:t>
            </a:r>
            <a:r>
              <a:rPr sz="1400" b="0">
                <a:solidFill>
                  <a:srgbClr val="21252B"/>
                </a:solidFill>
                <a:latin typeface="Yu Gothic"/>
                <a:ea typeface="Yu Gothic"/>
              </a:rPr>
              <a:t>方向性ご合意のうえ、円谷プロ側への条件打診と概算見積の精査(2026年9月〜10月)、パイロット設計・施設選定(2026年11月〜)に着手し、2027年4月の実働開始に備えます。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371600"/>
            <a:ext cx="146304" cy="2286000"/>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25880"/>
            <a:ext cx="10058400" cy="2468880"/>
          </a:xfrm>
          <a:prstGeom prst="rect">
            <a:avLst/>
          </a:prstGeom>
          <a:noFill/>
        </p:spPr>
        <p:txBody>
          <a:bodyPr wrap="square" anchor="t" lIns="0" rIns="0" tIns="0" bIns="0">
            <a:spAutoFit/>
          </a:bodyPr>
          <a:lstStyle/>
          <a:p>
            <a:pPr algn="l">
              <a:spcAft>
                <a:spcPts val="1200"/>
              </a:spcAft>
            </a:pPr>
            <a:r>
              <a:rPr sz="1500" b="1">
                <a:solidFill>
                  <a:srgbClr val="8E949B"/>
                </a:solidFill>
                <a:latin typeface="Yu Gothic"/>
                <a:ea typeface="Yu Gothic"/>
              </a:rPr>
              <a:t>本企画の最終メッセージ</a:t>
            </a:r>
          </a:p>
          <a:p>
            <a:pPr algn="l">
              <a:spcAft>
                <a:spcPts val="1200"/>
              </a:spcAft>
            </a:pPr>
            <a:r>
              <a:rPr sz="2500" b="1">
                <a:solidFill>
                  <a:srgbClr val="FFFFFF"/>
                </a:solidFill>
                <a:latin typeface="Yu Gothic"/>
                <a:ea typeface="Yu Gothic"/>
              </a:rPr>
              <a:t>ウルトラマンでSoftBankを目立たせる企画ではない。</a:t>
            </a:r>
          </a:p>
          <a:p>
            <a:pPr algn="l">
              <a:spcAft>
                <a:spcPts val="1200"/>
              </a:spcAft>
            </a:pPr>
            <a:r>
              <a:rPr sz="2500" b="1">
                <a:solidFill>
                  <a:srgbClr val="FFFFFF"/>
                </a:solidFill>
                <a:latin typeface="Yu Gothic"/>
                <a:ea typeface="Yu Gothic"/>
              </a:rPr>
              <a:t>ウルトラマンを目的来館の核にして、商業施設に顧客を呼び込み、</a:t>
            </a:r>
          </a:p>
          <a:p>
            <a:pPr algn="l">
              <a:spcAft>
                <a:spcPts val="1200"/>
              </a:spcAft>
            </a:pPr>
            <a:r>
              <a:rPr sz="2500" b="1">
                <a:solidFill>
                  <a:srgbClr val="FFFFFF"/>
                </a:solidFill>
                <a:latin typeface="Yu Gothic"/>
                <a:ea typeface="Yu Gothic"/>
              </a:rPr>
              <a:t>SoftBankの店頭相談・BB・でんき・モバイル獲得へつなげる企画である。</a:t>
            </a:r>
          </a:p>
        </p:txBody>
      </p:sp>
      <p:sp>
        <p:nvSpPr>
          <p:cNvPr id="5" name="TextBox 4"/>
          <p:cNvSpPr txBox="1"/>
          <p:nvPr/>
        </p:nvSpPr>
        <p:spPr>
          <a:xfrm>
            <a:off x="1234440" y="4206240"/>
            <a:ext cx="9875520" cy="1463040"/>
          </a:xfrm>
          <a:prstGeom prst="rect">
            <a:avLst/>
          </a:prstGeom>
          <a:noFill/>
        </p:spPr>
        <p:txBody>
          <a:bodyPr wrap="square" anchor="t" lIns="0" rIns="0" tIns="0" bIns="0">
            <a:spAutoFit/>
          </a:bodyPr>
          <a:lstStyle/>
          <a:p>
            <a:pPr algn="l">
              <a:spcAft>
                <a:spcPts val="1000"/>
              </a:spcAft>
            </a:pPr>
            <a:r>
              <a:rPr sz="1450" b="0">
                <a:solidFill>
                  <a:srgbClr val="C3C9D2"/>
                </a:solidFill>
                <a:latin typeface="Yu Gothic"/>
                <a:ea typeface="Yu Gothic"/>
              </a:rPr>
              <a:t>現行IP施策との整合/FY27以降の課題/商業施設送客/コンシューマ事業への貢献 — すべてが一本につながります。</a:t>
            </a:r>
          </a:p>
          <a:p>
            <a:pPr algn="l">
              <a:spcAft>
                <a:spcPts val="1000"/>
              </a:spcAft>
            </a:pPr>
            <a:r>
              <a:rPr sz="1450" b="0">
                <a:solidFill>
                  <a:srgbClr val="C3C9D2"/>
                </a:solidFill>
                <a:latin typeface="Yu Gothic"/>
                <a:ea typeface="Yu Gothic"/>
              </a:rPr>
              <a:t>ご清聴ありがとうございました。</a:t>
            </a:r>
          </a:p>
        </p:txBody>
      </p:sp>
      <p:sp>
        <p:nvSpPr>
          <p:cNvPr id="6" name="Rectangle 5"/>
          <p:cNvSpPr/>
          <p:nvPr/>
        </p:nvSpPr>
        <p:spPr>
          <a:xfrm>
            <a:off x="0" y="6309360"/>
            <a:ext cx="12191695" cy="54864"/>
          </a:xfrm>
          <a:prstGeom prst="rect">
            <a:avLst/>
          </a:prstGeom>
          <a:solidFill>
            <a:srgbClr val="D60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