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良かった点</a:t>
            </a:r>
          </a:p>
          <a:p>
            <a:pPr algn="l">
              <a:spcAft>
                <a:spcPts val="400"/>
              </a:spcAft>
            </a:pPr>
            <a:r>
              <a:rPr sz="1100" b="0">
                <a:solidFill>
                  <a:srgbClr val="1A1A1A"/>
                </a:solidFill>
                <a:latin typeface="Meiryo"/>
                <a:ea typeface="Meiryo"/>
              </a:rPr>
              <a:t>・全7会場を予定どおり実施、各会場で安定した集客を確認</a:t>
            </a:r>
          </a:p>
          <a:p>
            <a:pPr algn="l">
              <a:spcAft>
                <a:spcPts val="400"/>
              </a:spcAft>
            </a:pPr>
            <a:r>
              <a:rPr sz="1100" b="0">
                <a:solidFill>
                  <a:srgbClr val="1A1A1A"/>
                </a:solidFill>
                <a:latin typeface="Meiryo"/>
                <a:ea typeface="Meiryo"/>
              </a:rPr>
              <a:t>・貴社側での会場設営・音響・整理券・告知素材の対応は本格実施でも活用可能</a:t>
            </a:r>
          </a:p>
          <a:p>
            <a:pPr algn="l">
              <a:spcAft>
                <a:spcPts val="400"/>
              </a:spcAft>
            </a:pPr>
            <a:r>
              <a:rPr sz="1100" b="0">
                <a:solidFill>
                  <a:srgbClr val="1A1A1A"/>
                </a:solidFill>
                <a:latin typeface="Meiryo"/>
                <a:ea typeface="Meiryo"/>
              </a:rPr>
              <a:t>・写真撮影会型(1回30分)の運用は、来場者の満足度・回転とも良好</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・各会場スタッフ様へのキャンペーン内容の事前共有(当日の問い合わせ対応のため)</a:t>
            </a:r>
          </a:p>
          <a:p>
            <a:pPr algn="l">
              <a:spcAft>
                <a:spcPts val="400"/>
              </a:spcAft>
            </a:pPr>
            <a:r>
              <a:rPr sz="1100" b="0">
                <a:solidFill>
                  <a:srgbClr val="1A1A1A"/>
                </a:solidFill>
                <a:latin typeface="Meiryo"/>
                <a:ea typeface="Meiryo"/>
              </a:rPr>
              <a:t>・当日ご担当者様の集合時間の厳守(搬入・設営の遅れ防止)</a:t>
            </a:r>
          </a:p>
          <a:p>
            <a:pPr algn="l">
              <a:spcAft>
                <a:spcPts val="400"/>
              </a:spcAft>
            </a:pPr>
            <a:r>
              <a:rPr sz="1100" b="0">
                <a:solidFill>
                  <a:srgbClr val="1A1A1A"/>
                </a:solidFill>
                <a:latin typeface="Meiryo"/>
                <a:ea typeface="Meiryo"/>
              </a:rPr>
              <a:t>・キャラクターグッズの扱い(販促物を展示装飾に転用しない等、使用ルールの徹底)</a:t>
            </a:r>
          </a:p>
          <a:p>
            <a:pPr algn="l">
              <a:spcAft>
                <a:spcPts val="400"/>
              </a:spcAft>
            </a:pPr>
            <a:r>
              <a:rPr sz="1100" b="0">
                <a:solidFill>
                  <a:srgbClr val="1A1A1A"/>
                </a:solidFill>
                <a:latin typeface="Meiryo"/>
                <a:ea typeface="Meiryo"/>
              </a:rPr>
              <a:t>・告知名称・ビジュアルの統一(会場ごとの表記ゆれの解消)</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本格実施に向けた整理</a:t>
            </a:r>
          </a:p>
          <a:p>
            <a:pPr algn="l">
              <a:spcAft>
                <a:spcPts val="400"/>
              </a:spcAft>
            </a:pPr>
            <a:r>
              <a:rPr sz="1150" b="0">
                <a:solidFill>
                  <a:srgbClr val="1A1A1A"/>
                </a:solidFill>
                <a:latin typeface="Meiryo"/>
                <a:ea typeface="Meiryo"/>
              </a:rPr>
              <a:t>・撮影会は1回30分×1日3〜4回(各50組)を基本とし、貴社店頭の来店動態に合わせて2案から選択</a:t>
            </a:r>
          </a:p>
          <a:p>
            <a:pPr algn="l">
              <a:spcAft>
                <a:spcPts val="400"/>
              </a:spcAft>
            </a:pPr>
            <a:r>
              <a:rPr sz="1150" b="0">
                <a:solidFill>
                  <a:srgbClr val="1A1A1A"/>
                </a:solidFill>
                <a:latin typeface="Meiryo"/>
                <a:ea typeface="Meiryo"/>
              </a:rPr>
              <a:t>・上記の改善点は、貴社内の取りまとめ窓口からの全会場一括展開(全店共通フォーマット)で解消可能と考えています</a:t>
            </a:r>
          </a:p>
          <a:p>
            <a:pPr algn="l">
              <a:spcAft>
                <a:spcPts val="400"/>
              </a:spcAft>
            </a:pPr>
            <a:r>
              <a:rPr sz="1150" b="0">
                <a:solidFill>
                  <a:srgbClr val="1A1A1A"/>
                </a:solidFill>
                <a:latin typeface="Meiryo"/>
                <a:ea typeface="Meiryo"/>
              </a:rPr>
              <a:t>・当社から運営マニュアル・初回レクチャーを提供し、全国どの会場でも同じ品質で実施できる体制を整えます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・貴社での運営が難しい会場向けに、当社が運営一式を手配するフル運営オプション(+22万円/日)を会場単位でご用意します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連絡体制と回答リードタイム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貴社の取りまとめ窓口と当社の総合窓口を1対1でつなぎ、当社内で用件別に振り分けます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sp>
        <p:nvSpPr>
          <p:cNvPr id="8" name="Rounded Rectangle 7"/>
          <p:cNvSpPr/>
          <p:nvPr/>
        </p:nvSpPr>
        <p:spPr>
          <a:xfrm>
            <a:off x="4023360" y="1463040"/>
            <a:ext cx="4114800" cy="640080"/>
          </a:xfrm>
          <a:prstGeom prst="roundRect">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46304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ソフトバンク様 取りまとめ窓口(1部署)</a:t>
            </a:r>
          </a:p>
        </p:txBody>
      </p:sp>
      <p:sp>
        <p:nvSpPr>
          <p:cNvPr id="10" name="TextBox 9"/>
          <p:cNvSpPr txBox="1"/>
          <p:nvPr/>
        </p:nvSpPr>
        <p:spPr>
          <a:xfrm>
            <a:off x="4023360" y="2148840"/>
            <a:ext cx="4114800" cy="320040"/>
          </a:xfrm>
          <a:prstGeom prst="rect">
            <a:avLst/>
          </a:prstGeom>
          <a:noFill/>
        </p:spPr>
        <p:txBody>
          <a:bodyPr wrap="square" anchor="t" lIns="0" rIns="0" tIns="0" bIns="0">
            <a:spAutoFit/>
          </a:bodyPr>
          <a:lstStyle/>
          <a:p>
            <a:pPr algn="ctr">
              <a:spcAft>
                <a:spcPts val="500"/>
              </a:spcAft>
            </a:pPr>
            <a:r>
              <a:rPr sz="1200" b="1">
                <a:solidFill>
                  <a:srgbClr val="5A626B"/>
                </a:solidFill>
                <a:latin typeface="Meiryo"/>
                <a:ea typeface="Meiryo"/>
              </a:rPr>
              <a:t>↓ 連絡　↑ 回答</a:t>
            </a:r>
          </a:p>
        </p:txBody>
      </p:sp>
      <p:sp>
        <p:nvSpPr>
          <p:cNvPr id="11" name="Rounded Rectangle 10"/>
          <p:cNvSpPr/>
          <p:nvPr/>
        </p:nvSpPr>
        <p:spPr>
          <a:xfrm>
            <a:off x="4023360" y="2468880"/>
            <a:ext cx="4114800" cy="640080"/>
          </a:xfrm>
          <a:prstGeom prst="roundRect">
            <a:avLst/>
          </a:prstGeom>
          <a:solidFill>
            <a:srgbClr val="1F33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0" y="246888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円谷プロ 総合窓口(専用メーリングリスト)</a:t>
            </a:r>
          </a:p>
        </p:txBody>
      </p:sp>
      <p:sp>
        <p:nvSpPr>
          <p:cNvPr id="13" name="TextBox 12"/>
          <p:cNvSpPr txBox="1"/>
          <p:nvPr/>
        </p:nvSpPr>
        <p:spPr>
          <a:xfrm>
            <a:off x="640080" y="3154680"/>
            <a:ext cx="10881360" cy="320040"/>
          </a:xfrm>
          <a:prstGeom prst="rect">
            <a:avLst/>
          </a:prstGeom>
          <a:noFill/>
        </p:spPr>
        <p:txBody>
          <a:bodyPr wrap="square" anchor="t" lIns="0" rIns="0" tIns="0" bIns="0">
            <a:spAutoFit/>
          </a:bodyPr>
          <a:lstStyle/>
          <a:p>
            <a:pPr algn="ctr">
              <a:spcAft>
                <a:spcPts val="500"/>
              </a:spcAft>
            </a:pPr>
            <a:r>
              <a:rPr sz="1100" b="0">
                <a:solidFill>
                  <a:srgbClr val="5A626B"/>
                </a:solidFill>
                <a:latin typeface="Meiryo"/>
                <a:ea typeface="Meiryo"/>
              </a:rPr>
              <a:t>当社内で用件別に振り分け</a:t>
            </a:r>
          </a:p>
        </p:txBody>
      </p:sp>
      <p:graphicFrame>
        <p:nvGraphicFramePr>
          <p:cNvPr id="14" name="Table 13"/>
          <p:cNvGraphicFramePr>
            <a:graphicFrameLocks noGrp="1"/>
          </p:cNvGraphicFramePr>
          <p:nvPr/>
        </p:nvGraphicFramePr>
        <p:xfrm>
          <a:off x="640080" y="3520440"/>
          <a:ext cx="10881360" cy="2514600"/>
        </p:xfrm>
        <a:graphic>
          <a:graphicData uri="http://schemas.openxmlformats.org/drawingml/2006/table">
            <a:tbl>
              <a:tblPr firstRow="1" bandRow="1">
                <a:tableStyleId>{5C22544A-7EE6-4342-B048-85BDC9FD1C3A}</a:tableStyleId>
              </a:tblPr>
              <a:tblGrid>
                <a:gridCol w="2020824"/>
                <a:gridCol w="5440680"/>
                <a:gridCol w="3419856"/>
              </a:tblGrid>
              <a:tr h="502920">
                <a:tc>
                  <a:txBody>
                    <a:bodyPr/>
                    <a:lstStyle/>
                    <a:p>
                      <a:r>
                        <a:rPr sz="1100" b="1">
                          <a:solidFill>
                            <a:srgbClr val="FFFFFF"/>
                          </a:solidFill>
                          <a:latin typeface="Meiryo"/>
                          <a:ea typeface="Meiryo"/>
                        </a:rPr>
                        <a:t>窓口</a:t>
                      </a:r>
                    </a:p>
                  </a:txBody>
                  <a:tcPr anchor="ctr" marL="73152" marR="73152">
                    <a:solidFill>
                      <a:srgbClr val="232278"/>
                    </a:solidFill>
                  </a:tcPr>
                </a:tc>
                <a:tc>
                  <a:txBody>
                    <a:bodyPr/>
                    <a:lstStyle/>
                    <a:p>
                      <a:r>
                        <a:rPr sz="1100" b="1">
                          <a:solidFill>
                            <a:srgbClr val="FFFFFF"/>
                          </a:solidFill>
                          <a:latin typeface="Meiryo"/>
                          <a:ea typeface="Meiryo"/>
                        </a:rPr>
                        <a:t>用件</a:t>
                      </a:r>
                    </a:p>
                  </a:txBody>
                  <a:tcPr anchor="ctr" marL="73152" marR="73152">
                    <a:solidFill>
                      <a:srgbClr val="232278"/>
                    </a:solidFill>
                  </a:tcPr>
                </a:tc>
                <a:tc>
                  <a:txBody>
                    <a:bodyPr/>
                    <a:lstStyle/>
                    <a:p>
                      <a:r>
                        <a:rPr sz="1100" b="1">
                          <a:solidFill>
                            <a:srgbClr val="FFFFFF"/>
                          </a:solidFill>
                          <a:latin typeface="Meiryo"/>
                          <a:ea typeface="Meiryo"/>
                        </a:rPr>
                        <a:t>回答の目安</a:t>
                      </a:r>
                    </a:p>
                  </a:txBody>
                  <a:tcPr anchor="ctr" marL="73152" marR="73152">
                    <a:solidFill>
                      <a:srgbClr val="232278"/>
                    </a:solidFill>
                  </a:tcPr>
                </a:tc>
              </a:tr>
              <a:tr h="502920">
                <a:tc>
                  <a:txBody>
                    <a:bodyPr/>
                    <a:lstStyle/>
                    <a:p>
                      <a:r>
                        <a:rPr sz="1100" b="1">
                          <a:solidFill>
                            <a:srgbClr val="1A1A1A"/>
                          </a:solidFill>
                          <a:latin typeface="Meiryo"/>
                          <a:ea typeface="Meiryo"/>
                        </a:rPr>
                        <a:t>① イベント実施</a:t>
                      </a:r>
                    </a:p>
                  </a:txBody>
                  <a:tcPr anchor="ctr" marL="73152" marR="73152">
                    <a:solidFill>
                      <a:srgbClr val="FFFFFF"/>
                    </a:solidFill>
                  </a:tcPr>
                </a:tc>
                <a:tc>
                  <a:txBody>
                    <a:bodyPr/>
                    <a:lstStyle/>
                    <a:p>
                      <a:r>
                        <a:rPr sz="1100" b="0">
                          <a:solidFill>
                            <a:srgbClr val="1A1A1A"/>
                          </a:solidFill>
                          <a:latin typeface="Meiryo"/>
                          <a:ea typeface="Meiryo"/>
                        </a:rPr>
                        <a:t>開催申請(エリア・会場・日程)のバッティング確認/実施確認書の確認</a:t>
                      </a:r>
                    </a:p>
                  </a:txBody>
                  <a:tcPr anchor="ctr" marL="73152" marR="73152">
                    <a:solidFill>
                      <a:srgbClr val="FFFFFF"/>
                    </a:solidFill>
                  </a:tcPr>
                </a:tc>
                <a:tc>
                  <a:txBody>
                    <a:bodyPr/>
                    <a:lstStyle/>
                    <a:p>
                      <a:r>
                        <a:rPr sz="1100" b="0">
                          <a:solidFill>
                            <a:srgbClr val="1A1A1A"/>
                          </a:solidFill>
                          <a:latin typeface="Meiryo"/>
                          <a:ea typeface="Meiryo"/>
                        </a:rPr>
                        <a:t>5営業日(前月1日までに確定)</a:t>
                      </a:r>
                    </a:p>
                  </a:txBody>
                  <a:tcPr anchor="ctr" marL="73152" marR="73152">
                    <a:solidFill>
                      <a:srgbClr val="FFFFFF"/>
                    </a:solidFill>
                  </a:tcPr>
                </a:tc>
              </a:tr>
              <a:tr h="502920">
                <a:tc>
                  <a:txBody>
                    <a:bodyPr/>
                    <a:lstStyle/>
                    <a:p>
                      <a:r>
                        <a:rPr sz="1100" b="1">
                          <a:solidFill>
                            <a:srgbClr val="1A1A1A"/>
                          </a:solidFill>
                          <a:latin typeface="Meiryo"/>
                          <a:ea typeface="Meiryo"/>
                        </a:rPr>
                        <a:t>② 告知物</a:t>
                      </a:r>
                    </a:p>
                  </a:txBody>
                  <a:tcPr anchor="ctr" marL="73152" marR="73152">
                    <a:solidFill>
                      <a:srgbClr val="F2F4F6"/>
                    </a:solidFill>
                  </a:tcPr>
                </a:tc>
                <a:tc>
                  <a:txBody>
                    <a:bodyPr/>
                    <a:lstStyle/>
                    <a:p>
                      <a:r>
                        <a:rPr sz="1100" b="0">
                          <a:solidFill>
                            <a:srgbClr val="1A1A1A"/>
                          </a:solidFill>
                          <a:latin typeface="Meiryo"/>
                          <a:ea typeface="Meiryo"/>
                        </a:rPr>
                        <a:t>告知物(KV・Web・チラシ等)の監修</a:t>
                      </a:r>
                    </a:p>
                  </a:txBody>
                  <a:tcPr anchor="ctr" marL="73152" marR="73152">
                    <a:solidFill>
                      <a:srgbClr val="F2F4F6"/>
                    </a:solidFill>
                  </a:tcPr>
                </a:tc>
                <a:tc>
                  <a:txBody>
                    <a:bodyPr/>
                    <a:lstStyle/>
                    <a:p>
                      <a:r>
                        <a:rPr sz="1100" b="0">
                          <a:solidFill>
                            <a:srgbClr val="1A1A1A"/>
                          </a:solidFill>
                          <a:latin typeface="Meiryo"/>
                          <a:ea typeface="Meiryo"/>
                        </a:rPr>
                        <a:t>KV 3営業日/Web流用 1〜2営業日/チラシ+色校 1〜2営業日</a:t>
                      </a:r>
                    </a:p>
                  </a:txBody>
                  <a:tcPr anchor="ctr" marL="73152" marR="73152">
                    <a:solidFill>
                      <a:srgbClr val="F2F4F6"/>
                    </a:solidFill>
                  </a:tcPr>
                </a:tc>
              </a:tr>
              <a:tr h="502920">
                <a:tc>
                  <a:txBody>
                    <a:bodyPr/>
                    <a:lstStyle/>
                    <a:p>
                      <a:r>
                        <a:rPr sz="1100" b="1">
                          <a:solidFill>
                            <a:srgbClr val="1A1A1A"/>
                          </a:solidFill>
                          <a:latin typeface="Meiryo"/>
                          <a:ea typeface="Meiryo"/>
                        </a:rPr>
                        <a:t>③ 制作物</a:t>
                      </a:r>
                    </a:p>
                  </a:txBody>
                  <a:tcPr anchor="ctr" marL="73152" marR="73152">
                    <a:solidFill>
                      <a:srgbClr val="FFFFFF"/>
                    </a:solidFill>
                  </a:tcPr>
                </a:tc>
                <a:tc>
                  <a:txBody>
                    <a:bodyPr/>
                    <a:lstStyle/>
                    <a:p>
                      <a:r>
                        <a:rPr sz="1100" b="0">
                          <a:solidFill>
                            <a:srgbClr val="1A1A1A"/>
                          </a:solidFill>
                          <a:latin typeface="Meiryo"/>
                          <a:ea typeface="Meiryo"/>
                        </a:rPr>
                        <a:t>仮申請(制作可否)/ノベルティ・キット・その他制作物のデザイン監修</a:t>
                      </a:r>
                    </a:p>
                  </a:txBody>
                  <a:tcPr anchor="ctr" marL="73152" marR="73152">
                    <a:solidFill>
                      <a:srgbClr val="FFFFFF"/>
                    </a:solidFill>
                  </a:tcPr>
                </a:tc>
                <a:tc>
                  <a:txBody>
                    <a:bodyPr/>
                    <a:lstStyle/>
                    <a:p>
                      <a:r>
                        <a:rPr sz="1100" b="0">
                          <a:solidFill>
                            <a:srgbClr val="1A1A1A"/>
                          </a:solidFill>
                          <a:latin typeface="Meiryo"/>
                          <a:ea typeface="Meiryo"/>
                        </a:rPr>
                        <a:t>仮申請 約5営業日/デザイン監修 5営業日</a:t>
                      </a:r>
                    </a:p>
                  </a:txBody>
                  <a:tcPr anchor="ctr" marL="73152" marR="73152">
                    <a:solidFill>
                      <a:srgbClr val="FFFFFF"/>
                    </a:solidFill>
                  </a:tcPr>
                </a:tc>
              </a:tr>
              <a:tr h="502920">
                <a:tc>
                  <a:txBody>
                    <a:bodyPr/>
                    <a:lstStyle/>
                    <a:p>
                      <a:r>
                        <a:rPr sz="1100" b="1">
                          <a:solidFill>
                            <a:srgbClr val="1A1A1A"/>
                          </a:solidFill>
                          <a:latin typeface="Meiryo"/>
                          <a:ea typeface="Meiryo"/>
                        </a:rPr>
                        <a:t>④ 契約・精算</a:t>
                      </a:r>
                    </a:p>
                  </a:txBody>
                  <a:tcPr anchor="ctr" marL="73152" marR="73152">
                    <a:solidFill>
                      <a:srgbClr val="F2F4F6"/>
                    </a:solidFill>
                  </a:tcPr>
                </a:tc>
                <a:tc>
                  <a:txBody>
                    <a:bodyPr/>
                    <a:lstStyle/>
                    <a:p>
                      <a:r>
                        <a:rPr sz="1100" b="0">
                          <a:solidFill>
                            <a:srgbClr val="1A1A1A"/>
                          </a:solidFill>
                          <a:latin typeface="Meiryo"/>
                          <a:ea typeface="Meiryo"/>
                        </a:rPr>
                        <a:t>発注・請求・最低保証の精算・実績報告</a:t>
                      </a:r>
                    </a:p>
                  </a:txBody>
                  <a:tcPr anchor="ctr" marL="73152" marR="73152">
                    <a:solidFill>
                      <a:srgbClr val="F2F4F6"/>
                    </a:solidFill>
                  </a:tcPr>
                </a:tc>
                <a:tc>
                  <a:txBody>
                    <a:bodyPr/>
                    <a:lstStyle/>
                    <a:p>
                      <a:r>
                        <a:rPr sz="1100" b="0">
                          <a:solidFill>
                            <a:srgbClr val="1A1A1A"/>
                          </a:solidFill>
                          <a:latin typeface="Meiryo"/>
                          <a:ea typeface="Meiryo"/>
                        </a:rPr>
                        <a:t>随時</a:t>
                      </a:r>
                    </a:p>
                  </a:txBody>
                  <a:tcPr anchor="ctr" marL="73152" marR="73152">
                    <a:solidFill>
                      <a:srgbClr val="F2F4F6"/>
                    </a:solidFill>
                  </a:tcPr>
                </a:tc>
              </a:tr>
            </a:tbl>
          </a:graphicData>
        </a:graphic>
      </p:graphicFrame>
      <p:sp>
        <p:nvSpPr>
          <p:cNvPr id="15" name="TextBox 14"/>
          <p:cNvSpPr txBox="1"/>
          <p:nvPr/>
        </p:nvSpPr>
        <p:spPr>
          <a:xfrm>
            <a:off x="640080" y="612648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当社側メーリングリストは契約締結後にご案内します。開催当日の緊急連絡は会場ごとの当社担当(チーフスタッフ)と貴社運営ディレクター間で直接行います。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2027年・2028年とも同パターン。2029年1〜3月は1月が最大20ライン、2〜3月は基準15ライン</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234日</a:t>
                      </a:r>
                    </a:p>
                  </a:txBody>
                  <a:tcPr anchor="ctr" marL="73152" marR="73152">
                    <a:solidFill>
                      <a:srgbClr val="FFFFFF"/>
                    </a:solidFill>
                  </a:tcPr>
                </a:tc>
                <a:tc>
                  <a:txBody>
                    <a:bodyPr/>
                    <a:lstStyle/>
                    <a:p>
                      <a:r>
                        <a:rPr sz="1150" b="0">
                          <a:solidFill>
                            <a:srgbClr val="1A1A1A"/>
                          </a:solidFill>
                          <a:latin typeface="Meiryo"/>
                          <a:ea typeface="Meiryo"/>
                        </a:rPr>
                        <a:t>3,510現場</a:t>
                      </a:r>
                    </a:p>
                  </a:txBody>
                  <a:tcPr anchor="ctr" marL="73152" marR="73152">
                    <a:solidFill>
                      <a:srgbClr val="FFFFFF"/>
                    </a:solidFill>
                  </a:tcPr>
                </a:tc>
                <a:tc>
                  <a:txBody>
                    <a:bodyPr/>
                    <a:lstStyle/>
                    <a:p>
                      <a:r>
                        <a:rPr sz="1150" b="1">
                          <a:solidFill>
                            <a:srgbClr val="1A1A1A"/>
                          </a:solidFill>
                          <a:latin typeface="Meiryo"/>
                          <a:ea typeface="Meiryo"/>
                        </a:rPr>
                        <a:t>3億5,100万円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234日</a:t>
                      </a:r>
                    </a:p>
                  </a:txBody>
                  <a:tcPr anchor="ctr" marL="73152" marR="73152">
                    <a:solidFill>
                      <a:srgbClr val="F2F4F6"/>
                    </a:solidFill>
                  </a:tcPr>
                </a:tc>
                <a:tc>
                  <a:txBody>
                    <a:bodyPr/>
                    <a:lstStyle/>
                    <a:p>
                      <a:r>
                        <a:rPr sz="1150" b="0">
                          <a:solidFill>
                            <a:srgbClr val="1A1A1A"/>
                          </a:solidFill>
                          <a:latin typeface="Meiryo"/>
                          <a:ea typeface="Meiryo"/>
                        </a:rPr>
                        <a:t>3,980現場</a:t>
                      </a:r>
                    </a:p>
                  </a:txBody>
                  <a:tcPr anchor="ctr" marL="73152" marR="73152">
                    <a:solidFill>
                      <a:srgbClr val="F2F4F6"/>
                    </a:solidFill>
                  </a:tcPr>
                </a:tc>
                <a:tc>
                  <a:txBody>
                    <a:bodyPr/>
                    <a:lstStyle/>
                    <a:p>
                      <a:r>
                        <a:rPr sz="1150" b="1">
                          <a:solidFill>
                            <a:srgbClr val="C00000"/>
                          </a:solidFill>
                          <a:latin typeface="Meiryo"/>
                          <a:ea typeface="Meiryo"/>
                        </a:rPr>
                        <a:t>3億9,800万円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キャンペーン名称・KVの策定(11月中)と素材の使い分け</a:t>
            </a:r>
          </a:p>
          <a:p>
            <a:pPr algn="l">
              <a:spcAft>
                <a:spcPts val="400"/>
              </a:spcAft>
            </a:pPr>
            <a:r>
              <a:rPr sz="1100" b="0">
                <a:solidFill>
                  <a:srgbClr val="1A1A1A"/>
                </a:solidFill>
                <a:latin typeface="Meiryo"/>
                <a:ea typeface="Meiryo"/>
              </a:rPr>
              <a:t>・KVは貴社にて制作(当社での制作受託も可能)。名称・KVを11月中に確定</a:t>
            </a:r>
          </a:p>
          <a:p>
            <a:pPr algn="l">
              <a:spcAft>
                <a:spcPts val="400"/>
              </a:spcAft>
            </a:pPr>
            <a:r>
              <a:rPr sz="1100" b="0">
                <a:solidFill>
                  <a:srgbClr val="1A1A1A"/>
                </a:solidFill>
                <a:latin typeface="Meiryo"/>
                <a:ea typeface="Meiryo"/>
              </a:rPr>
              <a:t>・撮影会の背景バナー:キャラクターなしの背景素材(青空/宇宙)を当社提供</a:t>
            </a:r>
          </a:p>
          <a:p>
            <a:pPr algn="l">
              <a:spcAft>
                <a:spcPts val="400"/>
              </a:spcAft>
            </a:pPr>
            <a:r>
              <a:rPr sz="1100" b="0">
                <a:solidFill>
                  <a:srgbClr val="1A1A1A"/>
                </a:solidFill>
                <a:latin typeface="Meiryo"/>
                <a:ea typeface="Meiryo"/>
              </a:rPr>
              <a:t>・会場装飾・告知物:集合ビジュアル(修正版を提供予定)・個体素材・ブランドロゴ</a:t>
            </a:r>
          </a:p>
          <a:p>
            <a:pPr algn="l">
              <a:spcAft>
                <a:spcPts val="400"/>
              </a:spcAft>
            </a:pPr>
            <a:r>
              <a:rPr sz="1100" b="0">
                <a:solidFill>
                  <a:srgbClr val="1A1A1A"/>
                </a:solidFill>
                <a:latin typeface="Meiryo"/>
                <a:ea typeface="Meiryo"/>
              </a:rPr>
              <a:t>・監修は当社「制作物」窓口へ。春節前量産(1月末)から逆算し11月中の確定が必要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仮申請フロー(別紙「仮申請のご案内」参照)</a:t>
            </a:r>
          </a:p>
          <a:p>
            <a:pPr algn="l">
              <a:spcAft>
                <a:spcPts val="400"/>
              </a:spcAft>
            </a:pPr>
            <a:r>
              <a:rPr sz="1100" b="0">
                <a:solidFill>
                  <a:srgbClr val="1A1A1A"/>
                </a:solidFill>
                <a:latin typeface="Meiryo"/>
                <a:ea typeface="Meiryo"/>
              </a:rPr>
              <a:t>・貴社ご担当者1名を事前登録→品目ごとに仮申請→約1週間で可否回答</a:t>
            </a:r>
          </a:p>
          <a:p>
            <a:pPr algn="l">
              <a:spcAft>
                <a:spcPts val="400"/>
              </a:spcAft>
            </a:pPr>
            <a:r>
              <a:rPr sz="1100" b="0">
                <a:solidFill>
                  <a:srgbClr val="1A1A1A"/>
                </a:solidFill>
                <a:latin typeface="Meiryo"/>
                <a:ea typeface="Meiryo"/>
              </a:rPr>
              <a:t>・入力項目:企画商品名(「ノベルティ ○○」表記)・キャラクター・商品カテゴリー</a:t>
            </a:r>
          </a:p>
          <a:p>
            <a:pPr algn="l">
              <a:spcAft>
                <a:spcPts val="400"/>
              </a:spcAft>
            </a:pPr>
            <a:r>
              <a:rPr sz="1100" b="0">
                <a:solidFill>
                  <a:srgbClr val="1A1A1A"/>
                </a:solidFill>
                <a:latin typeface="Meiryo"/>
                <a:ea typeface="Meiryo"/>
              </a:rPr>
              <a:t>　(配布物=1〜16/会場装飾=店舗備品)・製造原価単価・予定数量・材質・サイズ等</a:t>
            </a:r>
          </a:p>
          <a:p>
            <a:pPr algn="l">
              <a:spcAft>
                <a:spcPts val="400"/>
              </a:spcAft>
            </a:pPr>
            <a:r>
              <a:rPr sz="1100" b="0">
                <a:solidFill>
                  <a:srgbClr val="1A1A1A"/>
                </a:solidFill>
                <a:latin typeface="Meiryo"/>
                <a:ea typeface="Meiryo"/>
              </a:rPr>
              <a:t>・作成許諾ロイヤリティ:作成費用の20%(製造原価単価×数量が算定基礎)</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