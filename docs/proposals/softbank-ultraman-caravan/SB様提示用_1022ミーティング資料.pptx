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4300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05740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ウルトラソフトバンクフェス</a:t>
            </a:r>
          </a:p>
          <a:p>
            <a:pPr algn="ctr">
              <a:spcAft>
                <a:spcPts val="1000"/>
              </a:spcAft>
            </a:pPr>
            <a:r>
              <a:rPr sz="2600" b="1">
                <a:solidFill>
                  <a:srgbClr val="1A1A1A"/>
                </a:solidFill>
                <a:latin typeface="Meiryo"/>
                <a:ea typeface="Meiryo"/>
              </a:rPr>
              <a:t>本格実施に向けたご確認事項</a:t>
            </a:r>
          </a:p>
        </p:txBody>
      </p:sp>
      <p:sp>
        <p:nvSpPr>
          <p:cNvPr id="5" name="TextBox 4"/>
          <p:cNvSpPr txBox="1"/>
          <p:nvPr/>
        </p:nvSpPr>
        <p:spPr>
          <a:xfrm>
            <a:off x="4114800" y="384048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テストイベントの振り返り/役割分担/ご提供条件/今後の進め方</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2026年10月22日</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本日のアジェンダ</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本格実施のご判断に向けて、以下の4点を確認・確定させていただきたく存じます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graphicFrame>
        <p:nvGraphicFramePr>
          <p:cNvPr id="8" name="Table 7"/>
          <p:cNvGraphicFramePr>
            <a:graphicFrameLocks noGrp="1"/>
          </p:cNvGraphicFramePr>
          <p:nvPr/>
        </p:nvGraphicFramePr>
        <p:xfrm>
          <a:off x="640080" y="1463040"/>
          <a:ext cx="10881360" cy="3291839"/>
        </p:xfrm>
        <a:graphic>
          <a:graphicData uri="http://schemas.openxmlformats.org/drawingml/2006/table">
            <a:tbl>
              <a:tblPr firstRow="1" bandRow="1">
                <a:tableStyleId>{5C22544A-7EE6-4342-B048-85BDC9FD1C3A}</a:tableStyleId>
              </a:tblPr>
              <a:tblGrid>
                <a:gridCol w="3108960"/>
                <a:gridCol w="6606540"/>
                <a:gridCol w="1165860"/>
              </a:tblGrid>
              <a:tr h="658367">
                <a:tc>
                  <a:txBody>
                    <a:bodyPr/>
                    <a:lstStyle/>
                    <a:p>
                      <a:r>
                        <a:rPr sz="1250" b="1">
                          <a:solidFill>
                            <a:srgbClr val="FFFFFF"/>
                          </a:solidFill>
                          <a:latin typeface="Meiryo"/>
                          <a:ea typeface="Meiryo"/>
                        </a:rPr>
                        <a:t/>
                      </a:r>
                    </a:p>
                  </a:txBody>
                  <a:tcPr anchor="ctr" marL="73152" marR="73152">
                    <a:solidFill>
                      <a:srgbClr val="232278"/>
                    </a:solidFill>
                  </a:tcPr>
                </a:tc>
                <a:tc>
                  <a:txBody>
                    <a:bodyPr/>
                    <a:lstStyle/>
                    <a:p>
                      <a:r>
                        <a:rPr sz="1250" b="1">
                          <a:solidFill>
                            <a:srgbClr val="FFFFFF"/>
                          </a:solidFill>
                          <a:latin typeface="Meiryo"/>
                          <a:ea typeface="Meiryo"/>
                        </a:rPr>
                        <a:t>内容</a:t>
                      </a:r>
                    </a:p>
                  </a:txBody>
                  <a:tcPr anchor="ctr" marL="73152" marR="73152">
                    <a:solidFill>
                      <a:srgbClr val="232278"/>
                    </a:solidFill>
                  </a:tcPr>
                </a:tc>
                <a:tc>
                  <a:txBody>
                    <a:bodyPr/>
                    <a:lstStyle/>
                    <a:p>
                      <a:r>
                        <a:rPr sz="1250" b="1">
                          <a:solidFill>
                            <a:srgbClr val="FFFFFF"/>
                          </a:solidFill>
                          <a:latin typeface="Meiryo"/>
                          <a:ea typeface="Meiryo"/>
                        </a:rPr>
                        <a:t>目安</a:t>
                      </a:r>
                    </a:p>
                  </a:txBody>
                  <a:tcPr anchor="ctr" marL="73152" marR="73152">
                    <a:solidFill>
                      <a:srgbClr val="232278"/>
                    </a:solidFill>
                  </a:tcPr>
                </a:tc>
              </a:tr>
              <a:tr h="658367">
                <a:tc>
                  <a:txBody>
                    <a:bodyPr/>
                    <a:lstStyle/>
                    <a:p>
                      <a:r>
                        <a:rPr sz="1250" b="1">
                          <a:solidFill>
                            <a:srgbClr val="1A1A1A"/>
                          </a:solidFill>
                          <a:latin typeface="Meiryo"/>
                          <a:ea typeface="Meiryo"/>
                        </a:rPr>
                        <a:t>1. テストイベントの振り返り</a:t>
                      </a:r>
                    </a:p>
                  </a:txBody>
                  <a:tcPr anchor="ctr" marL="73152" marR="73152">
                    <a:solidFill>
                      <a:srgbClr val="FFFFFF"/>
                    </a:solidFill>
                  </a:tcPr>
                </a:tc>
                <a:tc>
                  <a:txBody>
                    <a:bodyPr/>
                    <a:lstStyle/>
                    <a:p>
                      <a:r>
                        <a:rPr sz="1250" b="0">
                          <a:solidFill>
                            <a:srgbClr val="1A1A1A"/>
                          </a:solidFill>
                          <a:latin typeface="Meiryo"/>
                          <a:ea typeface="Meiryo"/>
                        </a:rPr>
                        <a:t>7会場の実施結果と、本格実施に向けた改善ポイントの共有</a:t>
                      </a:r>
                    </a:p>
                  </a:txBody>
                  <a:tcPr anchor="ctr" marL="73152" marR="73152">
                    <a:solidFill>
                      <a:srgbClr val="FFFFFF"/>
                    </a:solidFill>
                  </a:tcPr>
                </a:tc>
                <a:tc>
                  <a:txBody>
                    <a:bodyPr/>
                    <a:lstStyle/>
                    <a:p>
                      <a:r>
                        <a:rPr sz="1250" b="0">
                          <a:solidFill>
                            <a:srgbClr val="1A1A1A"/>
                          </a:solidFill>
                          <a:latin typeface="Meiryo"/>
                          <a:ea typeface="Meiryo"/>
                        </a:rPr>
                        <a:t>10分</a:t>
                      </a:r>
                    </a:p>
                  </a:txBody>
                  <a:tcPr anchor="ctr" marL="73152" marR="73152">
                    <a:solidFill>
                      <a:srgbClr val="FFFFFF"/>
                    </a:solidFill>
                  </a:tcPr>
                </a:tc>
              </a:tr>
              <a:tr h="658367">
                <a:tc>
                  <a:txBody>
                    <a:bodyPr/>
                    <a:lstStyle/>
                    <a:p>
                      <a:r>
                        <a:rPr sz="1250" b="1">
                          <a:solidFill>
                            <a:srgbClr val="1A1A1A"/>
                          </a:solidFill>
                          <a:latin typeface="Meiryo"/>
                          <a:ea typeface="Meiryo"/>
                        </a:rPr>
                        <a:t>2. 本格実施の役割分担</a:t>
                      </a:r>
                    </a:p>
                  </a:txBody>
                  <a:tcPr anchor="ctr" marL="73152" marR="73152">
                    <a:solidFill>
                      <a:srgbClr val="F2F4F6"/>
                    </a:solidFill>
                  </a:tcPr>
                </a:tc>
                <a:tc>
                  <a:txBody>
                    <a:bodyPr/>
                    <a:lstStyle/>
                    <a:p>
                      <a:r>
                        <a:rPr sz="1250" b="0">
                          <a:solidFill>
                            <a:srgbClr val="1A1A1A"/>
                          </a:solidFill>
                          <a:latin typeface="Meiryo"/>
                          <a:ea typeface="Meiryo"/>
                        </a:rPr>
                        <a:t>当日運営の分担(当社2名派遣/貴社運営体制)と、申請・確認書のフローの確定</a:t>
                      </a:r>
                    </a:p>
                  </a:txBody>
                  <a:tcPr anchor="ctr" marL="73152" marR="73152">
                    <a:solidFill>
                      <a:srgbClr val="F2F4F6"/>
                    </a:solidFill>
                  </a:tcPr>
                </a:tc>
                <a:tc>
                  <a:txBody>
                    <a:bodyPr/>
                    <a:lstStyle/>
                    <a:p>
                      <a:r>
                        <a:rPr sz="1250" b="0">
                          <a:solidFill>
                            <a:srgbClr val="1A1A1A"/>
                          </a:solidFill>
                          <a:latin typeface="Meiryo"/>
                          <a:ea typeface="Meiryo"/>
                        </a:rPr>
                        <a:t>20分</a:t>
                      </a:r>
                    </a:p>
                  </a:txBody>
                  <a:tcPr anchor="ctr" marL="73152" marR="73152">
                    <a:solidFill>
                      <a:srgbClr val="F2F4F6"/>
                    </a:solidFill>
                  </a:tcPr>
                </a:tc>
              </a:tr>
              <a:tr h="658367">
                <a:tc>
                  <a:txBody>
                    <a:bodyPr/>
                    <a:lstStyle/>
                    <a:p>
                      <a:r>
                        <a:rPr sz="1250" b="1">
                          <a:solidFill>
                            <a:srgbClr val="1A1A1A"/>
                          </a:solidFill>
                          <a:latin typeface="Meiryo"/>
                          <a:ea typeface="Meiryo"/>
                        </a:rPr>
                        <a:t>3. ご提供条件</a:t>
                      </a:r>
                    </a:p>
                  </a:txBody>
                  <a:tcPr anchor="ctr" marL="73152" marR="73152">
                    <a:solidFill>
                      <a:srgbClr val="FFFFFF"/>
                    </a:solidFill>
                  </a:tcPr>
                </a:tc>
                <a:tc>
                  <a:txBody>
                    <a:bodyPr/>
                    <a:lstStyle/>
                    <a:p>
                      <a:r>
                        <a:rPr sz="1250" b="0">
                          <a:solidFill>
                            <a:srgbClr val="1A1A1A"/>
                          </a:solidFill>
                          <a:latin typeface="Meiryo"/>
                          <a:ea typeface="Meiryo"/>
                        </a:rPr>
                        <a:t>ソフトバンク様特別プランの価格、最低開催数保証、ライン供給計画、実施条件</a:t>
                      </a:r>
                    </a:p>
                  </a:txBody>
                  <a:tcPr anchor="ctr" marL="73152" marR="73152">
                    <a:solidFill>
                      <a:srgbClr val="FFFFFF"/>
                    </a:solidFill>
                  </a:tcPr>
                </a:tc>
                <a:tc>
                  <a:txBody>
                    <a:bodyPr/>
                    <a:lstStyle/>
                    <a:p>
                      <a:r>
                        <a:rPr sz="1250" b="0">
                          <a:solidFill>
                            <a:srgbClr val="1A1A1A"/>
                          </a:solidFill>
                          <a:latin typeface="Meiryo"/>
                          <a:ea typeface="Meiryo"/>
                        </a:rPr>
                        <a:t>20分</a:t>
                      </a:r>
                    </a:p>
                  </a:txBody>
                  <a:tcPr anchor="ctr" marL="73152" marR="73152">
                    <a:solidFill>
                      <a:srgbClr val="FFFFFF"/>
                    </a:solidFill>
                  </a:tcPr>
                </a:tc>
              </a:tr>
              <a:tr h="658371">
                <a:tc>
                  <a:txBody>
                    <a:bodyPr/>
                    <a:lstStyle/>
                    <a:p>
                      <a:r>
                        <a:rPr sz="1250" b="1">
                          <a:solidFill>
                            <a:srgbClr val="1A1A1A"/>
                          </a:solidFill>
                          <a:latin typeface="Meiryo"/>
                          <a:ea typeface="Meiryo"/>
                        </a:rPr>
                        <a:t>4. 今後の進め方</a:t>
                      </a:r>
                    </a:p>
                  </a:txBody>
                  <a:tcPr anchor="ctr" marL="73152" marR="73152">
                    <a:solidFill>
                      <a:srgbClr val="F2F4F6"/>
                    </a:solidFill>
                  </a:tcPr>
                </a:tc>
                <a:tc>
                  <a:txBody>
                    <a:bodyPr/>
                    <a:lstStyle/>
                    <a:p>
                      <a:r>
                        <a:rPr sz="1250" b="0">
                          <a:solidFill>
                            <a:srgbClr val="1A1A1A"/>
                          </a:solidFill>
                          <a:latin typeface="Meiryo"/>
                          <a:ea typeface="Meiryo"/>
                        </a:rPr>
                        <a:t>キャンペーン名称・ビジュアルの策定、契約手続き、スケジュール</a:t>
                      </a:r>
                    </a:p>
                  </a:txBody>
                  <a:tcPr anchor="ctr" marL="73152" marR="73152">
                    <a:solidFill>
                      <a:srgbClr val="F2F4F6"/>
                    </a:solidFill>
                  </a:tcPr>
                </a:tc>
                <a:tc>
                  <a:txBody>
                    <a:bodyPr/>
                    <a:lstStyle/>
                    <a:p>
                      <a:r>
                        <a:rPr sz="1250" b="0">
                          <a:solidFill>
                            <a:srgbClr val="1A1A1A"/>
                          </a:solidFill>
                          <a:latin typeface="Meiryo"/>
                          <a:ea typeface="Meiryo"/>
                        </a:rPr>
                        <a:t>10分</a:t>
                      </a:r>
                    </a:p>
                  </a:txBody>
                  <a:tcPr anchor="ctr" marL="73152" marR="73152">
                    <a:solidFill>
                      <a:srgbClr val="F2F4F6"/>
                    </a:solidFill>
                  </a:tcPr>
                </a:tc>
              </a:tr>
            </a:tbl>
          </a:graphicData>
        </a:graphic>
      </p:graphicFrame>
      <p:sp>
        <p:nvSpPr>
          <p:cNvPr id="9" name="Rounded Rectangle 8"/>
          <p:cNvSpPr/>
          <p:nvPr/>
        </p:nvSpPr>
        <p:spPr>
          <a:xfrm>
            <a:off x="640080" y="4846320"/>
            <a:ext cx="10881360" cy="109728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983480"/>
            <a:ext cx="10332720" cy="914400"/>
          </a:xfrm>
          <a:prstGeom prst="rect">
            <a:avLst/>
          </a:prstGeom>
          <a:noFill/>
        </p:spPr>
        <p:txBody>
          <a:bodyPr wrap="square" anchor="t" lIns="0" rIns="0" tIns="0" bIns="0">
            <a:spAutoFit/>
          </a:bodyPr>
          <a:lstStyle/>
          <a:p>
            <a:pPr algn="l">
              <a:spcAft>
                <a:spcPts val="500"/>
              </a:spcAft>
            </a:pPr>
            <a:r>
              <a:rPr sz="1300" b="1">
                <a:solidFill>
                  <a:srgbClr val="C00000"/>
                </a:solidFill>
                <a:latin typeface="Meiryo"/>
                <a:ea typeface="Meiryo"/>
              </a:rPr>
              <a:t>本日のゴール</a:t>
            </a:r>
          </a:p>
          <a:p>
            <a:pPr algn="l">
              <a:spcAft>
                <a:spcPts val="500"/>
              </a:spcAft>
            </a:pPr>
            <a:r>
              <a:rPr sz="1200" b="0">
                <a:solidFill>
                  <a:srgbClr val="1A1A1A"/>
                </a:solidFill>
                <a:latin typeface="Meiryo"/>
                <a:ea typeface="Meiryo"/>
              </a:rPr>
              <a:t>・本格実施のご意思確認　・役割分担の確定　・11月末までのご契約スケジュールの合意　・キャンペーン名称・ビジュアル策定打ち合わせの日程確定</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1. テストイベントの振り返り</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2026年9〜10月・神奈川県内7会場(写真撮影会型5・ステージショー型2)の実施を踏まえて</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sp>
        <p:nvSpPr>
          <p:cNvPr id="8" name="Rounded Rectangle 7"/>
          <p:cNvSpPr/>
          <p:nvPr/>
        </p:nvSpPr>
        <p:spPr>
          <a:xfrm>
            <a:off x="64008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良かった点</a:t>
            </a:r>
          </a:p>
          <a:p>
            <a:pPr algn="l">
              <a:spcAft>
                <a:spcPts val="400"/>
              </a:spcAft>
            </a:pPr>
            <a:r>
              <a:rPr sz="1100" b="0">
                <a:solidFill>
                  <a:srgbClr val="1A1A1A"/>
                </a:solidFill>
                <a:latin typeface="Meiryo"/>
                <a:ea typeface="Meiryo"/>
              </a:rPr>
              <a:t>・全7会場を予定どおり実施、各会場で安定した集客を確認</a:t>
            </a:r>
          </a:p>
          <a:p>
            <a:pPr algn="l">
              <a:spcAft>
                <a:spcPts val="400"/>
              </a:spcAft>
            </a:pPr>
            <a:r>
              <a:rPr sz="1100" b="0">
                <a:solidFill>
                  <a:srgbClr val="1A1A1A"/>
                </a:solidFill>
                <a:latin typeface="Meiryo"/>
                <a:ea typeface="Meiryo"/>
              </a:rPr>
              <a:t>・貴社側での会場設営・音響・整理券・告知素材の対応は本格実施でも活用可能</a:t>
            </a:r>
          </a:p>
          <a:p>
            <a:pPr algn="l">
              <a:spcAft>
                <a:spcPts val="400"/>
              </a:spcAft>
            </a:pPr>
            <a:r>
              <a:rPr sz="1100" b="0">
                <a:solidFill>
                  <a:srgbClr val="1A1A1A"/>
                </a:solidFill>
                <a:latin typeface="Meiryo"/>
                <a:ea typeface="Meiryo"/>
              </a:rPr>
              <a:t>・写真撮影会型(1回30分)の運用は、来場者の満足度・回転とも良好</a:t>
            </a:r>
          </a:p>
        </p:txBody>
      </p:sp>
      <p:sp>
        <p:nvSpPr>
          <p:cNvPr id="10" name="Rounded Rectangle 9"/>
          <p:cNvSpPr/>
          <p:nvPr/>
        </p:nvSpPr>
        <p:spPr>
          <a:xfrm>
            <a:off x="6217920" y="1463040"/>
            <a:ext cx="5303520" cy="219456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193852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改善をお願いしたい点</a:t>
            </a:r>
          </a:p>
          <a:p>
            <a:pPr algn="l">
              <a:spcAft>
                <a:spcPts val="400"/>
              </a:spcAft>
            </a:pPr>
            <a:r>
              <a:rPr sz="1100" b="0">
                <a:solidFill>
                  <a:srgbClr val="1A1A1A"/>
                </a:solidFill>
                <a:latin typeface="Meiryo"/>
                <a:ea typeface="Meiryo"/>
              </a:rPr>
              <a:t>・各会場スタッフ様へのキャンペーン内容の事前共有(当日の問い合わせ対応のため)</a:t>
            </a:r>
          </a:p>
          <a:p>
            <a:pPr algn="l">
              <a:spcAft>
                <a:spcPts val="400"/>
              </a:spcAft>
            </a:pPr>
            <a:r>
              <a:rPr sz="1100" b="0">
                <a:solidFill>
                  <a:srgbClr val="1A1A1A"/>
                </a:solidFill>
                <a:latin typeface="Meiryo"/>
                <a:ea typeface="Meiryo"/>
              </a:rPr>
              <a:t>・当日ご担当者様の集合時間の厳守(搬入・設営の遅れ防止)</a:t>
            </a:r>
          </a:p>
          <a:p>
            <a:pPr algn="l">
              <a:spcAft>
                <a:spcPts val="400"/>
              </a:spcAft>
            </a:pPr>
            <a:r>
              <a:rPr sz="1100" b="0">
                <a:solidFill>
                  <a:srgbClr val="1A1A1A"/>
                </a:solidFill>
                <a:latin typeface="Meiryo"/>
                <a:ea typeface="Meiryo"/>
              </a:rPr>
              <a:t>・キャラクターグッズの扱い(販促物を展示装飾に転用しない等、使用ルールの徹底)</a:t>
            </a:r>
          </a:p>
          <a:p>
            <a:pPr algn="l">
              <a:spcAft>
                <a:spcPts val="400"/>
              </a:spcAft>
            </a:pPr>
            <a:r>
              <a:rPr sz="1100" b="0">
                <a:solidFill>
                  <a:srgbClr val="1A1A1A"/>
                </a:solidFill>
                <a:latin typeface="Meiryo"/>
                <a:ea typeface="Meiryo"/>
              </a:rPr>
              <a:t>・告知名称・ビジュアルの統一(会場ごとの表記ゆれの解消)</a:t>
            </a:r>
          </a:p>
        </p:txBody>
      </p:sp>
      <p:sp>
        <p:nvSpPr>
          <p:cNvPr id="12" name="Rounded Rectangle 11"/>
          <p:cNvSpPr/>
          <p:nvPr/>
        </p:nvSpPr>
        <p:spPr>
          <a:xfrm>
            <a:off x="640080" y="3886200"/>
            <a:ext cx="1088136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14216"/>
            <a:ext cx="1042416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本格実施に向けた整理</a:t>
            </a:r>
          </a:p>
          <a:p>
            <a:pPr algn="l">
              <a:spcAft>
                <a:spcPts val="400"/>
              </a:spcAft>
            </a:pPr>
            <a:r>
              <a:rPr sz="1150" b="0">
                <a:solidFill>
                  <a:srgbClr val="1A1A1A"/>
                </a:solidFill>
                <a:latin typeface="Meiryo"/>
                <a:ea typeface="Meiryo"/>
              </a:rPr>
              <a:t>・撮影会は1回30分×1日3〜4回(各50組)を基本とし、貴社店頭の来店動態に合わせて2案から選択</a:t>
            </a:r>
          </a:p>
          <a:p>
            <a:pPr algn="l">
              <a:spcAft>
                <a:spcPts val="400"/>
              </a:spcAft>
            </a:pPr>
            <a:r>
              <a:rPr sz="1150" b="0">
                <a:solidFill>
                  <a:srgbClr val="1A1A1A"/>
                </a:solidFill>
                <a:latin typeface="Meiryo"/>
                <a:ea typeface="Meiryo"/>
              </a:rPr>
              <a:t>・上記の改善点は、貴社内の取りまとめ窓口からの全会場一括展開(全店共通フォーマット)で解消可能と考えています</a:t>
            </a:r>
          </a:p>
          <a:p>
            <a:pPr algn="l">
              <a:spcAft>
                <a:spcPts val="400"/>
              </a:spcAft>
            </a:pPr>
            <a:r>
              <a:rPr sz="1150" b="0">
                <a:solidFill>
                  <a:srgbClr val="1A1A1A"/>
                </a:solidFill>
                <a:latin typeface="Meiryo"/>
                <a:ea typeface="Meiryo"/>
              </a:rPr>
              <a:t>・当社から運営マニュアル・初回レクチャーを提供し、全国どの会場でも同じ品質で実施できる体制を整えます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本格実施の役割分担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当社はキャラクター稼働パート(2名)、貴社は会場運営パート(運営ディレクター1名+運営スタッフ4名)をご担当いただきます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graphicFrame>
        <p:nvGraphicFramePr>
          <p:cNvPr id="8" name="Table 7"/>
          <p:cNvGraphicFramePr>
            <a:graphicFrameLocks noGrp="1"/>
          </p:cNvGraphicFramePr>
          <p:nvPr/>
        </p:nvGraphicFramePr>
        <p:xfrm>
          <a:off x="640080" y="1417320"/>
          <a:ext cx="10881359" cy="3803904"/>
        </p:xfrm>
        <a:graphic>
          <a:graphicData uri="http://schemas.openxmlformats.org/drawingml/2006/table">
            <a:tbl>
              <a:tblPr firstRow="1" bandRow="1">
                <a:tableStyleId>{5C22544A-7EE6-4342-B048-85BDC9FD1C3A}</a:tableStyleId>
              </a:tblPr>
              <a:tblGrid>
                <a:gridCol w="2675744"/>
                <a:gridCol w="4637956"/>
                <a:gridCol w="3567659"/>
              </a:tblGrid>
              <a:tr h="475488">
                <a:tc>
                  <a:txBody>
                    <a:bodyPr/>
                    <a:lstStyle/>
                    <a:p>
                      <a:r>
                        <a:rPr sz="1100" b="1">
                          <a:solidFill>
                            <a:srgbClr val="FFFFFF"/>
                          </a:solidFill>
                          <a:latin typeface="Meiryo"/>
                          <a:ea typeface="Meiryo"/>
                        </a:rPr>
                        <a:t>役割</a:t>
                      </a:r>
                    </a:p>
                  </a:txBody>
                  <a:tcPr anchor="ctr" marL="73152" marR="73152">
                    <a:solidFill>
                      <a:srgbClr val="232278"/>
                    </a:solidFill>
                  </a:tcPr>
                </a:tc>
                <a:tc>
                  <a:txBody>
                    <a:bodyPr/>
                    <a:lstStyle/>
                    <a:p>
                      <a:r>
                        <a:rPr sz="1100" b="1">
                          <a:solidFill>
                            <a:srgbClr val="FFFFFF"/>
                          </a:solidFill>
                          <a:latin typeface="Meiryo"/>
                          <a:ea typeface="Meiryo"/>
                        </a:rPr>
                        <a:t>撮影会中</a:t>
                      </a:r>
                    </a:p>
                  </a:txBody>
                  <a:tcPr anchor="ctr" marL="73152" marR="73152">
                    <a:solidFill>
                      <a:srgbClr val="232278"/>
                    </a:solidFill>
                  </a:tcPr>
                </a:tc>
                <a:tc>
                  <a:txBody>
                    <a:bodyPr/>
                    <a:lstStyle/>
                    <a:p>
                      <a:r>
                        <a:rPr sz="1100" b="1">
                          <a:solidFill>
                            <a:srgbClr val="FFFFFF"/>
                          </a:solidFill>
                          <a:latin typeface="Meiryo"/>
                          <a:ea typeface="Meiryo"/>
                        </a:rPr>
                        <a:t>撮影会の合間・開始前</a:t>
                      </a:r>
                    </a:p>
                  </a:txBody>
                  <a:tcPr anchor="ctr" marL="73152" marR="73152">
                    <a:solidFill>
                      <a:srgbClr val="232278"/>
                    </a:solidFill>
                  </a:tcPr>
                </a:tc>
              </a:tr>
              <a:tr h="475488">
                <a:tc>
                  <a:txBody>
                    <a:bodyPr/>
                    <a:lstStyle/>
                    <a:p>
                      <a:r>
                        <a:rPr sz="1100" b="1">
                          <a:solidFill>
                            <a:srgbClr val="232278"/>
                          </a:solidFill>
                          <a:latin typeface="Meiryo"/>
                          <a:ea typeface="Meiryo"/>
                        </a:rPr>
                        <a:t>当社:担当(チーフスタッフ)</a:t>
                      </a:r>
                    </a:p>
                  </a:txBody>
                  <a:tcPr anchor="ctr" marL="73152" marR="73152">
                    <a:solidFill>
                      <a:srgbClr val="FFFFFF"/>
                    </a:solidFill>
                  </a:tcPr>
                </a:tc>
                <a:tc>
                  <a:txBody>
                    <a:bodyPr/>
                    <a:lstStyle/>
                    <a:p>
                      <a:r>
                        <a:rPr sz="1100" b="0">
                          <a:solidFill>
                            <a:srgbClr val="1A1A1A"/>
                          </a:solidFill>
                          <a:latin typeface="Meiryo"/>
                          <a:ea typeface="Meiryo"/>
                        </a:rPr>
                        <a:t>キャラクター稼働の統括、着脱補助・スーツメンテナンス、ヒーロー前のお客様対応</a:t>
                      </a:r>
                    </a:p>
                  </a:txBody>
                  <a:tcPr anchor="ctr" marL="73152" marR="73152">
                    <a:solidFill>
                      <a:srgbClr val="FFFFFF"/>
                    </a:solidFill>
                  </a:tcPr>
                </a:tc>
                <a:tc>
                  <a:txBody>
                    <a:bodyPr/>
                    <a:lstStyle/>
                    <a:p>
                      <a:r>
                        <a:rPr sz="1100" b="0">
                          <a:solidFill>
                            <a:srgbClr val="1A1A1A"/>
                          </a:solidFill>
                          <a:latin typeface="Meiryo"/>
                          <a:ea typeface="Meiryo"/>
                        </a:rPr>
                        <a:t>スーツメンテナンス、貴社ディレクターとの進行確認</a:t>
                      </a:r>
                    </a:p>
                  </a:txBody>
                  <a:tcPr anchor="ctr" marL="73152" marR="73152">
                    <a:solidFill>
                      <a:srgbClr val="FFFFFF"/>
                    </a:solidFill>
                  </a:tcPr>
                </a:tc>
              </a:tr>
              <a:tr h="475488">
                <a:tc>
                  <a:txBody>
                    <a:bodyPr/>
                    <a:lstStyle/>
                    <a:p>
                      <a:r>
                        <a:rPr sz="1100" b="1">
                          <a:solidFill>
                            <a:srgbClr val="232278"/>
                          </a:solidFill>
                          <a:latin typeface="Meiryo"/>
                          <a:ea typeface="Meiryo"/>
                        </a:rPr>
                        <a:t>当社:スーツアクター</a:t>
                      </a:r>
                    </a:p>
                  </a:txBody>
                  <a:tcPr anchor="ctr" marL="73152" marR="73152">
                    <a:solidFill>
                      <a:srgbClr val="F2F4F6"/>
                    </a:solidFill>
                  </a:tcPr>
                </a:tc>
                <a:tc>
                  <a:txBody>
                    <a:bodyPr/>
                    <a:lstStyle/>
                    <a:p>
                      <a:r>
                        <a:rPr sz="1100" b="0">
                          <a:solidFill>
                            <a:srgbClr val="1A1A1A"/>
                          </a:solidFill>
                          <a:latin typeface="Meiryo"/>
                          <a:ea typeface="Meiryo"/>
                        </a:rPr>
                        <a:t>キャラクター出演・ポージング(1回30分×最大5回)</a:t>
                      </a:r>
                    </a:p>
                  </a:txBody>
                  <a:tcPr anchor="ctr" marL="73152" marR="73152">
                    <a:solidFill>
                      <a:srgbClr val="F2F4F6"/>
                    </a:solidFill>
                  </a:tcPr>
                </a:tc>
                <a:tc>
                  <a:txBody>
                    <a:bodyPr/>
                    <a:lstStyle/>
                    <a:p>
                      <a:r>
                        <a:rPr sz="1100" b="0">
                          <a:solidFill>
                            <a:srgbClr val="1A1A1A"/>
                          </a:solidFill>
                          <a:latin typeface="Meiryo"/>
                          <a:ea typeface="Meiryo"/>
                        </a:rPr>
                        <a:t>メンテナンス休憩</a:t>
                      </a:r>
                    </a:p>
                  </a:txBody>
                  <a:tcPr anchor="ctr" marL="73152" marR="73152">
                    <a:solidFill>
                      <a:srgbClr val="F2F4F6"/>
                    </a:solidFill>
                  </a:tcPr>
                </a:tc>
              </a:tr>
              <a:tr h="475488">
                <a:tc>
                  <a:txBody>
                    <a:bodyPr/>
                    <a:lstStyle/>
                    <a:p>
                      <a:r>
                        <a:rPr sz="1100" b="1">
                          <a:solidFill>
                            <a:srgbClr val="1A1A1A"/>
                          </a:solidFill>
                          <a:latin typeface="Meiryo"/>
                          <a:ea typeface="Meiryo"/>
                        </a:rPr>
                        <a:t>貴社:運営ディレクター</a:t>
                      </a:r>
                    </a:p>
                  </a:txBody>
                  <a:tcPr anchor="ctr" marL="73152" marR="73152">
                    <a:solidFill>
                      <a:srgbClr val="FFFFFF"/>
                    </a:solidFill>
                  </a:tcPr>
                </a:tc>
                <a:tc>
                  <a:txBody>
                    <a:bodyPr/>
                    <a:lstStyle/>
                    <a:p>
                      <a:r>
                        <a:rPr sz="1100" b="0">
                          <a:solidFill>
                            <a:srgbClr val="1A1A1A"/>
                          </a:solidFill>
                          <a:latin typeface="Meiryo"/>
                          <a:ea typeface="Meiryo"/>
                        </a:rPr>
                        <a:t>全体管理、音響機材のセット・音出し、館管理者との対応、会場周辺のお客様誘導</a:t>
                      </a:r>
                    </a:p>
                  </a:txBody>
                  <a:tcPr anchor="ctr" marL="73152" marR="73152">
                    <a:solidFill>
                      <a:srgbClr val="FFFFFF"/>
                    </a:solidFill>
                  </a:tcPr>
                </a:tc>
                <a:tc>
                  <a:txBody>
                    <a:bodyPr/>
                    <a:lstStyle/>
                    <a:p>
                      <a:r>
                        <a:rPr sz="1100" b="0">
                          <a:solidFill>
                            <a:srgbClr val="1A1A1A"/>
                          </a:solidFill>
                          <a:latin typeface="Meiryo"/>
                          <a:ea typeface="Meiryo"/>
                        </a:rPr>
                        <a:t>会場づくり、お客様対応</a:t>
                      </a:r>
                    </a:p>
                  </a:txBody>
                  <a:tcPr anchor="ctr" marL="73152" marR="73152">
                    <a:solidFill>
                      <a:srgbClr val="FFFFFF"/>
                    </a:solidFill>
                  </a:tcPr>
                </a:tc>
              </a:tr>
              <a:tr h="475488">
                <a:tc>
                  <a:txBody>
                    <a:bodyPr/>
                    <a:lstStyle/>
                    <a:p>
                      <a:r>
                        <a:rPr sz="1100" b="1">
                          <a:solidFill>
                            <a:srgbClr val="1A1A1A"/>
                          </a:solidFill>
                          <a:latin typeface="Meiryo"/>
                          <a:ea typeface="Meiryo"/>
                        </a:rPr>
                        <a:t>貴社:スタッフ1</a:t>
                      </a:r>
                    </a:p>
                  </a:txBody>
                  <a:tcPr anchor="ctr" marL="73152" marR="73152">
                    <a:solidFill>
                      <a:srgbClr val="F2F4F6"/>
                    </a:solidFill>
                  </a:tcPr>
                </a:tc>
                <a:tc>
                  <a:txBody>
                    <a:bodyPr/>
                    <a:lstStyle/>
                    <a:p>
                      <a:r>
                        <a:rPr sz="1100" b="0">
                          <a:solidFill>
                            <a:srgbClr val="1A1A1A"/>
                          </a:solidFill>
                          <a:latin typeface="Meiryo"/>
                          <a:ea typeface="Meiryo"/>
                        </a:rPr>
                        <a:t>待機列の先頭</a:t>
                      </a:r>
                    </a:p>
                  </a:txBody>
                  <a:tcPr anchor="ctr" marL="73152" marR="73152">
                    <a:solidFill>
                      <a:srgbClr val="F2F4F6"/>
                    </a:solidFill>
                  </a:tcPr>
                </a:tc>
                <a:tc>
                  <a:txBody>
                    <a:bodyPr/>
                    <a:lstStyle/>
                    <a:p>
                      <a:r>
                        <a:rPr sz="1100" b="0">
                          <a:solidFill>
                            <a:srgbClr val="1A1A1A"/>
                          </a:solidFill>
                          <a:latin typeface="Meiryo"/>
                          <a:ea typeface="Meiryo"/>
                        </a:rPr>
                        <a:t>会場づくり、整理券配布</a:t>
                      </a:r>
                    </a:p>
                  </a:txBody>
                  <a:tcPr anchor="ctr" marL="73152" marR="73152">
                    <a:solidFill>
                      <a:srgbClr val="F2F4F6"/>
                    </a:solidFill>
                  </a:tcPr>
                </a:tc>
              </a:tr>
              <a:tr h="475488">
                <a:tc>
                  <a:txBody>
                    <a:bodyPr/>
                    <a:lstStyle/>
                    <a:p>
                      <a:r>
                        <a:rPr sz="1100" b="1">
                          <a:solidFill>
                            <a:srgbClr val="1A1A1A"/>
                          </a:solidFill>
                          <a:latin typeface="Meiryo"/>
                          <a:ea typeface="Meiryo"/>
                        </a:rPr>
                        <a:t>貴社:スタッフ2</a:t>
                      </a:r>
                    </a:p>
                  </a:txBody>
                  <a:tcPr anchor="ctr" marL="73152" marR="73152">
                    <a:solidFill>
                      <a:srgbClr val="FFFFFF"/>
                    </a:solidFill>
                  </a:tcPr>
                </a:tc>
                <a:tc>
                  <a:txBody>
                    <a:bodyPr/>
                    <a:lstStyle/>
                    <a:p>
                      <a:r>
                        <a:rPr sz="1100" b="0">
                          <a:solidFill>
                            <a:srgbClr val="1A1A1A"/>
                          </a:solidFill>
                          <a:latin typeface="Meiryo"/>
                          <a:ea typeface="Meiryo"/>
                        </a:rPr>
                        <a:t>出口での送り出し</a:t>
                      </a:r>
                    </a:p>
                  </a:txBody>
                  <a:tcPr anchor="ctr" marL="73152" marR="73152">
                    <a:solidFill>
                      <a:srgbClr val="FFFFFF"/>
                    </a:solidFill>
                  </a:tcPr>
                </a:tc>
                <a:tc>
                  <a:txBody>
                    <a:bodyPr/>
                    <a:lstStyle/>
                    <a:p>
                      <a:r>
                        <a:rPr sz="1100" b="0">
                          <a:solidFill>
                            <a:srgbClr val="1A1A1A"/>
                          </a:solidFill>
                          <a:latin typeface="Meiryo"/>
                          <a:ea typeface="Meiryo"/>
                        </a:rPr>
                        <a:t>会場づくり、整理券配布</a:t>
                      </a:r>
                    </a:p>
                  </a:txBody>
                  <a:tcPr anchor="ctr" marL="73152" marR="73152">
                    <a:solidFill>
                      <a:srgbClr val="FFFFFF"/>
                    </a:solidFill>
                  </a:tcPr>
                </a:tc>
              </a:tr>
              <a:tr h="475488">
                <a:tc>
                  <a:txBody>
                    <a:bodyPr/>
                    <a:lstStyle/>
                    <a:p>
                      <a:r>
                        <a:rPr sz="1100" b="1">
                          <a:solidFill>
                            <a:srgbClr val="1A1A1A"/>
                          </a:solidFill>
                          <a:latin typeface="Meiryo"/>
                          <a:ea typeface="Meiryo"/>
                        </a:rPr>
                        <a:t>貴社:スタッフ3</a:t>
                      </a:r>
                    </a:p>
                  </a:txBody>
                  <a:tcPr anchor="ctr" marL="73152" marR="73152">
                    <a:solidFill>
                      <a:srgbClr val="F2F4F6"/>
                    </a:solidFill>
                  </a:tcPr>
                </a:tc>
                <a:tc>
                  <a:txBody>
                    <a:bodyPr/>
                    <a:lstStyle/>
                    <a:p>
                      <a:r>
                        <a:rPr sz="1100" b="0">
                          <a:solidFill>
                            <a:srgbClr val="1A1A1A"/>
                          </a:solidFill>
                          <a:latin typeface="Meiryo"/>
                          <a:ea typeface="Meiryo"/>
                        </a:rPr>
                        <a:t>撮影補助(荷物運搬など)</a:t>
                      </a:r>
                    </a:p>
                  </a:txBody>
                  <a:tcPr anchor="ctr" marL="73152" marR="73152">
                    <a:solidFill>
                      <a:srgbClr val="F2F4F6"/>
                    </a:solidFill>
                  </a:tcPr>
                </a:tc>
                <a:tc>
                  <a:txBody>
                    <a:bodyPr/>
                    <a:lstStyle/>
                    <a:p>
                      <a:r>
                        <a:rPr sz="1100" b="0">
                          <a:solidFill>
                            <a:srgbClr val="1A1A1A"/>
                          </a:solidFill>
                          <a:latin typeface="Meiryo"/>
                          <a:ea typeface="Meiryo"/>
                        </a:rPr>
                        <a:t>会場づくり、事前の列づくり</a:t>
                      </a:r>
                    </a:p>
                  </a:txBody>
                  <a:tcPr anchor="ctr" marL="73152" marR="73152">
                    <a:solidFill>
                      <a:srgbClr val="F2F4F6"/>
                    </a:solidFill>
                  </a:tcPr>
                </a:tc>
              </a:tr>
              <a:tr h="475488">
                <a:tc>
                  <a:txBody>
                    <a:bodyPr/>
                    <a:lstStyle/>
                    <a:p>
                      <a:r>
                        <a:rPr sz="1100" b="1">
                          <a:solidFill>
                            <a:srgbClr val="1A1A1A"/>
                          </a:solidFill>
                          <a:latin typeface="Meiryo"/>
                          <a:ea typeface="Meiryo"/>
                        </a:rPr>
                        <a:t>貴社:スタッフ4</a:t>
                      </a:r>
                    </a:p>
                  </a:txBody>
                  <a:tcPr anchor="ctr" marL="73152" marR="73152">
                    <a:solidFill>
                      <a:srgbClr val="FFFFFF"/>
                    </a:solidFill>
                  </a:tcPr>
                </a:tc>
                <a:tc>
                  <a:txBody>
                    <a:bodyPr/>
                    <a:lstStyle/>
                    <a:p>
                      <a:r>
                        <a:rPr sz="1100" b="0">
                          <a:solidFill>
                            <a:srgbClr val="1A1A1A"/>
                          </a:solidFill>
                          <a:latin typeface="Meiryo"/>
                          <a:ea typeface="Meiryo"/>
                        </a:rPr>
                        <a:t>待機列の最後尾(参加者管理)</a:t>
                      </a:r>
                    </a:p>
                  </a:txBody>
                  <a:tcPr anchor="ctr" marL="73152" marR="73152">
                    <a:solidFill>
                      <a:srgbClr val="FFFFFF"/>
                    </a:solidFill>
                  </a:tcPr>
                </a:tc>
                <a:tc>
                  <a:txBody>
                    <a:bodyPr/>
                    <a:lstStyle/>
                    <a:p>
                      <a:r>
                        <a:rPr sz="1100" b="0">
                          <a:solidFill>
                            <a:srgbClr val="1A1A1A"/>
                          </a:solidFill>
                          <a:latin typeface="Meiryo"/>
                          <a:ea typeface="Meiryo"/>
                        </a:rPr>
                        <a:t>会場づくり、事前の列づくり</a:t>
                      </a:r>
                    </a:p>
                  </a:txBody>
                  <a:tcPr anchor="ctr" marL="73152" marR="73152">
                    <a:solidFill>
                      <a:srgbClr val="FFFFFF"/>
                    </a:solidFill>
                  </a:tcPr>
                </a:tc>
              </a:tr>
            </a:tbl>
          </a:graphicData>
        </a:graphic>
      </p:graphicFrame>
      <p:sp>
        <p:nvSpPr>
          <p:cNvPr id="9" name="TextBox 8"/>
          <p:cNvSpPr txBox="1"/>
          <p:nvPr/>
        </p:nvSpPr>
        <p:spPr>
          <a:xfrm>
            <a:off x="640080" y="5349240"/>
            <a:ext cx="10881360" cy="100584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・費用を抑えた体制で品質を担保するための最低人数です。撮影会中と合間で持ち場が切り替わるため、運営スタッフは4名が必要となります</a:t>
            </a:r>
          </a:p>
          <a:p>
            <a:pPr algn="l">
              <a:spcAft>
                <a:spcPts val="400"/>
              </a:spcAft>
            </a:pPr>
            <a:r>
              <a:rPr sz="1100" b="0">
                <a:solidFill>
                  <a:srgbClr val="1A1A1A"/>
                </a:solidFill>
                <a:latin typeface="Meiryo"/>
                <a:ea typeface="Meiryo"/>
              </a:rPr>
              <a:t>・運営スタッフはスタッフと分かる服装(スタッフTシャツ・ベスト等)の着用をお願いします　・初回開催時は当社がレクチャーを実施し、運営マニュアルをご提供します</a:t>
            </a:r>
          </a:p>
          <a:p>
            <a:pPr algn="l">
              <a:spcAft>
                <a:spcPts val="400"/>
              </a:spcAft>
            </a:pPr>
            <a:r>
              <a:rPr sz="1100" b="0">
                <a:solidFill>
                  <a:srgbClr val="1A1A1A"/>
                </a:solidFill>
                <a:latin typeface="Meiryo"/>
                <a:ea typeface="Meiryo"/>
              </a:rPr>
              <a:t>・貴社での運営が難しい会場向けに、当社が運営一式を手配するフル運営オプション(+22万円/日)を会場単位でご用意します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2. 貴社にお願いしたい体制・分担</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全国展開を円滑に進めるため、以下の体制・分担をお願いいたします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17320"/>
          <a:ext cx="10881359" cy="4389120"/>
        </p:xfrm>
        <a:graphic>
          <a:graphicData uri="http://schemas.openxmlformats.org/drawingml/2006/table">
            <a:tbl>
              <a:tblPr firstRow="1" bandRow="1">
                <a:tableStyleId>{5C22544A-7EE6-4342-B048-85BDC9FD1C3A}</a:tableStyleId>
              </a:tblPr>
              <a:tblGrid>
                <a:gridCol w="2538983"/>
                <a:gridCol w="6528816"/>
                <a:gridCol w="1813560"/>
              </a:tblGrid>
              <a:tr h="548640">
                <a:tc>
                  <a:txBody>
                    <a:bodyPr/>
                    <a:lstStyle/>
                    <a:p>
                      <a:r>
                        <a:rPr sz="1100" b="1">
                          <a:solidFill>
                            <a:srgbClr val="FFFFFF"/>
                          </a:solidFill>
                          <a:latin typeface="Meiryo"/>
                          <a:ea typeface="Meiryo"/>
                        </a:rPr>
                        <a:t>区分</a:t>
                      </a:r>
                    </a:p>
                  </a:txBody>
                  <a:tcPr anchor="ctr" marL="73152" marR="73152">
                    <a:solidFill>
                      <a:srgbClr val="232278"/>
                    </a:solidFill>
                  </a:tcPr>
                </a:tc>
                <a:tc>
                  <a:txBody>
                    <a:bodyPr/>
                    <a:lstStyle/>
                    <a:p>
                      <a:r>
                        <a:rPr sz="1100" b="1">
                          <a:solidFill>
                            <a:srgbClr val="FFFFFF"/>
                          </a:solidFill>
                          <a:latin typeface="Meiryo"/>
                          <a:ea typeface="Meiryo"/>
                        </a:rPr>
                        <a:t>お願いしたい内容</a:t>
                      </a:r>
                    </a:p>
                  </a:txBody>
                  <a:tcPr anchor="ctr" marL="73152" marR="73152">
                    <a:solidFill>
                      <a:srgbClr val="232278"/>
                    </a:solidFill>
                  </a:tcPr>
                </a:tc>
                <a:tc>
                  <a:txBody>
                    <a:bodyPr/>
                    <a:lstStyle/>
                    <a:p>
                      <a:r>
                        <a:rPr sz="1100" b="1">
                          <a:solidFill>
                            <a:srgbClr val="FFFFFF"/>
                          </a:solidFill>
                          <a:latin typeface="Meiryo"/>
                          <a:ea typeface="Meiryo"/>
                        </a:rPr>
                        <a:t>テストでの実績</a:t>
                      </a:r>
                    </a:p>
                  </a:txBody>
                  <a:tcPr anchor="ctr" marL="73152" marR="73152">
                    <a:solidFill>
                      <a:srgbClr val="232278"/>
                    </a:solidFill>
                  </a:tcPr>
                </a:tc>
              </a:tr>
              <a:tr h="548640">
                <a:tc>
                  <a:txBody>
                    <a:bodyPr/>
                    <a:lstStyle/>
                    <a:p>
                      <a:r>
                        <a:rPr sz="1100" b="1">
                          <a:solidFill>
                            <a:srgbClr val="1A1A1A"/>
                          </a:solidFill>
                          <a:latin typeface="Meiryo"/>
                          <a:ea typeface="Meiryo"/>
                        </a:rPr>
                        <a:t>取りまとめ窓口</a:t>
                      </a:r>
                    </a:p>
                  </a:txBody>
                  <a:tcPr anchor="ctr" marL="73152" marR="73152">
                    <a:solidFill>
                      <a:srgbClr val="FFFFFF"/>
                    </a:solidFill>
                  </a:tcPr>
                </a:tc>
                <a:tc>
                  <a:txBody>
                    <a:bodyPr/>
                    <a:lstStyle/>
                    <a:p>
                      <a:r>
                        <a:rPr sz="1100" b="0">
                          <a:solidFill>
                            <a:srgbClr val="1A1A1A"/>
                          </a:solidFill>
                          <a:latin typeface="Meiryo"/>
                          <a:ea typeface="Meiryo"/>
                        </a:rPr>
                        <a:t>貴社内に全国の実施を取りまとめるご担当窓口(1部署)を設置。各会場への展開・情報共有・当社との一本化した連絡</a:t>
                      </a:r>
                    </a:p>
                  </a:txBody>
                  <a:tcPr anchor="ctr" marL="73152" marR="73152">
                    <a:solidFill>
                      <a:srgbClr val="FFFFFF"/>
                    </a:solidFill>
                  </a:tcPr>
                </a:tc>
                <a:tc>
                  <a:txBody>
                    <a:bodyPr/>
                    <a:lstStyle/>
                    <a:p>
                      <a:r>
                        <a:rPr sz="1100" b="0">
                          <a:solidFill>
                            <a:srgbClr val="1A1A1A"/>
                          </a:solidFill>
                          <a:latin typeface="Meiryo"/>
                          <a:ea typeface="Meiryo"/>
                        </a:rPr>
                        <a:t>新規</a:t>
                      </a:r>
                    </a:p>
                  </a:txBody>
                  <a:tcPr anchor="ctr" marL="73152" marR="73152">
                    <a:solidFill>
                      <a:srgbClr val="FFFFFF"/>
                    </a:solidFill>
                  </a:tcPr>
                </a:tc>
              </a:tr>
              <a:tr h="548640">
                <a:tc>
                  <a:txBody>
                    <a:bodyPr/>
                    <a:lstStyle/>
                    <a:p>
                      <a:r>
                        <a:rPr sz="1100" b="1">
                          <a:solidFill>
                            <a:srgbClr val="1A1A1A"/>
                          </a:solidFill>
                          <a:latin typeface="Meiryo"/>
                          <a:ea typeface="Meiryo"/>
                        </a:rPr>
                        <a:t>開催申請</a:t>
                      </a:r>
                    </a:p>
                  </a:txBody>
                  <a:tcPr anchor="ctr" marL="73152" marR="73152">
                    <a:solidFill>
                      <a:srgbClr val="F2F4F6"/>
                    </a:solidFill>
                  </a:tcPr>
                </a:tc>
                <a:tc>
                  <a:txBody>
                    <a:bodyPr/>
                    <a:lstStyle/>
                    <a:p>
                      <a:r>
                        <a:rPr sz="1100" b="0">
                          <a:solidFill>
                            <a:srgbClr val="1A1A1A"/>
                          </a:solidFill>
                          <a:latin typeface="Meiryo"/>
                          <a:ea typeface="Meiryo"/>
                        </a:rPr>
                        <a:t>専用フォームで申請→前月1日に可否確定→確認書の取り交わし(会場は1ヶ月前までに確定)</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運営計画・実施確認書</a:t>
                      </a:r>
                    </a:p>
                  </a:txBody>
                  <a:tcPr anchor="ctr" marL="73152" marR="73152">
                    <a:solidFill>
                      <a:srgbClr val="FFFFFF"/>
                    </a:solidFill>
                  </a:tcPr>
                </a:tc>
                <a:tc>
                  <a:txBody>
                    <a:bodyPr/>
                    <a:lstStyle/>
                    <a:p>
                      <a:r>
                        <a:rPr sz="1100" b="0">
                          <a:solidFill>
                            <a:srgbClr val="1A1A1A"/>
                          </a:solidFill>
                          <a:latin typeface="Meiryo"/>
                          <a:ea typeface="Meiryo"/>
                        </a:rPr>
                        <a:t>会場ごとの運営計画・実施確認書を貴社にて作成(当社テンプレートをご提供)</a:t>
                      </a:r>
                    </a:p>
                  </a:txBody>
                  <a:tcPr anchor="ctr" marL="73152" marR="73152">
                    <a:solidFill>
                      <a:srgbClr val="FFFFFF"/>
                    </a:solidFill>
                  </a:tcPr>
                </a:tc>
                <a:tc>
                  <a:txBody>
                    <a:bodyPr/>
                    <a:lstStyle/>
                    <a:p>
                      <a:r>
                        <a:rPr sz="1100" b="0">
                          <a:solidFill>
                            <a:srgbClr val="1A1A1A"/>
                          </a:solidFill>
                          <a:latin typeface="Meiryo"/>
                          <a:ea typeface="Meiryo"/>
                        </a:rPr>
                        <a:t>新規(テストは当社作成)</a:t>
                      </a:r>
                    </a:p>
                  </a:txBody>
                  <a:tcPr anchor="ctr" marL="73152" marR="73152">
                    <a:solidFill>
                      <a:srgbClr val="FFFFFF"/>
                    </a:solidFill>
                  </a:tcPr>
                </a:tc>
              </a:tr>
              <a:tr h="548640">
                <a:tc>
                  <a:txBody>
                    <a:bodyPr/>
                    <a:lstStyle/>
                    <a:p>
                      <a:r>
                        <a:rPr sz="1100" b="1">
                          <a:solidFill>
                            <a:srgbClr val="1A1A1A"/>
                          </a:solidFill>
                          <a:latin typeface="Meiryo"/>
                          <a:ea typeface="Meiryo"/>
                        </a:rPr>
                        <a:t>制作物の仮申請</a:t>
                      </a:r>
                    </a:p>
                  </a:txBody>
                  <a:tcPr anchor="ctr" marL="73152" marR="73152">
                    <a:solidFill>
                      <a:srgbClr val="F2F4F6"/>
                    </a:solidFill>
                  </a:tcPr>
                </a:tc>
                <a:tc>
                  <a:txBody>
                    <a:bodyPr/>
                    <a:lstStyle/>
                    <a:p>
                      <a:r>
                        <a:rPr sz="1100" b="0">
                          <a:solidFill>
                            <a:srgbClr val="1A1A1A"/>
                          </a:solidFill>
                          <a:latin typeface="Meiryo"/>
                          <a:ea typeface="Meiryo"/>
                        </a:rPr>
                        <a:t>イベントキット・ノベルティ等は品目ごとに仮申請(備品/配布用の区分を明記)。申請窓口はご担当1名に集約</a:t>
                      </a:r>
                    </a:p>
                  </a:txBody>
                  <a:tcPr anchor="ctr" marL="73152" marR="73152">
                    <a:solidFill>
                      <a:srgbClr val="F2F4F6"/>
                    </a:solidFill>
                  </a:tcPr>
                </a:tc>
                <a:tc>
                  <a:txBody>
                    <a:bodyPr/>
                    <a:lstStyle/>
                    <a:p>
                      <a:r>
                        <a:rPr sz="1100" b="0">
                          <a:solidFill>
                            <a:srgbClr val="1A1A1A"/>
                          </a:solidFill>
                          <a:latin typeface="Meiryo"/>
                          <a:ea typeface="Meiryo"/>
                        </a:rPr>
                        <a:t>新規</a:t>
                      </a:r>
                    </a:p>
                  </a:txBody>
                  <a:tcPr anchor="ctr" marL="73152" marR="73152">
                    <a:solidFill>
                      <a:srgbClr val="F2F4F6"/>
                    </a:solidFill>
                  </a:tcPr>
                </a:tc>
              </a:tr>
              <a:tr h="548640">
                <a:tc>
                  <a:txBody>
                    <a:bodyPr/>
                    <a:lstStyle/>
                    <a:p>
                      <a:r>
                        <a:rPr sz="1100" b="1">
                          <a:solidFill>
                            <a:srgbClr val="1A1A1A"/>
                          </a:solidFill>
                          <a:latin typeface="Meiryo"/>
                          <a:ea typeface="Meiryo"/>
                        </a:rPr>
                        <a:t>運営サイン・音響・設営</a:t>
                      </a:r>
                    </a:p>
                  </a:txBody>
                  <a:tcPr anchor="ctr" marL="73152" marR="73152">
                    <a:solidFill>
                      <a:srgbClr val="FFFFFF"/>
                    </a:solidFill>
                  </a:tcPr>
                </a:tc>
                <a:tc>
                  <a:txBody>
                    <a:bodyPr/>
                    <a:lstStyle/>
                    <a:p>
                      <a:r>
                        <a:rPr sz="1100" b="0">
                          <a:solidFill>
                            <a:srgbClr val="1A1A1A"/>
                          </a:solidFill>
                          <a:latin typeface="Meiryo"/>
                          <a:ea typeface="Meiryo"/>
                        </a:rPr>
                        <a:t>会場内サイン、音響機材の手配とオペレーション、イベントキット設営・会場復帰</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r h="548640">
                <a:tc>
                  <a:txBody>
                    <a:bodyPr/>
                    <a:lstStyle/>
                    <a:p>
                      <a:r>
                        <a:rPr sz="1100" b="1">
                          <a:solidFill>
                            <a:srgbClr val="1A1A1A"/>
                          </a:solidFill>
                          <a:latin typeface="Meiryo"/>
                          <a:ea typeface="Meiryo"/>
                        </a:rPr>
                        <a:t>整理券・告知素材・実施報告</a:t>
                      </a:r>
                    </a:p>
                  </a:txBody>
                  <a:tcPr anchor="ctr" marL="73152" marR="73152">
                    <a:solidFill>
                      <a:srgbClr val="F2F4F6"/>
                    </a:solidFill>
                  </a:tcPr>
                </a:tc>
                <a:tc>
                  <a:txBody>
                    <a:bodyPr/>
                    <a:lstStyle/>
                    <a:p>
                      <a:r>
                        <a:rPr sz="1100" b="0">
                          <a:solidFill>
                            <a:srgbClr val="1A1A1A"/>
                          </a:solidFill>
                          <a:latin typeface="Meiryo"/>
                          <a:ea typeface="Meiryo"/>
                        </a:rPr>
                        <a:t>整理券・列形成備品、HP掲載用テキスト・画像(当社監修)、参加人数等の実施報告</a:t>
                      </a:r>
                    </a:p>
                  </a:txBody>
                  <a:tcPr anchor="ctr" marL="73152" marR="73152">
                    <a:solidFill>
                      <a:srgbClr val="F2F4F6"/>
                    </a:solidFill>
                  </a:tcPr>
                </a:tc>
                <a:tc>
                  <a:txBody>
                    <a:bodyPr/>
                    <a:lstStyle/>
                    <a:p>
                      <a:r>
                        <a:rPr sz="1100" b="0">
                          <a:solidFill>
                            <a:srgbClr val="1A1A1A"/>
                          </a:solidFill>
                          <a:latin typeface="Meiryo"/>
                          <a:ea typeface="Meiryo"/>
                        </a:rPr>
                        <a:t>✓ 対応済み</a:t>
                      </a:r>
                    </a:p>
                  </a:txBody>
                  <a:tcPr anchor="ctr" marL="73152" marR="73152">
                    <a:solidFill>
                      <a:srgbClr val="F2F4F6"/>
                    </a:solidFill>
                  </a:tcPr>
                </a:tc>
              </a:tr>
              <a:tr h="548640">
                <a:tc>
                  <a:txBody>
                    <a:bodyPr/>
                    <a:lstStyle/>
                    <a:p>
                      <a:r>
                        <a:rPr sz="1100" b="1">
                          <a:solidFill>
                            <a:srgbClr val="1A1A1A"/>
                          </a:solidFill>
                          <a:latin typeface="Meiryo"/>
                          <a:ea typeface="Meiryo"/>
                        </a:rPr>
                        <a:t>会場要件・その他</a:t>
                      </a:r>
                    </a:p>
                  </a:txBody>
                  <a:tcPr anchor="ctr" marL="73152" marR="73152">
                    <a:solidFill>
                      <a:srgbClr val="FFFFFF"/>
                    </a:solidFill>
                  </a:tcPr>
                </a:tc>
                <a:tc>
                  <a:txBody>
                    <a:bodyPr/>
                    <a:lstStyle/>
                    <a:p>
                      <a:r>
                        <a:rPr sz="1100" b="0">
                          <a:solidFill>
                            <a:srgbClr val="1A1A1A"/>
                          </a:solidFill>
                          <a:latin typeface="Meiryo"/>
                          <a:ea typeface="Meiryo"/>
                        </a:rPr>
                        <a:t>施錠可能な非公開控室・関係車両用駐車場/JASRAC申請・イベント保険(主催者様にて)</a:t>
                      </a:r>
                    </a:p>
                  </a:txBody>
                  <a:tcPr anchor="ctr" marL="73152" marR="73152">
                    <a:solidFill>
                      <a:srgbClr val="FFFFFF"/>
                    </a:solidFill>
                  </a:tcPr>
                </a:tc>
                <a:tc>
                  <a:txBody>
                    <a:bodyPr/>
                    <a:lstStyle/>
                    <a:p>
                      <a:r>
                        <a:rPr sz="1100" b="0">
                          <a:solidFill>
                            <a:srgbClr val="1A1A1A"/>
                          </a:solidFill>
                          <a:latin typeface="Meiryo"/>
                          <a:ea typeface="Meiryo"/>
                        </a:rPr>
                        <a:t>✓ 対応済み</a:t>
                      </a:r>
                    </a:p>
                  </a:txBody>
                  <a:tcPr anchor="ct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ご提供価格(ソフトバンク様特別プラン)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通常販売価格から大幅な特別価格でご提供します。本特別価格は年間契約+最低開催数保証のご締結を前提とした本件限りの条件です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17320"/>
          <a:ext cx="6309358" cy="2194560"/>
        </p:xfrm>
        <a:graphic>
          <a:graphicData uri="http://schemas.openxmlformats.org/drawingml/2006/table">
            <a:tbl>
              <a:tblPr firstRow="1" bandRow="1">
                <a:tableStyleId>{5C22544A-7EE6-4342-B048-85BDC9FD1C3A}</a:tableStyleId>
              </a:tblPr>
              <a:tblGrid>
                <a:gridCol w="2575248"/>
                <a:gridCol w="1673911"/>
                <a:gridCol w="2060199"/>
              </a:tblGrid>
              <a:tr h="548640">
                <a:tc>
                  <a:txBody>
                    <a:bodyPr/>
                    <a:lstStyle/>
                    <a:p>
                      <a:r>
                        <a:rPr sz="1150" b="1">
                          <a:solidFill>
                            <a:srgbClr val="FFFFFF"/>
                          </a:solidFill>
                          <a:latin typeface="Meiryo"/>
                          <a:ea typeface="Meiryo"/>
                        </a:rPr>
                        <a:t>キャラクターイベント稼働費</a:t>
                      </a:r>
                    </a:p>
                  </a:txBody>
                  <a:tcPr anchor="ctr" marL="73152" marR="73152">
                    <a:solidFill>
                      <a:srgbClr val="232278"/>
                    </a:solidFill>
                  </a:tcPr>
                </a:tc>
                <a:tc>
                  <a:txBody>
                    <a:bodyPr/>
                    <a:lstStyle/>
                    <a:p>
                      <a:r>
                        <a:rPr sz="1150" b="1">
                          <a:solidFill>
                            <a:srgbClr val="FFFFFF"/>
                          </a:solidFill>
                          <a:latin typeface="Meiryo"/>
                          <a:ea typeface="Meiryo"/>
                        </a:rPr>
                        <a:t>通常販売価格</a:t>
                      </a:r>
                    </a:p>
                  </a:txBody>
                  <a:tcPr anchor="ctr" marL="73152" marR="73152">
                    <a:solidFill>
                      <a:srgbClr val="232278"/>
                    </a:solidFill>
                  </a:tcPr>
                </a:tc>
                <a:tc>
                  <a:txBody>
                    <a:bodyPr/>
                    <a:lstStyle/>
                    <a:p>
                      <a:r>
                        <a:rPr sz="1150" b="1">
                          <a:solidFill>
                            <a:srgbClr val="FFFFFF"/>
                          </a:solidFill>
                          <a:latin typeface="Meiryo"/>
                          <a:ea typeface="Meiryo"/>
                        </a:rPr>
                        <a:t>SB様特別価格</a:t>
                      </a:r>
                    </a:p>
                  </a:txBody>
                  <a:tcPr anchor="ctr" marL="73152" marR="73152">
                    <a:solidFill>
                      <a:srgbClr val="232278"/>
                    </a:solidFill>
                  </a:tcPr>
                </a:tc>
              </a:tr>
              <a:tr h="548640">
                <a:tc>
                  <a:txBody>
                    <a:bodyPr/>
                    <a:lstStyle/>
                    <a:p>
                      <a:r>
                        <a:rPr sz="1150" b="1">
                          <a:solidFill>
                            <a:srgbClr val="1A1A1A"/>
                          </a:solidFill>
                          <a:latin typeface="Meiryo"/>
                          <a:ea typeface="Meiryo"/>
                        </a:rPr>
                        <a:t>1日稼働(1日最大5回公演)</a:t>
                      </a:r>
                    </a:p>
                  </a:txBody>
                  <a:tcPr anchor="ctr" marL="73152" marR="73152">
                    <a:solidFill>
                      <a:srgbClr val="FFFFFF"/>
                    </a:solidFill>
                  </a:tcPr>
                </a:tc>
                <a:tc>
                  <a:txBody>
                    <a:bodyPr/>
                    <a:lstStyle/>
                    <a:p>
                      <a:r>
                        <a:rPr sz="1150" b="0">
                          <a:solidFill>
                            <a:srgbClr val="1A1A1A"/>
                          </a:solidFill>
                          <a:latin typeface="Meiryo"/>
                          <a:ea typeface="Meiryo"/>
                        </a:rPr>
                        <a:t>225,000円/日</a:t>
                      </a:r>
                    </a:p>
                  </a:txBody>
                  <a:tcPr anchor="ctr" marL="73152" marR="73152">
                    <a:solidFill>
                      <a:srgbClr val="FFFFFF"/>
                    </a:solidFill>
                  </a:tcPr>
                </a:tc>
                <a:tc>
                  <a:txBody>
                    <a:bodyPr/>
                    <a:lstStyle/>
                    <a:p>
                      <a:r>
                        <a:rPr sz="1150" b="1">
                          <a:solidFill>
                            <a:srgbClr val="C00000"/>
                          </a:solidFill>
                          <a:latin typeface="Meiryo"/>
                          <a:ea typeface="Meiryo"/>
                        </a:rPr>
                        <a:t>100,000円/日(▲55.6%)</a:t>
                      </a:r>
                    </a:p>
                  </a:txBody>
                  <a:tcPr anchor="ctr" marL="73152" marR="73152">
                    <a:solidFill>
                      <a:srgbClr val="FFFFFF"/>
                    </a:solidFill>
                  </a:tcPr>
                </a:tc>
              </a:tr>
              <a:tr h="548640">
                <a:tc>
                  <a:txBody>
                    <a:bodyPr/>
                    <a:lstStyle/>
                    <a:p>
                      <a:r>
                        <a:rPr sz="1150" b="1">
                          <a:solidFill>
                            <a:srgbClr val="1A1A1A"/>
                          </a:solidFill>
                          <a:latin typeface="Meiryo"/>
                          <a:ea typeface="Meiryo"/>
                        </a:rPr>
                        <a:t>土日2日間(1開催)</a:t>
                      </a:r>
                    </a:p>
                  </a:txBody>
                  <a:tcPr anchor="ctr" marL="73152" marR="73152">
                    <a:solidFill>
                      <a:srgbClr val="F2F4F6"/>
                    </a:solidFill>
                  </a:tcPr>
                </a:tc>
                <a:tc>
                  <a:txBody>
                    <a:bodyPr/>
                    <a:lstStyle/>
                    <a:p>
                      <a:r>
                        <a:rPr sz="1150" b="0">
                          <a:solidFill>
                            <a:srgbClr val="1A1A1A"/>
                          </a:solidFill>
                          <a:latin typeface="Meiryo"/>
                          <a:ea typeface="Meiryo"/>
                        </a:rPr>
                        <a:t>450,000円</a:t>
                      </a:r>
                    </a:p>
                  </a:txBody>
                  <a:tcPr anchor="ctr" marL="73152" marR="73152">
                    <a:solidFill>
                      <a:srgbClr val="F2F4F6"/>
                    </a:solidFill>
                  </a:tcPr>
                </a:tc>
                <a:tc>
                  <a:txBody>
                    <a:bodyPr/>
                    <a:lstStyle/>
                    <a:p>
                      <a:r>
                        <a:rPr sz="1150" b="1">
                          <a:solidFill>
                            <a:srgbClr val="C00000"/>
                          </a:solidFill>
                          <a:latin typeface="Meiryo"/>
                          <a:ea typeface="Meiryo"/>
                        </a:rPr>
                        <a:t>200,000円</a:t>
                      </a:r>
                    </a:p>
                  </a:txBody>
                  <a:tcPr anchor="ctr" marL="73152" marR="73152">
                    <a:solidFill>
                      <a:srgbClr val="F2F4F6"/>
                    </a:solidFill>
                  </a:tcPr>
                </a:tc>
              </a:tr>
              <a:tr h="548640">
                <a:tc>
                  <a:txBody>
                    <a:bodyPr/>
                    <a:lstStyle/>
                    <a:p>
                      <a:r>
                        <a:rPr sz="1150" b="1">
                          <a:solidFill>
                            <a:srgbClr val="1A1A1A"/>
                          </a:solidFill>
                          <a:latin typeface="Meiryo"/>
                          <a:ea typeface="Meiryo"/>
                        </a:rPr>
                        <a:t>3連休通し(3日間)</a:t>
                      </a:r>
                    </a:p>
                  </a:txBody>
                  <a:tcPr anchor="ctr" marL="73152" marR="73152">
                    <a:solidFill>
                      <a:srgbClr val="FFFFFF"/>
                    </a:solidFill>
                  </a:tcPr>
                </a:tc>
                <a:tc>
                  <a:txBody>
                    <a:bodyPr/>
                    <a:lstStyle/>
                    <a:p>
                      <a:r>
                        <a:rPr sz="1150" b="0">
                          <a:solidFill>
                            <a:srgbClr val="1A1A1A"/>
                          </a:solidFill>
                          <a:latin typeface="Meiryo"/>
                          <a:ea typeface="Meiryo"/>
                        </a:rPr>
                        <a:t>675,000円</a:t>
                      </a:r>
                    </a:p>
                  </a:txBody>
                  <a:tcPr anchor="ctr" marL="73152" marR="73152">
                    <a:solidFill>
                      <a:srgbClr val="FFFFFF"/>
                    </a:solidFill>
                  </a:tcPr>
                </a:tc>
                <a:tc>
                  <a:txBody>
                    <a:bodyPr/>
                    <a:lstStyle/>
                    <a:p>
                      <a:r>
                        <a:rPr sz="1150" b="1">
                          <a:solidFill>
                            <a:srgbClr val="C00000"/>
                          </a:solidFill>
                          <a:latin typeface="Meiryo"/>
                          <a:ea typeface="Meiryo"/>
                        </a:rPr>
                        <a:t>300,000円</a:t>
                      </a:r>
                    </a:p>
                  </a:txBody>
                  <a:tcPr anchor="ctr" marL="73152" marR="73152">
                    <a:solidFill>
                      <a:srgbClr val="FFFFFF"/>
                    </a:solidFill>
                  </a:tcPr>
                </a:tc>
              </a:tr>
            </a:tbl>
          </a:graphicData>
        </a:graphic>
      </p:graphicFrame>
      <p:sp>
        <p:nvSpPr>
          <p:cNvPr id="9" name="TextBox 8"/>
          <p:cNvSpPr txBox="1"/>
          <p:nvPr/>
        </p:nvSpPr>
        <p:spPr>
          <a:xfrm>
            <a:off x="640080" y="3703320"/>
            <a:ext cx="6309360" cy="1097280"/>
          </a:xfrm>
          <a:prstGeom prst="rect">
            <a:avLst/>
          </a:prstGeom>
          <a:noFill/>
        </p:spPr>
        <p:txBody>
          <a:bodyPr wrap="square" anchor="t" lIns="0" rIns="0" tIns="0" bIns="0">
            <a:spAutoFit/>
          </a:bodyPr>
          <a:lstStyle/>
          <a:p>
            <a:pPr algn="l">
              <a:spcAft>
                <a:spcPts val="300"/>
              </a:spcAft>
            </a:pPr>
            <a:r>
              <a:rPr sz="1050" b="0">
                <a:solidFill>
                  <a:srgbClr val="5A626B"/>
                </a:solidFill>
                <a:latin typeface="Meiryo"/>
                <a:ea typeface="Meiryo"/>
              </a:rPr>
              <a:t>特別価格の内訳(1日):キャラクター使用料 40,000円/担当 35,000円/スーツアクター 25,000円</a:t>
            </a:r>
          </a:p>
          <a:p>
            <a:pPr algn="l">
              <a:spcAft>
                <a:spcPts val="300"/>
              </a:spcAft>
            </a:pPr>
            <a:r>
              <a:rPr sz="1050" b="0">
                <a:solidFill>
                  <a:srgbClr val="5A626B"/>
                </a:solidFill>
                <a:latin typeface="Meiryo"/>
                <a:ea typeface="Meiryo"/>
              </a:rPr>
              <a:t>通常販売価格は同一スコープ(キャラクター使用料+担当+アクター・5回公演対応)での当社標準価格です</a:t>
            </a:r>
          </a:p>
        </p:txBody>
      </p:sp>
      <p:graphicFrame>
        <p:nvGraphicFramePr>
          <p:cNvPr id="10" name="Table 9"/>
          <p:cNvGraphicFramePr>
            <a:graphicFrameLocks noGrp="1"/>
          </p:cNvGraphicFramePr>
          <p:nvPr/>
        </p:nvGraphicFramePr>
        <p:xfrm>
          <a:off x="7223760" y="1417320"/>
          <a:ext cx="4297679" cy="3291839"/>
        </p:xfrm>
        <a:graphic>
          <a:graphicData uri="http://schemas.openxmlformats.org/drawingml/2006/table">
            <a:tbl>
              <a:tblPr firstRow="1" bandRow="1">
                <a:tableStyleId>{5C22544A-7EE6-4342-B048-85BDC9FD1C3A}</a:tableStyleId>
              </a:tblPr>
              <a:tblGrid>
                <a:gridCol w="2079522"/>
                <a:gridCol w="2218157"/>
              </a:tblGrid>
              <a:tr h="548639">
                <a:tc>
                  <a:txBody>
                    <a:bodyPr/>
                    <a:lstStyle/>
                    <a:p>
                      <a:r>
                        <a:rPr sz="1100" b="1">
                          <a:solidFill>
                            <a:srgbClr val="FFFFFF"/>
                          </a:solidFill>
                          <a:latin typeface="Meiryo"/>
                          <a:ea typeface="Meiryo"/>
                        </a:rPr>
                        <a:t>その他の費目</a:t>
                      </a:r>
                    </a:p>
                  </a:txBody>
                  <a:tcPr anchor="ctr" marL="73152" marR="73152">
                    <a:solidFill>
                      <a:srgbClr val="232278"/>
                    </a:solidFill>
                  </a:tcPr>
                </a:tc>
                <a:tc>
                  <a:txBody>
                    <a:bodyPr/>
                    <a:lstStyle/>
                    <a:p>
                      <a:r>
                        <a:rPr sz="1100" b="1">
                          <a:solidFill>
                            <a:srgbClr val="FFFFFF"/>
                          </a:solidFill>
                          <a:latin typeface="Meiryo"/>
                          <a:ea typeface="Meiryo"/>
                        </a:rPr>
                        <a:t>金額</a:t>
                      </a:r>
                    </a:p>
                  </a:txBody>
                  <a:tcPr anchor="ctr" marL="73152" marR="73152">
                    <a:solidFill>
                      <a:srgbClr val="232278"/>
                    </a:solidFill>
                  </a:tcPr>
                </a:tc>
              </a:tr>
              <a:tr h="548639">
                <a:tc>
                  <a:txBody>
                    <a:bodyPr/>
                    <a:lstStyle/>
                    <a:p>
                      <a:r>
                        <a:rPr sz="1100" b="1">
                          <a:solidFill>
                            <a:srgbClr val="1A1A1A"/>
                          </a:solidFill>
                          <a:latin typeface="Meiryo"/>
                          <a:ea typeface="Meiryo"/>
                        </a:rPr>
                        <a:t>年間IP使用料</a:t>
                      </a:r>
                    </a:p>
                  </a:txBody>
                  <a:tcPr anchor="ctr" marL="73152" marR="73152">
                    <a:solidFill>
                      <a:srgbClr val="FFFFFF"/>
                    </a:solidFill>
                  </a:tcPr>
                </a:tc>
                <a:tc>
                  <a:txBody>
                    <a:bodyPr/>
                    <a:lstStyle/>
                    <a:p>
                      <a:r>
                        <a:rPr sz="1100" b="0">
                          <a:solidFill>
                            <a:srgbClr val="1A1A1A"/>
                          </a:solidFill>
                          <a:latin typeface="Meiryo"/>
                          <a:ea typeface="Meiryo"/>
                        </a:rPr>
                        <a:t>2,000万円/年</a:t>
                      </a:r>
                    </a:p>
                  </a:txBody>
                  <a:tcPr anchor="ctr" marL="73152" marR="73152">
                    <a:solidFill>
                      <a:srgbClr val="FFFFFF"/>
                    </a:solidFill>
                  </a:tcPr>
                </a:tc>
              </a:tr>
              <a:tr h="548639">
                <a:tc>
                  <a:txBody>
                    <a:bodyPr/>
                    <a:lstStyle/>
                    <a:p>
                      <a:r>
                        <a:rPr sz="1100" b="1">
                          <a:solidFill>
                            <a:srgbClr val="1A1A1A"/>
                          </a:solidFill>
                          <a:latin typeface="Meiryo"/>
                          <a:ea typeface="Meiryo"/>
                        </a:rPr>
                        <a:t>作成許諾ロイヤリティ</a:t>
                      </a:r>
                    </a:p>
                  </a:txBody>
                  <a:tcPr anchor="ctr" marL="73152" marR="73152">
                    <a:solidFill>
                      <a:srgbClr val="F2F4F6"/>
                    </a:solidFill>
                  </a:tcPr>
                </a:tc>
                <a:tc>
                  <a:txBody>
                    <a:bodyPr/>
                    <a:lstStyle/>
                    <a:p>
                      <a:r>
                        <a:rPr sz="1100" b="0">
                          <a:solidFill>
                            <a:srgbClr val="1A1A1A"/>
                          </a:solidFill>
                          <a:latin typeface="Meiryo"/>
                          <a:ea typeface="Meiryo"/>
                        </a:rPr>
                        <a:t>作成費用の20%</a:t>
                      </a:r>
                    </a:p>
                  </a:txBody>
                  <a:tcPr anchor="ctr" marL="73152" marR="73152">
                    <a:solidFill>
                      <a:srgbClr val="F2F4F6"/>
                    </a:solidFill>
                  </a:tcPr>
                </a:tc>
              </a:tr>
              <a:tr h="548639">
                <a:tc>
                  <a:txBody>
                    <a:bodyPr/>
                    <a:lstStyle/>
                    <a:p>
                      <a:r>
                        <a:rPr sz="1100" b="1">
                          <a:solidFill>
                            <a:srgbClr val="1A1A1A"/>
                          </a:solidFill>
                          <a:latin typeface="Meiryo"/>
                          <a:ea typeface="Meiryo"/>
                        </a:rPr>
                        <a:t>フル運営オプション</a:t>
                      </a:r>
                    </a:p>
                  </a:txBody>
                  <a:tcPr anchor="ctr" marL="73152" marR="73152">
                    <a:solidFill>
                      <a:srgbClr val="FFFFFF"/>
                    </a:solidFill>
                  </a:tcPr>
                </a:tc>
                <a:tc>
                  <a:txBody>
                    <a:bodyPr/>
                    <a:lstStyle/>
                    <a:p>
                      <a:r>
                        <a:rPr sz="1100" b="0">
                          <a:solidFill>
                            <a:srgbClr val="1A1A1A"/>
                          </a:solidFill>
                          <a:latin typeface="Meiryo"/>
                          <a:ea typeface="Meiryo"/>
                        </a:rPr>
                        <a:t>+220,000円/日</a:t>
                      </a:r>
                    </a:p>
                  </a:txBody>
                  <a:tcPr anchor="ctr" marL="73152" marR="73152">
                    <a:solidFill>
                      <a:srgbClr val="FFFFFF"/>
                    </a:solidFill>
                  </a:tcPr>
                </a:tc>
              </a:tr>
              <a:tr h="548639">
                <a:tc>
                  <a:txBody>
                    <a:bodyPr/>
                    <a:lstStyle/>
                    <a:p>
                      <a:r>
                        <a:rPr sz="1100" b="1">
                          <a:solidFill>
                            <a:srgbClr val="1A1A1A"/>
                          </a:solidFill>
                          <a:latin typeface="Meiryo"/>
                          <a:ea typeface="Meiryo"/>
                        </a:rPr>
                        <a:t>現場諸経費</a:t>
                      </a:r>
                    </a:p>
                  </a:txBody>
                  <a:tcPr anchor="ctr" marL="73152" marR="73152">
                    <a:solidFill>
                      <a:srgbClr val="F2F4F6"/>
                    </a:solidFill>
                  </a:tcPr>
                </a:tc>
                <a:tc>
                  <a:txBody>
                    <a:bodyPr/>
                    <a:lstStyle/>
                    <a:p>
                      <a:r>
                        <a:rPr sz="1100" b="0">
                          <a:solidFill>
                            <a:srgbClr val="1A1A1A"/>
                          </a:solidFill>
                          <a:latin typeface="Meiryo"/>
                          <a:ea typeface="Meiryo"/>
                        </a:rPr>
                        <a:t>20,000円/日</a:t>
                      </a:r>
                    </a:p>
                  </a:txBody>
                  <a:tcPr anchor="ctr" marL="73152" marR="73152">
                    <a:solidFill>
                      <a:srgbClr val="F2F4F6"/>
                    </a:solidFill>
                  </a:tcPr>
                </a:tc>
              </a:tr>
              <a:tr h="548644">
                <a:tc>
                  <a:txBody>
                    <a:bodyPr/>
                    <a:lstStyle/>
                    <a:p>
                      <a:r>
                        <a:rPr sz="1100" b="1">
                          <a:solidFill>
                            <a:srgbClr val="1A1A1A"/>
                          </a:solidFill>
                          <a:latin typeface="Meiryo"/>
                          <a:ea typeface="Meiryo"/>
                        </a:rPr>
                        <a:t>実費</a:t>
                      </a:r>
                    </a:p>
                  </a:txBody>
                  <a:tcPr anchor="ctr" marL="73152" marR="73152">
                    <a:solidFill>
                      <a:srgbClr val="FFFFFF"/>
                    </a:solidFill>
                  </a:tcPr>
                </a:tc>
                <a:tc>
                  <a:txBody>
                    <a:bodyPr/>
                    <a:lstStyle/>
                    <a:p>
                      <a:r>
                        <a:rPr sz="1100" b="0">
                          <a:solidFill>
                            <a:srgbClr val="1A1A1A"/>
                          </a:solidFill>
                          <a:latin typeface="Meiryo"/>
                          <a:ea typeface="Meiryo"/>
                        </a:rPr>
                        <a:t>交通運搬・宿泊・スーツ送料(基準料金表)</a:t>
                      </a:r>
                    </a:p>
                  </a:txBody>
                  <a:tcPr anchor="ctr" marL="73152" marR="73152">
                    <a:solidFill>
                      <a:srgbClr val="FFFFFF"/>
                    </a:solidFill>
                  </a:tcPr>
                </a:tc>
              </a:tr>
            </a:tbl>
          </a:graphicData>
        </a:graphic>
      </p:graphicFrame>
      <p:sp>
        <p:nvSpPr>
          <p:cNvPr id="11" name="Rounded Rectangle 10"/>
          <p:cNvSpPr/>
          <p:nvPr/>
        </p:nvSpPr>
        <p:spPr>
          <a:xfrm>
            <a:off x="640080" y="4892040"/>
            <a:ext cx="10881360" cy="1188720"/>
          </a:xfrm>
          <a:prstGeom prst="roundRect">
            <a:avLst>
              <a:gd name="adj" fmla="val 7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029200"/>
            <a:ext cx="10332720" cy="100584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年間IP使用料に含まれるもの</a:t>
            </a:r>
          </a:p>
          <a:p>
            <a:pPr algn="l">
              <a:spcAft>
                <a:spcPts val="400"/>
              </a:spcAft>
            </a:pPr>
            <a:r>
              <a:rPr sz="1150" b="0">
                <a:solidFill>
                  <a:srgbClr val="1A1A1A"/>
                </a:solidFill>
                <a:latin typeface="Meiryo"/>
                <a:ea typeface="Meiryo"/>
              </a:rPr>
              <a:t>店頭イベント・イベントキット・店頭訴求ツール・LP/Web・SNSでのIP利用、作成物の監修対応、8ヒーローの選択・切替、キャラクター素材・運営マニュアルの提供</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実施の成立条件</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特別価格の前提となる条件です。契約協議にて詳細を調整させてください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417320"/>
          <a:ext cx="10881360" cy="4535424"/>
        </p:xfrm>
        <a:graphic>
          <a:graphicData uri="http://schemas.openxmlformats.org/drawingml/2006/table">
            <a:tbl>
              <a:tblPr firstRow="1" bandRow="1">
                <a:tableStyleId>{5C22544A-7EE6-4342-B048-85BDC9FD1C3A}</a:tableStyleId>
              </a:tblPr>
              <a:tblGrid>
                <a:gridCol w="544068"/>
                <a:gridCol w="2720340"/>
                <a:gridCol w="7616952"/>
              </a:tblGrid>
              <a:tr h="566928">
                <a:tc>
                  <a:txBody>
                    <a:bodyPr/>
                    <a:lstStyle/>
                    <a:p>
                      <a:r>
                        <a:rPr sz="1100" b="1">
                          <a:solidFill>
                            <a:srgbClr val="FFFFFF"/>
                          </a:solidFill>
                          <a:latin typeface="Meiryo"/>
                          <a:ea typeface="Meiryo"/>
                        </a:rPr>
                        <a:t>#</a:t>
                      </a:r>
                    </a:p>
                  </a:txBody>
                  <a:tcPr anchor="ctr" marL="73152" marR="73152">
                    <a:solidFill>
                      <a:srgbClr val="232278"/>
                    </a:solidFill>
                  </a:tcPr>
                </a:tc>
                <a:tc>
                  <a:txBody>
                    <a:bodyPr/>
                    <a:lstStyle/>
                    <a:p>
                      <a:r>
                        <a:rPr sz="1100" b="1">
                          <a:solidFill>
                            <a:srgbClr val="FFFFFF"/>
                          </a:solidFill>
                          <a:latin typeface="Meiryo"/>
                          <a:ea typeface="Meiryo"/>
                        </a:rPr>
                        <a:t>条件</a:t>
                      </a:r>
                    </a:p>
                  </a:txBody>
                  <a:tcPr anchor="ctr" marL="73152" marR="73152">
                    <a:solidFill>
                      <a:srgbClr val="232278"/>
                    </a:solidFill>
                  </a:tcPr>
                </a:tc>
                <a:tc>
                  <a:txBody>
                    <a:bodyPr/>
                    <a:lstStyle/>
                    <a:p>
                      <a:r>
                        <a:rPr sz="1100" b="1">
                          <a:solidFill>
                            <a:srgbClr val="FFFFFF"/>
                          </a:solidFill>
                          <a:latin typeface="Meiryo"/>
                          <a:ea typeface="Meiryo"/>
                        </a:rPr>
                        <a:t>内容</a:t>
                      </a:r>
                    </a:p>
                  </a:txBody>
                  <a:tcPr anchor="ctr" marL="73152" marR="73152">
                    <a:solidFill>
                      <a:srgbClr val="232278"/>
                    </a:solidFill>
                  </a:tcPr>
                </a:tc>
              </a:tr>
              <a:tr h="566928">
                <a:tc>
                  <a:txBody>
                    <a:bodyPr/>
                    <a:lstStyle/>
                    <a:p>
                      <a:r>
                        <a:rPr sz="1100" b="0">
                          <a:solidFill>
                            <a:srgbClr val="1A1A1A"/>
                          </a:solidFill>
                          <a:latin typeface="Meiryo"/>
                          <a:ea typeface="Meiryo"/>
                        </a:rPr>
                        <a:t>1</a:t>
                      </a:r>
                    </a:p>
                  </a:txBody>
                  <a:tcPr anchor="ctr" marL="73152" marR="73152">
                    <a:solidFill>
                      <a:srgbClr val="FFFFFF"/>
                    </a:solidFill>
                  </a:tcPr>
                </a:tc>
                <a:tc>
                  <a:txBody>
                    <a:bodyPr/>
                    <a:lstStyle/>
                    <a:p>
                      <a:r>
                        <a:rPr sz="1100" b="1">
                          <a:solidFill>
                            <a:srgbClr val="1A1A1A"/>
                          </a:solidFill>
                          <a:latin typeface="Meiryo"/>
                          <a:ea typeface="Meiryo"/>
                        </a:rPr>
                        <a:t>契約期間・締結期限</a:t>
                      </a:r>
                    </a:p>
                  </a:txBody>
                  <a:tcPr anchor="ctr" marL="73152" marR="73152">
                    <a:solidFill>
                      <a:srgbClr val="FFFFFF"/>
                    </a:solidFill>
                  </a:tcPr>
                </a:tc>
                <a:tc>
                  <a:txBody>
                    <a:bodyPr/>
                    <a:lstStyle/>
                    <a:p>
                      <a:r>
                        <a:rPr sz="1100" b="0">
                          <a:solidFill>
                            <a:srgbClr val="1A1A1A"/>
                          </a:solidFill>
                          <a:latin typeface="Meiryo"/>
                          <a:ea typeface="Meiryo"/>
                        </a:rPr>
                        <a:t>2027年1月〜2029年3月(2年3ヶ月)。2026年11月末までのご締結(1月開始に必要な体制準備のため)</a:t>
                      </a:r>
                    </a:p>
                  </a:txBody>
                  <a:tcPr anchor="ctr" marL="73152" marR="73152">
                    <a:solidFill>
                      <a:srgbClr val="FFFFFF"/>
                    </a:solidFill>
                  </a:tcPr>
                </a:tc>
              </a:tr>
              <a:tr h="566928">
                <a:tc>
                  <a:txBody>
                    <a:bodyPr/>
                    <a:lstStyle/>
                    <a:p>
                      <a:r>
                        <a:rPr sz="1100" b="0">
                          <a:solidFill>
                            <a:srgbClr val="1A1A1A"/>
                          </a:solidFill>
                          <a:latin typeface="Meiryo"/>
                          <a:ea typeface="Meiryo"/>
                        </a:rPr>
                        <a:t>2</a:t>
                      </a:r>
                    </a:p>
                  </a:txBody>
                  <a:tcPr anchor="ctr" marL="73152" marR="73152">
                    <a:solidFill>
                      <a:srgbClr val="F2F4F6"/>
                    </a:solidFill>
                  </a:tcPr>
                </a:tc>
                <a:tc>
                  <a:txBody>
                    <a:bodyPr/>
                    <a:lstStyle/>
                    <a:p>
                      <a:r>
                        <a:rPr sz="1100" b="1">
                          <a:solidFill>
                            <a:srgbClr val="1A1A1A"/>
                          </a:solidFill>
                          <a:latin typeface="Meiryo"/>
                          <a:ea typeface="Meiryo"/>
                        </a:rPr>
                        <a:t>最低開催数保証</a:t>
                      </a:r>
                    </a:p>
                  </a:txBody>
                  <a:tcPr anchor="ctr" marL="73152" marR="73152">
                    <a:solidFill>
                      <a:srgbClr val="F2F4F6"/>
                    </a:solidFill>
                  </a:tcPr>
                </a:tc>
                <a:tc>
                  <a:txBody>
                    <a:bodyPr/>
                    <a:lstStyle/>
                    <a:p>
                      <a:r>
                        <a:rPr sz="1100" b="0">
                          <a:solidFill>
                            <a:srgbClr val="1A1A1A"/>
                          </a:solidFill>
                          <a:latin typeface="Meiryo"/>
                          <a:ea typeface="Meiryo"/>
                        </a:rPr>
                        <a:t>基準15ライン分の開催数を最低保証。未実施の場合も当該数量分を申し受け、各年度末に精算</a:t>
                      </a:r>
                    </a:p>
                  </a:txBody>
                  <a:tcPr anchor="ctr" marL="73152" marR="73152">
                    <a:solidFill>
                      <a:srgbClr val="F2F4F6"/>
                    </a:solidFill>
                  </a:tcPr>
                </a:tc>
              </a:tr>
              <a:tr h="566928">
                <a:tc>
                  <a:txBody>
                    <a:bodyPr/>
                    <a:lstStyle/>
                    <a:p>
                      <a:r>
                        <a:rPr sz="1100" b="0">
                          <a:solidFill>
                            <a:srgbClr val="1A1A1A"/>
                          </a:solidFill>
                          <a:latin typeface="Meiryo"/>
                          <a:ea typeface="Meiryo"/>
                        </a:rPr>
                        <a:t>3</a:t>
                      </a:r>
                    </a:p>
                  </a:txBody>
                  <a:tcPr anchor="ctr" marL="73152" marR="73152">
                    <a:solidFill>
                      <a:srgbClr val="FFFFFF"/>
                    </a:solidFill>
                  </a:tcPr>
                </a:tc>
                <a:tc>
                  <a:txBody>
                    <a:bodyPr/>
                    <a:lstStyle/>
                    <a:p>
                      <a:r>
                        <a:rPr sz="1100" b="1">
                          <a:solidFill>
                            <a:srgbClr val="1A1A1A"/>
                          </a:solidFill>
                          <a:latin typeface="Meiryo"/>
                          <a:ea typeface="Meiryo"/>
                        </a:rPr>
                        <a:t>開催確定とキャンセル</a:t>
                      </a:r>
                    </a:p>
                  </a:txBody>
                  <a:tcPr anchor="ctr" marL="73152" marR="73152">
                    <a:solidFill>
                      <a:srgbClr val="FFFFFF"/>
                    </a:solidFill>
                  </a:tcPr>
                </a:tc>
                <a:tc>
                  <a:txBody>
                    <a:bodyPr/>
                    <a:lstStyle/>
                    <a:p>
                      <a:r>
                        <a:rPr sz="1100" b="0">
                          <a:solidFill>
                            <a:srgbClr val="1A1A1A"/>
                          </a:solidFill>
                          <a:latin typeface="Meiryo"/>
                          <a:ea typeface="Meiryo"/>
                        </a:rPr>
                        <a:t>会場・日程は開催1ヶ月前までに確定。確定後のキャンセル料:1ヶ月前〜14日前30%/13日前〜7日前50%/6日前〜当日100%</a:t>
                      </a:r>
                    </a:p>
                  </a:txBody>
                  <a:tcPr anchor="ctr" marL="73152" marR="73152">
                    <a:solidFill>
                      <a:srgbClr val="FFFFFF"/>
                    </a:solidFill>
                  </a:tcPr>
                </a:tc>
              </a:tr>
              <a:tr h="566928">
                <a:tc>
                  <a:txBody>
                    <a:bodyPr/>
                    <a:lstStyle/>
                    <a:p>
                      <a:r>
                        <a:rPr sz="1100" b="0">
                          <a:solidFill>
                            <a:srgbClr val="1A1A1A"/>
                          </a:solidFill>
                          <a:latin typeface="Meiryo"/>
                          <a:ea typeface="Meiryo"/>
                        </a:rPr>
                        <a:t>4</a:t>
                      </a:r>
                    </a:p>
                  </a:txBody>
                  <a:tcPr anchor="ctr" marL="73152" marR="73152">
                    <a:solidFill>
                      <a:srgbClr val="F2F4F6"/>
                    </a:solidFill>
                  </a:tcPr>
                </a:tc>
                <a:tc>
                  <a:txBody>
                    <a:bodyPr/>
                    <a:lstStyle/>
                    <a:p>
                      <a:r>
                        <a:rPr sz="1100" b="1">
                          <a:solidFill>
                            <a:srgbClr val="1A1A1A"/>
                          </a:solidFill>
                          <a:latin typeface="Meiryo"/>
                          <a:ea typeface="Meiryo"/>
                        </a:rPr>
                        <a:t>ライン供給</a:t>
                      </a:r>
                    </a:p>
                  </a:txBody>
                  <a:tcPr anchor="ctr" marL="73152" marR="73152">
                    <a:solidFill>
                      <a:srgbClr val="F2F4F6"/>
                    </a:solidFill>
                  </a:tcPr>
                </a:tc>
                <a:tc>
                  <a:txBody>
                    <a:bodyPr/>
                    <a:lstStyle/>
                    <a:p>
                      <a:r>
                        <a:rPr sz="1100" b="0">
                          <a:solidFill>
                            <a:srgbClr val="1A1A1A"/>
                          </a:solidFill>
                          <a:latin typeface="Meiryo"/>
                          <a:ea typeface="Meiryo"/>
                        </a:rPr>
                        <a:t>基準15ライン。余裕月(1・4・6・11・12月)は最大20ラインまで増枠可(次頁)</a:t>
                      </a:r>
                    </a:p>
                  </a:txBody>
                  <a:tcPr anchor="ctr" marL="73152" marR="73152">
                    <a:solidFill>
                      <a:srgbClr val="F2F4F6"/>
                    </a:solidFill>
                  </a:tcPr>
                </a:tc>
              </a:tr>
              <a:tr h="566928">
                <a:tc>
                  <a:txBody>
                    <a:bodyPr/>
                    <a:lstStyle/>
                    <a:p>
                      <a:r>
                        <a:rPr sz="1100" b="0">
                          <a:solidFill>
                            <a:srgbClr val="1A1A1A"/>
                          </a:solidFill>
                          <a:latin typeface="Meiryo"/>
                          <a:ea typeface="Meiryo"/>
                        </a:rPr>
                        <a:t>5</a:t>
                      </a:r>
                    </a:p>
                  </a:txBody>
                  <a:tcPr anchor="ctr" marL="73152" marR="73152">
                    <a:solidFill>
                      <a:srgbClr val="FFFFFF"/>
                    </a:solidFill>
                  </a:tcPr>
                </a:tc>
                <a:tc>
                  <a:txBody>
                    <a:bodyPr/>
                    <a:lstStyle/>
                    <a:p>
                      <a:r>
                        <a:rPr sz="1100" b="1">
                          <a:solidFill>
                            <a:srgbClr val="1A1A1A"/>
                          </a:solidFill>
                          <a:latin typeface="Meiryo"/>
                          <a:ea typeface="Meiryo"/>
                        </a:rPr>
                        <a:t>お支払い</a:t>
                      </a:r>
                    </a:p>
                  </a:txBody>
                  <a:tcPr anchor="ctr" marL="73152" marR="73152">
                    <a:solidFill>
                      <a:srgbClr val="FFFFFF"/>
                    </a:solidFill>
                  </a:tcPr>
                </a:tc>
                <a:tc>
                  <a:txBody>
                    <a:bodyPr/>
                    <a:lstStyle/>
                    <a:p>
                      <a:r>
                        <a:rPr sz="1100" b="0">
                          <a:solidFill>
                            <a:srgbClr val="1A1A1A"/>
                          </a:solidFill>
                          <a:latin typeface="Meiryo"/>
                          <a:ea typeface="Meiryo"/>
                        </a:rPr>
                        <a:t>貴社EDI発注。IP使用料は年度前払い、保証分は四半期前払い(ご相談)。最低保証契約のため期間一括の発注形態をご相談</a:t>
                      </a:r>
                    </a:p>
                  </a:txBody>
                  <a:tcPr anchor="ctr" marL="73152" marR="73152">
                    <a:solidFill>
                      <a:srgbClr val="FFFFFF"/>
                    </a:solidFill>
                  </a:tcPr>
                </a:tc>
              </a:tr>
              <a:tr h="566928">
                <a:tc>
                  <a:txBody>
                    <a:bodyPr/>
                    <a:lstStyle/>
                    <a:p>
                      <a:r>
                        <a:rPr sz="1100" b="0">
                          <a:solidFill>
                            <a:srgbClr val="1A1A1A"/>
                          </a:solidFill>
                          <a:latin typeface="Meiryo"/>
                          <a:ea typeface="Meiryo"/>
                        </a:rPr>
                        <a:t>6</a:t>
                      </a:r>
                    </a:p>
                  </a:txBody>
                  <a:tcPr anchor="ctr" marL="73152" marR="73152">
                    <a:solidFill>
                      <a:srgbClr val="F2F4F6"/>
                    </a:solidFill>
                  </a:tcPr>
                </a:tc>
                <a:tc>
                  <a:txBody>
                    <a:bodyPr/>
                    <a:lstStyle/>
                    <a:p>
                      <a:r>
                        <a:rPr sz="1100" b="1">
                          <a:solidFill>
                            <a:srgbClr val="1A1A1A"/>
                          </a:solidFill>
                          <a:latin typeface="Meiryo"/>
                          <a:ea typeface="Meiryo"/>
                        </a:rPr>
                        <a:t>エリア・キャラクター</a:t>
                      </a:r>
                    </a:p>
                  </a:txBody>
                  <a:tcPr anchor="ctr" marL="73152" marR="73152">
                    <a:solidFill>
                      <a:srgbClr val="F2F4F6"/>
                    </a:solidFill>
                  </a:tcPr>
                </a:tc>
                <a:tc>
                  <a:txBody>
                    <a:bodyPr/>
                    <a:lstStyle/>
                    <a:p>
                      <a:r>
                        <a:rPr sz="1100" b="0">
                          <a:solidFill>
                            <a:srgbClr val="1A1A1A"/>
                          </a:solidFill>
                          <a:latin typeface="Meiryo"/>
                          <a:ea typeface="Meiryo"/>
                        </a:rPr>
                        <a:t>北関東エリアは2027年1〜3月は実施不可(4月以降可)。ウルトラセブンは対象外。出演は8ヒーロー</a:t>
                      </a:r>
                    </a:p>
                  </a:txBody>
                  <a:tcPr anchor="ctr" marL="73152" marR="73152">
                    <a:solidFill>
                      <a:srgbClr val="F2F4F6"/>
                    </a:solidFill>
                  </a:tcPr>
                </a:tc>
              </a:tr>
              <a:tr h="566928">
                <a:tc>
                  <a:txBody>
                    <a:bodyPr/>
                    <a:lstStyle/>
                    <a:p>
                      <a:r>
                        <a:rPr sz="1100" b="0">
                          <a:solidFill>
                            <a:srgbClr val="1A1A1A"/>
                          </a:solidFill>
                          <a:latin typeface="Meiryo"/>
                          <a:ea typeface="Meiryo"/>
                        </a:rPr>
                        <a:t>7</a:t>
                      </a:r>
                    </a:p>
                  </a:txBody>
                  <a:tcPr anchor="ctr" marL="73152" marR="73152">
                    <a:solidFill>
                      <a:srgbClr val="FFFFFF"/>
                    </a:solidFill>
                  </a:tcPr>
                </a:tc>
                <a:tc>
                  <a:txBody>
                    <a:bodyPr/>
                    <a:lstStyle/>
                    <a:p>
                      <a:r>
                        <a:rPr sz="1100" b="1">
                          <a:solidFill>
                            <a:srgbClr val="1A1A1A"/>
                          </a:solidFill>
                          <a:latin typeface="Meiryo"/>
                          <a:ea typeface="Meiryo"/>
                        </a:rPr>
                        <a:t>排他条件</a:t>
                      </a:r>
                    </a:p>
                  </a:txBody>
                  <a:tcPr anchor="ctr" marL="73152" marR="73152">
                    <a:solidFill>
                      <a:srgbClr val="FFFFFF"/>
                    </a:solidFill>
                  </a:tcPr>
                </a:tc>
                <a:tc>
                  <a:txBody>
                    <a:bodyPr/>
                    <a:lstStyle/>
                    <a:p>
                      <a:r>
                        <a:rPr sz="1100" b="0">
                          <a:solidFill>
                            <a:srgbClr val="1A1A1A"/>
                          </a:solidFill>
                          <a:latin typeface="Meiryo"/>
                          <a:ea typeface="Meiryo"/>
                        </a:rPr>
                        <a:t>契約期間中、当社は国内の他の携帯キャリア(3社)との店頭イベント契約を行いません</a:t>
                      </a:r>
                    </a:p>
                  </a:txBody>
                  <a:tcPr anchor="ctr" marL="73152" marR="73152">
                    <a:solidFill>
                      <a:srgbClr val="FFFFFF"/>
                    </a:solidFill>
                  </a:tcPr>
                </a:tc>
              </a:tr>
            </a:tbl>
          </a:graphicData>
        </a:graphic>
      </p:graphicFrame>
      <p:sp>
        <p:nvSpPr>
          <p:cNvPr id="9" name="TextBox 8"/>
          <p:cNvSpPr txBox="1"/>
          <p:nvPr/>
        </p:nvSpPr>
        <p:spPr>
          <a:xfrm>
            <a:off x="640080" y="5943600"/>
            <a:ext cx="10881360" cy="45720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キャンセル料は7月ご提案時のスポット向け規定から、本契約(最低保証・1ヶ月前確定フロー)向けの規定に更新しています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3. ライン供給計画(2027年1月〜2029年3月)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基準15ラインを最低保証の対象とし、余裕のある月は最大20ラインまで増枠できます。詳細は別紙(月別供給計画)をご参照ください</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417320"/>
          <a:ext cx="10881356" cy="1828800"/>
        </p:xfrm>
        <a:graphic>
          <a:graphicData uri="http://schemas.openxmlformats.org/drawingml/2006/table">
            <a:tbl>
              <a:tblPr firstRow="1" bandRow="1">
                <a:tableStyleId>{5C22544A-7EE6-4342-B048-85BDC9FD1C3A}</a:tableStyleId>
              </a:tblPr>
              <a:tblGrid>
                <a:gridCol w="2123192"/>
                <a:gridCol w="729847"/>
                <a:gridCol w="729847"/>
                <a:gridCol w="729847"/>
                <a:gridCol w="729847"/>
                <a:gridCol w="729847"/>
                <a:gridCol w="729847"/>
                <a:gridCol w="729847"/>
                <a:gridCol w="729847"/>
                <a:gridCol w="729847"/>
                <a:gridCol w="729847"/>
                <a:gridCol w="729847"/>
                <a:gridCol w="729847"/>
              </a:tblGrid>
              <a:tr h="457200">
                <a:tc>
                  <a:txBody>
                    <a:bodyPr/>
                    <a:lstStyle/>
                    <a:p>
                      <a:r>
                        <a:rPr sz="1100" b="1">
                          <a:solidFill>
                            <a:srgbClr val="FFFFFF"/>
                          </a:solidFill>
                          <a:latin typeface="Meiryo"/>
                          <a:ea typeface="Meiryo"/>
                        </a:rPr>
                        <a:t/>
                      </a:r>
                    </a:p>
                  </a:txBody>
                  <a:tcPr anchor="ctr" marL="73152" marR="73152">
                    <a:solidFill>
                      <a:srgbClr val="232278"/>
                    </a:solidFill>
                  </a:tcPr>
                </a:tc>
                <a:tc>
                  <a:txBody>
                    <a:bodyPr/>
                    <a:lstStyle/>
                    <a:p>
                      <a:r>
                        <a:rPr sz="1100" b="1">
                          <a:solidFill>
                            <a:srgbClr val="FFFFFF"/>
                          </a:solidFill>
                          <a:latin typeface="Meiryo"/>
                          <a:ea typeface="Meiryo"/>
                        </a:rPr>
                        <a:t>1月</a:t>
                      </a:r>
                    </a:p>
                  </a:txBody>
                  <a:tcPr anchor="ctr" marL="73152" marR="73152">
                    <a:solidFill>
                      <a:srgbClr val="232278"/>
                    </a:solidFill>
                  </a:tcPr>
                </a:tc>
                <a:tc>
                  <a:txBody>
                    <a:bodyPr/>
                    <a:lstStyle/>
                    <a:p>
                      <a:r>
                        <a:rPr sz="1100" b="1">
                          <a:solidFill>
                            <a:srgbClr val="FFFFFF"/>
                          </a:solidFill>
                          <a:latin typeface="Meiryo"/>
                          <a:ea typeface="Meiryo"/>
                        </a:rPr>
                        <a:t>2月</a:t>
                      </a:r>
                    </a:p>
                  </a:txBody>
                  <a:tcPr anchor="ctr" marL="73152" marR="73152">
                    <a:solidFill>
                      <a:srgbClr val="232278"/>
                    </a:solidFill>
                  </a:tcPr>
                </a:tc>
                <a:tc>
                  <a:txBody>
                    <a:bodyPr/>
                    <a:lstStyle/>
                    <a:p>
                      <a:r>
                        <a:rPr sz="1100" b="1">
                          <a:solidFill>
                            <a:srgbClr val="FFFFFF"/>
                          </a:solidFill>
                          <a:latin typeface="Meiryo"/>
                          <a:ea typeface="Meiryo"/>
                        </a:rPr>
                        <a:t>3月</a:t>
                      </a:r>
                    </a:p>
                  </a:txBody>
                  <a:tcPr anchor="ctr" marL="73152" marR="73152">
                    <a:solidFill>
                      <a:srgbClr val="232278"/>
                    </a:solidFill>
                  </a:tcPr>
                </a:tc>
                <a:tc>
                  <a:txBody>
                    <a:bodyPr/>
                    <a:lstStyle/>
                    <a:p>
                      <a:r>
                        <a:rPr sz="1100" b="1">
                          <a:solidFill>
                            <a:srgbClr val="FFFFFF"/>
                          </a:solidFill>
                          <a:latin typeface="Meiryo"/>
                          <a:ea typeface="Meiryo"/>
                        </a:rPr>
                        <a:t>4月</a:t>
                      </a:r>
                    </a:p>
                  </a:txBody>
                  <a:tcPr anchor="ctr" marL="73152" marR="73152">
                    <a:solidFill>
                      <a:srgbClr val="232278"/>
                    </a:solidFill>
                  </a:tcPr>
                </a:tc>
                <a:tc>
                  <a:txBody>
                    <a:bodyPr/>
                    <a:lstStyle/>
                    <a:p>
                      <a:r>
                        <a:rPr sz="1100" b="1">
                          <a:solidFill>
                            <a:srgbClr val="FFFFFF"/>
                          </a:solidFill>
                          <a:latin typeface="Meiryo"/>
                          <a:ea typeface="Meiryo"/>
                        </a:rPr>
                        <a:t>5月</a:t>
                      </a:r>
                    </a:p>
                  </a:txBody>
                  <a:tcPr anchor="ctr" marL="73152" marR="73152">
                    <a:solidFill>
                      <a:srgbClr val="232278"/>
                    </a:solidFill>
                  </a:tcPr>
                </a:tc>
                <a:tc>
                  <a:txBody>
                    <a:bodyPr/>
                    <a:lstStyle/>
                    <a:p>
                      <a:r>
                        <a:rPr sz="1100" b="1">
                          <a:solidFill>
                            <a:srgbClr val="FFFFFF"/>
                          </a:solidFill>
                          <a:latin typeface="Meiryo"/>
                          <a:ea typeface="Meiryo"/>
                        </a:rPr>
                        <a:t>6月</a:t>
                      </a:r>
                    </a:p>
                  </a:txBody>
                  <a:tcPr anchor="ctr" marL="73152" marR="73152">
                    <a:solidFill>
                      <a:srgbClr val="232278"/>
                    </a:solidFill>
                  </a:tcPr>
                </a:tc>
                <a:tc>
                  <a:txBody>
                    <a:bodyPr/>
                    <a:lstStyle/>
                    <a:p>
                      <a:r>
                        <a:rPr sz="1100" b="1">
                          <a:solidFill>
                            <a:srgbClr val="FFFFFF"/>
                          </a:solidFill>
                          <a:latin typeface="Meiryo"/>
                          <a:ea typeface="Meiryo"/>
                        </a:rPr>
                        <a:t>7月</a:t>
                      </a:r>
                    </a:p>
                  </a:txBody>
                  <a:tcPr anchor="ctr" marL="73152" marR="73152">
                    <a:solidFill>
                      <a:srgbClr val="232278"/>
                    </a:solidFill>
                  </a:tcPr>
                </a:tc>
                <a:tc>
                  <a:txBody>
                    <a:bodyPr/>
                    <a:lstStyle/>
                    <a:p>
                      <a:r>
                        <a:rPr sz="1100" b="1">
                          <a:solidFill>
                            <a:srgbClr val="FFFFFF"/>
                          </a:solidFill>
                          <a:latin typeface="Meiryo"/>
                          <a:ea typeface="Meiryo"/>
                        </a:rPr>
                        <a:t>8月</a:t>
                      </a:r>
                    </a:p>
                  </a:txBody>
                  <a:tcPr anchor="ctr" marL="73152" marR="73152">
                    <a:solidFill>
                      <a:srgbClr val="232278"/>
                    </a:solidFill>
                  </a:tcPr>
                </a:tc>
                <a:tc>
                  <a:txBody>
                    <a:bodyPr/>
                    <a:lstStyle/>
                    <a:p>
                      <a:r>
                        <a:rPr sz="1100" b="1">
                          <a:solidFill>
                            <a:srgbClr val="FFFFFF"/>
                          </a:solidFill>
                          <a:latin typeface="Meiryo"/>
                          <a:ea typeface="Meiryo"/>
                        </a:rPr>
                        <a:t>9月</a:t>
                      </a:r>
                    </a:p>
                  </a:txBody>
                  <a:tcPr anchor="ctr" marL="73152" marR="73152">
                    <a:solidFill>
                      <a:srgbClr val="232278"/>
                    </a:solidFill>
                  </a:tcPr>
                </a:tc>
                <a:tc>
                  <a:txBody>
                    <a:bodyPr/>
                    <a:lstStyle/>
                    <a:p>
                      <a:r>
                        <a:rPr sz="1100" b="1">
                          <a:solidFill>
                            <a:srgbClr val="FFFFFF"/>
                          </a:solidFill>
                          <a:latin typeface="Meiryo"/>
                          <a:ea typeface="Meiryo"/>
                        </a:rPr>
                        <a:t>10月</a:t>
                      </a:r>
                    </a:p>
                  </a:txBody>
                  <a:tcPr anchor="ctr" marL="73152" marR="73152">
                    <a:solidFill>
                      <a:srgbClr val="232278"/>
                    </a:solidFill>
                  </a:tcPr>
                </a:tc>
                <a:tc>
                  <a:txBody>
                    <a:bodyPr/>
                    <a:lstStyle/>
                    <a:p>
                      <a:r>
                        <a:rPr sz="1100" b="1">
                          <a:solidFill>
                            <a:srgbClr val="FFFFFF"/>
                          </a:solidFill>
                          <a:latin typeface="Meiryo"/>
                          <a:ea typeface="Meiryo"/>
                        </a:rPr>
                        <a:t>11月</a:t>
                      </a:r>
                    </a:p>
                  </a:txBody>
                  <a:tcPr anchor="ctr" marL="73152" marR="73152">
                    <a:solidFill>
                      <a:srgbClr val="232278"/>
                    </a:solidFill>
                  </a:tcPr>
                </a:tc>
                <a:tc>
                  <a:txBody>
                    <a:bodyPr/>
                    <a:lstStyle/>
                    <a:p>
                      <a:r>
                        <a:rPr sz="1100" b="1">
                          <a:solidFill>
                            <a:srgbClr val="FFFFFF"/>
                          </a:solidFill>
                          <a:latin typeface="Meiryo"/>
                          <a:ea typeface="Meiryo"/>
                        </a:rPr>
                        <a:t>12月</a:t>
                      </a:r>
                    </a:p>
                  </a:txBody>
                  <a:tcPr anchor="ctr" marL="73152" marR="73152">
                    <a:solidFill>
                      <a:srgbClr val="232278"/>
                    </a:solidFill>
                  </a:tcPr>
                </a:tc>
              </a:tr>
              <a:tr h="457200">
                <a:tc>
                  <a:txBody>
                    <a:bodyPr/>
                    <a:lstStyle/>
                    <a:p>
                      <a:r>
                        <a:rPr sz="1100" b="1">
                          <a:solidFill>
                            <a:srgbClr val="1A1A1A"/>
                          </a:solidFill>
                          <a:latin typeface="Meiryo"/>
                          <a:ea typeface="Meiryo"/>
                        </a:rPr>
                        <a:t>開催日数(土日)</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9</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10</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c>
                  <a:txBody>
                    <a:bodyPr/>
                    <a:lstStyle/>
                    <a:p>
                      <a:r>
                        <a:rPr sz="1100" b="0">
                          <a:solidFill>
                            <a:srgbClr val="1A1A1A"/>
                          </a:solidFill>
                          <a:latin typeface="Meiryo"/>
                          <a:ea typeface="Meiryo"/>
                        </a:rPr>
                        <a:t>8</a:t>
                      </a:r>
                    </a:p>
                  </a:txBody>
                  <a:tcPr anchor="ctr" marL="73152" marR="73152">
                    <a:solidFill>
                      <a:srgbClr val="FFFFFF"/>
                    </a:solidFill>
                  </a:tcPr>
                </a:tc>
              </a:tr>
              <a:tr h="457200">
                <a:tc>
                  <a:txBody>
                    <a:bodyPr/>
                    <a:lstStyle/>
                    <a:p>
                      <a:r>
                        <a:rPr sz="1100" b="1">
                          <a:solidFill>
                            <a:srgbClr val="1A1A1A"/>
                          </a:solidFill>
                          <a:latin typeface="Meiryo"/>
                          <a:ea typeface="Meiryo"/>
                        </a:rPr>
                        <a:t>基準ライン数</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c>
                  <a:txBody>
                    <a:bodyPr/>
                    <a:lstStyle/>
                    <a:p>
                      <a:r>
                        <a:rPr sz="1100" b="0">
                          <a:solidFill>
                            <a:srgbClr val="1A1A1A"/>
                          </a:solidFill>
                          <a:latin typeface="Meiryo"/>
                          <a:ea typeface="Meiryo"/>
                        </a:rPr>
                        <a:t>15</a:t>
                      </a:r>
                    </a:p>
                  </a:txBody>
                  <a:tcPr anchor="ctr" marL="73152" marR="73152">
                    <a:solidFill>
                      <a:srgbClr val="F2F4F6"/>
                    </a:solidFill>
                  </a:tcPr>
                </a:tc>
              </a:tr>
              <a:tr h="457200">
                <a:tc>
                  <a:txBody>
                    <a:bodyPr/>
                    <a:lstStyle/>
                    <a:p>
                      <a:r>
                        <a:rPr sz="1100" b="1">
                          <a:solidFill>
                            <a:srgbClr val="1A1A1A"/>
                          </a:solidFill>
                          <a:latin typeface="Meiryo"/>
                          <a:ea typeface="Meiryo"/>
                        </a:rPr>
                        <a:t>最大ライン数</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0">
                          <a:solidFill>
                            <a:srgbClr val="1A1A1A"/>
                          </a:solidFill>
                          <a:latin typeface="Meiryo"/>
                          <a:ea typeface="Meiryo"/>
                        </a:rPr>
                        <a:t>15</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c>
                  <a:txBody>
                    <a:bodyPr/>
                    <a:lstStyle/>
                    <a:p>
                      <a:r>
                        <a:rPr sz="1100" b="1">
                          <a:solidFill>
                            <a:srgbClr val="C00000"/>
                          </a:solidFill>
                          <a:latin typeface="Meiryo"/>
                          <a:ea typeface="Meiryo"/>
                        </a:rPr>
                        <a:t>20</a:t>
                      </a:r>
                    </a:p>
                  </a:txBody>
                  <a:tcPr anchor="ctr" marL="73152" marR="73152">
                    <a:solidFill>
                      <a:srgbClr val="FFFFFF"/>
                    </a:solidFill>
                  </a:tcPr>
                </a:tc>
              </a:tr>
            </a:tbl>
          </a:graphicData>
        </a:graphic>
      </p:graphicFrame>
      <p:sp>
        <p:nvSpPr>
          <p:cNvPr id="9" name="TextBox 8"/>
          <p:cNvSpPr txBox="1"/>
          <p:nvPr/>
        </p:nvSpPr>
        <p:spPr>
          <a:xfrm>
            <a:off x="640080" y="3429000"/>
            <a:ext cx="10881360" cy="36576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 2027年・2028年とも同パターン。2029年1〜3月は1月が最大20ライン、2〜3月は基準15ライン</a:t>
            </a:r>
          </a:p>
        </p:txBody>
      </p:sp>
      <p:graphicFrame>
        <p:nvGraphicFramePr>
          <p:cNvPr id="10" name="Table 9"/>
          <p:cNvGraphicFramePr>
            <a:graphicFrameLocks noGrp="1"/>
          </p:cNvGraphicFramePr>
          <p:nvPr/>
        </p:nvGraphicFramePr>
        <p:xfrm>
          <a:off x="640080" y="3931920"/>
          <a:ext cx="10881360" cy="1508760"/>
        </p:xfrm>
        <a:graphic>
          <a:graphicData uri="http://schemas.openxmlformats.org/drawingml/2006/table">
            <a:tbl>
              <a:tblPr firstRow="1" bandRow="1">
                <a:tableStyleId>{5C22544A-7EE6-4342-B048-85BDC9FD1C3A}</a:tableStyleId>
              </a:tblPr>
              <a:tblGrid>
                <a:gridCol w="3627120"/>
                <a:gridCol w="1813560"/>
                <a:gridCol w="2720340"/>
                <a:gridCol w="2720340"/>
              </a:tblGrid>
              <a:tr h="502920">
                <a:tc>
                  <a:txBody>
                    <a:bodyPr/>
                    <a:lstStyle/>
                    <a:p>
                      <a:r>
                        <a:rPr sz="1150" b="1">
                          <a:solidFill>
                            <a:srgbClr val="FFFFFF"/>
                          </a:solidFill>
                          <a:latin typeface="Meiryo"/>
                          <a:ea typeface="Meiryo"/>
                        </a:rPr>
                        <a:t>27ヶ月合計</a:t>
                      </a:r>
                    </a:p>
                  </a:txBody>
                  <a:tcPr anchor="ctr" marL="73152" marR="73152">
                    <a:solidFill>
                      <a:srgbClr val="232278"/>
                    </a:solidFill>
                  </a:tcPr>
                </a:tc>
                <a:tc>
                  <a:txBody>
                    <a:bodyPr/>
                    <a:lstStyle/>
                    <a:p>
                      <a:r>
                        <a:rPr sz="1150" b="1">
                          <a:solidFill>
                            <a:srgbClr val="FFFFFF"/>
                          </a:solidFill>
                          <a:latin typeface="Meiryo"/>
                          <a:ea typeface="Meiryo"/>
                        </a:rPr>
                        <a:t>開催日数</a:t>
                      </a:r>
                    </a:p>
                  </a:txBody>
                  <a:tcPr anchor="ctr" marL="73152" marR="73152">
                    <a:solidFill>
                      <a:srgbClr val="232278"/>
                    </a:solidFill>
                  </a:tcPr>
                </a:tc>
                <a:tc>
                  <a:txBody>
                    <a:bodyPr/>
                    <a:lstStyle/>
                    <a:p>
                      <a:r>
                        <a:rPr sz="1150" b="1">
                          <a:solidFill>
                            <a:srgbClr val="FFFFFF"/>
                          </a:solidFill>
                          <a:latin typeface="Meiryo"/>
                          <a:ea typeface="Meiryo"/>
                        </a:rPr>
                        <a:t>開催数(ライン×日)</a:t>
                      </a:r>
                    </a:p>
                  </a:txBody>
                  <a:tcPr anchor="ctr" marL="73152" marR="73152">
                    <a:solidFill>
                      <a:srgbClr val="232278"/>
                    </a:solidFill>
                  </a:tcPr>
                </a:tc>
                <a:tc>
                  <a:txBody>
                    <a:bodyPr/>
                    <a:lstStyle/>
                    <a:p>
                      <a:r>
                        <a:rPr sz="1150" b="1">
                          <a:solidFill>
                            <a:srgbClr val="FFFFFF"/>
                          </a:solidFill>
                          <a:latin typeface="Meiryo"/>
                          <a:ea typeface="Meiryo"/>
                        </a:rPr>
                        <a:t>稼働費(税別)</a:t>
                      </a:r>
                    </a:p>
                  </a:txBody>
                  <a:tcPr anchor="ctr" marL="73152" marR="73152">
                    <a:solidFill>
                      <a:srgbClr val="232278"/>
                    </a:solidFill>
                  </a:tcPr>
                </a:tc>
              </a:tr>
              <a:tr h="502920">
                <a:tc>
                  <a:txBody>
                    <a:bodyPr/>
                    <a:lstStyle/>
                    <a:p>
                      <a:r>
                        <a:rPr sz="1150" b="1">
                          <a:solidFill>
                            <a:srgbClr val="1A1A1A"/>
                          </a:solidFill>
                          <a:latin typeface="Meiryo"/>
                          <a:ea typeface="Meiryo"/>
                        </a:rPr>
                        <a:t>基準(15ライン固定)</a:t>
                      </a:r>
                    </a:p>
                  </a:txBody>
                  <a:tcPr anchor="ctr" marL="73152" marR="73152">
                    <a:solidFill>
                      <a:srgbClr val="FFFFFF"/>
                    </a:solidFill>
                  </a:tcPr>
                </a:tc>
                <a:tc>
                  <a:txBody>
                    <a:bodyPr/>
                    <a:lstStyle/>
                    <a:p>
                      <a:r>
                        <a:rPr sz="1150" b="0">
                          <a:solidFill>
                            <a:srgbClr val="1A1A1A"/>
                          </a:solidFill>
                          <a:latin typeface="Meiryo"/>
                          <a:ea typeface="Meiryo"/>
                        </a:rPr>
                        <a:t>234日</a:t>
                      </a:r>
                    </a:p>
                  </a:txBody>
                  <a:tcPr anchor="ctr" marL="73152" marR="73152">
                    <a:solidFill>
                      <a:srgbClr val="FFFFFF"/>
                    </a:solidFill>
                  </a:tcPr>
                </a:tc>
                <a:tc>
                  <a:txBody>
                    <a:bodyPr/>
                    <a:lstStyle/>
                    <a:p>
                      <a:r>
                        <a:rPr sz="1150" b="0">
                          <a:solidFill>
                            <a:srgbClr val="1A1A1A"/>
                          </a:solidFill>
                          <a:latin typeface="Meiryo"/>
                          <a:ea typeface="Meiryo"/>
                        </a:rPr>
                        <a:t>3,510現場</a:t>
                      </a:r>
                    </a:p>
                  </a:txBody>
                  <a:tcPr anchor="ctr" marL="73152" marR="73152">
                    <a:solidFill>
                      <a:srgbClr val="FFFFFF"/>
                    </a:solidFill>
                  </a:tcPr>
                </a:tc>
                <a:tc>
                  <a:txBody>
                    <a:bodyPr/>
                    <a:lstStyle/>
                    <a:p>
                      <a:r>
                        <a:rPr sz="1150" b="1">
                          <a:solidFill>
                            <a:srgbClr val="1A1A1A"/>
                          </a:solidFill>
                          <a:latin typeface="Meiryo"/>
                          <a:ea typeface="Meiryo"/>
                        </a:rPr>
                        <a:t>3億5,100万円</a:t>
                      </a:r>
                    </a:p>
                  </a:txBody>
                  <a:tcPr anchor="ctr" marL="73152" marR="73152">
                    <a:solidFill>
                      <a:srgbClr val="FFFFFF"/>
                    </a:solidFill>
                  </a:tcPr>
                </a:tc>
              </a:tr>
              <a:tr h="502920">
                <a:tc>
                  <a:txBody>
                    <a:bodyPr/>
                    <a:lstStyle/>
                    <a:p>
                      <a:r>
                        <a:rPr sz="1150" b="1">
                          <a:solidFill>
                            <a:srgbClr val="1A1A1A"/>
                          </a:solidFill>
                          <a:latin typeface="Meiryo"/>
                          <a:ea typeface="Meiryo"/>
                        </a:rPr>
                        <a:t>最大(余裕月20ライン)</a:t>
                      </a:r>
                    </a:p>
                  </a:txBody>
                  <a:tcPr anchor="ctr" marL="73152" marR="73152">
                    <a:solidFill>
                      <a:srgbClr val="F2F4F6"/>
                    </a:solidFill>
                  </a:tcPr>
                </a:tc>
                <a:tc>
                  <a:txBody>
                    <a:bodyPr/>
                    <a:lstStyle/>
                    <a:p>
                      <a:r>
                        <a:rPr sz="1150" b="0">
                          <a:solidFill>
                            <a:srgbClr val="1A1A1A"/>
                          </a:solidFill>
                          <a:latin typeface="Meiryo"/>
                          <a:ea typeface="Meiryo"/>
                        </a:rPr>
                        <a:t>234日</a:t>
                      </a:r>
                    </a:p>
                  </a:txBody>
                  <a:tcPr anchor="ctr" marL="73152" marR="73152">
                    <a:solidFill>
                      <a:srgbClr val="F2F4F6"/>
                    </a:solidFill>
                  </a:tcPr>
                </a:tc>
                <a:tc>
                  <a:txBody>
                    <a:bodyPr/>
                    <a:lstStyle/>
                    <a:p>
                      <a:r>
                        <a:rPr sz="1150" b="0">
                          <a:solidFill>
                            <a:srgbClr val="1A1A1A"/>
                          </a:solidFill>
                          <a:latin typeface="Meiryo"/>
                          <a:ea typeface="Meiryo"/>
                        </a:rPr>
                        <a:t>3,980現場</a:t>
                      </a:r>
                    </a:p>
                  </a:txBody>
                  <a:tcPr anchor="ctr" marL="73152" marR="73152">
                    <a:solidFill>
                      <a:srgbClr val="F2F4F6"/>
                    </a:solidFill>
                  </a:tcPr>
                </a:tc>
                <a:tc>
                  <a:txBody>
                    <a:bodyPr/>
                    <a:lstStyle/>
                    <a:p>
                      <a:r>
                        <a:rPr sz="1150" b="1">
                          <a:solidFill>
                            <a:srgbClr val="C00000"/>
                          </a:solidFill>
                          <a:latin typeface="Meiryo"/>
                          <a:ea typeface="Meiryo"/>
                        </a:rPr>
                        <a:t>3億9,800万円</a:t>
                      </a:r>
                    </a:p>
                  </a:txBody>
                  <a:tcPr anchor="ctr" marL="73152" marR="73152">
                    <a:solidFill>
                      <a:srgbClr val="F2F4F6"/>
                    </a:solidFill>
                  </a:tcPr>
                </a:tc>
              </a:tr>
            </a:tbl>
          </a:graphicData>
        </a:graphic>
      </p:graphicFrame>
      <p:sp>
        <p:nvSpPr>
          <p:cNvPr id="11" name="TextBox 10"/>
          <p:cNvSpPr txBox="1"/>
          <p:nvPr/>
        </p:nvSpPr>
        <p:spPr>
          <a:xfrm>
            <a:off x="640080" y="5577840"/>
            <a:ext cx="10881360" cy="731520"/>
          </a:xfrm>
          <a:prstGeom prst="rect">
            <a:avLst/>
          </a:prstGeom>
          <a:noFill/>
        </p:spPr>
        <p:txBody>
          <a:bodyPr wrap="square" anchor="t" lIns="0" rIns="0" tIns="0" bIns="0">
            <a:spAutoFit/>
          </a:bodyPr>
          <a:lstStyle/>
          <a:p>
            <a:pPr algn="l">
              <a:spcAft>
                <a:spcPts val="400"/>
              </a:spcAft>
            </a:pPr>
            <a:r>
              <a:rPr sz="1100" b="0">
                <a:solidFill>
                  <a:srgbClr val="1A1A1A"/>
                </a:solidFill>
                <a:latin typeface="Meiryo"/>
                <a:ea typeface="Meiryo"/>
              </a:rPr>
              <a:t>・2月・3月・8月・9月は当社主催行事との調整月のため基準15ラインでの運用となります　・増枠分は前月1日の開催確定時に確定します</a:t>
            </a:r>
          </a:p>
          <a:p>
            <a:pPr algn="l">
              <a:spcAft>
                <a:spcPts val="400"/>
              </a:spcAft>
            </a:pPr>
            <a:r>
              <a:rPr sz="1100" b="0">
                <a:solidFill>
                  <a:srgbClr val="1A1A1A"/>
                </a:solidFill>
                <a:latin typeface="Meiryo"/>
                <a:ea typeface="Meiryo"/>
              </a:rPr>
              <a:t>・上記は稼働費のみ。年間IP使用料・現場諸経費・実費は別途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制作物・権利まわりの進め方</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キャンペーンビジュアルの確定を起点に、仮申請フローで各制作物を確定していきます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sp>
        <p:nvSpPr>
          <p:cNvPr id="8" name="Rounded Rectangle 7"/>
          <p:cNvSpPr/>
          <p:nvPr/>
        </p:nvSpPr>
        <p:spPr>
          <a:xfrm>
            <a:off x="64008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① キャンペーン名称・キービジュアルの策定(11月中)</a:t>
            </a:r>
          </a:p>
          <a:p>
            <a:pPr algn="l">
              <a:spcAft>
                <a:spcPts val="400"/>
              </a:spcAft>
            </a:pPr>
            <a:r>
              <a:rPr sz="1100" b="0">
                <a:solidFill>
                  <a:srgbClr val="1A1A1A"/>
                </a:solidFill>
                <a:latin typeface="Meiryo"/>
                <a:ea typeface="Meiryo"/>
              </a:rPr>
              <a:t>・名称とKVを両社で確定(ノベルティ可否判定の基準になります)</a:t>
            </a:r>
          </a:p>
          <a:p>
            <a:pPr algn="l">
              <a:spcAft>
                <a:spcPts val="400"/>
              </a:spcAft>
            </a:pPr>
            <a:r>
              <a:rPr sz="1100" b="0">
                <a:solidFill>
                  <a:srgbClr val="1A1A1A"/>
                </a:solidFill>
                <a:latin typeface="Meiryo"/>
                <a:ea typeface="Meiryo"/>
              </a:rPr>
              <a:t>・素材:複数ヒーローの集合ビジュアル、色調の揃った個体素材、ブランドロゴ</a:t>
            </a:r>
          </a:p>
          <a:p>
            <a:pPr algn="l">
              <a:spcAft>
                <a:spcPts val="400"/>
              </a:spcAft>
            </a:pPr>
            <a:r>
              <a:rPr sz="1100" b="0">
                <a:solidFill>
                  <a:srgbClr val="1A1A1A"/>
                </a:solidFill>
                <a:latin typeface="Meiryo"/>
                <a:ea typeface="Meiryo"/>
              </a:rPr>
              <a:t>・貴社デザイン部門向けに素材の使い方をレクチャー(監修回数の最小化)</a:t>
            </a:r>
          </a:p>
          <a:p>
            <a:pPr algn="l">
              <a:spcAft>
                <a:spcPts val="400"/>
              </a:spcAft>
            </a:pPr>
            <a:r>
              <a:rPr sz="1100" b="0">
                <a:solidFill>
                  <a:srgbClr val="1A1A1A"/>
                </a:solidFill>
                <a:latin typeface="Meiryo"/>
                <a:ea typeface="Meiryo"/>
              </a:rPr>
              <a:t>・中国工場の春節前量産(1月末まで)から逆算し、11月中の確定が必要</a:t>
            </a:r>
          </a:p>
        </p:txBody>
      </p:sp>
      <p:sp>
        <p:nvSpPr>
          <p:cNvPr id="10" name="Rounded Rectangle 9"/>
          <p:cNvSpPr/>
          <p:nvPr/>
        </p:nvSpPr>
        <p:spPr>
          <a:xfrm>
            <a:off x="6217920" y="1463040"/>
            <a:ext cx="5303520" cy="22860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91056"/>
            <a:ext cx="4846320" cy="202996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② 仮申請フロー</a:t>
            </a:r>
          </a:p>
          <a:p>
            <a:pPr algn="l">
              <a:spcAft>
                <a:spcPts val="400"/>
              </a:spcAft>
            </a:pPr>
            <a:r>
              <a:rPr sz="1100" b="0">
                <a:solidFill>
                  <a:srgbClr val="1A1A1A"/>
                </a:solidFill>
                <a:latin typeface="Meiryo"/>
                <a:ea typeface="Meiryo"/>
              </a:rPr>
              <a:t>・イベントキット・ノベルティ等は品目ごとに仮申請(備品/配布用を明記)</a:t>
            </a:r>
          </a:p>
          <a:p>
            <a:pPr algn="l">
              <a:spcAft>
                <a:spcPts val="400"/>
              </a:spcAft>
            </a:pPr>
            <a:r>
              <a:rPr sz="1100" b="0">
                <a:solidFill>
                  <a:srgbClr val="1A1A1A"/>
                </a:solidFill>
                <a:latin typeface="Meiryo"/>
                <a:ea typeface="Meiryo"/>
              </a:rPr>
              <a:t>・仮申請をもって正式回答(約1週間)</a:t>
            </a:r>
          </a:p>
          <a:p>
            <a:pPr algn="l">
              <a:spcAft>
                <a:spcPts val="400"/>
              </a:spcAft>
            </a:pPr>
            <a:r>
              <a:rPr sz="1100" b="0">
                <a:solidFill>
                  <a:srgbClr val="1A1A1A"/>
                </a:solidFill>
                <a:latin typeface="Meiryo"/>
                <a:ea typeface="Meiryo"/>
              </a:rPr>
              <a:t>・申請窓口はご担当1名に集約(通知が1名にのみ届くため)</a:t>
            </a:r>
          </a:p>
          <a:p>
            <a:pPr algn="l">
              <a:spcAft>
                <a:spcPts val="400"/>
              </a:spcAft>
            </a:pPr>
            <a:r>
              <a:rPr sz="1100" b="0">
                <a:solidFill>
                  <a:srgbClr val="1A1A1A"/>
                </a:solidFill>
                <a:latin typeface="Meiryo"/>
                <a:ea typeface="Meiryo"/>
              </a:rPr>
              <a:t>・作成許諾ロイヤリティ:作成費用の20%(製造数量ベース)</a:t>
            </a:r>
          </a:p>
        </p:txBody>
      </p:sp>
      <p:sp>
        <p:nvSpPr>
          <p:cNvPr id="12" name="Rounded Rectangle 11"/>
          <p:cNvSpPr/>
          <p:nvPr/>
        </p:nvSpPr>
        <p:spPr>
          <a:xfrm>
            <a:off x="64008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③ ノベルティのカテゴリー</a:t>
            </a:r>
          </a:p>
          <a:p>
            <a:pPr algn="l">
              <a:spcAft>
                <a:spcPts val="400"/>
              </a:spcAft>
            </a:pPr>
            <a:r>
              <a:rPr sz="1100" b="0">
                <a:solidFill>
                  <a:srgbClr val="1A1A1A"/>
                </a:solidFill>
                <a:latin typeface="Meiryo"/>
                <a:ea typeface="Meiryo"/>
              </a:rPr>
              <a:t>・制作可能:トートバッグ・タオル・BOXティッシュ等(キャンペーンデザイン使用)</a:t>
            </a:r>
          </a:p>
          <a:p>
            <a:pPr algn="l">
              <a:spcAft>
                <a:spcPts val="400"/>
              </a:spcAft>
            </a:pPr>
            <a:r>
              <a:rPr sz="1100" b="0">
                <a:solidFill>
                  <a:srgbClr val="1A1A1A"/>
                </a:solidFill>
                <a:latin typeface="Meiryo"/>
                <a:ea typeface="Meiryo"/>
              </a:rPr>
              <a:t>・制作不可:お子様向け玩具(フィギュア・ソフビ等)・菓子類・ランチボックス等</a:t>
            </a:r>
          </a:p>
          <a:p>
            <a:pPr algn="l">
              <a:spcAft>
                <a:spcPts val="400"/>
              </a:spcAft>
            </a:pPr>
            <a:r>
              <a:rPr sz="1100" b="0">
                <a:solidFill>
                  <a:srgbClr val="1A1A1A"/>
                </a:solidFill>
                <a:latin typeface="Meiryo"/>
                <a:ea typeface="Meiryo"/>
              </a:rPr>
              <a:t>・タオルは一般仕様(ループタオル・ミニタオルは避ける)</a:t>
            </a:r>
          </a:p>
        </p:txBody>
      </p:sp>
      <p:sp>
        <p:nvSpPr>
          <p:cNvPr id="14" name="Rounded Rectangle 13"/>
          <p:cNvSpPr/>
          <p:nvPr/>
        </p:nvSpPr>
        <p:spPr>
          <a:xfrm>
            <a:off x="6217920" y="3931920"/>
            <a:ext cx="5303520" cy="210312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059936"/>
            <a:ext cx="4846320" cy="1847088"/>
          </a:xfrm>
          <a:prstGeom prst="rect">
            <a:avLst/>
          </a:prstGeom>
          <a:noFill/>
        </p:spPr>
        <p:txBody>
          <a:bodyPr wrap="square" anchor="t" lIns="0" rIns="0" tIns="0" bIns="0">
            <a:spAutoFit/>
          </a:bodyPr>
          <a:lstStyle/>
          <a:p>
            <a:pPr algn="l">
              <a:spcAft>
                <a:spcPts val="400"/>
              </a:spcAft>
            </a:pPr>
            <a:r>
              <a:rPr sz="1300" b="1">
                <a:solidFill>
                  <a:srgbClr val="C00000"/>
                </a:solidFill>
                <a:latin typeface="Meiryo"/>
                <a:ea typeface="Meiryo"/>
              </a:rPr>
              <a:t>④ 修了証・配布物</a:t>
            </a:r>
          </a:p>
          <a:p>
            <a:pPr algn="l">
              <a:spcAft>
                <a:spcPts val="400"/>
              </a:spcAft>
            </a:pPr>
            <a:r>
              <a:rPr sz="1100" b="0">
                <a:solidFill>
                  <a:srgbClr val="1A1A1A"/>
                </a:solidFill>
                <a:latin typeface="Meiryo"/>
                <a:ea typeface="Meiryo"/>
              </a:rPr>
              <a:t>・既存の修了証は当社既存イベント専用のため本件では使用しません</a:t>
            </a:r>
          </a:p>
          <a:p>
            <a:pPr algn="l">
              <a:spcAft>
                <a:spcPts val="400"/>
              </a:spcAft>
            </a:pPr>
            <a:r>
              <a:rPr sz="1100" b="0">
                <a:solidFill>
                  <a:srgbClr val="1A1A1A"/>
                </a:solidFill>
                <a:latin typeface="Meiryo"/>
                <a:ea typeface="Meiryo"/>
              </a:rPr>
              <a:t>・案A:貴社のミッション(クイズ等)と連動したオリジナル修了証を貴社制作</a:t>
            </a:r>
          </a:p>
          <a:p>
            <a:pPr algn="l">
              <a:spcAft>
                <a:spcPts val="400"/>
              </a:spcAft>
            </a:pPr>
            <a:r>
              <a:rPr sz="1100" b="0">
                <a:solidFill>
                  <a:srgbClr val="1A1A1A"/>
                </a:solidFill>
                <a:latin typeface="Meiryo"/>
                <a:ea typeface="Meiryo"/>
              </a:rPr>
              <a:t>・案B:キャンペーンビジュアルのステッカーを貴社制作・全員配布</a:t>
            </a:r>
          </a:p>
          <a:p>
            <a:pPr algn="l">
              <a:spcAft>
                <a:spcPts val="400"/>
              </a:spcAft>
            </a:pPr>
            <a:r>
              <a:rPr sz="1100" b="0">
                <a:solidFill>
                  <a:srgbClr val="1A1A1A"/>
                </a:solidFill>
                <a:latin typeface="Meiryo"/>
                <a:ea typeface="Meiryo"/>
              </a:rPr>
              <a:t>・配布の目的(体験型か告知型か)に応じて選択</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4. スケジュールと次のステップ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2027年1月開始に向けた逆算スケジュールです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graphicFrame>
        <p:nvGraphicFramePr>
          <p:cNvPr id="8" name="Table 7"/>
          <p:cNvGraphicFramePr>
            <a:graphicFrameLocks noGrp="1"/>
          </p:cNvGraphicFramePr>
          <p:nvPr/>
        </p:nvGraphicFramePr>
        <p:xfrm>
          <a:off x="640080" y="1417320"/>
          <a:ext cx="10881360" cy="3712463"/>
        </p:xfrm>
        <a:graphic>
          <a:graphicData uri="http://schemas.openxmlformats.org/drawingml/2006/table">
            <a:tbl>
              <a:tblPr firstRow="1" bandRow="1">
                <a:tableStyleId>{5C22544A-7EE6-4342-B048-85BDC9FD1C3A}</a:tableStyleId>
              </a:tblPr>
              <a:tblGrid>
                <a:gridCol w="2538984"/>
                <a:gridCol w="6891528"/>
                <a:gridCol w="1450848"/>
              </a:tblGrid>
              <a:tr h="530351">
                <a:tc>
                  <a:txBody>
                    <a:bodyPr/>
                    <a:lstStyle/>
                    <a:p>
                      <a:r>
                        <a:rPr sz="1150" b="1">
                          <a:solidFill>
                            <a:srgbClr val="FFFFFF"/>
                          </a:solidFill>
                          <a:latin typeface="Meiryo"/>
                          <a:ea typeface="Meiryo"/>
                        </a:rPr>
                        <a:t>時期</a:t>
                      </a:r>
                    </a:p>
                  </a:txBody>
                  <a:tcPr anchor="ctr" marL="73152" marR="73152">
                    <a:solidFill>
                      <a:srgbClr val="232278"/>
                    </a:solidFill>
                  </a:tcPr>
                </a:tc>
                <a:tc>
                  <a:txBody>
                    <a:bodyPr/>
                    <a:lstStyle/>
                    <a:p>
                      <a:r>
                        <a:rPr sz="1150" b="1">
                          <a:solidFill>
                            <a:srgbClr val="FFFFFF"/>
                          </a:solidFill>
                          <a:latin typeface="Meiryo"/>
                          <a:ea typeface="Meiryo"/>
                        </a:rPr>
                        <a:t>マイルストーン</a:t>
                      </a:r>
                    </a:p>
                  </a:txBody>
                  <a:tcPr anchor="ctr" marL="73152" marR="73152">
                    <a:solidFill>
                      <a:srgbClr val="232278"/>
                    </a:solidFill>
                  </a:tcPr>
                </a:tc>
                <a:tc>
                  <a:txBody>
                    <a:bodyPr/>
                    <a:lstStyle/>
                    <a:p>
                      <a:r>
                        <a:rPr sz="1150" b="1">
                          <a:solidFill>
                            <a:srgbClr val="FFFFFF"/>
                          </a:solidFill>
                          <a:latin typeface="Meiryo"/>
                          <a:ea typeface="Meiryo"/>
                        </a:rPr>
                        <a:t>担当</a:t>
                      </a:r>
                    </a:p>
                  </a:txBody>
                  <a:tcPr anchor="ctr" marL="73152" marR="73152">
                    <a:solidFill>
                      <a:srgbClr val="232278"/>
                    </a:solidFill>
                  </a:tcPr>
                </a:tc>
              </a:tr>
              <a:tr h="530351">
                <a:tc>
                  <a:txBody>
                    <a:bodyPr/>
                    <a:lstStyle/>
                    <a:p>
                      <a:r>
                        <a:rPr sz="1150" b="1">
                          <a:solidFill>
                            <a:srgbClr val="1A1A1A"/>
                          </a:solidFill>
                          <a:latin typeface="Meiryo"/>
                          <a:ea typeface="Meiryo"/>
                        </a:rPr>
                        <a:t>10月22日(本日)</a:t>
                      </a:r>
                    </a:p>
                  </a:txBody>
                  <a:tcPr anchor="ctr" marL="73152" marR="73152">
                    <a:solidFill>
                      <a:srgbClr val="FFFFFF"/>
                    </a:solidFill>
                  </a:tcPr>
                </a:tc>
                <a:tc>
                  <a:txBody>
                    <a:bodyPr/>
                    <a:lstStyle/>
                    <a:p>
                      <a:r>
                        <a:rPr sz="1150" b="0">
                          <a:solidFill>
                            <a:srgbClr val="1A1A1A"/>
                          </a:solidFill>
                          <a:latin typeface="Meiryo"/>
                          <a:ea typeface="Meiryo"/>
                        </a:rPr>
                        <a:t>本格実施のご判断/役割分担の確定</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1">
                <a:tc>
                  <a:txBody>
                    <a:bodyPr/>
                    <a:lstStyle/>
                    <a:p>
                      <a:r>
                        <a:rPr sz="1150" b="1">
                          <a:solidFill>
                            <a:srgbClr val="1A1A1A"/>
                          </a:solidFill>
                          <a:latin typeface="Meiryo"/>
                          <a:ea typeface="Meiryo"/>
                        </a:rPr>
                        <a:t>10月下旬〜11月上旬</a:t>
                      </a:r>
                    </a:p>
                  </a:txBody>
                  <a:tcPr anchor="ctr" marL="73152" marR="73152">
                    <a:solidFill>
                      <a:srgbClr val="F2F4F6"/>
                    </a:solidFill>
                  </a:tcPr>
                </a:tc>
                <a:tc>
                  <a:txBody>
                    <a:bodyPr/>
                    <a:lstStyle/>
                    <a:p>
                      <a:r>
                        <a:rPr sz="1150" b="0">
                          <a:solidFill>
                            <a:srgbClr val="1A1A1A"/>
                          </a:solidFill>
                          <a:latin typeface="Meiryo"/>
                          <a:ea typeface="Meiryo"/>
                        </a:rPr>
                        <a:t>キャンペーン名称・KV策定打ち合わせ/契約書ドラフトのご提示</a:t>
                      </a:r>
                    </a:p>
                  </a:txBody>
                  <a:tcPr anchor="ctr" marL="73152" marR="73152">
                    <a:solidFill>
                      <a:srgbClr val="F2F4F6"/>
                    </a:solidFill>
                  </a:tcPr>
                </a:tc>
                <a:tc>
                  <a:txBody>
                    <a:bodyPr/>
                    <a:lstStyle/>
                    <a:p>
                      <a:r>
                        <a:rPr sz="1150" b="0">
                          <a:solidFill>
                            <a:srgbClr val="1A1A1A"/>
                          </a:solidFill>
                          <a:latin typeface="Meiryo"/>
                          <a:ea typeface="Meiryo"/>
                        </a:rPr>
                        <a:t>両社/当社</a:t>
                      </a:r>
                    </a:p>
                  </a:txBody>
                  <a:tcPr anchor="ctr" marL="73152" marR="73152">
                    <a:solidFill>
                      <a:srgbClr val="F2F4F6"/>
                    </a:solidFill>
                  </a:tcPr>
                </a:tc>
              </a:tr>
              <a:tr h="530351">
                <a:tc>
                  <a:txBody>
                    <a:bodyPr/>
                    <a:lstStyle/>
                    <a:p>
                      <a:r>
                        <a:rPr sz="1150" b="1">
                          <a:solidFill>
                            <a:srgbClr val="1A1A1A"/>
                          </a:solidFill>
                          <a:latin typeface="Meiryo"/>
                          <a:ea typeface="Meiryo"/>
                        </a:rPr>
                        <a:t>11月中</a:t>
                      </a:r>
                    </a:p>
                  </a:txBody>
                  <a:tcPr anchor="ctr" marL="73152" marR="73152">
                    <a:solidFill>
                      <a:srgbClr val="FFFFFF"/>
                    </a:solidFill>
                  </a:tcPr>
                </a:tc>
                <a:tc>
                  <a:txBody>
                    <a:bodyPr/>
                    <a:lstStyle/>
                    <a:p>
                      <a:r>
                        <a:rPr sz="1150" b="0">
                          <a:solidFill>
                            <a:srgbClr val="1A1A1A"/>
                          </a:solidFill>
                          <a:latin typeface="Meiryo"/>
                          <a:ea typeface="Meiryo"/>
                        </a:rPr>
                        <a:t>KV確定/ノベルティ品目の仮申請/取りまとめ窓口の設置</a:t>
                      </a:r>
                    </a:p>
                  </a:txBody>
                  <a:tcPr anchor="ctr" marL="73152" marR="73152">
                    <a:solidFill>
                      <a:srgbClr val="FFFFFF"/>
                    </a:solidFill>
                  </a:tcPr>
                </a:tc>
                <a:tc>
                  <a:txBody>
                    <a:bodyPr/>
                    <a:lstStyle/>
                    <a:p>
                      <a:r>
                        <a:rPr sz="1150" b="0">
                          <a:solidFill>
                            <a:srgbClr val="1A1A1A"/>
                          </a:solidFill>
                          <a:latin typeface="Meiryo"/>
                          <a:ea typeface="Meiryo"/>
                        </a:rPr>
                        <a:t>貴社</a:t>
                      </a:r>
                    </a:p>
                  </a:txBody>
                  <a:tcPr anchor="ctr" marL="73152" marR="73152">
                    <a:solidFill>
                      <a:srgbClr val="FFFFFF"/>
                    </a:solidFill>
                  </a:tcPr>
                </a:tc>
              </a:tr>
              <a:tr h="530351">
                <a:tc>
                  <a:txBody>
                    <a:bodyPr/>
                    <a:lstStyle/>
                    <a:p>
                      <a:r>
                        <a:rPr sz="1150" b="1">
                          <a:solidFill>
                            <a:srgbClr val="1A1A1A"/>
                          </a:solidFill>
                          <a:latin typeface="Meiryo"/>
                          <a:ea typeface="Meiryo"/>
                        </a:rPr>
                        <a:t>11月末</a:t>
                      </a:r>
                    </a:p>
                  </a:txBody>
                  <a:tcPr anchor="ctr" marL="73152" marR="73152">
                    <a:solidFill>
                      <a:srgbClr val="F2F4F6"/>
                    </a:solidFill>
                  </a:tcPr>
                </a:tc>
                <a:tc>
                  <a:txBody>
                    <a:bodyPr/>
                    <a:lstStyle/>
                    <a:p>
                      <a:r>
                        <a:rPr sz="1150" b="0">
                          <a:solidFill>
                            <a:srgbClr val="1A1A1A"/>
                          </a:solidFill>
                          <a:latin typeface="Meiryo"/>
                          <a:ea typeface="Meiryo"/>
                        </a:rPr>
                        <a:t>契約締結</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r h="530351">
                <a:tc>
                  <a:txBody>
                    <a:bodyPr/>
                    <a:lstStyle/>
                    <a:p>
                      <a:r>
                        <a:rPr sz="1150" b="1">
                          <a:solidFill>
                            <a:srgbClr val="1A1A1A"/>
                          </a:solidFill>
                          <a:latin typeface="Meiryo"/>
                          <a:ea typeface="Meiryo"/>
                        </a:rPr>
                        <a:t>12月</a:t>
                      </a:r>
                    </a:p>
                  </a:txBody>
                  <a:tcPr anchor="ctr" marL="73152" marR="73152">
                    <a:solidFill>
                      <a:srgbClr val="FFFFFF"/>
                    </a:solidFill>
                  </a:tcPr>
                </a:tc>
                <a:tc>
                  <a:txBody>
                    <a:bodyPr/>
                    <a:lstStyle/>
                    <a:p>
                      <a:r>
                        <a:rPr sz="1150" b="0">
                          <a:solidFill>
                            <a:srgbClr val="1A1A1A"/>
                          </a:solidFill>
                          <a:latin typeface="Meiryo"/>
                          <a:ea typeface="Meiryo"/>
                        </a:rPr>
                        <a:t>デザイン監修完了・量産開始/1月開催分の会場確定(12月1日)/運営レクチャー</a:t>
                      </a:r>
                    </a:p>
                  </a:txBody>
                  <a:tcPr anchor="ctr" marL="73152" marR="73152">
                    <a:solidFill>
                      <a:srgbClr val="FFFFFF"/>
                    </a:solidFill>
                  </a:tcPr>
                </a:tc>
                <a:tc>
                  <a:txBody>
                    <a:bodyPr/>
                    <a:lstStyle/>
                    <a:p>
                      <a:r>
                        <a:rPr sz="1150" b="0">
                          <a:solidFill>
                            <a:srgbClr val="1A1A1A"/>
                          </a:solidFill>
                          <a:latin typeface="Meiryo"/>
                          <a:ea typeface="Meiryo"/>
                        </a:rPr>
                        <a:t>両社</a:t>
                      </a:r>
                    </a:p>
                  </a:txBody>
                  <a:tcPr anchor="ctr" marL="73152" marR="73152">
                    <a:solidFill>
                      <a:srgbClr val="FFFFFF"/>
                    </a:solidFill>
                  </a:tcPr>
                </a:tc>
              </a:tr>
              <a:tr h="530357">
                <a:tc>
                  <a:txBody>
                    <a:bodyPr/>
                    <a:lstStyle/>
                    <a:p>
                      <a:r>
                        <a:rPr sz="1150" b="1">
                          <a:solidFill>
                            <a:srgbClr val="1A1A1A"/>
                          </a:solidFill>
                          <a:latin typeface="Meiryo"/>
                          <a:ea typeface="Meiryo"/>
                        </a:rPr>
                        <a:t>2027年1月</a:t>
                      </a:r>
                    </a:p>
                  </a:txBody>
                  <a:tcPr anchor="ctr" marL="73152" marR="73152">
                    <a:solidFill>
                      <a:srgbClr val="F2F4F6"/>
                    </a:solidFill>
                  </a:tcPr>
                </a:tc>
                <a:tc>
                  <a:txBody>
                    <a:bodyPr/>
                    <a:lstStyle/>
                    <a:p>
                      <a:r>
                        <a:rPr sz="1150" b="0">
                          <a:solidFill>
                            <a:srgbClr val="1A1A1A"/>
                          </a:solidFill>
                          <a:latin typeface="Meiryo"/>
                          <a:ea typeface="Meiryo"/>
                        </a:rPr>
                        <a:t>開始(基準15ライン・1月は最大20ライン)</a:t>
                      </a:r>
                    </a:p>
                  </a:txBody>
                  <a:tcPr anchor="ctr" marL="73152" marR="73152">
                    <a:solidFill>
                      <a:srgbClr val="F2F4F6"/>
                    </a:solidFill>
                  </a:tcPr>
                </a:tc>
                <a:tc>
                  <a:txBody>
                    <a:bodyPr/>
                    <a:lstStyle/>
                    <a:p>
                      <a:r>
                        <a:rPr sz="1150" b="0">
                          <a:solidFill>
                            <a:srgbClr val="1A1A1A"/>
                          </a:solidFill>
                          <a:latin typeface="Meiryo"/>
                          <a:ea typeface="Meiryo"/>
                        </a:rPr>
                        <a:t>両社</a:t>
                      </a:r>
                    </a:p>
                  </a:txBody>
                  <a:tcPr anchor="ctr" marL="73152" marR="73152">
                    <a:solidFill>
                      <a:srgbClr val="F2F4F6"/>
                    </a:solidFill>
                  </a:tcPr>
                </a:tc>
              </a:tr>
            </a:tbl>
          </a:graphicData>
        </a:graphic>
      </p:graphicFrame>
      <p:sp>
        <p:nvSpPr>
          <p:cNvPr id="9" name="Rounded Rectangle 8"/>
          <p:cNvSpPr/>
          <p:nvPr/>
        </p:nvSpPr>
        <p:spPr>
          <a:xfrm>
            <a:off x="640080" y="5257800"/>
            <a:ext cx="10881360" cy="91440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5376672"/>
            <a:ext cx="10332720" cy="731520"/>
          </a:xfrm>
          <a:prstGeom prst="rect">
            <a:avLst/>
          </a:prstGeom>
          <a:noFill/>
        </p:spPr>
        <p:txBody>
          <a:bodyPr wrap="square" anchor="t" lIns="0" rIns="0" tIns="0" bIns="0">
            <a:spAutoFit/>
          </a:bodyPr>
          <a:lstStyle/>
          <a:p>
            <a:pPr algn="l">
              <a:spcAft>
                <a:spcPts val="400"/>
              </a:spcAft>
            </a:pPr>
            <a:r>
              <a:rPr sz="1250" b="1">
                <a:solidFill>
                  <a:srgbClr val="C00000"/>
                </a:solidFill>
                <a:latin typeface="Meiryo"/>
                <a:ea typeface="Meiryo"/>
              </a:rPr>
              <a:t>本日ご確認いただきたいこと</a:t>
            </a:r>
          </a:p>
          <a:p>
            <a:pPr algn="l">
              <a:spcAft>
                <a:spcPts val="400"/>
              </a:spcAft>
            </a:pPr>
            <a:r>
              <a:rPr sz="1200" b="0">
                <a:solidFill>
                  <a:srgbClr val="1A1A1A"/>
                </a:solidFill>
                <a:latin typeface="Meiryo"/>
                <a:ea typeface="Meiryo"/>
              </a:rPr>
              <a:t>① 本格実施のご意思　② 役割分担(運営体制・取りまとめ窓口)　③ 11月末締結のスケジュール　④ KV策定打ち合わせの日程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