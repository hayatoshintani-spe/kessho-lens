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739896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0" y="114300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>
                <a:solidFill>
                  <a:srgbClr val="5A626B"/>
                </a:solidFill>
                <a:latin typeface="Meiryo"/>
                <a:ea typeface="Meiryo"/>
              </a:rPr>
              <a:t>ソフトバンク株式会社 御中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057400"/>
            <a:ext cx="7680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</a:rPr>
              <a:t>ウルトラソフトバンクフェス</a:t>
            </a:r>
          </a:p>
          <a:p>
            <a:pPr algn="ctr">
              <a:spcAft>
                <a:spcPts val="1000"/>
              </a:spcAft>
            </a:pPr>
            <a:r>
              <a:rPr sz="2600" b="1">
                <a:solidFill>
                  <a:srgbClr val="1A1A1A"/>
                </a:solidFill>
                <a:latin typeface="Meiryo"/>
                <a:ea typeface="Meiryo"/>
              </a:rPr>
              <a:t>本格実施に向けたお打ち合わせ資料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384048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A1A1A"/>
                </a:solidFill>
                <a:latin typeface="Meiryo"/>
                <a:ea typeface="Meiryo"/>
              </a:rPr>
              <a:t>テストイベントの振り返りと、本格実施の運営・条件のご確認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521208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F338C"/>
                </a:solidFill>
                <a:latin typeface="Meiryo"/>
                <a:ea typeface="Meiryo"/>
              </a:rPr>
              <a:t>2026年10月22日</a:t>
            </a:r>
          </a:p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F338C"/>
                </a:solidFill>
                <a:latin typeface="Meiryo"/>
                <a:ea typeface="Meiryo"/>
              </a:rPr>
              <a:t>株式会社円谷プロダクション</a:t>
            </a:r>
          </a:p>
          <a:p>
            <a:pPr algn="ctr">
              <a:spcAft>
                <a:spcPts val="300"/>
              </a:spcAft>
            </a:pPr>
            <a:r>
              <a:rPr sz="1050" b="0">
                <a:solidFill>
                  <a:srgbClr val="8E949B"/>
                </a:solidFill>
                <a:latin typeface="Meiryo"/>
                <a:ea typeface="Meiryo"/>
              </a:rPr>
              <a:t>金額はすべて税別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649224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86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eiryo"/>
                <a:ea typeface="Meiryo"/>
              </a:rPr>
              <a:t>本日の進め方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E949B"/>
                </a:solidFill>
                <a:latin typeface="Meiryo"/>
                <a:ea typeface="Meiryo"/>
              </a:rPr>
              <a:t>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280160"/>
          <a:ext cx="1088136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6606540"/>
                <a:gridCol w="1165860"/>
              </a:tblGrid>
              <a:tr h="65836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内容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目安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</a:tr>
              <a:tr h="65836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1. テストイベントの振り返り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7会場の実施結果と、本格実施に向けて改善したい点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10分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5836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2. 本格実施の役割分担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当日運営の分担、連絡体制、申請と確認書の流れ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20分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65836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3. ご提供条件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価格、最低開催数保証、ライン供給計画、実施条件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20分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5837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4. 今後の進め方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キャンペーン名称・ビジュアルの策定、契約手続き、スケジュール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10分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663440"/>
            <a:ext cx="10881360" cy="1188720"/>
          </a:xfrm>
          <a:prstGeom prst="roundRect">
            <a:avLst>
              <a:gd name="adj" fmla="val 7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0060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Meiryo"/>
                <a:ea typeface="Meiryo"/>
              </a:rPr>
              <a:t>本日決めていただきたいこと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Meiryo"/>
                <a:ea typeface="Meiryo"/>
              </a:rPr>
              <a:t>本格実施の可否／役割分担／11月末締結までの進め方／キャンペーン名称・ビジュアル策定打ち合わせの日程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86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eiryo"/>
                <a:ea typeface="Meiryo"/>
              </a:rPr>
              <a:t>1. テストイベントの振り返り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626B"/>
                </a:solidFill>
                <a:latin typeface="Meiryo"/>
                <a:ea typeface="Meiryo"/>
              </a:rPr>
              <a:t>2026年9〜10月、神奈川県内7会場(写真撮影会5・ステージショー2)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E949B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5303520" cy="219456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91056"/>
            <a:ext cx="4846320" cy="1938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0000"/>
                </a:solidFill>
                <a:latin typeface="Meiryo"/>
                <a:ea typeface="Meiryo"/>
              </a:rPr>
              <a:t>実績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・7会場14日間を予定どおり実施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・ステージショーは1回150〜227名。ヤマダ横浜で単日227名、古淵は開店前から50名の行列、整理券200枚が完売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・撮影会は1回の上限を30〜35組にすると安定。港南台は2日間とも滞りなく進行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・ヨドバシ横浜はノベルティの受け取りを店舗内にしたところ、見積の取得が増加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219456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91056"/>
            <a:ext cx="4846320" cy="1938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0000"/>
                </a:solidFill>
                <a:latin typeface="Meiryo"/>
                <a:ea typeface="Meiryo"/>
              </a:rPr>
              <a:t>改善したい点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・MCがいない会場で撮影ルールが伝わらず、場の盛り上がりが弱い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・スタッフの服装がまちまちでお客様から見分けがつかない。集合時間・接客にもばらつき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・撮影後の商談・アンケート案内が事前に伝わっておらず、不満の声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・監修前のPOP、非公式グッズ、AI生成画像の使用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・会場ごとの個別配送で物流が煩雑。EDIの検収時期と書類発行のずれ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86200"/>
            <a:ext cx="10881360" cy="21031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14216"/>
            <a:ext cx="10424160" cy="184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0000"/>
                </a:solidFill>
                <a:latin typeface="Meiryo"/>
                <a:ea typeface="Meiryo"/>
              </a:rPr>
              <a:t>本格実施での運用ルール(案)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・公演は1日4回(1回30分、各50組まで)。間に休憩とスーツメンテの時間を1時間半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・MC役を全会場に置く(ルール案内と進行アナウンス)。スタッフTシャツ着用、集合時間厳守、接客マナーの事前共有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・「商談・アンケートのご案内がある」ことを告知物と受付で明記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・制作物は監修済みの規定デザインのみ。他キャラクターとの混在不可。ノベルティは指定倉庫に一括納品、5営業日前に数量確定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・全会場の情報をまとめた告知ページを開設し、当社公式サイトから誘導。EDIの検収と書類発行の時期を契約で整理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86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eiryo"/>
                <a:ea typeface="Meiryo"/>
              </a:rPr>
              <a:t>1. 会場別の実績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626B"/>
                </a:solidFill>
                <a:latin typeface="Meiryo"/>
                <a:ea typeface="Meiryo"/>
              </a:rPr>
              <a:t>2026年9月12日〜10月18日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E949B"/>
                </a:solidFill>
                <a:latin typeface="Meiryo"/>
                <a:ea typeface="Meiryo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881358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8429"/>
                <a:gridCol w="1483821"/>
                <a:gridCol w="1978429"/>
                <a:gridCol w="1607473"/>
                <a:gridCol w="3833206"/>
              </a:tblGrid>
              <a:tr h="5486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会場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日程・形式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出演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動員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備考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イトーヨーカドー古淵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9/12-13 ショー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テオ&amp;オメガ／ゼット&amp;ジード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664名(各日2回)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開店前50名の行列、整理券200枚完売。抽選会の流れに混乱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イトーヨーカドー川崎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9/19-20 撮影会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ウルトラマン／オメガ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216組(各日5回)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監修前POPと非公式品の装飾使用。店舗担当者が不在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ビックカメラ ラゾーナ川崎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9/19-20 撮影会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ゼロ／ティガ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225組(各日3回)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整理券45〜50枚/回がほぼ完売。景品に他IP品が混在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ヤマダデンキ横浜本店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9/26-27 ショー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テオ&amp;オメガ／ゼット&amp;ジード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622名(27日は227名)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当日朝にレイアウト変更、ステージが屋外に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イトーヨーカドー上永谷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9/26-27 撮影会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ゼロ／ティガ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234組(各日5回)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初回の上限を30組にして人の偏りを解消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港南台バーズ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10/17-18 撮影会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ゼロ／ティガ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313名(各日5回)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上限35名/回。2日間とも滞りなく進行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ヨドバシカメラ横浜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10/17-18 撮影会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ゼロ／ティガ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344名(各日5回)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MCなしでルールが伝わらず。受け取りを店舗内に変更し見積取得増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232278"/>
                </a:solidFill>
                <a:latin typeface="Meiryo"/>
                <a:ea typeface="Meiryo"/>
              </a:rPr>
              <a:t>会場に合わせた枠数(30〜35名/回)と事前の会場ブリーフィングで運営が安定する。MCの配置と商談・アンケート案内の事前告知は全店共通にしたい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86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eiryo"/>
                <a:ea typeface="Meiryo"/>
              </a:rPr>
              <a:t>2. 本格実施の役割分担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626B"/>
                </a:solidFill>
                <a:latin typeface="Meiryo"/>
                <a:ea typeface="Meiryo"/>
              </a:rPr>
              <a:t>当社はキャラクター稼働(2名)、貴社は会場運営(運営ディレクター1名+運営スタッフ4名)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E949B"/>
                </a:solidFill>
                <a:latin typeface="Meiryo"/>
                <a:ea typeface="Meiryo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17320"/>
          <a:ext cx="10881359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5744"/>
                <a:gridCol w="4637956"/>
                <a:gridCol w="3567659"/>
              </a:tblGrid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役割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撮影会中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合間・開始前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32278"/>
                          </a:solidFill>
                          <a:latin typeface="Meiryo"/>
                          <a:ea typeface="Meiryo"/>
                        </a:rPr>
                        <a:t>当社:担当(チーフスタッフ)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キャラクター稼働の統括。着脱補助、スーツメンテ、ヒーロー前のお客様対応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スーツメンテ。貴社ディレクターと進行確認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32278"/>
                          </a:solidFill>
                          <a:latin typeface="Meiryo"/>
                          <a:ea typeface="Meiryo"/>
                        </a:rPr>
                        <a:t>当社:スーツアクター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キャラクター出演(1回30分、1日最大5回)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メンテ休憩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貴社:運営ディレクター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全体管理。音響の設置と音出し、館管理者との対応、周辺のお客様誘導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会場づくり、お客様対応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貴社:スタッフ1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待機列の先頭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会場づくり、整理券配布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貴社:スタッフ2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出口の送り出し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会場づくり、整理券配布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貴社:スタッフ3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撮影補助(荷物運搬など)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会場づくり、列づくり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貴社:スタッフ4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待機列の最後尾(参加者管理)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会場づくり、列づくり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3492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・運営スタッフ4名は、撮影会中と合間で持ち場が入れ替わるために必要な人数です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・スタッフと分かる服装(Tシャツ・ベスト等)でお願いします。初回はレクチャーを当社が行い、運営マニュアルをお渡しします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・MC役は運営ディレクターの兼務、または当社のMCオプション(+3万円/日)。運営一式を当社で行うフル運営オプション(+22万円/日)も会場単位で選べます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86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eiryo"/>
                <a:ea typeface="Meiryo"/>
              </a:rPr>
              <a:t>2. 連絡体制と回答日数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626B"/>
                </a:solidFill>
                <a:latin typeface="Meiryo"/>
                <a:ea typeface="Meiryo"/>
              </a:rPr>
              <a:t>貴社の取りまとめ窓口と当社の総合窓口を1対1でつなぎ、当社内で用件ごとに振り分けます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E949B"/>
                </a:solidFill>
                <a:latin typeface="Meiryo"/>
                <a:ea typeface="Meiryo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1463040"/>
            <a:ext cx="4114800" cy="640080"/>
          </a:xfrm>
          <a:prstGeom prst="roundRect">
            <a:avLst/>
          </a:prstGeom>
          <a:solidFill>
            <a:srgbClr val="232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1463040"/>
            <a:ext cx="4114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Meiryo"/>
                <a:ea typeface="Meiryo"/>
              </a:rPr>
              <a:t>貴社 取りまとめ窓口(1部署)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14884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5A626B"/>
                </a:solidFill>
                <a:latin typeface="Meiryo"/>
                <a:ea typeface="Meiryo"/>
              </a:rPr>
              <a:t>連絡 ↓　↑ 回答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468880"/>
            <a:ext cx="4114800" cy="640080"/>
          </a:xfrm>
          <a:prstGeom prst="roundRect">
            <a:avLst/>
          </a:prstGeom>
          <a:solidFill>
            <a:srgbClr val="1F3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2468880"/>
            <a:ext cx="4114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Meiryo"/>
                <a:ea typeface="Meiryo"/>
              </a:rPr>
              <a:t>当社 総合窓口(専用メーリングリスト)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3429000"/>
          <a:ext cx="108813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824"/>
                <a:gridCol w="5440680"/>
                <a:gridCol w="3419856"/>
              </a:tblGrid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窓口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用件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回答日数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① イベント実施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開催申請(エリア・会場・日程)のバッティング確認、実施確認書の確認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5営業日。前月1日までに確定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② 告知物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KV・Web・チラシ等の監修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KV 3営業日、Web流用 1〜2営業日、チラシ+色校 1〜2営業日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③ 制作物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仮申請(制作可否)、ノベルティ・キット等のデザイン監修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仮申請 約5営業日、デザイン監修 5営業日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④ 契約・精算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発注、請求、最低保証の精算、実績報告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随時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5A626B"/>
                </a:solidFill>
                <a:latin typeface="Meiryo"/>
                <a:ea typeface="Meiryo"/>
              </a:rPr>
              <a:t>当社側のメーリングリストは契約後にご案内します。開催当日の連絡は、会場の当社担当と貴社運営ディレクターの間で直接行います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86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eiryo"/>
                <a:ea typeface="Meiryo"/>
              </a:rPr>
              <a:t>2. 貴社にお願いしたいこと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E949B"/>
                </a:solidFill>
                <a:latin typeface="Meiryo"/>
                <a:ea typeface="Meiryo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280160"/>
          <a:ext cx="1088135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8983"/>
                <a:gridCol w="6528816"/>
                <a:gridCol w="181356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区分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内容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テストでの対応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取りまとめ窓口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全国の実施を取りまとめる部署を1つ決め、各会場への展開と当社との連絡を一本化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新規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開催申請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専用フォームで申請、前月1日に可否確定、確認書を取り交わし。会場は1ヶ月前までに確定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新規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運営計画・実施確認書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会場ごとに貴社で作成。様式は当社のものをお渡しします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新規(テストは当社作成)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制作物の仮申請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イベントキット・ノベルティ等を品目ごとに申請。備品か配布用かを明記。申請窓口は担当者1名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新規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運営サイン・音響・設営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会場内サイン、音響の手配と操作、イベントキットの設営と撤去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対応済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整理券・告知素材・実施報告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整理券と列づくりの備品、HP掲載用の文章と画像(当社監修)、参加人数の報告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対応済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会場要件ほか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施錠できる非公開の控室、関係車両の駐車場。JASRAC申請とイベント保険は主催者様で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対応済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86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eiryo"/>
                <a:ea typeface="Meiryo"/>
              </a:rPr>
              <a:t>3. ご提供価格(ソフトバンク様特別価格)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626B"/>
                </a:solidFill>
                <a:latin typeface="Meiryo"/>
                <a:ea typeface="Meiryo"/>
              </a:rPr>
              <a:t>年間契約と最低開催数保証を前提とした、本件限りの価格です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E949B"/>
                </a:solidFill>
                <a:latin typeface="Meiryo"/>
                <a:ea typeface="Meiryo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17320"/>
          <a:ext cx="630935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5248"/>
                <a:gridCol w="1673911"/>
                <a:gridCol w="2060199"/>
              </a:tblGrid>
              <a:tr h="5486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キャラクターイベント稼働費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通常販売価格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特別価格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1日(1日最大5回公演)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225,000円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100,000円(▲55.6%)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土日2日間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450,000円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200,000円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3連休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675,000円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300,000円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703320"/>
            <a:ext cx="6309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A626B"/>
                </a:solidFill>
                <a:latin typeface="Meiryo"/>
                <a:ea typeface="Meiryo"/>
              </a:rPr>
              <a:t>特別価格の内訳(1日):キャラクター使用料 40,000円、担当 35,000円、スーツアクター 25,000円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A626B"/>
                </a:solidFill>
                <a:latin typeface="Meiryo"/>
                <a:ea typeface="Meiryo"/>
              </a:rPr>
              <a:t>通常販売価格は同じ内容(キャラクター使用料+担当+アクター、5回公演対応)での当社標準価格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223760" y="1417320"/>
          <a:ext cx="4297679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9522"/>
                <a:gridCol w="2218157"/>
              </a:tblGrid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その他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金額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年間IP使用料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2,000万円/年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作成許諾ロイヤリティ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作成費用の20%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MCオプション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+30,000円/日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フル運営オプション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+220,000円/日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現場諸経費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20,000円/日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実費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交通運搬・宿泊・スーツ送料(基準料金表)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4892040"/>
            <a:ext cx="10881360" cy="1188720"/>
          </a:xfrm>
          <a:prstGeom prst="roundRect">
            <a:avLst>
              <a:gd name="adj" fmla="val 7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00000"/>
                </a:solidFill>
                <a:latin typeface="Meiryo"/>
                <a:ea typeface="Meiryo"/>
              </a:rPr>
              <a:t>年間IP使用料に含まれるもの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eiryo"/>
                <a:ea typeface="Meiryo"/>
              </a:rPr>
              <a:t>店頭イベント・イベントキット・店頭訴求ツール・LP/Web・SNSでのIP利用、作成物の監修、8ヒーローの選択と切替、キャラクター素材と運営マニュアルの提供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86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eiryo"/>
                <a:ea typeface="Meiryo"/>
              </a:rPr>
              <a:t>3. 実施の条件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626B"/>
                </a:solidFill>
                <a:latin typeface="Meiryo"/>
                <a:ea typeface="Meiryo"/>
              </a:rPr>
              <a:t>特別価格の前提となる条件です。詳細は契約協議で調整します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E949B"/>
                </a:solidFill>
                <a:latin typeface="Meiryo"/>
                <a:ea typeface="Meiryo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17320"/>
          <a:ext cx="1088136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"/>
                <a:gridCol w="2720340"/>
                <a:gridCol w="7616952"/>
              </a:tblGrid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#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条件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内容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契約期間・締結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2027年1月〜2029年3月(2年3ヶ月)。2026年11月末までに締結(1月開始に必要な体制準備のため)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最低開催数保証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基準15ライン分の開催数を保証。未実施の場合も当該数量分を申し受け、各年度末に精算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開催確定とキャンセル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会場・日程は開催1ヶ月前までに確定。確定後のキャンセル料は1ヶ月前〜14日前30%、13日前〜7日前50%、6日前〜当日100%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4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ライン供給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基準15ライン。余裕のある月(1・4・6・11・12月)は最大20ラインまで(次頁)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お支払い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貴社EDIで発注。IP使用料は年度前払い、保証分は四半期前払い(ご相談)。最低保証契約のため、期間一括の発注形態をご相談したい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6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エリア・キャラクター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北関東エリアは2027年1〜3月は実施不可(4月以降は可)。ウルトラセブンは対象外。出演は8ヒーロー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排他条件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契約期間中、当社は国内の他の携帯キャリア(3社)と店頭イベントの契約を行わない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5A626B"/>
                </a:solidFill>
                <a:latin typeface="Meiryo"/>
                <a:ea typeface="Meiryo"/>
              </a:rPr>
              <a:t>キャンセル料は7月ご提案時のスポット向け規定から、本契約向けの規定に変更しています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86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eiryo"/>
                <a:ea typeface="Meiryo"/>
              </a:rPr>
              <a:t>3. ライン供給計画(2027年1月〜2029年3月)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626B"/>
                </a:solidFill>
                <a:latin typeface="Meiryo"/>
                <a:ea typeface="Meiryo"/>
              </a:rPr>
              <a:t>基準15ラインを最低保証の対象とし、余裕のある月は最大20ラインまで。月別の詳細は別紙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E949B"/>
                </a:solidFill>
                <a:latin typeface="Meiryo"/>
                <a:ea typeface="Meiryo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17320"/>
          <a:ext cx="1088135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3192"/>
                <a:gridCol w="729847"/>
                <a:gridCol w="729847"/>
                <a:gridCol w="729847"/>
                <a:gridCol w="729847"/>
                <a:gridCol w="729847"/>
                <a:gridCol w="729847"/>
                <a:gridCol w="729847"/>
                <a:gridCol w="729847"/>
                <a:gridCol w="729847"/>
                <a:gridCol w="729847"/>
                <a:gridCol w="729847"/>
                <a:gridCol w="729847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1月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2月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3月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4月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5月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6月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7月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8月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9月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10月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11月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12月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開催日数(土日)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基準ライン数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15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15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15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15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15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15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15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15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15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15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15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15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最大ライン数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20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20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20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20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20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4290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5A626B"/>
                </a:solidFill>
                <a:latin typeface="Meiryo"/>
                <a:ea typeface="Meiryo"/>
              </a:rPr>
              <a:t>上表は2027年(104日)。2028年は106日、2029年1〜3月は25日。ライン数の考え方は同じ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931920"/>
          <a:ext cx="1088136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1813560"/>
                <a:gridCol w="2720340"/>
                <a:gridCol w="2720340"/>
              </a:tblGrid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27ヶ月合計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開催日数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開催数(ライン×日)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稼働費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基準(15ライン)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235日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3,525現場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3億5,250万円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最大(余裕月は20ライン)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235日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4,005現場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4億50万円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・2月・3月・8月・9月は当社の主催行事と重なるため基準15ラインでの運用。増枠分は前月1日の開催確定時に確定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・上記は稼働費のみ。年間IP使用料、現場諸経費、実費は別途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86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eiryo"/>
                <a:ea typeface="Meiryo"/>
              </a:rPr>
              <a:t>3. エリア別のライン配分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626B"/>
                </a:solidFill>
                <a:latin typeface="Meiryo"/>
                <a:ea typeface="Meiryo"/>
              </a:rPr>
              <a:t>基準15ラインのエリア配分と、余裕のある月の最大ライン数。月別の詳細は別紙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E949B"/>
                </a:solidFill>
                <a:latin typeface="Meiryo"/>
                <a:ea typeface="Meiryo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57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4576"/>
                <a:gridCol w="652881"/>
                <a:gridCol w="979322"/>
                <a:gridCol w="1741017"/>
                <a:gridCol w="2829153"/>
                <a:gridCol w="3264408"/>
              </a:tblGrid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エリア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基準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余裕月の最大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27ヶ月の現場数(基準〜最大)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展開の考え方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主な出演候補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関東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1,410〜1,602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東京・神奈川・千葉を中心に通年固定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初代ウルトラマン、ティガ、ゼロ、テオ、オメガ、ゼット、ジード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関西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3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470〜566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大阪・兵庫・京都を中心に展開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ゼロ、ゼット、テオ、ジード、オメガ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東海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470〜566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愛知を中心に岐阜・三重・静岡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アーク、テオ、オメガ、ゼット、ジード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九州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3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470〜566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福岡を拠点に各県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ゼロ、ゼット、テオ、オメガ、ジード、ティガ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北海道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235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札幌近郊は日帰り、函館・釧路は宿泊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アーク、テオ、オメガ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東北・信越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235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仙台・新潟を拠点に交互に配分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初代ウルトラマン、テオ、オメガ、ジード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中国・四国・沖縄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235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広島・岡山を拠点に各県、沖縄は本島中心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アーク、テオ、オメガ、ジード、ゼロ、ゼット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合計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15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20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3,525〜4,005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76072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A1A1A"/>
                </a:solidFill>
                <a:latin typeface="Meiryo"/>
                <a:ea typeface="Meiryo"/>
              </a:rPr>
              <a:t>・エリア配分は目安。会場リストをいただいた段階で、バッティング基準(半径8km・前後8日/5日)に照らして調整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A1A1A"/>
                </a:solidFill>
                <a:latin typeface="Meiryo"/>
                <a:ea typeface="Meiryo"/>
              </a:rPr>
              <a:t>・出演キャラクターは月別シフト表でご案内。北関東は2027年1〜3月は実施不可(4月以降は可)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86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eiryo"/>
                <a:ea typeface="Meiryo"/>
              </a:rPr>
              <a:t>4. 制作物と権利の進め方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626B"/>
                </a:solidFill>
                <a:latin typeface="Meiryo"/>
                <a:ea typeface="Meiryo"/>
              </a:rPr>
              <a:t>キャンペーンビジュアルを決めてから、品目ごとに仮申請で制作物を確定していきます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E949B"/>
                </a:solidFill>
                <a:latin typeface="Meiryo"/>
                <a:ea typeface="Meiryo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91056"/>
            <a:ext cx="4846320" cy="202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0000"/>
                </a:solidFill>
                <a:latin typeface="Meiryo"/>
                <a:ea typeface="Meiryo"/>
              </a:rPr>
              <a:t>キャンペーン名称・KVの策定(11月中)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・KVは貴社で制作(当社で受託することも可能)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・撮影会の背景バナーは、キャラクターなしの背景素材(青空・宇宙)を当社から提供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・会場装飾と告知物には集合ビジュアル(調整版)、個体素材、ブランドロゴ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・監修は当社の制作物窓口へ。春節前の量産(1月末)から逆算し、11月中に確定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91056"/>
            <a:ext cx="4846320" cy="202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0000"/>
                </a:solidFill>
                <a:latin typeface="Meiryo"/>
                <a:ea typeface="Meiryo"/>
              </a:rPr>
              <a:t>仮申請の流れ(別紙「仮申請のご案内」)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・貴社担当者1名を事前登録し、品目ごとに申請。約1週間で可否を回答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・入力項目は企画商品名(「ノベルティ ○○」の表記)、キャラクター、商品カテゴリー、製造原価単価、予定数量、材質・サイズなど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・配布物は商品カテゴリー1〜16、会場装飾は店舗備品として申請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・作成許諾ロイヤリティは作成費用の20%(製造原価単価×数量)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31920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59936"/>
            <a:ext cx="4846320" cy="184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0000"/>
                </a:solidFill>
                <a:latin typeface="Meiryo"/>
                <a:ea typeface="Meiryo"/>
              </a:rPr>
              <a:t>ノベルティのカテゴリー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・制作できるもの:トートバッグ、タオル、BOXティッシュなど(キャンペーンデザイン使用)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・制作できないもの:お子様向け玩具(フィギュア・ソフビ等)、菓子類、ランチボックスなど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・タオルは一般的な仕様で(ループタオル・ミニタオルは避ける)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059936"/>
            <a:ext cx="4846320" cy="184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0000"/>
                </a:solidFill>
                <a:latin typeface="Meiryo"/>
                <a:ea typeface="Meiryo"/>
              </a:rPr>
              <a:t>修了証・配布物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・既存の修了証は当社の別イベント用のため、本件では使わない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・案A:貴社のミッション(クイズ等)と連動したオリジナル修了証を貴社で制作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・案B:キャンペーンビジュアルのステッカーを貴社で制作し、来場者全員に配布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・体験型か告知型か、配布の目的に合わせて選択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86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eiryo"/>
                <a:ea typeface="Meiryo"/>
              </a:rPr>
              <a:t>4. スケジュール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626B"/>
                </a:solidFill>
                <a:latin typeface="Meiryo"/>
                <a:ea typeface="Meiryo"/>
              </a:rPr>
              <a:t>2027年1月開始からの逆算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E949B"/>
                </a:solidFill>
                <a:latin typeface="Meiryo"/>
                <a:ea typeface="Meiryo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17320"/>
          <a:ext cx="10881360" cy="3712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8984"/>
                <a:gridCol w="6891528"/>
                <a:gridCol w="1450848"/>
              </a:tblGrid>
              <a:tr h="530351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時期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内容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担当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10月22日(本日)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本格実施の可否、役割分担の確定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両社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10月下旬〜11月上旬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キャンペーン名称・KVの策定打ち合わせ。契約書ドラフトの提示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両社／当社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11月中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KV確定、ノベルティ品目の仮申請、取りまとめ窓口の設置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貴社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11月末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契約締結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両社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12月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デザイン監修完了、量産開始(春節前)。1月開催分の会場確定(12月1日)。運営レクチャー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両社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3035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2027年1月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開始(基準15ライン。1月は最大20ライン)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両社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52578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B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376672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00000"/>
                </a:solidFill>
                <a:latin typeface="Meiryo"/>
                <a:ea typeface="Meiryo"/>
              </a:rPr>
              <a:t>本日ご確認いただきたいこと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eiryo"/>
                <a:ea typeface="Meiryo"/>
              </a:rPr>
              <a:t>本格実施の可否／役割分担(運営体制・取りまとめ窓口)／11月末締結までの進め方／KV策定打ち合わせの日程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