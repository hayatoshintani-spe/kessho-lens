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cover.png"/>
          <p:cNvPicPr>
            <a:picLocks noChangeAspect="1"/>
          </p:cNvPicPr>
          <p:nvPr/>
        </p:nvPicPr>
        <p:blipFill>
          <a:blip r:embed="rId2"/>
          <a:stretch>
            <a:fillRect/>
          </a:stretch>
        </p:blipFill>
        <p:spPr>
          <a:xfrm>
            <a:off x="0" y="0"/>
            <a:ext cx="3739896" cy="6858000"/>
          </a:xfrm>
          <a:prstGeom prst="rect">
            <a:avLst/>
          </a:prstGeom>
        </p:spPr>
      </p:pic>
      <p:sp>
        <p:nvSpPr>
          <p:cNvPr id="3" name="TextBox 2"/>
          <p:cNvSpPr txBox="1"/>
          <p:nvPr/>
        </p:nvSpPr>
        <p:spPr>
          <a:xfrm>
            <a:off x="4114800" y="1143000"/>
            <a:ext cx="7680960" cy="457200"/>
          </a:xfrm>
          <a:prstGeom prst="rect">
            <a:avLst/>
          </a:prstGeom>
          <a:noFill/>
        </p:spPr>
        <p:txBody>
          <a:bodyPr wrap="square" anchor="t" lIns="0" rIns="0" tIns="0" bIns="0">
            <a:spAutoFit/>
          </a:bodyPr>
          <a:lstStyle/>
          <a:p>
            <a:pPr algn="ctr">
              <a:spcAft>
                <a:spcPts val="500"/>
              </a:spcAft>
            </a:pPr>
            <a:r>
              <a:rPr sz="1400" b="0">
                <a:solidFill>
                  <a:srgbClr val="5A626B"/>
                </a:solidFill>
                <a:latin typeface="Meiryo"/>
                <a:ea typeface="Meiryo"/>
              </a:rPr>
              <a:t>ソフトバンク株式会社 御中</a:t>
            </a:r>
          </a:p>
        </p:txBody>
      </p:sp>
      <p:sp>
        <p:nvSpPr>
          <p:cNvPr id="4" name="TextBox 3"/>
          <p:cNvSpPr txBox="1"/>
          <p:nvPr/>
        </p:nvSpPr>
        <p:spPr>
          <a:xfrm>
            <a:off x="4114800" y="2057400"/>
            <a:ext cx="7680960" cy="1828800"/>
          </a:xfrm>
          <a:prstGeom prst="rect">
            <a:avLst/>
          </a:prstGeom>
          <a:noFill/>
        </p:spPr>
        <p:txBody>
          <a:bodyPr wrap="square" anchor="t" lIns="0" rIns="0" tIns="0" bIns="0">
            <a:spAutoFit/>
          </a:bodyPr>
          <a:lstStyle/>
          <a:p>
            <a:pPr algn="ctr">
              <a:spcAft>
                <a:spcPts val="1000"/>
              </a:spcAft>
            </a:pPr>
            <a:r>
              <a:rPr sz="3000" b="1">
                <a:solidFill>
                  <a:srgbClr val="1A1A1A"/>
                </a:solidFill>
                <a:latin typeface="Meiryo"/>
                <a:ea typeface="Meiryo"/>
              </a:rPr>
              <a:t>ウルトラマンIP ご活用のご提案</a:t>
            </a:r>
          </a:p>
          <a:p>
            <a:pPr algn="ctr">
              <a:spcAft>
                <a:spcPts val="1000"/>
              </a:spcAft>
            </a:pPr>
            <a:r>
              <a:rPr sz="2600" b="1">
                <a:solidFill>
                  <a:srgbClr val="1A1A1A"/>
                </a:solidFill>
                <a:latin typeface="Meiryo"/>
                <a:ea typeface="Meiryo"/>
              </a:rPr>
              <a:t>企画内容とお見積り</a:t>
            </a:r>
          </a:p>
        </p:txBody>
      </p:sp>
      <p:sp>
        <p:nvSpPr>
          <p:cNvPr id="5" name="TextBox 4"/>
          <p:cNvSpPr txBox="1"/>
          <p:nvPr/>
        </p:nvSpPr>
        <p:spPr>
          <a:xfrm>
            <a:off x="4114800" y="3840480"/>
            <a:ext cx="7680960" cy="822960"/>
          </a:xfrm>
          <a:prstGeom prst="rect">
            <a:avLst/>
          </a:prstGeom>
          <a:noFill/>
        </p:spPr>
        <p:txBody>
          <a:bodyPr wrap="square" anchor="t" lIns="0" rIns="0" tIns="0" bIns="0">
            <a:spAutoFit/>
          </a:bodyPr>
          <a:lstStyle/>
          <a:p>
            <a:pPr algn="ctr">
              <a:spcAft>
                <a:spcPts val="400"/>
              </a:spcAft>
            </a:pPr>
            <a:r>
              <a:rPr sz="1350" b="0">
                <a:solidFill>
                  <a:srgbClr val="1A1A1A"/>
                </a:solidFill>
                <a:latin typeface="Meiryo"/>
                <a:ea typeface="Meiryo"/>
              </a:rPr>
              <a:t>店頭イベント・イベントキット・店頭訴求ツールへの</a:t>
            </a:r>
          </a:p>
          <a:p>
            <a:pPr algn="ctr">
              <a:spcAft>
                <a:spcPts val="400"/>
              </a:spcAft>
            </a:pPr>
            <a:r>
              <a:rPr sz="1350" b="0">
                <a:solidFill>
                  <a:srgbClr val="1A1A1A"/>
                </a:solidFill>
                <a:latin typeface="Meiryo"/>
                <a:ea typeface="Meiryo"/>
              </a:rPr>
              <a:t>ウルトラマンIP導入(年間ライセンス)と今期スポットテストのご提案</a:t>
            </a:r>
          </a:p>
        </p:txBody>
      </p:sp>
      <p:sp>
        <p:nvSpPr>
          <p:cNvPr id="6" name="TextBox 5"/>
          <p:cNvSpPr txBox="1"/>
          <p:nvPr/>
        </p:nvSpPr>
        <p:spPr>
          <a:xfrm>
            <a:off x="4114800" y="5212080"/>
            <a:ext cx="7680960" cy="914400"/>
          </a:xfrm>
          <a:prstGeom prst="rect">
            <a:avLst/>
          </a:prstGeom>
          <a:noFill/>
        </p:spPr>
        <p:txBody>
          <a:bodyPr wrap="square" anchor="t" lIns="0" rIns="0" tIns="0" bIns="0">
            <a:spAutoFit/>
          </a:bodyPr>
          <a:lstStyle/>
          <a:p>
            <a:pPr algn="ctr">
              <a:spcAft>
                <a:spcPts val="300"/>
              </a:spcAft>
            </a:pPr>
            <a:r>
              <a:rPr sz="1500" b="1">
                <a:solidFill>
                  <a:srgbClr val="1F338C"/>
                </a:solidFill>
                <a:latin typeface="Meiryo"/>
                <a:ea typeface="Meiryo"/>
              </a:rPr>
              <a:t>2026年7月</a:t>
            </a:r>
          </a:p>
          <a:p>
            <a:pPr algn="ctr">
              <a:spcAft>
                <a:spcPts val="300"/>
              </a:spcAft>
            </a:pPr>
            <a:r>
              <a:rPr sz="1500" b="1">
                <a:solidFill>
                  <a:srgbClr val="1F338C"/>
                </a:solidFill>
                <a:latin typeface="Meiryo"/>
                <a:ea typeface="Meiryo"/>
              </a:rPr>
              <a:t>(株)円谷プロダクション</a:t>
            </a:r>
          </a:p>
          <a:p>
            <a:pPr algn="ctr">
              <a:spcAft>
                <a:spcPts val="300"/>
              </a:spcAft>
            </a:pPr>
            <a:r>
              <a:rPr sz="1050" b="0">
                <a:solidFill>
                  <a:srgbClr val="8E949B"/>
                </a:solidFill>
                <a:latin typeface="Meiryo"/>
                <a:ea typeface="Meiryo"/>
              </a:rPr>
              <a:t>金額はすべて税別・概算</a:t>
            </a:r>
          </a:p>
        </p:txBody>
      </p:sp>
      <p:sp>
        <p:nvSpPr>
          <p:cNvPr id="7" name="TextBox 6"/>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8" name="TextBox 7"/>
          <p:cNvSpPr txBox="1"/>
          <p:nvPr/>
        </p:nvSpPr>
        <p:spPr>
          <a:xfrm>
            <a:off x="9372600" y="6492240"/>
            <a:ext cx="228600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企画内容:ウルトラマンIPご活用の全体像</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貴社の現行のご運用(イベント+イベント外)と同じ枠組み・同じ運用フローのまま、ウルトラマンをご活用いただけます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2</a:t>
            </a:r>
          </a:p>
        </p:txBody>
      </p:sp>
      <p:graphicFrame>
        <p:nvGraphicFramePr>
          <p:cNvPr id="8" name="Table 7"/>
          <p:cNvGraphicFramePr>
            <a:graphicFrameLocks noGrp="1"/>
          </p:cNvGraphicFramePr>
          <p:nvPr/>
        </p:nvGraphicFramePr>
        <p:xfrm>
          <a:off x="640080" y="1417320"/>
          <a:ext cx="10881359" cy="2852928"/>
        </p:xfrm>
        <a:graphic>
          <a:graphicData uri="http://schemas.openxmlformats.org/drawingml/2006/table">
            <a:tbl>
              <a:tblPr firstRow="1" bandRow="1">
                <a:tableStyleId>{5C22544A-7EE6-4342-B048-85BDC9FD1C3A}</a:tableStyleId>
              </a:tblPr>
              <a:tblGrid>
                <a:gridCol w="2829153"/>
                <a:gridCol w="5658307"/>
                <a:gridCol w="2393899"/>
              </a:tblGrid>
              <a:tr h="713232">
                <a:tc>
                  <a:txBody>
                    <a:bodyPr/>
                    <a:lstStyle/>
                    <a:p>
                      <a:r>
                        <a:rPr sz="1200" b="1">
                          <a:solidFill>
                            <a:srgbClr val="FFFFFF"/>
                          </a:solidFill>
                          <a:latin typeface="Meiryo"/>
                          <a:ea typeface="Meiryo"/>
                        </a:rPr>
                        <a:t/>
                      </a:r>
                    </a:p>
                  </a:txBody>
                  <a:tcPr anchor="ctr" marL="73152" marR="73152">
                    <a:solidFill>
                      <a:srgbClr val="232278"/>
                    </a:solidFill>
                  </a:tcPr>
                </a:tc>
                <a:tc>
                  <a:txBody>
                    <a:bodyPr/>
                    <a:lstStyle/>
                    <a:p>
                      <a:r>
                        <a:rPr sz="1200" b="1">
                          <a:solidFill>
                            <a:srgbClr val="FFFFFF"/>
                          </a:solidFill>
                          <a:latin typeface="Meiryo"/>
                          <a:ea typeface="Meiryo"/>
                        </a:rPr>
                        <a:t>内容</a:t>
                      </a:r>
                    </a:p>
                  </a:txBody>
                  <a:tcPr anchor="ctr" marL="73152" marR="73152">
                    <a:solidFill>
                      <a:srgbClr val="232278"/>
                    </a:solidFill>
                  </a:tcPr>
                </a:tc>
                <a:tc>
                  <a:txBody>
                    <a:bodyPr/>
                    <a:lstStyle/>
                    <a:p>
                      <a:r>
                        <a:rPr sz="1200" b="1">
                          <a:solidFill>
                            <a:srgbClr val="FFFFFF"/>
                          </a:solidFill>
                          <a:latin typeface="Meiryo"/>
                          <a:ea typeface="Meiryo"/>
                        </a:rPr>
                        <a:t>費用(税別)</a:t>
                      </a:r>
                    </a:p>
                  </a:txBody>
                  <a:tcPr anchor="ctr" marL="73152" marR="73152">
                    <a:solidFill>
                      <a:srgbClr val="232278"/>
                    </a:solidFill>
                  </a:tcPr>
                </a:tc>
              </a:tr>
              <a:tr h="713232">
                <a:tc>
                  <a:txBody>
                    <a:bodyPr/>
                    <a:lstStyle/>
                    <a:p>
                      <a:r>
                        <a:rPr sz="1200" b="1">
                          <a:solidFill>
                            <a:srgbClr val="1A1A1A"/>
                          </a:solidFill>
                          <a:latin typeface="Meiryo"/>
                          <a:ea typeface="Meiryo"/>
                        </a:rPr>
                        <a:t>① 年間IP使用料(固定)</a:t>
                      </a:r>
                    </a:p>
                  </a:txBody>
                  <a:tcPr anchor="ctr" marL="73152" marR="73152">
                    <a:solidFill>
                      <a:srgbClr val="FFFFFF"/>
                    </a:solidFill>
                  </a:tcPr>
                </a:tc>
                <a:tc>
                  <a:txBody>
                    <a:bodyPr/>
                    <a:lstStyle/>
                    <a:p>
                      <a:r>
                        <a:rPr sz="1200" b="0">
                          <a:solidFill>
                            <a:srgbClr val="1A1A1A"/>
                          </a:solidFill>
                          <a:latin typeface="Meiryo"/>
                          <a:ea typeface="Meiryo"/>
                        </a:rPr>
                        <a:t>イベント・イベントキット・店頭訴求ツール・LP/Web・SNSでのIP利用と作成物の監修対応を包括。着ぐるみイベントの開催権を含みます</a:t>
                      </a:r>
                    </a:p>
                  </a:txBody>
                  <a:tcPr anchor="ctr" marL="73152" marR="73152">
                    <a:solidFill>
                      <a:srgbClr val="FFFFFF"/>
                    </a:solidFill>
                  </a:tcPr>
                </a:tc>
                <a:tc>
                  <a:txBody>
                    <a:bodyPr/>
                    <a:lstStyle/>
                    <a:p>
                      <a:r>
                        <a:rPr sz="1200" b="1">
                          <a:solidFill>
                            <a:srgbClr val="C00000"/>
                          </a:solidFill>
                          <a:latin typeface="Meiryo"/>
                          <a:ea typeface="Meiryo"/>
                        </a:rPr>
                        <a:t>2,000万円/年</a:t>
                      </a:r>
                    </a:p>
                  </a:txBody>
                  <a:tcPr anchor="ctr" marL="73152" marR="73152">
                    <a:solidFill>
                      <a:srgbClr val="FFFFFF"/>
                    </a:solidFill>
                  </a:tcPr>
                </a:tc>
              </a:tr>
              <a:tr h="713232">
                <a:tc>
                  <a:txBody>
                    <a:bodyPr/>
                    <a:lstStyle/>
                    <a:p>
                      <a:r>
                        <a:rPr sz="1200" b="1">
                          <a:solidFill>
                            <a:srgbClr val="1A1A1A"/>
                          </a:solidFill>
                          <a:latin typeface="Meiryo"/>
                          <a:ea typeface="Meiryo"/>
                        </a:rPr>
                        <a:t>② 着ぐるみイベント(従量)</a:t>
                      </a:r>
                    </a:p>
                  </a:txBody>
                  <a:tcPr anchor="ctr" marL="73152" marR="73152">
                    <a:solidFill>
                      <a:srgbClr val="F2F4F6"/>
                    </a:solidFill>
                  </a:tcPr>
                </a:tc>
                <a:tc>
                  <a:txBody>
                    <a:bodyPr/>
                    <a:lstStyle/>
                    <a:p>
                      <a:r>
                        <a:rPr sz="1200" b="0">
                          <a:solidFill>
                            <a:srgbClr val="1A1A1A"/>
                          </a:solidFill>
                          <a:latin typeface="Meiryo"/>
                          <a:ea typeface="Meiryo"/>
                        </a:rPr>
                        <a:t>店頭写真撮影会・グリーティング。ディレクター+スーツアクター2名の専属体制・演技対応込み。実施した開催数の分だけのお支払いです</a:t>
                      </a:r>
                    </a:p>
                  </a:txBody>
                  <a:tcPr anchor="ctr" marL="73152" marR="73152">
                    <a:solidFill>
                      <a:srgbClr val="F2F4F6"/>
                    </a:solidFill>
                  </a:tcPr>
                </a:tc>
                <a:tc>
                  <a:txBody>
                    <a:bodyPr/>
                    <a:lstStyle/>
                    <a:p>
                      <a:r>
                        <a:rPr sz="1200" b="1">
                          <a:solidFill>
                            <a:srgbClr val="1A1A1A"/>
                          </a:solidFill>
                          <a:latin typeface="Meiryo"/>
                          <a:ea typeface="Meiryo"/>
                        </a:rPr>
                        <a:t>20万円/開催(土日2日間)</a:t>
                      </a:r>
                    </a:p>
                  </a:txBody>
                  <a:tcPr anchor="ctr" marL="73152" marR="73152">
                    <a:solidFill>
                      <a:srgbClr val="F2F4F6"/>
                    </a:solidFill>
                  </a:tcPr>
                </a:tc>
              </a:tr>
              <a:tr h="713232">
                <a:tc>
                  <a:txBody>
                    <a:bodyPr/>
                    <a:lstStyle/>
                    <a:p>
                      <a:r>
                        <a:rPr sz="1200" b="1">
                          <a:solidFill>
                            <a:srgbClr val="1A1A1A"/>
                          </a:solidFill>
                          <a:latin typeface="Meiryo"/>
                          <a:ea typeface="Meiryo"/>
                        </a:rPr>
                        <a:t>③ 作成許諾ロイヤリティ(従量)</a:t>
                      </a:r>
                    </a:p>
                  </a:txBody>
                  <a:tcPr anchor="ctr" marL="73152" marR="73152">
                    <a:solidFill>
                      <a:srgbClr val="FFFFFF"/>
                    </a:solidFill>
                  </a:tcPr>
                </a:tc>
                <a:tc>
                  <a:txBody>
                    <a:bodyPr/>
                    <a:lstStyle/>
                    <a:p>
                      <a:r>
                        <a:rPr sz="1200" b="0">
                          <a:solidFill>
                            <a:srgbClr val="1A1A1A"/>
                          </a:solidFill>
                          <a:latin typeface="Meiryo"/>
                          <a:ea typeface="Meiryo"/>
                        </a:rPr>
                        <a:t>イベントキット・ノベルティ・店頭訴求ツールが対象(作成主体は貴社)。作成実績(実額)ベースで精算します</a:t>
                      </a:r>
                    </a:p>
                  </a:txBody>
                  <a:tcPr anchor="ctr" marL="73152" marR="73152">
                    <a:solidFill>
                      <a:srgbClr val="FFFFFF"/>
                    </a:solidFill>
                  </a:tcPr>
                </a:tc>
                <a:tc>
                  <a:txBody>
                    <a:bodyPr/>
                    <a:lstStyle/>
                    <a:p>
                      <a:r>
                        <a:rPr sz="1200" b="1">
                          <a:solidFill>
                            <a:srgbClr val="1A1A1A"/>
                          </a:solidFill>
                          <a:latin typeface="Meiryo"/>
                          <a:ea typeface="Meiryo"/>
                        </a:rPr>
                        <a:t>作成費用の20%</a:t>
                      </a:r>
                    </a:p>
                  </a:txBody>
                  <a:tcPr anchor="ctr" marL="73152" marR="73152">
                    <a:solidFill>
                      <a:srgbClr val="FFFFFF"/>
                    </a:solidFill>
                  </a:tcPr>
                </a:tc>
              </a:tr>
            </a:tbl>
          </a:graphicData>
        </a:graphic>
      </p:graphicFrame>
      <p:sp>
        <p:nvSpPr>
          <p:cNvPr id="9" name="Rounded Rectangle 8"/>
          <p:cNvSpPr/>
          <p:nvPr/>
        </p:nvSpPr>
        <p:spPr>
          <a:xfrm>
            <a:off x="640080" y="4480560"/>
            <a:ext cx="10881360" cy="1371600"/>
          </a:xfrm>
          <a:prstGeom prst="roundRect">
            <a:avLst>
              <a:gd name="adj" fmla="val 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599432"/>
            <a:ext cx="10332720" cy="1188720"/>
          </a:xfrm>
          <a:prstGeom prst="rect">
            <a:avLst/>
          </a:prstGeom>
          <a:noFill/>
        </p:spPr>
        <p:txBody>
          <a:bodyPr wrap="square" anchor="t" lIns="0" rIns="0" tIns="0" bIns="0">
            <a:spAutoFit/>
          </a:bodyPr>
          <a:lstStyle/>
          <a:p>
            <a:pPr algn="l">
              <a:spcAft>
                <a:spcPts val="500"/>
              </a:spcAft>
            </a:pPr>
            <a:r>
              <a:rPr sz="1300" b="1">
                <a:solidFill>
                  <a:srgbClr val="C00000"/>
                </a:solidFill>
                <a:latin typeface="Meiryo"/>
                <a:ea typeface="Meiryo"/>
              </a:rPr>
              <a:t>この構造のポイント</a:t>
            </a:r>
          </a:p>
          <a:p>
            <a:pPr algn="l">
              <a:spcAft>
                <a:spcPts val="500"/>
              </a:spcAft>
            </a:pPr>
            <a:r>
              <a:rPr sz="1200" b="0">
                <a:solidFill>
                  <a:srgbClr val="1A1A1A"/>
                </a:solidFill>
                <a:latin typeface="Meiryo"/>
                <a:ea typeface="Meiryo"/>
              </a:rPr>
              <a:t>・固定でお支払いいただくのは①のみ。②③は実施・作成した分だけの完全従量型で、規模のご判断に費用が連動します</a:t>
            </a:r>
          </a:p>
          <a:p>
            <a:pPr algn="l">
              <a:spcAft>
                <a:spcPts val="500"/>
              </a:spcAft>
            </a:pPr>
            <a:r>
              <a:rPr sz="1200" b="0">
                <a:solidFill>
                  <a:srgbClr val="1A1A1A"/>
                </a:solidFill>
                <a:latin typeface="Meiryo"/>
                <a:ea typeface="Meiryo"/>
              </a:rPr>
              <a:t>・着ぐるみは1回30分×1日最大5回、1回あたり約50組にご対応可能。キャラクター登場時のBGM音素材もご用意します</a:t>
            </a:r>
          </a:p>
          <a:p>
            <a:pPr algn="l">
              <a:spcAft>
                <a:spcPts val="500"/>
              </a:spcAft>
            </a:pPr>
            <a:r>
              <a:rPr sz="1200" b="0">
                <a:solidFill>
                  <a:srgbClr val="1A1A1A"/>
                </a:solidFill>
                <a:latin typeface="Meiryo"/>
                <a:ea typeface="Meiryo"/>
              </a:rPr>
              <a:t>・ステージショーをご希望の場合は年10回程度まで対応可能です(1回30万円〜・個別お見積り)</a:t>
            </a:r>
          </a:p>
        </p:txBody>
      </p:sp>
      <p:sp>
        <p:nvSpPr>
          <p:cNvPr id="11" name="TextBox 10"/>
          <p:cNvSpPr txBox="1"/>
          <p:nvPr/>
        </p:nvSpPr>
        <p:spPr>
          <a:xfrm>
            <a:off x="640080" y="5989320"/>
            <a:ext cx="10881360" cy="502920"/>
          </a:xfrm>
          <a:prstGeom prst="rect">
            <a:avLst/>
          </a:prstGeom>
          <a:noFill/>
        </p:spPr>
        <p:txBody>
          <a:bodyPr wrap="square" anchor="t" lIns="0" rIns="0" tIns="0" bIns="0">
            <a:spAutoFit/>
          </a:bodyPr>
          <a:lstStyle/>
          <a:p>
            <a:pPr algn="l">
              <a:spcAft>
                <a:spcPts val="300"/>
              </a:spcAft>
            </a:pPr>
            <a:r>
              <a:rPr sz="1000" b="0">
                <a:solidFill>
                  <a:srgbClr val="5A626B"/>
                </a:solidFill>
                <a:latin typeface="Meiryo"/>
                <a:ea typeface="Meiryo"/>
              </a:rPr>
              <a:t>※②は首都圏内は交通実費込みの特別条件、首都圏外は交通・宿泊実費を別途申し受けます。※控室(非公開の着替え場所)のご用意など、実施ルールの詳細は別紙レギュレーションをご参照ください。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企画内容:ウルトラマンならではの価値</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シリーズ60周年。ほかのIPにはない4つの強みで、貴社店頭の集客を年間を通じて支えます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3</a:t>
            </a:r>
          </a:p>
        </p:txBody>
      </p:sp>
      <p:sp>
        <p:nvSpPr>
          <p:cNvPr id="8" name="Rounded Rectangle 7"/>
          <p:cNvSpPr/>
          <p:nvPr/>
        </p:nvSpPr>
        <p:spPr>
          <a:xfrm>
            <a:off x="640080" y="1463040"/>
            <a:ext cx="5257800" cy="1920240"/>
          </a:xfrm>
          <a:prstGeom prst="roundRect">
            <a:avLst>
              <a:gd name="adj" fmla="val 7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609344"/>
            <a:ext cx="4754880" cy="1645920"/>
          </a:xfrm>
          <a:prstGeom prst="rect">
            <a:avLst/>
          </a:prstGeom>
          <a:noFill/>
        </p:spPr>
        <p:txBody>
          <a:bodyPr wrap="square" anchor="t" lIns="0" rIns="0" tIns="0" bIns="0">
            <a:spAutoFit/>
          </a:bodyPr>
          <a:lstStyle/>
          <a:p>
            <a:pPr algn="l">
              <a:spcAft>
                <a:spcPts val="400"/>
              </a:spcAft>
            </a:pPr>
            <a:r>
              <a:rPr sz="1350" b="1">
                <a:solidFill>
                  <a:srgbClr val="C00000"/>
                </a:solidFill>
                <a:latin typeface="Meiryo"/>
                <a:ea typeface="Meiryo"/>
              </a:rPr>
              <a:t>1. 選べるヒーロー(8キャラクター)</a:t>
            </a:r>
          </a:p>
          <a:p>
            <a:pPr algn="l">
              <a:spcAft>
                <a:spcPts val="400"/>
              </a:spcAft>
            </a:pPr>
            <a:r>
              <a:rPr sz="1150" b="0">
                <a:solidFill>
                  <a:srgbClr val="1A1A1A"/>
                </a:solidFill>
                <a:latin typeface="Meiryo"/>
                <a:ea typeface="Meiryo"/>
              </a:rPr>
              <a:t>昭和・平成・令和の8ヒーローから店舗・企画ごとに選択可能</a:t>
            </a:r>
          </a:p>
          <a:p>
            <a:pPr algn="l">
              <a:spcAft>
                <a:spcPts val="400"/>
              </a:spcAft>
            </a:pPr>
            <a:r>
              <a:rPr sz="1150" b="0">
                <a:solidFill>
                  <a:srgbClr val="1A1A1A"/>
                </a:solidFill>
                <a:latin typeface="Meiryo"/>
                <a:ea typeface="Meiryo"/>
              </a:rPr>
              <a:t>(初代/セブン/ティガ/ダイナ/ゼロ/アーク/オメガ/テオ)</a:t>
            </a:r>
          </a:p>
          <a:p>
            <a:pPr algn="l">
              <a:spcAft>
                <a:spcPts val="400"/>
              </a:spcAft>
            </a:pPr>
            <a:r>
              <a:rPr sz="1150" b="0">
                <a:solidFill>
                  <a:srgbClr val="1A1A1A"/>
                </a:solidFill>
                <a:latin typeface="Meiryo"/>
                <a:ea typeface="Meiryo"/>
              </a:rPr>
              <a:t>季節・エリアごとの「キャラクター切替」で来店動機が持続します</a:t>
            </a:r>
          </a:p>
        </p:txBody>
      </p:sp>
      <p:sp>
        <p:nvSpPr>
          <p:cNvPr id="10" name="Rounded Rectangle 9"/>
          <p:cNvSpPr/>
          <p:nvPr/>
        </p:nvSpPr>
        <p:spPr>
          <a:xfrm>
            <a:off x="6263640" y="1463040"/>
            <a:ext cx="5257800" cy="1920240"/>
          </a:xfrm>
          <a:prstGeom prst="roundRect">
            <a:avLst>
              <a:gd name="adj" fmla="val 7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1609344"/>
            <a:ext cx="4754880" cy="1645920"/>
          </a:xfrm>
          <a:prstGeom prst="rect">
            <a:avLst/>
          </a:prstGeom>
          <a:noFill/>
        </p:spPr>
        <p:txBody>
          <a:bodyPr wrap="square" anchor="t" lIns="0" rIns="0" tIns="0" bIns="0">
            <a:spAutoFit/>
          </a:bodyPr>
          <a:lstStyle/>
          <a:p>
            <a:pPr algn="l">
              <a:spcAft>
                <a:spcPts val="400"/>
              </a:spcAft>
            </a:pPr>
            <a:r>
              <a:rPr sz="1350" b="1">
                <a:solidFill>
                  <a:srgbClr val="C00000"/>
                </a:solidFill>
                <a:latin typeface="Meiryo"/>
                <a:ea typeface="Meiryo"/>
              </a:rPr>
              <a:t>2. 夏も稼働できる唯一の選択肢</a:t>
            </a:r>
          </a:p>
          <a:p>
            <a:pPr algn="l">
              <a:spcAft>
                <a:spcPts val="400"/>
              </a:spcAft>
            </a:pPr>
            <a:r>
              <a:rPr sz="1150" b="0">
                <a:solidFill>
                  <a:srgbClr val="1A1A1A"/>
                </a:solidFill>
                <a:latin typeface="Meiryo"/>
                <a:ea typeface="Meiryo"/>
              </a:rPr>
              <a:t>7・8月を含むフル12か月の稼働が可能です</a:t>
            </a:r>
          </a:p>
          <a:p>
            <a:pPr algn="l">
              <a:spcAft>
                <a:spcPts val="400"/>
              </a:spcAft>
            </a:pPr>
            <a:r>
              <a:rPr sz="1150" b="0">
                <a:solidFill>
                  <a:srgbClr val="1A1A1A"/>
                </a:solidFill>
                <a:latin typeface="Meiryo"/>
                <a:ea typeface="Meiryo"/>
              </a:rPr>
              <a:t>夏商戦・夏休みの店頭集客に切れ目がありません</a:t>
            </a:r>
          </a:p>
          <a:p>
            <a:pPr algn="l">
              <a:spcAft>
                <a:spcPts val="400"/>
              </a:spcAft>
            </a:pPr>
            <a:r>
              <a:rPr sz="1150" b="0">
                <a:solidFill>
                  <a:srgbClr val="1A1A1A"/>
                </a:solidFill>
                <a:latin typeface="Meiryo"/>
                <a:ea typeface="Meiryo"/>
              </a:rPr>
              <a:t>フル稼働なら年間最大720開催まで拡張できます</a:t>
            </a:r>
          </a:p>
        </p:txBody>
      </p:sp>
      <p:sp>
        <p:nvSpPr>
          <p:cNvPr id="12" name="Rounded Rectangle 11"/>
          <p:cNvSpPr/>
          <p:nvPr/>
        </p:nvSpPr>
        <p:spPr>
          <a:xfrm>
            <a:off x="640080" y="3566160"/>
            <a:ext cx="5257800" cy="1920240"/>
          </a:xfrm>
          <a:prstGeom prst="roundRect">
            <a:avLst>
              <a:gd name="adj" fmla="val 7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712464"/>
            <a:ext cx="4754880" cy="1645920"/>
          </a:xfrm>
          <a:prstGeom prst="rect">
            <a:avLst/>
          </a:prstGeom>
          <a:noFill/>
        </p:spPr>
        <p:txBody>
          <a:bodyPr wrap="square" anchor="t" lIns="0" rIns="0" tIns="0" bIns="0">
            <a:spAutoFit/>
          </a:bodyPr>
          <a:lstStyle/>
          <a:p>
            <a:pPr algn="l">
              <a:spcAft>
                <a:spcPts val="400"/>
              </a:spcAft>
            </a:pPr>
            <a:r>
              <a:rPr sz="1350" b="1">
                <a:solidFill>
                  <a:srgbClr val="C00000"/>
                </a:solidFill>
                <a:latin typeface="Meiryo"/>
                <a:ea typeface="Meiryo"/>
              </a:rPr>
              <a:t>3. 映画・新TVシリーズ・新商品との連動</a:t>
            </a:r>
          </a:p>
          <a:p>
            <a:pPr algn="l">
              <a:spcAft>
                <a:spcPts val="400"/>
              </a:spcAft>
            </a:pPr>
            <a:r>
              <a:rPr sz="1150" b="0">
                <a:solidFill>
                  <a:srgbClr val="1A1A1A"/>
                </a:solidFill>
                <a:latin typeface="Meiryo"/>
                <a:ea typeface="Meiryo"/>
              </a:rPr>
              <a:t>劇場映画・新TVシリーズ・玩具新商品と連動した季節企画をご提供</a:t>
            </a:r>
          </a:p>
          <a:p>
            <a:pPr algn="l">
              <a:spcAft>
                <a:spcPts val="400"/>
              </a:spcAft>
            </a:pPr>
            <a:r>
              <a:rPr sz="1150" b="0">
                <a:solidFill>
                  <a:srgbClr val="1A1A1A"/>
                </a:solidFill>
                <a:latin typeface="Meiryo"/>
                <a:ea typeface="Meiryo"/>
              </a:rPr>
              <a:t>キット・ノベルティのデザイン切替で「変化」を作り、</a:t>
            </a:r>
          </a:p>
          <a:p>
            <a:pPr algn="l">
              <a:spcAft>
                <a:spcPts val="400"/>
              </a:spcAft>
            </a:pPr>
            <a:r>
              <a:rPr sz="1150" b="0">
                <a:solidFill>
                  <a:srgbClr val="1A1A1A"/>
                </a:solidFill>
                <a:latin typeface="Meiryo"/>
                <a:ea typeface="Meiryo"/>
              </a:rPr>
              <a:t>リピート来店・継続的な話題化につなげます</a:t>
            </a:r>
          </a:p>
        </p:txBody>
      </p:sp>
      <p:sp>
        <p:nvSpPr>
          <p:cNvPr id="14" name="Rounded Rectangle 13"/>
          <p:cNvSpPr/>
          <p:nvPr/>
        </p:nvSpPr>
        <p:spPr>
          <a:xfrm>
            <a:off x="6263640" y="3566160"/>
            <a:ext cx="5257800" cy="1920240"/>
          </a:xfrm>
          <a:prstGeom prst="roundRect">
            <a:avLst>
              <a:gd name="adj" fmla="val 7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3712464"/>
            <a:ext cx="4754880" cy="1645920"/>
          </a:xfrm>
          <a:prstGeom prst="rect">
            <a:avLst/>
          </a:prstGeom>
          <a:noFill/>
        </p:spPr>
        <p:txBody>
          <a:bodyPr wrap="square" anchor="t" lIns="0" rIns="0" tIns="0" bIns="0">
            <a:spAutoFit/>
          </a:bodyPr>
          <a:lstStyle/>
          <a:p>
            <a:pPr algn="l">
              <a:spcAft>
                <a:spcPts val="400"/>
              </a:spcAft>
            </a:pPr>
            <a:r>
              <a:rPr sz="1350" b="1">
                <a:solidFill>
                  <a:srgbClr val="C00000"/>
                </a:solidFill>
                <a:latin typeface="Meiryo"/>
                <a:ea typeface="Meiryo"/>
              </a:rPr>
              <a:t>4. ヒーローショー水準の運用品質</a:t>
            </a:r>
          </a:p>
          <a:p>
            <a:pPr algn="l">
              <a:spcAft>
                <a:spcPts val="400"/>
              </a:spcAft>
            </a:pPr>
            <a:r>
              <a:rPr sz="1150" b="0">
                <a:solidFill>
                  <a:srgbClr val="1A1A1A"/>
                </a:solidFill>
                <a:latin typeface="Meiryo"/>
                <a:ea typeface="Meiryo"/>
              </a:rPr>
              <a:t>専属ディレクター+スーツアクター2名体制・演技対応込み</a:t>
            </a:r>
          </a:p>
          <a:p>
            <a:pPr algn="l">
              <a:spcAft>
                <a:spcPts val="400"/>
              </a:spcAft>
            </a:pPr>
            <a:r>
              <a:rPr sz="1150" b="0">
                <a:solidFill>
                  <a:srgbClr val="1A1A1A"/>
                </a:solidFill>
                <a:latin typeface="Meiryo"/>
                <a:ea typeface="Meiryo"/>
              </a:rPr>
              <a:t>1回30分×1日最大5回・1回約50組の高い処理能力</a:t>
            </a:r>
          </a:p>
          <a:p>
            <a:pPr algn="l">
              <a:spcAft>
                <a:spcPts val="400"/>
              </a:spcAft>
            </a:pPr>
            <a:r>
              <a:rPr sz="1150" b="0">
                <a:solidFill>
                  <a:srgbClr val="1A1A1A"/>
                </a:solidFill>
                <a:latin typeface="Meiryo"/>
                <a:ea typeface="Meiryo"/>
              </a:rPr>
              <a:t>「空・宇宙」の世界観は通信サービスの訴求とも高い親和性</a:t>
            </a:r>
          </a:p>
        </p:txBody>
      </p:sp>
      <p:sp>
        <p:nvSpPr>
          <p:cNvPr id="16" name="TextBox 15"/>
          <p:cNvSpPr txBox="1"/>
          <p:nvPr/>
        </p:nvSpPr>
        <p:spPr>
          <a:xfrm>
            <a:off x="640080" y="5715000"/>
            <a:ext cx="10881360" cy="548640"/>
          </a:xfrm>
          <a:prstGeom prst="rect">
            <a:avLst/>
          </a:prstGeom>
          <a:noFill/>
        </p:spPr>
        <p:txBody>
          <a:bodyPr wrap="square" anchor="t" lIns="0" rIns="0" tIns="0" bIns="0">
            <a:spAutoFit/>
          </a:bodyPr>
          <a:lstStyle/>
          <a:p>
            <a:pPr algn="l">
              <a:spcAft>
                <a:spcPts val="300"/>
              </a:spcAft>
            </a:pPr>
            <a:r>
              <a:rPr sz="1050" b="0">
                <a:solidFill>
                  <a:srgbClr val="5A626B"/>
                </a:solidFill>
                <a:latin typeface="Meiryo"/>
                <a:ea typeface="Meiryo"/>
              </a:rPr>
              <a:t>※年間の最低開催数・最低作成数をお約束いただける場合は、着ぐるみ単価の優遇(例:400開催以上のコミットで17万円/開催)をご用意しています(次ページ)。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規模別お見積り:3パターン(年間・税別概算)</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7/17お打ち合わせを受け、全量・半分・3IP分割(約1/3)の3規模でご提示します(単価は共通:IP使用料2,000万円/着ぐるみ20万円/ロイヤリティ20%)</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4</a:t>
            </a:r>
          </a:p>
        </p:txBody>
      </p:sp>
      <p:graphicFrame>
        <p:nvGraphicFramePr>
          <p:cNvPr id="8" name="Table 7"/>
          <p:cNvGraphicFramePr>
            <a:graphicFrameLocks noGrp="1"/>
          </p:cNvGraphicFramePr>
          <p:nvPr/>
        </p:nvGraphicFramePr>
        <p:xfrm>
          <a:off x="640080" y="1417320"/>
          <a:ext cx="10881357" cy="2633472"/>
        </p:xfrm>
        <a:graphic>
          <a:graphicData uri="http://schemas.openxmlformats.org/drawingml/2006/table">
            <a:tbl>
              <a:tblPr firstRow="1" bandRow="1">
                <a:tableStyleId>{5C22544A-7EE6-4342-B048-85BDC9FD1C3A}</a:tableStyleId>
              </a:tblPr>
              <a:tblGrid>
                <a:gridCol w="1702525"/>
                <a:gridCol w="962297"/>
                <a:gridCol w="2738845"/>
                <a:gridCol w="1406434"/>
                <a:gridCol w="1406434"/>
                <a:gridCol w="1258388"/>
                <a:gridCol w="1406434"/>
              </a:tblGrid>
              <a:tr h="658368">
                <a:tc>
                  <a:txBody>
                    <a:bodyPr/>
                    <a:lstStyle/>
                    <a:p>
                      <a:r>
                        <a:rPr sz="1050" b="1">
                          <a:solidFill>
                            <a:srgbClr val="FFFFFF"/>
                          </a:solidFill>
                          <a:latin typeface="Meiryo"/>
                          <a:ea typeface="Meiryo"/>
                        </a:rPr>
                        <a:t>パターン</a:t>
                      </a:r>
                    </a:p>
                  </a:txBody>
                  <a:tcPr anchor="ctr" marL="73152" marR="73152">
                    <a:solidFill>
                      <a:srgbClr val="232278"/>
                    </a:solidFill>
                  </a:tcPr>
                </a:tc>
                <a:tc>
                  <a:txBody>
                    <a:bodyPr/>
                    <a:lstStyle/>
                    <a:p>
                      <a:r>
                        <a:rPr sz="1050" b="1">
                          <a:solidFill>
                            <a:srgbClr val="FFFFFF"/>
                          </a:solidFill>
                          <a:latin typeface="Meiryo"/>
                          <a:ea typeface="Meiryo"/>
                        </a:rPr>
                        <a:t>着ぐるみ</a:t>
                      </a:r>
                    </a:p>
                  </a:txBody>
                  <a:tcPr anchor="ctr" marL="73152" marR="73152">
                    <a:solidFill>
                      <a:srgbClr val="232278"/>
                    </a:solidFill>
                  </a:tcPr>
                </a:tc>
                <a:tc>
                  <a:txBody>
                    <a:bodyPr/>
                    <a:lstStyle/>
                    <a:p>
                      <a:r>
                        <a:rPr sz="1050" b="1">
                          <a:solidFill>
                            <a:srgbClr val="FFFFFF"/>
                          </a:solidFill>
                          <a:latin typeface="Meiryo"/>
                          <a:ea typeface="Meiryo"/>
                        </a:rPr>
                        <a:t>キット・ノベルティ想定</a:t>
                      </a:r>
                    </a:p>
                  </a:txBody>
                  <a:tcPr anchor="ctr" marL="73152" marR="73152">
                    <a:solidFill>
                      <a:srgbClr val="232278"/>
                    </a:solidFill>
                  </a:tcPr>
                </a:tc>
                <a:tc>
                  <a:txBody>
                    <a:bodyPr/>
                    <a:lstStyle/>
                    <a:p>
                      <a:r>
                        <a:rPr sz="1050" b="1">
                          <a:solidFill>
                            <a:srgbClr val="FFFFFF"/>
                          </a:solidFill>
                          <a:latin typeface="Meiryo"/>
                          <a:ea typeface="Meiryo"/>
                        </a:rPr>
                        <a:t>①IP使用料(固定)</a:t>
                      </a:r>
                    </a:p>
                  </a:txBody>
                  <a:tcPr anchor="ctr" marL="73152" marR="73152">
                    <a:solidFill>
                      <a:srgbClr val="232278"/>
                    </a:solidFill>
                  </a:tcPr>
                </a:tc>
                <a:tc>
                  <a:txBody>
                    <a:bodyPr/>
                    <a:lstStyle/>
                    <a:p>
                      <a:r>
                        <a:rPr sz="1050" b="1">
                          <a:solidFill>
                            <a:srgbClr val="FFFFFF"/>
                          </a:solidFill>
                          <a:latin typeface="Meiryo"/>
                          <a:ea typeface="Meiryo"/>
                        </a:rPr>
                        <a:t>②着ぐるみ費用</a:t>
                      </a:r>
                    </a:p>
                  </a:txBody>
                  <a:tcPr anchor="ctr" marL="73152" marR="73152">
                    <a:solidFill>
                      <a:srgbClr val="232278"/>
                    </a:solidFill>
                  </a:tcPr>
                </a:tc>
                <a:tc>
                  <a:txBody>
                    <a:bodyPr/>
                    <a:lstStyle/>
                    <a:p>
                      <a:r>
                        <a:rPr sz="1050" b="1">
                          <a:solidFill>
                            <a:srgbClr val="FFFFFF"/>
                          </a:solidFill>
                          <a:latin typeface="Meiryo"/>
                          <a:ea typeface="Meiryo"/>
                        </a:rPr>
                        <a:t>③ロイヤリティ</a:t>
                      </a:r>
                    </a:p>
                  </a:txBody>
                  <a:tcPr anchor="ctr" marL="73152" marR="73152">
                    <a:solidFill>
                      <a:srgbClr val="232278"/>
                    </a:solidFill>
                  </a:tcPr>
                </a:tc>
                <a:tc>
                  <a:txBody>
                    <a:bodyPr/>
                    <a:lstStyle/>
                    <a:p>
                      <a:r>
                        <a:rPr sz="1050" b="1">
                          <a:solidFill>
                            <a:srgbClr val="FFFFFF"/>
                          </a:solidFill>
                          <a:latin typeface="Meiryo"/>
                          <a:ea typeface="Meiryo"/>
                        </a:rPr>
                        <a:t>年間合計</a:t>
                      </a:r>
                    </a:p>
                  </a:txBody>
                  <a:tcPr anchor="ctr" marL="73152" marR="73152">
                    <a:solidFill>
                      <a:srgbClr val="232278"/>
                    </a:solidFill>
                  </a:tcPr>
                </a:tc>
              </a:tr>
              <a:tr h="658368">
                <a:tc>
                  <a:txBody>
                    <a:bodyPr/>
                    <a:lstStyle/>
                    <a:p>
                      <a:r>
                        <a:rPr sz="1050" b="1">
                          <a:solidFill>
                            <a:srgbClr val="1A1A1A"/>
                          </a:solidFill>
                          <a:latin typeface="Meiryo"/>
                          <a:ea typeface="Meiryo"/>
                        </a:rPr>
                        <a:t>最大(貴社実績同等・全量)</a:t>
                      </a:r>
                    </a:p>
                  </a:txBody>
                  <a:tcPr anchor="ctr" marL="73152" marR="73152">
                    <a:solidFill>
                      <a:srgbClr val="FFFFFF"/>
                    </a:solidFill>
                  </a:tcPr>
                </a:tc>
                <a:tc>
                  <a:txBody>
                    <a:bodyPr/>
                    <a:lstStyle/>
                    <a:p>
                      <a:r>
                        <a:rPr sz="1050" b="0">
                          <a:solidFill>
                            <a:srgbClr val="1A1A1A"/>
                          </a:solidFill>
                          <a:latin typeface="Meiryo"/>
                          <a:ea typeface="Meiryo"/>
                        </a:rPr>
                        <a:t>600開催</a:t>
                      </a:r>
                    </a:p>
                  </a:txBody>
                  <a:tcPr anchor="ctr" marL="73152" marR="73152">
                    <a:solidFill>
                      <a:srgbClr val="FFFFFF"/>
                    </a:solidFill>
                  </a:tcPr>
                </a:tc>
                <a:tc>
                  <a:txBody>
                    <a:bodyPr/>
                    <a:lstStyle/>
                    <a:p>
                      <a:r>
                        <a:rPr sz="1050" b="0">
                          <a:solidFill>
                            <a:srgbClr val="1A1A1A"/>
                          </a:solidFill>
                          <a:latin typeface="Meiryo"/>
                          <a:ea typeface="Meiryo"/>
                        </a:rPr>
                        <a:t>キット800式・ノベルティ2.1万セット(実績)・ツール全店2回</a:t>
                      </a:r>
                    </a:p>
                  </a:txBody>
                  <a:tcPr anchor="ctr" marL="73152" marR="73152">
                    <a:solidFill>
                      <a:srgbClr val="FFFFFF"/>
                    </a:solidFill>
                  </a:tcPr>
                </a:tc>
                <a:tc>
                  <a:txBody>
                    <a:bodyPr/>
                    <a:lstStyle/>
                    <a:p>
                      <a:r>
                        <a:rPr sz="1050" b="0">
                          <a:solidFill>
                            <a:srgbClr val="1A1A1A"/>
                          </a:solidFill>
                          <a:latin typeface="Meiryo"/>
                          <a:ea typeface="Meiryo"/>
                        </a:rPr>
                        <a:t>2,000万円</a:t>
                      </a:r>
                    </a:p>
                  </a:txBody>
                  <a:tcPr anchor="ctr" marL="73152" marR="73152">
                    <a:solidFill>
                      <a:srgbClr val="FFFFFF"/>
                    </a:solidFill>
                  </a:tcPr>
                </a:tc>
                <a:tc>
                  <a:txBody>
                    <a:bodyPr/>
                    <a:lstStyle/>
                    <a:p>
                      <a:r>
                        <a:rPr sz="1050" b="0">
                          <a:solidFill>
                            <a:srgbClr val="1A1A1A"/>
                          </a:solidFill>
                          <a:latin typeface="Meiryo"/>
                          <a:ea typeface="Meiryo"/>
                        </a:rPr>
                        <a:t>1億2,000万円</a:t>
                      </a:r>
                    </a:p>
                  </a:txBody>
                  <a:tcPr anchor="ctr" marL="73152" marR="73152">
                    <a:solidFill>
                      <a:srgbClr val="FFFFFF"/>
                    </a:solidFill>
                  </a:tcPr>
                </a:tc>
                <a:tc>
                  <a:txBody>
                    <a:bodyPr/>
                    <a:lstStyle/>
                    <a:p>
                      <a:r>
                        <a:rPr sz="1050" b="0">
                          <a:solidFill>
                            <a:srgbClr val="1A1A1A"/>
                          </a:solidFill>
                          <a:latin typeface="Meiryo"/>
                          <a:ea typeface="Meiryo"/>
                        </a:rPr>
                        <a:t>約6,480万円</a:t>
                      </a:r>
                    </a:p>
                  </a:txBody>
                  <a:tcPr anchor="ctr" marL="73152" marR="73152">
                    <a:solidFill>
                      <a:srgbClr val="FFFFFF"/>
                    </a:solidFill>
                  </a:tcPr>
                </a:tc>
                <a:tc>
                  <a:txBody>
                    <a:bodyPr/>
                    <a:lstStyle/>
                    <a:p>
                      <a:r>
                        <a:rPr sz="1050" b="1">
                          <a:solidFill>
                            <a:srgbClr val="C00000"/>
                          </a:solidFill>
                          <a:latin typeface="Meiryo"/>
                          <a:ea typeface="Meiryo"/>
                        </a:rPr>
                        <a:t>約2.05億円</a:t>
                      </a:r>
                    </a:p>
                  </a:txBody>
                  <a:tcPr anchor="ctr" marL="73152" marR="73152">
                    <a:solidFill>
                      <a:srgbClr val="FFFFFF"/>
                    </a:solidFill>
                  </a:tcPr>
                </a:tc>
              </a:tr>
              <a:tr h="658368">
                <a:tc>
                  <a:txBody>
                    <a:bodyPr/>
                    <a:lstStyle/>
                    <a:p>
                      <a:r>
                        <a:rPr sz="1050" b="1">
                          <a:solidFill>
                            <a:srgbClr val="1A1A1A"/>
                          </a:solidFill>
                          <a:latin typeface="Meiryo"/>
                          <a:ea typeface="Meiryo"/>
                        </a:rPr>
                        <a:t>半分(実績の50%)</a:t>
                      </a:r>
                    </a:p>
                  </a:txBody>
                  <a:tcPr anchor="ctr" marL="73152" marR="73152">
                    <a:solidFill>
                      <a:srgbClr val="F2F4F6"/>
                    </a:solidFill>
                  </a:tcPr>
                </a:tc>
                <a:tc>
                  <a:txBody>
                    <a:bodyPr/>
                    <a:lstStyle/>
                    <a:p>
                      <a:r>
                        <a:rPr sz="1050" b="0">
                          <a:solidFill>
                            <a:srgbClr val="1A1A1A"/>
                          </a:solidFill>
                          <a:latin typeface="Meiryo"/>
                          <a:ea typeface="Meiryo"/>
                        </a:rPr>
                        <a:t>300開催</a:t>
                      </a:r>
                    </a:p>
                  </a:txBody>
                  <a:tcPr anchor="ctr" marL="73152" marR="73152">
                    <a:solidFill>
                      <a:srgbClr val="F2F4F6"/>
                    </a:solidFill>
                  </a:tcPr>
                </a:tc>
                <a:tc>
                  <a:txBody>
                    <a:bodyPr/>
                    <a:lstStyle/>
                    <a:p>
                      <a:r>
                        <a:rPr sz="1050" b="0">
                          <a:solidFill>
                            <a:srgbClr val="1A1A1A"/>
                          </a:solidFill>
                          <a:latin typeface="Meiryo"/>
                          <a:ea typeface="Meiryo"/>
                        </a:rPr>
                        <a:t>キット400式・ノベルティ1.05万セット・ツール全店1回</a:t>
                      </a:r>
                    </a:p>
                  </a:txBody>
                  <a:tcPr anchor="ctr" marL="73152" marR="73152">
                    <a:solidFill>
                      <a:srgbClr val="F2F4F6"/>
                    </a:solidFill>
                  </a:tcPr>
                </a:tc>
                <a:tc>
                  <a:txBody>
                    <a:bodyPr/>
                    <a:lstStyle/>
                    <a:p>
                      <a:r>
                        <a:rPr sz="1050" b="0">
                          <a:solidFill>
                            <a:srgbClr val="1A1A1A"/>
                          </a:solidFill>
                          <a:latin typeface="Meiryo"/>
                          <a:ea typeface="Meiryo"/>
                        </a:rPr>
                        <a:t>2,000万円</a:t>
                      </a:r>
                    </a:p>
                  </a:txBody>
                  <a:tcPr anchor="ctr" marL="73152" marR="73152">
                    <a:solidFill>
                      <a:srgbClr val="F2F4F6"/>
                    </a:solidFill>
                  </a:tcPr>
                </a:tc>
                <a:tc>
                  <a:txBody>
                    <a:bodyPr/>
                    <a:lstStyle/>
                    <a:p>
                      <a:r>
                        <a:rPr sz="1050" b="0">
                          <a:solidFill>
                            <a:srgbClr val="1A1A1A"/>
                          </a:solidFill>
                          <a:latin typeface="Meiryo"/>
                          <a:ea typeface="Meiryo"/>
                        </a:rPr>
                        <a:t>6,000万円</a:t>
                      </a:r>
                    </a:p>
                  </a:txBody>
                  <a:tcPr anchor="ctr" marL="73152" marR="73152">
                    <a:solidFill>
                      <a:srgbClr val="F2F4F6"/>
                    </a:solidFill>
                  </a:tcPr>
                </a:tc>
                <a:tc>
                  <a:txBody>
                    <a:bodyPr/>
                    <a:lstStyle/>
                    <a:p>
                      <a:r>
                        <a:rPr sz="1050" b="0">
                          <a:solidFill>
                            <a:srgbClr val="1A1A1A"/>
                          </a:solidFill>
                          <a:latin typeface="Meiryo"/>
                          <a:ea typeface="Meiryo"/>
                        </a:rPr>
                        <a:t>約3,240万円</a:t>
                      </a:r>
                    </a:p>
                  </a:txBody>
                  <a:tcPr anchor="ctr" marL="73152" marR="73152">
                    <a:solidFill>
                      <a:srgbClr val="F2F4F6"/>
                    </a:solidFill>
                  </a:tcPr>
                </a:tc>
                <a:tc>
                  <a:txBody>
                    <a:bodyPr/>
                    <a:lstStyle/>
                    <a:p>
                      <a:r>
                        <a:rPr sz="1050" b="1">
                          <a:solidFill>
                            <a:srgbClr val="C00000"/>
                          </a:solidFill>
                          <a:latin typeface="Meiryo"/>
                          <a:ea typeface="Meiryo"/>
                        </a:rPr>
                        <a:t>約1.12億円</a:t>
                      </a:r>
                    </a:p>
                  </a:txBody>
                  <a:tcPr anchor="ctr" marL="73152" marR="73152">
                    <a:solidFill>
                      <a:srgbClr val="F2F4F6"/>
                    </a:solidFill>
                  </a:tcPr>
                </a:tc>
              </a:tr>
              <a:tr h="658368">
                <a:tc>
                  <a:txBody>
                    <a:bodyPr/>
                    <a:lstStyle/>
                    <a:p>
                      <a:r>
                        <a:rPr sz="1050" b="1">
                          <a:solidFill>
                            <a:srgbClr val="1A1A1A"/>
                          </a:solidFill>
                          <a:latin typeface="Meiryo"/>
                          <a:ea typeface="Meiryo"/>
                        </a:rPr>
                        <a:t>3IP分割(約1/3配分)</a:t>
                      </a:r>
                    </a:p>
                  </a:txBody>
                  <a:tcPr anchor="ctr" marL="73152" marR="73152">
                    <a:solidFill>
                      <a:srgbClr val="FFFFFF"/>
                    </a:solidFill>
                  </a:tcPr>
                </a:tc>
                <a:tc>
                  <a:txBody>
                    <a:bodyPr/>
                    <a:lstStyle/>
                    <a:p>
                      <a:r>
                        <a:rPr sz="1050" b="0">
                          <a:solidFill>
                            <a:srgbClr val="1A1A1A"/>
                          </a:solidFill>
                          <a:latin typeface="Meiryo"/>
                          <a:ea typeface="Meiryo"/>
                        </a:rPr>
                        <a:t>200開催</a:t>
                      </a:r>
                    </a:p>
                  </a:txBody>
                  <a:tcPr anchor="ctr" marL="73152" marR="73152">
                    <a:solidFill>
                      <a:srgbClr val="FFFFFF"/>
                    </a:solidFill>
                  </a:tcPr>
                </a:tc>
                <a:tc>
                  <a:txBody>
                    <a:bodyPr/>
                    <a:lstStyle/>
                    <a:p>
                      <a:r>
                        <a:rPr sz="1050" b="0">
                          <a:solidFill>
                            <a:srgbClr val="1A1A1A"/>
                          </a:solidFill>
                          <a:latin typeface="Meiryo"/>
                          <a:ea typeface="Meiryo"/>
                        </a:rPr>
                        <a:t>キット270式・ノベルティ7,000セット・ツール1/3</a:t>
                      </a:r>
                    </a:p>
                  </a:txBody>
                  <a:tcPr anchor="ctr" marL="73152" marR="73152">
                    <a:solidFill>
                      <a:srgbClr val="FFFFFF"/>
                    </a:solidFill>
                  </a:tcPr>
                </a:tc>
                <a:tc>
                  <a:txBody>
                    <a:bodyPr/>
                    <a:lstStyle/>
                    <a:p>
                      <a:r>
                        <a:rPr sz="1050" b="0">
                          <a:solidFill>
                            <a:srgbClr val="1A1A1A"/>
                          </a:solidFill>
                          <a:latin typeface="Meiryo"/>
                          <a:ea typeface="Meiryo"/>
                        </a:rPr>
                        <a:t>2,000万円</a:t>
                      </a:r>
                    </a:p>
                  </a:txBody>
                  <a:tcPr anchor="ctr" marL="73152" marR="73152">
                    <a:solidFill>
                      <a:srgbClr val="FFFFFF"/>
                    </a:solidFill>
                  </a:tcPr>
                </a:tc>
                <a:tc>
                  <a:txBody>
                    <a:bodyPr/>
                    <a:lstStyle/>
                    <a:p>
                      <a:r>
                        <a:rPr sz="1050" b="0">
                          <a:solidFill>
                            <a:srgbClr val="1A1A1A"/>
                          </a:solidFill>
                          <a:latin typeface="Meiryo"/>
                          <a:ea typeface="Meiryo"/>
                        </a:rPr>
                        <a:t>4,000万円</a:t>
                      </a:r>
                    </a:p>
                  </a:txBody>
                  <a:tcPr anchor="ctr" marL="73152" marR="73152">
                    <a:solidFill>
                      <a:srgbClr val="FFFFFF"/>
                    </a:solidFill>
                  </a:tcPr>
                </a:tc>
                <a:tc>
                  <a:txBody>
                    <a:bodyPr/>
                    <a:lstStyle/>
                    <a:p>
                      <a:r>
                        <a:rPr sz="1050" b="0">
                          <a:solidFill>
                            <a:srgbClr val="1A1A1A"/>
                          </a:solidFill>
                          <a:latin typeface="Meiryo"/>
                          <a:ea typeface="Meiryo"/>
                        </a:rPr>
                        <a:t>約2,170万円</a:t>
                      </a:r>
                    </a:p>
                  </a:txBody>
                  <a:tcPr anchor="ctr" marL="73152" marR="73152">
                    <a:solidFill>
                      <a:srgbClr val="FFFFFF"/>
                    </a:solidFill>
                  </a:tcPr>
                </a:tc>
                <a:tc>
                  <a:txBody>
                    <a:bodyPr/>
                    <a:lstStyle/>
                    <a:p>
                      <a:r>
                        <a:rPr sz="1050" b="1">
                          <a:solidFill>
                            <a:srgbClr val="C00000"/>
                          </a:solidFill>
                          <a:latin typeface="Meiryo"/>
                          <a:ea typeface="Meiryo"/>
                        </a:rPr>
                        <a:t>約8,200万円</a:t>
                      </a:r>
                    </a:p>
                  </a:txBody>
                  <a:tcPr anchor="ctr" marL="73152" marR="73152">
                    <a:solidFill>
                      <a:srgbClr val="FFFFFF"/>
                    </a:solidFill>
                  </a:tcPr>
                </a:tc>
              </a:tr>
            </a:tbl>
          </a:graphicData>
        </a:graphic>
      </p:graphicFrame>
      <p:sp>
        <p:nvSpPr>
          <p:cNvPr id="9" name="Rounded Rectangle 8"/>
          <p:cNvSpPr/>
          <p:nvPr/>
        </p:nvSpPr>
        <p:spPr>
          <a:xfrm>
            <a:off x="640080" y="4251960"/>
            <a:ext cx="10881360" cy="1325880"/>
          </a:xfrm>
          <a:prstGeom prst="roundRect">
            <a:avLst>
              <a:gd name="adj" fmla="val 6000"/>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389120"/>
            <a:ext cx="10332720" cy="1143000"/>
          </a:xfrm>
          <a:prstGeom prst="rect">
            <a:avLst/>
          </a:prstGeom>
          <a:noFill/>
        </p:spPr>
        <p:txBody>
          <a:bodyPr wrap="square" anchor="t" lIns="0" rIns="0" tIns="0" bIns="0">
            <a:spAutoFit/>
          </a:bodyPr>
          <a:lstStyle/>
          <a:p>
            <a:pPr algn="l">
              <a:spcAft>
                <a:spcPts val="500"/>
              </a:spcAft>
            </a:pPr>
            <a:r>
              <a:rPr sz="1300" b="1">
                <a:solidFill>
                  <a:srgbClr val="C00000"/>
                </a:solidFill>
                <a:latin typeface="Meiryo"/>
                <a:ea typeface="Meiryo"/>
              </a:rPr>
              <a:t>お打ち合わせを受けたご提案</a:t>
            </a:r>
          </a:p>
          <a:p>
            <a:pPr algn="l">
              <a:spcAft>
                <a:spcPts val="500"/>
              </a:spcAft>
            </a:pPr>
            <a:r>
              <a:rPr sz="1200" b="0">
                <a:solidFill>
                  <a:srgbClr val="1A1A1A"/>
                </a:solidFill>
                <a:latin typeface="Meiryo"/>
                <a:ea typeface="Meiryo"/>
              </a:rPr>
              <a:t>・年間の最低開催数・最低作成数をお約束いただける場合、着ぐるみ単価を優遇します(例:400開催以上のコミットで17万円/開催)</a:t>
            </a:r>
          </a:p>
          <a:p>
            <a:pPr algn="l">
              <a:spcAft>
                <a:spcPts val="500"/>
              </a:spcAft>
            </a:pPr>
            <a:r>
              <a:rPr sz="1200" b="0">
                <a:solidFill>
                  <a:srgbClr val="1A1A1A"/>
                </a:solidFill>
                <a:latin typeface="Meiryo"/>
                <a:ea typeface="Meiryo"/>
              </a:rPr>
              <a:t>・ウルトラマンは7・8月も稼働可能です(現行IP様は夏季稼働不可)。夏商戦を含むフル12か月稼働なら最大720開催まで拡張できます</a:t>
            </a:r>
          </a:p>
          <a:p>
            <a:pPr algn="l">
              <a:spcAft>
                <a:spcPts val="500"/>
              </a:spcAft>
            </a:pPr>
            <a:r>
              <a:rPr sz="1200" b="0">
                <a:solidFill>
                  <a:srgbClr val="1A1A1A"/>
                </a:solidFill>
                <a:latin typeface="Meiryo"/>
                <a:ea typeface="Meiryo"/>
              </a:rPr>
              <a:t>・複数IPでのご運用でも、映画・新TVシリーズ・玩具新商品と連動した季節企画で「切替の変化」をご提供できます(キャラクター切替・選べるヒーロー等)</a:t>
            </a:r>
          </a:p>
        </p:txBody>
      </p:sp>
      <p:sp>
        <p:nvSpPr>
          <p:cNvPr id="11" name="TextBox 10"/>
          <p:cNvSpPr txBox="1"/>
          <p:nvPr/>
        </p:nvSpPr>
        <p:spPr>
          <a:xfrm>
            <a:off x="640080" y="5715000"/>
            <a:ext cx="10881360" cy="731520"/>
          </a:xfrm>
          <a:prstGeom prst="rect">
            <a:avLst/>
          </a:prstGeom>
          <a:noFill/>
        </p:spPr>
        <p:txBody>
          <a:bodyPr wrap="square" anchor="t" lIns="0" rIns="0" tIns="0" bIns="0">
            <a:spAutoFit/>
          </a:bodyPr>
          <a:lstStyle/>
          <a:p>
            <a:pPr algn="l">
              <a:spcAft>
                <a:spcPts val="300"/>
              </a:spcAft>
            </a:pPr>
            <a:r>
              <a:rPr sz="1000" b="0">
                <a:solidFill>
                  <a:srgbClr val="5A626B"/>
                </a:solidFill>
                <a:latin typeface="Meiryo"/>
                <a:ea typeface="Meiryo"/>
              </a:rPr>
              <a:t>※③はキット単価15.5万円/式、ノベルティは貴社FY25ご実績(年約2.1万セット・作成費約1億8,500万円)を配分比で試算。ロイヤリティは作成実績(実額)ベースで精算します。</a:t>
            </a:r>
          </a:p>
          <a:p>
            <a:pPr algn="l">
              <a:spcAft>
                <a:spcPts val="300"/>
              </a:spcAft>
            </a:pPr>
            <a:r>
              <a:rPr sz="1000" b="0">
                <a:solidFill>
                  <a:srgbClr val="5A626B"/>
                </a:solidFill>
                <a:latin typeface="Meiryo"/>
                <a:ea typeface="Meiryo"/>
              </a:rPr>
              <a:t>※店頭訴求ツールは作成数実績(年間約23.5万部)をご共有いただきました。作成費(金額)のご共有後、③を最終精緻化します。※固定費は①のみ。②③は実施・作成分だけの従量です。</a:t>
            </a:r>
          </a:p>
          <a:p>
            <a:pPr algn="l">
              <a:spcAft>
                <a:spcPts val="300"/>
              </a:spcAft>
            </a:pPr>
            <a:r>
              <a:rPr sz="1000" b="0">
                <a:solidFill>
                  <a:srgbClr val="5A626B"/>
                </a:solidFill>
                <a:latin typeface="Meiryo"/>
                <a:ea typeface="Meiryo"/>
              </a:rPr>
              <a:t>※②は土日2日間・ディレクター+アクター2名体制。首都圏内は交通実費込みの特別条件、首都圏外は交通・宿泊実費を別途申し受けます。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今期スポットテストのご提案(回数ベース・地域自由)</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年間のお取り組みとは切り離した単発テストです。着ぐるみを用いる2形式をご用意しました</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5</a:t>
            </a:r>
          </a:p>
        </p:txBody>
      </p:sp>
      <p:graphicFrame>
        <p:nvGraphicFramePr>
          <p:cNvPr id="8" name="Table 7"/>
          <p:cNvGraphicFramePr>
            <a:graphicFrameLocks noGrp="1"/>
          </p:cNvGraphicFramePr>
          <p:nvPr/>
        </p:nvGraphicFramePr>
        <p:xfrm>
          <a:off x="640080" y="1417320"/>
          <a:ext cx="10881360" cy="3584448"/>
        </p:xfrm>
        <a:graphic>
          <a:graphicData uri="http://schemas.openxmlformats.org/drawingml/2006/table">
            <a:tbl>
              <a:tblPr firstRow="1" bandRow="1">
                <a:tableStyleId>{5C22544A-7EE6-4342-B048-85BDC9FD1C3A}</a:tableStyleId>
              </a:tblPr>
              <a:tblGrid>
                <a:gridCol w="1632204"/>
                <a:gridCol w="4624578"/>
                <a:gridCol w="4624578"/>
              </a:tblGrid>
              <a:tr h="512064">
                <a:tc>
                  <a:txBody>
                    <a:bodyPr/>
                    <a:lstStyle/>
                    <a:p>
                      <a:r>
                        <a:rPr sz="1100" b="1">
                          <a:solidFill>
                            <a:srgbClr val="FFFFFF"/>
                          </a:solidFill>
                          <a:latin typeface="Meiryo"/>
                          <a:ea typeface="Meiryo"/>
                        </a:rPr>
                        <a:t/>
                      </a:r>
                    </a:p>
                  </a:txBody>
                  <a:tcPr anchor="ctr" marL="73152" marR="73152">
                    <a:solidFill>
                      <a:srgbClr val="232278"/>
                    </a:solidFill>
                  </a:tcPr>
                </a:tc>
                <a:tc>
                  <a:txBody>
                    <a:bodyPr/>
                    <a:lstStyle/>
                    <a:p>
                      <a:r>
                        <a:rPr sz="1100" b="1">
                          <a:solidFill>
                            <a:srgbClr val="FFFFFF"/>
                          </a:solidFill>
                          <a:latin typeface="Meiryo"/>
                          <a:ea typeface="Meiryo"/>
                        </a:rPr>
                        <a:t>形式S1:写真撮影会型(グリーティング)</a:t>
                      </a:r>
                    </a:p>
                  </a:txBody>
                  <a:tcPr anchor="ctr" marL="73152" marR="73152">
                    <a:solidFill>
                      <a:srgbClr val="232278"/>
                    </a:solidFill>
                  </a:tcPr>
                </a:tc>
                <a:tc>
                  <a:txBody>
                    <a:bodyPr/>
                    <a:lstStyle/>
                    <a:p>
                      <a:r>
                        <a:rPr sz="1100" b="1">
                          <a:solidFill>
                            <a:srgbClr val="FFFFFF"/>
                          </a:solidFill>
                          <a:latin typeface="Meiryo"/>
                          <a:ea typeface="Meiryo"/>
                        </a:rPr>
                        <a:t>形式S2:ステージショー型</a:t>
                      </a:r>
                    </a:p>
                  </a:txBody>
                  <a:tcPr anchor="ctr" marL="73152" marR="73152">
                    <a:solidFill>
                      <a:srgbClr val="232278"/>
                    </a:solidFill>
                  </a:tcPr>
                </a:tc>
              </a:tr>
              <a:tr h="512064">
                <a:tc>
                  <a:txBody>
                    <a:bodyPr/>
                    <a:lstStyle/>
                    <a:p>
                      <a:r>
                        <a:rPr sz="1100" b="0">
                          <a:solidFill>
                            <a:srgbClr val="1A1A1A"/>
                          </a:solidFill>
                          <a:latin typeface="Meiryo"/>
                          <a:ea typeface="Meiryo"/>
                        </a:rPr>
                        <a:t>内容</a:t>
                      </a:r>
                    </a:p>
                  </a:txBody>
                  <a:tcPr anchor="ctr" marL="73152" marR="73152">
                    <a:solidFill>
                      <a:srgbClr val="FFFFFF"/>
                    </a:solidFill>
                  </a:tcPr>
                </a:tc>
                <a:tc>
                  <a:txBody>
                    <a:bodyPr/>
                    <a:lstStyle/>
                    <a:p>
                      <a:r>
                        <a:rPr sz="1100" b="0">
                          <a:solidFill>
                            <a:srgbClr val="1A1A1A"/>
                          </a:solidFill>
                          <a:latin typeface="Meiryo"/>
                          <a:ea typeface="Meiryo"/>
                        </a:rPr>
                        <a:t>1回30分×1日最大5回の撮影会・グリーティング。店頭・商業施設の集客と送客を検証</a:t>
                      </a:r>
                    </a:p>
                  </a:txBody>
                  <a:tcPr anchor="ctr" marL="73152" marR="73152">
                    <a:solidFill>
                      <a:srgbClr val="FFFFFF"/>
                    </a:solidFill>
                  </a:tcPr>
                </a:tc>
                <a:tc>
                  <a:txBody>
                    <a:bodyPr/>
                    <a:lstStyle/>
                    <a:p>
                      <a:r>
                        <a:rPr sz="1100" b="0">
                          <a:solidFill>
                            <a:srgbClr val="1A1A1A"/>
                          </a:solidFill>
                          <a:latin typeface="Meiryo"/>
                          <a:ea typeface="Meiryo"/>
                        </a:rPr>
                        <a:t>ステージショー(2回/日)+撮影会のセット。大型集客の瞬発力を検証</a:t>
                      </a:r>
                    </a:p>
                  </a:txBody>
                  <a:tcPr anchor="ctr" marL="73152" marR="73152">
                    <a:solidFill>
                      <a:srgbClr val="FFFFFF"/>
                    </a:solidFill>
                  </a:tcPr>
                </a:tc>
              </a:tr>
              <a:tr h="512064">
                <a:tc>
                  <a:txBody>
                    <a:bodyPr/>
                    <a:lstStyle/>
                    <a:p>
                      <a:r>
                        <a:rPr sz="1100" b="0">
                          <a:solidFill>
                            <a:srgbClr val="1A1A1A"/>
                          </a:solidFill>
                          <a:latin typeface="Meiryo"/>
                          <a:ea typeface="Meiryo"/>
                        </a:rPr>
                        <a:t>単位</a:t>
                      </a:r>
                    </a:p>
                  </a:txBody>
                  <a:tcPr anchor="ctr" marL="73152" marR="73152">
                    <a:solidFill>
                      <a:srgbClr val="F2F4F6"/>
                    </a:solidFill>
                  </a:tcPr>
                </a:tc>
                <a:tc>
                  <a:txBody>
                    <a:bodyPr/>
                    <a:lstStyle/>
                    <a:p>
                      <a:r>
                        <a:rPr sz="1100" b="0">
                          <a:solidFill>
                            <a:srgbClr val="1A1A1A"/>
                          </a:solidFill>
                          <a:latin typeface="Meiryo"/>
                          <a:ea typeface="Meiryo"/>
                        </a:rPr>
                        <a:t>1開催=土日2日間</a:t>
                      </a:r>
                    </a:p>
                  </a:txBody>
                  <a:tcPr anchor="ctr" marL="73152" marR="73152">
                    <a:solidFill>
                      <a:srgbClr val="F2F4F6"/>
                    </a:solidFill>
                  </a:tcPr>
                </a:tc>
                <a:tc>
                  <a:txBody>
                    <a:bodyPr/>
                    <a:lstStyle/>
                    <a:p>
                      <a:r>
                        <a:rPr sz="1100" b="0">
                          <a:solidFill>
                            <a:srgbClr val="1A1A1A"/>
                          </a:solidFill>
                          <a:latin typeface="Meiryo"/>
                          <a:ea typeface="Meiryo"/>
                        </a:rPr>
                        <a:t>1開催=土日2日間</a:t>
                      </a:r>
                    </a:p>
                  </a:txBody>
                  <a:tcPr anchor="ctr" marL="73152" marR="73152">
                    <a:solidFill>
                      <a:srgbClr val="F2F4F6"/>
                    </a:solidFill>
                  </a:tcPr>
                </a:tc>
              </a:tr>
              <a:tr h="512064">
                <a:tc>
                  <a:txBody>
                    <a:bodyPr/>
                    <a:lstStyle/>
                    <a:p>
                      <a:r>
                        <a:rPr sz="1100" b="1">
                          <a:solidFill>
                            <a:srgbClr val="C00000"/>
                          </a:solidFill>
                          <a:latin typeface="Meiryo"/>
                          <a:ea typeface="Meiryo"/>
                        </a:rPr>
                        <a:t>費用</a:t>
                      </a:r>
                    </a:p>
                  </a:txBody>
                  <a:tcPr anchor="ctr" marL="73152" marR="73152">
                    <a:solidFill>
                      <a:srgbClr val="FFFFFF"/>
                    </a:solidFill>
                  </a:tcPr>
                </a:tc>
                <a:tc>
                  <a:txBody>
                    <a:bodyPr/>
                    <a:lstStyle/>
                    <a:p>
                      <a:r>
                        <a:rPr sz="1100" b="1">
                          <a:solidFill>
                            <a:srgbClr val="1A1A1A"/>
                          </a:solidFill>
                          <a:latin typeface="Meiryo"/>
                          <a:ea typeface="Meiryo"/>
                        </a:rPr>
                        <a:t>100万円/開催(IP許諾・監修・スーツ・アクター・輸送込み)</a:t>
                      </a:r>
                    </a:p>
                  </a:txBody>
                  <a:tcPr anchor="ctr" marL="73152" marR="73152">
                    <a:solidFill>
                      <a:srgbClr val="FFFFFF"/>
                    </a:solidFill>
                  </a:tcPr>
                </a:tc>
                <a:tc>
                  <a:txBody>
                    <a:bodyPr/>
                    <a:lstStyle/>
                    <a:p>
                      <a:r>
                        <a:rPr sz="1100" b="1">
                          <a:solidFill>
                            <a:srgbClr val="1A1A1A"/>
                          </a:solidFill>
                          <a:latin typeface="Meiryo"/>
                          <a:ea typeface="Meiryo"/>
                        </a:rPr>
                        <a:t>150万円/開催(ショー演出・音源・追加スタッフ込み)</a:t>
                      </a:r>
                    </a:p>
                  </a:txBody>
                  <a:tcPr anchor="ctr" marL="73152" marR="73152">
                    <a:solidFill>
                      <a:srgbClr val="FFFFFF"/>
                    </a:solidFill>
                  </a:tcPr>
                </a:tc>
              </a:tr>
              <a:tr h="512064">
                <a:tc>
                  <a:txBody>
                    <a:bodyPr/>
                    <a:lstStyle/>
                    <a:p>
                      <a:r>
                        <a:rPr sz="1100" b="0">
                          <a:solidFill>
                            <a:srgbClr val="1A1A1A"/>
                          </a:solidFill>
                          <a:latin typeface="Meiryo"/>
                          <a:ea typeface="Meiryo"/>
                        </a:rPr>
                        <a:t>貴社側ご負担</a:t>
                      </a:r>
                    </a:p>
                  </a:txBody>
                  <a:tcPr anchor="ctr" marL="73152" marR="73152">
                    <a:solidFill>
                      <a:srgbClr val="F2F4F6"/>
                    </a:solidFill>
                  </a:tcPr>
                </a:tc>
                <a:tc>
                  <a:txBody>
                    <a:bodyPr/>
                    <a:lstStyle/>
                    <a:p>
                      <a:r>
                        <a:rPr sz="1100" b="0">
                          <a:solidFill>
                            <a:srgbClr val="1A1A1A"/>
                          </a:solidFill>
                          <a:latin typeface="Meiryo"/>
                          <a:ea typeface="Meiryo"/>
                        </a:rPr>
                        <a:t>会場手配・集客告知・当日運営(誘導スタッフ)</a:t>
                      </a:r>
                    </a:p>
                  </a:txBody>
                  <a:tcPr anchor="ctr" marL="73152" marR="73152">
                    <a:solidFill>
                      <a:srgbClr val="F2F4F6"/>
                    </a:solidFill>
                  </a:tcPr>
                </a:tc>
                <a:tc>
                  <a:txBody>
                    <a:bodyPr/>
                    <a:lstStyle/>
                    <a:p>
                      <a:r>
                        <a:rPr sz="1100" b="0">
                          <a:solidFill>
                            <a:srgbClr val="1A1A1A"/>
                          </a:solidFill>
                          <a:latin typeface="Meiryo"/>
                          <a:ea typeface="Meiryo"/>
                        </a:rPr>
                        <a:t>同左+ステージ設営</a:t>
                      </a:r>
                    </a:p>
                  </a:txBody>
                  <a:tcPr anchor="ctr" marL="73152" marR="73152">
                    <a:solidFill>
                      <a:srgbClr val="F2F4F6"/>
                    </a:solidFill>
                  </a:tcPr>
                </a:tc>
              </a:tr>
              <a:tr h="512064">
                <a:tc>
                  <a:txBody>
                    <a:bodyPr/>
                    <a:lstStyle/>
                    <a:p>
                      <a:r>
                        <a:rPr sz="1100" b="0">
                          <a:solidFill>
                            <a:srgbClr val="1A1A1A"/>
                          </a:solidFill>
                          <a:latin typeface="Meiryo"/>
                          <a:ea typeface="Meiryo"/>
                        </a:rPr>
                        <a:t>想定規模</a:t>
                      </a:r>
                    </a:p>
                  </a:txBody>
                  <a:tcPr anchor="ctr" marL="73152" marR="73152">
                    <a:solidFill>
                      <a:srgbClr val="FFFFFF"/>
                    </a:solidFill>
                  </a:tcPr>
                </a:tc>
                <a:tc>
                  <a:txBody>
                    <a:bodyPr/>
                    <a:lstStyle/>
                    <a:p>
                      <a:r>
                        <a:rPr sz="1100" b="1">
                          <a:solidFill>
                            <a:srgbClr val="1A1A1A"/>
                          </a:solidFill>
                          <a:latin typeface="Meiryo"/>
                          <a:ea typeface="Meiryo"/>
                        </a:rPr>
                        <a:t>5施設程度(各1開催)を想定 → 総額500万円</a:t>
                      </a:r>
                    </a:p>
                  </a:txBody>
                  <a:tcPr anchor="ctr" marL="73152" marR="73152">
                    <a:solidFill>
                      <a:srgbClr val="FFFFFF"/>
                    </a:solidFill>
                  </a:tcPr>
                </a:tc>
                <a:tc>
                  <a:txBody>
                    <a:bodyPr/>
                    <a:lstStyle/>
                    <a:p>
                      <a:r>
                        <a:rPr sz="1100" b="0">
                          <a:solidFill>
                            <a:srgbClr val="1A1A1A"/>
                          </a:solidFill>
                          <a:latin typeface="Meiryo"/>
                          <a:ea typeface="Meiryo"/>
                        </a:rPr>
                        <a:t>うち1〜2施設でのオプション実施</a:t>
                      </a:r>
                    </a:p>
                  </a:txBody>
                  <a:tcPr anchor="ctr" marL="73152" marR="73152">
                    <a:solidFill>
                      <a:srgbClr val="FFFFFF"/>
                    </a:solidFill>
                  </a:tcPr>
                </a:tc>
              </a:tr>
              <a:tr h="512064">
                <a:tc>
                  <a:txBody>
                    <a:bodyPr/>
                    <a:lstStyle/>
                    <a:p>
                      <a:r>
                        <a:rPr sz="1100" b="0">
                          <a:solidFill>
                            <a:srgbClr val="1A1A1A"/>
                          </a:solidFill>
                          <a:latin typeface="Meiryo"/>
                          <a:ea typeface="Meiryo"/>
                        </a:rPr>
                        <a:t>地域</a:t>
                      </a:r>
                    </a:p>
                  </a:txBody>
                  <a:tcPr anchor="ctr" marL="73152" marR="73152">
                    <a:solidFill>
                      <a:srgbClr val="F2F4F6"/>
                    </a:solidFill>
                  </a:tcPr>
                </a:tc>
                <a:tc>
                  <a:txBody>
                    <a:bodyPr/>
                    <a:lstStyle/>
                    <a:p>
                      <a:r>
                        <a:rPr sz="1100" b="0">
                          <a:solidFill>
                            <a:srgbClr val="1A1A1A"/>
                          </a:solidFill>
                          <a:latin typeface="Meiryo"/>
                          <a:ea typeface="Meiryo"/>
                        </a:rPr>
                        <a:t>全国対応可(関東に限定しません)</a:t>
                      </a:r>
                    </a:p>
                  </a:txBody>
                  <a:tcPr anchor="ctr" marL="73152" marR="73152">
                    <a:solidFill>
                      <a:srgbClr val="F2F4F6"/>
                    </a:solidFill>
                  </a:tcPr>
                </a:tc>
                <a:tc>
                  <a:txBody>
                    <a:bodyPr/>
                    <a:lstStyle/>
                    <a:p>
                      <a:r>
                        <a:rPr sz="1100" b="0">
                          <a:solidFill>
                            <a:srgbClr val="1A1A1A"/>
                          </a:solidFill>
                          <a:latin typeface="Meiryo"/>
                          <a:ea typeface="Meiryo"/>
                        </a:rPr>
                        <a:t>同左</a:t>
                      </a:r>
                    </a:p>
                  </a:txBody>
                  <a:tcPr anchor="ctr" marL="73152" marR="73152">
                    <a:solidFill>
                      <a:srgbClr val="F2F4F6"/>
                    </a:solidFill>
                  </a:tcPr>
                </a:tc>
              </a:tr>
            </a:tbl>
          </a:graphicData>
        </a:graphic>
      </p:graphicFrame>
      <p:sp>
        <p:nvSpPr>
          <p:cNvPr id="9" name="TextBox 8"/>
          <p:cNvSpPr txBox="1"/>
          <p:nvPr/>
        </p:nvSpPr>
        <p:spPr>
          <a:xfrm>
            <a:off x="640080" y="5257800"/>
            <a:ext cx="10881360" cy="1188720"/>
          </a:xfrm>
          <a:prstGeom prst="rect">
            <a:avLst/>
          </a:prstGeom>
          <a:noFill/>
        </p:spPr>
        <p:txBody>
          <a:bodyPr wrap="square" anchor="t" lIns="0" rIns="0" tIns="0" bIns="0">
            <a:spAutoFit/>
          </a:bodyPr>
          <a:lstStyle/>
          <a:p>
            <a:pPr algn="l">
              <a:spcAft>
                <a:spcPts val="300"/>
              </a:spcAft>
            </a:pPr>
            <a:r>
              <a:rPr sz="1250" b="1">
                <a:solidFill>
                  <a:srgbClr val="C00000"/>
                </a:solidFill>
                <a:latin typeface="Meiryo"/>
                <a:ea typeface="Meiryo"/>
              </a:rPr>
              <a:t>想定プラン:</a:t>
            </a:r>
            <a:r>
              <a:rPr sz="1250" b="0">
                <a:solidFill>
                  <a:srgbClr val="1A1A1A"/>
                </a:solidFill>
                <a:latin typeface="Meiryo"/>
                <a:ea typeface="Meiryo"/>
              </a:rPr>
              <a:t>エリア・施設タイプの異なる5施設で実施し、集客・送客効果を比較検証(S1×5施設=総額500万円・IP使用料不要)。</a:t>
            </a:r>
          </a:p>
          <a:p>
            <a:pPr algn="l">
              <a:spcAft>
                <a:spcPts val="300"/>
              </a:spcAft>
            </a:pPr>
            <a:r>
              <a:rPr sz="1250" b="1">
                <a:solidFill>
                  <a:srgbClr val="C00000"/>
                </a:solidFill>
                <a:latin typeface="Meiryo"/>
                <a:ea typeface="Meiryo"/>
              </a:rPr>
              <a:t>継続パック(S1):</a:t>
            </a:r>
            <a:r>
              <a:rPr sz="1250" b="0">
                <a:solidFill>
                  <a:srgbClr val="1A1A1A"/>
                </a:solidFill>
                <a:latin typeface="Meiryo"/>
                <a:ea typeface="Meiryo"/>
              </a:rPr>
              <a:t>隔週(月2開催)190万円/月、毎週(月4開催)360万円/月(単発比の優遇設定)。</a:t>
            </a:r>
          </a:p>
          <a:p>
            <a:pPr algn="l">
              <a:spcAft>
                <a:spcPts val="300"/>
              </a:spcAft>
            </a:pPr>
            <a:r>
              <a:rPr sz="1250" b="1">
                <a:solidFill>
                  <a:srgbClr val="C00000"/>
                </a:solidFill>
                <a:latin typeface="Meiryo"/>
                <a:ea typeface="Meiryo"/>
              </a:rPr>
              <a:t>実施条件:</a:t>
            </a:r>
            <a:r>
              <a:rPr sz="1200" b="0">
                <a:solidFill>
                  <a:srgbClr val="1A1A1A"/>
                </a:solidFill>
                <a:latin typeface="Meiryo"/>
                <a:ea typeface="Meiryo"/>
              </a:rPr>
              <a:t>当社の既存ライセンス条件の調整を経て、実施時期・会場を確定します(調整は当社にて速やかに進めます)。測定項目:来場数・撮影参加組数・ブース送客数。</a:t>
            </a:r>
          </a:p>
          <a:p>
            <a:pPr algn="l">
              <a:spcAft>
                <a:spcPts val="300"/>
              </a:spcAft>
            </a:pPr>
            <a:r>
              <a:rPr sz="1050" b="0">
                <a:solidFill>
                  <a:srgbClr val="5A626B"/>
                </a:solidFill>
                <a:latin typeface="Meiryo"/>
                <a:ea typeface="Meiryo"/>
              </a:rPr>
              <a:t>※通常イベントキットを用いるテストはキット製作を伴うため来年度からのご提案。※本テスト費用は、年間ご契約成立時に翌年度IP使用料へ充当するご相談が可能です。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