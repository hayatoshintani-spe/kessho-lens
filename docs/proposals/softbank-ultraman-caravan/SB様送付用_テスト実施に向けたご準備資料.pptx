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cover.png"/>
          <p:cNvPicPr>
            <a:picLocks noChangeAspect="1"/>
          </p:cNvPicPr>
          <p:nvPr/>
        </p:nvPicPr>
        <p:blipFill>
          <a:blip r:embed="rId2"/>
          <a:stretch>
            <a:fillRect/>
          </a:stretch>
        </p:blipFill>
        <p:spPr>
          <a:xfrm>
            <a:off x="0" y="0"/>
            <a:ext cx="3739896" cy="6858000"/>
          </a:xfrm>
          <a:prstGeom prst="rect">
            <a:avLst/>
          </a:prstGeom>
        </p:spPr>
      </p:pic>
      <p:sp>
        <p:nvSpPr>
          <p:cNvPr id="3" name="TextBox 2"/>
          <p:cNvSpPr txBox="1"/>
          <p:nvPr/>
        </p:nvSpPr>
        <p:spPr>
          <a:xfrm>
            <a:off x="4114800" y="1143000"/>
            <a:ext cx="7680960" cy="457200"/>
          </a:xfrm>
          <a:prstGeom prst="rect">
            <a:avLst/>
          </a:prstGeom>
          <a:noFill/>
        </p:spPr>
        <p:txBody>
          <a:bodyPr wrap="square" anchor="t" lIns="0" rIns="0" tIns="0" bIns="0">
            <a:spAutoFit/>
          </a:bodyPr>
          <a:lstStyle/>
          <a:p>
            <a:pPr algn="ctr">
              <a:spcAft>
                <a:spcPts val="500"/>
              </a:spcAft>
            </a:pPr>
            <a:r>
              <a:rPr sz="1400" b="0">
                <a:solidFill>
                  <a:srgbClr val="5A626B"/>
                </a:solidFill>
                <a:latin typeface="Meiryo"/>
                <a:ea typeface="Meiryo"/>
              </a:rPr>
              <a:t>ソフトバンク株式会社 御中</a:t>
            </a:r>
          </a:p>
        </p:txBody>
      </p:sp>
      <p:sp>
        <p:nvSpPr>
          <p:cNvPr id="4" name="TextBox 3"/>
          <p:cNvSpPr txBox="1"/>
          <p:nvPr/>
        </p:nvSpPr>
        <p:spPr>
          <a:xfrm>
            <a:off x="4114800" y="2148840"/>
            <a:ext cx="7680960" cy="1645920"/>
          </a:xfrm>
          <a:prstGeom prst="rect">
            <a:avLst/>
          </a:prstGeom>
          <a:noFill/>
        </p:spPr>
        <p:txBody>
          <a:bodyPr wrap="square" anchor="t" lIns="0" rIns="0" tIns="0" bIns="0">
            <a:spAutoFit/>
          </a:bodyPr>
          <a:lstStyle/>
          <a:p>
            <a:pPr algn="ctr">
              <a:spcAft>
                <a:spcPts val="1000"/>
              </a:spcAft>
            </a:pPr>
            <a:r>
              <a:rPr sz="2800" b="1">
                <a:solidFill>
                  <a:srgbClr val="1A1A1A"/>
                </a:solidFill>
                <a:latin typeface="Meiryo"/>
                <a:ea typeface="Meiryo"/>
              </a:rPr>
              <a:t>スポットテスト実施に向けた</a:t>
            </a:r>
          </a:p>
          <a:p>
            <a:pPr algn="ctr">
              <a:spcAft>
                <a:spcPts val="1000"/>
              </a:spcAft>
            </a:pPr>
            <a:r>
              <a:rPr sz="2800" b="1">
                <a:solidFill>
                  <a:srgbClr val="1A1A1A"/>
                </a:solidFill>
                <a:latin typeface="Meiryo"/>
                <a:ea typeface="Meiryo"/>
              </a:rPr>
              <a:t>ご準備資料</a:t>
            </a:r>
          </a:p>
        </p:txBody>
      </p:sp>
      <p:sp>
        <p:nvSpPr>
          <p:cNvPr id="5" name="TextBox 4"/>
          <p:cNvSpPr txBox="1"/>
          <p:nvPr/>
        </p:nvSpPr>
        <p:spPr>
          <a:xfrm>
            <a:off x="4114800" y="3794760"/>
            <a:ext cx="7680960" cy="914400"/>
          </a:xfrm>
          <a:prstGeom prst="rect">
            <a:avLst/>
          </a:prstGeom>
          <a:noFill/>
        </p:spPr>
        <p:txBody>
          <a:bodyPr wrap="square" anchor="t" lIns="0" rIns="0" tIns="0" bIns="0">
            <a:spAutoFit/>
          </a:bodyPr>
          <a:lstStyle/>
          <a:p>
            <a:pPr algn="ctr">
              <a:spcAft>
                <a:spcPts val="400"/>
              </a:spcAft>
            </a:pPr>
            <a:r>
              <a:rPr sz="1400" b="0">
                <a:solidFill>
                  <a:srgbClr val="1A1A1A"/>
                </a:solidFill>
                <a:latin typeface="Meiryo"/>
                <a:ea typeface="Meiryo"/>
              </a:rPr>
              <a:t>7/23お打ち合わせの宿題事項へのご回答</a:t>
            </a:r>
          </a:p>
          <a:p>
            <a:pPr algn="ctr">
              <a:spcAft>
                <a:spcPts val="400"/>
              </a:spcAft>
            </a:pPr>
            <a:r>
              <a:rPr sz="1250" b="0">
                <a:solidFill>
                  <a:srgbClr val="5A626B"/>
                </a:solidFill>
                <a:latin typeface="Meiryo"/>
                <a:ea typeface="Meiryo"/>
              </a:rPr>
              <a:t>(実施可能エリア/ノベルティ/テストイベント形式/検証項目案)</a:t>
            </a:r>
          </a:p>
        </p:txBody>
      </p:sp>
      <p:sp>
        <p:nvSpPr>
          <p:cNvPr id="6" name="TextBox 5"/>
          <p:cNvSpPr txBox="1"/>
          <p:nvPr/>
        </p:nvSpPr>
        <p:spPr>
          <a:xfrm>
            <a:off x="4114800" y="5212080"/>
            <a:ext cx="7680960" cy="914400"/>
          </a:xfrm>
          <a:prstGeom prst="rect">
            <a:avLst/>
          </a:prstGeom>
          <a:noFill/>
        </p:spPr>
        <p:txBody>
          <a:bodyPr wrap="square" anchor="t" lIns="0" rIns="0" tIns="0" bIns="0">
            <a:spAutoFit/>
          </a:bodyPr>
          <a:lstStyle/>
          <a:p>
            <a:pPr algn="ctr">
              <a:spcAft>
                <a:spcPts val="300"/>
              </a:spcAft>
            </a:pPr>
            <a:r>
              <a:rPr sz="1500" b="1">
                <a:solidFill>
                  <a:srgbClr val="1F338C"/>
                </a:solidFill>
                <a:latin typeface="Meiryo"/>
                <a:ea typeface="Meiryo"/>
              </a:rPr>
              <a:t>2026年7月31日</a:t>
            </a:r>
          </a:p>
          <a:p>
            <a:pPr algn="ctr">
              <a:spcAft>
                <a:spcPts val="300"/>
              </a:spcAft>
            </a:pPr>
            <a:r>
              <a:rPr sz="1500" b="1">
                <a:solidFill>
                  <a:srgbClr val="1F338C"/>
                </a:solidFill>
                <a:latin typeface="Meiryo"/>
                <a:ea typeface="Meiryo"/>
              </a:rPr>
              <a:t>(株)円谷プロダクション</a:t>
            </a:r>
          </a:p>
          <a:p>
            <a:pPr algn="ctr">
              <a:spcAft>
                <a:spcPts val="300"/>
              </a:spcAft>
            </a:pPr>
            <a:r>
              <a:rPr sz="1050" b="0">
                <a:solidFill>
                  <a:srgbClr val="8E949B"/>
                </a:solidFill>
                <a:latin typeface="Meiryo"/>
                <a:ea typeface="Meiryo"/>
              </a:rPr>
              <a:t>金額はすべて税別・概算</a:t>
            </a:r>
          </a:p>
        </p:txBody>
      </p:sp>
      <p:sp>
        <p:nvSpPr>
          <p:cNvPr id="7" name="TextBox 6"/>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8" name="TextBox 7"/>
          <p:cNvSpPr txBox="1"/>
          <p:nvPr/>
        </p:nvSpPr>
        <p:spPr>
          <a:xfrm>
            <a:off x="9372600" y="6492240"/>
            <a:ext cx="228600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① テスト期間の実施可能エリア</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当社の既存イベント運用との調整のため、テスト期間は以下のエリアでの実施をお願いいたします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2</a:t>
            </a:r>
          </a:p>
        </p:txBody>
      </p:sp>
      <p:sp>
        <p:nvSpPr>
          <p:cNvPr id="8" name="Rounded Rectangle 7"/>
          <p:cNvSpPr/>
          <p:nvPr/>
        </p:nvSpPr>
        <p:spPr>
          <a:xfrm>
            <a:off x="640080" y="1463040"/>
            <a:ext cx="10881360" cy="1554480"/>
          </a:xfrm>
          <a:prstGeom prst="roundRect">
            <a:avLst>
              <a:gd name="adj" fmla="val 6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10332720" cy="1280160"/>
          </a:xfrm>
          <a:prstGeom prst="rect">
            <a:avLst/>
          </a:prstGeom>
          <a:noFill/>
        </p:spPr>
        <p:txBody>
          <a:bodyPr wrap="square" anchor="t" lIns="0" rIns="0" tIns="0" bIns="0">
            <a:spAutoFit/>
          </a:bodyPr>
          <a:lstStyle/>
          <a:p>
            <a:pPr algn="l">
              <a:spcAft>
                <a:spcPts val="700"/>
              </a:spcAft>
            </a:pPr>
            <a:r>
              <a:rPr sz="1400" b="1">
                <a:solidFill>
                  <a:srgbClr val="C00000"/>
                </a:solidFill>
                <a:latin typeface="Meiryo"/>
                <a:ea typeface="Meiryo"/>
              </a:rPr>
              <a:t>実施可能エリア</a:t>
            </a:r>
          </a:p>
          <a:p>
            <a:pPr algn="l">
              <a:spcAft>
                <a:spcPts val="700"/>
              </a:spcAft>
            </a:pPr>
            <a:r>
              <a:rPr sz="2000" b="1">
                <a:solidFill>
                  <a:srgbClr val="1A1A1A"/>
                </a:solidFill>
                <a:latin typeface="Meiryo"/>
                <a:ea typeface="Meiryo"/>
              </a:rPr>
              <a:t>神奈川県・東京都</a:t>
            </a:r>
            <a:r>
              <a:rPr sz="1400" b="0">
                <a:solidFill>
                  <a:srgbClr val="1A1A1A"/>
                </a:solidFill>
                <a:latin typeface="Meiryo"/>
                <a:ea typeface="Meiryo"/>
              </a:rPr>
              <a:t>(埼玉県隣接地域を除く) を中心にご調整をお願いします</a:t>
            </a:r>
          </a:p>
          <a:p>
            <a:pPr algn="l">
              <a:spcAft>
                <a:spcPts val="700"/>
              </a:spcAft>
            </a:pPr>
            <a:r>
              <a:rPr sz="1150" b="0">
                <a:solidFill>
                  <a:srgbClr val="5A626B"/>
                </a:solidFill>
                <a:latin typeface="Meiryo"/>
                <a:ea typeface="Meiryo"/>
              </a:rPr>
              <a:t>※上記以外のエリアをご希望の場合は個別にご相談ください。会場候補をいただければ、当社にて開催可否を速やかに確認・回答いたします</a:t>
            </a:r>
          </a:p>
        </p:txBody>
      </p:sp>
      <p:graphicFrame>
        <p:nvGraphicFramePr>
          <p:cNvPr id="10" name="Table 9"/>
          <p:cNvGraphicFramePr>
            <a:graphicFrameLocks noGrp="1"/>
          </p:cNvGraphicFramePr>
          <p:nvPr/>
        </p:nvGraphicFramePr>
        <p:xfrm>
          <a:off x="640080" y="3337560"/>
          <a:ext cx="10881358" cy="2048256"/>
        </p:xfrm>
        <a:graphic>
          <a:graphicData uri="http://schemas.openxmlformats.org/drawingml/2006/table">
            <a:tbl>
              <a:tblPr firstRow="1" bandRow="1">
                <a:tableStyleId>{5C22544A-7EE6-4342-B048-85BDC9FD1C3A}</a:tableStyleId>
              </a:tblPr>
              <a:tblGrid>
                <a:gridCol w="2053086"/>
                <a:gridCol w="5338025"/>
                <a:gridCol w="3490247"/>
              </a:tblGrid>
              <a:tr h="512064">
                <a:tc>
                  <a:txBody>
                    <a:bodyPr/>
                    <a:lstStyle/>
                    <a:p>
                      <a:r>
                        <a:rPr sz="1050" b="1">
                          <a:solidFill>
                            <a:srgbClr val="FFFFFF"/>
                          </a:solidFill>
                          <a:latin typeface="Meiryo"/>
                          <a:ea typeface="Meiryo"/>
                        </a:rPr>
                        <a:t>確認項目</a:t>
                      </a:r>
                    </a:p>
                  </a:txBody>
                  <a:tcPr anchor="ctr" marL="73152" marR="73152">
                    <a:solidFill>
                      <a:srgbClr val="232278"/>
                    </a:solidFill>
                  </a:tcPr>
                </a:tc>
                <a:tc>
                  <a:txBody>
                    <a:bodyPr/>
                    <a:lstStyle/>
                    <a:p>
                      <a:r>
                        <a:rPr sz="1050" b="1">
                          <a:solidFill>
                            <a:srgbClr val="FFFFFF"/>
                          </a:solidFill>
                          <a:latin typeface="Meiryo"/>
                          <a:ea typeface="Meiryo"/>
                        </a:rPr>
                        <a:t>条件</a:t>
                      </a:r>
                    </a:p>
                  </a:txBody>
                  <a:tcPr anchor="ctr" marL="73152" marR="73152">
                    <a:solidFill>
                      <a:srgbClr val="232278"/>
                    </a:solidFill>
                  </a:tcPr>
                </a:tc>
                <a:tc>
                  <a:txBody>
                    <a:bodyPr/>
                    <a:lstStyle/>
                    <a:p>
                      <a:r>
                        <a:rPr sz="1050" b="1">
                          <a:solidFill>
                            <a:srgbClr val="FFFFFF"/>
                          </a:solidFill>
                          <a:latin typeface="Meiryo"/>
                          <a:ea typeface="Meiryo"/>
                        </a:rPr>
                        <a:t>備考</a:t>
                      </a:r>
                    </a:p>
                  </a:txBody>
                  <a:tcPr anchor="ctr" marL="73152" marR="73152">
                    <a:solidFill>
                      <a:srgbClr val="232278"/>
                    </a:solidFill>
                  </a:tcPr>
                </a:tc>
              </a:tr>
              <a:tr h="512064">
                <a:tc>
                  <a:txBody>
                    <a:bodyPr/>
                    <a:lstStyle/>
                    <a:p>
                      <a:r>
                        <a:rPr sz="1050" b="0">
                          <a:solidFill>
                            <a:srgbClr val="1A1A1A"/>
                          </a:solidFill>
                          <a:latin typeface="Meiryo"/>
                          <a:ea typeface="Meiryo"/>
                        </a:rPr>
                        <a:t>エリアバッティング</a:t>
                      </a:r>
                    </a:p>
                  </a:txBody>
                  <a:tcPr anchor="ctr" marL="73152" marR="73152">
                    <a:solidFill>
                      <a:srgbClr val="FFFFFF"/>
                    </a:solidFill>
                  </a:tcPr>
                </a:tc>
                <a:tc>
                  <a:txBody>
                    <a:bodyPr/>
                    <a:lstStyle/>
                    <a:p>
                      <a:r>
                        <a:rPr sz="1050" b="0">
                          <a:solidFill>
                            <a:srgbClr val="1A1A1A"/>
                          </a:solidFill>
                          <a:latin typeface="Meiryo"/>
                          <a:ea typeface="Meiryo"/>
                        </a:rPr>
                        <a:t>イベント日の前8日間・後5日間、半径8km圏内に他のウルトラマンイベントがないこと</a:t>
                      </a:r>
                    </a:p>
                  </a:txBody>
                  <a:tcPr anchor="ctr" marL="73152" marR="73152">
                    <a:solidFill>
                      <a:srgbClr val="FFFFFF"/>
                    </a:solidFill>
                  </a:tcPr>
                </a:tc>
                <a:tc>
                  <a:txBody>
                    <a:bodyPr/>
                    <a:lstStyle/>
                    <a:p>
                      <a:r>
                        <a:rPr sz="1050" b="0">
                          <a:solidFill>
                            <a:srgbClr val="1A1A1A"/>
                          </a:solidFill>
                          <a:latin typeface="Meiryo"/>
                          <a:ea typeface="Meiryo"/>
                        </a:rPr>
                        <a:t>競合施設でない場合・キャラクター違いは調整のうえ実施できる場合があります</a:t>
                      </a:r>
                    </a:p>
                  </a:txBody>
                  <a:tcPr anchor="ctr" marL="73152" marR="73152">
                    <a:solidFill>
                      <a:srgbClr val="FFFFFF"/>
                    </a:solidFill>
                  </a:tcPr>
                </a:tc>
              </a:tr>
              <a:tr h="512064">
                <a:tc>
                  <a:txBody>
                    <a:bodyPr/>
                    <a:lstStyle/>
                    <a:p>
                      <a:r>
                        <a:rPr sz="1050" b="0">
                          <a:solidFill>
                            <a:srgbClr val="1A1A1A"/>
                          </a:solidFill>
                          <a:latin typeface="Meiryo"/>
                          <a:ea typeface="Meiryo"/>
                        </a:rPr>
                        <a:t>会場条件</a:t>
                      </a:r>
                    </a:p>
                  </a:txBody>
                  <a:tcPr anchor="ctr" marL="73152" marR="73152">
                    <a:solidFill>
                      <a:srgbClr val="F2F4F6"/>
                    </a:solidFill>
                  </a:tcPr>
                </a:tc>
                <a:tc>
                  <a:txBody>
                    <a:bodyPr/>
                    <a:lstStyle/>
                    <a:p>
                      <a:r>
                        <a:rPr sz="1050" b="0">
                          <a:solidFill>
                            <a:srgbClr val="1A1A1A"/>
                          </a:solidFill>
                          <a:latin typeface="Meiryo"/>
                          <a:ea typeface="Meiryo"/>
                        </a:rPr>
                        <a:t>外部から見えない控室(着替え場所)・歩いて移動できる動線</a:t>
                      </a:r>
                    </a:p>
                  </a:txBody>
                  <a:tcPr anchor="ctr" marL="73152" marR="73152">
                    <a:solidFill>
                      <a:srgbClr val="F2F4F6"/>
                    </a:solidFill>
                  </a:tcPr>
                </a:tc>
                <a:tc>
                  <a:txBody>
                    <a:bodyPr/>
                    <a:lstStyle/>
                    <a:p>
                      <a:r>
                        <a:rPr sz="1050" b="0">
                          <a:solidFill>
                            <a:srgbClr val="1A1A1A"/>
                          </a:solidFill>
                          <a:latin typeface="Meiryo"/>
                          <a:ea typeface="Meiryo"/>
                        </a:rPr>
                        <a:t>詳細は別紙レギュレーションご参照</a:t>
                      </a:r>
                    </a:p>
                  </a:txBody>
                  <a:tcPr anchor="ctr" marL="73152" marR="73152">
                    <a:solidFill>
                      <a:srgbClr val="F2F4F6"/>
                    </a:solidFill>
                  </a:tcPr>
                </a:tc>
              </a:tr>
              <a:tr h="512064">
                <a:tc>
                  <a:txBody>
                    <a:bodyPr/>
                    <a:lstStyle/>
                    <a:p>
                      <a:r>
                        <a:rPr sz="1050" b="0">
                          <a:solidFill>
                            <a:srgbClr val="1A1A1A"/>
                          </a:solidFill>
                          <a:latin typeface="Meiryo"/>
                          <a:ea typeface="Meiryo"/>
                        </a:rPr>
                        <a:t>スケジュール</a:t>
                      </a:r>
                    </a:p>
                  </a:txBody>
                  <a:tcPr anchor="ctr" marL="73152" marR="73152">
                    <a:solidFill>
                      <a:srgbClr val="FFFFFF"/>
                    </a:solidFill>
                  </a:tcPr>
                </a:tc>
                <a:tc>
                  <a:txBody>
                    <a:bodyPr/>
                    <a:lstStyle/>
                    <a:p>
                      <a:r>
                        <a:rPr sz="1050" b="0">
                          <a:solidFill>
                            <a:srgbClr val="1A1A1A"/>
                          </a:solidFill>
                          <a:latin typeface="Meiryo"/>
                          <a:ea typeface="Meiryo"/>
                        </a:rPr>
                        <a:t>会場・日程の確定は開催の1か月前まで(仮押さえは2か月前目安)</a:t>
                      </a:r>
                    </a:p>
                  </a:txBody>
                  <a:tcPr anchor="ctr" marL="73152" marR="73152">
                    <a:solidFill>
                      <a:srgbClr val="FFFFFF"/>
                    </a:solidFill>
                  </a:tcPr>
                </a:tc>
                <a:tc>
                  <a:txBody>
                    <a:bodyPr/>
                    <a:lstStyle/>
                    <a:p>
                      <a:r>
                        <a:rPr sz="1050" b="0">
                          <a:solidFill>
                            <a:srgbClr val="1A1A1A"/>
                          </a:solidFill>
                          <a:latin typeface="Meiryo"/>
                          <a:ea typeface="Meiryo"/>
                        </a:rPr>
                        <a:t>9月開催をご希望の場合はお早めの候補共有をお願いします</a:t>
                      </a:r>
                    </a:p>
                  </a:txBody>
                  <a:tcPr anchor="ctr" marL="73152" marR="73152">
                    <a:solidFill>
                      <a:srgbClr val="FFFFFF"/>
                    </a:solidFill>
                  </a:tcPr>
                </a:tc>
              </a:tr>
            </a:tbl>
          </a:graphicData>
        </a:graphic>
      </p:graphicFrame>
      <p:sp>
        <p:nvSpPr>
          <p:cNvPr id="11" name="TextBox 10"/>
          <p:cNvSpPr txBox="1"/>
          <p:nvPr/>
        </p:nvSpPr>
        <p:spPr>
          <a:xfrm>
            <a:off x="640080" y="5623560"/>
            <a:ext cx="10881360" cy="640080"/>
          </a:xfrm>
          <a:prstGeom prst="rect">
            <a:avLst/>
          </a:prstGeom>
          <a:noFill/>
        </p:spPr>
        <p:txBody>
          <a:bodyPr wrap="square" anchor="t" lIns="0" rIns="0" tIns="0" bIns="0">
            <a:spAutoFit/>
          </a:bodyPr>
          <a:lstStyle/>
          <a:p>
            <a:pPr algn="l">
              <a:spcAft>
                <a:spcPts val="400"/>
              </a:spcAft>
            </a:pPr>
            <a:r>
              <a:rPr sz="1300" b="1">
                <a:solidFill>
                  <a:srgbClr val="C00000"/>
                </a:solidFill>
                <a:latin typeface="Meiryo"/>
                <a:ea typeface="Meiryo"/>
              </a:rPr>
              <a:t>お願い:</a:t>
            </a:r>
            <a:r>
              <a:rPr sz="1300" b="0">
                <a:solidFill>
                  <a:srgbClr val="1A1A1A"/>
                </a:solidFill>
                <a:latin typeface="Meiryo"/>
                <a:ea typeface="Meiryo"/>
              </a:rPr>
              <a:t>商業施設の候補リストをご共有ください。当社にてバッティング・会場条件を確認し、開催可否を即日〜数営業日で回答します。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② ノベルティ・賞品のご提案(既存品より)</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参加賞から成約者特典まで、当社既存品でご用意できる4段構成をご提案します(詳細は別添の商品リストをご参照ください)</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3</a:t>
            </a:r>
          </a:p>
        </p:txBody>
      </p:sp>
      <p:graphicFrame>
        <p:nvGraphicFramePr>
          <p:cNvPr id="8" name="Table 7"/>
          <p:cNvGraphicFramePr>
            <a:graphicFrameLocks noGrp="1"/>
          </p:cNvGraphicFramePr>
          <p:nvPr/>
        </p:nvGraphicFramePr>
        <p:xfrm>
          <a:off x="640080" y="1417320"/>
          <a:ext cx="10881358" cy="3017520"/>
        </p:xfrm>
        <a:graphic>
          <a:graphicData uri="http://schemas.openxmlformats.org/drawingml/2006/table">
            <a:tbl>
              <a:tblPr firstRow="1" bandRow="1">
                <a:tableStyleId>{5C22544A-7EE6-4342-B048-85BDC9FD1C3A}</a:tableStyleId>
              </a:tblPr>
              <a:tblGrid>
                <a:gridCol w="1930563"/>
                <a:gridCol w="3510116"/>
                <a:gridCol w="1579552"/>
                <a:gridCol w="3861127"/>
              </a:tblGrid>
              <a:tr h="603504">
                <a:tc>
                  <a:txBody>
                    <a:bodyPr/>
                    <a:lstStyle/>
                    <a:p>
                      <a:r>
                        <a:rPr sz="1050" b="1">
                          <a:solidFill>
                            <a:srgbClr val="FFFFFF"/>
                          </a:solidFill>
                          <a:latin typeface="Meiryo"/>
                          <a:ea typeface="Meiryo"/>
                        </a:rPr>
                        <a:t>用途</a:t>
                      </a:r>
                    </a:p>
                  </a:txBody>
                  <a:tcPr anchor="ctr" marL="73152" marR="73152">
                    <a:solidFill>
                      <a:srgbClr val="232278"/>
                    </a:solidFill>
                  </a:tcPr>
                </a:tc>
                <a:tc>
                  <a:txBody>
                    <a:bodyPr/>
                    <a:lstStyle/>
                    <a:p>
                      <a:r>
                        <a:rPr sz="1050" b="1">
                          <a:solidFill>
                            <a:srgbClr val="FFFFFF"/>
                          </a:solidFill>
                          <a:latin typeface="Meiryo"/>
                          <a:ea typeface="Meiryo"/>
                        </a:rPr>
                        <a:t>商品</a:t>
                      </a:r>
                    </a:p>
                  </a:txBody>
                  <a:tcPr anchor="ctr" marL="73152" marR="73152">
                    <a:solidFill>
                      <a:srgbClr val="232278"/>
                    </a:solidFill>
                  </a:tcPr>
                </a:tc>
                <a:tc>
                  <a:txBody>
                    <a:bodyPr/>
                    <a:lstStyle/>
                    <a:p>
                      <a:r>
                        <a:rPr sz="1050" b="1">
                          <a:solidFill>
                            <a:srgbClr val="FFFFFF"/>
                          </a:solidFill>
                          <a:latin typeface="Meiryo"/>
                          <a:ea typeface="Meiryo"/>
                        </a:rPr>
                        <a:t>税別売価</a:t>
                      </a:r>
                    </a:p>
                  </a:txBody>
                  <a:tcPr anchor="ctr" marL="73152" marR="73152">
                    <a:solidFill>
                      <a:srgbClr val="232278"/>
                    </a:solidFill>
                  </a:tcPr>
                </a:tc>
                <a:tc>
                  <a:txBody>
                    <a:bodyPr/>
                    <a:lstStyle/>
                    <a:p>
                      <a:r>
                        <a:rPr sz="1050" b="1">
                          <a:solidFill>
                            <a:srgbClr val="FFFFFF"/>
                          </a:solidFill>
                          <a:latin typeface="Meiryo"/>
                          <a:ea typeface="Meiryo"/>
                        </a:rPr>
                        <a:t>ポイント</a:t>
                      </a:r>
                    </a:p>
                  </a:txBody>
                  <a:tcPr anchor="ctr" marL="73152" marR="73152">
                    <a:solidFill>
                      <a:srgbClr val="232278"/>
                    </a:solidFill>
                  </a:tcPr>
                </a:tc>
              </a:tr>
              <a:tr h="603504">
                <a:tc>
                  <a:txBody>
                    <a:bodyPr/>
                    <a:lstStyle/>
                    <a:p>
                      <a:r>
                        <a:rPr sz="1050" b="1">
                          <a:solidFill>
                            <a:srgbClr val="1A1A1A"/>
                          </a:solidFill>
                          <a:latin typeface="Meiryo"/>
                          <a:ea typeface="Meiryo"/>
                        </a:rPr>
                        <a:t>参加賞</a:t>
                      </a:r>
                    </a:p>
                  </a:txBody>
                  <a:tcPr anchor="ctr" marL="73152" marR="73152">
                    <a:solidFill>
                      <a:srgbClr val="FFFFFF"/>
                    </a:solidFill>
                  </a:tcPr>
                </a:tc>
                <a:tc>
                  <a:txBody>
                    <a:bodyPr/>
                    <a:lstStyle/>
                    <a:p>
                      <a:r>
                        <a:rPr sz="1050" b="0">
                          <a:solidFill>
                            <a:srgbClr val="1A1A1A"/>
                          </a:solidFill>
                          <a:latin typeface="Meiryo"/>
                          <a:ea typeface="Meiryo"/>
                        </a:rPr>
                        <a:t>ウルトラマンカードゲーム ブースターパック(複数弾)</a:t>
                      </a:r>
                    </a:p>
                  </a:txBody>
                  <a:tcPr anchor="ctr" marL="73152" marR="73152">
                    <a:solidFill>
                      <a:srgbClr val="FFFFFF"/>
                    </a:solidFill>
                  </a:tcPr>
                </a:tc>
                <a:tc>
                  <a:txBody>
                    <a:bodyPr/>
                    <a:lstStyle/>
                    <a:p>
                      <a:r>
                        <a:rPr sz="1050" b="0">
                          <a:solidFill>
                            <a:srgbClr val="1A1A1A"/>
                          </a:solidFill>
                          <a:latin typeface="Meiryo"/>
                          <a:ea typeface="Meiryo"/>
                        </a:rPr>
                        <a:t>180〜200円/パック</a:t>
                      </a:r>
                    </a:p>
                  </a:txBody>
                  <a:tcPr anchor="ctr" marL="73152" marR="73152">
                    <a:solidFill>
                      <a:srgbClr val="FFFFFF"/>
                    </a:solidFill>
                  </a:tcPr>
                </a:tc>
                <a:tc>
                  <a:txBody>
                    <a:bodyPr/>
                    <a:lstStyle/>
                    <a:p>
                      <a:r>
                        <a:rPr sz="1050" b="0">
                          <a:solidFill>
                            <a:srgbClr val="1A1A1A"/>
                          </a:solidFill>
                          <a:latin typeface="Meiryo"/>
                          <a:ea typeface="Meiryo"/>
                        </a:rPr>
                        <a:t>1BOX=24パック入。登場キャラが弾ごとに異なり、お客様が好きな弾を選べます</a:t>
                      </a:r>
                    </a:p>
                  </a:txBody>
                  <a:tcPr anchor="ctr" marL="73152" marR="73152">
                    <a:solidFill>
                      <a:srgbClr val="FFFFFF"/>
                    </a:solidFill>
                  </a:tcPr>
                </a:tc>
              </a:tr>
              <a:tr h="603504">
                <a:tc>
                  <a:txBody>
                    <a:bodyPr/>
                    <a:lstStyle/>
                    <a:p>
                      <a:r>
                        <a:rPr sz="1050" b="1">
                          <a:solidFill>
                            <a:srgbClr val="1A1A1A"/>
                          </a:solidFill>
                          <a:latin typeface="Meiryo"/>
                          <a:ea typeface="Meiryo"/>
                        </a:rPr>
                        <a:t>抽選・ルーレット上位賞</a:t>
                      </a:r>
                    </a:p>
                  </a:txBody>
                  <a:tcPr anchor="ctr" marL="73152" marR="73152">
                    <a:solidFill>
                      <a:srgbClr val="F2F4F6"/>
                    </a:solidFill>
                  </a:tcPr>
                </a:tc>
                <a:tc>
                  <a:txBody>
                    <a:bodyPr/>
                    <a:lstStyle/>
                    <a:p>
                      <a:r>
                        <a:rPr sz="1050" b="0">
                          <a:solidFill>
                            <a:srgbClr val="1A1A1A"/>
                          </a:solidFill>
                          <a:latin typeface="Meiryo"/>
                          <a:ea typeface="Meiryo"/>
                        </a:rPr>
                        <a:t>ウルトラヒーローソフビシリーズ各種(スペシャルカラー)</a:t>
                      </a:r>
                    </a:p>
                  </a:txBody>
                  <a:tcPr anchor="ctr" marL="73152" marR="73152">
                    <a:solidFill>
                      <a:srgbClr val="F2F4F6"/>
                    </a:solidFill>
                  </a:tcPr>
                </a:tc>
                <a:tc>
                  <a:txBody>
                    <a:bodyPr/>
                    <a:lstStyle/>
                    <a:p>
                      <a:r>
                        <a:rPr sz="1050" b="0">
                          <a:solidFill>
                            <a:srgbClr val="1A1A1A"/>
                          </a:solidFill>
                          <a:latin typeface="Meiryo"/>
                          <a:ea typeface="Meiryo"/>
                        </a:rPr>
                        <a:t>818〜1,100円</a:t>
                      </a:r>
                    </a:p>
                  </a:txBody>
                  <a:tcPr anchor="ctr" marL="73152" marR="73152">
                    <a:solidFill>
                      <a:srgbClr val="F2F4F6"/>
                    </a:solidFill>
                  </a:tcPr>
                </a:tc>
                <a:tc>
                  <a:txBody>
                    <a:bodyPr/>
                    <a:lstStyle/>
                    <a:p>
                      <a:r>
                        <a:rPr sz="1050" b="0">
                          <a:solidFill>
                            <a:srgbClr val="1A1A1A"/>
                          </a:solidFill>
                          <a:latin typeface="Meiryo"/>
                          <a:ea typeface="Meiryo"/>
                        </a:rPr>
                        <a:t>一般玩具売場に出回らない限定カラー。登場ヒーローと合わせた選定が可能です</a:t>
                      </a:r>
                    </a:p>
                  </a:txBody>
                  <a:tcPr anchor="ctr" marL="73152" marR="73152">
                    <a:solidFill>
                      <a:srgbClr val="F2F4F6"/>
                    </a:solidFill>
                  </a:tcPr>
                </a:tc>
              </a:tr>
              <a:tr h="603504">
                <a:tc>
                  <a:txBody>
                    <a:bodyPr/>
                    <a:lstStyle/>
                    <a:p>
                      <a:r>
                        <a:rPr sz="1050" b="1">
                          <a:solidFill>
                            <a:srgbClr val="1A1A1A"/>
                          </a:solidFill>
                          <a:latin typeface="Meiryo"/>
                          <a:ea typeface="Meiryo"/>
                        </a:rPr>
                        <a:t>プレミア賞・ご成約特典</a:t>
                      </a:r>
                    </a:p>
                  </a:txBody>
                  <a:tcPr anchor="ctr" marL="73152" marR="73152">
                    <a:solidFill>
                      <a:srgbClr val="FFFFFF"/>
                    </a:solidFill>
                  </a:tcPr>
                </a:tc>
                <a:tc>
                  <a:txBody>
                    <a:bodyPr/>
                    <a:lstStyle/>
                    <a:p>
                      <a:r>
                        <a:rPr sz="1050" b="0">
                          <a:solidFill>
                            <a:srgbClr val="1A1A1A"/>
                          </a:solidFill>
                          <a:latin typeface="Meiryo"/>
                          <a:ea typeface="Meiryo"/>
                        </a:rPr>
                        <a:t>フォンタブ&amp;ショルダーストラップ/ネッククールリング</a:t>
                      </a:r>
                    </a:p>
                  </a:txBody>
                  <a:tcPr anchor="ctr" marL="73152" marR="73152">
                    <a:solidFill>
                      <a:srgbClr val="FFFFFF"/>
                    </a:solidFill>
                  </a:tcPr>
                </a:tc>
                <a:tc>
                  <a:txBody>
                    <a:bodyPr/>
                    <a:lstStyle/>
                    <a:p>
                      <a:r>
                        <a:rPr sz="1050" b="0">
                          <a:solidFill>
                            <a:srgbClr val="1A1A1A"/>
                          </a:solidFill>
                          <a:latin typeface="Meiryo"/>
                          <a:ea typeface="Meiryo"/>
                        </a:rPr>
                        <a:t>1,800〜2,000円</a:t>
                      </a:r>
                    </a:p>
                  </a:txBody>
                  <a:tcPr anchor="ctr" marL="73152" marR="73152">
                    <a:solidFill>
                      <a:srgbClr val="FFFFFF"/>
                    </a:solidFill>
                  </a:tcPr>
                </a:tc>
                <a:tc>
                  <a:txBody>
                    <a:bodyPr/>
                    <a:lstStyle/>
                    <a:p>
                      <a:r>
                        <a:rPr sz="1050" b="0">
                          <a:solidFill>
                            <a:srgbClr val="1A1A1A"/>
                          </a:solidFill>
                          <a:latin typeface="Meiryo"/>
                          <a:ea typeface="Meiryo"/>
                        </a:rPr>
                        <a:t>スマートフォン関連・夏の実用アイテム。店頭のご成約特典にも好適です</a:t>
                      </a:r>
                    </a:p>
                  </a:txBody>
                  <a:tcPr anchor="ctr" marL="73152" marR="73152">
                    <a:solidFill>
                      <a:srgbClr val="FFFFFF"/>
                    </a:solidFill>
                  </a:tcPr>
                </a:tc>
              </a:tr>
              <a:tr h="603504">
                <a:tc>
                  <a:txBody>
                    <a:bodyPr/>
                    <a:lstStyle/>
                    <a:p>
                      <a:r>
                        <a:rPr sz="1050" b="1">
                          <a:solidFill>
                            <a:srgbClr val="1A1A1A"/>
                          </a:solidFill>
                          <a:latin typeface="Meiryo"/>
                          <a:ea typeface="Meiryo"/>
                        </a:rPr>
                        <a:t>+α(無償ご提供)</a:t>
                      </a:r>
                    </a:p>
                  </a:txBody>
                  <a:tcPr anchor="ctr" marL="73152" marR="73152">
                    <a:solidFill>
                      <a:srgbClr val="F2F4F6"/>
                    </a:solidFill>
                  </a:tcPr>
                </a:tc>
                <a:tc>
                  <a:txBody>
                    <a:bodyPr/>
                    <a:lstStyle/>
                    <a:p>
                      <a:r>
                        <a:rPr sz="1050" b="0">
                          <a:solidFill>
                            <a:srgbClr val="1A1A1A"/>
                          </a:solidFill>
                          <a:latin typeface="Meiryo"/>
                          <a:ea typeface="Meiryo"/>
                        </a:rPr>
                        <a:t>アプリゲーム「パズルシュワッチ!!」販促ステッカー</a:t>
                      </a:r>
                    </a:p>
                  </a:txBody>
                  <a:tcPr anchor="ctr" marL="73152" marR="73152">
                    <a:solidFill>
                      <a:srgbClr val="F2F4F6"/>
                    </a:solidFill>
                  </a:tcPr>
                </a:tc>
                <a:tc>
                  <a:txBody>
                    <a:bodyPr/>
                    <a:lstStyle/>
                    <a:p>
                      <a:r>
                        <a:rPr sz="1050" b="1">
                          <a:solidFill>
                            <a:srgbClr val="C00000"/>
                          </a:solidFill>
                          <a:latin typeface="Meiryo"/>
                          <a:ea typeface="Meiryo"/>
                        </a:rPr>
                        <a:t>無償</a:t>
                      </a:r>
                    </a:p>
                  </a:txBody>
                  <a:tcPr anchor="ctr" marL="73152" marR="73152">
                    <a:solidFill>
                      <a:srgbClr val="F2F4F6"/>
                    </a:solidFill>
                  </a:tcPr>
                </a:tc>
                <a:tc>
                  <a:txBody>
                    <a:bodyPr/>
                    <a:lstStyle/>
                    <a:p>
                      <a:r>
                        <a:rPr sz="1050" b="0">
                          <a:solidFill>
                            <a:srgbClr val="1A1A1A"/>
                          </a:solidFill>
                          <a:latin typeface="Meiryo"/>
                          <a:ea typeface="Meiryo"/>
                        </a:rPr>
                        <a:t>数量はご相談ください</a:t>
                      </a:r>
                    </a:p>
                  </a:txBody>
                  <a:tcPr anchor="ctr" marL="73152" marR="73152">
                    <a:solidFill>
                      <a:srgbClr val="F2F4F6"/>
                    </a:solidFill>
                  </a:tcPr>
                </a:tc>
              </a:tr>
            </a:tbl>
          </a:graphicData>
        </a:graphic>
      </p:graphicFrame>
      <p:sp>
        <p:nvSpPr>
          <p:cNvPr id="9" name="Rounded Rectangle 8"/>
          <p:cNvSpPr/>
          <p:nvPr/>
        </p:nvSpPr>
        <p:spPr>
          <a:xfrm>
            <a:off x="640080" y="4617720"/>
            <a:ext cx="10881360" cy="1188720"/>
          </a:xfrm>
          <a:prstGeom prst="roundRect">
            <a:avLst>
              <a:gd name="adj" fmla="val 6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754880"/>
            <a:ext cx="10332720" cy="1005840"/>
          </a:xfrm>
          <a:prstGeom prst="rect">
            <a:avLst/>
          </a:prstGeom>
          <a:noFill/>
        </p:spPr>
        <p:txBody>
          <a:bodyPr wrap="square" anchor="t" lIns="0" rIns="0" tIns="0" bIns="0">
            <a:spAutoFit/>
          </a:bodyPr>
          <a:lstStyle/>
          <a:p>
            <a:pPr algn="l">
              <a:spcAft>
                <a:spcPts val="500"/>
              </a:spcAft>
            </a:pPr>
            <a:r>
              <a:rPr sz="1300" b="1">
                <a:solidFill>
                  <a:srgbClr val="C00000"/>
                </a:solidFill>
                <a:latin typeface="Meiryo"/>
                <a:ea typeface="Meiryo"/>
              </a:rPr>
              <a:t>構成例(5会場・各300名想定)</a:t>
            </a:r>
          </a:p>
          <a:p>
            <a:pPr algn="l">
              <a:spcAft>
                <a:spcPts val="500"/>
              </a:spcAft>
            </a:pPr>
            <a:r>
              <a:rPr sz="1200" b="0">
                <a:solidFill>
                  <a:srgbClr val="1A1A1A"/>
                </a:solidFill>
                <a:latin typeface="Meiryo"/>
                <a:ea typeface="Meiryo"/>
              </a:rPr>
              <a:t>・参加賞:ブースターパック 1,500パック(300パック×5会場) ・上位賞:ソフビ 各会場20体 ・プレミア賞:各会場10個</a:t>
            </a:r>
          </a:p>
          <a:p>
            <a:pPr algn="l">
              <a:spcAft>
                <a:spcPts val="500"/>
              </a:spcAft>
            </a:pPr>
            <a:r>
              <a:rPr sz="1200" b="0">
                <a:solidFill>
                  <a:srgbClr val="1A1A1A"/>
                </a:solidFill>
                <a:latin typeface="Meiryo"/>
                <a:ea typeface="Meiryo"/>
              </a:rPr>
              <a:t>・数量・構成は会場規模に合わせて調整可能です。賞品は当社にてご用意し、事前に会場へお届けします</a:t>
            </a:r>
          </a:p>
        </p:txBody>
      </p:sp>
      <p:sp>
        <p:nvSpPr>
          <p:cNvPr id="11" name="TextBox 10"/>
          <p:cNvSpPr txBox="1"/>
          <p:nvPr/>
        </p:nvSpPr>
        <p:spPr>
          <a:xfrm>
            <a:off x="640080" y="5943600"/>
            <a:ext cx="10881360" cy="411480"/>
          </a:xfrm>
          <a:prstGeom prst="rect">
            <a:avLst/>
          </a:prstGeom>
          <a:noFill/>
        </p:spPr>
        <p:txBody>
          <a:bodyPr wrap="square" anchor="t" lIns="0" rIns="0" tIns="0" bIns="0">
            <a:spAutoFit/>
          </a:bodyPr>
          <a:lstStyle/>
          <a:p>
            <a:pPr algn="l">
              <a:spcAft>
                <a:spcPts val="300"/>
              </a:spcAft>
            </a:pPr>
            <a:r>
              <a:rPr sz="1000" b="0">
                <a:solidFill>
                  <a:srgbClr val="5A626B"/>
                </a:solidFill>
                <a:latin typeface="Meiryo"/>
                <a:ea typeface="Meiryo"/>
              </a:rPr>
              <a:t>※在庫状況により一部商品はご用意できない場合があります。※商品リスト(別添Excel)に写真・仕様・在庫目安を記載しています。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③ テストイベントの実施形式(3形式)</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着ぐるみを用いる2形式に加え、当社既存キットを活用する形式も今期からご提案可能です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4</a:t>
            </a:r>
          </a:p>
        </p:txBody>
      </p:sp>
      <p:graphicFrame>
        <p:nvGraphicFramePr>
          <p:cNvPr id="8" name="Table 7"/>
          <p:cNvGraphicFramePr>
            <a:graphicFrameLocks noGrp="1"/>
          </p:cNvGraphicFramePr>
          <p:nvPr/>
        </p:nvGraphicFramePr>
        <p:xfrm>
          <a:off x="640080" y="1417320"/>
          <a:ext cx="10881359" cy="3401568"/>
        </p:xfrm>
        <a:graphic>
          <a:graphicData uri="http://schemas.openxmlformats.org/drawingml/2006/table">
            <a:tbl>
              <a:tblPr firstRow="1" bandRow="1">
                <a:tableStyleId>{5C22544A-7EE6-4342-B048-85BDC9FD1C3A}</a:tableStyleId>
              </a:tblPr>
              <a:tblGrid>
                <a:gridCol w="1511300"/>
                <a:gridCol w="3123353"/>
                <a:gridCol w="3123353"/>
                <a:gridCol w="3123353"/>
              </a:tblGrid>
              <a:tr h="566928">
                <a:tc>
                  <a:txBody>
                    <a:bodyPr/>
                    <a:lstStyle/>
                    <a:p>
                      <a:r>
                        <a:rPr sz="1050" b="1">
                          <a:solidFill>
                            <a:srgbClr val="FFFFFF"/>
                          </a:solidFill>
                          <a:latin typeface="Meiryo"/>
                          <a:ea typeface="Meiryo"/>
                        </a:rPr>
                        <a:t/>
                      </a:r>
                    </a:p>
                  </a:txBody>
                  <a:tcPr anchor="ctr" marL="73152" marR="73152">
                    <a:solidFill>
                      <a:srgbClr val="232278"/>
                    </a:solidFill>
                  </a:tcPr>
                </a:tc>
                <a:tc>
                  <a:txBody>
                    <a:bodyPr/>
                    <a:lstStyle/>
                    <a:p>
                      <a:r>
                        <a:rPr sz="1050" b="1">
                          <a:solidFill>
                            <a:srgbClr val="FFFFFF"/>
                          </a:solidFill>
                          <a:latin typeface="Meiryo"/>
                          <a:ea typeface="Meiryo"/>
                        </a:rPr>
                        <a:t>S1:写真撮影会型</a:t>
                      </a:r>
                    </a:p>
                  </a:txBody>
                  <a:tcPr anchor="ctr" marL="73152" marR="73152">
                    <a:solidFill>
                      <a:srgbClr val="232278"/>
                    </a:solidFill>
                  </a:tcPr>
                </a:tc>
                <a:tc>
                  <a:txBody>
                    <a:bodyPr/>
                    <a:lstStyle/>
                    <a:p>
                      <a:r>
                        <a:rPr sz="1050" b="1">
                          <a:solidFill>
                            <a:srgbClr val="FFFFFF"/>
                          </a:solidFill>
                          <a:latin typeface="Meiryo"/>
                          <a:ea typeface="Meiryo"/>
                        </a:rPr>
                        <a:t>S2:ステージショー型</a:t>
                      </a:r>
                    </a:p>
                  </a:txBody>
                  <a:tcPr anchor="ctr" marL="73152" marR="73152">
                    <a:solidFill>
                      <a:srgbClr val="232278"/>
                    </a:solidFill>
                  </a:tcPr>
                </a:tc>
                <a:tc>
                  <a:txBody>
                    <a:bodyPr/>
                    <a:lstStyle/>
                    <a:p>
                      <a:r>
                        <a:rPr sz="1050" b="1">
                          <a:solidFill>
                            <a:srgbClr val="FFFFFF"/>
                          </a:solidFill>
                          <a:latin typeface="Meiryo"/>
                          <a:ea typeface="Meiryo"/>
                        </a:rPr>
                        <a:t>S3:イベントキット型</a:t>
                      </a:r>
                    </a:p>
                  </a:txBody>
                  <a:tcPr anchor="ctr" marL="73152" marR="73152">
                    <a:solidFill>
                      <a:srgbClr val="232278"/>
                    </a:solidFill>
                  </a:tcPr>
                </a:tc>
              </a:tr>
              <a:tr h="566928">
                <a:tc>
                  <a:txBody>
                    <a:bodyPr/>
                    <a:lstStyle/>
                    <a:p>
                      <a:r>
                        <a:rPr sz="1050" b="0">
                          <a:solidFill>
                            <a:srgbClr val="1A1A1A"/>
                          </a:solidFill>
                          <a:latin typeface="Meiryo"/>
                          <a:ea typeface="Meiryo"/>
                        </a:rPr>
                        <a:t>内容</a:t>
                      </a:r>
                    </a:p>
                  </a:txBody>
                  <a:tcPr anchor="ctr" marL="73152" marR="73152">
                    <a:solidFill>
                      <a:srgbClr val="FFFFFF"/>
                    </a:solidFill>
                  </a:tcPr>
                </a:tc>
                <a:tc>
                  <a:txBody>
                    <a:bodyPr/>
                    <a:lstStyle/>
                    <a:p>
                      <a:r>
                        <a:rPr sz="1050" b="0">
                          <a:solidFill>
                            <a:srgbClr val="1A1A1A"/>
                          </a:solidFill>
                          <a:latin typeface="Meiryo"/>
                          <a:ea typeface="Meiryo"/>
                        </a:rPr>
                        <a:t>着ぐるみ撮影会・グリーティング(1回30分×1日最大5回)</a:t>
                      </a:r>
                    </a:p>
                  </a:txBody>
                  <a:tcPr anchor="ctr" marL="73152" marR="73152">
                    <a:solidFill>
                      <a:srgbClr val="FFFFFF"/>
                    </a:solidFill>
                  </a:tcPr>
                </a:tc>
                <a:tc>
                  <a:txBody>
                    <a:bodyPr/>
                    <a:lstStyle/>
                    <a:p>
                      <a:r>
                        <a:rPr sz="1050" b="0">
                          <a:solidFill>
                            <a:srgbClr val="1A1A1A"/>
                          </a:solidFill>
                          <a:latin typeface="Meiryo"/>
                          <a:ea typeface="Meiryo"/>
                        </a:rPr>
                        <a:t>2ヒーローショー 1日2回(各約30分)</a:t>
                      </a:r>
                    </a:p>
                  </a:txBody>
                  <a:tcPr anchor="ctr" marL="73152" marR="73152">
                    <a:solidFill>
                      <a:srgbClr val="FFFFFF"/>
                    </a:solidFill>
                  </a:tcPr>
                </a:tc>
                <a:tc>
                  <a:txBody>
                    <a:bodyPr/>
                    <a:lstStyle/>
                    <a:p>
                      <a:r>
                        <a:rPr sz="1050" b="0">
                          <a:solidFill>
                            <a:srgbClr val="1A1A1A"/>
                          </a:solidFill>
                          <a:latin typeface="Meiryo"/>
                          <a:ea typeface="Meiryo"/>
                        </a:rPr>
                        <a:t>当社保有の体験ゲームキット+景品(着ぐるみなし)</a:t>
                      </a:r>
                    </a:p>
                  </a:txBody>
                  <a:tcPr anchor="ctr" marL="73152" marR="73152">
                    <a:solidFill>
                      <a:srgbClr val="FFFFFF"/>
                    </a:solidFill>
                  </a:tcPr>
                </a:tc>
              </a:tr>
              <a:tr h="566928">
                <a:tc>
                  <a:txBody>
                    <a:bodyPr/>
                    <a:lstStyle/>
                    <a:p>
                      <a:r>
                        <a:rPr sz="1050" b="0">
                          <a:solidFill>
                            <a:srgbClr val="1A1A1A"/>
                          </a:solidFill>
                          <a:latin typeface="Meiryo"/>
                          <a:ea typeface="Meiryo"/>
                        </a:rPr>
                        <a:t>単位</a:t>
                      </a:r>
                    </a:p>
                  </a:txBody>
                  <a:tcPr anchor="ctr" marL="73152" marR="73152">
                    <a:solidFill>
                      <a:srgbClr val="F2F4F6"/>
                    </a:solidFill>
                  </a:tcPr>
                </a:tc>
                <a:tc>
                  <a:txBody>
                    <a:bodyPr/>
                    <a:lstStyle/>
                    <a:p>
                      <a:r>
                        <a:rPr sz="1050" b="0">
                          <a:solidFill>
                            <a:srgbClr val="1A1A1A"/>
                          </a:solidFill>
                          <a:latin typeface="Meiryo"/>
                          <a:ea typeface="Meiryo"/>
                        </a:rPr>
                        <a:t>1開催=土日2日間</a:t>
                      </a:r>
                    </a:p>
                  </a:txBody>
                  <a:tcPr anchor="ctr" marL="73152" marR="73152">
                    <a:solidFill>
                      <a:srgbClr val="F2F4F6"/>
                    </a:solidFill>
                  </a:tcPr>
                </a:tc>
                <a:tc>
                  <a:txBody>
                    <a:bodyPr/>
                    <a:lstStyle/>
                    <a:p>
                      <a:r>
                        <a:rPr sz="1050" b="0">
                          <a:solidFill>
                            <a:srgbClr val="1A1A1A"/>
                          </a:solidFill>
                          <a:latin typeface="Meiryo"/>
                          <a:ea typeface="Meiryo"/>
                        </a:rPr>
                        <a:t>1開催=土日2日間</a:t>
                      </a:r>
                    </a:p>
                  </a:txBody>
                  <a:tcPr anchor="ctr" marL="73152" marR="73152">
                    <a:solidFill>
                      <a:srgbClr val="F2F4F6"/>
                    </a:solidFill>
                  </a:tcPr>
                </a:tc>
                <a:tc>
                  <a:txBody>
                    <a:bodyPr/>
                    <a:lstStyle/>
                    <a:p>
                      <a:r>
                        <a:rPr sz="1050" b="0">
                          <a:solidFill>
                            <a:srgbClr val="1A1A1A"/>
                          </a:solidFill>
                          <a:latin typeface="Meiryo"/>
                          <a:ea typeface="Meiryo"/>
                        </a:rPr>
                        <a:t>1日単位</a:t>
                      </a:r>
                    </a:p>
                  </a:txBody>
                  <a:tcPr anchor="ctr" marL="73152" marR="73152">
                    <a:solidFill>
                      <a:srgbClr val="F2F4F6"/>
                    </a:solidFill>
                  </a:tcPr>
                </a:tc>
              </a:tr>
              <a:tr h="566928">
                <a:tc>
                  <a:txBody>
                    <a:bodyPr/>
                    <a:lstStyle/>
                    <a:p>
                      <a:r>
                        <a:rPr sz="1050" b="1">
                          <a:solidFill>
                            <a:srgbClr val="C00000"/>
                          </a:solidFill>
                          <a:latin typeface="Meiryo"/>
                          <a:ea typeface="Meiryo"/>
                        </a:rPr>
                        <a:t>費用</a:t>
                      </a:r>
                    </a:p>
                  </a:txBody>
                  <a:tcPr anchor="ctr" marL="73152" marR="73152">
                    <a:solidFill>
                      <a:srgbClr val="FFFFFF"/>
                    </a:solidFill>
                  </a:tcPr>
                </a:tc>
                <a:tc>
                  <a:txBody>
                    <a:bodyPr/>
                    <a:lstStyle/>
                    <a:p>
                      <a:r>
                        <a:rPr sz="1050" b="1">
                          <a:solidFill>
                            <a:srgbClr val="1A1A1A"/>
                          </a:solidFill>
                          <a:latin typeface="Meiryo"/>
                          <a:ea typeface="Meiryo"/>
                        </a:rPr>
                        <a:t>100万円/開催</a:t>
                      </a:r>
                    </a:p>
                  </a:txBody>
                  <a:tcPr anchor="ctr" marL="73152" marR="73152">
                    <a:solidFill>
                      <a:srgbClr val="FFFFFF"/>
                    </a:solidFill>
                  </a:tcPr>
                </a:tc>
                <a:tc>
                  <a:txBody>
                    <a:bodyPr/>
                    <a:lstStyle/>
                    <a:p>
                      <a:r>
                        <a:rPr sz="1050" b="1">
                          <a:solidFill>
                            <a:srgbClr val="1A1A1A"/>
                          </a:solidFill>
                          <a:latin typeface="Meiryo"/>
                          <a:ea typeface="Meiryo"/>
                        </a:rPr>
                        <a:t>200万円/開催</a:t>
                      </a:r>
                    </a:p>
                  </a:txBody>
                  <a:tcPr anchor="ctr" marL="73152" marR="73152">
                    <a:solidFill>
                      <a:srgbClr val="FFFFFF"/>
                    </a:solidFill>
                  </a:tcPr>
                </a:tc>
                <a:tc>
                  <a:txBody>
                    <a:bodyPr/>
                    <a:lstStyle/>
                    <a:p>
                      <a:r>
                        <a:rPr sz="1050" b="1">
                          <a:solidFill>
                            <a:srgbClr val="1A1A1A"/>
                          </a:solidFill>
                          <a:latin typeface="Meiryo"/>
                          <a:ea typeface="Meiryo"/>
                        </a:rPr>
                        <a:t>約29万円/日(2日で約58万円)+交通運搬実費</a:t>
                      </a:r>
                    </a:p>
                  </a:txBody>
                  <a:tcPr anchor="ctr" marL="73152" marR="73152">
                    <a:solidFill>
                      <a:srgbClr val="FFFFFF"/>
                    </a:solidFill>
                  </a:tcPr>
                </a:tc>
              </a:tr>
              <a:tr h="566928">
                <a:tc>
                  <a:txBody>
                    <a:bodyPr/>
                    <a:lstStyle/>
                    <a:p>
                      <a:r>
                        <a:rPr sz="1050" b="0">
                          <a:solidFill>
                            <a:srgbClr val="1A1A1A"/>
                          </a:solidFill>
                          <a:latin typeface="Meiryo"/>
                          <a:ea typeface="Meiryo"/>
                        </a:rPr>
                        <a:t>含まれるもの</a:t>
                      </a:r>
                    </a:p>
                  </a:txBody>
                  <a:tcPr anchor="ctr" marL="73152" marR="73152">
                    <a:solidFill>
                      <a:srgbClr val="F2F4F6"/>
                    </a:solidFill>
                  </a:tcPr>
                </a:tc>
                <a:tc>
                  <a:txBody>
                    <a:bodyPr/>
                    <a:lstStyle/>
                    <a:p>
                      <a:r>
                        <a:rPr sz="1050" b="0">
                          <a:solidFill>
                            <a:srgbClr val="1A1A1A"/>
                          </a:solidFill>
                          <a:latin typeface="Meiryo"/>
                          <a:ea typeface="Meiryo"/>
                        </a:rPr>
                        <a:t>IP利用・監修・スーツアクター・運搬</a:t>
                      </a:r>
                    </a:p>
                  </a:txBody>
                  <a:tcPr anchor="ctr" marL="73152" marR="73152">
                    <a:solidFill>
                      <a:srgbClr val="F2F4F6"/>
                    </a:solidFill>
                  </a:tcPr>
                </a:tc>
                <a:tc>
                  <a:txBody>
                    <a:bodyPr/>
                    <a:lstStyle/>
                    <a:p>
                      <a:r>
                        <a:rPr sz="1050" b="0">
                          <a:solidFill>
                            <a:srgbClr val="1A1A1A"/>
                          </a:solidFill>
                          <a:latin typeface="Meiryo"/>
                          <a:ea typeface="Meiryo"/>
                        </a:rPr>
                        <a:t>9名編成・音響機材・テント・運営5名・諸経費・交通運搬</a:t>
                      </a:r>
                    </a:p>
                  </a:txBody>
                  <a:tcPr anchor="ctr" marL="73152" marR="73152">
                    <a:solidFill>
                      <a:srgbClr val="F2F4F6"/>
                    </a:solidFill>
                  </a:tcPr>
                </a:tc>
                <a:tc>
                  <a:txBody>
                    <a:bodyPr/>
                    <a:lstStyle/>
                    <a:p>
                      <a:r>
                        <a:rPr sz="1050" b="0">
                          <a:solidFill>
                            <a:srgbClr val="1A1A1A"/>
                          </a:solidFill>
                          <a:latin typeface="Meiryo"/>
                          <a:ea typeface="Meiryo"/>
                        </a:rPr>
                        <a:t>キット一式・運営スタッフ4名・諸経費(テント要否別途3万円/日)</a:t>
                      </a:r>
                    </a:p>
                  </a:txBody>
                  <a:tcPr anchor="ctr" marL="73152" marR="73152">
                    <a:solidFill>
                      <a:srgbClr val="F2F4F6"/>
                    </a:solidFill>
                  </a:tcPr>
                </a:tc>
              </a:tr>
              <a:tr h="566928">
                <a:tc>
                  <a:txBody>
                    <a:bodyPr/>
                    <a:lstStyle/>
                    <a:p>
                      <a:r>
                        <a:rPr sz="1050" b="0">
                          <a:solidFill>
                            <a:srgbClr val="1A1A1A"/>
                          </a:solidFill>
                          <a:latin typeface="Meiryo"/>
                          <a:ea typeface="Meiryo"/>
                        </a:rPr>
                        <a:t>貴社側ご負担</a:t>
                      </a:r>
                    </a:p>
                  </a:txBody>
                  <a:tcPr anchor="ctr" marL="73152" marR="73152">
                    <a:solidFill>
                      <a:srgbClr val="FFFFFF"/>
                    </a:solidFill>
                  </a:tcPr>
                </a:tc>
                <a:tc>
                  <a:txBody>
                    <a:bodyPr/>
                    <a:lstStyle/>
                    <a:p>
                      <a:r>
                        <a:rPr sz="1050" b="0">
                          <a:solidFill>
                            <a:srgbClr val="1A1A1A"/>
                          </a:solidFill>
                          <a:latin typeface="Meiryo"/>
                          <a:ea typeface="Meiryo"/>
                        </a:rPr>
                        <a:t>会場手配・集客告知・当日誘導</a:t>
                      </a:r>
                    </a:p>
                  </a:txBody>
                  <a:tcPr anchor="ctr" marL="73152" marR="73152">
                    <a:solidFill>
                      <a:srgbClr val="FFFFFF"/>
                    </a:solidFill>
                  </a:tcPr>
                </a:tc>
                <a:tc>
                  <a:txBody>
                    <a:bodyPr/>
                    <a:lstStyle/>
                    <a:p>
                      <a:r>
                        <a:rPr sz="1050" b="0">
                          <a:solidFill>
                            <a:srgbClr val="1A1A1A"/>
                          </a:solidFill>
                          <a:latin typeface="Meiryo"/>
                          <a:ea typeface="Meiryo"/>
                        </a:rPr>
                        <a:t>同左+ステージ(会場既設 or 施工50〜80万円〜)</a:t>
                      </a:r>
                    </a:p>
                  </a:txBody>
                  <a:tcPr anchor="ctr" marL="73152" marR="73152">
                    <a:solidFill>
                      <a:srgbClr val="FFFFFF"/>
                    </a:solidFill>
                  </a:tcPr>
                </a:tc>
                <a:tc>
                  <a:txBody>
                    <a:bodyPr/>
                    <a:lstStyle/>
                    <a:p>
                      <a:r>
                        <a:rPr sz="1050" b="0">
                          <a:solidFill>
                            <a:srgbClr val="1A1A1A"/>
                          </a:solidFill>
                          <a:latin typeface="Meiryo"/>
                          <a:ea typeface="Meiryo"/>
                        </a:rPr>
                        <a:t>会場手配・集客告知</a:t>
                      </a:r>
                    </a:p>
                  </a:txBody>
                  <a:tcPr anchor="ctr" marL="73152" marR="73152">
                    <a:solidFill>
                      <a:srgbClr val="FFFFFF"/>
                    </a:solidFill>
                  </a:tcPr>
                </a:tc>
              </a:tr>
            </a:tbl>
          </a:graphicData>
        </a:graphic>
      </p:graphicFrame>
      <p:sp>
        <p:nvSpPr>
          <p:cNvPr id="9" name="TextBox 8"/>
          <p:cNvSpPr txBox="1"/>
          <p:nvPr/>
        </p:nvSpPr>
        <p:spPr>
          <a:xfrm>
            <a:off x="640080" y="4892040"/>
            <a:ext cx="10881360" cy="1188720"/>
          </a:xfrm>
          <a:prstGeom prst="rect">
            <a:avLst/>
          </a:prstGeom>
          <a:noFill/>
        </p:spPr>
        <p:txBody>
          <a:bodyPr wrap="square" anchor="t" lIns="0" rIns="0" tIns="0" bIns="0">
            <a:spAutoFit/>
          </a:bodyPr>
          <a:lstStyle/>
          <a:p>
            <a:pPr algn="l">
              <a:spcAft>
                <a:spcPts val="400"/>
              </a:spcAft>
            </a:pPr>
            <a:r>
              <a:rPr sz="1250" b="1">
                <a:solidFill>
                  <a:srgbClr val="C00000"/>
                </a:solidFill>
                <a:latin typeface="Meiryo"/>
                <a:ea typeface="Meiryo"/>
              </a:rPr>
              <a:t>推奨プラン:</a:t>
            </a:r>
            <a:r>
              <a:rPr sz="1250" b="0">
                <a:solidFill>
                  <a:srgbClr val="1A1A1A"/>
                </a:solidFill>
                <a:latin typeface="Meiryo"/>
                <a:ea typeface="Meiryo"/>
              </a:rPr>
              <a:t>エリア・施設タイプの異なる5会場でS1を実施(総額500万円・IP利用込み)+1〜2会場でS2またはS3をオプション実施。</a:t>
            </a:r>
          </a:p>
          <a:p>
            <a:pPr algn="l">
              <a:spcAft>
                <a:spcPts val="400"/>
              </a:spcAft>
            </a:pPr>
            <a:r>
              <a:rPr sz="1100" b="0">
                <a:solidFill>
                  <a:srgbClr val="5A626B"/>
                </a:solidFill>
                <a:latin typeface="Meiryo"/>
                <a:ea typeface="Meiryo"/>
              </a:rPr>
              <a:t>※S3は当社の既存保有キットを活用するため今期実施が可能です(貴社仕様での新規キット製作を伴うテストは来年度からのご提案)。</a:t>
            </a:r>
          </a:p>
          <a:p>
            <a:pPr algn="l">
              <a:spcAft>
                <a:spcPts val="400"/>
              </a:spcAft>
            </a:pPr>
            <a:r>
              <a:rPr sz="1050" b="0">
                <a:solidFill>
                  <a:srgbClr val="5A626B"/>
                </a:solidFill>
                <a:latin typeface="Meiryo"/>
                <a:ea typeface="Meiryo"/>
              </a:rPr>
              <a:t>※S2のショー終了後の撮影会の組み込みは、会場条件により個別にご相談させてください。※いずれも駐車場・スタッフ控室のご用意を会場様とご相談ください。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③-1 イベントキット型(S3)の内容と費用</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当社保有の体験ゲームキットを活用した店頭・商業施設イベントです(1日単位・着ぐるみなし)</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5</a:t>
            </a:r>
          </a:p>
        </p:txBody>
      </p:sp>
      <p:sp>
        <p:nvSpPr>
          <p:cNvPr id="8" name="TextBox 7"/>
          <p:cNvSpPr txBox="1"/>
          <p:nvPr/>
        </p:nvSpPr>
        <p:spPr>
          <a:xfrm>
            <a:off x="640080" y="1417320"/>
            <a:ext cx="5394960" cy="3017520"/>
          </a:xfrm>
          <a:prstGeom prst="rect">
            <a:avLst/>
          </a:prstGeom>
          <a:noFill/>
        </p:spPr>
        <p:txBody>
          <a:bodyPr wrap="square" anchor="t" lIns="0" rIns="0" tIns="0" bIns="0">
            <a:spAutoFit/>
          </a:bodyPr>
          <a:lstStyle/>
          <a:p>
            <a:pPr algn="l">
              <a:spcAft>
                <a:spcPts val="500"/>
              </a:spcAft>
            </a:pPr>
            <a:r>
              <a:rPr sz="1350" b="1">
                <a:solidFill>
                  <a:srgbClr val="C00000"/>
                </a:solidFill>
                <a:latin typeface="Meiryo"/>
                <a:ea typeface="Meiryo"/>
              </a:rPr>
              <a:t>キット構成</a:t>
            </a:r>
          </a:p>
          <a:p>
            <a:pPr algn="l">
              <a:spcAft>
                <a:spcPts val="500"/>
              </a:spcAft>
            </a:pPr>
            <a:r>
              <a:rPr sz="1200" b="0">
                <a:solidFill>
                  <a:srgbClr val="1A1A1A"/>
                </a:solidFill>
                <a:latin typeface="Meiryo"/>
                <a:ea typeface="Meiryo"/>
              </a:rPr>
              <a:t>・体験ゲーム(3種の内1種)+装飾アイテムセット</a:t>
            </a:r>
          </a:p>
          <a:p>
            <a:pPr algn="l">
              <a:spcAft>
                <a:spcPts val="500"/>
              </a:spcAft>
            </a:pPr>
            <a:r>
              <a:rPr sz="1200" b="0">
                <a:solidFill>
                  <a:srgbClr val="1A1A1A"/>
                </a:solidFill>
                <a:latin typeface="Meiryo"/>
                <a:ea typeface="Meiryo"/>
              </a:rPr>
              <a:t>・ゲーム説明用パネル(1枚)</a:t>
            </a:r>
          </a:p>
          <a:p>
            <a:pPr algn="l">
              <a:spcAft>
                <a:spcPts val="500"/>
              </a:spcAft>
            </a:pPr>
            <a:r>
              <a:rPr sz="1200" b="0">
                <a:solidFill>
                  <a:srgbClr val="1A1A1A"/>
                </a:solidFill>
                <a:latin typeface="Meiryo"/>
                <a:ea typeface="Meiryo"/>
              </a:rPr>
              <a:t>・テーブルクロス(ビニールカバー付き):3セット</a:t>
            </a:r>
          </a:p>
          <a:p>
            <a:pPr algn="l">
              <a:spcAft>
                <a:spcPts val="500"/>
              </a:spcAft>
            </a:pPr>
            <a:r>
              <a:rPr sz="1200" b="0">
                <a:solidFill>
                  <a:srgbClr val="1A1A1A"/>
                </a:solidFill>
                <a:latin typeface="Meiryo"/>
                <a:ea typeface="Meiryo"/>
              </a:rPr>
              <a:t>・景品:「修了証」ステッカー 200枚</a:t>
            </a:r>
          </a:p>
          <a:p>
            <a:pPr algn="l">
              <a:spcAft>
                <a:spcPts val="500"/>
              </a:spcAft>
            </a:pPr>
            <a:r>
              <a:rPr sz="1200" b="0">
                <a:solidFill>
                  <a:srgbClr val="1A1A1A"/>
                </a:solidFill>
                <a:latin typeface="Meiryo"/>
                <a:ea typeface="Meiryo"/>
              </a:rPr>
              <a:t>・会場装飾用バナー:いずれか1種</a:t>
            </a:r>
          </a:p>
          <a:p>
            <a:pPr algn="l">
              <a:spcAft>
                <a:spcPts val="500"/>
              </a:spcAft>
            </a:pPr>
            <a:r>
              <a:rPr sz="800" b="0">
                <a:solidFill>
                  <a:srgbClr val="1A1A1A"/>
                </a:solidFill>
                <a:latin typeface="Meiryo"/>
                <a:ea typeface="Meiryo"/>
              </a:rPr>
              <a:t/>
            </a:r>
          </a:p>
          <a:p>
            <a:pPr algn="l">
              <a:spcAft>
                <a:spcPts val="500"/>
              </a:spcAft>
            </a:pPr>
            <a:r>
              <a:rPr sz="1350" b="1">
                <a:solidFill>
                  <a:srgbClr val="C00000"/>
                </a:solidFill>
                <a:latin typeface="Meiryo"/>
                <a:ea typeface="Meiryo"/>
              </a:rPr>
              <a:t>装飾バナーについて</a:t>
            </a:r>
          </a:p>
          <a:p>
            <a:pPr algn="l">
              <a:spcAft>
                <a:spcPts val="500"/>
              </a:spcAft>
            </a:pPr>
            <a:r>
              <a:rPr sz="1150" b="0">
                <a:solidFill>
                  <a:srgbClr val="1A1A1A"/>
                </a:solidFill>
                <a:latin typeface="Meiryo"/>
                <a:ea typeface="Meiryo"/>
              </a:rPr>
              <a:t>・バナーは骨組み付きで、当社運営スタッフが設営いたします</a:t>
            </a:r>
          </a:p>
          <a:p>
            <a:pPr algn="l">
              <a:spcAft>
                <a:spcPts val="500"/>
              </a:spcAft>
            </a:pPr>
            <a:r>
              <a:rPr sz="1150" b="0">
                <a:solidFill>
                  <a:srgbClr val="1A1A1A"/>
                </a:solidFill>
                <a:latin typeface="Meiryo"/>
                <a:ea typeface="Meiryo"/>
              </a:rPr>
              <a:t>・テント用横幕は骨組みがないため、固定できる場所がある場合に設置可能です</a:t>
            </a:r>
          </a:p>
        </p:txBody>
      </p:sp>
      <p:graphicFrame>
        <p:nvGraphicFramePr>
          <p:cNvPr id="9" name="Table 8"/>
          <p:cNvGraphicFramePr>
            <a:graphicFrameLocks noGrp="1"/>
          </p:cNvGraphicFramePr>
          <p:nvPr/>
        </p:nvGraphicFramePr>
        <p:xfrm>
          <a:off x="6309360" y="1463040"/>
          <a:ext cx="5212079" cy="3840480"/>
        </p:xfrm>
        <a:graphic>
          <a:graphicData uri="http://schemas.openxmlformats.org/drawingml/2006/table">
            <a:tbl>
              <a:tblPr firstRow="1" bandRow="1">
                <a:tableStyleId>{5C22544A-7EE6-4342-B048-85BDC9FD1C3A}</a:tableStyleId>
              </a:tblPr>
              <a:tblGrid>
                <a:gridCol w="3239941"/>
                <a:gridCol w="1972138"/>
              </a:tblGrid>
              <a:tr h="548640">
                <a:tc>
                  <a:txBody>
                    <a:bodyPr/>
                    <a:lstStyle/>
                    <a:p>
                      <a:r>
                        <a:rPr sz="1100" b="1">
                          <a:solidFill>
                            <a:srgbClr val="FFFFFF"/>
                          </a:solidFill>
                          <a:latin typeface="Meiryo"/>
                          <a:ea typeface="Meiryo"/>
                        </a:rPr>
                        <a:t>項目</a:t>
                      </a:r>
                    </a:p>
                  </a:txBody>
                  <a:tcPr anchor="ctr" marL="73152" marR="73152">
                    <a:solidFill>
                      <a:srgbClr val="232278"/>
                    </a:solidFill>
                  </a:tcPr>
                </a:tc>
                <a:tc>
                  <a:txBody>
                    <a:bodyPr/>
                    <a:lstStyle/>
                    <a:p>
                      <a:r>
                        <a:rPr sz="1100" b="1">
                          <a:solidFill>
                            <a:srgbClr val="FFFFFF"/>
                          </a:solidFill>
                          <a:latin typeface="Meiryo"/>
                          <a:ea typeface="Meiryo"/>
                        </a:rPr>
                        <a:t>費用(税別)</a:t>
                      </a:r>
                    </a:p>
                  </a:txBody>
                  <a:tcPr anchor="ctr" marL="73152" marR="73152">
                    <a:solidFill>
                      <a:srgbClr val="232278"/>
                    </a:solidFill>
                  </a:tcPr>
                </a:tc>
              </a:tr>
              <a:tr h="548640">
                <a:tc>
                  <a:txBody>
                    <a:bodyPr/>
                    <a:lstStyle/>
                    <a:p>
                      <a:r>
                        <a:rPr sz="1100" b="0">
                          <a:solidFill>
                            <a:srgbClr val="1A1A1A"/>
                          </a:solidFill>
                          <a:latin typeface="Meiryo"/>
                          <a:ea typeface="Meiryo"/>
                        </a:rPr>
                        <a:t>① キット一式</a:t>
                      </a:r>
                    </a:p>
                  </a:txBody>
                  <a:tcPr anchor="ctr" marL="73152" marR="73152">
                    <a:solidFill>
                      <a:srgbClr val="FFFFFF"/>
                    </a:solidFill>
                  </a:tcPr>
                </a:tc>
                <a:tc>
                  <a:txBody>
                    <a:bodyPr/>
                    <a:lstStyle/>
                    <a:p>
                      <a:r>
                        <a:rPr sz="1100" b="0">
                          <a:solidFill>
                            <a:srgbClr val="1A1A1A"/>
                          </a:solidFill>
                          <a:latin typeface="Meiryo"/>
                          <a:ea typeface="Meiryo"/>
                        </a:rPr>
                        <a:t>15万円/1日</a:t>
                      </a:r>
                    </a:p>
                  </a:txBody>
                  <a:tcPr anchor="ctr" marL="73152" marR="73152">
                    <a:solidFill>
                      <a:srgbClr val="FFFFFF"/>
                    </a:solidFill>
                  </a:tcPr>
                </a:tc>
              </a:tr>
              <a:tr h="548640">
                <a:tc>
                  <a:txBody>
                    <a:bodyPr/>
                    <a:lstStyle/>
                    <a:p>
                      <a:r>
                        <a:rPr sz="1100" b="0">
                          <a:solidFill>
                            <a:srgbClr val="1A1A1A"/>
                          </a:solidFill>
                          <a:latin typeface="Meiryo"/>
                          <a:ea typeface="Meiryo"/>
                        </a:rPr>
                        <a:t>② 運営スタッフ4名(ディレクター1名+スタッフ3名)</a:t>
                      </a:r>
                    </a:p>
                  </a:txBody>
                  <a:tcPr anchor="ctr" marL="73152" marR="73152">
                    <a:solidFill>
                      <a:srgbClr val="F2F4F6"/>
                    </a:solidFill>
                  </a:tcPr>
                </a:tc>
                <a:tc>
                  <a:txBody>
                    <a:bodyPr/>
                    <a:lstStyle/>
                    <a:p>
                      <a:r>
                        <a:rPr sz="1100" b="0">
                          <a:solidFill>
                            <a:srgbClr val="1A1A1A"/>
                          </a:solidFill>
                          <a:latin typeface="Meiryo"/>
                          <a:ea typeface="Meiryo"/>
                        </a:rPr>
                        <a:t>9万円/1日</a:t>
                      </a:r>
                    </a:p>
                  </a:txBody>
                  <a:tcPr anchor="ctr" marL="73152" marR="73152">
                    <a:solidFill>
                      <a:srgbClr val="F2F4F6"/>
                    </a:solidFill>
                  </a:tcPr>
                </a:tc>
              </a:tr>
              <a:tr h="548640">
                <a:tc>
                  <a:txBody>
                    <a:bodyPr/>
                    <a:lstStyle/>
                    <a:p>
                      <a:r>
                        <a:rPr sz="1100" b="0">
                          <a:solidFill>
                            <a:srgbClr val="1A1A1A"/>
                          </a:solidFill>
                          <a:latin typeface="Meiryo"/>
                          <a:ea typeface="Meiryo"/>
                        </a:rPr>
                        <a:t>③ 現場諸経費</a:t>
                      </a:r>
                    </a:p>
                  </a:txBody>
                  <a:tcPr anchor="ctr" marL="73152" marR="73152">
                    <a:solidFill>
                      <a:srgbClr val="FFFFFF"/>
                    </a:solidFill>
                  </a:tcPr>
                </a:tc>
                <a:tc>
                  <a:txBody>
                    <a:bodyPr/>
                    <a:lstStyle/>
                    <a:p>
                      <a:r>
                        <a:rPr sz="1100" b="0">
                          <a:solidFill>
                            <a:srgbClr val="1A1A1A"/>
                          </a:solidFill>
                          <a:latin typeface="Meiryo"/>
                          <a:ea typeface="Meiryo"/>
                        </a:rPr>
                        <a:t>2万円/1日</a:t>
                      </a:r>
                    </a:p>
                  </a:txBody>
                  <a:tcPr anchor="ctr" marL="73152" marR="73152">
                    <a:solidFill>
                      <a:srgbClr val="FFFFFF"/>
                    </a:solidFill>
                  </a:tcPr>
                </a:tc>
              </a:tr>
              <a:tr h="548640">
                <a:tc>
                  <a:txBody>
                    <a:bodyPr/>
                    <a:lstStyle/>
                    <a:p>
                      <a:r>
                        <a:rPr sz="1100" b="0">
                          <a:solidFill>
                            <a:srgbClr val="1A1A1A"/>
                          </a:solidFill>
                          <a:latin typeface="Meiryo"/>
                          <a:ea typeface="Meiryo"/>
                        </a:rPr>
                        <a:t>④ 交通運搬費(車両・ガソリン・高速・ツール運搬)</a:t>
                      </a:r>
                    </a:p>
                  </a:txBody>
                  <a:tcPr anchor="ctr" marL="73152" marR="73152">
                    <a:solidFill>
                      <a:srgbClr val="F2F4F6"/>
                    </a:solidFill>
                  </a:tcPr>
                </a:tc>
                <a:tc>
                  <a:txBody>
                    <a:bodyPr/>
                    <a:lstStyle/>
                    <a:p>
                      <a:r>
                        <a:rPr sz="1100" b="0">
                          <a:solidFill>
                            <a:srgbClr val="1A1A1A"/>
                          </a:solidFill>
                          <a:latin typeface="Meiryo"/>
                          <a:ea typeface="Meiryo"/>
                        </a:rPr>
                        <a:t>実費(会場確定後お見積り)</a:t>
                      </a:r>
                    </a:p>
                  </a:txBody>
                  <a:tcPr anchor="ctr" marL="73152" marR="73152">
                    <a:solidFill>
                      <a:srgbClr val="F2F4F6"/>
                    </a:solidFill>
                  </a:tcPr>
                </a:tc>
              </a:tr>
              <a:tr h="548640">
                <a:tc>
                  <a:txBody>
                    <a:bodyPr/>
                    <a:lstStyle/>
                    <a:p>
                      <a:r>
                        <a:rPr sz="1100" b="0">
                          <a:solidFill>
                            <a:srgbClr val="1A1A1A"/>
                          </a:solidFill>
                          <a:latin typeface="Meiryo"/>
                          <a:ea typeface="Meiryo"/>
                        </a:rPr>
                        <a:t>⑤ テント(必要な場合)</a:t>
                      </a:r>
                    </a:p>
                  </a:txBody>
                  <a:tcPr anchor="ctr" marL="73152" marR="73152">
                    <a:solidFill>
                      <a:srgbClr val="FFFFFF"/>
                    </a:solidFill>
                  </a:tcPr>
                </a:tc>
                <a:tc>
                  <a:txBody>
                    <a:bodyPr/>
                    <a:lstStyle/>
                    <a:p>
                      <a:r>
                        <a:rPr sz="1100" b="0">
                          <a:solidFill>
                            <a:srgbClr val="1A1A1A"/>
                          </a:solidFill>
                          <a:latin typeface="Meiryo"/>
                          <a:ea typeface="Meiryo"/>
                        </a:rPr>
                        <a:t>3万円/1日</a:t>
                      </a:r>
                    </a:p>
                  </a:txBody>
                  <a:tcPr anchor="ctr" marL="73152" marR="73152">
                    <a:solidFill>
                      <a:srgbClr val="FFFFFF"/>
                    </a:solidFill>
                  </a:tcPr>
                </a:tc>
              </a:tr>
              <a:tr h="548640">
                <a:tc>
                  <a:txBody>
                    <a:bodyPr/>
                    <a:lstStyle/>
                    <a:p>
                      <a:r>
                        <a:rPr sz="1100" b="1">
                          <a:solidFill>
                            <a:srgbClr val="1A1A1A"/>
                          </a:solidFill>
                          <a:latin typeface="Meiryo"/>
                          <a:ea typeface="Meiryo"/>
                        </a:rPr>
                        <a:t>合計目安(テント含む)</a:t>
                      </a:r>
                    </a:p>
                  </a:txBody>
                  <a:tcPr anchor="ctr" marL="73152" marR="73152">
                    <a:solidFill>
                      <a:srgbClr val="F2F4F6"/>
                    </a:solidFill>
                  </a:tcPr>
                </a:tc>
                <a:tc>
                  <a:txBody>
                    <a:bodyPr/>
                    <a:lstStyle/>
                    <a:p>
                      <a:r>
                        <a:rPr sz="1100" b="1">
                          <a:solidFill>
                            <a:srgbClr val="C00000"/>
                          </a:solidFill>
                          <a:latin typeface="Meiryo"/>
                          <a:ea typeface="Meiryo"/>
                        </a:rPr>
                        <a:t>約29万円/1日+④実費</a:t>
                      </a:r>
                    </a:p>
                  </a:txBody>
                  <a:tcPr anchor="ctr" marL="73152" marR="73152">
                    <a:solidFill>
                      <a:srgbClr val="F2F4F6"/>
                    </a:solidFill>
                  </a:tcPr>
                </a:tc>
              </a:tr>
            </a:tbl>
          </a:graphicData>
        </a:graphic>
      </p:graphicFrame>
      <p:sp>
        <p:nvSpPr>
          <p:cNvPr id="10" name="TextBox 9"/>
          <p:cNvSpPr txBox="1"/>
          <p:nvPr/>
        </p:nvSpPr>
        <p:spPr>
          <a:xfrm>
            <a:off x="640080" y="5760720"/>
            <a:ext cx="10881360" cy="457200"/>
          </a:xfrm>
          <a:prstGeom prst="rect">
            <a:avLst/>
          </a:prstGeom>
          <a:noFill/>
        </p:spPr>
        <p:txBody>
          <a:bodyPr wrap="square" anchor="t" lIns="0" rIns="0" tIns="0" bIns="0">
            <a:spAutoFit/>
          </a:bodyPr>
          <a:lstStyle/>
          <a:p>
            <a:pPr algn="l">
              <a:spcAft>
                <a:spcPts val="300"/>
              </a:spcAft>
            </a:pPr>
            <a:r>
              <a:rPr sz="1050" b="0">
                <a:solidFill>
                  <a:srgbClr val="5A626B"/>
                </a:solidFill>
                <a:latin typeface="Meiryo"/>
                <a:ea typeface="Meiryo"/>
              </a:rPr>
              <a:t>※土日2日間の実施の場合:約58万円+交通運搬実費が目安です。※駐車場・スタッフ控室のご用意を会場様とご相談ください。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③-2 ステージショー型(S2)の内容と費用</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2ヒーローショーのフルパッケージです(200万円/開催・土日2日間)</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6</a:t>
            </a:r>
          </a:p>
        </p:txBody>
      </p:sp>
      <p:sp>
        <p:nvSpPr>
          <p:cNvPr id="8" name="TextBox 7"/>
          <p:cNvSpPr txBox="1"/>
          <p:nvPr/>
        </p:nvSpPr>
        <p:spPr>
          <a:xfrm>
            <a:off x="640080" y="1417320"/>
            <a:ext cx="5394960" cy="3931920"/>
          </a:xfrm>
          <a:prstGeom prst="rect">
            <a:avLst/>
          </a:prstGeom>
          <a:noFill/>
        </p:spPr>
        <p:txBody>
          <a:bodyPr wrap="square" anchor="t" lIns="0" rIns="0" tIns="0" bIns="0">
            <a:spAutoFit/>
          </a:bodyPr>
          <a:lstStyle/>
          <a:p>
            <a:pPr algn="l">
              <a:spcAft>
                <a:spcPts val="500"/>
              </a:spcAft>
            </a:pPr>
            <a:r>
              <a:rPr sz="1350" b="1">
                <a:solidFill>
                  <a:srgbClr val="C00000"/>
                </a:solidFill>
                <a:latin typeface="Meiryo"/>
                <a:ea typeface="Meiryo"/>
              </a:rPr>
              <a:t>200万円に含まれるもの</a:t>
            </a:r>
          </a:p>
          <a:p>
            <a:pPr algn="l">
              <a:spcAft>
                <a:spcPts val="500"/>
              </a:spcAft>
            </a:pPr>
            <a:r>
              <a:rPr sz="1200" b="0">
                <a:solidFill>
                  <a:srgbClr val="1A1A1A"/>
                </a:solidFill>
                <a:latin typeface="Meiryo"/>
                <a:ea typeface="Meiryo"/>
              </a:rPr>
              <a:t>・2ヒーローショーのパッケージ:1日2回(11時〜/14時〜推奨・各約30分)</a:t>
            </a:r>
          </a:p>
          <a:p>
            <a:pPr algn="l">
              <a:spcAft>
                <a:spcPts val="500"/>
              </a:spcAft>
            </a:pPr>
            <a:r>
              <a:rPr sz="1200" b="0">
                <a:solidFill>
                  <a:srgbClr val="1A1A1A"/>
                </a:solidFill>
                <a:latin typeface="Meiryo"/>
                <a:ea typeface="Meiryo"/>
              </a:rPr>
              <a:t>・出演:ウルトラマン2体/怪獣3〜4体</a:t>
            </a:r>
          </a:p>
          <a:p>
            <a:pPr algn="l">
              <a:spcAft>
                <a:spcPts val="500"/>
              </a:spcAft>
            </a:pPr>
            <a:r>
              <a:rPr sz="1200" b="0">
                <a:solidFill>
                  <a:srgbClr val="1A1A1A"/>
                </a:solidFill>
                <a:latin typeface="Meiryo"/>
                <a:ea typeface="Meiryo"/>
              </a:rPr>
              <a:t>・スタッフ:チーフ1名+アクター6名+MC+PAオペレーター(計9名)</a:t>
            </a:r>
          </a:p>
          <a:p>
            <a:pPr algn="l">
              <a:spcAft>
                <a:spcPts val="500"/>
              </a:spcAft>
            </a:pPr>
            <a:r>
              <a:rPr sz="1200" b="0">
                <a:solidFill>
                  <a:srgbClr val="1A1A1A"/>
                </a:solidFill>
                <a:latin typeface="Meiryo"/>
                <a:ea typeface="Meiryo"/>
              </a:rPr>
              <a:t>・音響機材・テント</a:t>
            </a:r>
          </a:p>
          <a:p>
            <a:pPr algn="l">
              <a:spcAft>
                <a:spcPts val="500"/>
              </a:spcAft>
            </a:pPr>
            <a:r>
              <a:rPr sz="1200" b="0">
                <a:solidFill>
                  <a:srgbClr val="1A1A1A"/>
                </a:solidFill>
                <a:latin typeface="Meiryo"/>
                <a:ea typeface="Meiryo"/>
              </a:rPr>
              <a:t>・運営スタッフ5名(ディレクター1名+スタッフ4名)</a:t>
            </a:r>
          </a:p>
          <a:p>
            <a:pPr algn="l">
              <a:spcAft>
                <a:spcPts val="500"/>
              </a:spcAft>
            </a:pPr>
            <a:r>
              <a:rPr sz="1200" b="0">
                <a:solidFill>
                  <a:srgbClr val="1A1A1A"/>
                </a:solidFill>
                <a:latin typeface="Meiryo"/>
                <a:ea typeface="Meiryo"/>
              </a:rPr>
              <a:t>・現場諸経費・交通運搬費</a:t>
            </a:r>
          </a:p>
        </p:txBody>
      </p:sp>
      <p:sp>
        <p:nvSpPr>
          <p:cNvPr id="9" name="TextBox 8"/>
          <p:cNvSpPr txBox="1"/>
          <p:nvPr/>
        </p:nvSpPr>
        <p:spPr>
          <a:xfrm>
            <a:off x="6309360" y="1417320"/>
            <a:ext cx="5212080" cy="4114800"/>
          </a:xfrm>
          <a:prstGeom prst="rect">
            <a:avLst/>
          </a:prstGeom>
          <a:noFill/>
        </p:spPr>
        <p:txBody>
          <a:bodyPr wrap="square" anchor="t" lIns="0" rIns="0" tIns="0" bIns="0">
            <a:spAutoFit/>
          </a:bodyPr>
          <a:lstStyle/>
          <a:p>
            <a:pPr algn="l">
              <a:spcAft>
                <a:spcPts val="500"/>
              </a:spcAft>
            </a:pPr>
            <a:r>
              <a:rPr sz="1350" b="1">
                <a:solidFill>
                  <a:srgbClr val="C00000"/>
                </a:solidFill>
                <a:latin typeface="Meiryo"/>
                <a:ea typeface="Meiryo"/>
              </a:rPr>
              <a:t>ステージ・会場について</a:t>
            </a:r>
          </a:p>
          <a:p>
            <a:pPr algn="l">
              <a:spcAft>
                <a:spcPts val="500"/>
              </a:spcAft>
            </a:pPr>
            <a:r>
              <a:rPr sz="1150" b="0">
                <a:solidFill>
                  <a:srgbClr val="1A1A1A"/>
                </a:solidFill>
                <a:latin typeface="Meiryo"/>
                <a:ea typeface="Meiryo"/>
              </a:rPr>
              <a:t>・会場様のお持ちのステージ、または会場ご指定の施工会社様の手配が一般的です。ステージなしでの実施も可能です</a:t>
            </a:r>
          </a:p>
          <a:p>
            <a:pPr algn="l">
              <a:spcAft>
                <a:spcPts val="500"/>
              </a:spcAft>
            </a:pPr>
            <a:r>
              <a:rPr sz="1150" b="0">
                <a:solidFill>
                  <a:srgbClr val="1A1A1A"/>
                </a:solidFill>
                <a:latin typeface="Meiryo"/>
                <a:ea typeface="Meiryo"/>
              </a:rPr>
              <a:t>・ステージを施工する場合:約50〜80万円(税別)〜が目安(設営時間・時間帯により変動)</a:t>
            </a:r>
          </a:p>
          <a:p>
            <a:pPr algn="l">
              <a:spcAft>
                <a:spcPts val="500"/>
              </a:spcAft>
            </a:pPr>
            <a:r>
              <a:rPr sz="1150" b="0">
                <a:solidFill>
                  <a:srgbClr val="1A1A1A"/>
                </a:solidFill>
                <a:latin typeface="Meiryo"/>
                <a:ea typeface="Meiryo"/>
              </a:rPr>
              <a:t>・必要スペース:幅6m×奥行4m程度+左右いずれかに着替えスペース(テント等)+音響機材置き場(長テーブル1本)</a:t>
            </a:r>
          </a:p>
          <a:p>
            <a:pPr algn="l">
              <a:spcAft>
                <a:spcPts val="500"/>
              </a:spcAft>
            </a:pPr>
            <a:r>
              <a:rPr sz="1150" b="0">
                <a:solidFill>
                  <a:srgbClr val="1A1A1A"/>
                </a:solidFill>
                <a:latin typeface="Meiryo"/>
                <a:ea typeface="Meiryo"/>
              </a:rPr>
              <a:t>・お客様との距離は1m以上を確保してください</a:t>
            </a:r>
          </a:p>
          <a:p>
            <a:pPr algn="l">
              <a:spcAft>
                <a:spcPts val="500"/>
              </a:spcAft>
            </a:pPr>
            <a:r>
              <a:rPr sz="600" b="0">
                <a:solidFill>
                  <a:srgbClr val="1A1A1A"/>
                </a:solidFill>
                <a:latin typeface="Meiryo"/>
                <a:ea typeface="Meiryo"/>
              </a:rPr>
              <a:t/>
            </a:r>
          </a:p>
          <a:p>
            <a:pPr algn="l">
              <a:spcAft>
                <a:spcPts val="500"/>
              </a:spcAft>
            </a:pPr>
            <a:r>
              <a:rPr sz="1350" b="1">
                <a:solidFill>
                  <a:srgbClr val="C00000"/>
                </a:solidFill>
                <a:latin typeface="Meiryo"/>
                <a:ea typeface="Meiryo"/>
              </a:rPr>
              <a:t>その他</a:t>
            </a:r>
          </a:p>
          <a:p>
            <a:pPr algn="l">
              <a:spcAft>
                <a:spcPts val="500"/>
              </a:spcAft>
            </a:pPr>
            <a:r>
              <a:rPr sz="1150" b="0">
                <a:solidFill>
                  <a:srgbClr val="1A1A1A"/>
                </a:solidFill>
                <a:latin typeface="Meiryo"/>
                <a:ea typeface="Meiryo"/>
              </a:rPr>
              <a:t>・BGM等のJASRAC申請は主催者様側でのお手続きをお願いします(会場様が包括契約をお持ちの場合もあるためご確認ください)</a:t>
            </a:r>
          </a:p>
          <a:p>
            <a:pPr algn="l">
              <a:spcAft>
                <a:spcPts val="500"/>
              </a:spcAft>
            </a:pPr>
            <a:r>
              <a:rPr sz="1150" b="0">
                <a:solidFill>
                  <a:srgbClr val="1A1A1A"/>
                </a:solidFill>
                <a:latin typeface="Meiryo"/>
                <a:ea typeface="Meiryo"/>
              </a:rPr>
              <a:t>・会場様ご指定のイベント運営会社様がいらっしゃる場合は連携いたします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ご参考:検証項目のたたき台</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「検証項目の共同策定」に向けた当社案です。次回お打ち合わせでご一緒に固めさせてください</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7</a:t>
            </a:r>
          </a:p>
        </p:txBody>
      </p:sp>
      <p:graphicFrame>
        <p:nvGraphicFramePr>
          <p:cNvPr id="8" name="Table 7"/>
          <p:cNvGraphicFramePr>
            <a:graphicFrameLocks noGrp="1"/>
          </p:cNvGraphicFramePr>
          <p:nvPr/>
        </p:nvGraphicFramePr>
        <p:xfrm>
          <a:off x="640080" y="1417320"/>
          <a:ext cx="10881358" cy="3291839"/>
        </p:xfrm>
        <a:graphic>
          <a:graphicData uri="http://schemas.openxmlformats.org/drawingml/2006/table">
            <a:tbl>
              <a:tblPr firstRow="1" bandRow="1">
                <a:tableStyleId>{5C22544A-7EE6-4342-B048-85BDC9FD1C3A}</a:tableStyleId>
              </a:tblPr>
              <a:tblGrid>
                <a:gridCol w="1741017"/>
                <a:gridCol w="5005425"/>
                <a:gridCol w="4134916"/>
              </a:tblGrid>
              <a:tr h="548639">
                <a:tc>
                  <a:txBody>
                    <a:bodyPr/>
                    <a:lstStyle/>
                    <a:p>
                      <a:r>
                        <a:rPr sz="1100" b="1">
                          <a:solidFill>
                            <a:srgbClr val="FFFFFF"/>
                          </a:solidFill>
                          <a:latin typeface="Meiryo"/>
                          <a:ea typeface="Meiryo"/>
                        </a:rPr>
                        <a:t>区分</a:t>
                      </a:r>
                    </a:p>
                  </a:txBody>
                  <a:tcPr anchor="ctr" marL="73152" marR="73152">
                    <a:solidFill>
                      <a:srgbClr val="232278"/>
                    </a:solidFill>
                  </a:tcPr>
                </a:tc>
                <a:tc>
                  <a:txBody>
                    <a:bodyPr/>
                    <a:lstStyle/>
                    <a:p>
                      <a:r>
                        <a:rPr sz="1100" b="1">
                          <a:solidFill>
                            <a:srgbClr val="FFFFFF"/>
                          </a:solidFill>
                          <a:latin typeface="Meiryo"/>
                          <a:ea typeface="Meiryo"/>
                        </a:rPr>
                        <a:t>指標(例)</a:t>
                      </a:r>
                    </a:p>
                  </a:txBody>
                  <a:tcPr anchor="ctr" marL="73152" marR="73152">
                    <a:solidFill>
                      <a:srgbClr val="232278"/>
                    </a:solidFill>
                  </a:tcPr>
                </a:tc>
                <a:tc>
                  <a:txBody>
                    <a:bodyPr/>
                    <a:lstStyle/>
                    <a:p>
                      <a:r>
                        <a:rPr sz="1100" b="1">
                          <a:solidFill>
                            <a:srgbClr val="FFFFFF"/>
                          </a:solidFill>
                          <a:latin typeface="Meiryo"/>
                          <a:ea typeface="Meiryo"/>
                        </a:rPr>
                        <a:t>取得方法(例)</a:t>
                      </a:r>
                    </a:p>
                  </a:txBody>
                  <a:tcPr anchor="ctr" marL="73152" marR="73152">
                    <a:solidFill>
                      <a:srgbClr val="232278"/>
                    </a:solidFill>
                  </a:tcPr>
                </a:tc>
              </a:tr>
              <a:tr h="548639">
                <a:tc>
                  <a:txBody>
                    <a:bodyPr/>
                    <a:lstStyle/>
                    <a:p>
                      <a:r>
                        <a:rPr sz="1100" b="0">
                          <a:solidFill>
                            <a:srgbClr val="1A1A1A"/>
                          </a:solidFill>
                          <a:latin typeface="Meiryo"/>
                          <a:ea typeface="Meiryo"/>
                        </a:rPr>
                        <a:t>集客力</a:t>
                      </a:r>
                    </a:p>
                  </a:txBody>
                  <a:tcPr anchor="ctr" marL="73152" marR="73152">
                    <a:solidFill>
                      <a:srgbClr val="FFFFFF"/>
                    </a:solidFill>
                  </a:tcPr>
                </a:tc>
                <a:tc>
                  <a:txBody>
                    <a:bodyPr/>
                    <a:lstStyle/>
                    <a:p>
                      <a:r>
                        <a:rPr sz="1100" b="0">
                          <a:solidFill>
                            <a:srgbClr val="1A1A1A"/>
                          </a:solidFill>
                          <a:latin typeface="Meiryo"/>
                          <a:ea typeface="Meiryo"/>
                        </a:rPr>
                        <a:t>イベント来場者数/撮影会参加組数(回別)/待機列の発生状況</a:t>
                      </a:r>
                    </a:p>
                  </a:txBody>
                  <a:tcPr anchor="ctr" marL="73152" marR="73152">
                    <a:solidFill>
                      <a:srgbClr val="FFFFFF"/>
                    </a:solidFill>
                  </a:tcPr>
                </a:tc>
                <a:tc>
                  <a:txBody>
                    <a:bodyPr/>
                    <a:lstStyle/>
                    <a:p>
                      <a:r>
                        <a:rPr sz="1100" b="0">
                          <a:solidFill>
                            <a:srgbClr val="1A1A1A"/>
                          </a:solidFill>
                          <a:latin typeface="Meiryo"/>
                          <a:ea typeface="Meiryo"/>
                        </a:rPr>
                        <a:t>当社スタッフの現場カウント+貴社会場データ</a:t>
                      </a:r>
                    </a:p>
                  </a:txBody>
                  <a:tcPr anchor="ctr" marL="73152" marR="73152">
                    <a:solidFill>
                      <a:srgbClr val="FFFFFF"/>
                    </a:solidFill>
                  </a:tcPr>
                </a:tc>
              </a:tr>
              <a:tr h="548639">
                <a:tc>
                  <a:txBody>
                    <a:bodyPr/>
                    <a:lstStyle/>
                    <a:p>
                      <a:r>
                        <a:rPr sz="1100" b="0">
                          <a:solidFill>
                            <a:srgbClr val="1A1A1A"/>
                          </a:solidFill>
                          <a:latin typeface="Meiryo"/>
                          <a:ea typeface="Meiryo"/>
                        </a:rPr>
                        <a:t>送客力</a:t>
                      </a:r>
                    </a:p>
                  </a:txBody>
                  <a:tcPr anchor="ctr" marL="73152" marR="73152">
                    <a:solidFill>
                      <a:srgbClr val="F2F4F6"/>
                    </a:solidFill>
                  </a:tcPr>
                </a:tc>
                <a:tc>
                  <a:txBody>
                    <a:bodyPr/>
                    <a:lstStyle/>
                    <a:p>
                      <a:r>
                        <a:rPr sz="1100" b="0">
                          <a:solidFill>
                            <a:srgbClr val="1A1A1A"/>
                          </a:solidFill>
                          <a:latin typeface="Meiryo"/>
                          <a:ea typeface="Meiryo"/>
                        </a:rPr>
                        <a:t>イベント→ブース・店頭への送客数/クーポン・ノベルティ引換数</a:t>
                      </a:r>
                    </a:p>
                  </a:txBody>
                  <a:tcPr anchor="ctr" marL="73152" marR="73152">
                    <a:solidFill>
                      <a:srgbClr val="F2F4F6"/>
                    </a:solidFill>
                  </a:tcPr>
                </a:tc>
                <a:tc>
                  <a:txBody>
                    <a:bodyPr/>
                    <a:lstStyle/>
                    <a:p>
                      <a:r>
                        <a:rPr sz="1100" b="0">
                          <a:solidFill>
                            <a:srgbClr val="1A1A1A"/>
                          </a:solidFill>
                          <a:latin typeface="Meiryo"/>
                          <a:ea typeface="Meiryo"/>
                        </a:rPr>
                        <a:t>引換券・QR等の設計を共同で検討</a:t>
                      </a:r>
                    </a:p>
                  </a:txBody>
                  <a:tcPr anchor="ctr" marL="73152" marR="73152">
                    <a:solidFill>
                      <a:srgbClr val="F2F4F6"/>
                    </a:solidFill>
                  </a:tcPr>
                </a:tc>
              </a:tr>
              <a:tr h="548639">
                <a:tc>
                  <a:txBody>
                    <a:bodyPr/>
                    <a:lstStyle/>
                    <a:p>
                      <a:r>
                        <a:rPr sz="1100" b="0">
                          <a:solidFill>
                            <a:srgbClr val="1A1A1A"/>
                          </a:solidFill>
                          <a:latin typeface="Meiryo"/>
                          <a:ea typeface="Meiryo"/>
                        </a:rPr>
                        <a:t>商談効果</a:t>
                      </a:r>
                    </a:p>
                  </a:txBody>
                  <a:tcPr anchor="ctr" marL="73152" marR="73152">
                    <a:solidFill>
                      <a:srgbClr val="FFFFFF"/>
                    </a:solidFill>
                  </a:tcPr>
                </a:tc>
                <a:tc>
                  <a:txBody>
                    <a:bodyPr/>
                    <a:lstStyle/>
                    <a:p>
                      <a:r>
                        <a:rPr sz="1100" b="0">
                          <a:solidFill>
                            <a:srgbClr val="1A1A1A"/>
                          </a:solidFill>
                          <a:latin typeface="Meiryo"/>
                          <a:ea typeface="Meiryo"/>
                        </a:rPr>
                        <a:t>ブース来訪からの相談・商談件数/ご成約数(可能な範囲で)</a:t>
                      </a:r>
                    </a:p>
                  </a:txBody>
                  <a:tcPr anchor="ctr" marL="73152" marR="73152">
                    <a:solidFill>
                      <a:srgbClr val="FFFFFF"/>
                    </a:solidFill>
                  </a:tcPr>
                </a:tc>
                <a:tc>
                  <a:txBody>
                    <a:bodyPr/>
                    <a:lstStyle/>
                    <a:p>
                      <a:r>
                        <a:rPr sz="1100" b="0">
                          <a:solidFill>
                            <a:srgbClr val="1A1A1A"/>
                          </a:solidFill>
                          <a:latin typeface="Meiryo"/>
                          <a:ea typeface="Meiryo"/>
                        </a:rPr>
                        <a:t>貴社側データ(店舗・出店ブース)</a:t>
                      </a:r>
                    </a:p>
                  </a:txBody>
                  <a:tcPr anchor="ctr" marL="73152" marR="73152">
                    <a:solidFill>
                      <a:srgbClr val="FFFFFF"/>
                    </a:solidFill>
                  </a:tcPr>
                </a:tc>
              </a:tr>
              <a:tr h="548639">
                <a:tc>
                  <a:txBody>
                    <a:bodyPr/>
                    <a:lstStyle/>
                    <a:p>
                      <a:r>
                        <a:rPr sz="1100" b="0">
                          <a:solidFill>
                            <a:srgbClr val="1A1A1A"/>
                          </a:solidFill>
                          <a:latin typeface="Meiryo"/>
                          <a:ea typeface="Meiryo"/>
                        </a:rPr>
                        <a:t>話題化</a:t>
                      </a:r>
                    </a:p>
                  </a:txBody>
                  <a:tcPr anchor="ctr" marL="73152" marR="73152">
                    <a:solidFill>
                      <a:srgbClr val="F2F4F6"/>
                    </a:solidFill>
                  </a:tcPr>
                </a:tc>
                <a:tc>
                  <a:txBody>
                    <a:bodyPr/>
                    <a:lstStyle/>
                    <a:p>
                      <a:r>
                        <a:rPr sz="1100" b="0">
                          <a:solidFill>
                            <a:srgbClr val="1A1A1A"/>
                          </a:solidFill>
                          <a:latin typeface="Meiryo"/>
                          <a:ea typeface="Meiryo"/>
                        </a:rPr>
                        <a:t>SNS投稿数・撮影画像の投稿率/会場様の反応</a:t>
                      </a:r>
                    </a:p>
                  </a:txBody>
                  <a:tcPr anchor="ctr" marL="73152" marR="73152">
                    <a:solidFill>
                      <a:srgbClr val="F2F4F6"/>
                    </a:solidFill>
                  </a:tcPr>
                </a:tc>
                <a:tc>
                  <a:txBody>
                    <a:bodyPr/>
                    <a:lstStyle/>
                    <a:p>
                      <a:r>
                        <a:rPr sz="1100" b="0">
                          <a:solidFill>
                            <a:srgbClr val="1A1A1A"/>
                          </a:solidFill>
                          <a:latin typeface="Meiryo"/>
                          <a:ea typeface="Meiryo"/>
                        </a:rPr>
                        <a:t>ハッシュタグ設計+会場ヒアリング</a:t>
                      </a:r>
                    </a:p>
                  </a:txBody>
                  <a:tcPr anchor="ctr" marL="73152" marR="73152">
                    <a:solidFill>
                      <a:srgbClr val="F2F4F6"/>
                    </a:solidFill>
                  </a:tcPr>
                </a:tc>
              </a:tr>
              <a:tr h="548644">
                <a:tc>
                  <a:txBody>
                    <a:bodyPr/>
                    <a:lstStyle/>
                    <a:p>
                      <a:r>
                        <a:rPr sz="1100" b="0">
                          <a:solidFill>
                            <a:srgbClr val="1A1A1A"/>
                          </a:solidFill>
                          <a:latin typeface="Meiryo"/>
                          <a:ea typeface="Meiryo"/>
                        </a:rPr>
                        <a:t>運営品質</a:t>
                      </a:r>
                    </a:p>
                  </a:txBody>
                  <a:tcPr anchor="ctr" marL="73152" marR="73152">
                    <a:solidFill>
                      <a:srgbClr val="FFFFFF"/>
                    </a:solidFill>
                  </a:tcPr>
                </a:tc>
                <a:tc>
                  <a:txBody>
                    <a:bodyPr/>
                    <a:lstStyle/>
                    <a:p>
                      <a:r>
                        <a:rPr sz="1100" b="0">
                          <a:solidFill>
                            <a:srgbClr val="1A1A1A"/>
                          </a:solidFill>
                          <a:latin typeface="Meiryo"/>
                          <a:ea typeface="Meiryo"/>
                        </a:rPr>
                        <a:t>オペレーション所要人員・動線・安全面の課題抽出</a:t>
                      </a:r>
                    </a:p>
                  </a:txBody>
                  <a:tcPr anchor="ctr" marL="73152" marR="73152">
                    <a:solidFill>
                      <a:srgbClr val="FFFFFF"/>
                    </a:solidFill>
                  </a:tcPr>
                </a:tc>
                <a:tc>
                  <a:txBody>
                    <a:bodyPr/>
                    <a:lstStyle/>
                    <a:p>
                      <a:r>
                        <a:rPr sz="1100" b="0">
                          <a:solidFill>
                            <a:srgbClr val="1A1A1A"/>
                          </a:solidFill>
                          <a:latin typeface="Meiryo"/>
                          <a:ea typeface="Meiryo"/>
                        </a:rPr>
                        <a:t>双方の現場レビュー(実施後1週間以内)</a:t>
                      </a:r>
                    </a:p>
                  </a:txBody>
                  <a:tcPr anchor="ctr" marL="73152" marR="73152">
                    <a:solidFill>
                      <a:srgbClr val="FFFFFF"/>
                    </a:solidFill>
                  </a:tcPr>
                </a:tc>
              </a:tr>
            </a:tbl>
          </a:graphicData>
        </a:graphic>
      </p:graphicFrame>
      <p:sp>
        <p:nvSpPr>
          <p:cNvPr id="9" name="TextBox 8"/>
          <p:cNvSpPr txBox="1"/>
          <p:nvPr/>
        </p:nvSpPr>
        <p:spPr>
          <a:xfrm>
            <a:off x="640080" y="4892040"/>
            <a:ext cx="10881360" cy="1005840"/>
          </a:xfrm>
          <a:prstGeom prst="rect">
            <a:avLst/>
          </a:prstGeom>
          <a:noFill/>
        </p:spPr>
        <p:txBody>
          <a:bodyPr wrap="square" anchor="t" lIns="0" rIns="0" tIns="0" bIns="0">
            <a:spAutoFit/>
          </a:bodyPr>
          <a:lstStyle/>
          <a:p>
            <a:pPr algn="l">
              <a:spcAft>
                <a:spcPts val="500"/>
              </a:spcAft>
            </a:pPr>
            <a:r>
              <a:rPr sz="1300" b="1">
                <a:solidFill>
                  <a:srgbClr val="C00000"/>
                </a:solidFill>
                <a:latin typeface="Meiryo"/>
                <a:ea typeface="Meiryo"/>
              </a:rPr>
              <a:t>ご提案:</a:t>
            </a:r>
            <a:r>
              <a:rPr sz="1300" b="0">
                <a:solidFill>
                  <a:srgbClr val="1A1A1A"/>
                </a:solidFill>
                <a:latin typeface="Meiryo"/>
                <a:ea typeface="Meiryo"/>
              </a:rPr>
              <a:t>5会場をエリア・施設タイプで分散し、上記指標を共通フォーマットで比較検証 → 年間のお取り組み設計(展開エリア・開催数)の根拠データにします。</a:t>
            </a:r>
          </a:p>
          <a:p>
            <a:pPr algn="l">
              <a:spcAft>
                <a:spcPts val="500"/>
              </a:spcAft>
            </a:pPr>
            <a:r>
              <a:rPr sz="1100" b="0">
                <a:solidFill>
                  <a:srgbClr val="5A626B"/>
                </a:solidFill>
                <a:latin typeface="Meiryo"/>
                <a:ea typeface="Meiryo"/>
              </a:rPr>
              <a:t>※検証項目・取得方法は貴社のご意向に合わせて調整いたします。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次のステップ</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9月の実施に向けて、以下の進行をご提案します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8</a:t>
            </a:r>
          </a:p>
        </p:txBody>
      </p:sp>
      <p:sp>
        <p:nvSpPr>
          <p:cNvPr id="8" name="Rounded Rectangle 7"/>
          <p:cNvSpPr/>
          <p:nvPr/>
        </p:nvSpPr>
        <p:spPr>
          <a:xfrm>
            <a:off x="640080" y="1554480"/>
            <a:ext cx="10881360" cy="91440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73352"/>
            <a:ext cx="10241280" cy="731520"/>
          </a:xfrm>
          <a:prstGeom prst="rect">
            <a:avLst/>
          </a:prstGeom>
          <a:noFill/>
        </p:spPr>
        <p:txBody>
          <a:bodyPr wrap="square" anchor="t" lIns="0" rIns="0" tIns="0" bIns="0">
            <a:spAutoFit/>
          </a:bodyPr>
          <a:lstStyle/>
          <a:p>
            <a:pPr algn="l">
              <a:spcAft>
                <a:spcPts val="300"/>
              </a:spcAft>
            </a:pPr>
            <a:r>
              <a:rPr sz="1350" b="1">
                <a:solidFill>
                  <a:srgbClr val="232278"/>
                </a:solidFill>
                <a:latin typeface="Meiryo"/>
                <a:ea typeface="Meiryo"/>
              </a:rPr>
              <a:t>1  会場候補のご共有(貴社)</a:t>
            </a:r>
          </a:p>
          <a:p>
            <a:pPr algn="l">
              <a:spcAft>
                <a:spcPts val="300"/>
              </a:spcAft>
            </a:pPr>
            <a:r>
              <a:rPr sz="1150" b="0">
                <a:solidFill>
                  <a:srgbClr val="5A626B"/>
                </a:solidFill>
                <a:latin typeface="Meiryo"/>
                <a:ea typeface="Meiryo"/>
              </a:rPr>
              <a:t>商業施設の候補リストをご共有ください。当社にて開催可否を確認します</a:t>
            </a:r>
          </a:p>
        </p:txBody>
      </p:sp>
      <p:sp>
        <p:nvSpPr>
          <p:cNvPr id="10" name="Rounded Rectangle 9"/>
          <p:cNvSpPr/>
          <p:nvPr/>
        </p:nvSpPr>
        <p:spPr>
          <a:xfrm>
            <a:off x="640080" y="2633472"/>
            <a:ext cx="10881360" cy="91440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752344"/>
            <a:ext cx="10241280" cy="731520"/>
          </a:xfrm>
          <a:prstGeom prst="rect">
            <a:avLst/>
          </a:prstGeom>
          <a:noFill/>
        </p:spPr>
        <p:txBody>
          <a:bodyPr wrap="square" anchor="t" lIns="0" rIns="0" tIns="0" bIns="0">
            <a:spAutoFit/>
          </a:bodyPr>
          <a:lstStyle/>
          <a:p>
            <a:pPr algn="l">
              <a:spcAft>
                <a:spcPts val="300"/>
              </a:spcAft>
            </a:pPr>
            <a:r>
              <a:rPr sz="1350" b="1">
                <a:solidFill>
                  <a:srgbClr val="232278"/>
                </a:solidFill>
                <a:latin typeface="Meiryo"/>
                <a:ea typeface="Meiryo"/>
              </a:rPr>
              <a:t>2  会場・日程の確定</a:t>
            </a:r>
          </a:p>
          <a:p>
            <a:pPr algn="l">
              <a:spcAft>
                <a:spcPts val="300"/>
              </a:spcAft>
            </a:pPr>
            <a:r>
              <a:rPr sz="1150" b="0">
                <a:solidFill>
                  <a:srgbClr val="5A626B"/>
                </a:solidFill>
                <a:latin typeface="Meiryo"/>
                <a:ea typeface="Meiryo"/>
              </a:rPr>
              <a:t>エリア・バッティング確認のうえ、実施会場・日程を確定(9月開催の場合は8月中旬目安)</a:t>
            </a:r>
          </a:p>
        </p:txBody>
      </p:sp>
      <p:sp>
        <p:nvSpPr>
          <p:cNvPr id="12" name="Rounded Rectangle 11"/>
          <p:cNvSpPr/>
          <p:nvPr/>
        </p:nvSpPr>
        <p:spPr>
          <a:xfrm>
            <a:off x="640080" y="3712463"/>
            <a:ext cx="10881360" cy="91440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31335"/>
            <a:ext cx="10241280" cy="731520"/>
          </a:xfrm>
          <a:prstGeom prst="rect">
            <a:avLst/>
          </a:prstGeom>
          <a:noFill/>
        </p:spPr>
        <p:txBody>
          <a:bodyPr wrap="square" anchor="t" lIns="0" rIns="0" tIns="0" bIns="0">
            <a:spAutoFit/>
          </a:bodyPr>
          <a:lstStyle/>
          <a:p>
            <a:pPr algn="l">
              <a:spcAft>
                <a:spcPts val="300"/>
              </a:spcAft>
            </a:pPr>
            <a:r>
              <a:rPr sz="1350" b="1">
                <a:solidFill>
                  <a:srgbClr val="232278"/>
                </a:solidFill>
                <a:latin typeface="Meiryo"/>
                <a:ea typeface="Meiryo"/>
              </a:rPr>
              <a:t>3  検証項目の合意</a:t>
            </a:r>
          </a:p>
          <a:p>
            <a:pPr algn="l">
              <a:spcAft>
                <a:spcPts val="300"/>
              </a:spcAft>
            </a:pPr>
            <a:r>
              <a:rPr sz="1150" b="0">
                <a:solidFill>
                  <a:srgbClr val="5A626B"/>
                </a:solidFill>
                <a:latin typeface="Meiryo"/>
                <a:ea typeface="Meiryo"/>
              </a:rPr>
              <a:t>本資料P7のたたき台をベースに、次回お打ち合わせで共同策定</a:t>
            </a:r>
          </a:p>
        </p:txBody>
      </p:sp>
      <p:sp>
        <p:nvSpPr>
          <p:cNvPr id="14" name="Rounded Rectangle 13"/>
          <p:cNvSpPr/>
          <p:nvPr/>
        </p:nvSpPr>
        <p:spPr>
          <a:xfrm>
            <a:off x="640080" y="4791455"/>
            <a:ext cx="10881360" cy="914400"/>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10327"/>
            <a:ext cx="10241280" cy="731520"/>
          </a:xfrm>
          <a:prstGeom prst="rect">
            <a:avLst/>
          </a:prstGeom>
          <a:noFill/>
        </p:spPr>
        <p:txBody>
          <a:bodyPr wrap="square" anchor="t" lIns="0" rIns="0" tIns="0" bIns="0">
            <a:spAutoFit/>
          </a:bodyPr>
          <a:lstStyle/>
          <a:p>
            <a:pPr algn="l">
              <a:spcAft>
                <a:spcPts val="300"/>
              </a:spcAft>
            </a:pPr>
            <a:r>
              <a:rPr sz="1350" b="1">
                <a:solidFill>
                  <a:srgbClr val="232278"/>
                </a:solidFill>
                <a:latin typeface="Meiryo"/>
                <a:ea typeface="Meiryo"/>
              </a:rPr>
              <a:t>4  実施準備</a:t>
            </a:r>
          </a:p>
          <a:p>
            <a:pPr algn="l">
              <a:spcAft>
                <a:spcPts val="300"/>
              </a:spcAft>
            </a:pPr>
            <a:r>
              <a:rPr sz="1150" b="0">
                <a:solidFill>
                  <a:srgbClr val="5A626B"/>
                </a:solidFill>
                <a:latin typeface="Meiryo"/>
                <a:ea typeface="Meiryo"/>
              </a:rPr>
              <a:t>告知物の監修・実施確認書・ノベルティ手配・当日運営の役割分担</a:t>
            </a:r>
          </a:p>
        </p:txBody>
      </p:sp>
      <p:sp>
        <p:nvSpPr>
          <p:cNvPr id="16" name="TextBox 15"/>
          <p:cNvSpPr txBox="1"/>
          <p:nvPr/>
        </p:nvSpPr>
        <p:spPr>
          <a:xfrm>
            <a:off x="640080" y="5943600"/>
            <a:ext cx="10881360" cy="457200"/>
          </a:xfrm>
          <a:prstGeom prst="rect">
            <a:avLst/>
          </a:prstGeom>
          <a:noFill/>
        </p:spPr>
        <p:txBody>
          <a:bodyPr wrap="square" anchor="t" lIns="0" rIns="0" tIns="0" bIns="0">
            <a:spAutoFit/>
          </a:bodyPr>
          <a:lstStyle/>
          <a:p>
            <a:pPr algn="l">
              <a:spcAft>
                <a:spcPts val="300"/>
              </a:spcAft>
            </a:pPr>
            <a:r>
              <a:rPr sz="1200" b="0">
                <a:solidFill>
                  <a:srgbClr val="1A1A1A"/>
                </a:solidFill>
                <a:latin typeface="Meiryo"/>
                <a:ea typeface="Meiryo"/>
              </a:rPr>
              <a:t>ご不明点は何なりとお申し付けください。会場候補をいただければ、開催可否とあわせて具体的なお見積りをご提示します。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