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導入のご提案</a:t>
            </a:r>
          </a:p>
          <a:p>
            <a:pPr algn="ctr">
              <a:spcAft>
                <a:spcPts val="1000"/>
              </a:spcAft>
            </a:pPr>
            <a:r>
              <a:rPr sz="2200" b="1">
                <a:solidFill>
                  <a:srgbClr val="1A1A1A"/>
                </a:solidFill>
                <a:latin typeface="Meiryo"/>
                <a:ea typeface="Meiryo"/>
              </a:rPr>
              <a:t>〜 テストから年間展開・複数年まで 〜</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お見積り(年間ご契約条件)・テスト実施パターン・年間展開への接続まで、</a:t>
            </a:r>
          </a:p>
          <a:p>
            <a:pPr algn="ctr">
              <a:spcAft>
                <a:spcPts val="400"/>
              </a:spcAft>
            </a:pPr>
            <a:r>
              <a:rPr sz="1350" b="0">
                <a:solidFill>
                  <a:srgbClr val="1A1A1A"/>
                </a:solidFill>
                <a:latin typeface="Meiryo"/>
                <a:ea typeface="Meiryo"/>
              </a:rPr>
              <a:t>段階導入の全体像を1冊に統合したご提案です</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全体像:小さく始めて、段階的に全国へ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各段階の意思決定は小さく、投資は次の段階に充当・接続されます。後戻りも可能な設計です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sp>
        <p:nvSpPr>
          <p:cNvPr id="8" name="Rounded Rectangle 7"/>
          <p:cNvSpPr/>
          <p:nvPr/>
        </p:nvSpPr>
        <p:spPr>
          <a:xfrm>
            <a:off x="822960" y="1508760"/>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STEP1|2026年9月〜  </a:t>
            </a:r>
            <a:r>
              <a:rPr sz="1250" b="0">
                <a:solidFill>
                  <a:srgbClr val="1A1A1A"/>
                </a:solidFill>
                <a:latin typeface="Meiryo"/>
                <a:ea typeface="Meiryo"/>
              </a:rPr>
              <a:t>先行開発テスト(無償):デザイン開発・監修・仕組み検証</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50008"/>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STEP2|2026年11月〜2027年1月  </a:t>
            </a:r>
            <a:r>
              <a:rPr sz="1250" b="0">
                <a:solidFill>
                  <a:srgbClr val="1A1A1A"/>
                </a:solidFill>
                <a:latin typeface="Meiryo"/>
                <a:ea typeface="Meiryo"/>
              </a:rPr>
              <a:t>協賛型イベント検証(300〜500万円):集客・送客の実地データ取得</a:t>
            </a:r>
          </a:p>
        </p:txBody>
      </p:sp>
      <p:sp>
        <p:nvSpPr>
          <p:cNvPr id="11" name="Down Arrow 10"/>
          <p:cNvSpPr/>
          <p:nvPr/>
        </p:nvSpPr>
        <p:spPr>
          <a:xfrm>
            <a:off x="5943600" y="303580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91256"/>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STEP3|2027年4月〜6月  </a:t>
            </a:r>
            <a:r>
              <a:rPr sz="1250" b="0">
                <a:solidFill>
                  <a:srgbClr val="1A1A1A"/>
                </a:solidFill>
                <a:latin typeface="Meiryo"/>
                <a:ea typeface="Meiryo"/>
              </a:rPr>
              <a:t>期首パイロット(短期IP使用料300万円+着ぐるみ実費):店頭運用を実測 ※年間契約移行時は300万円を全額充当</a:t>
            </a:r>
          </a:p>
        </p:txBody>
      </p:sp>
      <p:sp>
        <p:nvSpPr>
          <p:cNvPr id="13" name="Down Arrow 12"/>
          <p:cNvSpPr/>
          <p:nvPr/>
        </p:nvSpPr>
        <p:spPr>
          <a:xfrm>
            <a:off x="5943600" y="3877056"/>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032504"/>
            <a:ext cx="10515600" cy="713232"/>
          </a:xfrm>
          <a:prstGeom prst="roundRect">
            <a:avLst>
              <a:gd name="adj" fmla="val 11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STEP4|2027年7月〜  </a:t>
            </a:r>
            <a:r>
              <a:rPr sz="1250" b="0">
                <a:solidFill>
                  <a:srgbClr val="1A1A1A"/>
                </a:solidFill>
                <a:latin typeface="Meiryo"/>
                <a:ea typeface="Meiryo"/>
              </a:rPr>
              <a:t>年間契約発効:成功基準達成で自動接続 → 夏商戦100開催 → 年末までに全国300〜600開催ペース</a:t>
            </a:r>
          </a:p>
        </p:txBody>
      </p:sp>
      <p:sp>
        <p:nvSpPr>
          <p:cNvPr id="15" name="Down Arrow 14"/>
          <p:cNvSpPr/>
          <p:nvPr/>
        </p:nvSpPr>
        <p:spPr>
          <a:xfrm>
            <a:off x="5943600" y="471830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873752"/>
            <a:ext cx="10515600" cy="713232"/>
          </a:xfrm>
          <a:prstGeom prst="roundRect">
            <a:avLst>
              <a:gd name="adj" fmla="val 11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FFFFFF"/>
                </a:solidFill>
                <a:latin typeface="Meiryo"/>
                <a:ea typeface="Meiryo"/>
              </a:rPr>
              <a:t>STEP5|2028年4月〜  </a:t>
            </a:r>
            <a:r>
              <a:rPr sz="1250" b="1">
                <a:solidFill>
                  <a:srgbClr val="FFFFFF"/>
                </a:solidFill>
                <a:latin typeface="Meiryo"/>
                <a:ea typeface="Meiryo"/>
              </a:rPr>
              <a:t>FY28フル年間展開+複数年契約のご協議</a:t>
            </a:r>
          </a:p>
        </p:txBody>
      </p:sp>
      <p:sp>
        <p:nvSpPr>
          <p:cNvPr id="17" name="TextBox 16"/>
          <p:cNvSpPr txBox="1"/>
          <p:nvPr/>
        </p:nvSpPr>
        <p:spPr>
          <a:xfrm>
            <a:off x="822960" y="5852160"/>
            <a:ext cx="10515600" cy="50292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設計思想:</a:t>
            </a:r>
            <a:r>
              <a:rPr sz="1250" b="0">
                <a:solidFill>
                  <a:srgbClr val="1A1A1A"/>
                </a:solidFill>
                <a:latin typeface="Meiryo"/>
                <a:ea typeface="Meiryo"/>
              </a:rPr>
              <a:t>STEP1〜3の投資は年間契約に充当・再利用され、無駄になりません。成功基準は貴社と共同設定し、達成時の年間移行を事前合意(LOI)いただきます。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貴社資料の実績数量・単価(キット構成、ノベルティ4,000セット前提)に基づく参考試算です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約500キット(週400開催の同時稼働+予備・更新分)</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約7,800万円</a:t>
                      </a:r>
                    </a:p>
                  </a:txBody>
                  <a:tcPr anchor="ctr" marL="73152" marR="73152">
                    <a:solidFill>
                      <a:srgbClr val="FFFFFF"/>
                    </a:solidFill>
                  </a:tcPr>
                </a:tc>
                <a:tc>
                  <a:txBody>
                    <a:bodyPr/>
                    <a:lstStyle/>
                    <a:p>
                      <a:r>
                        <a:rPr sz="1100" b="0">
                          <a:solidFill>
                            <a:srgbClr val="1A1A1A"/>
                          </a:solidFill>
                          <a:latin typeface="Meiryo"/>
                          <a:ea typeface="Meiryo"/>
                        </a:rPr>
                        <a:t>約1,560万円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4,000セット(1セット=A〜D賞+参加賞327個、計約130万個)</a:t>
                      </a:r>
                    </a:p>
                  </a:txBody>
                  <a:tcPr anchor="ctr" marL="73152" marR="73152">
                    <a:solidFill>
                      <a:srgbClr val="F2F4F6"/>
                    </a:solidFill>
                  </a:tcPr>
                </a:tc>
                <a:tc>
                  <a:txBody>
                    <a:bodyPr/>
                    <a:lstStyle/>
                    <a:p>
                      <a:r>
                        <a:rPr sz="1100" b="0">
                          <a:solidFill>
                            <a:srgbClr val="1A1A1A"/>
                          </a:solidFill>
                          <a:latin typeface="Meiryo"/>
                          <a:ea typeface="Meiryo"/>
                        </a:rPr>
                        <a:t>約9,900円/セット</a:t>
                      </a:r>
                    </a:p>
                  </a:txBody>
                  <a:tcPr anchor="ctr" marL="73152" marR="73152">
                    <a:solidFill>
                      <a:srgbClr val="F2F4F6"/>
                    </a:solidFill>
                  </a:tcPr>
                </a:tc>
                <a:tc>
                  <a:txBody>
                    <a:bodyPr/>
                    <a:lstStyle/>
                    <a:p>
                      <a:r>
                        <a:rPr sz="1100" b="0">
                          <a:solidFill>
                            <a:srgbClr val="1A1A1A"/>
                          </a:solidFill>
                          <a:latin typeface="Meiryo"/>
                          <a:ea typeface="Meiryo"/>
                        </a:rPr>
                        <a:t>約4,000万円</a:t>
                      </a:r>
                    </a:p>
                  </a:txBody>
                  <a:tcPr anchor="ctr" marL="73152" marR="73152">
                    <a:solidFill>
                      <a:srgbClr val="F2F4F6"/>
                    </a:solidFill>
                  </a:tcPr>
                </a:tc>
                <a:tc>
                  <a:txBody>
                    <a:bodyPr/>
                    <a:lstStyle/>
                    <a:p>
                      <a:r>
                        <a:rPr sz="1100" b="0">
                          <a:solidFill>
                            <a:srgbClr val="1A1A1A"/>
                          </a:solidFill>
                          <a:latin typeface="Meiryo"/>
                          <a:ea typeface="Meiryo"/>
                        </a:rPr>
                        <a:t>約800万円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約1.3億円</a:t>
                      </a:r>
                    </a:p>
                  </a:txBody>
                  <a:tcPr anchor="ctr" marL="73152" marR="73152">
                    <a:solidFill>
                      <a:srgbClr val="F2F4F6"/>
                    </a:solidFill>
                  </a:tcPr>
                </a:tc>
                <a:tc>
                  <a:txBody>
                    <a:bodyPr/>
                    <a:lstStyle/>
                    <a:p>
                      <a:r>
                        <a:rPr sz="1100" b="1">
                          <a:solidFill>
                            <a:srgbClr val="C00000"/>
                          </a:solidFill>
                          <a:latin typeface="Meiryo"/>
                          <a:ea typeface="Meiryo"/>
                        </a:rPr>
                        <a:t>約2,660万円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※キット数は「週平均400開催の同時稼働に必要な流通数+消耗・デザイン更新分」として設定しています。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キット約500・ノベルティ4,000セット・訴求ツール約3,000店×2回</a:t>
                      </a:r>
                    </a:p>
                  </a:txBody>
                  <a:tcPr anchor="ctr" marL="73152" marR="73152">
                    <a:solidFill>
                      <a:srgbClr val="F2F4F6"/>
                    </a:solidFill>
                  </a:tcPr>
                </a:tc>
                <a:tc>
                  <a:txBody>
                    <a:bodyPr/>
                    <a:lstStyle/>
                    <a:p>
                      <a:r>
                        <a:rPr sz="1200" b="0">
                          <a:solidFill>
                            <a:srgbClr val="1A1A1A"/>
                          </a:solidFill>
                          <a:latin typeface="Meiryo"/>
                          <a:ea typeface="Meiryo"/>
                        </a:rPr>
                        <a:t>約2,660万円(従量)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約1.66億円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テスト実施のご提案パターン(確認ポイント1へのご回答)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既存ライセンス条件を踏まえ、2026年度内から段階的に検証を始められる3つのパターンをご用意しました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57" cy="3950208"/>
        </p:xfrm>
        <a:graphic>
          <a:graphicData uri="http://schemas.openxmlformats.org/drawingml/2006/table">
            <a:tbl>
              <a:tblPr firstRow="1" bandRow="1">
                <a:tableStyleId>{5C22544A-7EE6-4342-B048-85BDC9FD1C3A}</a:tableStyleId>
              </a:tblPr>
              <a:tblGrid>
                <a:gridCol w="1301032"/>
                <a:gridCol w="3075166"/>
                <a:gridCol w="3429993"/>
                <a:gridCol w="3075166"/>
              </a:tblGrid>
              <a:tr h="658368">
                <a:tc>
                  <a:txBody>
                    <a:bodyPr/>
                    <a:lstStyle/>
                    <a:p>
                      <a:r>
                        <a:rPr sz="1200" b="1">
                          <a:solidFill>
                            <a:srgbClr val="FFFFFF"/>
                          </a:solidFill>
                          <a:latin typeface="Meiryo"/>
                          <a:ea typeface="Meiryo"/>
                        </a:rPr>
                        <a:t/>
                      </a:r>
                    </a:p>
                  </a:txBody>
                  <a:tcPr anchor="ctr" marL="73152" marR="73152">
                    <a:solidFill>
                      <a:srgbClr val="232278"/>
                    </a:solidFill>
                  </a:tcPr>
                </a:tc>
                <a:tc>
                  <a:txBody>
                    <a:bodyPr/>
                    <a:lstStyle/>
                    <a:p>
                      <a:r>
                        <a:rPr sz="1200" b="1">
                          <a:solidFill>
                            <a:srgbClr val="FFFFFF"/>
                          </a:solidFill>
                          <a:latin typeface="Meiryo"/>
                          <a:ea typeface="Meiryo"/>
                        </a:rPr>
                        <a:t>パターン1:先行開発テスト</a:t>
                      </a:r>
                    </a:p>
                  </a:txBody>
                  <a:tcPr anchor="ctr" marL="73152" marR="73152">
                    <a:solidFill>
                      <a:srgbClr val="232278"/>
                    </a:solidFill>
                  </a:tcPr>
                </a:tc>
                <a:tc>
                  <a:txBody>
                    <a:bodyPr/>
                    <a:lstStyle/>
                    <a:p>
                      <a:r>
                        <a:rPr sz="1200" b="1">
                          <a:solidFill>
                            <a:srgbClr val="FFFFFF"/>
                          </a:solidFill>
                          <a:latin typeface="Meiryo"/>
                          <a:ea typeface="Meiryo"/>
                        </a:rPr>
                        <a:t>パターン2:イベント協賛型テスト</a:t>
                      </a:r>
                    </a:p>
                  </a:txBody>
                  <a:tcPr anchor="ctr" marL="73152" marR="73152">
                    <a:solidFill>
                      <a:srgbClr val="232278"/>
                    </a:solidFill>
                  </a:tcPr>
                </a:tc>
                <a:tc>
                  <a:txBody>
                    <a:bodyPr/>
                    <a:lstStyle/>
                    <a:p>
                      <a:r>
                        <a:rPr sz="1200" b="1">
                          <a:solidFill>
                            <a:srgbClr val="FFFFFF"/>
                          </a:solidFill>
                          <a:latin typeface="Meiryo"/>
                          <a:ea typeface="Meiryo"/>
                        </a:rPr>
                        <a:t>パターン3:期首パイロット</a:t>
                      </a:r>
                    </a:p>
                  </a:txBody>
                  <a:tcPr anchor="ctr" marL="73152" marR="73152">
                    <a:solidFill>
                      <a:srgbClr val="232278"/>
                    </a:solidFill>
                  </a:tcPr>
                </a:tc>
              </a:tr>
              <a:tr h="658368">
                <a:tc>
                  <a:txBody>
                    <a:bodyPr/>
                    <a:lstStyle/>
                    <a:p>
                      <a:r>
                        <a:rPr sz="1050" b="0">
                          <a:solidFill>
                            <a:srgbClr val="1A1A1A"/>
                          </a:solidFill>
                          <a:latin typeface="Meiryo"/>
                          <a:ea typeface="Meiryo"/>
                        </a:rPr>
                        <a:t>時期</a:t>
                      </a:r>
                    </a:p>
                  </a:txBody>
                  <a:tcPr anchor="ctr" marL="73152" marR="73152">
                    <a:solidFill>
                      <a:srgbClr val="FFFFFF"/>
                    </a:solidFill>
                  </a:tcPr>
                </a:tc>
                <a:tc>
                  <a:txBody>
                    <a:bodyPr/>
                    <a:lstStyle/>
                    <a:p>
                      <a:r>
                        <a:rPr sz="1050" b="0">
                          <a:solidFill>
                            <a:srgbClr val="1A1A1A"/>
                          </a:solidFill>
                          <a:latin typeface="Meiryo"/>
                          <a:ea typeface="Meiryo"/>
                        </a:rPr>
                        <a:t>2026年9月〜(即時開始可)</a:t>
                      </a:r>
                    </a:p>
                  </a:txBody>
                  <a:tcPr anchor="ctr" marL="73152" marR="73152">
                    <a:solidFill>
                      <a:srgbClr val="FFFFFF"/>
                    </a:solidFill>
                  </a:tcPr>
                </a:tc>
                <a:tc>
                  <a:txBody>
                    <a:bodyPr/>
                    <a:lstStyle/>
                    <a:p>
                      <a:r>
                        <a:rPr sz="1050" b="0">
                          <a:solidFill>
                            <a:srgbClr val="1A1A1A"/>
                          </a:solidFill>
                          <a:latin typeface="Meiryo"/>
                          <a:ea typeface="Meiryo"/>
                        </a:rPr>
                        <a:t>2026年秋〜冬</a:t>
                      </a:r>
                    </a:p>
                  </a:txBody>
                  <a:tcPr anchor="ctr" marL="73152" marR="73152">
                    <a:solidFill>
                      <a:srgbClr val="FFFFFF"/>
                    </a:solidFill>
                  </a:tcPr>
                </a:tc>
                <a:tc>
                  <a:txBody>
                    <a:bodyPr/>
                    <a:lstStyle/>
                    <a:p>
                      <a:r>
                        <a:rPr sz="1050" b="0">
                          <a:solidFill>
                            <a:srgbClr val="1A1A1A"/>
                          </a:solidFill>
                          <a:latin typeface="Meiryo"/>
                          <a:ea typeface="Meiryo"/>
                        </a:rPr>
                        <a:t>2027年4月〜6月</a:t>
                      </a:r>
                    </a:p>
                  </a:txBody>
                  <a:tcPr anchor="ctr" marL="73152" marR="73152">
                    <a:solidFill>
                      <a:srgbClr val="FFFFFF"/>
                    </a:solidFill>
                  </a:tcPr>
                </a:tc>
              </a:tr>
              <a:tr h="658368">
                <a:tc>
                  <a:txBody>
                    <a:bodyPr/>
                    <a:lstStyle/>
                    <a:p>
                      <a:r>
                        <a:rPr sz="1050" b="0">
                          <a:solidFill>
                            <a:srgbClr val="1A1A1A"/>
                          </a:solidFill>
                          <a:latin typeface="Meiryo"/>
                          <a:ea typeface="Meiryo"/>
                        </a:rPr>
                        <a:t>内容</a:t>
                      </a:r>
                    </a:p>
                  </a:txBody>
                  <a:tcPr anchor="ctr" marL="73152" marR="73152">
                    <a:solidFill>
                      <a:srgbClr val="F2F4F6"/>
                    </a:solidFill>
                  </a:tcPr>
                </a:tc>
                <a:tc>
                  <a:txBody>
                    <a:bodyPr/>
                    <a:lstStyle/>
                    <a:p>
                      <a:r>
                        <a:rPr sz="1050" b="0">
                          <a:solidFill>
                            <a:srgbClr val="1A1A1A"/>
                          </a:solidFill>
                          <a:latin typeface="Meiryo"/>
                          <a:ea typeface="Meiryo"/>
                        </a:rPr>
                        <a:t>キット・訴求ツールのデザイン開発と監修、お客様調査、デジタル施策(QR等)の仕組み検証 ※IP実働なし</a:t>
                      </a:r>
                    </a:p>
                  </a:txBody>
                  <a:tcPr anchor="ctr" marL="73152" marR="73152">
                    <a:solidFill>
                      <a:srgbClr val="F2F4F6"/>
                    </a:solidFill>
                  </a:tcPr>
                </a:tc>
                <a:tc>
                  <a:txBody>
                    <a:bodyPr/>
                    <a:lstStyle/>
                    <a:p>
                      <a:r>
                        <a:rPr sz="1050" b="0">
                          <a:solidFill>
                            <a:srgbClr val="1A1A1A"/>
                          </a:solidFill>
                          <a:latin typeface="Meiryo"/>
                          <a:ea typeface="Meiryo"/>
                        </a:rPr>
                        <a:t>当社主催(または商業施設主催)の60周年イベントに貴社がご協賛・ブース出展。着ぐるみは当社イベントとして稼働</a:t>
                      </a:r>
                    </a:p>
                  </a:txBody>
                  <a:tcPr anchor="ctr" marL="73152" marR="73152">
                    <a:solidFill>
                      <a:srgbClr val="F2F4F6"/>
                    </a:solidFill>
                  </a:tcPr>
                </a:tc>
                <a:tc>
                  <a:txBody>
                    <a:bodyPr/>
                    <a:lstStyle/>
                    <a:p>
                      <a:r>
                        <a:rPr sz="1050" b="0">
                          <a:solidFill>
                            <a:srgbClr val="1A1A1A"/>
                          </a:solidFill>
                          <a:latin typeface="Meiryo"/>
                          <a:ea typeface="Meiryo"/>
                        </a:rPr>
                        <a:t>首都圏5〜10店舗・着ぐるみ10〜20開催の単体テスト(全国展開と同一の運用形式)</a:t>
                      </a:r>
                    </a:p>
                  </a:txBody>
                  <a:tcPr anchor="ctr" marL="73152" marR="73152">
                    <a:solidFill>
                      <a:srgbClr val="F2F4F6"/>
                    </a:solidFill>
                  </a:tcPr>
                </a:tc>
              </a:tr>
              <a:tr h="658368">
                <a:tc>
                  <a:txBody>
                    <a:bodyPr/>
                    <a:lstStyle/>
                    <a:p>
                      <a:r>
                        <a:rPr sz="1050" b="0">
                          <a:solidFill>
                            <a:srgbClr val="1A1A1A"/>
                          </a:solidFill>
                          <a:latin typeface="Meiryo"/>
                          <a:ea typeface="Meiryo"/>
                        </a:rPr>
                        <a:t>ご契約形態</a:t>
                      </a:r>
                    </a:p>
                  </a:txBody>
                  <a:tcPr anchor="ctr" marL="73152" marR="73152">
                    <a:solidFill>
                      <a:srgbClr val="FFFFFF"/>
                    </a:solidFill>
                  </a:tcPr>
                </a:tc>
                <a:tc>
                  <a:txBody>
                    <a:bodyPr/>
                    <a:lstStyle/>
                    <a:p>
                      <a:r>
                        <a:rPr sz="1050" b="0">
                          <a:solidFill>
                            <a:srgbClr val="1A1A1A"/>
                          </a:solidFill>
                          <a:latin typeface="Meiryo"/>
                          <a:ea typeface="Meiryo"/>
                        </a:rPr>
                        <a:t>秘密保持契約+監修合意</a:t>
                      </a:r>
                    </a:p>
                  </a:txBody>
                  <a:tcPr anchor="ctr" marL="73152" marR="73152">
                    <a:solidFill>
                      <a:srgbClr val="FFFFFF"/>
                    </a:solidFill>
                  </a:tcPr>
                </a:tc>
                <a:tc>
                  <a:txBody>
                    <a:bodyPr/>
                    <a:lstStyle/>
                    <a:p>
                      <a:r>
                        <a:rPr sz="1050" b="0">
                          <a:solidFill>
                            <a:srgbClr val="1A1A1A"/>
                          </a:solidFill>
                          <a:latin typeface="Meiryo"/>
                          <a:ea typeface="Meiryo"/>
                        </a:rPr>
                        <a:t>イベント協賛契約</a:t>
                      </a:r>
                    </a:p>
                  </a:txBody>
                  <a:tcPr anchor="ctr" marL="73152" marR="73152">
                    <a:solidFill>
                      <a:srgbClr val="FFFFFF"/>
                    </a:solidFill>
                  </a:tcPr>
                </a:tc>
                <a:tc>
                  <a:txBody>
                    <a:bodyPr/>
                    <a:lstStyle/>
                    <a:p>
                      <a:r>
                        <a:rPr sz="1050" b="0">
                          <a:solidFill>
                            <a:srgbClr val="1A1A1A"/>
                          </a:solidFill>
                          <a:latin typeface="Meiryo"/>
                          <a:ea typeface="Meiryo"/>
                        </a:rPr>
                        <a:t>短期単体契約(3か月)</a:t>
                      </a:r>
                    </a:p>
                  </a:txBody>
                  <a:tcPr anchor="ctr" marL="73152" marR="73152">
                    <a:solidFill>
                      <a:srgbClr val="FFFFFF"/>
                    </a:solidFill>
                  </a:tcPr>
                </a:tc>
              </a:tr>
              <a:tr h="658368">
                <a:tc>
                  <a:txBody>
                    <a:bodyPr/>
                    <a:lstStyle/>
                    <a:p>
                      <a:r>
                        <a:rPr sz="1050" b="0">
                          <a:solidFill>
                            <a:srgbClr val="1A1A1A"/>
                          </a:solidFill>
                          <a:latin typeface="Meiryo"/>
                          <a:ea typeface="Meiryo"/>
                        </a:rPr>
                        <a:t>費用目安</a:t>
                      </a:r>
                    </a:p>
                  </a:txBody>
                  <a:tcPr anchor="ctr" marL="73152" marR="73152">
                    <a:solidFill>
                      <a:srgbClr val="F2F4F6"/>
                    </a:solidFill>
                  </a:tcPr>
                </a:tc>
                <a:tc>
                  <a:txBody>
                    <a:bodyPr/>
                    <a:lstStyle/>
                    <a:p>
                      <a:r>
                        <a:rPr sz="1050" b="0">
                          <a:solidFill>
                            <a:srgbClr val="1A1A1A"/>
                          </a:solidFill>
                          <a:latin typeface="Meiryo"/>
                          <a:ea typeface="Meiryo"/>
                        </a:rPr>
                        <a:t>原則無償(制作実費のみ)</a:t>
                      </a:r>
                    </a:p>
                  </a:txBody>
                  <a:tcPr anchor="ctr" marL="73152" marR="73152">
                    <a:solidFill>
                      <a:srgbClr val="F2F4F6"/>
                    </a:solidFill>
                  </a:tcPr>
                </a:tc>
                <a:tc>
                  <a:txBody>
                    <a:bodyPr/>
                    <a:lstStyle/>
                    <a:p>
                      <a:r>
                        <a:rPr sz="1050" b="0">
                          <a:solidFill>
                            <a:srgbClr val="1A1A1A"/>
                          </a:solidFill>
                          <a:latin typeface="Meiryo"/>
                          <a:ea typeface="Meiryo"/>
                        </a:rPr>
                        <a:t>ご協賛金 300〜500万円</a:t>
                      </a:r>
                    </a:p>
                  </a:txBody>
                  <a:tcPr anchor="ctr" marL="73152" marR="73152">
                    <a:solidFill>
                      <a:srgbClr val="F2F4F6"/>
                    </a:solidFill>
                  </a:tcPr>
                </a:tc>
                <a:tc>
                  <a:txBody>
                    <a:bodyPr/>
                    <a:lstStyle/>
                    <a:p>
                      <a:r>
                        <a:rPr sz="1050" b="0">
                          <a:solidFill>
                            <a:srgbClr val="1A1A1A"/>
                          </a:solidFill>
                          <a:latin typeface="Meiryo"/>
                          <a:ea typeface="Meiryo"/>
                        </a:rPr>
                        <a:t>短期IP使用料300万円+着ぐるみ20万円/開催+作成物ロイヤリティ</a:t>
                      </a:r>
                    </a:p>
                  </a:txBody>
                  <a:tcPr anchor="ctr" marL="73152" marR="73152">
                    <a:solidFill>
                      <a:srgbClr val="F2F4F6"/>
                    </a:solidFill>
                  </a:tcPr>
                </a:tc>
              </a:tr>
              <a:tr h="658368">
                <a:tc>
                  <a:txBody>
                    <a:bodyPr/>
                    <a:lstStyle/>
                    <a:p>
                      <a:r>
                        <a:rPr sz="1050" b="0">
                          <a:solidFill>
                            <a:srgbClr val="1A1A1A"/>
                          </a:solidFill>
                          <a:latin typeface="Meiryo"/>
                          <a:ea typeface="Meiryo"/>
                        </a:rPr>
                        <a:t>検証できること</a:t>
                      </a:r>
                    </a:p>
                  </a:txBody>
                  <a:tcPr anchor="ctr" marL="73152" marR="73152">
                    <a:solidFill>
                      <a:srgbClr val="FFFFFF"/>
                    </a:solidFill>
                  </a:tcPr>
                </a:tc>
                <a:tc>
                  <a:txBody>
                    <a:bodyPr/>
                    <a:lstStyle/>
                    <a:p>
                      <a:r>
                        <a:rPr sz="1050" b="0">
                          <a:solidFill>
                            <a:srgbClr val="1A1A1A"/>
                          </a:solidFill>
                          <a:latin typeface="Meiryo"/>
                          <a:ea typeface="Meiryo"/>
                        </a:rPr>
                        <a:t>クリエイティブ品質・監修フロー・運用設計</a:t>
                      </a:r>
                    </a:p>
                  </a:txBody>
                  <a:tcPr anchor="ctr" marL="73152" marR="73152">
                    <a:solidFill>
                      <a:srgbClr val="FFFFFF"/>
                    </a:solidFill>
                  </a:tcPr>
                </a:tc>
                <a:tc>
                  <a:txBody>
                    <a:bodyPr/>
                    <a:lstStyle/>
                    <a:p>
                      <a:r>
                        <a:rPr sz="1050" b="0">
                          <a:solidFill>
                            <a:srgbClr val="1A1A1A"/>
                          </a:solidFill>
                          <a:latin typeface="Meiryo"/>
                          <a:ea typeface="Meiryo"/>
                        </a:rPr>
                        <a:t>集客力・ブース送客・相談転換の実地データ</a:t>
                      </a:r>
                    </a:p>
                  </a:txBody>
                  <a:tcPr anchor="ctr" marL="73152" marR="73152">
                    <a:solidFill>
                      <a:srgbClr val="FFFFFF"/>
                    </a:solidFill>
                  </a:tcPr>
                </a:tc>
                <a:tc>
                  <a:txBody>
                    <a:bodyPr/>
                    <a:lstStyle/>
                    <a:p>
                      <a:r>
                        <a:rPr sz="1050" b="0">
                          <a:solidFill>
                            <a:srgbClr val="1A1A1A"/>
                          </a:solidFill>
                          <a:latin typeface="Meiryo"/>
                          <a:ea typeface="Meiryo"/>
                        </a:rPr>
                        <a:t>全国展開前の店頭オペレーション・KPI実測</a:t>
                      </a:r>
                    </a:p>
                  </a:txBody>
                  <a:tcPr anchor="ctr" marL="73152" marR="73152">
                    <a:solidFill>
                      <a:srgbClr val="FFFFFF"/>
                    </a:solidFill>
                  </a:tcPr>
                </a:tc>
              </a:tr>
            </a:tbl>
          </a:graphicData>
        </a:graphic>
      </p:graphicFrame>
      <p:sp>
        <p:nvSpPr>
          <p:cNvPr id="9" name="TextBox 8"/>
          <p:cNvSpPr txBox="1"/>
          <p:nvPr/>
        </p:nvSpPr>
        <p:spPr>
          <a:xfrm>
            <a:off x="640080" y="5577840"/>
            <a:ext cx="10881360" cy="640080"/>
          </a:xfrm>
          <a:prstGeom prst="rect">
            <a:avLst/>
          </a:prstGeom>
          <a:noFill/>
        </p:spPr>
        <p:txBody>
          <a:bodyPr wrap="square" anchor="t" lIns="0" rIns="0" tIns="0" bIns="0">
            <a:spAutoFit/>
          </a:bodyPr>
          <a:lstStyle/>
          <a:p>
            <a:pPr algn="l">
              <a:spcAft>
                <a:spcPts val="400"/>
              </a:spcAft>
            </a:pPr>
            <a:r>
              <a:rPr sz="1150" b="1">
                <a:solidFill>
                  <a:srgbClr val="C00000"/>
                </a:solidFill>
                <a:latin typeface="Meiryo"/>
                <a:ea typeface="Meiryo"/>
              </a:rPr>
              <a:t>※パターン3の短期IP使用料は、年間ご契約へ移行された場合、初年度IP使用料に全額充当します。</a:t>
            </a:r>
          </a:p>
          <a:p>
            <a:pPr algn="l">
              <a:spcAft>
                <a:spcPts val="400"/>
              </a:spcAft>
            </a:pPr>
            <a:r>
              <a:rPr sz="1050" b="0">
                <a:solidFill>
                  <a:srgbClr val="5A626B"/>
                </a:solidFill>
                <a:latin typeface="Meiryo"/>
                <a:ea typeface="Meiryo"/>
              </a:rPr>
              <a:t>※2026年度内の貴社主催・貴社店頭でのイベント実施は、既存ライセンス条件の調整が必要なため個別協議となります。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推奨ロードマップ:2026年度内に手応えを作り、2027年4月に全国へ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パターン1→2→3を段階的に重ね、リスクなく検証を積み上げて年間契約へ接続します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2026年8月  </a:t>
            </a:r>
            <a:r>
              <a:rPr sz="1300" b="0">
                <a:solidFill>
                  <a:srgbClr val="1A1A1A"/>
                </a:solidFill>
                <a:latin typeface="Meiryo"/>
                <a:ea typeface="Meiryo"/>
              </a:rPr>
              <a:t>条件協議・テスト計画の合意</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2026年9月〜  </a:t>
            </a:r>
            <a:r>
              <a:rPr sz="1300" b="0">
                <a:solidFill>
                  <a:srgbClr val="1A1A1A"/>
                </a:solidFill>
                <a:latin typeface="Meiryo"/>
                <a:ea typeface="Meiryo"/>
              </a:rPr>
              <a:t>パターン1:デザイン開発・監修・仕組み検証を開始(無償)</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2026年11月〜2027年1月  </a:t>
            </a:r>
            <a:r>
              <a:rPr sz="1300" b="0">
                <a:solidFill>
                  <a:srgbClr val="1A1A1A"/>
                </a:solidFill>
                <a:latin typeface="Meiryo"/>
                <a:ea typeface="Meiryo"/>
              </a:rPr>
              <a:t>パターン2:協賛型イベントで集客・送客データを実地検証</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2027年2月〜3月  </a:t>
            </a:r>
            <a:r>
              <a:rPr sz="1300" b="0">
                <a:solidFill>
                  <a:srgbClr val="1A1A1A"/>
                </a:solidFill>
                <a:latin typeface="Meiryo"/>
                <a:ea typeface="Meiryo"/>
              </a:rPr>
              <a:t>検証結果の評価 → 年間契約の締結</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2027年4月〜  </a:t>
            </a:r>
            <a:r>
              <a:rPr sz="1300" b="1">
                <a:solidFill>
                  <a:srgbClr val="FFFFFF"/>
                </a:solidFill>
                <a:latin typeface="Meiryo"/>
                <a:ea typeface="Meiryo"/>
              </a:rPr>
              <a:t>年間契約開始。期首3か月はパターン3(パイロット)として重点運用 → 7月から全国拡大</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2026年度は「作る・確かめる」に集中し、実働は2027年4月から空白なくスタート。パターン2の協賛実績が年間契約の社内稟議の裏付けになります。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パイロットの成功基準と年間契約への接続(ご提案)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パイロットを「やって終わり」にしないため、成功基準と移行条件を事前にご合意いただく設計です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417320"/>
          <a:ext cx="10881359" cy="2514600"/>
        </p:xfrm>
        <a:graphic>
          <a:graphicData uri="http://schemas.openxmlformats.org/drawingml/2006/table">
            <a:tbl>
              <a:tblPr firstRow="1" bandRow="1">
                <a:tableStyleId>{5C22544A-7EE6-4342-B048-85BDC9FD1C3A}</a:tableStyleId>
              </a:tblPr>
              <a:tblGrid>
                <a:gridCol w="3548269"/>
                <a:gridCol w="3311718"/>
                <a:gridCol w="4021372"/>
              </a:tblGrid>
              <a:tr h="502920">
                <a:tc>
                  <a:txBody>
                    <a:bodyPr/>
                    <a:lstStyle/>
                    <a:p>
                      <a:r>
                        <a:rPr sz="1200" b="1">
                          <a:solidFill>
                            <a:srgbClr val="FFFFFF"/>
                          </a:solidFill>
                          <a:latin typeface="Meiryo"/>
                          <a:ea typeface="Meiryo"/>
                        </a:rPr>
                        <a:t>成功基準(貴社と共同設定)</a:t>
                      </a:r>
                    </a:p>
                  </a:txBody>
                  <a:tcPr anchor="ctr" marL="73152" marR="73152">
                    <a:solidFill>
                      <a:srgbClr val="232278"/>
                    </a:solidFill>
                  </a:tcPr>
                </a:tc>
                <a:tc>
                  <a:txBody>
                    <a:bodyPr/>
                    <a:lstStyle/>
                    <a:p>
                      <a:r>
                        <a:rPr sz="1200" b="1">
                          <a:solidFill>
                            <a:srgbClr val="FFFFFF"/>
                          </a:solidFill>
                          <a:latin typeface="Meiryo"/>
                          <a:ea typeface="Meiryo"/>
                        </a:rPr>
                        <a:t>測定方法</a:t>
                      </a:r>
                    </a:p>
                  </a:txBody>
                  <a:tcPr anchor="ctr" marL="73152" marR="73152">
                    <a:solidFill>
                      <a:srgbClr val="232278"/>
                    </a:solidFill>
                  </a:tcPr>
                </a:tc>
                <a:tc>
                  <a:txBody>
                    <a:bodyPr/>
                    <a:lstStyle/>
                    <a:p>
                      <a:r>
                        <a:rPr sz="1200" b="1">
                          <a:solidFill>
                            <a:srgbClr val="FFFFFF"/>
                          </a:solidFill>
                          <a:latin typeface="Meiryo"/>
                          <a:ea typeface="Meiryo"/>
                        </a:rPr>
                        <a:t>目安</a:t>
                      </a:r>
                    </a:p>
                  </a:txBody>
                  <a:tcPr anchor="ctr" marL="73152" marR="73152">
                    <a:solidFill>
                      <a:srgbClr val="232278"/>
                    </a:solidFill>
                  </a:tcPr>
                </a:tc>
              </a:tr>
              <a:tr h="502920">
                <a:tc>
                  <a:txBody>
                    <a:bodyPr/>
                    <a:lstStyle/>
                    <a:p>
                      <a:r>
                        <a:rPr sz="1150" b="0">
                          <a:solidFill>
                            <a:srgbClr val="1A1A1A"/>
                          </a:solidFill>
                          <a:latin typeface="Meiryo"/>
                          <a:ea typeface="Meiryo"/>
                        </a:rPr>
                        <a:t>店頭集客(1開催あたり来場)</a:t>
                      </a:r>
                    </a:p>
                  </a:txBody>
                  <a:tcPr anchor="ctr" marL="73152" marR="73152">
                    <a:solidFill>
                      <a:srgbClr val="FFFFFF"/>
                    </a:solidFill>
                  </a:tcPr>
                </a:tc>
                <a:tc>
                  <a:txBody>
                    <a:bodyPr/>
                    <a:lstStyle/>
                    <a:p>
                      <a:r>
                        <a:rPr sz="1150" b="0">
                          <a:solidFill>
                            <a:srgbClr val="1A1A1A"/>
                          </a:solidFill>
                          <a:latin typeface="Meiryo"/>
                          <a:ea typeface="Meiryo"/>
                        </a:rPr>
                        <a:t>会場カウント+キットQR読取数</a:t>
                      </a:r>
                    </a:p>
                  </a:txBody>
                  <a:tcPr anchor="ctr" marL="73152" marR="73152">
                    <a:solidFill>
                      <a:srgbClr val="FFFFFF"/>
                    </a:solidFill>
                  </a:tcPr>
                </a:tc>
                <a:tc>
                  <a:txBody>
                    <a:bodyPr/>
                    <a:lstStyle/>
                    <a:p>
                      <a:r>
                        <a:rPr sz="1150" b="0">
                          <a:solidFill>
                            <a:srgbClr val="1A1A1A"/>
                          </a:solidFill>
                          <a:latin typeface="Meiryo"/>
                          <a:ea typeface="Meiryo"/>
                        </a:rPr>
                        <a:t>現行IP施策の同等水準(比80%以上)を基準に共同設定</a:t>
                      </a:r>
                    </a:p>
                  </a:txBody>
                  <a:tcPr anchor="ctr" marL="73152" marR="73152">
                    <a:solidFill>
                      <a:srgbClr val="FFFFFF"/>
                    </a:solidFill>
                  </a:tcPr>
                </a:tc>
              </a:tr>
              <a:tr h="502920">
                <a:tc>
                  <a:txBody>
                    <a:bodyPr/>
                    <a:lstStyle/>
                    <a:p>
                      <a:r>
                        <a:rPr sz="1150" b="0">
                          <a:solidFill>
                            <a:srgbClr val="1A1A1A"/>
                          </a:solidFill>
                          <a:latin typeface="Meiryo"/>
                          <a:ea typeface="Meiryo"/>
                        </a:rPr>
                        <a:t>撮影会参加組数</a:t>
                      </a:r>
                    </a:p>
                  </a:txBody>
                  <a:tcPr anchor="ctr" marL="73152" marR="73152">
                    <a:solidFill>
                      <a:srgbClr val="F2F4F6"/>
                    </a:solidFill>
                  </a:tcPr>
                </a:tc>
                <a:tc>
                  <a:txBody>
                    <a:bodyPr/>
                    <a:lstStyle/>
                    <a:p>
                      <a:r>
                        <a:rPr sz="1150" b="0">
                          <a:solidFill>
                            <a:srgbClr val="1A1A1A"/>
                          </a:solidFill>
                          <a:latin typeface="Meiryo"/>
                          <a:ea typeface="Meiryo"/>
                        </a:rPr>
                        <a:t>参加受付数(1回30分×5回/日)</a:t>
                      </a:r>
                    </a:p>
                  </a:txBody>
                  <a:tcPr anchor="ctr" marL="73152" marR="73152">
                    <a:solidFill>
                      <a:srgbClr val="F2F4F6"/>
                    </a:solidFill>
                  </a:tcPr>
                </a:tc>
                <a:tc>
                  <a:txBody>
                    <a:bodyPr/>
                    <a:lstStyle/>
                    <a:p>
                      <a:r>
                        <a:rPr sz="1150" b="0">
                          <a:solidFill>
                            <a:srgbClr val="1A1A1A"/>
                          </a:solidFill>
                          <a:latin typeface="Meiryo"/>
                          <a:ea typeface="Meiryo"/>
                        </a:rPr>
                        <a:t>同上</a:t>
                      </a:r>
                    </a:p>
                  </a:txBody>
                  <a:tcPr anchor="ctr" marL="73152" marR="73152">
                    <a:solidFill>
                      <a:srgbClr val="F2F4F6"/>
                    </a:solidFill>
                  </a:tcPr>
                </a:tc>
              </a:tr>
              <a:tr h="502920">
                <a:tc>
                  <a:txBody>
                    <a:bodyPr/>
                    <a:lstStyle/>
                    <a:p>
                      <a:r>
                        <a:rPr sz="1150" b="0">
                          <a:solidFill>
                            <a:srgbClr val="1A1A1A"/>
                          </a:solidFill>
                          <a:latin typeface="Meiryo"/>
                          <a:ea typeface="Meiryo"/>
                        </a:rPr>
                        <a:t>ブース接触→相談への転換</a:t>
                      </a:r>
                    </a:p>
                  </a:txBody>
                  <a:tcPr anchor="ctr" marL="73152" marR="73152">
                    <a:solidFill>
                      <a:srgbClr val="FFFFFF"/>
                    </a:solidFill>
                  </a:tcPr>
                </a:tc>
                <a:tc>
                  <a:txBody>
                    <a:bodyPr/>
                    <a:lstStyle/>
                    <a:p>
                      <a:r>
                        <a:rPr sz="1150" b="0">
                          <a:solidFill>
                            <a:srgbClr val="1A1A1A"/>
                          </a:solidFill>
                          <a:latin typeface="Meiryo"/>
                          <a:ea typeface="Meiryo"/>
                        </a:rPr>
                        <a:t>QRアンケート+店頭相談記録</a:t>
                      </a:r>
                    </a:p>
                  </a:txBody>
                  <a:tcPr anchor="ctr" marL="73152" marR="73152">
                    <a:solidFill>
                      <a:srgbClr val="FFFFFF"/>
                    </a:solidFill>
                  </a:tcPr>
                </a:tc>
                <a:tc>
                  <a:txBody>
                    <a:bodyPr/>
                    <a:lstStyle/>
                    <a:p>
                      <a:r>
                        <a:rPr sz="1150" b="0">
                          <a:solidFill>
                            <a:srgbClr val="1A1A1A"/>
                          </a:solidFill>
                          <a:latin typeface="Meiryo"/>
                          <a:ea typeface="Meiryo"/>
                        </a:rPr>
                        <a:t>パイロットで実測しベンチマーク化</a:t>
                      </a:r>
                    </a:p>
                  </a:txBody>
                  <a:tcPr anchor="ctr" marL="73152" marR="73152">
                    <a:solidFill>
                      <a:srgbClr val="FFFFFF"/>
                    </a:solidFill>
                  </a:tcPr>
                </a:tc>
              </a:tr>
              <a:tr h="502920">
                <a:tc>
                  <a:txBody>
                    <a:bodyPr/>
                    <a:lstStyle/>
                    <a:p>
                      <a:r>
                        <a:rPr sz="1150" b="0">
                          <a:solidFill>
                            <a:srgbClr val="1A1A1A"/>
                          </a:solidFill>
                          <a:latin typeface="Meiryo"/>
                          <a:ea typeface="Meiryo"/>
                        </a:rPr>
                        <a:t>現場運用品質</a:t>
                      </a:r>
                    </a:p>
                  </a:txBody>
                  <a:tcPr anchor="ctr" marL="73152" marR="73152">
                    <a:solidFill>
                      <a:srgbClr val="F2F4F6"/>
                    </a:solidFill>
                  </a:tcPr>
                </a:tc>
                <a:tc>
                  <a:txBody>
                    <a:bodyPr/>
                    <a:lstStyle/>
                    <a:p>
                      <a:r>
                        <a:rPr sz="1150" b="0">
                          <a:solidFill>
                            <a:srgbClr val="1A1A1A"/>
                          </a:solidFill>
                          <a:latin typeface="Meiryo"/>
                          <a:ea typeface="Meiryo"/>
                        </a:rPr>
                        <a:t>店舗・代理店ヒアリング、事故・クレーム件数</a:t>
                      </a:r>
                    </a:p>
                  </a:txBody>
                  <a:tcPr anchor="ctr" marL="73152" marR="73152">
                    <a:solidFill>
                      <a:srgbClr val="F2F4F6"/>
                    </a:solidFill>
                  </a:tcPr>
                </a:tc>
                <a:tc>
                  <a:txBody>
                    <a:bodyPr/>
                    <a:lstStyle/>
                    <a:p>
                      <a:r>
                        <a:rPr sz="1150" b="0">
                          <a:solidFill>
                            <a:srgbClr val="1A1A1A"/>
                          </a:solidFill>
                          <a:latin typeface="Meiryo"/>
                          <a:ea typeface="Meiryo"/>
                        </a:rPr>
                        <a:t>重大事故・クレームゼロ</a:t>
                      </a:r>
                    </a:p>
                  </a:txBody>
                  <a:tcPr anchor="ctr" marL="73152" marR="73152">
                    <a:solidFill>
                      <a:srgbClr val="F2F4F6"/>
                    </a:solidFill>
                  </a:tcPr>
                </a:tc>
              </a:tr>
            </a:tbl>
          </a:graphicData>
        </a:graphic>
      </p:graphicFrame>
      <p:sp>
        <p:nvSpPr>
          <p:cNvPr id="9" name="Rounded Rectangle 8"/>
          <p:cNvSpPr/>
          <p:nvPr/>
        </p:nvSpPr>
        <p:spPr>
          <a:xfrm>
            <a:off x="640080" y="4069080"/>
            <a:ext cx="10881360" cy="1691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24528"/>
            <a:ext cx="10332720" cy="1463040"/>
          </a:xfrm>
          <a:prstGeom prst="rect">
            <a:avLst/>
          </a:prstGeom>
          <a:noFill/>
        </p:spPr>
        <p:txBody>
          <a:bodyPr wrap="square" anchor="t" lIns="0" rIns="0" tIns="0" bIns="0">
            <a:spAutoFit/>
          </a:bodyPr>
          <a:lstStyle/>
          <a:p>
            <a:pPr algn="l">
              <a:spcAft>
                <a:spcPts val="500"/>
              </a:spcAft>
            </a:pPr>
            <a:r>
              <a:rPr sz="1350" b="1">
                <a:solidFill>
                  <a:srgbClr val="C00000"/>
                </a:solidFill>
                <a:latin typeface="Meiryo"/>
                <a:ea typeface="Meiryo"/>
              </a:rPr>
              <a:t>年間契約への接続条件(基本合意書で事前にご合意)</a:t>
            </a:r>
          </a:p>
          <a:p>
            <a:pPr algn="l">
              <a:spcAft>
                <a:spcPts val="500"/>
              </a:spcAft>
            </a:pPr>
            <a:r>
              <a:rPr sz="1250" b="0">
                <a:solidFill>
                  <a:srgbClr val="1A1A1A"/>
                </a:solidFill>
                <a:latin typeface="Meiryo"/>
                <a:ea typeface="Meiryo"/>
              </a:rPr>
              <a:t>① 成功基準を達成した場合、年間契約へ移行することをパイロット開始前に基本合意(LOI)</a:t>
            </a:r>
          </a:p>
          <a:p>
            <a:pPr algn="l">
              <a:spcAft>
                <a:spcPts val="500"/>
              </a:spcAft>
            </a:pPr>
            <a:r>
              <a:rPr sz="1250" b="0">
                <a:solidFill>
                  <a:srgbClr val="1A1A1A"/>
                </a:solidFill>
                <a:latin typeface="Meiryo"/>
                <a:ea typeface="Meiryo"/>
              </a:rPr>
              <a:t>② 短期IP使用料300万円は、年間契約の初年度IP使用料に全額充当(=パイロット費用は実質ゼロに)</a:t>
            </a:r>
          </a:p>
          <a:p>
            <a:pPr algn="l">
              <a:spcAft>
                <a:spcPts val="500"/>
              </a:spcAft>
            </a:pPr>
            <a:r>
              <a:rPr sz="1250" b="0">
                <a:solidFill>
                  <a:srgbClr val="1A1A1A"/>
                </a:solidFill>
                <a:latin typeface="Meiryo"/>
                <a:ea typeface="Meiryo"/>
              </a:rPr>
              <a:t>③ パイロット期間中のご締結で、60周年記念素材・限定ビジュアルを初年度特典としてご提供</a:t>
            </a:r>
          </a:p>
          <a:p>
            <a:pPr algn="l">
              <a:spcAft>
                <a:spcPts val="500"/>
              </a:spcAft>
            </a:pPr>
            <a:r>
              <a:rPr sz="1250" b="0">
                <a:solidFill>
                  <a:srgbClr val="1A1A1A"/>
                </a:solidFill>
                <a:latin typeface="Meiryo"/>
                <a:ea typeface="Meiryo"/>
              </a:rPr>
              <a:t>④ 計測データは月次レポートで貴社ご報告用フォーマットに整えてご提出(社内ご説明にそのままご利用いただけます)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年間展開へのランプアップ計画</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パイロットと並行して供給体制を整備し、判定後は待ち時間ゼロで全国拡大へ移行します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13</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2027年4月〜6月  </a:t>
            </a:r>
            <a:r>
              <a:rPr sz="1300" b="0">
                <a:solidFill>
                  <a:srgbClr val="1A1A1A"/>
                </a:solidFill>
                <a:latin typeface="Meiryo"/>
                <a:ea typeface="Meiryo"/>
              </a:rPr>
              <a:t>パイロット:首都圏5〜10店舗・10〜20開催。月次レビューで基準進捗を確認</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  </a:t>
            </a:r>
            <a:r>
              <a:rPr sz="1300" b="0">
                <a:solidFill>
                  <a:srgbClr val="1A1A1A"/>
                </a:solidFill>
                <a:latin typeface="Meiryo"/>
                <a:ea typeface="Meiryo"/>
              </a:rPr>
              <a:t>成功基準の判定 → 年間契約へ移行(基本合意済みのためスムーズに発効)</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2027年7月〜9月  </a:t>
            </a:r>
            <a:r>
              <a:rPr sz="1300" b="0">
                <a:solidFill>
                  <a:srgbClr val="1A1A1A"/>
                </a:solidFill>
                <a:latin typeface="Meiryo"/>
                <a:ea typeface="Meiryo"/>
              </a:rPr>
              <a:t>夏休み商戦:約100開催規模へ拡大(関東+主要都市)</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2027年10月〜12月  </a:t>
            </a:r>
            <a:r>
              <a:rPr sz="1300" b="0">
                <a:solidFill>
                  <a:srgbClr val="1A1A1A"/>
                </a:solidFill>
                <a:latin typeface="Meiryo"/>
                <a:ea typeface="Meiryo"/>
              </a:rPr>
              <a:t>年末商戦:全国展開へ拡大(年率300〜600開催ペース)</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2028年1月〜3月  </a:t>
            </a:r>
            <a:r>
              <a:rPr sz="1300" b="1">
                <a:solidFill>
                  <a:srgbClr val="FFFFFF"/>
                </a:solidFill>
                <a:latin typeface="Meiryo"/>
                <a:ea typeface="Meiryo"/>
              </a:rPr>
              <a:t>春商戦:フル稼働。FY28のフル年間展開+複数年契約のご協議</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スーツ増産・指定アクターの研修はパイロット期間中に並行整備するため、判定後すぐに拡大できます。パイロットの計測データが、そのまま拡大時のKPI・出店計画の根拠になります。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本ご提案のまとめと次アクション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段階導入で意思決定リスクを抑えながら、60周年イヤーのウルトラマンを貴社の店頭資産にしていただくご提案です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15</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本ご提案のポイント</a:t>
            </a:r>
          </a:p>
          <a:p>
            <a:pPr algn="l">
              <a:spcAft>
                <a:spcPts val="700"/>
              </a:spcAft>
            </a:pPr>
            <a:r>
              <a:rPr sz="1300" b="0">
                <a:solidFill>
                  <a:srgbClr val="1A1A1A"/>
                </a:solidFill>
                <a:latin typeface="Meiryo"/>
                <a:ea typeface="Meiryo"/>
              </a:rPr>
              <a:t>・年間条件は3階建て(IP使用料2,000万円+着ぐるみ20万円/開催+ロイヤリティ20%)。固定は①のみの従量型</a:t>
            </a:r>
          </a:p>
          <a:p>
            <a:pPr algn="l">
              <a:spcAft>
                <a:spcPts val="700"/>
              </a:spcAft>
            </a:pPr>
            <a:r>
              <a:rPr sz="1300" b="0">
                <a:solidFill>
                  <a:srgbClr val="1A1A1A"/>
                </a:solidFill>
                <a:latin typeface="Meiryo"/>
                <a:ea typeface="Meiryo"/>
              </a:rPr>
              <a:t>・テスト(無償)→協賛検証→期首パイロット→年間契約の段階導入。各段階の投資は次に充当され無駄になりません</a:t>
            </a:r>
          </a:p>
          <a:p>
            <a:pPr algn="l">
              <a:spcAft>
                <a:spcPts val="700"/>
              </a:spcAft>
            </a:pPr>
            <a:r>
              <a:rPr sz="1300" b="0">
                <a:solidFill>
                  <a:srgbClr val="1A1A1A"/>
                </a:solidFill>
                <a:latin typeface="Meiryo"/>
                <a:ea typeface="Meiryo"/>
              </a:rPr>
              <a:t>・成功基準を共同設定し、達成時の年間移行を事前合意(LOI)。パイロットのデータが貴社の社内ご説明資料になります</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2026年8月</a:t>
                      </a:r>
                    </a:p>
                  </a:txBody>
                  <a:tcPr anchor="ctr" marL="73152" marR="73152">
                    <a:solidFill>
                      <a:srgbClr val="FFFFFF"/>
                    </a:solidFill>
                  </a:tcPr>
                </a:tc>
                <a:tc>
                  <a:txBody>
                    <a:bodyPr/>
                    <a:lstStyle/>
                    <a:p>
                      <a:r>
                        <a:rPr sz="1250" b="0">
                          <a:solidFill>
                            <a:srgbClr val="1A1A1A"/>
                          </a:solidFill>
                          <a:latin typeface="Meiryo"/>
                          <a:ea typeface="Meiryo"/>
                        </a:rPr>
                        <a:t>条件協議・テスト計画の基本合意(LOI)</a:t>
                      </a:r>
                    </a:p>
                  </a:txBody>
                  <a:tcPr anchor="ctr" marL="73152" marR="73152">
                    <a:solidFill>
                      <a:srgbClr val="FFFFFF"/>
                    </a:solidFill>
                  </a:tcPr>
                </a:tc>
              </a:tr>
              <a:tr h="457200">
                <a:tc>
                  <a:txBody>
                    <a:bodyPr/>
                    <a:lstStyle/>
                    <a:p>
                      <a:r>
                        <a:rPr sz="1250" b="0">
                          <a:solidFill>
                            <a:srgbClr val="1A1A1A"/>
                          </a:solidFill>
                          <a:latin typeface="Meiryo"/>
                          <a:ea typeface="Meiryo"/>
                        </a:rPr>
                        <a:t>2026年9月〜2027年3月</a:t>
                      </a:r>
                    </a:p>
                  </a:txBody>
                  <a:tcPr anchor="ctr" marL="73152" marR="73152">
                    <a:solidFill>
                      <a:srgbClr val="F2F4F6"/>
                    </a:solidFill>
                  </a:tcPr>
                </a:tc>
                <a:tc>
                  <a:txBody>
                    <a:bodyPr/>
                    <a:lstStyle/>
                    <a:p>
                      <a:r>
                        <a:rPr sz="1250" b="0">
                          <a:solidFill>
                            <a:srgbClr val="1A1A1A"/>
                          </a:solidFill>
                          <a:latin typeface="Meiryo"/>
                          <a:ea typeface="Meiryo"/>
                        </a:rPr>
                        <a:t>STEP1〜2:先行開発・協賛型イベント検証+供給体制整備</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STEP3〜4:期首パイロット → 7月 年間契約発効 → 全国拡大</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