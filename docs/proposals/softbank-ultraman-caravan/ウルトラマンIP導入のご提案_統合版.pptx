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cover.png"/>
          <p:cNvPicPr>
            <a:picLocks noChangeAspect="1"/>
          </p:cNvPicPr>
          <p:nvPr/>
        </p:nvPicPr>
        <p:blipFill>
          <a:blip r:embed="rId2"/>
          <a:stretch>
            <a:fillRect/>
          </a:stretch>
        </p:blipFill>
        <p:spPr>
          <a:xfrm>
            <a:off x="0" y="0"/>
            <a:ext cx="3739896" cy="6858000"/>
          </a:xfrm>
          <a:prstGeom prst="rect">
            <a:avLst/>
          </a:prstGeom>
        </p:spPr>
      </p:pic>
      <p:sp>
        <p:nvSpPr>
          <p:cNvPr id="3" name="TextBox 2"/>
          <p:cNvSpPr txBox="1"/>
          <p:nvPr/>
        </p:nvSpPr>
        <p:spPr>
          <a:xfrm>
            <a:off x="4114800" y="1188720"/>
            <a:ext cx="7680960" cy="457200"/>
          </a:xfrm>
          <a:prstGeom prst="rect">
            <a:avLst/>
          </a:prstGeom>
          <a:noFill/>
        </p:spPr>
        <p:txBody>
          <a:bodyPr wrap="square" anchor="t" lIns="0" rIns="0" tIns="0" bIns="0">
            <a:spAutoFit/>
          </a:bodyPr>
          <a:lstStyle/>
          <a:p>
            <a:pPr algn="ctr">
              <a:spcAft>
                <a:spcPts val="500"/>
              </a:spcAft>
            </a:pPr>
            <a:r>
              <a:rPr sz="1400" b="0">
                <a:solidFill>
                  <a:srgbClr val="5A626B"/>
                </a:solidFill>
                <a:latin typeface="Meiryo"/>
                <a:ea typeface="Meiryo"/>
              </a:rPr>
              <a:t>ソフトバンク株式会社 御中</a:t>
            </a:r>
          </a:p>
        </p:txBody>
      </p:sp>
      <p:sp>
        <p:nvSpPr>
          <p:cNvPr id="4" name="TextBox 3"/>
          <p:cNvSpPr txBox="1"/>
          <p:nvPr/>
        </p:nvSpPr>
        <p:spPr>
          <a:xfrm>
            <a:off x="4114800" y="2103120"/>
            <a:ext cx="7680960" cy="1828800"/>
          </a:xfrm>
          <a:prstGeom prst="rect">
            <a:avLst/>
          </a:prstGeom>
          <a:noFill/>
        </p:spPr>
        <p:txBody>
          <a:bodyPr wrap="square" anchor="t" lIns="0" rIns="0" tIns="0" bIns="0">
            <a:spAutoFit/>
          </a:bodyPr>
          <a:lstStyle/>
          <a:p>
            <a:pPr algn="ctr">
              <a:spcAft>
                <a:spcPts val="1000"/>
              </a:spcAft>
            </a:pPr>
            <a:r>
              <a:rPr sz="3000" b="1">
                <a:solidFill>
                  <a:srgbClr val="1A1A1A"/>
                </a:solidFill>
                <a:latin typeface="Meiryo"/>
                <a:ea typeface="Meiryo"/>
              </a:rPr>
              <a:t>ウルトラマンIP 導入のご提案</a:t>
            </a:r>
          </a:p>
          <a:p>
            <a:pPr algn="ctr">
              <a:spcAft>
                <a:spcPts val="1000"/>
              </a:spcAft>
            </a:pPr>
            <a:r>
              <a:rPr sz="2200" b="1">
                <a:solidFill>
                  <a:srgbClr val="1A1A1A"/>
                </a:solidFill>
                <a:latin typeface="Meiryo"/>
                <a:ea typeface="Meiryo"/>
              </a:rPr>
              <a:t>〜 テストから年間展開・複数年まで 〜</a:t>
            </a:r>
          </a:p>
        </p:txBody>
      </p:sp>
      <p:sp>
        <p:nvSpPr>
          <p:cNvPr id="5" name="TextBox 4"/>
          <p:cNvSpPr txBox="1"/>
          <p:nvPr/>
        </p:nvSpPr>
        <p:spPr>
          <a:xfrm>
            <a:off x="4114800" y="3886200"/>
            <a:ext cx="7680960" cy="822960"/>
          </a:xfrm>
          <a:prstGeom prst="rect">
            <a:avLst/>
          </a:prstGeom>
          <a:noFill/>
        </p:spPr>
        <p:txBody>
          <a:bodyPr wrap="square" anchor="t" lIns="0" rIns="0" tIns="0" bIns="0">
            <a:spAutoFit/>
          </a:bodyPr>
          <a:lstStyle/>
          <a:p>
            <a:pPr algn="ctr">
              <a:spcAft>
                <a:spcPts val="400"/>
              </a:spcAft>
            </a:pPr>
            <a:r>
              <a:rPr sz="1350" b="0">
                <a:solidFill>
                  <a:srgbClr val="1A1A1A"/>
                </a:solidFill>
                <a:latin typeface="Meiryo"/>
                <a:ea typeface="Meiryo"/>
              </a:rPr>
              <a:t>お見積り(年間ご契約条件)・テスト実施パターン・年間展開への接続まで、</a:t>
            </a:r>
          </a:p>
          <a:p>
            <a:pPr algn="ctr">
              <a:spcAft>
                <a:spcPts val="400"/>
              </a:spcAft>
            </a:pPr>
            <a:r>
              <a:rPr sz="1350" b="0">
                <a:solidFill>
                  <a:srgbClr val="1A1A1A"/>
                </a:solidFill>
                <a:latin typeface="Meiryo"/>
                <a:ea typeface="Meiryo"/>
              </a:rPr>
              <a:t>段階導入の全体像を1冊に統合したご提案です</a:t>
            </a:r>
          </a:p>
        </p:txBody>
      </p:sp>
      <p:sp>
        <p:nvSpPr>
          <p:cNvPr id="6" name="TextBox 5"/>
          <p:cNvSpPr txBox="1"/>
          <p:nvPr/>
        </p:nvSpPr>
        <p:spPr>
          <a:xfrm>
            <a:off x="4114800" y="5212080"/>
            <a:ext cx="7680960" cy="914400"/>
          </a:xfrm>
          <a:prstGeom prst="rect">
            <a:avLst/>
          </a:prstGeom>
          <a:noFill/>
        </p:spPr>
        <p:txBody>
          <a:bodyPr wrap="square" anchor="t" lIns="0" rIns="0" tIns="0" bIns="0">
            <a:spAutoFit/>
          </a:bodyPr>
          <a:lstStyle/>
          <a:p>
            <a:pPr algn="ctr">
              <a:spcAft>
                <a:spcPts val="300"/>
              </a:spcAft>
            </a:pPr>
            <a:r>
              <a:rPr sz="1500" b="1">
                <a:solidFill>
                  <a:srgbClr val="1F338C"/>
                </a:solidFill>
                <a:latin typeface="Meiryo"/>
                <a:ea typeface="Meiryo"/>
              </a:rPr>
              <a:t>2026年7月</a:t>
            </a:r>
          </a:p>
          <a:p>
            <a:pPr algn="ctr">
              <a:spcAft>
                <a:spcPts val="300"/>
              </a:spcAft>
            </a:pPr>
            <a:r>
              <a:rPr sz="1500" b="1">
                <a:solidFill>
                  <a:srgbClr val="1F338C"/>
                </a:solidFill>
                <a:latin typeface="Meiryo"/>
                <a:ea typeface="Meiryo"/>
              </a:rPr>
              <a:t>(株)円谷プロダクション</a:t>
            </a:r>
          </a:p>
          <a:p>
            <a:pPr algn="ctr">
              <a:spcAft>
                <a:spcPts val="300"/>
              </a:spcAft>
            </a:pPr>
            <a:r>
              <a:rPr sz="1050" b="0">
                <a:solidFill>
                  <a:srgbClr val="8E949B"/>
                </a:solidFill>
                <a:latin typeface="Meiryo"/>
                <a:ea typeface="Meiryo"/>
              </a:rPr>
              <a:t>金額はすべて税別・概算</a:t>
            </a:r>
          </a:p>
        </p:txBody>
      </p:sp>
      <p:sp>
        <p:nvSpPr>
          <p:cNvPr id="7" name="TextBox 6"/>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8" name="TextBox 7"/>
          <p:cNvSpPr txBox="1"/>
          <p:nvPr/>
        </p:nvSpPr>
        <p:spPr>
          <a:xfrm>
            <a:off x="9372600" y="6492240"/>
            <a:ext cx="228600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全体像:小さく始めて、段階的に全国へ</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各段階の意思決定は小さく、投資は次の段階に充当・接続されます。後戻りも可能な設計です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2</a:t>
            </a:r>
          </a:p>
        </p:txBody>
      </p:sp>
      <p:sp>
        <p:nvSpPr>
          <p:cNvPr id="8" name="Rounded Rectangle 7"/>
          <p:cNvSpPr/>
          <p:nvPr/>
        </p:nvSpPr>
        <p:spPr>
          <a:xfrm>
            <a:off x="822960" y="1508760"/>
            <a:ext cx="10515600" cy="713232"/>
          </a:xfrm>
          <a:prstGeom prst="roundRect">
            <a:avLst>
              <a:gd name="adj" fmla="val 11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250" b="1">
                <a:solidFill>
                  <a:srgbClr val="C00000"/>
                </a:solidFill>
                <a:latin typeface="Meiryo"/>
                <a:ea typeface="Meiryo"/>
              </a:rPr>
              <a:t>STEP1|2026年9月〜  </a:t>
            </a:r>
            <a:r>
              <a:rPr sz="1250" b="0">
                <a:solidFill>
                  <a:srgbClr val="1A1A1A"/>
                </a:solidFill>
                <a:latin typeface="Meiryo"/>
                <a:ea typeface="Meiryo"/>
              </a:rPr>
              <a:t>先行開発テスト(無償):デザイン開発・監修・仕組み検証</a:t>
            </a:r>
          </a:p>
        </p:txBody>
      </p:sp>
      <p:sp>
        <p:nvSpPr>
          <p:cNvPr id="9" name="Down Arrow 8"/>
          <p:cNvSpPr/>
          <p:nvPr/>
        </p:nvSpPr>
        <p:spPr>
          <a:xfrm>
            <a:off x="5943600" y="2194560"/>
            <a:ext cx="201168" cy="128016"/>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2350008"/>
            <a:ext cx="10515600" cy="713232"/>
          </a:xfrm>
          <a:prstGeom prst="roundRect">
            <a:avLst>
              <a:gd name="adj" fmla="val 11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250" b="1">
                <a:solidFill>
                  <a:srgbClr val="C00000"/>
                </a:solidFill>
                <a:latin typeface="Meiryo"/>
                <a:ea typeface="Meiryo"/>
              </a:rPr>
              <a:t>STEP2|2026年11月〜2027年1月  </a:t>
            </a:r>
            <a:r>
              <a:rPr sz="1250" b="0">
                <a:solidFill>
                  <a:srgbClr val="1A1A1A"/>
                </a:solidFill>
                <a:latin typeface="Meiryo"/>
                <a:ea typeface="Meiryo"/>
              </a:rPr>
              <a:t>協賛型イベント検証(300〜500万円):集客・送客の実地データ取得</a:t>
            </a:r>
          </a:p>
        </p:txBody>
      </p:sp>
      <p:sp>
        <p:nvSpPr>
          <p:cNvPr id="11" name="Down Arrow 10"/>
          <p:cNvSpPr/>
          <p:nvPr/>
        </p:nvSpPr>
        <p:spPr>
          <a:xfrm>
            <a:off x="5943600" y="3035808"/>
            <a:ext cx="201168" cy="128016"/>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3191256"/>
            <a:ext cx="10515600" cy="713232"/>
          </a:xfrm>
          <a:prstGeom prst="roundRect">
            <a:avLst>
              <a:gd name="adj" fmla="val 11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250" b="1">
                <a:solidFill>
                  <a:srgbClr val="C00000"/>
                </a:solidFill>
                <a:latin typeface="Meiryo"/>
                <a:ea typeface="Meiryo"/>
              </a:rPr>
              <a:t>STEP3|2027年4月〜6月  </a:t>
            </a:r>
            <a:r>
              <a:rPr sz="1250" b="0">
                <a:solidFill>
                  <a:srgbClr val="1A1A1A"/>
                </a:solidFill>
                <a:latin typeface="Meiryo"/>
                <a:ea typeface="Meiryo"/>
              </a:rPr>
              <a:t>期首パイロット(短期IP使用料300万円+着ぐるみ実費):店頭運用を実測 ※年間契約移行時は300万円を全額充当</a:t>
            </a:r>
          </a:p>
        </p:txBody>
      </p:sp>
      <p:sp>
        <p:nvSpPr>
          <p:cNvPr id="13" name="Down Arrow 12"/>
          <p:cNvSpPr/>
          <p:nvPr/>
        </p:nvSpPr>
        <p:spPr>
          <a:xfrm>
            <a:off x="5943600" y="3877056"/>
            <a:ext cx="201168" cy="128016"/>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 y="4032504"/>
            <a:ext cx="10515600" cy="713232"/>
          </a:xfrm>
          <a:prstGeom prst="roundRect">
            <a:avLst>
              <a:gd name="adj" fmla="val 11000"/>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250" b="1">
                <a:solidFill>
                  <a:srgbClr val="C00000"/>
                </a:solidFill>
                <a:latin typeface="Meiryo"/>
                <a:ea typeface="Meiryo"/>
              </a:rPr>
              <a:t>STEP4|2027年7月〜  </a:t>
            </a:r>
            <a:r>
              <a:rPr sz="1250" b="0">
                <a:solidFill>
                  <a:srgbClr val="1A1A1A"/>
                </a:solidFill>
                <a:latin typeface="Meiryo"/>
                <a:ea typeface="Meiryo"/>
              </a:rPr>
              <a:t>年間契約発効:成功基準達成で自動接続 → 夏商戦100開催 → 年末までに全国300〜600開催ペース</a:t>
            </a:r>
          </a:p>
        </p:txBody>
      </p:sp>
      <p:sp>
        <p:nvSpPr>
          <p:cNvPr id="15" name="Down Arrow 14"/>
          <p:cNvSpPr/>
          <p:nvPr/>
        </p:nvSpPr>
        <p:spPr>
          <a:xfrm>
            <a:off x="5943600" y="4718304"/>
            <a:ext cx="201168" cy="128016"/>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4873752"/>
            <a:ext cx="10515600" cy="713232"/>
          </a:xfrm>
          <a:prstGeom prst="roundRect">
            <a:avLst>
              <a:gd name="adj" fmla="val 11000"/>
            </a:avLst>
          </a:prstGeom>
          <a:solidFill>
            <a:srgbClr val="2322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250" b="1">
                <a:solidFill>
                  <a:srgbClr val="FFFFFF"/>
                </a:solidFill>
                <a:latin typeface="Meiryo"/>
                <a:ea typeface="Meiryo"/>
              </a:rPr>
              <a:t>STEP5|2028年4月〜  </a:t>
            </a:r>
            <a:r>
              <a:rPr sz="1250" b="1">
                <a:solidFill>
                  <a:srgbClr val="FFFFFF"/>
                </a:solidFill>
                <a:latin typeface="Meiryo"/>
                <a:ea typeface="Meiryo"/>
              </a:rPr>
              <a:t>FY28フル年間展開+複数年契約のご協議</a:t>
            </a:r>
          </a:p>
        </p:txBody>
      </p:sp>
      <p:sp>
        <p:nvSpPr>
          <p:cNvPr id="17" name="TextBox 16"/>
          <p:cNvSpPr txBox="1"/>
          <p:nvPr/>
        </p:nvSpPr>
        <p:spPr>
          <a:xfrm>
            <a:off x="822960" y="5852160"/>
            <a:ext cx="10515600" cy="502920"/>
          </a:xfrm>
          <a:prstGeom prst="rect">
            <a:avLst/>
          </a:prstGeom>
          <a:noFill/>
        </p:spPr>
        <p:txBody>
          <a:bodyPr wrap="square" anchor="t" lIns="0" rIns="0" tIns="0" bIns="0">
            <a:spAutoFit/>
          </a:bodyPr>
          <a:lstStyle/>
          <a:p>
            <a:pPr algn="l">
              <a:spcAft>
                <a:spcPts val="500"/>
              </a:spcAft>
            </a:pPr>
            <a:r>
              <a:rPr sz="1250" b="1">
                <a:solidFill>
                  <a:srgbClr val="C00000"/>
                </a:solidFill>
                <a:latin typeface="Meiryo"/>
                <a:ea typeface="Meiryo"/>
              </a:rPr>
              <a:t>設計思想:</a:t>
            </a:r>
            <a:r>
              <a:rPr sz="1250" b="0">
                <a:solidFill>
                  <a:srgbClr val="1A1A1A"/>
                </a:solidFill>
                <a:latin typeface="Meiryo"/>
                <a:ea typeface="Meiryo"/>
              </a:rPr>
              <a:t>STEP1〜3の投資は年間契約に充当・再利用され、無駄になりません。成功基準は貴社と共同設定し、達成時の年間移行を事前合意(LOI)いただきます。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ご依頼事項の整理</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貴社資料(2026/7/16)のご依頼・ご確認事項を以下の通り理解しております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3</a:t>
            </a:r>
          </a:p>
        </p:txBody>
      </p:sp>
      <p:graphicFrame>
        <p:nvGraphicFramePr>
          <p:cNvPr id="8" name="Table 7"/>
          <p:cNvGraphicFramePr>
            <a:graphicFrameLocks noGrp="1"/>
          </p:cNvGraphicFramePr>
          <p:nvPr/>
        </p:nvGraphicFramePr>
        <p:xfrm>
          <a:off x="640080" y="1463040"/>
          <a:ext cx="10881359" cy="2011680"/>
        </p:xfrm>
        <a:graphic>
          <a:graphicData uri="http://schemas.openxmlformats.org/drawingml/2006/table">
            <a:tbl>
              <a:tblPr firstRow="1" bandRow="1">
                <a:tableStyleId>{5C22544A-7EE6-4342-B048-85BDC9FD1C3A}</a:tableStyleId>
              </a:tblPr>
              <a:tblGrid>
                <a:gridCol w="2602064"/>
                <a:gridCol w="5677231"/>
                <a:gridCol w="2602064"/>
              </a:tblGrid>
              <a:tr h="502920">
                <a:tc>
                  <a:txBody>
                    <a:bodyPr/>
                    <a:lstStyle/>
                    <a:p>
                      <a:r>
                        <a:rPr sz="1200" b="1">
                          <a:solidFill>
                            <a:srgbClr val="FFFFFF"/>
                          </a:solidFill>
                          <a:latin typeface="Meiryo"/>
                          <a:ea typeface="Meiryo"/>
                        </a:rPr>
                        <a:t>区分</a:t>
                      </a:r>
                    </a:p>
                  </a:txBody>
                  <a:tcPr anchor="ctr" marL="73152" marR="73152">
                    <a:solidFill>
                      <a:srgbClr val="232278"/>
                    </a:solidFill>
                  </a:tcPr>
                </a:tc>
                <a:tc>
                  <a:txBody>
                    <a:bodyPr/>
                    <a:lstStyle/>
                    <a:p>
                      <a:r>
                        <a:rPr sz="1200" b="1">
                          <a:solidFill>
                            <a:srgbClr val="FFFFFF"/>
                          </a:solidFill>
                          <a:latin typeface="Meiryo"/>
                          <a:ea typeface="Meiryo"/>
                        </a:rPr>
                        <a:t>内容</a:t>
                      </a:r>
                    </a:p>
                  </a:txBody>
                  <a:tcPr anchor="ctr" marL="73152" marR="73152">
                    <a:solidFill>
                      <a:srgbClr val="232278"/>
                    </a:solidFill>
                  </a:tcPr>
                </a:tc>
                <a:tc>
                  <a:txBody>
                    <a:bodyPr/>
                    <a:lstStyle/>
                    <a:p>
                      <a:r>
                        <a:rPr sz="1200" b="1">
                          <a:solidFill>
                            <a:srgbClr val="FFFFFF"/>
                          </a:solidFill>
                          <a:latin typeface="Meiryo"/>
                          <a:ea typeface="Meiryo"/>
                        </a:rPr>
                        <a:t>貴社想定規模</a:t>
                      </a:r>
                    </a:p>
                  </a:txBody>
                  <a:tcPr anchor="ctr" marL="73152" marR="73152">
                    <a:solidFill>
                      <a:srgbClr val="232278"/>
                    </a:solidFill>
                  </a:tcPr>
                </a:tc>
              </a:tr>
              <a:tr h="502920">
                <a:tc>
                  <a:txBody>
                    <a:bodyPr/>
                    <a:lstStyle/>
                    <a:p>
                      <a:r>
                        <a:rPr sz="1250" b="0">
                          <a:solidFill>
                            <a:srgbClr val="1A1A1A"/>
                          </a:solidFill>
                          <a:latin typeface="Meiryo"/>
                          <a:ea typeface="Meiryo"/>
                        </a:rPr>
                        <a:t>① 着ぐるみイベント</a:t>
                      </a:r>
                    </a:p>
                  </a:txBody>
                  <a:tcPr anchor="ctr" marL="73152" marR="73152">
                    <a:solidFill>
                      <a:srgbClr val="FFFFFF"/>
                    </a:solidFill>
                  </a:tcPr>
                </a:tc>
                <a:tc>
                  <a:txBody>
                    <a:bodyPr/>
                    <a:lstStyle/>
                    <a:p>
                      <a:r>
                        <a:rPr sz="1250" b="0">
                          <a:solidFill>
                            <a:srgbClr val="1A1A1A"/>
                          </a:solidFill>
                          <a:latin typeface="Meiryo"/>
                          <a:ea typeface="Meiryo"/>
                        </a:rPr>
                        <a:t>店頭写真撮影会(グリーティング型)。イベントキットと併用</a:t>
                      </a:r>
                    </a:p>
                  </a:txBody>
                  <a:tcPr anchor="ctr" marL="73152" marR="73152">
                    <a:solidFill>
                      <a:srgbClr val="FFFFFF"/>
                    </a:solidFill>
                  </a:tcPr>
                </a:tc>
                <a:tc>
                  <a:txBody>
                    <a:bodyPr/>
                    <a:lstStyle/>
                    <a:p>
                      <a:r>
                        <a:rPr sz="1250" b="0">
                          <a:solidFill>
                            <a:srgbClr val="1A1A1A"/>
                          </a:solidFill>
                          <a:latin typeface="Meiryo"/>
                          <a:ea typeface="Meiryo"/>
                        </a:rPr>
                        <a:t>600開催/年(全国)</a:t>
                      </a:r>
                    </a:p>
                  </a:txBody>
                  <a:tcPr anchor="ctr" marL="73152" marR="73152">
                    <a:solidFill>
                      <a:srgbClr val="FFFFFF"/>
                    </a:solidFill>
                  </a:tcPr>
                </a:tc>
              </a:tr>
              <a:tr h="502920">
                <a:tc>
                  <a:txBody>
                    <a:bodyPr/>
                    <a:lstStyle/>
                    <a:p>
                      <a:r>
                        <a:rPr sz="1250" b="0">
                          <a:solidFill>
                            <a:srgbClr val="1A1A1A"/>
                          </a:solidFill>
                          <a:latin typeface="Meiryo"/>
                          <a:ea typeface="Meiryo"/>
                        </a:rPr>
                        <a:t>② 通常イベントキット</a:t>
                      </a:r>
                    </a:p>
                  </a:txBody>
                  <a:tcPr anchor="ctr" marL="73152" marR="73152">
                    <a:solidFill>
                      <a:srgbClr val="F2F4F6"/>
                    </a:solidFill>
                  </a:tcPr>
                </a:tc>
                <a:tc>
                  <a:txBody>
                    <a:bodyPr/>
                    <a:lstStyle/>
                    <a:p>
                      <a:r>
                        <a:rPr sz="1250" b="0">
                          <a:solidFill>
                            <a:srgbClr val="1A1A1A"/>
                          </a:solidFill>
                          <a:latin typeface="Meiryo"/>
                          <a:ea typeface="Meiryo"/>
                        </a:rPr>
                        <a:t>展示キット+ノベルティ(作成主体は貴社)</a:t>
                      </a:r>
                    </a:p>
                  </a:txBody>
                  <a:tcPr anchor="ctr" marL="73152" marR="73152">
                    <a:solidFill>
                      <a:srgbClr val="F2F4F6"/>
                    </a:solidFill>
                  </a:tcPr>
                </a:tc>
                <a:tc>
                  <a:txBody>
                    <a:bodyPr/>
                    <a:lstStyle/>
                    <a:p>
                      <a:r>
                        <a:rPr sz="1250" b="0">
                          <a:solidFill>
                            <a:srgbClr val="1A1A1A"/>
                          </a:solidFill>
                          <a:latin typeface="Meiryo"/>
                          <a:ea typeface="Meiryo"/>
                        </a:rPr>
                        <a:t>20,000開催/年(全国)</a:t>
                      </a:r>
                    </a:p>
                  </a:txBody>
                  <a:tcPr anchor="ctr" marL="73152" marR="73152">
                    <a:solidFill>
                      <a:srgbClr val="F2F4F6"/>
                    </a:solidFill>
                  </a:tcPr>
                </a:tc>
              </a:tr>
              <a:tr h="502920">
                <a:tc>
                  <a:txBody>
                    <a:bodyPr/>
                    <a:lstStyle/>
                    <a:p>
                      <a:r>
                        <a:rPr sz="1250" b="0">
                          <a:solidFill>
                            <a:srgbClr val="1A1A1A"/>
                          </a:solidFill>
                          <a:latin typeface="Meiryo"/>
                          <a:ea typeface="Meiryo"/>
                        </a:rPr>
                        <a:t>③ イベント外</a:t>
                      </a:r>
                    </a:p>
                  </a:txBody>
                  <a:tcPr anchor="ctr" marL="73152" marR="73152">
                    <a:solidFill>
                      <a:srgbClr val="FFFFFF"/>
                    </a:solidFill>
                  </a:tcPr>
                </a:tc>
                <a:tc>
                  <a:txBody>
                    <a:bodyPr/>
                    <a:lstStyle/>
                    <a:p>
                      <a:r>
                        <a:rPr sz="1250" b="0">
                          <a:solidFill>
                            <a:srgbClr val="1A1A1A"/>
                          </a:solidFill>
                          <a:latin typeface="Meiryo"/>
                          <a:ea typeface="Meiryo"/>
                        </a:rPr>
                        <a:t>店頭訴求ツールへのIP活用(ポスター・POP等)</a:t>
                      </a:r>
                    </a:p>
                  </a:txBody>
                  <a:tcPr anchor="ctr" marL="73152" marR="73152">
                    <a:solidFill>
                      <a:srgbClr val="FFFFFF"/>
                    </a:solidFill>
                  </a:tcPr>
                </a:tc>
                <a:tc>
                  <a:txBody>
                    <a:bodyPr/>
                    <a:lstStyle/>
                    <a:p>
                      <a:r>
                        <a:rPr sz="1250" b="0">
                          <a:solidFill>
                            <a:srgbClr val="1A1A1A"/>
                          </a:solidFill>
                          <a:latin typeface="Meiryo"/>
                          <a:ea typeface="Meiryo"/>
                        </a:rPr>
                        <a:t>各種ツールで展開</a:t>
                      </a:r>
                    </a:p>
                  </a:txBody>
                  <a:tcPr anchor="ctr" marL="73152" marR="73152">
                    <a:solidFill>
                      <a:srgbClr val="FFFFFF"/>
                    </a:solidFill>
                  </a:tcPr>
                </a:tc>
              </a:tr>
            </a:tbl>
          </a:graphicData>
        </a:graphic>
      </p:graphicFrame>
      <p:sp>
        <p:nvSpPr>
          <p:cNvPr id="9" name="TextBox 8"/>
          <p:cNvSpPr txBox="1"/>
          <p:nvPr/>
        </p:nvSpPr>
        <p:spPr>
          <a:xfrm>
            <a:off x="777240" y="3383280"/>
            <a:ext cx="10789920" cy="822960"/>
          </a:xfrm>
          <a:prstGeom prst="rect">
            <a:avLst/>
          </a:prstGeom>
          <a:noFill/>
        </p:spPr>
        <p:txBody>
          <a:bodyPr wrap="square" anchor="t" lIns="0" rIns="0" tIns="0" bIns="0">
            <a:spAutoFit/>
          </a:bodyPr>
          <a:lstStyle/>
          <a:p>
            <a:pPr algn="l">
              <a:spcAft>
                <a:spcPts val="400"/>
              </a:spcAft>
            </a:pPr>
            <a:r>
              <a:rPr sz="1400" b="1">
                <a:solidFill>
                  <a:srgbClr val="C00000"/>
                </a:solidFill>
                <a:latin typeface="Meiryo"/>
                <a:ea typeface="Meiryo"/>
              </a:rPr>
              <a:t>ご依頼内容:</a:t>
            </a:r>
            <a:r>
              <a:rPr sz="1400" b="1">
                <a:solidFill>
                  <a:srgbClr val="1A1A1A"/>
                </a:solidFill>
                <a:latin typeface="Meiryo"/>
                <a:ea typeface="Meiryo"/>
              </a:rPr>
              <a:t>年間費用および内訳のご提示(IP利用/契約料、着ぐるみ費用、作成許諾費用〔ロイヤリティ〕)</a:t>
            </a:r>
          </a:p>
        </p:txBody>
      </p:sp>
      <p:sp>
        <p:nvSpPr>
          <p:cNvPr id="10" name="Rounded Rectangle 9"/>
          <p:cNvSpPr/>
          <p:nvPr/>
        </p:nvSpPr>
        <p:spPr>
          <a:xfrm>
            <a:off x="640080" y="4160520"/>
            <a:ext cx="10881360" cy="1600200"/>
          </a:xfrm>
          <a:prstGeom prst="roundRect">
            <a:avLst>
              <a:gd name="adj" fmla="val 6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343400"/>
            <a:ext cx="10332720" cy="1325880"/>
          </a:xfrm>
          <a:prstGeom prst="rect">
            <a:avLst/>
          </a:prstGeom>
          <a:noFill/>
        </p:spPr>
        <p:txBody>
          <a:bodyPr wrap="square" anchor="t" lIns="0" rIns="0" tIns="0" bIns="0">
            <a:spAutoFit/>
          </a:bodyPr>
          <a:lstStyle/>
          <a:p>
            <a:pPr algn="l">
              <a:spcAft>
                <a:spcPts val="600"/>
              </a:spcAft>
            </a:pPr>
            <a:r>
              <a:rPr sz="1300" b="1">
                <a:solidFill>
                  <a:srgbClr val="C00000"/>
                </a:solidFill>
                <a:latin typeface="Meiryo"/>
                <a:ea typeface="Meiryo"/>
              </a:rPr>
              <a:t>あわせてご回答する確認ポイント(見積もり以外)</a:t>
            </a:r>
          </a:p>
          <a:p>
            <a:pPr algn="l">
              <a:spcAft>
                <a:spcPts val="600"/>
              </a:spcAft>
            </a:pPr>
            <a:r>
              <a:rPr sz="1250" b="0">
                <a:solidFill>
                  <a:srgbClr val="1A1A1A"/>
                </a:solidFill>
                <a:latin typeface="Meiryo"/>
                <a:ea typeface="Meiryo"/>
              </a:rPr>
              <a:t>1. FY26中のテスト実施可否(単体契約 or 短期契約 等)</a:t>
            </a:r>
          </a:p>
          <a:p>
            <a:pPr algn="l">
              <a:spcAft>
                <a:spcPts val="600"/>
              </a:spcAft>
            </a:pPr>
            <a:r>
              <a:rPr sz="1250" b="0">
                <a:solidFill>
                  <a:srgbClr val="1A1A1A"/>
                </a:solidFill>
                <a:latin typeface="Meiryo"/>
                <a:ea typeface="Meiryo"/>
              </a:rPr>
              <a:t>2. ノベルティ作成時の費用(ロイヤリティ)発生有無</a:t>
            </a:r>
          </a:p>
          <a:p>
            <a:pPr algn="l">
              <a:spcAft>
                <a:spcPts val="600"/>
              </a:spcAft>
            </a:pPr>
            <a:r>
              <a:rPr sz="1250" b="0">
                <a:solidFill>
                  <a:srgbClr val="1A1A1A"/>
                </a:solidFill>
                <a:latin typeface="Meiryo"/>
                <a:ea typeface="Meiryo"/>
              </a:rPr>
              <a:t>3. イベント実施会場に関する制限事項有無(更衣室の準備など)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年間ご契約費用の全体構造</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固定費は年間IP使用料のみ。着ぐるみ費用・ロイヤリティは実施数・作成数に連動する従量型です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4</a:t>
            </a:r>
          </a:p>
        </p:txBody>
      </p:sp>
      <p:sp>
        <p:nvSpPr>
          <p:cNvPr id="8" name="Rounded Rectangle 7"/>
          <p:cNvSpPr/>
          <p:nvPr/>
        </p:nvSpPr>
        <p:spPr>
          <a:xfrm>
            <a:off x="640080" y="1600200"/>
            <a:ext cx="10881360" cy="1188720"/>
          </a:xfrm>
          <a:prstGeom prst="roundRect">
            <a:avLst>
              <a:gd name="adj" fmla="val 8000"/>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28216"/>
            <a:ext cx="4206240" cy="914400"/>
          </a:xfrm>
          <a:prstGeom prst="rect">
            <a:avLst/>
          </a:prstGeom>
          <a:noFill/>
        </p:spPr>
        <p:txBody>
          <a:bodyPr wrap="square" anchor="t" lIns="0" rIns="0" tIns="0" bIns="0">
            <a:spAutoFit/>
          </a:bodyPr>
          <a:lstStyle/>
          <a:p>
            <a:pPr algn="l">
              <a:spcAft>
                <a:spcPts val="400"/>
              </a:spcAft>
            </a:pPr>
            <a:r>
              <a:rPr sz="1400" b="1">
                <a:solidFill>
                  <a:srgbClr val="C00000"/>
                </a:solidFill>
                <a:latin typeface="Meiryo"/>
                <a:ea typeface="Meiryo"/>
              </a:rPr>
              <a:t>① 年間IP使用料(固定)</a:t>
            </a:r>
          </a:p>
          <a:p>
            <a:pPr algn="l">
              <a:spcAft>
                <a:spcPts val="400"/>
              </a:spcAft>
            </a:pPr>
            <a:r>
              <a:rPr sz="1100" b="0">
                <a:solidFill>
                  <a:srgbClr val="5A626B"/>
                </a:solidFill>
                <a:latin typeface="Meiryo"/>
                <a:ea typeface="Meiryo"/>
              </a:rPr>
              <a:t>イベント・店頭訴求ツール・Web/SNSでのIP利用と監修対応を包括</a:t>
            </a:r>
          </a:p>
        </p:txBody>
      </p:sp>
      <p:sp>
        <p:nvSpPr>
          <p:cNvPr id="10" name="TextBox 9"/>
          <p:cNvSpPr txBox="1"/>
          <p:nvPr/>
        </p:nvSpPr>
        <p:spPr>
          <a:xfrm>
            <a:off x="6949440" y="1600200"/>
            <a:ext cx="4297680" cy="1188720"/>
          </a:xfrm>
          <a:prstGeom prst="rect">
            <a:avLst/>
          </a:prstGeom>
          <a:noFill/>
        </p:spPr>
        <p:txBody>
          <a:bodyPr wrap="square" anchor="ctr" lIns="0" rIns="0" tIns="0" bIns="0">
            <a:spAutoFit/>
          </a:bodyPr>
          <a:lstStyle/>
          <a:p>
            <a:pPr algn="r">
              <a:spcAft>
                <a:spcPts val="500"/>
              </a:spcAft>
            </a:pPr>
            <a:r>
              <a:rPr sz="2200" b="1">
                <a:solidFill>
                  <a:srgbClr val="1A1A1A"/>
                </a:solidFill>
                <a:latin typeface="Meiryo"/>
                <a:ea typeface="Meiryo"/>
              </a:rPr>
              <a:t>2,000万円/年</a:t>
            </a:r>
          </a:p>
        </p:txBody>
      </p:sp>
      <p:sp>
        <p:nvSpPr>
          <p:cNvPr id="11" name="Rounded Rectangle 10"/>
          <p:cNvSpPr/>
          <p:nvPr/>
        </p:nvSpPr>
        <p:spPr>
          <a:xfrm>
            <a:off x="640080" y="2971800"/>
            <a:ext cx="10881360" cy="1188720"/>
          </a:xfrm>
          <a:prstGeom prst="roundRect">
            <a:avLst>
              <a:gd name="adj" fmla="val 8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099816"/>
            <a:ext cx="4206240" cy="914400"/>
          </a:xfrm>
          <a:prstGeom prst="rect">
            <a:avLst/>
          </a:prstGeom>
          <a:noFill/>
        </p:spPr>
        <p:txBody>
          <a:bodyPr wrap="square" anchor="t" lIns="0" rIns="0" tIns="0" bIns="0">
            <a:spAutoFit/>
          </a:bodyPr>
          <a:lstStyle/>
          <a:p>
            <a:pPr algn="l">
              <a:spcAft>
                <a:spcPts val="400"/>
              </a:spcAft>
            </a:pPr>
            <a:r>
              <a:rPr sz="1400" b="1">
                <a:solidFill>
                  <a:srgbClr val="C00000"/>
                </a:solidFill>
                <a:latin typeface="Meiryo"/>
                <a:ea typeface="Meiryo"/>
              </a:rPr>
              <a:t>② 着ぐるみイベント費用(従量)</a:t>
            </a:r>
          </a:p>
          <a:p>
            <a:pPr algn="l">
              <a:spcAft>
                <a:spcPts val="400"/>
              </a:spcAft>
            </a:pPr>
            <a:r>
              <a:rPr sz="1100" b="0">
                <a:solidFill>
                  <a:srgbClr val="5A626B"/>
                </a:solidFill>
                <a:latin typeface="Meiryo"/>
                <a:ea typeface="Meiryo"/>
              </a:rPr>
              <a:t>撮影会・グリーティング型。実施数に応じたお支払い</a:t>
            </a:r>
          </a:p>
        </p:txBody>
      </p:sp>
      <p:sp>
        <p:nvSpPr>
          <p:cNvPr id="13" name="TextBox 12"/>
          <p:cNvSpPr txBox="1"/>
          <p:nvPr/>
        </p:nvSpPr>
        <p:spPr>
          <a:xfrm>
            <a:off x="6949440" y="2971800"/>
            <a:ext cx="4297680" cy="1188720"/>
          </a:xfrm>
          <a:prstGeom prst="rect">
            <a:avLst/>
          </a:prstGeom>
          <a:noFill/>
        </p:spPr>
        <p:txBody>
          <a:bodyPr wrap="square" anchor="ctr" lIns="0" rIns="0" tIns="0" bIns="0">
            <a:spAutoFit/>
          </a:bodyPr>
          <a:lstStyle/>
          <a:p>
            <a:pPr algn="r">
              <a:spcAft>
                <a:spcPts val="500"/>
              </a:spcAft>
            </a:pPr>
            <a:r>
              <a:rPr sz="2200" b="1">
                <a:solidFill>
                  <a:srgbClr val="1A1A1A"/>
                </a:solidFill>
                <a:latin typeface="Meiryo"/>
                <a:ea typeface="Meiryo"/>
              </a:rPr>
              <a:t>20万円/開催(土日2日間)</a:t>
            </a:r>
          </a:p>
        </p:txBody>
      </p:sp>
      <p:sp>
        <p:nvSpPr>
          <p:cNvPr id="14" name="Rounded Rectangle 13"/>
          <p:cNvSpPr/>
          <p:nvPr/>
        </p:nvSpPr>
        <p:spPr>
          <a:xfrm>
            <a:off x="640080" y="4343400"/>
            <a:ext cx="10881360" cy="1188720"/>
          </a:xfrm>
          <a:prstGeom prst="roundRect">
            <a:avLst>
              <a:gd name="adj" fmla="val 8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471416"/>
            <a:ext cx="4206240" cy="914400"/>
          </a:xfrm>
          <a:prstGeom prst="rect">
            <a:avLst/>
          </a:prstGeom>
          <a:noFill/>
        </p:spPr>
        <p:txBody>
          <a:bodyPr wrap="square" anchor="t" lIns="0" rIns="0" tIns="0" bIns="0">
            <a:spAutoFit/>
          </a:bodyPr>
          <a:lstStyle/>
          <a:p>
            <a:pPr algn="l">
              <a:spcAft>
                <a:spcPts val="400"/>
              </a:spcAft>
            </a:pPr>
            <a:r>
              <a:rPr sz="1400" b="1">
                <a:solidFill>
                  <a:srgbClr val="C00000"/>
                </a:solidFill>
                <a:latin typeface="Meiryo"/>
                <a:ea typeface="Meiryo"/>
              </a:rPr>
              <a:t>③ 作成許諾費用(従量)</a:t>
            </a:r>
          </a:p>
          <a:p>
            <a:pPr algn="l">
              <a:spcAft>
                <a:spcPts val="400"/>
              </a:spcAft>
            </a:pPr>
            <a:r>
              <a:rPr sz="1100" b="0">
                <a:solidFill>
                  <a:srgbClr val="5A626B"/>
                </a:solidFill>
                <a:latin typeface="Meiryo"/>
                <a:ea typeface="Meiryo"/>
              </a:rPr>
              <a:t>イベントキット・ノベルティ・訴求ツール等のロイヤリティ</a:t>
            </a:r>
          </a:p>
        </p:txBody>
      </p:sp>
      <p:sp>
        <p:nvSpPr>
          <p:cNvPr id="16" name="TextBox 15"/>
          <p:cNvSpPr txBox="1"/>
          <p:nvPr/>
        </p:nvSpPr>
        <p:spPr>
          <a:xfrm>
            <a:off x="6949440" y="4343400"/>
            <a:ext cx="4297680" cy="1188720"/>
          </a:xfrm>
          <a:prstGeom prst="rect">
            <a:avLst/>
          </a:prstGeom>
          <a:noFill/>
        </p:spPr>
        <p:txBody>
          <a:bodyPr wrap="square" anchor="ctr" lIns="0" rIns="0" tIns="0" bIns="0">
            <a:spAutoFit/>
          </a:bodyPr>
          <a:lstStyle/>
          <a:p>
            <a:pPr algn="r">
              <a:spcAft>
                <a:spcPts val="500"/>
              </a:spcAft>
            </a:pPr>
            <a:r>
              <a:rPr sz="2200" b="1">
                <a:solidFill>
                  <a:srgbClr val="1A1A1A"/>
                </a:solidFill>
                <a:latin typeface="Meiryo"/>
                <a:ea typeface="Meiryo"/>
              </a:rPr>
              <a:t>作成費用の20%</a:t>
            </a:r>
          </a:p>
        </p:txBody>
      </p:sp>
      <p:sp>
        <p:nvSpPr>
          <p:cNvPr id="17" name="TextBox 16"/>
          <p:cNvSpPr txBox="1"/>
          <p:nvPr/>
        </p:nvSpPr>
        <p:spPr>
          <a:xfrm>
            <a:off x="640080" y="5806440"/>
            <a:ext cx="10881360" cy="457200"/>
          </a:xfrm>
          <a:prstGeom prst="rect">
            <a:avLst/>
          </a:prstGeom>
          <a:noFill/>
        </p:spPr>
        <p:txBody>
          <a:bodyPr wrap="square" anchor="t" lIns="0" rIns="0" tIns="0" bIns="0">
            <a:spAutoFit/>
          </a:bodyPr>
          <a:lstStyle/>
          <a:p>
            <a:pPr algn="l">
              <a:spcAft>
                <a:spcPts val="500"/>
              </a:spcAft>
            </a:pPr>
            <a:r>
              <a:rPr sz="1100" b="0">
                <a:solidFill>
                  <a:srgbClr val="5A626B"/>
                </a:solidFill>
                <a:latin typeface="Meiryo"/>
                <a:ea typeface="Meiryo"/>
              </a:rPr>
              <a:t>※ポケモン様の現行運用と同一の費用構造(年間契約+着ぐるみ都度+ロイヤリティ)に揃えており、貴社の運用フローを変えずに導入いただけます。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①年間IP使用料:2,000万円(税別)</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60周年イヤーのプレミアムと、通信業種での優先的なお取り組みを含む年間包括のご提供条件です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5</a:t>
            </a:r>
          </a:p>
        </p:txBody>
      </p:sp>
      <p:graphicFrame>
        <p:nvGraphicFramePr>
          <p:cNvPr id="8" name="Table 7"/>
          <p:cNvGraphicFramePr>
            <a:graphicFrameLocks noGrp="1"/>
          </p:cNvGraphicFramePr>
          <p:nvPr/>
        </p:nvGraphicFramePr>
        <p:xfrm>
          <a:off x="640080" y="1463040"/>
          <a:ext cx="10881359" cy="3657600"/>
        </p:xfrm>
        <a:graphic>
          <a:graphicData uri="http://schemas.openxmlformats.org/drawingml/2006/table">
            <a:tbl>
              <a:tblPr firstRow="1" bandRow="1">
                <a:tableStyleId>{5C22544A-7EE6-4342-B048-85BDC9FD1C3A}</a:tableStyleId>
              </a:tblPr>
              <a:tblGrid>
                <a:gridCol w="3336950"/>
                <a:gridCol w="7544409"/>
              </a:tblGrid>
              <a:tr h="457200">
                <a:tc>
                  <a:txBody>
                    <a:bodyPr/>
                    <a:lstStyle/>
                    <a:p>
                      <a:r>
                        <a:rPr sz="1200" b="1">
                          <a:solidFill>
                            <a:srgbClr val="FFFFFF"/>
                          </a:solidFill>
                          <a:latin typeface="Meiryo"/>
                          <a:ea typeface="Meiryo"/>
                        </a:rPr>
                        <a:t>項目</a:t>
                      </a:r>
                    </a:p>
                  </a:txBody>
                  <a:tcPr anchor="ctr" marL="73152" marR="73152">
                    <a:solidFill>
                      <a:srgbClr val="232278"/>
                    </a:solidFill>
                  </a:tcPr>
                </a:tc>
                <a:tc>
                  <a:txBody>
                    <a:bodyPr/>
                    <a:lstStyle/>
                    <a:p>
                      <a:r>
                        <a:rPr sz="1200" b="1">
                          <a:solidFill>
                            <a:srgbClr val="FFFFFF"/>
                          </a:solidFill>
                          <a:latin typeface="Meiryo"/>
                          <a:ea typeface="Meiryo"/>
                        </a:rPr>
                        <a:t>条件</a:t>
                      </a:r>
                    </a:p>
                  </a:txBody>
                  <a:tcPr anchor="ctr" marL="73152" marR="73152">
                    <a:solidFill>
                      <a:srgbClr val="232278"/>
                    </a:solidFill>
                  </a:tcPr>
                </a:tc>
              </a:tr>
              <a:tr h="457200">
                <a:tc>
                  <a:txBody>
                    <a:bodyPr/>
                    <a:lstStyle/>
                    <a:p>
                      <a:r>
                        <a:rPr sz="1200" b="0">
                          <a:solidFill>
                            <a:srgbClr val="1A1A1A"/>
                          </a:solidFill>
                          <a:latin typeface="Meiryo"/>
                          <a:ea typeface="Meiryo"/>
                        </a:rPr>
                        <a:t>契約期間</a:t>
                      </a:r>
                    </a:p>
                  </a:txBody>
                  <a:tcPr anchor="ctr" marL="73152" marR="73152">
                    <a:solidFill>
                      <a:srgbClr val="FFFFFF"/>
                    </a:solidFill>
                  </a:tcPr>
                </a:tc>
                <a:tc>
                  <a:txBody>
                    <a:bodyPr/>
                    <a:lstStyle/>
                    <a:p>
                      <a:r>
                        <a:rPr sz="1200" b="0">
                          <a:solidFill>
                            <a:srgbClr val="1A1A1A"/>
                          </a:solidFill>
                          <a:latin typeface="Meiryo"/>
                          <a:ea typeface="Meiryo"/>
                        </a:rPr>
                        <a:t>年度単位(12か月)</a:t>
                      </a:r>
                    </a:p>
                  </a:txBody>
                  <a:tcPr anchor="ctr" marL="73152" marR="73152">
                    <a:solidFill>
                      <a:srgbClr val="FFFFFF"/>
                    </a:solidFill>
                  </a:tcPr>
                </a:tc>
              </a:tr>
              <a:tr h="457200">
                <a:tc>
                  <a:txBody>
                    <a:bodyPr/>
                    <a:lstStyle/>
                    <a:p>
                      <a:r>
                        <a:rPr sz="1200" b="0">
                          <a:solidFill>
                            <a:srgbClr val="1A1A1A"/>
                          </a:solidFill>
                          <a:latin typeface="Meiryo"/>
                          <a:ea typeface="Meiryo"/>
                        </a:rPr>
                        <a:t>使用業種</a:t>
                      </a:r>
                    </a:p>
                  </a:txBody>
                  <a:tcPr anchor="ctr" marL="73152" marR="73152">
                    <a:solidFill>
                      <a:srgbClr val="F2F4F6"/>
                    </a:solidFill>
                  </a:tcPr>
                </a:tc>
                <a:tc>
                  <a:txBody>
                    <a:bodyPr/>
                    <a:lstStyle/>
                    <a:p>
                      <a:r>
                        <a:rPr sz="1200" b="0">
                          <a:solidFill>
                            <a:srgbClr val="1A1A1A"/>
                          </a:solidFill>
                          <a:latin typeface="Meiryo"/>
                          <a:ea typeface="Meiryo"/>
                        </a:rPr>
                        <a:t>携帯通信、ブロードバンド、でんき(コンシューマ向けプロモーション)</a:t>
                      </a:r>
                    </a:p>
                  </a:txBody>
                  <a:tcPr anchor="ctr" marL="73152" marR="73152">
                    <a:solidFill>
                      <a:srgbClr val="F2F4F6"/>
                    </a:solidFill>
                  </a:tcPr>
                </a:tc>
              </a:tr>
              <a:tr h="457200">
                <a:tc>
                  <a:txBody>
                    <a:bodyPr/>
                    <a:lstStyle/>
                    <a:p>
                      <a:r>
                        <a:rPr sz="1200" b="0">
                          <a:solidFill>
                            <a:srgbClr val="1A1A1A"/>
                          </a:solidFill>
                          <a:latin typeface="Meiryo"/>
                          <a:ea typeface="Meiryo"/>
                        </a:rPr>
                        <a:t>使用媒体</a:t>
                      </a:r>
                    </a:p>
                  </a:txBody>
                  <a:tcPr anchor="ctr" marL="73152" marR="73152">
                    <a:solidFill>
                      <a:srgbClr val="FFFFFF"/>
                    </a:solidFill>
                  </a:tcPr>
                </a:tc>
                <a:tc>
                  <a:txBody>
                    <a:bodyPr/>
                    <a:lstStyle/>
                    <a:p>
                      <a:r>
                        <a:rPr sz="1200" b="0">
                          <a:solidFill>
                            <a:srgbClr val="1A1A1A"/>
                          </a:solidFill>
                          <a:latin typeface="Meiryo"/>
                          <a:ea typeface="Meiryo"/>
                        </a:rPr>
                        <a:t>イベント(着ぐるみ・キット)、店頭訴求ツール、LP/Web、SNS、メール</a:t>
                      </a:r>
                    </a:p>
                  </a:txBody>
                  <a:tcPr anchor="ctr" marL="73152" marR="73152">
                    <a:solidFill>
                      <a:srgbClr val="FFFFFF"/>
                    </a:solidFill>
                  </a:tcPr>
                </a:tc>
              </a:tr>
              <a:tr h="457200">
                <a:tc>
                  <a:txBody>
                    <a:bodyPr/>
                    <a:lstStyle/>
                    <a:p>
                      <a:r>
                        <a:rPr sz="1200" b="0">
                          <a:solidFill>
                            <a:srgbClr val="1A1A1A"/>
                          </a:solidFill>
                          <a:latin typeface="Meiryo"/>
                          <a:ea typeface="Meiryo"/>
                        </a:rPr>
                        <a:t>含まれるもの</a:t>
                      </a:r>
                    </a:p>
                  </a:txBody>
                  <a:tcPr anchor="ctr" marL="73152" marR="73152">
                    <a:solidFill>
                      <a:srgbClr val="F2F4F6"/>
                    </a:solidFill>
                  </a:tcPr>
                </a:tc>
                <a:tc>
                  <a:txBody>
                    <a:bodyPr/>
                    <a:lstStyle/>
                    <a:p>
                      <a:r>
                        <a:rPr sz="1200" b="0">
                          <a:solidFill>
                            <a:srgbClr val="1A1A1A"/>
                          </a:solidFill>
                          <a:latin typeface="Meiryo"/>
                          <a:ea typeface="Meiryo"/>
                        </a:rPr>
                        <a:t>上記範囲でのIP利用許諾、作成物の監修対応、着ぐるみイベント年600開催の開催権(稼働実費は②)</a:t>
                      </a:r>
                    </a:p>
                  </a:txBody>
                  <a:tcPr anchor="ctr" marL="73152" marR="73152">
                    <a:solidFill>
                      <a:srgbClr val="F2F4F6"/>
                    </a:solidFill>
                  </a:tcPr>
                </a:tc>
              </a:tr>
              <a:tr h="457200">
                <a:tc>
                  <a:txBody>
                    <a:bodyPr/>
                    <a:lstStyle/>
                    <a:p>
                      <a:r>
                        <a:rPr sz="1200" b="0">
                          <a:solidFill>
                            <a:srgbClr val="1A1A1A"/>
                          </a:solidFill>
                          <a:latin typeface="Meiryo"/>
                          <a:ea typeface="Meiryo"/>
                        </a:rPr>
                        <a:t>通常キットイベント</a:t>
                      </a:r>
                    </a:p>
                  </a:txBody>
                  <a:tcPr anchor="ctr" marL="73152" marR="73152">
                    <a:solidFill>
                      <a:srgbClr val="FFFFFF"/>
                    </a:solidFill>
                  </a:tcPr>
                </a:tc>
                <a:tc>
                  <a:txBody>
                    <a:bodyPr/>
                    <a:lstStyle/>
                    <a:p>
                      <a:r>
                        <a:rPr sz="1200" b="0">
                          <a:solidFill>
                            <a:srgbClr val="1A1A1A"/>
                          </a:solidFill>
                          <a:latin typeface="Meiryo"/>
                          <a:ea typeface="Meiryo"/>
                        </a:rPr>
                        <a:t>年20,000開催規模での展開可(キット作成費は貴社、ロイヤリティは③)</a:t>
                      </a:r>
                    </a:p>
                  </a:txBody>
                  <a:tcPr anchor="ctr" marL="73152" marR="73152">
                    <a:solidFill>
                      <a:srgbClr val="FFFFFF"/>
                    </a:solidFill>
                  </a:tcPr>
                </a:tc>
              </a:tr>
              <a:tr h="457200">
                <a:tc>
                  <a:txBody>
                    <a:bodyPr/>
                    <a:lstStyle/>
                    <a:p>
                      <a:r>
                        <a:rPr sz="1200" b="0">
                          <a:solidFill>
                            <a:srgbClr val="1A1A1A"/>
                          </a:solidFill>
                          <a:latin typeface="Meiryo"/>
                          <a:ea typeface="Meiryo"/>
                        </a:rPr>
                        <a:t>ステージショー(オプション)</a:t>
                      </a:r>
                    </a:p>
                  </a:txBody>
                  <a:tcPr anchor="ctr" marL="73152" marR="73152">
                    <a:solidFill>
                      <a:srgbClr val="F2F4F6"/>
                    </a:solidFill>
                  </a:tcPr>
                </a:tc>
                <a:tc>
                  <a:txBody>
                    <a:bodyPr/>
                    <a:lstStyle/>
                    <a:p>
                      <a:r>
                        <a:rPr sz="1200" b="0">
                          <a:solidFill>
                            <a:srgbClr val="1A1A1A"/>
                          </a:solidFill>
                          <a:latin typeface="Meiryo"/>
                          <a:ea typeface="Meiryo"/>
                        </a:rPr>
                        <a:t>年10回程度まで対応可。1回30万円〜(内容により個別見積)</a:t>
                      </a:r>
                    </a:p>
                  </a:txBody>
                  <a:tcPr anchor="ctr" marL="73152" marR="73152">
                    <a:solidFill>
                      <a:srgbClr val="F2F4F6"/>
                    </a:solidFill>
                  </a:tcPr>
                </a:tc>
              </a:tr>
              <a:tr h="457200">
                <a:tc>
                  <a:txBody>
                    <a:bodyPr/>
                    <a:lstStyle/>
                    <a:p>
                      <a:r>
                        <a:rPr sz="1200" b="0">
                          <a:solidFill>
                            <a:srgbClr val="1A1A1A"/>
                          </a:solidFill>
                          <a:latin typeface="Meiryo"/>
                          <a:ea typeface="Meiryo"/>
                        </a:rPr>
                        <a:t>範囲外</a:t>
                      </a:r>
                    </a:p>
                  </a:txBody>
                  <a:tcPr anchor="ctr" marL="73152" marR="73152">
                    <a:solidFill>
                      <a:srgbClr val="FFFFFF"/>
                    </a:solidFill>
                  </a:tcPr>
                </a:tc>
                <a:tc>
                  <a:txBody>
                    <a:bodyPr/>
                    <a:lstStyle/>
                    <a:p>
                      <a:r>
                        <a:rPr sz="1200" b="0">
                          <a:solidFill>
                            <a:srgbClr val="1A1A1A"/>
                          </a:solidFill>
                          <a:latin typeface="Meiryo"/>
                          <a:ea typeface="Meiryo"/>
                        </a:rPr>
                        <a:t>TVCM、交通広告、大型OOH、販売用グッズ、法人向け、グループ他社サービス</a:t>
                      </a:r>
                    </a:p>
                  </a:txBody>
                  <a:tcPr anchor="ctr" marL="73152" marR="73152">
                    <a:solidFill>
                      <a:srgbClr val="FFFFFF"/>
                    </a:solidFill>
                  </a:tcPr>
                </a:tc>
              </a:tr>
            </a:tbl>
          </a:graphicData>
        </a:graphic>
      </p:graphicFrame>
      <p:sp>
        <p:nvSpPr>
          <p:cNvPr id="9" name="TextBox 8"/>
          <p:cNvSpPr txBox="1"/>
          <p:nvPr/>
        </p:nvSpPr>
        <p:spPr>
          <a:xfrm>
            <a:off x="640080" y="5349240"/>
            <a:ext cx="10881360" cy="548640"/>
          </a:xfrm>
          <a:prstGeom prst="rect">
            <a:avLst/>
          </a:prstGeom>
          <a:noFill/>
        </p:spPr>
        <p:txBody>
          <a:bodyPr wrap="square" anchor="t" lIns="0" rIns="0" tIns="0" bIns="0">
            <a:spAutoFit/>
          </a:bodyPr>
          <a:lstStyle/>
          <a:p>
            <a:pPr algn="l">
              <a:spcAft>
                <a:spcPts val="500"/>
              </a:spcAft>
            </a:pPr>
            <a:r>
              <a:rPr sz="1100" b="0">
                <a:solidFill>
                  <a:srgbClr val="5A626B"/>
                </a:solidFill>
                <a:latin typeface="Meiryo"/>
                <a:ea typeface="Meiryo"/>
              </a:rPr>
              <a:t>※60周年イヤーの記念施策・キャンペーン素材のご提供など、初年度限定の特典もあわせてご相談させてください。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②着ぐるみイベント費用(撮影会・グリーティング型)</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ポケモン様と同一の運用形式。専属スーツアクターによる造形・演技品質でご提供し、貴社店舗・量販店・商業施設での週末稼働に対応します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6</a:t>
            </a:r>
          </a:p>
        </p:txBody>
      </p:sp>
      <p:graphicFrame>
        <p:nvGraphicFramePr>
          <p:cNvPr id="8" name="Table 7"/>
          <p:cNvGraphicFramePr>
            <a:graphicFrameLocks noGrp="1"/>
          </p:cNvGraphicFramePr>
          <p:nvPr/>
        </p:nvGraphicFramePr>
        <p:xfrm>
          <a:off x="640080" y="1463040"/>
          <a:ext cx="10881360" cy="3520440"/>
        </p:xfrm>
        <a:graphic>
          <a:graphicData uri="http://schemas.openxmlformats.org/drawingml/2006/table">
            <a:tbl>
              <a:tblPr firstRow="1" bandRow="1">
                <a:tableStyleId>{5C22544A-7EE6-4342-B048-85BDC9FD1C3A}</a:tableStyleId>
              </a:tblPr>
              <a:tblGrid>
                <a:gridCol w="2590800"/>
                <a:gridCol w="8290560"/>
              </a:tblGrid>
              <a:tr h="502920">
                <a:tc>
                  <a:txBody>
                    <a:bodyPr/>
                    <a:lstStyle/>
                    <a:p>
                      <a:r>
                        <a:rPr sz="1200" b="1">
                          <a:solidFill>
                            <a:srgbClr val="FFFFFF"/>
                          </a:solidFill>
                          <a:latin typeface="Meiryo"/>
                          <a:ea typeface="Meiryo"/>
                        </a:rPr>
                        <a:t>項目</a:t>
                      </a:r>
                    </a:p>
                  </a:txBody>
                  <a:tcPr anchor="ctr" marL="73152" marR="73152">
                    <a:solidFill>
                      <a:srgbClr val="232278"/>
                    </a:solidFill>
                  </a:tcPr>
                </a:tc>
                <a:tc>
                  <a:txBody>
                    <a:bodyPr/>
                    <a:lstStyle/>
                    <a:p>
                      <a:r>
                        <a:rPr sz="1200" b="1">
                          <a:solidFill>
                            <a:srgbClr val="FFFFFF"/>
                          </a:solidFill>
                          <a:latin typeface="Meiryo"/>
                          <a:ea typeface="Meiryo"/>
                        </a:rPr>
                        <a:t>内容</a:t>
                      </a:r>
                    </a:p>
                  </a:txBody>
                  <a:tcPr anchor="ctr" marL="73152" marR="73152">
                    <a:solidFill>
                      <a:srgbClr val="232278"/>
                    </a:solidFill>
                  </a:tcPr>
                </a:tc>
              </a:tr>
              <a:tr h="502920">
                <a:tc>
                  <a:txBody>
                    <a:bodyPr/>
                    <a:lstStyle/>
                    <a:p>
                      <a:r>
                        <a:rPr sz="1200" b="0">
                          <a:solidFill>
                            <a:srgbClr val="1A1A1A"/>
                          </a:solidFill>
                          <a:latin typeface="Meiryo"/>
                          <a:ea typeface="Meiryo"/>
                        </a:rPr>
                        <a:t>形式</a:t>
                      </a:r>
                    </a:p>
                  </a:txBody>
                  <a:tcPr anchor="ctr" marL="73152" marR="73152">
                    <a:solidFill>
                      <a:srgbClr val="FFFFFF"/>
                    </a:solidFill>
                  </a:tcPr>
                </a:tc>
                <a:tc>
                  <a:txBody>
                    <a:bodyPr/>
                    <a:lstStyle/>
                    <a:p>
                      <a:r>
                        <a:rPr sz="1200" b="0">
                          <a:solidFill>
                            <a:srgbClr val="1A1A1A"/>
                          </a:solidFill>
                          <a:latin typeface="Meiryo"/>
                          <a:ea typeface="Meiryo"/>
                        </a:rPr>
                        <a:t>写真撮影会・グリーティング(1回30分×1日最大5回)。イベントキットと併用</a:t>
                      </a:r>
                    </a:p>
                  </a:txBody>
                  <a:tcPr anchor="ctr" marL="73152" marR="73152">
                    <a:solidFill>
                      <a:srgbClr val="FFFFFF"/>
                    </a:solidFill>
                  </a:tcPr>
                </a:tc>
              </a:tr>
              <a:tr h="502920">
                <a:tc>
                  <a:txBody>
                    <a:bodyPr/>
                    <a:lstStyle/>
                    <a:p>
                      <a:r>
                        <a:rPr sz="1200" b="1">
                          <a:solidFill>
                            <a:srgbClr val="C00000"/>
                          </a:solidFill>
                          <a:latin typeface="Meiryo"/>
                          <a:ea typeface="Meiryo"/>
                        </a:rPr>
                        <a:t>費用</a:t>
                      </a:r>
                    </a:p>
                  </a:txBody>
                  <a:tcPr anchor="ctr" marL="73152" marR="73152">
                    <a:solidFill>
                      <a:srgbClr val="F2F4F6"/>
                    </a:solidFill>
                  </a:tcPr>
                </a:tc>
                <a:tc>
                  <a:txBody>
                    <a:bodyPr/>
                    <a:lstStyle/>
                    <a:p>
                      <a:r>
                        <a:rPr sz="1200" b="1">
                          <a:solidFill>
                            <a:srgbClr val="1A1A1A"/>
                          </a:solidFill>
                          <a:latin typeface="Meiryo"/>
                          <a:ea typeface="Meiryo"/>
                        </a:rPr>
                        <a:t>20万円/開催(土日2日間の概算)。1日のみの場合は10万円</a:t>
                      </a:r>
                    </a:p>
                  </a:txBody>
                  <a:tcPr anchor="ctr" marL="73152" marR="73152">
                    <a:solidFill>
                      <a:srgbClr val="F2F4F6"/>
                    </a:solidFill>
                  </a:tcPr>
                </a:tc>
              </a:tr>
              <a:tr h="502920">
                <a:tc>
                  <a:txBody>
                    <a:bodyPr/>
                    <a:lstStyle/>
                    <a:p>
                      <a:r>
                        <a:rPr sz="1200" b="0">
                          <a:solidFill>
                            <a:srgbClr val="1A1A1A"/>
                          </a:solidFill>
                          <a:latin typeface="Meiryo"/>
                          <a:ea typeface="Meiryo"/>
                        </a:rPr>
                        <a:t>内訳</a:t>
                      </a:r>
                    </a:p>
                  </a:txBody>
                  <a:tcPr anchor="ctr" marL="73152" marR="73152">
                    <a:solidFill>
                      <a:srgbClr val="FFFFFF"/>
                    </a:solidFill>
                  </a:tcPr>
                </a:tc>
                <a:tc>
                  <a:txBody>
                    <a:bodyPr/>
                    <a:lstStyle/>
                    <a:p>
                      <a:r>
                        <a:rPr sz="1200" b="0">
                          <a:solidFill>
                            <a:srgbClr val="1A1A1A"/>
                          </a:solidFill>
                          <a:latin typeface="Meiryo"/>
                          <a:ea typeface="Meiryo"/>
                        </a:rPr>
                        <a:t>ヒーロースーツ費用+専属スタッフ人件費(ディレクター+スーツアクターの2名体制)。ポージング・アクション等の演技対応込み</a:t>
                      </a:r>
                    </a:p>
                  </a:txBody>
                  <a:tcPr anchor="ctr" marL="73152" marR="73152">
                    <a:solidFill>
                      <a:srgbClr val="FFFFFF"/>
                    </a:solidFill>
                  </a:tcPr>
                </a:tc>
              </a:tr>
              <a:tr h="502920">
                <a:tc>
                  <a:txBody>
                    <a:bodyPr/>
                    <a:lstStyle/>
                    <a:p>
                      <a:r>
                        <a:rPr sz="1200" b="0">
                          <a:solidFill>
                            <a:srgbClr val="1A1A1A"/>
                          </a:solidFill>
                          <a:latin typeface="Meiryo"/>
                          <a:ea typeface="Meiryo"/>
                        </a:rPr>
                        <a:t>交通・宿泊</a:t>
                      </a:r>
                    </a:p>
                  </a:txBody>
                  <a:tcPr anchor="ctr" marL="73152" marR="73152">
                    <a:solidFill>
                      <a:srgbClr val="F2F4F6"/>
                    </a:solidFill>
                  </a:tcPr>
                </a:tc>
                <a:tc>
                  <a:txBody>
                    <a:bodyPr/>
                    <a:lstStyle/>
                    <a:p>
                      <a:r>
                        <a:rPr sz="1200" b="0">
                          <a:solidFill>
                            <a:srgbClr val="1A1A1A"/>
                          </a:solidFill>
                          <a:latin typeface="Meiryo"/>
                          <a:ea typeface="Meiryo"/>
                        </a:rPr>
                        <a:t>首都圏は費用内。首都圏外は交通・宿泊実費を別途</a:t>
                      </a:r>
                    </a:p>
                  </a:txBody>
                  <a:tcPr anchor="ctr" marL="73152" marR="73152">
                    <a:solidFill>
                      <a:srgbClr val="F2F4F6"/>
                    </a:solidFill>
                  </a:tcPr>
                </a:tc>
              </a:tr>
              <a:tr h="502920">
                <a:tc>
                  <a:txBody>
                    <a:bodyPr/>
                    <a:lstStyle/>
                    <a:p>
                      <a:r>
                        <a:rPr sz="1200" b="0">
                          <a:solidFill>
                            <a:srgbClr val="1A1A1A"/>
                          </a:solidFill>
                          <a:latin typeface="Meiryo"/>
                          <a:ea typeface="Meiryo"/>
                        </a:rPr>
                        <a:t>体制</a:t>
                      </a:r>
                    </a:p>
                  </a:txBody>
                  <a:tcPr anchor="ctr" marL="73152" marR="73152">
                    <a:solidFill>
                      <a:srgbClr val="FFFFFF"/>
                    </a:solidFill>
                  </a:tcPr>
                </a:tc>
                <a:tc>
                  <a:txBody>
                    <a:bodyPr/>
                    <a:lstStyle/>
                    <a:p>
                      <a:r>
                        <a:rPr sz="1200" b="0">
                          <a:solidFill>
                            <a:srgbClr val="1A1A1A"/>
                          </a:solidFill>
                          <a:latin typeface="Meiryo"/>
                          <a:ea typeface="Meiryo"/>
                        </a:rPr>
                        <a:t>円谷プロ指定アクター制(貴社・代理店社員による着用は不可)。全国600開催に対応する供給体制を整備</a:t>
                      </a:r>
                    </a:p>
                  </a:txBody>
                  <a:tcPr anchor="ctr" marL="73152" marR="73152">
                    <a:solidFill>
                      <a:srgbClr val="FFFFFF"/>
                    </a:solidFill>
                  </a:tcPr>
                </a:tc>
              </a:tr>
              <a:tr h="502920">
                <a:tc>
                  <a:txBody>
                    <a:bodyPr/>
                    <a:lstStyle/>
                    <a:p>
                      <a:r>
                        <a:rPr sz="1200" b="0">
                          <a:solidFill>
                            <a:srgbClr val="1A1A1A"/>
                          </a:solidFill>
                          <a:latin typeface="Meiryo"/>
                          <a:ea typeface="Meiryo"/>
                        </a:rPr>
                        <a:t>会場条件</a:t>
                      </a:r>
                    </a:p>
                  </a:txBody>
                  <a:tcPr anchor="ctr" marL="73152" marR="73152">
                    <a:solidFill>
                      <a:srgbClr val="F2F4F6"/>
                    </a:solidFill>
                  </a:tcPr>
                </a:tc>
                <a:tc>
                  <a:txBody>
                    <a:bodyPr/>
                    <a:lstStyle/>
                    <a:p>
                      <a:r>
                        <a:rPr sz="1200" b="0">
                          <a:solidFill>
                            <a:srgbClr val="1A1A1A"/>
                          </a:solidFill>
                          <a:latin typeface="Meiryo"/>
                          <a:ea typeface="Meiryo"/>
                        </a:rPr>
                        <a:t>外部から見えない更衣室(控室)のご用意/他キャラクターとの同時共存は不可/非公式商品の展示・装飾利用は不可</a:t>
                      </a:r>
                    </a:p>
                  </a:txBody>
                  <a:tcPr anchor="ctr" marL="73152" marR="73152">
                    <a:solidFill>
                      <a:srgbClr val="F2F4F6"/>
                    </a:solidFill>
                  </a:tcPr>
                </a:tc>
              </a:tr>
            </a:tbl>
          </a:graphicData>
        </a:graphic>
      </p:graphicFrame>
      <p:sp>
        <p:nvSpPr>
          <p:cNvPr id="9" name="TextBox 8"/>
          <p:cNvSpPr txBox="1"/>
          <p:nvPr/>
        </p:nvSpPr>
        <p:spPr>
          <a:xfrm>
            <a:off x="777240" y="5120640"/>
            <a:ext cx="10789920" cy="822960"/>
          </a:xfrm>
          <a:prstGeom prst="rect">
            <a:avLst/>
          </a:prstGeom>
          <a:noFill/>
        </p:spPr>
        <p:txBody>
          <a:bodyPr wrap="square" anchor="t" lIns="0" rIns="0" tIns="0" bIns="0">
            <a:spAutoFit/>
          </a:bodyPr>
          <a:lstStyle/>
          <a:p>
            <a:pPr algn="l">
              <a:spcAft>
                <a:spcPts val="500"/>
              </a:spcAft>
            </a:pPr>
            <a:r>
              <a:rPr sz="1250" b="1">
                <a:solidFill>
                  <a:srgbClr val="C00000"/>
                </a:solidFill>
                <a:latin typeface="Meiryo"/>
                <a:ea typeface="Meiryo"/>
              </a:rPr>
              <a:t>参考:</a:t>
            </a:r>
            <a:r>
              <a:rPr sz="1250" b="1">
                <a:solidFill>
                  <a:srgbClr val="1A1A1A"/>
                </a:solidFill>
                <a:latin typeface="Meiryo"/>
                <a:ea typeface="Meiryo"/>
              </a:rPr>
              <a:t>年600開催(貴社想定)の場合、着ぐるみ費用は年間約1億2,000万円(20万円×600開催、実施数に連動)。</a:t>
            </a:r>
          </a:p>
          <a:p>
            <a:pPr algn="l">
              <a:spcAft>
                <a:spcPts val="500"/>
              </a:spcAft>
            </a:pPr>
            <a:r>
              <a:rPr sz="1150" b="0">
                <a:solidFill>
                  <a:srgbClr val="5A626B"/>
                </a:solidFill>
                <a:latin typeface="Meiryo"/>
                <a:ea typeface="Meiryo"/>
              </a:rPr>
              <a:t>開催数が変動した場合も費用は実施分のみ。固定のコミットメントはございません。</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③作成許諾費用:作成費用の20%</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イベントキット・ノベルティ・店頭訴求ツールの作成主体は貴社。作成費用(税別)の20%をロイヤリティとしてお支払いいただきます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7</a:t>
            </a:r>
          </a:p>
        </p:txBody>
      </p:sp>
      <p:graphicFrame>
        <p:nvGraphicFramePr>
          <p:cNvPr id="8" name="Table 7"/>
          <p:cNvGraphicFramePr>
            <a:graphicFrameLocks noGrp="1"/>
          </p:cNvGraphicFramePr>
          <p:nvPr/>
        </p:nvGraphicFramePr>
        <p:xfrm>
          <a:off x="640080" y="1463040"/>
          <a:ext cx="10881360" cy="3328416"/>
        </p:xfrm>
        <a:graphic>
          <a:graphicData uri="http://schemas.openxmlformats.org/drawingml/2006/table">
            <a:tbl>
              <a:tblPr firstRow="1" bandRow="1">
                <a:tableStyleId>{5C22544A-7EE6-4342-B048-85BDC9FD1C3A}</a:tableStyleId>
              </a:tblPr>
              <a:tblGrid>
                <a:gridCol w="2590800"/>
                <a:gridCol w="8290560"/>
              </a:tblGrid>
              <a:tr h="475488">
                <a:tc>
                  <a:txBody>
                    <a:bodyPr/>
                    <a:lstStyle/>
                    <a:p>
                      <a:r>
                        <a:rPr sz="1200" b="1">
                          <a:solidFill>
                            <a:srgbClr val="FFFFFF"/>
                          </a:solidFill>
                          <a:latin typeface="Meiryo"/>
                          <a:ea typeface="Meiryo"/>
                        </a:rPr>
                        <a:t>項目</a:t>
                      </a:r>
                    </a:p>
                  </a:txBody>
                  <a:tcPr anchor="ctr" marL="73152" marR="73152">
                    <a:solidFill>
                      <a:srgbClr val="232278"/>
                    </a:solidFill>
                  </a:tcPr>
                </a:tc>
                <a:tc>
                  <a:txBody>
                    <a:bodyPr/>
                    <a:lstStyle/>
                    <a:p>
                      <a:r>
                        <a:rPr sz="1200" b="1">
                          <a:solidFill>
                            <a:srgbClr val="FFFFFF"/>
                          </a:solidFill>
                          <a:latin typeface="Meiryo"/>
                          <a:ea typeface="Meiryo"/>
                        </a:rPr>
                        <a:t>内容</a:t>
                      </a:r>
                    </a:p>
                  </a:txBody>
                  <a:tcPr anchor="ctr" marL="73152" marR="73152">
                    <a:solidFill>
                      <a:srgbClr val="232278"/>
                    </a:solidFill>
                  </a:tcPr>
                </a:tc>
              </a:tr>
              <a:tr h="475488">
                <a:tc>
                  <a:txBody>
                    <a:bodyPr/>
                    <a:lstStyle/>
                    <a:p>
                      <a:r>
                        <a:rPr sz="1200" b="1">
                          <a:solidFill>
                            <a:srgbClr val="C00000"/>
                          </a:solidFill>
                          <a:latin typeface="Meiryo"/>
                          <a:ea typeface="Meiryo"/>
                        </a:rPr>
                        <a:t>料率</a:t>
                      </a:r>
                    </a:p>
                  </a:txBody>
                  <a:tcPr anchor="ctr" marL="73152" marR="73152">
                    <a:solidFill>
                      <a:srgbClr val="FFFFFF"/>
                    </a:solidFill>
                  </a:tcPr>
                </a:tc>
                <a:tc>
                  <a:txBody>
                    <a:bodyPr/>
                    <a:lstStyle/>
                    <a:p>
                      <a:r>
                        <a:rPr sz="1200" b="1">
                          <a:solidFill>
                            <a:srgbClr val="1A1A1A"/>
                          </a:solidFill>
                          <a:latin typeface="Meiryo"/>
                          <a:ea typeface="Meiryo"/>
                        </a:rPr>
                        <a:t>作成費用(税別)の20%</a:t>
                      </a:r>
                    </a:p>
                  </a:txBody>
                  <a:tcPr anchor="ctr" marL="73152" marR="73152">
                    <a:solidFill>
                      <a:srgbClr val="FFFFFF"/>
                    </a:solidFill>
                  </a:tcPr>
                </a:tc>
              </a:tr>
              <a:tr h="475488">
                <a:tc>
                  <a:txBody>
                    <a:bodyPr/>
                    <a:lstStyle/>
                    <a:p>
                      <a:r>
                        <a:rPr sz="1200" b="0">
                          <a:solidFill>
                            <a:srgbClr val="1A1A1A"/>
                          </a:solidFill>
                          <a:latin typeface="Meiryo"/>
                          <a:ea typeface="Meiryo"/>
                        </a:rPr>
                        <a:t>対象</a:t>
                      </a:r>
                    </a:p>
                  </a:txBody>
                  <a:tcPr anchor="ctr" marL="73152" marR="73152">
                    <a:solidFill>
                      <a:srgbClr val="F2F4F6"/>
                    </a:solidFill>
                  </a:tcPr>
                </a:tc>
                <a:tc>
                  <a:txBody>
                    <a:bodyPr/>
                    <a:lstStyle/>
                    <a:p>
                      <a:r>
                        <a:rPr sz="1200" b="0">
                          <a:solidFill>
                            <a:srgbClr val="1A1A1A"/>
                          </a:solidFill>
                          <a:latin typeface="Meiryo"/>
                          <a:ea typeface="Meiryo"/>
                        </a:rPr>
                        <a:t>イベントキット(ルーレット・POP・パネル等)、ノベルティ、店頭訴求ツール(ポスター・POP・什器シート等)</a:t>
                      </a:r>
                    </a:p>
                  </a:txBody>
                  <a:tcPr anchor="ctr" marL="73152" marR="73152">
                    <a:solidFill>
                      <a:srgbClr val="F2F4F6"/>
                    </a:solidFill>
                  </a:tcPr>
                </a:tc>
              </a:tr>
              <a:tr h="475488">
                <a:tc>
                  <a:txBody>
                    <a:bodyPr/>
                    <a:lstStyle/>
                    <a:p>
                      <a:r>
                        <a:rPr sz="1200" b="0">
                          <a:solidFill>
                            <a:srgbClr val="1A1A1A"/>
                          </a:solidFill>
                          <a:latin typeface="Meiryo"/>
                          <a:ea typeface="Meiryo"/>
                        </a:rPr>
                        <a:t>作成数</a:t>
                      </a:r>
                    </a:p>
                  </a:txBody>
                  <a:tcPr anchor="ctr" marL="73152" marR="73152">
                    <a:solidFill>
                      <a:srgbClr val="FFFFFF"/>
                    </a:solidFill>
                  </a:tcPr>
                </a:tc>
                <a:tc>
                  <a:txBody>
                    <a:bodyPr/>
                    <a:lstStyle/>
                    <a:p>
                      <a:r>
                        <a:rPr sz="1200" b="0">
                          <a:solidFill>
                            <a:srgbClr val="1A1A1A"/>
                          </a:solidFill>
                          <a:latin typeface="Meiryo"/>
                          <a:ea typeface="Meiryo"/>
                        </a:rPr>
                        <a:t>上限なし。数量に応じたロイヤリティのお支払いのみ</a:t>
                      </a:r>
                    </a:p>
                  </a:txBody>
                  <a:tcPr anchor="ctr" marL="73152" marR="73152">
                    <a:solidFill>
                      <a:srgbClr val="FFFFFF"/>
                    </a:solidFill>
                  </a:tcPr>
                </a:tc>
              </a:tr>
              <a:tr h="475488">
                <a:tc>
                  <a:txBody>
                    <a:bodyPr/>
                    <a:lstStyle/>
                    <a:p>
                      <a:r>
                        <a:rPr sz="1200" b="0">
                          <a:solidFill>
                            <a:srgbClr val="1A1A1A"/>
                          </a:solidFill>
                          <a:latin typeface="Meiryo"/>
                          <a:ea typeface="Meiryo"/>
                        </a:rPr>
                        <a:t>監修</a:t>
                      </a:r>
                    </a:p>
                  </a:txBody>
                  <a:tcPr anchor="ctr" marL="73152" marR="73152">
                    <a:solidFill>
                      <a:srgbClr val="F2F4F6"/>
                    </a:solidFill>
                  </a:tcPr>
                </a:tc>
                <a:tc>
                  <a:txBody>
                    <a:bodyPr/>
                    <a:lstStyle/>
                    <a:p>
                      <a:r>
                        <a:rPr sz="1200" b="0">
                          <a:solidFill>
                            <a:srgbClr val="1A1A1A"/>
                          </a:solidFill>
                          <a:latin typeface="Meiryo"/>
                          <a:ea typeface="Meiryo"/>
                        </a:rPr>
                        <a:t>作成物ごとに事前監修(デザインデータ確認)+完成サンプルのご提出</a:t>
                      </a:r>
                    </a:p>
                  </a:txBody>
                  <a:tcPr anchor="ctr" marL="73152" marR="73152">
                    <a:solidFill>
                      <a:srgbClr val="F2F4F6"/>
                    </a:solidFill>
                  </a:tcPr>
                </a:tc>
              </a:tr>
              <a:tr h="475488">
                <a:tc>
                  <a:txBody>
                    <a:bodyPr/>
                    <a:lstStyle/>
                    <a:p>
                      <a:r>
                        <a:rPr sz="1200" b="0">
                          <a:solidFill>
                            <a:srgbClr val="1A1A1A"/>
                          </a:solidFill>
                          <a:latin typeface="Meiryo"/>
                          <a:ea typeface="Meiryo"/>
                        </a:rPr>
                        <a:t>素材提供</a:t>
                      </a:r>
                    </a:p>
                  </a:txBody>
                  <a:tcPr anchor="ctr" marL="73152" marR="73152">
                    <a:solidFill>
                      <a:srgbClr val="FFFFFF"/>
                    </a:solidFill>
                  </a:tcPr>
                </a:tc>
                <a:tc>
                  <a:txBody>
                    <a:bodyPr/>
                    <a:lstStyle/>
                    <a:p>
                      <a:r>
                        <a:rPr sz="1200" b="0">
                          <a:solidFill>
                            <a:srgbClr val="1A1A1A"/>
                          </a:solidFill>
                          <a:latin typeface="Meiryo"/>
                          <a:ea typeface="Meiryo"/>
                        </a:rPr>
                        <a:t>キービジュアル・キャラクター素材は当社より提供(既存素材は使用料内。新規描き起こしは個別見積)</a:t>
                      </a:r>
                    </a:p>
                  </a:txBody>
                  <a:tcPr anchor="ctr" marL="73152" marR="73152">
                    <a:solidFill>
                      <a:srgbClr val="FFFFFF"/>
                    </a:solidFill>
                  </a:tcPr>
                </a:tc>
              </a:tr>
              <a:tr h="475488">
                <a:tc>
                  <a:txBody>
                    <a:bodyPr/>
                    <a:lstStyle/>
                    <a:p>
                      <a:r>
                        <a:rPr sz="1200" b="0">
                          <a:solidFill>
                            <a:srgbClr val="1A1A1A"/>
                          </a:solidFill>
                          <a:latin typeface="Meiryo"/>
                          <a:ea typeface="Meiryo"/>
                        </a:rPr>
                        <a:t>お支払い</a:t>
                      </a:r>
                    </a:p>
                  </a:txBody>
                  <a:tcPr anchor="ctr" marL="73152" marR="73152">
                    <a:solidFill>
                      <a:srgbClr val="F2F4F6"/>
                    </a:solidFill>
                  </a:tcPr>
                </a:tc>
                <a:tc>
                  <a:txBody>
                    <a:bodyPr/>
                    <a:lstStyle/>
                    <a:p>
                      <a:r>
                        <a:rPr sz="1200" b="0">
                          <a:solidFill>
                            <a:srgbClr val="1A1A1A"/>
                          </a:solidFill>
                          <a:latin typeface="Meiryo"/>
                          <a:ea typeface="Meiryo"/>
                        </a:rPr>
                        <a:t>請求書発行月の翌月末までにお振込(作成実績ベース)</a:t>
                      </a:r>
                    </a:p>
                  </a:txBody>
                  <a:tcPr anchor="ctr" marL="73152" marR="73152">
                    <a:solidFill>
                      <a:srgbClr val="F2F4F6"/>
                    </a:solidFill>
                  </a:tcPr>
                </a:tc>
              </a:tr>
            </a:tbl>
          </a:graphicData>
        </a:graphic>
      </p:graphicFrame>
      <p:sp>
        <p:nvSpPr>
          <p:cNvPr id="9" name="TextBox 8"/>
          <p:cNvSpPr txBox="1"/>
          <p:nvPr/>
        </p:nvSpPr>
        <p:spPr>
          <a:xfrm>
            <a:off x="777240" y="5029200"/>
            <a:ext cx="10789920" cy="640080"/>
          </a:xfrm>
          <a:prstGeom prst="rect">
            <a:avLst/>
          </a:prstGeom>
          <a:noFill/>
        </p:spPr>
        <p:txBody>
          <a:bodyPr wrap="square" anchor="t" lIns="0" rIns="0" tIns="0" bIns="0">
            <a:spAutoFit/>
          </a:bodyPr>
          <a:lstStyle/>
          <a:p>
            <a:pPr algn="l">
              <a:spcAft>
                <a:spcPts val="500"/>
              </a:spcAft>
            </a:pPr>
            <a:r>
              <a:rPr sz="1250" b="1">
                <a:solidFill>
                  <a:srgbClr val="C00000"/>
                </a:solidFill>
                <a:latin typeface="Meiryo"/>
                <a:ea typeface="Meiryo"/>
              </a:rPr>
              <a:t>ご確認ポイント2への回答:</a:t>
            </a:r>
            <a:r>
              <a:rPr sz="1250" b="1">
                <a:solidFill>
                  <a:srgbClr val="1A1A1A"/>
                </a:solidFill>
                <a:latin typeface="Meiryo"/>
                <a:ea typeface="Meiryo"/>
              </a:rPr>
              <a:t>ノベルティ作成時のロイヤリティは発生します(作成費用の20%)。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ご参考:作成物の想定数量とロイヤリティ概算</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キット800式・ノベルティ約2.1万セット(FY25ご実績)に基づく試算です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8</a:t>
            </a:r>
          </a:p>
        </p:txBody>
      </p:sp>
      <p:graphicFrame>
        <p:nvGraphicFramePr>
          <p:cNvPr id="8" name="Table 7"/>
          <p:cNvGraphicFramePr>
            <a:graphicFrameLocks noGrp="1"/>
          </p:cNvGraphicFramePr>
          <p:nvPr/>
        </p:nvGraphicFramePr>
        <p:xfrm>
          <a:off x="640080" y="1508760"/>
          <a:ext cx="10881356" cy="2834640"/>
        </p:xfrm>
        <a:graphic>
          <a:graphicData uri="http://schemas.openxmlformats.org/drawingml/2006/table">
            <a:tbl>
              <a:tblPr firstRow="1" bandRow="1">
                <a:tableStyleId>{5C22544A-7EE6-4342-B048-85BDC9FD1C3A}</a:tableStyleId>
              </a:tblPr>
              <a:tblGrid>
                <a:gridCol w="2720339"/>
                <a:gridCol w="3083051"/>
                <a:gridCol w="1994916"/>
                <a:gridCol w="1450847"/>
                <a:gridCol w="1632203"/>
              </a:tblGrid>
              <a:tr h="566928">
                <a:tc>
                  <a:txBody>
                    <a:bodyPr/>
                    <a:lstStyle/>
                    <a:p>
                      <a:r>
                        <a:rPr sz="1200" b="1">
                          <a:solidFill>
                            <a:srgbClr val="FFFFFF"/>
                          </a:solidFill>
                          <a:latin typeface="Meiryo"/>
                          <a:ea typeface="Meiryo"/>
                        </a:rPr>
                        <a:t>作成物</a:t>
                      </a:r>
                    </a:p>
                  </a:txBody>
                  <a:tcPr anchor="ctr" marL="73152" marR="73152">
                    <a:solidFill>
                      <a:srgbClr val="232278"/>
                    </a:solidFill>
                  </a:tcPr>
                </a:tc>
                <a:tc>
                  <a:txBody>
                    <a:bodyPr/>
                    <a:lstStyle/>
                    <a:p>
                      <a:r>
                        <a:rPr sz="1200" b="1">
                          <a:solidFill>
                            <a:srgbClr val="FFFFFF"/>
                          </a:solidFill>
                          <a:latin typeface="Meiryo"/>
                          <a:ea typeface="Meiryo"/>
                        </a:rPr>
                        <a:t>想定数量(年間)</a:t>
                      </a:r>
                    </a:p>
                  </a:txBody>
                  <a:tcPr anchor="ctr" marL="73152" marR="73152">
                    <a:solidFill>
                      <a:srgbClr val="232278"/>
                    </a:solidFill>
                  </a:tcPr>
                </a:tc>
                <a:tc>
                  <a:txBody>
                    <a:bodyPr/>
                    <a:lstStyle/>
                    <a:p>
                      <a:r>
                        <a:rPr sz="1200" b="1">
                          <a:solidFill>
                            <a:srgbClr val="FFFFFF"/>
                          </a:solidFill>
                          <a:latin typeface="Meiryo"/>
                          <a:ea typeface="Meiryo"/>
                        </a:rPr>
                        <a:t>単価目安(貴社資料より)</a:t>
                      </a:r>
                    </a:p>
                  </a:txBody>
                  <a:tcPr anchor="ctr" marL="73152" marR="73152">
                    <a:solidFill>
                      <a:srgbClr val="232278"/>
                    </a:solidFill>
                  </a:tcPr>
                </a:tc>
                <a:tc>
                  <a:txBody>
                    <a:bodyPr/>
                    <a:lstStyle/>
                    <a:p>
                      <a:r>
                        <a:rPr sz="1200" b="1">
                          <a:solidFill>
                            <a:srgbClr val="FFFFFF"/>
                          </a:solidFill>
                          <a:latin typeface="Meiryo"/>
                          <a:ea typeface="Meiryo"/>
                        </a:rPr>
                        <a:t>作成費概算</a:t>
                      </a:r>
                    </a:p>
                  </a:txBody>
                  <a:tcPr anchor="ctr" marL="73152" marR="73152">
                    <a:solidFill>
                      <a:srgbClr val="232278"/>
                    </a:solidFill>
                  </a:tcPr>
                </a:tc>
                <a:tc>
                  <a:txBody>
                    <a:bodyPr/>
                    <a:lstStyle/>
                    <a:p>
                      <a:r>
                        <a:rPr sz="1200" b="1">
                          <a:solidFill>
                            <a:srgbClr val="FFFFFF"/>
                          </a:solidFill>
                          <a:latin typeface="Meiryo"/>
                          <a:ea typeface="Meiryo"/>
                        </a:rPr>
                        <a:t>ロイヤリティ(20%)</a:t>
                      </a:r>
                    </a:p>
                  </a:txBody>
                  <a:tcPr anchor="ctr" marL="73152" marR="73152">
                    <a:solidFill>
                      <a:srgbClr val="232278"/>
                    </a:solidFill>
                  </a:tcPr>
                </a:tc>
              </a:tr>
              <a:tr h="566928">
                <a:tc>
                  <a:txBody>
                    <a:bodyPr/>
                    <a:lstStyle/>
                    <a:p>
                      <a:r>
                        <a:rPr sz="1100" b="0">
                          <a:solidFill>
                            <a:srgbClr val="1A1A1A"/>
                          </a:solidFill>
                          <a:latin typeface="Meiryo"/>
                          <a:ea typeface="Meiryo"/>
                        </a:rPr>
                        <a:t>イベントキット(ゲームキット一式)</a:t>
                      </a:r>
                    </a:p>
                  </a:txBody>
                  <a:tcPr anchor="ctr" marL="73152" marR="73152">
                    <a:solidFill>
                      <a:srgbClr val="FFFFFF"/>
                    </a:solidFill>
                  </a:tcPr>
                </a:tc>
                <a:tc>
                  <a:txBody>
                    <a:bodyPr/>
                    <a:lstStyle/>
                    <a:p>
                      <a:r>
                        <a:rPr sz="1100" b="0">
                          <a:solidFill>
                            <a:srgbClr val="1A1A1A"/>
                          </a:solidFill>
                          <a:latin typeface="Meiryo"/>
                          <a:ea typeface="Meiryo"/>
                        </a:rPr>
                        <a:t>800キット(貴社ご提示の数量)</a:t>
                      </a:r>
                    </a:p>
                  </a:txBody>
                  <a:tcPr anchor="ctr" marL="73152" marR="73152">
                    <a:solidFill>
                      <a:srgbClr val="FFFFFF"/>
                    </a:solidFill>
                  </a:tcPr>
                </a:tc>
                <a:tc>
                  <a:txBody>
                    <a:bodyPr/>
                    <a:lstStyle/>
                    <a:p>
                      <a:r>
                        <a:rPr sz="1100" b="0">
                          <a:solidFill>
                            <a:srgbClr val="1A1A1A"/>
                          </a:solidFill>
                          <a:latin typeface="Meiryo"/>
                          <a:ea typeface="Meiryo"/>
                        </a:rPr>
                        <a:t>約15.5万円/キット</a:t>
                      </a:r>
                    </a:p>
                  </a:txBody>
                  <a:tcPr anchor="ctr" marL="73152" marR="73152">
                    <a:solidFill>
                      <a:srgbClr val="FFFFFF"/>
                    </a:solidFill>
                  </a:tcPr>
                </a:tc>
                <a:tc>
                  <a:txBody>
                    <a:bodyPr/>
                    <a:lstStyle/>
                    <a:p>
                      <a:r>
                        <a:rPr sz="1100" b="0">
                          <a:solidFill>
                            <a:srgbClr val="1A1A1A"/>
                          </a:solidFill>
                          <a:latin typeface="Meiryo"/>
                          <a:ea typeface="Meiryo"/>
                        </a:rPr>
                        <a:t>約1億2,400万円</a:t>
                      </a:r>
                    </a:p>
                  </a:txBody>
                  <a:tcPr anchor="ctr" marL="73152" marR="73152">
                    <a:solidFill>
                      <a:srgbClr val="FFFFFF"/>
                    </a:solidFill>
                  </a:tcPr>
                </a:tc>
                <a:tc>
                  <a:txBody>
                    <a:bodyPr/>
                    <a:lstStyle/>
                    <a:p>
                      <a:r>
                        <a:rPr sz="1100" b="0">
                          <a:solidFill>
                            <a:srgbClr val="1A1A1A"/>
                          </a:solidFill>
                          <a:latin typeface="Meiryo"/>
                          <a:ea typeface="Meiryo"/>
                        </a:rPr>
                        <a:t>約2,480万円</a:t>
                      </a:r>
                    </a:p>
                  </a:txBody>
                  <a:tcPr anchor="ctr" marL="73152" marR="73152">
                    <a:solidFill>
                      <a:srgbClr val="FFFFFF"/>
                    </a:solidFill>
                  </a:tcPr>
                </a:tc>
              </a:tr>
              <a:tr h="566928">
                <a:tc>
                  <a:txBody>
                    <a:bodyPr/>
                    <a:lstStyle/>
                    <a:p>
                      <a:r>
                        <a:rPr sz="1100" b="0">
                          <a:solidFill>
                            <a:srgbClr val="1A1A1A"/>
                          </a:solidFill>
                          <a:latin typeface="Meiryo"/>
                          <a:ea typeface="Meiryo"/>
                        </a:rPr>
                        <a:t>ノベルティ</a:t>
                      </a:r>
                    </a:p>
                  </a:txBody>
                  <a:tcPr anchor="ctr" marL="73152" marR="73152">
                    <a:solidFill>
                      <a:srgbClr val="F2F4F6"/>
                    </a:solidFill>
                  </a:tcPr>
                </a:tc>
                <a:tc>
                  <a:txBody>
                    <a:bodyPr/>
                    <a:lstStyle/>
                    <a:p>
                      <a:r>
                        <a:rPr sz="1100" b="0">
                          <a:solidFill>
                            <a:srgbClr val="1A1A1A"/>
                          </a:solidFill>
                          <a:latin typeface="Meiryo"/>
                          <a:ea typeface="Meiryo"/>
                        </a:rPr>
                        <a:t>約2.1万セット/年(FY25ご実績:約569万個)</a:t>
                      </a:r>
                    </a:p>
                  </a:txBody>
                  <a:tcPr anchor="ctr" marL="73152" marR="73152">
                    <a:solidFill>
                      <a:srgbClr val="F2F4F6"/>
                    </a:solidFill>
                  </a:tcPr>
                </a:tc>
                <a:tc>
                  <a:txBody>
                    <a:bodyPr/>
                    <a:lstStyle/>
                    <a:p>
                      <a:r>
                        <a:rPr sz="1100" b="0">
                          <a:solidFill>
                            <a:srgbClr val="1A1A1A"/>
                          </a:solidFill>
                          <a:latin typeface="Meiryo"/>
                          <a:ea typeface="Meiryo"/>
                        </a:rPr>
                        <a:t>約8,800円/セット(実績)</a:t>
                      </a:r>
                    </a:p>
                  </a:txBody>
                  <a:tcPr anchor="ctr" marL="73152" marR="73152">
                    <a:solidFill>
                      <a:srgbClr val="F2F4F6"/>
                    </a:solidFill>
                  </a:tcPr>
                </a:tc>
                <a:tc>
                  <a:txBody>
                    <a:bodyPr/>
                    <a:lstStyle/>
                    <a:p>
                      <a:r>
                        <a:rPr sz="1100" b="0">
                          <a:solidFill>
                            <a:srgbClr val="1A1A1A"/>
                          </a:solidFill>
                          <a:latin typeface="Meiryo"/>
                          <a:ea typeface="Meiryo"/>
                        </a:rPr>
                        <a:t>約1億8,500万円</a:t>
                      </a:r>
                    </a:p>
                  </a:txBody>
                  <a:tcPr anchor="ctr" marL="73152" marR="73152">
                    <a:solidFill>
                      <a:srgbClr val="F2F4F6"/>
                    </a:solidFill>
                  </a:tcPr>
                </a:tc>
                <a:tc>
                  <a:txBody>
                    <a:bodyPr/>
                    <a:lstStyle/>
                    <a:p>
                      <a:r>
                        <a:rPr sz="1100" b="0">
                          <a:solidFill>
                            <a:srgbClr val="1A1A1A"/>
                          </a:solidFill>
                          <a:latin typeface="Meiryo"/>
                          <a:ea typeface="Meiryo"/>
                        </a:rPr>
                        <a:t>約3,700万円</a:t>
                      </a:r>
                    </a:p>
                  </a:txBody>
                  <a:tcPr anchor="ctr" marL="73152" marR="73152">
                    <a:solidFill>
                      <a:srgbClr val="F2F4F6"/>
                    </a:solidFill>
                  </a:tcPr>
                </a:tc>
              </a:tr>
              <a:tr h="566928">
                <a:tc>
                  <a:txBody>
                    <a:bodyPr/>
                    <a:lstStyle/>
                    <a:p>
                      <a:r>
                        <a:rPr sz="1100" b="0">
                          <a:solidFill>
                            <a:srgbClr val="1A1A1A"/>
                          </a:solidFill>
                          <a:latin typeface="Meiryo"/>
                          <a:ea typeface="Meiryo"/>
                        </a:rPr>
                        <a:t>店頭訴求ツール(ポスター・POP・什器シート等)</a:t>
                      </a:r>
                    </a:p>
                  </a:txBody>
                  <a:tcPr anchor="ctr" marL="73152" marR="73152">
                    <a:solidFill>
                      <a:srgbClr val="FFFFFF"/>
                    </a:solidFill>
                  </a:tcPr>
                </a:tc>
                <a:tc>
                  <a:txBody>
                    <a:bodyPr/>
                    <a:lstStyle/>
                    <a:p>
                      <a:r>
                        <a:rPr sz="1100" b="0">
                          <a:solidFill>
                            <a:srgbClr val="1A1A1A"/>
                          </a:solidFill>
                          <a:latin typeface="Meiryo"/>
                          <a:ea typeface="Meiryo"/>
                        </a:rPr>
                        <a:t>約3,000店×年2回更新</a:t>
                      </a:r>
                    </a:p>
                  </a:txBody>
                  <a:tcPr anchor="ctr" marL="73152" marR="73152">
                    <a:solidFill>
                      <a:srgbClr val="FFFFFF"/>
                    </a:solidFill>
                  </a:tcPr>
                </a:tc>
                <a:tc>
                  <a:txBody>
                    <a:bodyPr/>
                    <a:lstStyle/>
                    <a:p>
                      <a:r>
                        <a:rPr sz="1100" b="0">
                          <a:solidFill>
                            <a:srgbClr val="1A1A1A"/>
                          </a:solidFill>
                          <a:latin typeface="Meiryo"/>
                          <a:ea typeface="Meiryo"/>
                        </a:rPr>
                        <a:t>約2,500円/店・回</a:t>
                      </a:r>
                    </a:p>
                  </a:txBody>
                  <a:tcPr anchor="ctr" marL="73152" marR="73152">
                    <a:solidFill>
                      <a:srgbClr val="FFFFFF"/>
                    </a:solidFill>
                  </a:tcPr>
                </a:tc>
                <a:tc>
                  <a:txBody>
                    <a:bodyPr/>
                    <a:lstStyle/>
                    <a:p>
                      <a:r>
                        <a:rPr sz="1100" b="0">
                          <a:solidFill>
                            <a:srgbClr val="1A1A1A"/>
                          </a:solidFill>
                          <a:latin typeface="Meiryo"/>
                          <a:ea typeface="Meiryo"/>
                        </a:rPr>
                        <a:t>約1,500万円</a:t>
                      </a:r>
                    </a:p>
                  </a:txBody>
                  <a:tcPr anchor="ctr" marL="73152" marR="73152">
                    <a:solidFill>
                      <a:srgbClr val="FFFFFF"/>
                    </a:solidFill>
                  </a:tcPr>
                </a:tc>
                <a:tc>
                  <a:txBody>
                    <a:bodyPr/>
                    <a:lstStyle/>
                    <a:p>
                      <a:r>
                        <a:rPr sz="1100" b="0">
                          <a:solidFill>
                            <a:srgbClr val="1A1A1A"/>
                          </a:solidFill>
                          <a:latin typeface="Meiryo"/>
                          <a:ea typeface="Meiryo"/>
                        </a:rPr>
                        <a:t>約300万円</a:t>
                      </a:r>
                    </a:p>
                  </a:txBody>
                  <a:tcPr anchor="ctr" marL="73152" marR="73152">
                    <a:solidFill>
                      <a:srgbClr val="FFFFFF"/>
                    </a:solidFill>
                  </a:tcPr>
                </a:tc>
              </a:tr>
              <a:tr h="566928">
                <a:tc>
                  <a:txBody>
                    <a:bodyPr/>
                    <a:lstStyle/>
                    <a:p>
                      <a:r>
                        <a:rPr sz="1100" b="1">
                          <a:solidFill>
                            <a:srgbClr val="1A1A1A"/>
                          </a:solidFill>
                          <a:latin typeface="Meiryo"/>
                          <a:ea typeface="Meiryo"/>
                        </a:rPr>
                        <a:t>合計</a:t>
                      </a:r>
                    </a:p>
                  </a:txBody>
                  <a:tcPr anchor="ctr" marL="73152" marR="73152">
                    <a:solidFill>
                      <a:srgbClr val="F2F4F6"/>
                    </a:solidFill>
                  </a:tcPr>
                </a:tc>
                <a:tc>
                  <a:txBody>
                    <a:bodyPr/>
                    <a:lstStyle/>
                    <a:p>
                      <a:r>
                        <a:rPr sz="1100" b="0">
                          <a:solidFill>
                            <a:srgbClr val="1A1A1A"/>
                          </a:solidFill>
                          <a:latin typeface="Meiryo"/>
                          <a:ea typeface="Meiryo"/>
                        </a:rPr>
                        <a:t>—</a:t>
                      </a:r>
                    </a:p>
                  </a:txBody>
                  <a:tcPr anchor="ctr" marL="73152" marR="73152">
                    <a:solidFill>
                      <a:srgbClr val="F2F4F6"/>
                    </a:solidFill>
                  </a:tcPr>
                </a:tc>
                <a:tc>
                  <a:txBody>
                    <a:bodyPr/>
                    <a:lstStyle/>
                    <a:p>
                      <a:r>
                        <a:rPr sz="1100" b="0">
                          <a:solidFill>
                            <a:srgbClr val="1A1A1A"/>
                          </a:solidFill>
                          <a:latin typeface="Meiryo"/>
                          <a:ea typeface="Meiryo"/>
                        </a:rPr>
                        <a:t>—</a:t>
                      </a:r>
                    </a:p>
                  </a:txBody>
                  <a:tcPr anchor="ctr" marL="73152" marR="73152">
                    <a:solidFill>
                      <a:srgbClr val="F2F4F6"/>
                    </a:solidFill>
                  </a:tcPr>
                </a:tc>
                <a:tc>
                  <a:txBody>
                    <a:bodyPr/>
                    <a:lstStyle/>
                    <a:p>
                      <a:r>
                        <a:rPr sz="1100" b="1">
                          <a:solidFill>
                            <a:srgbClr val="1A1A1A"/>
                          </a:solidFill>
                          <a:latin typeface="Meiryo"/>
                          <a:ea typeface="Meiryo"/>
                        </a:rPr>
                        <a:t>約3.2億円</a:t>
                      </a:r>
                    </a:p>
                  </a:txBody>
                  <a:tcPr anchor="ctr" marL="73152" marR="73152">
                    <a:solidFill>
                      <a:srgbClr val="F2F4F6"/>
                    </a:solidFill>
                  </a:tcPr>
                </a:tc>
                <a:tc>
                  <a:txBody>
                    <a:bodyPr/>
                    <a:lstStyle/>
                    <a:p>
                      <a:r>
                        <a:rPr sz="1100" b="1">
                          <a:solidFill>
                            <a:srgbClr val="C00000"/>
                          </a:solidFill>
                          <a:latin typeface="Meiryo"/>
                          <a:ea typeface="Meiryo"/>
                        </a:rPr>
                        <a:t>約6,480万円</a:t>
                      </a:r>
                    </a:p>
                  </a:txBody>
                  <a:tcPr anchor="ctr" marL="73152" marR="73152">
                    <a:solidFill>
                      <a:srgbClr val="F2F4F6"/>
                    </a:solidFill>
                  </a:tcPr>
                </a:tc>
              </a:tr>
            </a:tbl>
          </a:graphicData>
        </a:graphic>
      </p:graphicFrame>
      <p:sp>
        <p:nvSpPr>
          <p:cNvPr id="9" name="TextBox 8"/>
          <p:cNvSpPr txBox="1"/>
          <p:nvPr/>
        </p:nvSpPr>
        <p:spPr>
          <a:xfrm>
            <a:off x="640080" y="4480560"/>
            <a:ext cx="10881360" cy="731520"/>
          </a:xfrm>
          <a:prstGeom prst="rect">
            <a:avLst/>
          </a:prstGeom>
          <a:noFill/>
        </p:spPr>
        <p:txBody>
          <a:bodyPr wrap="square" anchor="t" lIns="0" rIns="0" tIns="0" bIns="0">
            <a:spAutoFit/>
          </a:bodyPr>
          <a:lstStyle/>
          <a:p>
            <a:pPr algn="l">
              <a:spcAft>
                <a:spcPts val="500"/>
              </a:spcAft>
            </a:pPr>
            <a:r>
              <a:rPr sz="1100" b="0">
                <a:solidFill>
                  <a:srgbClr val="5A626B"/>
                </a:solidFill>
                <a:latin typeface="Meiryo"/>
                <a:ea typeface="Meiryo"/>
              </a:rPr>
              <a:t>※数量・単価は貴社資料(現行IP実績のキット構成・単価、ノベルティ4,000セット時の単価前提)に基づく参考値です。実際の作成計画に応じて変動し、お支払いは作成実績ベースの従量となります。</a:t>
            </a:r>
          </a:p>
          <a:p>
            <a:pPr algn="l">
              <a:spcAft>
                <a:spcPts val="500"/>
              </a:spcAft>
            </a:pPr>
            <a:r>
              <a:rPr sz="1100" b="0">
                <a:solidFill>
                  <a:srgbClr val="5A626B"/>
                </a:solidFill>
                <a:latin typeface="Meiryo"/>
                <a:ea typeface="Meiryo"/>
              </a:rPr>
              <a:t>※キット数は貴社ご提示の800式、ノベルティはFY25ご実績(作成費約1.85億円)を反映。店頭訴求ツールは作成数実績(年間約23.5万部)を受領済み・作成費実額のご共有後に精緻化します。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年間費用の概算シミュレーション</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貴社想定の開催数(着ぐるみ600開催/キット20,000開催)をそのまま当てはめた場合の年間概算です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9</a:t>
            </a:r>
          </a:p>
        </p:txBody>
      </p:sp>
      <p:graphicFrame>
        <p:nvGraphicFramePr>
          <p:cNvPr id="8" name="Table 7"/>
          <p:cNvGraphicFramePr>
            <a:graphicFrameLocks noGrp="1"/>
          </p:cNvGraphicFramePr>
          <p:nvPr/>
        </p:nvGraphicFramePr>
        <p:xfrm>
          <a:off x="640080" y="1508760"/>
          <a:ext cx="10881358" cy="3017520"/>
        </p:xfrm>
        <a:graphic>
          <a:graphicData uri="http://schemas.openxmlformats.org/drawingml/2006/table">
            <a:tbl>
              <a:tblPr firstRow="1" bandRow="1">
                <a:tableStyleId>{5C22544A-7EE6-4342-B048-85BDC9FD1C3A}</a:tableStyleId>
              </a:tblPr>
              <a:tblGrid>
                <a:gridCol w="3079630"/>
                <a:gridCol w="2258395"/>
                <a:gridCol w="2669012"/>
                <a:gridCol w="2874321"/>
              </a:tblGrid>
              <a:tr h="502920">
                <a:tc>
                  <a:txBody>
                    <a:bodyPr/>
                    <a:lstStyle/>
                    <a:p>
                      <a:r>
                        <a:rPr sz="1200" b="1">
                          <a:solidFill>
                            <a:srgbClr val="FFFFFF"/>
                          </a:solidFill>
                          <a:latin typeface="Meiryo"/>
                          <a:ea typeface="Meiryo"/>
                        </a:rPr>
                        <a:t>費用項目</a:t>
                      </a:r>
                    </a:p>
                  </a:txBody>
                  <a:tcPr anchor="ctr" marL="73152" marR="73152">
                    <a:solidFill>
                      <a:srgbClr val="232278"/>
                    </a:solidFill>
                  </a:tcPr>
                </a:tc>
                <a:tc>
                  <a:txBody>
                    <a:bodyPr/>
                    <a:lstStyle/>
                    <a:p>
                      <a:r>
                        <a:rPr sz="1200" b="1">
                          <a:solidFill>
                            <a:srgbClr val="FFFFFF"/>
                          </a:solidFill>
                          <a:latin typeface="Meiryo"/>
                          <a:ea typeface="Meiryo"/>
                        </a:rPr>
                        <a:t>単価・料率</a:t>
                      </a:r>
                    </a:p>
                  </a:txBody>
                  <a:tcPr anchor="ctr" marL="73152" marR="73152">
                    <a:solidFill>
                      <a:srgbClr val="232278"/>
                    </a:solidFill>
                  </a:tcPr>
                </a:tc>
                <a:tc>
                  <a:txBody>
                    <a:bodyPr/>
                    <a:lstStyle/>
                    <a:p>
                      <a:r>
                        <a:rPr sz="1200" b="1">
                          <a:solidFill>
                            <a:srgbClr val="FFFFFF"/>
                          </a:solidFill>
                          <a:latin typeface="Meiryo"/>
                          <a:ea typeface="Meiryo"/>
                        </a:rPr>
                        <a:t>貴社想定規模</a:t>
                      </a:r>
                    </a:p>
                  </a:txBody>
                  <a:tcPr anchor="ctr" marL="73152" marR="73152">
                    <a:solidFill>
                      <a:srgbClr val="232278"/>
                    </a:solidFill>
                  </a:tcPr>
                </a:tc>
                <a:tc>
                  <a:txBody>
                    <a:bodyPr/>
                    <a:lstStyle/>
                    <a:p>
                      <a:r>
                        <a:rPr sz="1200" b="1">
                          <a:solidFill>
                            <a:srgbClr val="FFFFFF"/>
                          </a:solidFill>
                          <a:latin typeface="Meiryo"/>
                          <a:ea typeface="Meiryo"/>
                        </a:rPr>
                        <a:t>年間概算</a:t>
                      </a:r>
                    </a:p>
                  </a:txBody>
                  <a:tcPr anchor="ctr" marL="73152" marR="73152">
                    <a:solidFill>
                      <a:srgbClr val="232278"/>
                    </a:solidFill>
                  </a:tcPr>
                </a:tc>
              </a:tr>
              <a:tr h="502920">
                <a:tc>
                  <a:txBody>
                    <a:bodyPr/>
                    <a:lstStyle/>
                    <a:p>
                      <a:r>
                        <a:rPr sz="1200" b="0">
                          <a:solidFill>
                            <a:srgbClr val="1A1A1A"/>
                          </a:solidFill>
                          <a:latin typeface="Meiryo"/>
                          <a:ea typeface="Meiryo"/>
                        </a:rPr>
                        <a:t>① 年間IP使用料(固定)</a:t>
                      </a:r>
                    </a:p>
                  </a:txBody>
                  <a:tcPr anchor="ctr" marL="73152" marR="73152">
                    <a:solidFill>
                      <a:srgbClr val="FFFFFF"/>
                    </a:solidFill>
                  </a:tcPr>
                </a:tc>
                <a:tc>
                  <a:txBody>
                    <a:bodyPr/>
                    <a:lstStyle/>
                    <a:p>
                      <a:r>
                        <a:rPr sz="1200" b="0">
                          <a:solidFill>
                            <a:srgbClr val="1A1A1A"/>
                          </a:solidFill>
                          <a:latin typeface="Meiryo"/>
                          <a:ea typeface="Meiryo"/>
                        </a:rPr>
                        <a:t>—</a:t>
                      </a:r>
                    </a:p>
                  </a:txBody>
                  <a:tcPr anchor="ctr" marL="73152" marR="73152">
                    <a:solidFill>
                      <a:srgbClr val="FFFFFF"/>
                    </a:solidFill>
                  </a:tcPr>
                </a:tc>
                <a:tc>
                  <a:txBody>
                    <a:bodyPr/>
                    <a:lstStyle/>
                    <a:p>
                      <a:r>
                        <a:rPr sz="1200" b="0">
                          <a:solidFill>
                            <a:srgbClr val="1A1A1A"/>
                          </a:solidFill>
                          <a:latin typeface="Meiryo"/>
                          <a:ea typeface="Meiryo"/>
                        </a:rPr>
                        <a:t>—</a:t>
                      </a:r>
                    </a:p>
                  </a:txBody>
                  <a:tcPr anchor="ctr" marL="73152" marR="73152">
                    <a:solidFill>
                      <a:srgbClr val="FFFFFF"/>
                    </a:solidFill>
                  </a:tcPr>
                </a:tc>
                <a:tc>
                  <a:txBody>
                    <a:bodyPr/>
                    <a:lstStyle/>
                    <a:p>
                      <a:r>
                        <a:rPr sz="1200" b="1">
                          <a:solidFill>
                            <a:srgbClr val="C00000"/>
                          </a:solidFill>
                          <a:latin typeface="Meiryo"/>
                          <a:ea typeface="Meiryo"/>
                        </a:rPr>
                        <a:t>2,000万円</a:t>
                      </a:r>
                    </a:p>
                  </a:txBody>
                  <a:tcPr anchor="ctr" marL="73152" marR="73152">
                    <a:solidFill>
                      <a:srgbClr val="FFFFFF"/>
                    </a:solidFill>
                  </a:tcPr>
                </a:tc>
              </a:tr>
              <a:tr h="502920">
                <a:tc>
                  <a:txBody>
                    <a:bodyPr/>
                    <a:lstStyle/>
                    <a:p>
                      <a:r>
                        <a:rPr sz="1200" b="0">
                          <a:solidFill>
                            <a:srgbClr val="1A1A1A"/>
                          </a:solidFill>
                          <a:latin typeface="Meiryo"/>
                          <a:ea typeface="Meiryo"/>
                        </a:rPr>
                        <a:t>② 着ぐるみイベント</a:t>
                      </a:r>
                    </a:p>
                  </a:txBody>
                  <a:tcPr anchor="ctr" marL="73152" marR="73152">
                    <a:solidFill>
                      <a:srgbClr val="F2F4F6"/>
                    </a:solidFill>
                  </a:tcPr>
                </a:tc>
                <a:tc>
                  <a:txBody>
                    <a:bodyPr/>
                    <a:lstStyle/>
                    <a:p>
                      <a:r>
                        <a:rPr sz="1200" b="0">
                          <a:solidFill>
                            <a:srgbClr val="1A1A1A"/>
                          </a:solidFill>
                          <a:latin typeface="Meiryo"/>
                          <a:ea typeface="Meiryo"/>
                        </a:rPr>
                        <a:t>20万円/開催(土日)</a:t>
                      </a:r>
                    </a:p>
                  </a:txBody>
                  <a:tcPr anchor="ctr" marL="73152" marR="73152">
                    <a:solidFill>
                      <a:srgbClr val="F2F4F6"/>
                    </a:solidFill>
                  </a:tcPr>
                </a:tc>
                <a:tc>
                  <a:txBody>
                    <a:bodyPr/>
                    <a:lstStyle/>
                    <a:p>
                      <a:r>
                        <a:rPr sz="1200" b="0">
                          <a:solidFill>
                            <a:srgbClr val="1A1A1A"/>
                          </a:solidFill>
                          <a:latin typeface="Meiryo"/>
                          <a:ea typeface="Meiryo"/>
                        </a:rPr>
                        <a:t>600開催/年</a:t>
                      </a:r>
                    </a:p>
                  </a:txBody>
                  <a:tcPr anchor="ctr" marL="73152" marR="73152">
                    <a:solidFill>
                      <a:srgbClr val="F2F4F6"/>
                    </a:solidFill>
                  </a:tcPr>
                </a:tc>
                <a:tc>
                  <a:txBody>
                    <a:bodyPr/>
                    <a:lstStyle/>
                    <a:p>
                      <a:r>
                        <a:rPr sz="1200" b="0">
                          <a:solidFill>
                            <a:srgbClr val="1A1A1A"/>
                          </a:solidFill>
                          <a:latin typeface="Meiryo"/>
                          <a:ea typeface="Meiryo"/>
                        </a:rPr>
                        <a:t>約1億2,000万円(従量)</a:t>
                      </a:r>
                    </a:p>
                  </a:txBody>
                  <a:tcPr anchor="ctr" marL="73152" marR="73152">
                    <a:solidFill>
                      <a:srgbClr val="F2F4F6"/>
                    </a:solidFill>
                  </a:tcPr>
                </a:tc>
              </a:tr>
              <a:tr h="502920">
                <a:tc>
                  <a:txBody>
                    <a:bodyPr/>
                    <a:lstStyle/>
                    <a:p>
                      <a:r>
                        <a:rPr sz="1200" b="0">
                          <a:solidFill>
                            <a:srgbClr val="1A1A1A"/>
                          </a:solidFill>
                          <a:latin typeface="Meiryo"/>
                          <a:ea typeface="Meiryo"/>
                        </a:rPr>
                        <a:t>  ステージショー(任意)</a:t>
                      </a:r>
                    </a:p>
                  </a:txBody>
                  <a:tcPr anchor="ctr" marL="73152" marR="73152">
                    <a:solidFill>
                      <a:srgbClr val="FFFFFF"/>
                    </a:solidFill>
                  </a:tcPr>
                </a:tc>
                <a:tc>
                  <a:txBody>
                    <a:bodyPr/>
                    <a:lstStyle/>
                    <a:p>
                      <a:r>
                        <a:rPr sz="1200" b="0">
                          <a:solidFill>
                            <a:srgbClr val="1A1A1A"/>
                          </a:solidFill>
                          <a:latin typeface="Meiryo"/>
                          <a:ea typeface="Meiryo"/>
                        </a:rPr>
                        <a:t>30万円〜/回</a:t>
                      </a:r>
                    </a:p>
                  </a:txBody>
                  <a:tcPr anchor="ctr" marL="73152" marR="73152">
                    <a:solidFill>
                      <a:srgbClr val="FFFFFF"/>
                    </a:solidFill>
                  </a:tcPr>
                </a:tc>
                <a:tc>
                  <a:txBody>
                    <a:bodyPr/>
                    <a:lstStyle/>
                    <a:p>
                      <a:r>
                        <a:rPr sz="1200" b="0">
                          <a:solidFill>
                            <a:srgbClr val="1A1A1A"/>
                          </a:solidFill>
                          <a:latin typeface="Meiryo"/>
                          <a:ea typeface="Meiryo"/>
                        </a:rPr>
                        <a:t>年10回程度まで</a:t>
                      </a:r>
                    </a:p>
                  </a:txBody>
                  <a:tcPr anchor="ctr" marL="73152" marR="73152">
                    <a:solidFill>
                      <a:srgbClr val="FFFFFF"/>
                    </a:solidFill>
                  </a:tcPr>
                </a:tc>
                <a:tc>
                  <a:txBody>
                    <a:bodyPr/>
                    <a:lstStyle/>
                    <a:p>
                      <a:r>
                        <a:rPr sz="1200" b="0">
                          <a:solidFill>
                            <a:srgbClr val="1A1A1A"/>
                          </a:solidFill>
                          <a:latin typeface="Meiryo"/>
                          <a:ea typeface="Meiryo"/>
                        </a:rPr>
                        <a:t>〜約300万円(任意)</a:t>
                      </a:r>
                    </a:p>
                  </a:txBody>
                  <a:tcPr anchor="ctr" marL="73152" marR="73152">
                    <a:solidFill>
                      <a:srgbClr val="FFFFFF"/>
                    </a:solidFill>
                  </a:tcPr>
                </a:tc>
              </a:tr>
              <a:tr h="502920">
                <a:tc>
                  <a:txBody>
                    <a:bodyPr/>
                    <a:lstStyle/>
                    <a:p>
                      <a:r>
                        <a:rPr sz="1200" b="0">
                          <a:solidFill>
                            <a:srgbClr val="1A1A1A"/>
                          </a:solidFill>
                          <a:latin typeface="Meiryo"/>
                          <a:ea typeface="Meiryo"/>
                        </a:rPr>
                        <a:t>③ 作成許諾ロイヤリティ</a:t>
                      </a:r>
                    </a:p>
                  </a:txBody>
                  <a:tcPr anchor="ctr" marL="73152" marR="73152">
                    <a:solidFill>
                      <a:srgbClr val="F2F4F6"/>
                    </a:solidFill>
                  </a:tcPr>
                </a:tc>
                <a:tc>
                  <a:txBody>
                    <a:bodyPr/>
                    <a:lstStyle/>
                    <a:p>
                      <a:r>
                        <a:rPr sz="1200" b="0">
                          <a:solidFill>
                            <a:srgbClr val="1A1A1A"/>
                          </a:solidFill>
                          <a:latin typeface="Meiryo"/>
                          <a:ea typeface="Meiryo"/>
                        </a:rPr>
                        <a:t>作成費用の20%</a:t>
                      </a:r>
                    </a:p>
                  </a:txBody>
                  <a:tcPr anchor="ctr" marL="73152" marR="73152">
                    <a:solidFill>
                      <a:srgbClr val="F2F4F6"/>
                    </a:solidFill>
                  </a:tcPr>
                </a:tc>
                <a:tc>
                  <a:txBody>
                    <a:bodyPr/>
                    <a:lstStyle/>
                    <a:p>
                      <a:r>
                        <a:rPr sz="1200" b="0">
                          <a:solidFill>
                            <a:srgbClr val="1A1A1A"/>
                          </a:solidFill>
                          <a:latin typeface="Meiryo"/>
                          <a:ea typeface="Meiryo"/>
                        </a:rPr>
                        <a:t>キット800式・ノベルティ約2.1万セット(実績)・訴求ツール</a:t>
                      </a:r>
                    </a:p>
                  </a:txBody>
                  <a:tcPr anchor="ctr" marL="73152" marR="73152">
                    <a:solidFill>
                      <a:srgbClr val="F2F4F6"/>
                    </a:solidFill>
                  </a:tcPr>
                </a:tc>
                <a:tc>
                  <a:txBody>
                    <a:bodyPr/>
                    <a:lstStyle/>
                    <a:p>
                      <a:r>
                        <a:rPr sz="1200" b="0">
                          <a:solidFill>
                            <a:srgbClr val="1A1A1A"/>
                          </a:solidFill>
                          <a:latin typeface="Meiryo"/>
                          <a:ea typeface="Meiryo"/>
                        </a:rPr>
                        <a:t>約6,480万円(従量)</a:t>
                      </a:r>
                    </a:p>
                  </a:txBody>
                  <a:tcPr anchor="ctr" marL="73152" marR="73152">
                    <a:solidFill>
                      <a:srgbClr val="F2F4F6"/>
                    </a:solidFill>
                  </a:tcPr>
                </a:tc>
              </a:tr>
              <a:tr h="502920">
                <a:tc>
                  <a:txBody>
                    <a:bodyPr/>
                    <a:lstStyle/>
                    <a:p>
                      <a:r>
                        <a:rPr sz="1200" b="1">
                          <a:solidFill>
                            <a:srgbClr val="1A1A1A"/>
                          </a:solidFill>
                          <a:latin typeface="Meiryo"/>
                          <a:ea typeface="Meiryo"/>
                        </a:rPr>
                        <a:t>参考:年間合計(上記想定時)</a:t>
                      </a:r>
                    </a:p>
                  </a:txBody>
                  <a:tcPr anchor="ctr" marL="73152" marR="73152">
                    <a:solidFill>
                      <a:srgbClr val="FFFFFF"/>
                    </a:solidFill>
                  </a:tcPr>
                </a:tc>
                <a:tc>
                  <a:txBody>
                    <a:bodyPr/>
                    <a:lstStyle/>
                    <a:p>
                      <a:r>
                        <a:rPr sz="1200" b="0">
                          <a:solidFill>
                            <a:srgbClr val="1A1A1A"/>
                          </a:solidFill>
                          <a:latin typeface="Meiryo"/>
                          <a:ea typeface="Meiryo"/>
                        </a:rPr>
                        <a:t>—</a:t>
                      </a:r>
                    </a:p>
                  </a:txBody>
                  <a:tcPr anchor="ctr" marL="73152" marR="73152">
                    <a:solidFill>
                      <a:srgbClr val="FFFFFF"/>
                    </a:solidFill>
                  </a:tcPr>
                </a:tc>
                <a:tc>
                  <a:txBody>
                    <a:bodyPr/>
                    <a:lstStyle/>
                    <a:p>
                      <a:r>
                        <a:rPr sz="1200" b="0">
                          <a:solidFill>
                            <a:srgbClr val="1A1A1A"/>
                          </a:solidFill>
                          <a:latin typeface="Meiryo"/>
                          <a:ea typeface="Meiryo"/>
                        </a:rPr>
                        <a:t>—</a:t>
                      </a:r>
                    </a:p>
                  </a:txBody>
                  <a:tcPr anchor="ctr" marL="73152" marR="73152">
                    <a:solidFill>
                      <a:srgbClr val="FFFFFF"/>
                    </a:solidFill>
                  </a:tcPr>
                </a:tc>
                <a:tc>
                  <a:txBody>
                    <a:bodyPr/>
                    <a:lstStyle/>
                    <a:p>
                      <a:r>
                        <a:rPr sz="1200" b="1">
                          <a:solidFill>
                            <a:srgbClr val="C00000"/>
                          </a:solidFill>
                          <a:latin typeface="Meiryo"/>
                          <a:ea typeface="Meiryo"/>
                        </a:rPr>
                        <a:t>約2.05億円</a:t>
                      </a:r>
                    </a:p>
                  </a:txBody>
                  <a:tcPr anchor="ctr" marL="73152" marR="73152">
                    <a:solidFill>
                      <a:srgbClr val="FFFFFF"/>
                    </a:solidFill>
                  </a:tcPr>
                </a:tc>
              </a:tr>
            </a:tbl>
          </a:graphicData>
        </a:graphic>
      </p:graphicFrame>
      <p:sp>
        <p:nvSpPr>
          <p:cNvPr id="9" name="Rectangle 8"/>
          <p:cNvSpPr/>
          <p:nvPr/>
        </p:nvSpPr>
        <p:spPr>
          <a:xfrm>
            <a:off x="640080" y="4709160"/>
            <a:ext cx="10881360" cy="1005840"/>
          </a:xfrm>
          <a:prstGeom prst="rect">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864608"/>
            <a:ext cx="10332720" cy="777240"/>
          </a:xfrm>
          <a:prstGeom prst="rect">
            <a:avLst/>
          </a:prstGeom>
          <a:noFill/>
        </p:spPr>
        <p:txBody>
          <a:bodyPr wrap="square" anchor="t" lIns="0" rIns="0" tIns="0" bIns="0">
            <a:spAutoFit/>
          </a:bodyPr>
          <a:lstStyle/>
          <a:p>
            <a:pPr algn="l">
              <a:spcAft>
                <a:spcPts val="400"/>
              </a:spcAft>
            </a:pPr>
            <a:r>
              <a:rPr sz="1350" b="0">
                <a:solidFill>
                  <a:srgbClr val="1A1A1A"/>
                </a:solidFill>
                <a:latin typeface="Meiryo"/>
                <a:ea typeface="Meiryo"/>
              </a:rPr>
              <a:t>固定でお支払いいただくのは①2,000万円のみ。②③は実施・作成した分だけの従量型のため、</a:t>
            </a:r>
          </a:p>
          <a:p>
            <a:pPr algn="l">
              <a:spcAft>
                <a:spcPts val="400"/>
              </a:spcAft>
            </a:pPr>
            <a:r>
              <a:rPr sz="1400" b="1">
                <a:solidFill>
                  <a:srgbClr val="C00000"/>
                </a:solidFill>
                <a:latin typeface="Meiryo"/>
                <a:ea typeface="Meiryo"/>
              </a:rPr>
              <a:t>展開規模を貴社側でコントロールしながらご活用いただけます。</a:t>
            </a:r>
          </a:p>
        </p:txBody>
      </p:sp>
      <p:sp>
        <p:nvSpPr>
          <p:cNvPr id="11" name="TextBox 10"/>
          <p:cNvSpPr txBox="1"/>
          <p:nvPr/>
        </p:nvSpPr>
        <p:spPr>
          <a:xfrm>
            <a:off x="640080" y="5852160"/>
            <a:ext cx="10881360" cy="548640"/>
          </a:xfrm>
          <a:prstGeom prst="rect">
            <a:avLst/>
          </a:prstGeom>
          <a:noFill/>
        </p:spPr>
        <p:txBody>
          <a:bodyPr wrap="square" anchor="t" lIns="0" rIns="0" tIns="0" bIns="0">
            <a:spAutoFit/>
          </a:bodyPr>
          <a:lstStyle/>
          <a:p>
            <a:pPr algn="l">
              <a:spcAft>
                <a:spcPts val="500"/>
              </a:spcAft>
            </a:pPr>
            <a:r>
              <a:rPr sz="1050" b="0">
                <a:solidFill>
                  <a:srgbClr val="5A626B"/>
                </a:solidFill>
                <a:latin typeface="Meiryo"/>
                <a:ea typeface="Meiryo"/>
              </a:rPr>
              <a:t>※金額はすべて税別・概算です。②は実施数、③は作成実績により変動します。訴求ツール作成のロイヤリティはイベント作成物と同水準(20%)です。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テスト実施のご提案パターン(確認ポイント1へのご回答)</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既存ライセンス条件を踏まえ、2026年度内から段階的に検証を始められる3つのパターンをご用意しました</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10</a:t>
            </a:r>
          </a:p>
        </p:txBody>
      </p:sp>
      <p:graphicFrame>
        <p:nvGraphicFramePr>
          <p:cNvPr id="8" name="Table 7"/>
          <p:cNvGraphicFramePr>
            <a:graphicFrameLocks noGrp="1"/>
          </p:cNvGraphicFramePr>
          <p:nvPr/>
        </p:nvGraphicFramePr>
        <p:xfrm>
          <a:off x="640080" y="1417320"/>
          <a:ext cx="10881357" cy="3950208"/>
        </p:xfrm>
        <a:graphic>
          <a:graphicData uri="http://schemas.openxmlformats.org/drawingml/2006/table">
            <a:tbl>
              <a:tblPr firstRow="1" bandRow="1">
                <a:tableStyleId>{5C22544A-7EE6-4342-B048-85BDC9FD1C3A}</a:tableStyleId>
              </a:tblPr>
              <a:tblGrid>
                <a:gridCol w="1301032"/>
                <a:gridCol w="3075166"/>
                <a:gridCol w="3429993"/>
                <a:gridCol w="3075166"/>
              </a:tblGrid>
              <a:tr h="658368">
                <a:tc>
                  <a:txBody>
                    <a:bodyPr/>
                    <a:lstStyle/>
                    <a:p>
                      <a:r>
                        <a:rPr sz="1200" b="1">
                          <a:solidFill>
                            <a:srgbClr val="FFFFFF"/>
                          </a:solidFill>
                          <a:latin typeface="Meiryo"/>
                          <a:ea typeface="Meiryo"/>
                        </a:rPr>
                        <a:t/>
                      </a:r>
                    </a:p>
                  </a:txBody>
                  <a:tcPr anchor="ctr" marL="73152" marR="73152">
                    <a:solidFill>
                      <a:srgbClr val="232278"/>
                    </a:solidFill>
                  </a:tcPr>
                </a:tc>
                <a:tc>
                  <a:txBody>
                    <a:bodyPr/>
                    <a:lstStyle/>
                    <a:p>
                      <a:r>
                        <a:rPr sz="1200" b="1">
                          <a:solidFill>
                            <a:srgbClr val="FFFFFF"/>
                          </a:solidFill>
                          <a:latin typeface="Meiryo"/>
                          <a:ea typeface="Meiryo"/>
                        </a:rPr>
                        <a:t>パターン1:先行開発テスト</a:t>
                      </a:r>
                    </a:p>
                  </a:txBody>
                  <a:tcPr anchor="ctr" marL="73152" marR="73152">
                    <a:solidFill>
                      <a:srgbClr val="232278"/>
                    </a:solidFill>
                  </a:tcPr>
                </a:tc>
                <a:tc>
                  <a:txBody>
                    <a:bodyPr/>
                    <a:lstStyle/>
                    <a:p>
                      <a:r>
                        <a:rPr sz="1200" b="1">
                          <a:solidFill>
                            <a:srgbClr val="FFFFFF"/>
                          </a:solidFill>
                          <a:latin typeface="Meiryo"/>
                          <a:ea typeface="Meiryo"/>
                        </a:rPr>
                        <a:t>パターン2:イベント協賛型テスト</a:t>
                      </a:r>
                    </a:p>
                  </a:txBody>
                  <a:tcPr anchor="ctr" marL="73152" marR="73152">
                    <a:solidFill>
                      <a:srgbClr val="232278"/>
                    </a:solidFill>
                  </a:tcPr>
                </a:tc>
                <a:tc>
                  <a:txBody>
                    <a:bodyPr/>
                    <a:lstStyle/>
                    <a:p>
                      <a:r>
                        <a:rPr sz="1200" b="1">
                          <a:solidFill>
                            <a:srgbClr val="FFFFFF"/>
                          </a:solidFill>
                          <a:latin typeface="Meiryo"/>
                          <a:ea typeface="Meiryo"/>
                        </a:rPr>
                        <a:t>パターン3:期首パイロット</a:t>
                      </a:r>
                    </a:p>
                  </a:txBody>
                  <a:tcPr anchor="ctr" marL="73152" marR="73152">
                    <a:solidFill>
                      <a:srgbClr val="232278"/>
                    </a:solidFill>
                  </a:tcPr>
                </a:tc>
              </a:tr>
              <a:tr h="658368">
                <a:tc>
                  <a:txBody>
                    <a:bodyPr/>
                    <a:lstStyle/>
                    <a:p>
                      <a:r>
                        <a:rPr sz="1050" b="0">
                          <a:solidFill>
                            <a:srgbClr val="1A1A1A"/>
                          </a:solidFill>
                          <a:latin typeface="Meiryo"/>
                          <a:ea typeface="Meiryo"/>
                        </a:rPr>
                        <a:t>時期</a:t>
                      </a:r>
                    </a:p>
                  </a:txBody>
                  <a:tcPr anchor="ctr" marL="73152" marR="73152">
                    <a:solidFill>
                      <a:srgbClr val="FFFFFF"/>
                    </a:solidFill>
                  </a:tcPr>
                </a:tc>
                <a:tc>
                  <a:txBody>
                    <a:bodyPr/>
                    <a:lstStyle/>
                    <a:p>
                      <a:r>
                        <a:rPr sz="1050" b="0">
                          <a:solidFill>
                            <a:srgbClr val="1A1A1A"/>
                          </a:solidFill>
                          <a:latin typeface="Meiryo"/>
                          <a:ea typeface="Meiryo"/>
                        </a:rPr>
                        <a:t>2026年9月〜(即時開始可)</a:t>
                      </a:r>
                    </a:p>
                  </a:txBody>
                  <a:tcPr anchor="ctr" marL="73152" marR="73152">
                    <a:solidFill>
                      <a:srgbClr val="FFFFFF"/>
                    </a:solidFill>
                  </a:tcPr>
                </a:tc>
                <a:tc>
                  <a:txBody>
                    <a:bodyPr/>
                    <a:lstStyle/>
                    <a:p>
                      <a:r>
                        <a:rPr sz="1050" b="0">
                          <a:solidFill>
                            <a:srgbClr val="1A1A1A"/>
                          </a:solidFill>
                          <a:latin typeface="Meiryo"/>
                          <a:ea typeface="Meiryo"/>
                        </a:rPr>
                        <a:t>2026年秋〜冬</a:t>
                      </a:r>
                    </a:p>
                  </a:txBody>
                  <a:tcPr anchor="ctr" marL="73152" marR="73152">
                    <a:solidFill>
                      <a:srgbClr val="FFFFFF"/>
                    </a:solidFill>
                  </a:tcPr>
                </a:tc>
                <a:tc>
                  <a:txBody>
                    <a:bodyPr/>
                    <a:lstStyle/>
                    <a:p>
                      <a:r>
                        <a:rPr sz="1050" b="0">
                          <a:solidFill>
                            <a:srgbClr val="1A1A1A"/>
                          </a:solidFill>
                          <a:latin typeface="Meiryo"/>
                          <a:ea typeface="Meiryo"/>
                        </a:rPr>
                        <a:t>2027年4月〜6月</a:t>
                      </a:r>
                    </a:p>
                  </a:txBody>
                  <a:tcPr anchor="ctr" marL="73152" marR="73152">
                    <a:solidFill>
                      <a:srgbClr val="FFFFFF"/>
                    </a:solidFill>
                  </a:tcPr>
                </a:tc>
              </a:tr>
              <a:tr h="658368">
                <a:tc>
                  <a:txBody>
                    <a:bodyPr/>
                    <a:lstStyle/>
                    <a:p>
                      <a:r>
                        <a:rPr sz="1050" b="0">
                          <a:solidFill>
                            <a:srgbClr val="1A1A1A"/>
                          </a:solidFill>
                          <a:latin typeface="Meiryo"/>
                          <a:ea typeface="Meiryo"/>
                        </a:rPr>
                        <a:t>内容</a:t>
                      </a:r>
                    </a:p>
                  </a:txBody>
                  <a:tcPr anchor="ctr" marL="73152" marR="73152">
                    <a:solidFill>
                      <a:srgbClr val="F2F4F6"/>
                    </a:solidFill>
                  </a:tcPr>
                </a:tc>
                <a:tc>
                  <a:txBody>
                    <a:bodyPr/>
                    <a:lstStyle/>
                    <a:p>
                      <a:r>
                        <a:rPr sz="1050" b="0">
                          <a:solidFill>
                            <a:srgbClr val="1A1A1A"/>
                          </a:solidFill>
                          <a:latin typeface="Meiryo"/>
                          <a:ea typeface="Meiryo"/>
                        </a:rPr>
                        <a:t>キット・訴求ツールのデザイン開発と監修、お客様調査、デジタル施策(QR等)の仕組み検証 ※IP実働なし</a:t>
                      </a:r>
                    </a:p>
                  </a:txBody>
                  <a:tcPr anchor="ctr" marL="73152" marR="73152">
                    <a:solidFill>
                      <a:srgbClr val="F2F4F6"/>
                    </a:solidFill>
                  </a:tcPr>
                </a:tc>
                <a:tc>
                  <a:txBody>
                    <a:bodyPr/>
                    <a:lstStyle/>
                    <a:p>
                      <a:r>
                        <a:rPr sz="1050" b="0">
                          <a:solidFill>
                            <a:srgbClr val="1A1A1A"/>
                          </a:solidFill>
                          <a:latin typeface="Meiryo"/>
                          <a:ea typeface="Meiryo"/>
                        </a:rPr>
                        <a:t>当社主催(または商業施設主催)の60周年イベントに貴社がご協賛・ブース出展。着ぐるみは当社イベントとして稼働</a:t>
                      </a:r>
                    </a:p>
                  </a:txBody>
                  <a:tcPr anchor="ctr" marL="73152" marR="73152">
                    <a:solidFill>
                      <a:srgbClr val="F2F4F6"/>
                    </a:solidFill>
                  </a:tcPr>
                </a:tc>
                <a:tc>
                  <a:txBody>
                    <a:bodyPr/>
                    <a:lstStyle/>
                    <a:p>
                      <a:r>
                        <a:rPr sz="1050" b="0">
                          <a:solidFill>
                            <a:srgbClr val="1A1A1A"/>
                          </a:solidFill>
                          <a:latin typeface="Meiryo"/>
                          <a:ea typeface="Meiryo"/>
                        </a:rPr>
                        <a:t>首都圏5〜10店舗・着ぐるみ10〜20開催の単体テスト(全国展開と同一の運用形式)</a:t>
                      </a:r>
                    </a:p>
                  </a:txBody>
                  <a:tcPr anchor="ctr" marL="73152" marR="73152">
                    <a:solidFill>
                      <a:srgbClr val="F2F4F6"/>
                    </a:solidFill>
                  </a:tcPr>
                </a:tc>
              </a:tr>
              <a:tr h="658368">
                <a:tc>
                  <a:txBody>
                    <a:bodyPr/>
                    <a:lstStyle/>
                    <a:p>
                      <a:r>
                        <a:rPr sz="1050" b="0">
                          <a:solidFill>
                            <a:srgbClr val="1A1A1A"/>
                          </a:solidFill>
                          <a:latin typeface="Meiryo"/>
                          <a:ea typeface="Meiryo"/>
                        </a:rPr>
                        <a:t>ご契約形態</a:t>
                      </a:r>
                    </a:p>
                  </a:txBody>
                  <a:tcPr anchor="ctr" marL="73152" marR="73152">
                    <a:solidFill>
                      <a:srgbClr val="FFFFFF"/>
                    </a:solidFill>
                  </a:tcPr>
                </a:tc>
                <a:tc>
                  <a:txBody>
                    <a:bodyPr/>
                    <a:lstStyle/>
                    <a:p>
                      <a:r>
                        <a:rPr sz="1050" b="0">
                          <a:solidFill>
                            <a:srgbClr val="1A1A1A"/>
                          </a:solidFill>
                          <a:latin typeface="Meiryo"/>
                          <a:ea typeface="Meiryo"/>
                        </a:rPr>
                        <a:t>秘密保持契約+監修合意</a:t>
                      </a:r>
                    </a:p>
                  </a:txBody>
                  <a:tcPr anchor="ctr" marL="73152" marR="73152">
                    <a:solidFill>
                      <a:srgbClr val="FFFFFF"/>
                    </a:solidFill>
                  </a:tcPr>
                </a:tc>
                <a:tc>
                  <a:txBody>
                    <a:bodyPr/>
                    <a:lstStyle/>
                    <a:p>
                      <a:r>
                        <a:rPr sz="1050" b="0">
                          <a:solidFill>
                            <a:srgbClr val="1A1A1A"/>
                          </a:solidFill>
                          <a:latin typeface="Meiryo"/>
                          <a:ea typeface="Meiryo"/>
                        </a:rPr>
                        <a:t>イベント協賛契約</a:t>
                      </a:r>
                    </a:p>
                  </a:txBody>
                  <a:tcPr anchor="ctr" marL="73152" marR="73152">
                    <a:solidFill>
                      <a:srgbClr val="FFFFFF"/>
                    </a:solidFill>
                  </a:tcPr>
                </a:tc>
                <a:tc>
                  <a:txBody>
                    <a:bodyPr/>
                    <a:lstStyle/>
                    <a:p>
                      <a:r>
                        <a:rPr sz="1050" b="0">
                          <a:solidFill>
                            <a:srgbClr val="1A1A1A"/>
                          </a:solidFill>
                          <a:latin typeface="Meiryo"/>
                          <a:ea typeface="Meiryo"/>
                        </a:rPr>
                        <a:t>短期単体契約(3か月)</a:t>
                      </a:r>
                    </a:p>
                  </a:txBody>
                  <a:tcPr anchor="ctr" marL="73152" marR="73152">
                    <a:solidFill>
                      <a:srgbClr val="FFFFFF"/>
                    </a:solidFill>
                  </a:tcPr>
                </a:tc>
              </a:tr>
              <a:tr h="658368">
                <a:tc>
                  <a:txBody>
                    <a:bodyPr/>
                    <a:lstStyle/>
                    <a:p>
                      <a:r>
                        <a:rPr sz="1050" b="0">
                          <a:solidFill>
                            <a:srgbClr val="1A1A1A"/>
                          </a:solidFill>
                          <a:latin typeface="Meiryo"/>
                          <a:ea typeface="Meiryo"/>
                        </a:rPr>
                        <a:t>費用目安</a:t>
                      </a:r>
                    </a:p>
                  </a:txBody>
                  <a:tcPr anchor="ctr" marL="73152" marR="73152">
                    <a:solidFill>
                      <a:srgbClr val="F2F4F6"/>
                    </a:solidFill>
                  </a:tcPr>
                </a:tc>
                <a:tc>
                  <a:txBody>
                    <a:bodyPr/>
                    <a:lstStyle/>
                    <a:p>
                      <a:r>
                        <a:rPr sz="1050" b="0">
                          <a:solidFill>
                            <a:srgbClr val="1A1A1A"/>
                          </a:solidFill>
                          <a:latin typeface="Meiryo"/>
                          <a:ea typeface="Meiryo"/>
                        </a:rPr>
                        <a:t>原則無償(制作実費のみ)</a:t>
                      </a:r>
                    </a:p>
                  </a:txBody>
                  <a:tcPr anchor="ctr" marL="73152" marR="73152">
                    <a:solidFill>
                      <a:srgbClr val="F2F4F6"/>
                    </a:solidFill>
                  </a:tcPr>
                </a:tc>
                <a:tc>
                  <a:txBody>
                    <a:bodyPr/>
                    <a:lstStyle/>
                    <a:p>
                      <a:r>
                        <a:rPr sz="1050" b="0">
                          <a:solidFill>
                            <a:srgbClr val="1A1A1A"/>
                          </a:solidFill>
                          <a:latin typeface="Meiryo"/>
                          <a:ea typeface="Meiryo"/>
                        </a:rPr>
                        <a:t>ご協賛金 300〜500万円</a:t>
                      </a:r>
                    </a:p>
                  </a:txBody>
                  <a:tcPr anchor="ctr" marL="73152" marR="73152">
                    <a:solidFill>
                      <a:srgbClr val="F2F4F6"/>
                    </a:solidFill>
                  </a:tcPr>
                </a:tc>
                <a:tc>
                  <a:txBody>
                    <a:bodyPr/>
                    <a:lstStyle/>
                    <a:p>
                      <a:r>
                        <a:rPr sz="1050" b="0">
                          <a:solidFill>
                            <a:srgbClr val="1A1A1A"/>
                          </a:solidFill>
                          <a:latin typeface="Meiryo"/>
                          <a:ea typeface="Meiryo"/>
                        </a:rPr>
                        <a:t>短期IP使用料300万円+着ぐるみ20万円/開催+作成物ロイヤリティ</a:t>
                      </a:r>
                    </a:p>
                  </a:txBody>
                  <a:tcPr anchor="ctr" marL="73152" marR="73152">
                    <a:solidFill>
                      <a:srgbClr val="F2F4F6"/>
                    </a:solidFill>
                  </a:tcPr>
                </a:tc>
              </a:tr>
              <a:tr h="658368">
                <a:tc>
                  <a:txBody>
                    <a:bodyPr/>
                    <a:lstStyle/>
                    <a:p>
                      <a:r>
                        <a:rPr sz="1050" b="0">
                          <a:solidFill>
                            <a:srgbClr val="1A1A1A"/>
                          </a:solidFill>
                          <a:latin typeface="Meiryo"/>
                          <a:ea typeface="Meiryo"/>
                        </a:rPr>
                        <a:t>検証できること</a:t>
                      </a:r>
                    </a:p>
                  </a:txBody>
                  <a:tcPr anchor="ctr" marL="73152" marR="73152">
                    <a:solidFill>
                      <a:srgbClr val="FFFFFF"/>
                    </a:solidFill>
                  </a:tcPr>
                </a:tc>
                <a:tc>
                  <a:txBody>
                    <a:bodyPr/>
                    <a:lstStyle/>
                    <a:p>
                      <a:r>
                        <a:rPr sz="1050" b="0">
                          <a:solidFill>
                            <a:srgbClr val="1A1A1A"/>
                          </a:solidFill>
                          <a:latin typeface="Meiryo"/>
                          <a:ea typeface="Meiryo"/>
                        </a:rPr>
                        <a:t>クリエイティブ品質・監修フロー・運用設計</a:t>
                      </a:r>
                    </a:p>
                  </a:txBody>
                  <a:tcPr anchor="ctr" marL="73152" marR="73152">
                    <a:solidFill>
                      <a:srgbClr val="FFFFFF"/>
                    </a:solidFill>
                  </a:tcPr>
                </a:tc>
                <a:tc>
                  <a:txBody>
                    <a:bodyPr/>
                    <a:lstStyle/>
                    <a:p>
                      <a:r>
                        <a:rPr sz="1050" b="0">
                          <a:solidFill>
                            <a:srgbClr val="1A1A1A"/>
                          </a:solidFill>
                          <a:latin typeface="Meiryo"/>
                          <a:ea typeface="Meiryo"/>
                        </a:rPr>
                        <a:t>集客力・ブース送客・相談転換の実地データ</a:t>
                      </a:r>
                    </a:p>
                  </a:txBody>
                  <a:tcPr anchor="ctr" marL="73152" marR="73152">
                    <a:solidFill>
                      <a:srgbClr val="FFFFFF"/>
                    </a:solidFill>
                  </a:tcPr>
                </a:tc>
                <a:tc>
                  <a:txBody>
                    <a:bodyPr/>
                    <a:lstStyle/>
                    <a:p>
                      <a:r>
                        <a:rPr sz="1050" b="0">
                          <a:solidFill>
                            <a:srgbClr val="1A1A1A"/>
                          </a:solidFill>
                          <a:latin typeface="Meiryo"/>
                          <a:ea typeface="Meiryo"/>
                        </a:rPr>
                        <a:t>全国展開前の店頭オペレーション・KPI実測</a:t>
                      </a:r>
                    </a:p>
                  </a:txBody>
                  <a:tcPr anchor="ctr" marL="73152" marR="73152">
                    <a:solidFill>
                      <a:srgbClr val="FFFFFF"/>
                    </a:solidFill>
                  </a:tcPr>
                </a:tc>
              </a:tr>
            </a:tbl>
          </a:graphicData>
        </a:graphic>
      </p:graphicFrame>
      <p:sp>
        <p:nvSpPr>
          <p:cNvPr id="9" name="TextBox 8"/>
          <p:cNvSpPr txBox="1"/>
          <p:nvPr/>
        </p:nvSpPr>
        <p:spPr>
          <a:xfrm>
            <a:off x="640080" y="5577840"/>
            <a:ext cx="10881360" cy="640080"/>
          </a:xfrm>
          <a:prstGeom prst="rect">
            <a:avLst/>
          </a:prstGeom>
          <a:noFill/>
        </p:spPr>
        <p:txBody>
          <a:bodyPr wrap="square" anchor="t" lIns="0" rIns="0" tIns="0" bIns="0">
            <a:spAutoFit/>
          </a:bodyPr>
          <a:lstStyle/>
          <a:p>
            <a:pPr algn="l">
              <a:spcAft>
                <a:spcPts val="400"/>
              </a:spcAft>
            </a:pPr>
            <a:r>
              <a:rPr sz="1150" b="1">
                <a:solidFill>
                  <a:srgbClr val="C00000"/>
                </a:solidFill>
                <a:latin typeface="Meiryo"/>
                <a:ea typeface="Meiryo"/>
              </a:rPr>
              <a:t>※パターン3の短期IP使用料は、年間ご契約へ移行された場合、初年度IP使用料に全額充当します。</a:t>
            </a:r>
          </a:p>
          <a:p>
            <a:pPr algn="l">
              <a:spcAft>
                <a:spcPts val="400"/>
              </a:spcAft>
            </a:pPr>
            <a:r>
              <a:rPr sz="1050" b="0">
                <a:solidFill>
                  <a:srgbClr val="5A626B"/>
                </a:solidFill>
                <a:latin typeface="Meiryo"/>
                <a:ea typeface="Meiryo"/>
              </a:rPr>
              <a:t>※2026年度内の貴社主催・貴社店頭でのイベント実施は、既存ライセンス条件の調整が必要なため個別協議となります。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推奨ロードマップ:2026年度内に手応えを作り、2027年4月に全国へ</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パターン1→2→3を段階的に重ね、リスクなく検証を積み上げて年間契約へ接続します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11</a:t>
            </a:r>
          </a:p>
        </p:txBody>
      </p:sp>
      <p:sp>
        <p:nvSpPr>
          <p:cNvPr id="8" name="Rounded Rectangle 7"/>
          <p:cNvSpPr/>
          <p:nvPr/>
        </p:nvSpPr>
        <p:spPr>
          <a:xfrm>
            <a:off x="822960" y="1554480"/>
            <a:ext cx="10515600" cy="658368"/>
          </a:xfrm>
          <a:prstGeom prst="roundRect">
            <a:avLst>
              <a:gd name="adj" fmla="val 12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300" b="1">
                <a:solidFill>
                  <a:srgbClr val="C00000"/>
                </a:solidFill>
                <a:latin typeface="Meiryo"/>
                <a:ea typeface="Meiryo"/>
              </a:rPr>
              <a:t>2026年8月  </a:t>
            </a:r>
            <a:r>
              <a:rPr sz="1300" b="0">
                <a:solidFill>
                  <a:srgbClr val="1A1A1A"/>
                </a:solidFill>
                <a:latin typeface="Meiryo"/>
                <a:ea typeface="Meiryo"/>
              </a:rPr>
              <a:t>条件協議・テスト計画の合意</a:t>
            </a:r>
          </a:p>
        </p:txBody>
      </p:sp>
      <p:sp>
        <p:nvSpPr>
          <p:cNvPr id="9" name="Down Arrow 8"/>
          <p:cNvSpPr/>
          <p:nvPr/>
        </p:nvSpPr>
        <p:spPr>
          <a:xfrm>
            <a:off x="5943600" y="2194560"/>
            <a:ext cx="201168" cy="128016"/>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2340864"/>
            <a:ext cx="10515600" cy="658368"/>
          </a:xfrm>
          <a:prstGeom prst="roundRect">
            <a:avLst>
              <a:gd name="adj" fmla="val 12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300" b="1">
                <a:solidFill>
                  <a:srgbClr val="C00000"/>
                </a:solidFill>
                <a:latin typeface="Meiryo"/>
                <a:ea typeface="Meiryo"/>
              </a:rPr>
              <a:t>2026年9月〜  </a:t>
            </a:r>
            <a:r>
              <a:rPr sz="1300" b="0">
                <a:solidFill>
                  <a:srgbClr val="1A1A1A"/>
                </a:solidFill>
                <a:latin typeface="Meiryo"/>
                <a:ea typeface="Meiryo"/>
              </a:rPr>
              <a:t>パターン1:デザイン開発・監修・仕組み検証を開始(無償)</a:t>
            </a:r>
          </a:p>
        </p:txBody>
      </p:sp>
      <p:sp>
        <p:nvSpPr>
          <p:cNvPr id="11" name="Down Arrow 10"/>
          <p:cNvSpPr/>
          <p:nvPr/>
        </p:nvSpPr>
        <p:spPr>
          <a:xfrm>
            <a:off x="5943600" y="2980944"/>
            <a:ext cx="201168" cy="128016"/>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3127248"/>
            <a:ext cx="10515600" cy="658368"/>
          </a:xfrm>
          <a:prstGeom prst="roundRect">
            <a:avLst>
              <a:gd name="adj" fmla="val 12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300" b="1">
                <a:solidFill>
                  <a:srgbClr val="C00000"/>
                </a:solidFill>
                <a:latin typeface="Meiryo"/>
                <a:ea typeface="Meiryo"/>
              </a:rPr>
              <a:t>2026年11月〜2027年1月  </a:t>
            </a:r>
            <a:r>
              <a:rPr sz="1300" b="0">
                <a:solidFill>
                  <a:srgbClr val="1A1A1A"/>
                </a:solidFill>
                <a:latin typeface="Meiryo"/>
                <a:ea typeface="Meiryo"/>
              </a:rPr>
              <a:t>パターン2:協賛型イベントで集客・送客データを実地検証</a:t>
            </a:r>
          </a:p>
        </p:txBody>
      </p:sp>
      <p:sp>
        <p:nvSpPr>
          <p:cNvPr id="13" name="Down Arrow 12"/>
          <p:cNvSpPr/>
          <p:nvPr/>
        </p:nvSpPr>
        <p:spPr>
          <a:xfrm>
            <a:off x="5943600" y="3767328"/>
            <a:ext cx="201168" cy="128016"/>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 y="3913632"/>
            <a:ext cx="10515600" cy="658368"/>
          </a:xfrm>
          <a:prstGeom prst="roundRect">
            <a:avLst>
              <a:gd name="adj" fmla="val 12000"/>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300" b="1">
                <a:solidFill>
                  <a:srgbClr val="C00000"/>
                </a:solidFill>
                <a:latin typeface="Meiryo"/>
                <a:ea typeface="Meiryo"/>
              </a:rPr>
              <a:t>2027年2月〜3月  </a:t>
            </a:r>
            <a:r>
              <a:rPr sz="1300" b="0">
                <a:solidFill>
                  <a:srgbClr val="1A1A1A"/>
                </a:solidFill>
                <a:latin typeface="Meiryo"/>
                <a:ea typeface="Meiryo"/>
              </a:rPr>
              <a:t>検証結果の評価 → 年間契約の締結</a:t>
            </a:r>
          </a:p>
        </p:txBody>
      </p:sp>
      <p:sp>
        <p:nvSpPr>
          <p:cNvPr id="15" name="Down Arrow 14"/>
          <p:cNvSpPr/>
          <p:nvPr/>
        </p:nvSpPr>
        <p:spPr>
          <a:xfrm>
            <a:off x="5943600" y="4553712"/>
            <a:ext cx="201168" cy="128016"/>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4700016"/>
            <a:ext cx="10515600" cy="658368"/>
          </a:xfrm>
          <a:prstGeom prst="roundRect">
            <a:avLst>
              <a:gd name="adj" fmla="val 12000"/>
            </a:avLst>
          </a:prstGeom>
          <a:solidFill>
            <a:srgbClr val="2322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300" b="1">
                <a:solidFill>
                  <a:srgbClr val="FFFFFF"/>
                </a:solidFill>
                <a:latin typeface="Meiryo"/>
                <a:ea typeface="Meiryo"/>
              </a:rPr>
              <a:t>2027年4月〜  </a:t>
            </a:r>
            <a:r>
              <a:rPr sz="1300" b="1">
                <a:solidFill>
                  <a:srgbClr val="FFFFFF"/>
                </a:solidFill>
                <a:latin typeface="Meiryo"/>
                <a:ea typeface="Meiryo"/>
              </a:rPr>
              <a:t>年間契約開始。期首3か月はパターン3(パイロット)として重点運用 → 7月から全国拡大</a:t>
            </a:r>
          </a:p>
        </p:txBody>
      </p:sp>
      <p:sp>
        <p:nvSpPr>
          <p:cNvPr id="17" name="TextBox 16"/>
          <p:cNvSpPr txBox="1"/>
          <p:nvPr/>
        </p:nvSpPr>
        <p:spPr>
          <a:xfrm>
            <a:off x="822960" y="5715000"/>
            <a:ext cx="10515600" cy="548640"/>
          </a:xfrm>
          <a:prstGeom prst="rect">
            <a:avLst/>
          </a:prstGeom>
          <a:noFill/>
        </p:spPr>
        <p:txBody>
          <a:bodyPr wrap="square" anchor="t" lIns="0" rIns="0" tIns="0" bIns="0">
            <a:spAutoFit/>
          </a:bodyPr>
          <a:lstStyle/>
          <a:p>
            <a:pPr algn="l">
              <a:spcAft>
                <a:spcPts val="500"/>
              </a:spcAft>
            </a:pPr>
            <a:r>
              <a:rPr sz="1250" b="1">
                <a:solidFill>
                  <a:srgbClr val="C00000"/>
                </a:solidFill>
                <a:latin typeface="Meiryo"/>
                <a:ea typeface="Meiryo"/>
              </a:rPr>
              <a:t>ポイント:</a:t>
            </a:r>
            <a:r>
              <a:rPr sz="1250" b="0">
                <a:solidFill>
                  <a:srgbClr val="1A1A1A"/>
                </a:solidFill>
                <a:latin typeface="Meiryo"/>
                <a:ea typeface="Meiryo"/>
              </a:rPr>
              <a:t>2026年度は「作る・確かめる」に集中し、実働は2027年4月から空白なくスタート。パターン2の協賛実績が年間契約の社内稟議の裏付けになります。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パイロットの成功基準と年間契約への接続(ご提案)</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パイロットを「やって終わり」にしないため、成功基準と移行条件を事前にご合意いただく設計です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12</a:t>
            </a:r>
          </a:p>
        </p:txBody>
      </p:sp>
      <p:graphicFrame>
        <p:nvGraphicFramePr>
          <p:cNvPr id="8" name="Table 7"/>
          <p:cNvGraphicFramePr>
            <a:graphicFrameLocks noGrp="1"/>
          </p:cNvGraphicFramePr>
          <p:nvPr/>
        </p:nvGraphicFramePr>
        <p:xfrm>
          <a:off x="640080" y="1417320"/>
          <a:ext cx="10881359" cy="2514600"/>
        </p:xfrm>
        <a:graphic>
          <a:graphicData uri="http://schemas.openxmlformats.org/drawingml/2006/table">
            <a:tbl>
              <a:tblPr firstRow="1" bandRow="1">
                <a:tableStyleId>{5C22544A-7EE6-4342-B048-85BDC9FD1C3A}</a:tableStyleId>
              </a:tblPr>
              <a:tblGrid>
                <a:gridCol w="3548269"/>
                <a:gridCol w="3311718"/>
                <a:gridCol w="4021372"/>
              </a:tblGrid>
              <a:tr h="502920">
                <a:tc>
                  <a:txBody>
                    <a:bodyPr/>
                    <a:lstStyle/>
                    <a:p>
                      <a:r>
                        <a:rPr sz="1200" b="1">
                          <a:solidFill>
                            <a:srgbClr val="FFFFFF"/>
                          </a:solidFill>
                          <a:latin typeface="Meiryo"/>
                          <a:ea typeface="Meiryo"/>
                        </a:rPr>
                        <a:t>成功基準(貴社と共同設定)</a:t>
                      </a:r>
                    </a:p>
                  </a:txBody>
                  <a:tcPr anchor="ctr" marL="73152" marR="73152">
                    <a:solidFill>
                      <a:srgbClr val="232278"/>
                    </a:solidFill>
                  </a:tcPr>
                </a:tc>
                <a:tc>
                  <a:txBody>
                    <a:bodyPr/>
                    <a:lstStyle/>
                    <a:p>
                      <a:r>
                        <a:rPr sz="1200" b="1">
                          <a:solidFill>
                            <a:srgbClr val="FFFFFF"/>
                          </a:solidFill>
                          <a:latin typeface="Meiryo"/>
                          <a:ea typeface="Meiryo"/>
                        </a:rPr>
                        <a:t>測定方法</a:t>
                      </a:r>
                    </a:p>
                  </a:txBody>
                  <a:tcPr anchor="ctr" marL="73152" marR="73152">
                    <a:solidFill>
                      <a:srgbClr val="232278"/>
                    </a:solidFill>
                  </a:tcPr>
                </a:tc>
                <a:tc>
                  <a:txBody>
                    <a:bodyPr/>
                    <a:lstStyle/>
                    <a:p>
                      <a:r>
                        <a:rPr sz="1200" b="1">
                          <a:solidFill>
                            <a:srgbClr val="FFFFFF"/>
                          </a:solidFill>
                          <a:latin typeface="Meiryo"/>
                          <a:ea typeface="Meiryo"/>
                        </a:rPr>
                        <a:t>目安</a:t>
                      </a:r>
                    </a:p>
                  </a:txBody>
                  <a:tcPr anchor="ctr" marL="73152" marR="73152">
                    <a:solidFill>
                      <a:srgbClr val="232278"/>
                    </a:solidFill>
                  </a:tcPr>
                </a:tc>
              </a:tr>
              <a:tr h="502920">
                <a:tc>
                  <a:txBody>
                    <a:bodyPr/>
                    <a:lstStyle/>
                    <a:p>
                      <a:r>
                        <a:rPr sz="1150" b="0">
                          <a:solidFill>
                            <a:srgbClr val="1A1A1A"/>
                          </a:solidFill>
                          <a:latin typeface="Meiryo"/>
                          <a:ea typeface="Meiryo"/>
                        </a:rPr>
                        <a:t>店頭集客(1開催あたり来場)</a:t>
                      </a:r>
                    </a:p>
                  </a:txBody>
                  <a:tcPr anchor="ctr" marL="73152" marR="73152">
                    <a:solidFill>
                      <a:srgbClr val="FFFFFF"/>
                    </a:solidFill>
                  </a:tcPr>
                </a:tc>
                <a:tc>
                  <a:txBody>
                    <a:bodyPr/>
                    <a:lstStyle/>
                    <a:p>
                      <a:r>
                        <a:rPr sz="1150" b="0">
                          <a:solidFill>
                            <a:srgbClr val="1A1A1A"/>
                          </a:solidFill>
                          <a:latin typeface="Meiryo"/>
                          <a:ea typeface="Meiryo"/>
                        </a:rPr>
                        <a:t>会場カウント+キットQR読取数</a:t>
                      </a:r>
                    </a:p>
                  </a:txBody>
                  <a:tcPr anchor="ctr" marL="73152" marR="73152">
                    <a:solidFill>
                      <a:srgbClr val="FFFFFF"/>
                    </a:solidFill>
                  </a:tcPr>
                </a:tc>
                <a:tc>
                  <a:txBody>
                    <a:bodyPr/>
                    <a:lstStyle/>
                    <a:p>
                      <a:r>
                        <a:rPr sz="1150" b="0">
                          <a:solidFill>
                            <a:srgbClr val="1A1A1A"/>
                          </a:solidFill>
                          <a:latin typeface="Meiryo"/>
                          <a:ea typeface="Meiryo"/>
                        </a:rPr>
                        <a:t>現行IP施策の同等水準(比80%以上)を基準に共同設定</a:t>
                      </a:r>
                    </a:p>
                  </a:txBody>
                  <a:tcPr anchor="ctr" marL="73152" marR="73152">
                    <a:solidFill>
                      <a:srgbClr val="FFFFFF"/>
                    </a:solidFill>
                  </a:tcPr>
                </a:tc>
              </a:tr>
              <a:tr h="502920">
                <a:tc>
                  <a:txBody>
                    <a:bodyPr/>
                    <a:lstStyle/>
                    <a:p>
                      <a:r>
                        <a:rPr sz="1150" b="0">
                          <a:solidFill>
                            <a:srgbClr val="1A1A1A"/>
                          </a:solidFill>
                          <a:latin typeface="Meiryo"/>
                          <a:ea typeface="Meiryo"/>
                        </a:rPr>
                        <a:t>撮影会参加組数</a:t>
                      </a:r>
                    </a:p>
                  </a:txBody>
                  <a:tcPr anchor="ctr" marL="73152" marR="73152">
                    <a:solidFill>
                      <a:srgbClr val="F2F4F6"/>
                    </a:solidFill>
                  </a:tcPr>
                </a:tc>
                <a:tc>
                  <a:txBody>
                    <a:bodyPr/>
                    <a:lstStyle/>
                    <a:p>
                      <a:r>
                        <a:rPr sz="1150" b="0">
                          <a:solidFill>
                            <a:srgbClr val="1A1A1A"/>
                          </a:solidFill>
                          <a:latin typeface="Meiryo"/>
                          <a:ea typeface="Meiryo"/>
                        </a:rPr>
                        <a:t>参加受付数(1回30分×5回/日)</a:t>
                      </a:r>
                    </a:p>
                  </a:txBody>
                  <a:tcPr anchor="ctr" marL="73152" marR="73152">
                    <a:solidFill>
                      <a:srgbClr val="F2F4F6"/>
                    </a:solidFill>
                  </a:tcPr>
                </a:tc>
                <a:tc>
                  <a:txBody>
                    <a:bodyPr/>
                    <a:lstStyle/>
                    <a:p>
                      <a:r>
                        <a:rPr sz="1150" b="0">
                          <a:solidFill>
                            <a:srgbClr val="1A1A1A"/>
                          </a:solidFill>
                          <a:latin typeface="Meiryo"/>
                          <a:ea typeface="Meiryo"/>
                        </a:rPr>
                        <a:t>同上</a:t>
                      </a:r>
                    </a:p>
                  </a:txBody>
                  <a:tcPr anchor="ctr" marL="73152" marR="73152">
                    <a:solidFill>
                      <a:srgbClr val="F2F4F6"/>
                    </a:solidFill>
                  </a:tcPr>
                </a:tc>
              </a:tr>
              <a:tr h="502920">
                <a:tc>
                  <a:txBody>
                    <a:bodyPr/>
                    <a:lstStyle/>
                    <a:p>
                      <a:r>
                        <a:rPr sz="1150" b="0">
                          <a:solidFill>
                            <a:srgbClr val="1A1A1A"/>
                          </a:solidFill>
                          <a:latin typeface="Meiryo"/>
                          <a:ea typeface="Meiryo"/>
                        </a:rPr>
                        <a:t>ブース接触→相談への転換</a:t>
                      </a:r>
                    </a:p>
                  </a:txBody>
                  <a:tcPr anchor="ctr" marL="73152" marR="73152">
                    <a:solidFill>
                      <a:srgbClr val="FFFFFF"/>
                    </a:solidFill>
                  </a:tcPr>
                </a:tc>
                <a:tc>
                  <a:txBody>
                    <a:bodyPr/>
                    <a:lstStyle/>
                    <a:p>
                      <a:r>
                        <a:rPr sz="1150" b="0">
                          <a:solidFill>
                            <a:srgbClr val="1A1A1A"/>
                          </a:solidFill>
                          <a:latin typeface="Meiryo"/>
                          <a:ea typeface="Meiryo"/>
                        </a:rPr>
                        <a:t>QRアンケート+店頭相談記録</a:t>
                      </a:r>
                    </a:p>
                  </a:txBody>
                  <a:tcPr anchor="ctr" marL="73152" marR="73152">
                    <a:solidFill>
                      <a:srgbClr val="FFFFFF"/>
                    </a:solidFill>
                  </a:tcPr>
                </a:tc>
                <a:tc>
                  <a:txBody>
                    <a:bodyPr/>
                    <a:lstStyle/>
                    <a:p>
                      <a:r>
                        <a:rPr sz="1150" b="0">
                          <a:solidFill>
                            <a:srgbClr val="1A1A1A"/>
                          </a:solidFill>
                          <a:latin typeface="Meiryo"/>
                          <a:ea typeface="Meiryo"/>
                        </a:rPr>
                        <a:t>パイロットで実測しベンチマーク化</a:t>
                      </a:r>
                    </a:p>
                  </a:txBody>
                  <a:tcPr anchor="ctr" marL="73152" marR="73152">
                    <a:solidFill>
                      <a:srgbClr val="FFFFFF"/>
                    </a:solidFill>
                  </a:tcPr>
                </a:tc>
              </a:tr>
              <a:tr h="502920">
                <a:tc>
                  <a:txBody>
                    <a:bodyPr/>
                    <a:lstStyle/>
                    <a:p>
                      <a:r>
                        <a:rPr sz="1150" b="0">
                          <a:solidFill>
                            <a:srgbClr val="1A1A1A"/>
                          </a:solidFill>
                          <a:latin typeface="Meiryo"/>
                          <a:ea typeface="Meiryo"/>
                        </a:rPr>
                        <a:t>現場運用品質</a:t>
                      </a:r>
                    </a:p>
                  </a:txBody>
                  <a:tcPr anchor="ctr" marL="73152" marR="73152">
                    <a:solidFill>
                      <a:srgbClr val="F2F4F6"/>
                    </a:solidFill>
                  </a:tcPr>
                </a:tc>
                <a:tc>
                  <a:txBody>
                    <a:bodyPr/>
                    <a:lstStyle/>
                    <a:p>
                      <a:r>
                        <a:rPr sz="1150" b="0">
                          <a:solidFill>
                            <a:srgbClr val="1A1A1A"/>
                          </a:solidFill>
                          <a:latin typeface="Meiryo"/>
                          <a:ea typeface="Meiryo"/>
                        </a:rPr>
                        <a:t>店舗・代理店ヒアリング、事故・クレーム件数</a:t>
                      </a:r>
                    </a:p>
                  </a:txBody>
                  <a:tcPr anchor="ctr" marL="73152" marR="73152">
                    <a:solidFill>
                      <a:srgbClr val="F2F4F6"/>
                    </a:solidFill>
                  </a:tcPr>
                </a:tc>
                <a:tc>
                  <a:txBody>
                    <a:bodyPr/>
                    <a:lstStyle/>
                    <a:p>
                      <a:r>
                        <a:rPr sz="1150" b="0">
                          <a:solidFill>
                            <a:srgbClr val="1A1A1A"/>
                          </a:solidFill>
                          <a:latin typeface="Meiryo"/>
                          <a:ea typeface="Meiryo"/>
                        </a:rPr>
                        <a:t>重大事故・クレームゼロ</a:t>
                      </a:r>
                    </a:p>
                  </a:txBody>
                  <a:tcPr anchor="ctr" marL="73152" marR="73152">
                    <a:solidFill>
                      <a:srgbClr val="F2F4F6"/>
                    </a:solidFill>
                  </a:tcPr>
                </a:tc>
              </a:tr>
            </a:tbl>
          </a:graphicData>
        </a:graphic>
      </p:graphicFrame>
      <p:sp>
        <p:nvSpPr>
          <p:cNvPr id="9" name="Rounded Rectangle 8"/>
          <p:cNvSpPr/>
          <p:nvPr/>
        </p:nvSpPr>
        <p:spPr>
          <a:xfrm>
            <a:off x="640080" y="4069080"/>
            <a:ext cx="10881360" cy="1691640"/>
          </a:xfrm>
          <a:prstGeom prst="roundRect">
            <a:avLst>
              <a:gd name="adj" fmla="val 5000"/>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24528"/>
            <a:ext cx="10332720" cy="1463040"/>
          </a:xfrm>
          <a:prstGeom prst="rect">
            <a:avLst/>
          </a:prstGeom>
          <a:noFill/>
        </p:spPr>
        <p:txBody>
          <a:bodyPr wrap="square" anchor="t" lIns="0" rIns="0" tIns="0" bIns="0">
            <a:spAutoFit/>
          </a:bodyPr>
          <a:lstStyle/>
          <a:p>
            <a:pPr algn="l">
              <a:spcAft>
                <a:spcPts val="500"/>
              </a:spcAft>
            </a:pPr>
            <a:r>
              <a:rPr sz="1350" b="1">
                <a:solidFill>
                  <a:srgbClr val="C00000"/>
                </a:solidFill>
                <a:latin typeface="Meiryo"/>
                <a:ea typeface="Meiryo"/>
              </a:rPr>
              <a:t>年間契約への接続条件(基本合意書で事前にご合意)</a:t>
            </a:r>
          </a:p>
          <a:p>
            <a:pPr algn="l">
              <a:spcAft>
                <a:spcPts val="500"/>
              </a:spcAft>
            </a:pPr>
            <a:r>
              <a:rPr sz="1250" b="0">
                <a:solidFill>
                  <a:srgbClr val="1A1A1A"/>
                </a:solidFill>
                <a:latin typeface="Meiryo"/>
                <a:ea typeface="Meiryo"/>
              </a:rPr>
              <a:t>① 成功基準を達成した場合、年間契約へ移行することをパイロット開始前に基本合意(LOI)</a:t>
            </a:r>
          </a:p>
          <a:p>
            <a:pPr algn="l">
              <a:spcAft>
                <a:spcPts val="500"/>
              </a:spcAft>
            </a:pPr>
            <a:r>
              <a:rPr sz="1250" b="0">
                <a:solidFill>
                  <a:srgbClr val="1A1A1A"/>
                </a:solidFill>
                <a:latin typeface="Meiryo"/>
                <a:ea typeface="Meiryo"/>
              </a:rPr>
              <a:t>② 短期IP使用料300万円は、年間契約の初年度IP使用料に全額充当(=パイロット費用は実質ゼロに)</a:t>
            </a:r>
          </a:p>
          <a:p>
            <a:pPr algn="l">
              <a:spcAft>
                <a:spcPts val="500"/>
              </a:spcAft>
            </a:pPr>
            <a:r>
              <a:rPr sz="1250" b="0">
                <a:solidFill>
                  <a:srgbClr val="1A1A1A"/>
                </a:solidFill>
                <a:latin typeface="Meiryo"/>
                <a:ea typeface="Meiryo"/>
              </a:rPr>
              <a:t>③ パイロット期間中のご締結で、60周年記念素材・限定ビジュアルを初年度特典としてご提供</a:t>
            </a:r>
          </a:p>
          <a:p>
            <a:pPr algn="l">
              <a:spcAft>
                <a:spcPts val="500"/>
              </a:spcAft>
            </a:pPr>
            <a:r>
              <a:rPr sz="1250" b="0">
                <a:solidFill>
                  <a:srgbClr val="1A1A1A"/>
                </a:solidFill>
                <a:latin typeface="Meiryo"/>
                <a:ea typeface="Meiryo"/>
              </a:rPr>
              <a:t>④ 計測データは月次レポートで貴社ご報告用フォーマットに整えてご提出(社内ご説明にそのままご利用いただけます)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年間展開へのランプアップ計画</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パイロットと並行して供給体制を整備し、判定後は待ち時間ゼロで全国拡大へ移行します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13</a:t>
            </a:r>
          </a:p>
        </p:txBody>
      </p:sp>
      <p:sp>
        <p:nvSpPr>
          <p:cNvPr id="8" name="Rounded Rectangle 7"/>
          <p:cNvSpPr/>
          <p:nvPr/>
        </p:nvSpPr>
        <p:spPr>
          <a:xfrm>
            <a:off x="822960" y="1554480"/>
            <a:ext cx="10515600" cy="658368"/>
          </a:xfrm>
          <a:prstGeom prst="roundRect">
            <a:avLst>
              <a:gd name="adj" fmla="val 12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300" b="1">
                <a:solidFill>
                  <a:srgbClr val="C00000"/>
                </a:solidFill>
                <a:latin typeface="Meiryo"/>
                <a:ea typeface="Meiryo"/>
              </a:rPr>
              <a:t>2027年4月〜6月  </a:t>
            </a:r>
            <a:r>
              <a:rPr sz="1300" b="0">
                <a:solidFill>
                  <a:srgbClr val="1A1A1A"/>
                </a:solidFill>
                <a:latin typeface="Meiryo"/>
                <a:ea typeface="Meiryo"/>
              </a:rPr>
              <a:t>パイロット:首都圏5〜10店舗・10〜20開催。月次レビューで基準進捗を確認</a:t>
            </a:r>
          </a:p>
        </p:txBody>
      </p:sp>
      <p:sp>
        <p:nvSpPr>
          <p:cNvPr id="9" name="Down Arrow 8"/>
          <p:cNvSpPr/>
          <p:nvPr/>
        </p:nvSpPr>
        <p:spPr>
          <a:xfrm>
            <a:off x="5943600" y="2194560"/>
            <a:ext cx="201168" cy="128016"/>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2960" y="2340864"/>
            <a:ext cx="10515600" cy="658368"/>
          </a:xfrm>
          <a:prstGeom prst="roundRect">
            <a:avLst>
              <a:gd name="adj" fmla="val 12000"/>
            </a:avLst>
          </a:prstGeom>
          <a:solidFill>
            <a:srgbClr val="FBEAE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300" b="1">
                <a:solidFill>
                  <a:srgbClr val="C00000"/>
                </a:solidFill>
                <a:latin typeface="Meiryo"/>
                <a:ea typeface="Meiryo"/>
              </a:rPr>
              <a:t>2027年7月  </a:t>
            </a:r>
            <a:r>
              <a:rPr sz="1300" b="0">
                <a:solidFill>
                  <a:srgbClr val="1A1A1A"/>
                </a:solidFill>
                <a:latin typeface="Meiryo"/>
                <a:ea typeface="Meiryo"/>
              </a:rPr>
              <a:t>成功基準の判定 → 年間契約へ移行(基本合意済みのためスムーズに発効)</a:t>
            </a:r>
          </a:p>
        </p:txBody>
      </p:sp>
      <p:sp>
        <p:nvSpPr>
          <p:cNvPr id="11" name="Down Arrow 10"/>
          <p:cNvSpPr/>
          <p:nvPr/>
        </p:nvSpPr>
        <p:spPr>
          <a:xfrm>
            <a:off x="5943600" y="2980944"/>
            <a:ext cx="201168" cy="128016"/>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22960" y="3127248"/>
            <a:ext cx="10515600" cy="658368"/>
          </a:xfrm>
          <a:prstGeom prst="roundRect">
            <a:avLst>
              <a:gd name="adj" fmla="val 12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300" b="1">
                <a:solidFill>
                  <a:srgbClr val="C00000"/>
                </a:solidFill>
                <a:latin typeface="Meiryo"/>
                <a:ea typeface="Meiryo"/>
              </a:rPr>
              <a:t>2027年7月〜9月  </a:t>
            </a:r>
            <a:r>
              <a:rPr sz="1300" b="0">
                <a:solidFill>
                  <a:srgbClr val="1A1A1A"/>
                </a:solidFill>
                <a:latin typeface="Meiryo"/>
                <a:ea typeface="Meiryo"/>
              </a:rPr>
              <a:t>夏休み商戦:約100開催規模へ拡大(関東+主要都市)</a:t>
            </a:r>
          </a:p>
        </p:txBody>
      </p:sp>
      <p:sp>
        <p:nvSpPr>
          <p:cNvPr id="13" name="Down Arrow 12"/>
          <p:cNvSpPr/>
          <p:nvPr/>
        </p:nvSpPr>
        <p:spPr>
          <a:xfrm>
            <a:off x="5943600" y="3767328"/>
            <a:ext cx="201168" cy="128016"/>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22960" y="3913632"/>
            <a:ext cx="10515600" cy="658368"/>
          </a:xfrm>
          <a:prstGeom prst="roundRect">
            <a:avLst>
              <a:gd name="adj" fmla="val 12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300" b="1">
                <a:solidFill>
                  <a:srgbClr val="C00000"/>
                </a:solidFill>
                <a:latin typeface="Meiryo"/>
                <a:ea typeface="Meiryo"/>
              </a:rPr>
              <a:t>2027年10月〜12月  </a:t>
            </a:r>
            <a:r>
              <a:rPr sz="1300" b="0">
                <a:solidFill>
                  <a:srgbClr val="1A1A1A"/>
                </a:solidFill>
                <a:latin typeface="Meiryo"/>
                <a:ea typeface="Meiryo"/>
              </a:rPr>
              <a:t>年末商戦:全国展開へ拡大(年率300〜600開催ペース)</a:t>
            </a:r>
          </a:p>
        </p:txBody>
      </p:sp>
      <p:sp>
        <p:nvSpPr>
          <p:cNvPr id="15" name="Down Arrow 14"/>
          <p:cNvSpPr/>
          <p:nvPr/>
        </p:nvSpPr>
        <p:spPr>
          <a:xfrm>
            <a:off x="5943600" y="4553712"/>
            <a:ext cx="201168" cy="128016"/>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22960" y="4700016"/>
            <a:ext cx="10515600" cy="658368"/>
          </a:xfrm>
          <a:prstGeom prst="roundRect">
            <a:avLst>
              <a:gd name="adj" fmla="val 12000"/>
            </a:avLst>
          </a:prstGeom>
          <a:solidFill>
            <a:srgbClr val="2322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r>
              <a:rPr sz="1300" b="1">
                <a:solidFill>
                  <a:srgbClr val="FFFFFF"/>
                </a:solidFill>
                <a:latin typeface="Meiryo"/>
                <a:ea typeface="Meiryo"/>
              </a:rPr>
              <a:t>2028年1月〜3月  </a:t>
            </a:r>
            <a:r>
              <a:rPr sz="1300" b="1">
                <a:solidFill>
                  <a:srgbClr val="FFFFFF"/>
                </a:solidFill>
                <a:latin typeface="Meiryo"/>
                <a:ea typeface="Meiryo"/>
              </a:rPr>
              <a:t>春商戦:フル稼働。FY28のフル年間展開+複数年契約のご協議</a:t>
            </a:r>
          </a:p>
        </p:txBody>
      </p:sp>
      <p:sp>
        <p:nvSpPr>
          <p:cNvPr id="17" name="TextBox 16"/>
          <p:cNvSpPr txBox="1"/>
          <p:nvPr/>
        </p:nvSpPr>
        <p:spPr>
          <a:xfrm>
            <a:off x="822960" y="5715000"/>
            <a:ext cx="10515600" cy="548640"/>
          </a:xfrm>
          <a:prstGeom prst="rect">
            <a:avLst/>
          </a:prstGeom>
          <a:noFill/>
        </p:spPr>
        <p:txBody>
          <a:bodyPr wrap="square" anchor="t" lIns="0" rIns="0" tIns="0" bIns="0">
            <a:spAutoFit/>
          </a:bodyPr>
          <a:lstStyle/>
          <a:p>
            <a:pPr algn="l">
              <a:spcAft>
                <a:spcPts val="500"/>
              </a:spcAft>
            </a:pPr>
            <a:r>
              <a:rPr sz="1250" b="1">
                <a:solidFill>
                  <a:srgbClr val="C00000"/>
                </a:solidFill>
                <a:latin typeface="Meiryo"/>
                <a:ea typeface="Meiryo"/>
              </a:rPr>
              <a:t>ポイント:</a:t>
            </a:r>
            <a:r>
              <a:rPr sz="1250" b="0">
                <a:solidFill>
                  <a:srgbClr val="1A1A1A"/>
                </a:solidFill>
                <a:latin typeface="Meiryo"/>
                <a:ea typeface="Meiryo"/>
              </a:rPr>
              <a:t>スーツ増産・指定アクターの研修はパイロット期間中に並行整備するため、判定後すぐに拡大できます。パイロットの計測データが、そのまま拡大時のKPI・出店計画の根拠になります。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ご確認ポイントへのご回答</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貴社資料の確認事項3点への回答です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14</a:t>
            </a:r>
          </a:p>
        </p:txBody>
      </p:sp>
      <p:graphicFrame>
        <p:nvGraphicFramePr>
          <p:cNvPr id="8" name="Table 7"/>
          <p:cNvGraphicFramePr>
            <a:graphicFrameLocks noGrp="1"/>
          </p:cNvGraphicFramePr>
          <p:nvPr/>
        </p:nvGraphicFramePr>
        <p:xfrm>
          <a:off x="640080" y="1508760"/>
          <a:ext cx="10881359" cy="3108960"/>
        </p:xfrm>
        <a:graphic>
          <a:graphicData uri="http://schemas.openxmlformats.org/drawingml/2006/table">
            <a:tbl>
              <a:tblPr firstRow="1" bandRow="1">
                <a:tableStyleId>{5C22544A-7EE6-4342-B048-85BDC9FD1C3A}</a:tableStyleId>
              </a:tblPr>
              <a:tblGrid>
                <a:gridCol w="785252"/>
                <a:gridCol w="3589727"/>
                <a:gridCol w="6506380"/>
              </a:tblGrid>
              <a:tr h="777240">
                <a:tc>
                  <a:txBody>
                    <a:bodyPr/>
                    <a:lstStyle/>
                    <a:p>
                      <a:r>
                        <a:rPr sz="1200" b="1">
                          <a:solidFill>
                            <a:srgbClr val="FFFFFF"/>
                          </a:solidFill>
                          <a:latin typeface="Meiryo"/>
                          <a:ea typeface="Meiryo"/>
                        </a:rPr>
                        <a:t>No.</a:t>
                      </a:r>
                    </a:p>
                  </a:txBody>
                  <a:tcPr anchor="ctr" marL="73152" marR="73152">
                    <a:solidFill>
                      <a:srgbClr val="232278"/>
                    </a:solidFill>
                  </a:tcPr>
                </a:tc>
                <a:tc>
                  <a:txBody>
                    <a:bodyPr/>
                    <a:lstStyle/>
                    <a:p>
                      <a:r>
                        <a:rPr sz="1200" b="1">
                          <a:solidFill>
                            <a:srgbClr val="FFFFFF"/>
                          </a:solidFill>
                          <a:latin typeface="Meiryo"/>
                          <a:ea typeface="Meiryo"/>
                        </a:rPr>
                        <a:t>ご確認内容</a:t>
                      </a:r>
                    </a:p>
                  </a:txBody>
                  <a:tcPr anchor="ctr" marL="73152" marR="73152">
                    <a:solidFill>
                      <a:srgbClr val="232278"/>
                    </a:solidFill>
                  </a:tcPr>
                </a:tc>
                <a:tc>
                  <a:txBody>
                    <a:bodyPr/>
                    <a:lstStyle/>
                    <a:p>
                      <a:r>
                        <a:rPr sz="1200" b="1">
                          <a:solidFill>
                            <a:srgbClr val="FFFFFF"/>
                          </a:solidFill>
                          <a:latin typeface="Meiryo"/>
                          <a:ea typeface="Meiryo"/>
                        </a:rPr>
                        <a:t>ご回答</a:t>
                      </a:r>
                    </a:p>
                  </a:txBody>
                  <a:tcPr anchor="ctr" marL="73152" marR="73152">
                    <a:solidFill>
                      <a:srgbClr val="232278"/>
                    </a:solidFill>
                  </a:tcPr>
                </a:tc>
              </a:tr>
              <a:tr h="777240">
                <a:tc>
                  <a:txBody>
                    <a:bodyPr/>
                    <a:lstStyle/>
                    <a:p>
                      <a:r>
                        <a:rPr sz="1150" b="0">
                          <a:solidFill>
                            <a:srgbClr val="1A1A1A"/>
                          </a:solidFill>
                          <a:latin typeface="Meiryo"/>
                          <a:ea typeface="Meiryo"/>
                        </a:rPr>
                        <a:t>1</a:t>
                      </a:r>
                    </a:p>
                  </a:txBody>
                  <a:tcPr anchor="ctr" marL="73152" marR="73152">
                    <a:solidFill>
                      <a:srgbClr val="FFFFFF"/>
                    </a:solidFill>
                  </a:tcPr>
                </a:tc>
                <a:tc>
                  <a:txBody>
                    <a:bodyPr/>
                    <a:lstStyle/>
                    <a:p>
                      <a:r>
                        <a:rPr sz="1150" b="0">
                          <a:solidFill>
                            <a:srgbClr val="1A1A1A"/>
                          </a:solidFill>
                          <a:latin typeface="Meiryo"/>
                          <a:ea typeface="Meiryo"/>
                        </a:rPr>
                        <a:t>FY26中のテスト実施可否(単体契約 or 短期契約)</a:t>
                      </a:r>
                    </a:p>
                  </a:txBody>
                  <a:tcPr anchor="ctr" marL="73152" marR="73152">
                    <a:solidFill>
                      <a:srgbClr val="FFFFFF"/>
                    </a:solidFill>
                  </a:tcPr>
                </a:tc>
                <a:tc>
                  <a:txBody>
                    <a:bodyPr/>
                    <a:lstStyle/>
                    <a:p>
                      <a:r>
                        <a:rPr sz="1150" b="0">
                          <a:solidFill>
                            <a:srgbClr val="1A1A1A"/>
                          </a:solidFill>
                          <a:latin typeface="Meiryo"/>
                          <a:ea typeface="Meiryo"/>
                        </a:rPr>
                        <a:t>短期・単体契約での対応は可能です。ただし当社の既存ライセンス条件との調整が必要なため、FY26中の実施は形態・会場・時期を個別協議とさせてください。本格開始は2027年4月(FY27期首)を推奨します</a:t>
                      </a:r>
                    </a:p>
                  </a:txBody>
                  <a:tcPr anchor="ctr" marL="73152" marR="73152">
                    <a:solidFill>
                      <a:srgbClr val="FFFFFF"/>
                    </a:solidFill>
                  </a:tcPr>
                </a:tc>
              </a:tr>
              <a:tr h="777240">
                <a:tc>
                  <a:txBody>
                    <a:bodyPr/>
                    <a:lstStyle/>
                    <a:p>
                      <a:r>
                        <a:rPr sz="1150" b="0">
                          <a:solidFill>
                            <a:srgbClr val="1A1A1A"/>
                          </a:solidFill>
                          <a:latin typeface="Meiryo"/>
                          <a:ea typeface="Meiryo"/>
                        </a:rPr>
                        <a:t>2</a:t>
                      </a:r>
                    </a:p>
                  </a:txBody>
                  <a:tcPr anchor="ctr" marL="73152" marR="73152">
                    <a:solidFill>
                      <a:srgbClr val="F2F4F6"/>
                    </a:solidFill>
                  </a:tcPr>
                </a:tc>
                <a:tc>
                  <a:txBody>
                    <a:bodyPr/>
                    <a:lstStyle/>
                    <a:p>
                      <a:r>
                        <a:rPr sz="1150" b="0">
                          <a:solidFill>
                            <a:srgbClr val="1A1A1A"/>
                          </a:solidFill>
                          <a:latin typeface="Meiryo"/>
                          <a:ea typeface="Meiryo"/>
                        </a:rPr>
                        <a:t>ノベルティ作成時の費用(ロイヤリティ)発生有無</a:t>
                      </a:r>
                    </a:p>
                  </a:txBody>
                  <a:tcPr anchor="ctr" marL="73152" marR="73152">
                    <a:solidFill>
                      <a:srgbClr val="F2F4F6"/>
                    </a:solidFill>
                  </a:tcPr>
                </a:tc>
                <a:tc>
                  <a:txBody>
                    <a:bodyPr/>
                    <a:lstStyle/>
                    <a:p>
                      <a:r>
                        <a:rPr sz="1150" b="0">
                          <a:solidFill>
                            <a:srgbClr val="1A1A1A"/>
                          </a:solidFill>
                          <a:latin typeface="Meiryo"/>
                          <a:ea typeface="Meiryo"/>
                        </a:rPr>
                        <a:t>発生します。作成費用(税別)の20%をロイヤリティとしてお支払いいただきます(作成数の上限なし)</a:t>
                      </a:r>
                    </a:p>
                  </a:txBody>
                  <a:tcPr anchor="ctr" marL="73152" marR="73152">
                    <a:solidFill>
                      <a:srgbClr val="F2F4F6"/>
                    </a:solidFill>
                  </a:tcPr>
                </a:tc>
              </a:tr>
              <a:tr h="777240">
                <a:tc>
                  <a:txBody>
                    <a:bodyPr/>
                    <a:lstStyle/>
                    <a:p>
                      <a:r>
                        <a:rPr sz="1150" b="0">
                          <a:solidFill>
                            <a:srgbClr val="1A1A1A"/>
                          </a:solidFill>
                          <a:latin typeface="Meiryo"/>
                          <a:ea typeface="Meiryo"/>
                        </a:rPr>
                        <a:t>3</a:t>
                      </a:r>
                    </a:p>
                  </a:txBody>
                  <a:tcPr anchor="ctr" marL="73152" marR="73152">
                    <a:solidFill>
                      <a:srgbClr val="FFFFFF"/>
                    </a:solidFill>
                  </a:tcPr>
                </a:tc>
                <a:tc>
                  <a:txBody>
                    <a:bodyPr/>
                    <a:lstStyle/>
                    <a:p>
                      <a:r>
                        <a:rPr sz="1150" b="0">
                          <a:solidFill>
                            <a:srgbClr val="1A1A1A"/>
                          </a:solidFill>
                          <a:latin typeface="Meiryo"/>
                          <a:ea typeface="Meiryo"/>
                        </a:rPr>
                        <a:t>イベント実施会場に関する制限事項有無</a:t>
                      </a:r>
                    </a:p>
                  </a:txBody>
                  <a:tcPr anchor="ctr" marL="73152" marR="73152">
                    <a:solidFill>
                      <a:srgbClr val="FFFFFF"/>
                    </a:solidFill>
                  </a:tcPr>
                </a:tc>
                <a:tc>
                  <a:txBody>
                    <a:bodyPr/>
                    <a:lstStyle/>
                    <a:p>
                      <a:r>
                        <a:rPr sz="1150" b="0">
                          <a:solidFill>
                            <a:srgbClr val="1A1A1A"/>
                          </a:solidFill>
                          <a:latin typeface="Meiryo"/>
                          <a:ea typeface="Meiryo"/>
                        </a:rPr>
                        <a:t>①外部から見えない更衣室(控室)のご用意 ②他キャラクターとの同時共存は不可 ③非公式商品の店頭ツール・装飾利用は不可。詳細は運用ガイドラインをご提示します</a:t>
                      </a:r>
                    </a:p>
                  </a:txBody>
                  <a:tcPr anchor="ctr" marL="73152" marR="73152">
                    <a:solidFill>
                      <a:srgbClr val="FFFFFF"/>
                    </a:solidFill>
                  </a:tcPr>
                </a:tc>
              </a:tr>
            </a:tbl>
          </a:graphicData>
        </a:graphic>
      </p:graphicFrame>
      <p:sp>
        <p:nvSpPr>
          <p:cNvPr id="9" name="TextBox 8"/>
          <p:cNvSpPr txBox="1"/>
          <p:nvPr/>
        </p:nvSpPr>
        <p:spPr>
          <a:xfrm>
            <a:off x="640080" y="4434840"/>
            <a:ext cx="10881360" cy="548640"/>
          </a:xfrm>
          <a:prstGeom prst="rect">
            <a:avLst/>
          </a:prstGeom>
          <a:noFill/>
        </p:spPr>
        <p:txBody>
          <a:bodyPr wrap="square" anchor="t" lIns="0" rIns="0" tIns="0" bIns="0">
            <a:spAutoFit/>
          </a:bodyPr>
          <a:lstStyle/>
          <a:p>
            <a:pPr algn="l">
              <a:spcAft>
                <a:spcPts val="500"/>
              </a:spcAft>
            </a:pPr>
            <a:r>
              <a:rPr sz="1100" b="0">
                <a:solidFill>
                  <a:srgbClr val="5A626B"/>
                </a:solidFill>
                <a:latin typeface="Meiryo"/>
                <a:ea typeface="Meiryo"/>
              </a:rPr>
              <a:t>※着ぐるみの稼働ルール(1回30分×1日最大5回、専属スタッフ2名体制)は、ポケモン様の現行運用と同一の水準で設計しています。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nd_header.png"/>
          <p:cNvPicPr>
            <a:picLocks noChangeAspect="1"/>
          </p:cNvPicPr>
          <p:nvPr/>
        </p:nvPicPr>
        <p:blipFill>
          <a:blip r:embed="rId2"/>
          <a:stretch>
            <a:fillRect/>
          </a:stretch>
        </p:blipFill>
        <p:spPr>
          <a:xfrm>
            <a:off x="0" y="0"/>
            <a:ext cx="12191695" cy="786384"/>
          </a:xfrm>
          <a:prstGeom prst="rect">
            <a:avLst/>
          </a:prstGeom>
        </p:spPr>
      </p:pic>
      <p:sp>
        <p:nvSpPr>
          <p:cNvPr id="3" name="TextBox 2"/>
          <p:cNvSpPr txBox="1"/>
          <p:nvPr/>
        </p:nvSpPr>
        <p:spPr>
          <a:xfrm>
            <a:off x="457200" y="73152"/>
            <a:ext cx="10241280" cy="640080"/>
          </a:xfrm>
          <a:prstGeom prst="rect">
            <a:avLst/>
          </a:prstGeom>
          <a:noFill/>
        </p:spPr>
        <p:txBody>
          <a:bodyPr wrap="square" anchor="ctr" lIns="0" rIns="0" tIns="0" bIns="0">
            <a:spAutoFit/>
          </a:bodyPr>
          <a:lstStyle/>
          <a:p>
            <a:pPr algn="l">
              <a:spcAft>
                <a:spcPts val="500"/>
              </a:spcAft>
            </a:pPr>
            <a:r>
              <a:rPr sz="2100" b="1">
                <a:solidFill>
                  <a:srgbClr val="FFFFFF"/>
                </a:solidFill>
                <a:latin typeface="Meiryo"/>
                <a:ea typeface="Meiryo"/>
              </a:rPr>
              <a:t>本ご提案のまとめと次アクション</a:t>
            </a:r>
          </a:p>
        </p:txBody>
      </p:sp>
      <p:sp>
        <p:nvSpPr>
          <p:cNvPr id="4" name="TextBox 3"/>
          <p:cNvSpPr txBox="1"/>
          <p:nvPr/>
        </p:nvSpPr>
        <p:spPr>
          <a:xfrm>
            <a:off x="502920" y="896112"/>
            <a:ext cx="11155680" cy="365760"/>
          </a:xfrm>
          <a:prstGeom prst="rect">
            <a:avLst/>
          </a:prstGeom>
          <a:noFill/>
        </p:spPr>
        <p:txBody>
          <a:bodyPr wrap="square" anchor="t" lIns="0" rIns="0" tIns="0" bIns="0">
            <a:spAutoFit/>
          </a:bodyPr>
          <a:lstStyle/>
          <a:p>
            <a:pPr algn="l">
              <a:spcAft>
                <a:spcPts val="500"/>
              </a:spcAft>
            </a:pPr>
            <a:r>
              <a:rPr sz="1250" b="0">
                <a:solidFill>
                  <a:srgbClr val="5A626B"/>
                </a:solidFill>
                <a:latin typeface="Meiryo"/>
                <a:ea typeface="Meiryo"/>
              </a:rPr>
              <a:t>段階導入で意思決定リスクを抑えながら、60周年イヤーのウルトラマンを貴社の店頭資産にしていただくご提案です</a:t>
            </a:r>
          </a:p>
        </p:txBody>
      </p:sp>
      <p:sp>
        <p:nvSpPr>
          <p:cNvPr id="5" name="TextBox 4"/>
          <p:cNvSpPr txBox="1"/>
          <p:nvPr/>
        </p:nvSpPr>
        <p:spPr>
          <a:xfrm>
            <a:off x="4727448" y="6547104"/>
            <a:ext cx="2743200" cy="256032"/>
          </a:xfrm>
          <a:prstGeom prst="rect">
            <a:avLst/>
          </a:prstGeom>
          <a:noFill/>
        </p:spPr>
        <p:txBody>
          <a:bodyPr wrap="square" anchor="t" lIns="0" rIns="0" tIns="0" bIns="0">
            <a:spAutoFit/>
          </a:bodyPr>
          <a:lstStyle/>
          <a:p>
            <a:pPr algn="ctr">
              <a:spcAft>
                <a:spcPts val="500"/>
              </a:spcAft>
            </a:pPr>
            <a:r>
              <a:rPr sz="800" b="0">
                <a:solidFill>
                  <a:srgbClr val="8E949B"/>
                </a:solidFill>
                <a:latin typeface="Meiryo"/>
                <a:ea typeface="Meiryo"/>
              </a:rPr>
              <a:t>© TSUBURAYA PRODUCTIONS</a:t>
            </a:r>
          </a:p>
        </p:txBody>
      </p:sp>
      <p:sp>
        <p:nvSpPr>
          <p:cNvPr id="6" name="TextBox 5"/>
          <p:cNvSpPr txBox="1"/>
          <p:nvPr/>
        </p:nvSpPr>
        <p:spPr>
          <a:xfrm>
            <a:off x="9372600" y="6492240"/>
            <a:ext cx="2011680" cy="274320"/>
          </a:xfrm>
          <a:prstGeom prst="rect">
            <a:avLst/>
          </a:prstGeom>
          <a:noFill/>
        </p:spPr>
        <p:txBody>
          <a:bodyPr wrap="square" anchor="t" lIns="0" rIns="0" tIns="0" bIns="0">
            <a:spAutoFit/>
          </a:bodyPr>
          <a:lstStyle/>
          <a:p>
            <a:pPr algn="r">
              <a:spcAft>
                <a:spcPts val="500"/>
              </a:spcAft>
            </a:pPr>
            <a:r>
              <a:rPr sz="1000" b="1">
                <a:solidFill>
                  <a:srgbClr val="C00000"/>
                </a:solidFill>
                <a:latin typeface="Meiryo"/>
                <a:ea typeface="Meiryo"/>
              </a:rPr>
              <a:t>Strictly Confidential</a:t>
            </a:r>
          </a:p>
        </p:txBody>
      </p:sp>
      <p:sp>
        <p:nvSpPr>
          <p:cNvPr id="7" name="TextBox 6"/>
          <p:cNvSpPr txBox="1"/>
          <p:nvPr/>
        </p:nvSpPr>
        <p:spPr>
          <a:xfrm>
            <a:off x="11521440" y="6492240"/>
            <a:ext cx="457200" cy="274320"/>
          </a:xfrm>
          <a:prstGeom prst="rect">
            <a:avLst/>
          </a:prstGeom>
          <a:noFill/>
        </p:spPr>
        <p:txBody>
          <a:bodyPr wrap="square" anchor="t" lIns="0" rIns="0" tIns="0" bIns="0">
            <a:spAutoFit/>
          </a:bodyPr>
          <a:lstStyle/>
          <a:p>
            <a:pPr algn="r">
              <a:spcAft>
                <a:spcPts val="500"/>
              </a:spcAft>
            </a:pPr>
            <a:r>
              <a:rPr sz="1000" b="0">
                <a:solidFill>
                  <a:srgbClr val="8E949B"/>
                </a:solidFill>
                <a:latin typeface="Meiryo"/>
                <a:ea typeface="Meiryo"/>
              </a:rPr>
              <a:t>15</a:t>
            </a:r>
          </a:p>
        </p:txBody>
      </p:sp>
      <p:sp>
        <p:nvSpPr>
          <p:cNvPr id="8" name="Rounded Rectangle 7"/>
          <p:cNvSpPr/>
          <p:nvPr/>
        </p:nvSpPr>
        <p:spPr>
          <a:xfrm>
            <a:off x="640080" y="1554480"/>
            <a:ext cx="10881360" cy="2103120"/>
          </a:xfrm>
          <a:prstGeom prst="roundRect">
            <a:avLst>
              <a:gd name="adj" fmla="val 5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37360"/>
            <a:ext cx="10332720" cy="1828800"/>
          </a:xfrm>
          <a:prstGeom prst="rect">
            <a:avLst/>
          </a:prstGeom>
          <a:noFill/>
        </p:spPr>
        <p:txBody>
          <a:bodyPr wrap="square" anchor="t" lIns="0" rIns="0" tIns="0" bIns="0">
            <a:spAutoFit/>
          </a:bodyPr>
          <a:lstStyle/>
          <a:p>
            <a:pPr algn="l">
              <a:spcAft>
                <a:spcPts val="700"/>
              </a:spcAft>
            </a:pPr>
            <a:r>
              <a:rPr sz="1400" b="1">
                <a:solidFill>
                  <a:srgbClr val="C00000"/>
                </a:solidFill>
                <a:latin typeface="Meiryo"/>
                <a:ea typeface="Meiryo"/>
              </a:rPr>
              <a:t>本ご提案のポイント</a:t>
            </a:r>
          </a:p>
          <a:p>
            <a:pPr algn="l">
              <a:spcAft>
                <a:spcPts val="700"/>
              </a:spcAft>
            </a:pPr>
            <a:r>
              <a:rPr sz="1300" b="0">
                <a:solidFill>
                  <a:srgbClr val="1A1A1A"/>
                </a:solidFill>
                <a:latin typeface="Meiryo"/>
                <a:ea typeface="Meiryo"/>
              </a:rPr>
              <a:t>・年間条件は3階建て(IP使用料2,000万円+着ぐるみ20万円/開催+ロイヤリティ20%)。固定は①のみの従量型</a:t>
            </a:r>
          </a:p>
          <a:p>
            <a:pPr algn="l">
              <a:spcAft>
                <a:spcPts val="700"/>
              </a:spcAft>
            </a:pPr>
            <a:r>
              <a:rPr sz="1300" b="0">
                <a:solidFill>
                  <a:srgbClr val="1A1A1A"/>
                </a:solidFill>
                <a:latin typeface="Meiryo"/>
                <a:ea typeface="Meiryo"/>
              </a:rPr>
              <a:t>・テスト(無償)→協賛検証→期首パイロット→年間契約の段階導入。各段階の投資は次に充当され無駄になりません</a:t>
            </a:r>
          </a:p>
          <a:p>
            <a:pPr algn="l">
              <a:spcAft>
                <a:spcPts val="700"/>
              </a:spcAft>
            </a:pPr>
            <a:r>
              <a:rPr sz="1300" b="0">
                <a:solidFill>
                  <a:srgbClr val="1A1A1A"/>
                </a:solidFill>
                <a:latin typeface="Meiryo"/>
                <a:ea typeface="Meiryo"/>
              </a:rPr>
              <a:t>・成功基準を共同設定し、達成時の年間移行を事前合意(LOI)。パイロットのデータが貴社の社内ご説明資料になります</a:t>
            </a:r>
          </a:p>
        </p:txBody>
      </p:sp>
      <p:graphicFrame>
        <p:nvGraphicFramePr>
          <p:cNvPr id="10" name="Table 9"/>
          <p:cNvGraphicFramePr>
            <a:graphicFrameLocks noGrp="1"/>
          </p:cNvGraphicFramePr>
          <p:nvPr/>
        </p:nvGraphicFramePr>
        <p:xfrm>
          <a:off x="640080" y="3931920"/>
          <a:ext cx="10881359" cy="1828800"/>
        </p:xfrm>
        <a:graphic>
          <a:graphicData uri="http://schemas.openxmlformats.org/drawingml/2006/table">
            <a:tbl>
              <a:tblPr firstRow="1" bandRow="1">
                <a:tableStyleId>{5C22544A-7EE6-4342-B048-85BDC9FD1C3A}</a:tableStyleId>
              </a:tblPr>
              <a:tblGrid>
                <a:gridCol w="2863515"/>
                <a:gridCol w="8017844"/>
              </a:tblGrid>
              <a:tr h="457200">
                <a:tc>
                  <a:txBody>
                    <a:bodyPr/>
                    <a:lstStyle/>
                    <a:p>
                      <a:r>
                        <a:rPr sz="1200" b="1">
                          <a:solidFill>
                            <a:srgbClr val="FFFFFF"/>
                          </a:solidFill>
                          <a:latin typeface="Meiryo"/>
                          <a:ea typeface="Meiryo"/>
                        </a:rPr>
                        <a:t>時期</a:t>
                      </a:r>
                    </a:p>
                  </a:txBody>
                  <a:tcPr anchor="ctr" marL="73152" marR="73152">
                    <a:solidFill>
                      <a:srgbClr val="232278"/>
                    </a:solidFill>
                  </a:tcPr>
                </a:tc>
                <a:tc>
                  <a:txBody>
                    <a:bodyPr/>
                    <a:lstStyle/>
                    <a:p>
                      <a:r>
                        <a:rPr sz="1200" b="1">
                          <a:solidFill>
                            <a:srgbClr val="FFFFFF"/>
                          </a:solidFill>
                          <a:latin typeface="Meiryo"/>
                          <a:ea typeface="Meiryo"/>
                        </a:rPr>
                        <a:t>アクション</a:t>
                      </a:r>
                    </a:p>
                  </a:txBody>
                  <a:tcPr anchor="ctr" marL="73152" marR="73152">
                    <a:solidFill>
                      <a:srgbClr val="232278"/>
                    </a:solidFill>
                  </a:tcPr>
                </a:tc>
              </a:tr>
              <a:tr h="457200">
                <a:tc>
                  <a:txBody>
                    <a:bodyPr/>
                    <a:lstStyle/>
                    <a:p>
                      <a:r>
                        <a:rPr sz="1250" b="0">
                          <a:solidFill>
                            <a:srgbClr val="1A1A1A"/>
                          </a:solidFill>
                          <a:latin typeface="Meiryo"/>
                          <a:ea typeface="Meiryo"/>
                        </a:rPr>
                        <a:t>2026年8月</a:t>
                      </a:r>
                    </a:p>
                  </a:txBody>
                  <a:tcPr anchor="ctr" marL="73152" marR="73152">
                    <a:solidFill>
                      <a:srgbClr val="FFFFFF"/>
                    </a:solidFill>
                  </a:tcPr>
                </a:tc>
                <a:tc>
                  <a:txBody>
                    <a:bodyPr/>
                    <a:lstStyle/>
                    <a:p>
                      <a:r>
                        <a:rPr sz="1250" b="0">
                          <a:solidFill>
                            <a:srgbClr val="1A1A1A"/>
                          </a:solidFill>
                          <a:latin typeface="Meiryo"/>
                          <a:ea typeface="Meiryo"/>
                        </a:rPr>
                        <a:t>条件協議・テスト計画の基本合意(LOI)</a:t>
                      </a:r>
                    </a:p>
                  </a:txBody>
                  <a:tcPr anchor="ctr" marL="73152" marR="73152">
                    <a:solidFill>
                      <a:srgbClr val="FFFFFF"/>
                    </a:solidFill>
                  </a:tcPr>
                </a:tc>
              </a:tr>
              <a:tr h="457200">
                <a:tc>
                  <a:txBody>
                    <a:bodyPr/>
                    <a:lstStyle/>
                    <a:p>
                      <a:r>
                        <a:rPr sz="1250" b="0">
                          <a:solidFill>
                            <a:srgbClr val="1A1A1A"/>
                          </a:solidFill>
                          <a:latin typeface="Meiryo"/>
                          <a:ea typeface="Meiryo"/>
                        </a:rPr>
                        <a:t>2026年9月〜2027年3月</a:t>
                      </a:r>
                    </a:p>
                  </a:txBody>
                  <a:tcPr anchor="ctr" marL="73152" marR="73152">
                    <a:solidFill>
                      <a:srgbClr val="F2F4F6"/>
                    </a:solidFill>
                  </a:tcPr>
                </a:tc>
                <a:tc>
                  <a:txBody>
                    <a:bodyPr/>
                    <a:lstStyle/>
                    <a:p>
                      <a:r>
                        <a:rPr sz="1250" b="0">
                          <a:solidFill>
                            <a:srgbClr val="1A1A1A"/>
                          </a:solidFill>
                          <a:latin typeface="Meiryo"/>
                          <a:ea typeface="Meiryo"/>
                        </a:rPr>
                        <a:t>STEP1〜2:先行開発・協賛型イベント検証+供給体制整備</a:t>
                      </a:r>
                    </a:p>
                  </a:txBody>
                  <a:tcPr anchor="ctr" marL="73152" marR="73152">
                    <a:solidFill>
                      <a:srgbClr val="F2F4F6"/>
                    </a:solidFill>
                  </a:tcPr>
                </a:tc>
              </a:tr>
              <a:tr h="457200">
                <a:tc>
                  <a:txBody>
                    <a:bodyPr/>
                    <a:lstStyle/>
                    <a:p>
                      <a:r>
                        <a:rPr sz="1250" b="1">
                          <a:solidFill>
                            <a:srgbClr val="C00000"/>
                          </a:solidFill>
                          <a:latin typeface="Meiryo"/>
                          <a:ea typeface="Meiryo"/>
                        </a:rPr>
                        <a:t>2027年4月〜</a:t>
                      </a:r>
                    </a:p>
                  </a:txBody>
                  <a:tcPr anchor="ctr" marL="73152" marR="73152">
                    <a:solidFill>
                      <a:srgbClr val="FFFFFF"/>
                    </a:solidFill>
                  </a:tcPr>
                </a:tc>
                <a:tc>
                  <a:txBody>
                    <a:bodyPr/>
                    <a:lstStyle/>
                    <a:p>
                      <a:r>
                        <a:rPr sz="1250" b="1">
                          <a:solidFill>
                            <a:srgbClr val="C00000"/>
                          </a:solidFill>
                          <a:latin typeface="Meiryo"/>
                          <a:ea typeface="Meiryo"/>
                        </a:rPr>
                        <a:t>STEP3〜4:期首パイロット → 7月 年間契約発効 → 全国拡大</a:t>
                      </a:r>
                    </a:p>
                  </a:txBody>
                  <a:tcPr anchor="ctr" marL="73152" marR="73152">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