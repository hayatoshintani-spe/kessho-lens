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テスト実施のご提案パターン(確認ポイント1へのご回答)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既存ライセンス条件を踏まえ、2026年度内から段階的に検証を始められる3つのパターンをご用意しました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7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1032"/>
                <a:gridCol w="3075166"/>
                <a:gridCol w="3429993"/>
                <a:gridCol w="3075166"/>
              </a:tblGrid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パターン1:先行開発テスト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パターン2:イベント協賛型テスト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パターン3:期首パイロット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2026年9月〜(即時開始可)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2026年秋〜冬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2027年4月〜6月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キット・訴求ツールのデザイン開発と監修、お客様調査、デジタル施策(QR等)の仕組み検証 ※IP実働なし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当社主催(または商業施設主催)の60周年イベントに貴社がご協賛・ブース出展。着ぐるみは当社イベントとして稼働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首都圏5〜10店舗・着ぐるみ10〜20開催の単体テスト(全国展開と同一の運用形式)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ご契約形態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秘密保持契約+監修合意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イベント協賛契約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短期単体契約(3か月)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費用目安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原則無償(制作実費のみ)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ご協賛金 300〜500万円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短期IP使用料300万円+着ぐるみ20万円/開催+作成物ロイヤリティ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検証できること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クリエイティブ品質・監修フロー・運用設計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集客力・ブース送客・相談転換の実地データ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全国展開前の店頭オペレーション・KPI実測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C00000"/>
                </a:solidFill>
                <a:latin typeface="Meiryo"/>
                <a:ea typeface="Meiryo"/>
              </a:rPr>
              <a:t>※パターン3の短期IP使用料は、年間ご契約へ移行された場合、初年度IP使用料に全額充当します。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※2026年度内の貴社主催・貴社店頭でのイベント実施は、既存ライセンス条件の調整が必要なため個別協議となります。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推奨ロードマップ:2026年度内に手応えを作り、2027年4月に全国へ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パターン1→2→3を段階的に重ね、リスクなく検証を積み上げて年間契約へ接続します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2026年8月  </a:t>
            </a: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条件協議・テスト計画の合意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43600" y="2194560"/>
            <a:ext cx="201168" cy="128016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340864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2026年9月〜  </a:t>
            </a: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パターン1:デザイン開発・監修・仕組み検証を開始(無償)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2980944"/>
            <a:ext cx="201168" cy="128016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127248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2026年11月〜2027年1月  </a:t>
            </a: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パターン2:協賛型イベントで集客・送客データを実地検証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3767328"/>
            <a:ext cx="201168" cy="128016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913632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2027年2月〜3月  </a:t>
            </a: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検証結果の評価 → 年間契約の締結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43600" y="4553712"/>
            <a:ext cx="201168" cy="128016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700016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2027年4月〜  </a:t>
            </a: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年間契約開始。期首3か月はパターン3(パイロット)として重点運用 → 7月から全国拡大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150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ポイント:</a:t>
            </a: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2026年度は「作る・確かめる」に集中し、実働は2027年4月から空白なくスタート。パターン2の協賛実績が年間契約の社内稟議の裏付けになります。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パイロットの成功基準と年間契約への接続(ご提案)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パイロットを「やって終わり」にしないため、成功基準と移行条件を事前にご合意いただく設計です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8269"/>
                <a:gridCol w="3311718"/>
                <a:gridCol w="4021372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成功基準(貴社と共同設定)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測定方法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目安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店頭集客(1開催あたり来場)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会場カウント+キットQR読取数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現行IP施策の同等水準(比80%以上)を基準に共同設定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撮影会参加組数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参加受付数(1回30分×5回/日)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同上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ブース接触→相談への転換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QRアンケート+店頭相談記録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パイロットで実測しベンチマーク化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現場運用品質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店舗・代理店ヒアリング、事故・クレーム件数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重大事故・クレームゼロ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069080"/>
            <a:ext cx="10881360" cy="1691640"/>
          </a:xfrm>
          <a:prstGeom prst="roundRect">
            <a:avLst>
              <a:gd name="adj" fmla="val 5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24528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C00000"/>
                </a:solidFill>
                <a:latin typeface="Meiryo"/>
                <a:ea typeface="Meiryo"/>
              </a:rPr>
              <a:t>年間契約への接続条件(基本合意書で事前にご合意)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① 成功基準を達成した場合、年間契約へ移行することをパイロット開始前に基本合意(LOI)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② 短期IP使用料300万円は、年間契約の初年度IP使用料に全額充当(=パイロット費用は実質ゼロに)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③ パイロット期間中のご締結で、60周年記念素材・限定ビジュアルを初年度特典としてご提供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④ 計測データは月次レポートで貴社ご報告用フォーマットに整えてご提出(社内ご説明にそのままご利用いただけます)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年間展開へのランプアップ計画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パイロットと並行して供給体制を整備し、判定後は待ち時間ゼロで全国拡大へ移行します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2027年4月〜6月  </a:t>
            </a: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パイロット:首都圏5〜10店舗・10〜20開催。月次レビューで基準進捗を確認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43600" y="2194560"/>
            <a:ext cx="201168" cy="128016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340864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2027年7月  </a:t>
            </a: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成功基準の判定 → 年間契約へ移行(基本合意済みのためスムーズに発効)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2980944"/>
            <a:ext cx="201168" cy="128016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127248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2027年7月〜9月  </a:t>
            </a: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夏休み商戦:約100開催規模へ拡大(関東+主要都市)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3767328"/>
            <a:ext cx="201168" cy="128016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913632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2027年10月〜12月  </a:t>
            </a:r>
            <a:r>
              <a:rPr sz="1300" b="0">
                <a:solidFill>
                  <a:srgbClr val="1A1A1A"/>
                </a:solidFill>
                <a:latin typeface="Meiryo"/>
                <a:ea typeface="Meiryo"/>
              </a:rPr>
              <a:t>年末商戦:全国展開へ拡大(年率300〜600開催ペース)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43600" y="4553712"/>
            <a:ext cx="201168" cy="128016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700016"/>
            <a:ext cx="10515600" cy="658368"/>
          </a:xfrm>
          <a:prstGeom prst="roundRect">
            <a:avLst>
              <a:gd name="adj" fmla="val 12000"/>
            </a:avLst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2028年1月〜3月  </a:t>
            </a: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春商戦:フル稼働。FY28のフル年間展開+複数年契約のご協議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150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ポイント:</a:t>
            </a:r>
            <a:r>
              <a:rPr sz="1250" b="0">
                <a:solidFill>
                  <a:srgbClr val="1A1A1A"/>
                </a:solidFill>
                <a:latin typeface="Meiryo"/>
                <a:ea typeface="Meiryo"/>
              </a:rPr>
              <a:t>スーツ増産・指定アクターの研修はパイロット期間中に並行整備するため、判定後すぐに拡大できます。パイロットの計測データが、そのまま拡大時のKPI・出店計画の根拠になります。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