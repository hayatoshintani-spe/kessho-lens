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cover.png"/>
          <p:cNvPicPr>
            <a:picLocks noChangeAspect="1"/>
          </p:cNvPicPr>
          <p:nvPr/>
        </p:nvPicPr>
        <p:blipFill>
          <a:blip r:embed="rId2"/>
          <a:stretch>
            <a:fillRect/>
          </a:stretch>
        </p:blipFill>
        <p:spPr>
          <a:xfrm>
            <a:off x="0" y="0"/>
            <a:ext cx="3739896" cy="6858000"/>
          </a:xfrm>
          <a:prstGeom prst="rect">
            <a:avLst/>
          </a:prstGeom>
        </p:spPr>
      </p:pic>
      <p:sp>
        <p:nvSpPr>
          <p:cNvPr id="3" name="TextBox 2"/>
          <p:cNvSpPr txBox="1"/>
          <p:nvPr/>
        </p:nvSpPr>
        <p:spPr>
          <a:xfrm>
            <a:off x="4114800" y="1143000"/>
            <a:ext cx="7680960" cy="457200"/>
          </a:xfrm>
          <a:prstGeom prst="rect">
            <a:avLst/>
          </a:prstGeom>
          <a:noFill/>
        </p:spPr>
        <p:txBody>
          <a:bodyPr wrap="square" anchor="t" lIns="0" rIns="0" tIns="0" bIns="0">
            <a:spAutoFit/>
          </a:bodyPr>
          <a:lstStyle/>
          <a:p>
            <a:pPr algn="ctr">
              <a:spcAft>
                <a:spcPts val="500"/>
              </a:spcAft>
            </a:pPr>
            <a:r>
              <a:rPr sz="1400" b="0">
                <a:solidFill>
                  <a:srgbClr val="5A626B"/>
                </a:solidFill>
                <a:latin typeface="Meiryo"/>
                <a:ea typeface="Meiryo"/>
              </a:rPr>
              <a:t>ソフトバンク株式会社 御中</a:t>
            </a:r>
          </a:p>
        </p:txBody>
      </p:sp>
      <p:sp>
        <p:nvSpPr>
          <p:cNvPr id="4" name="TextBox 3"/>
          <p:cNvSpPr txBox="1"/>
          <p:nvPr/>
        </p:nvSpPr>
        <p:spPr>
          <a:xfrm>
            <a:off x="4114800" y="2057400"/>
            <a:ext cx="7680960" cy="1828800"/>
          </a:xfrm>
          <a:prstGeom prst="rect">
            <a:avLst/>
          </a:prstGeom>
          <a:noFill/>
        </p:spPr>
        <p:txBody>
          <a:bodyPr wrap="square" anchor="t" lIns="0" rIns="0" tIns="0" bIns="0">
            <a:spAutoFit/>
          </a:bodyPr>
          <a:lstStyle/>
          <a:p>
            <a:pPr algn="ctr">
              <a:spcAft>
                <a:spcPts val="1000"/>
              </a:spcAft>
            </a:pPr>
            <a:r>
              <a:rPr sz="3000" b="1">
                <a:solidFill>
                  <a:srgbClr val="1A1A1A"/>
                </a:solidFill>
                <a:latin typeface="Meiryo"/>
                <a:ea typeface="Meiryo"/>
              </a:rPr>
              <a:t>ウルトラソフトバンクフェス</a:t>
            </a:r>
          </a:p>
          <a:p>
            <a:pPr algn="ctr">
              <a:spcAft>
                <a:spcPts val="1000"/>
              </a:spcAft>
            </a:pPr>
            <a:r>
              <a:rPr sz="2400" b="1">
                <a:solidFill>
                  <a:srgbClr val="1A1A1A"/>
                </a:solidFill>
                <a:latin typeface="Meiryo"/>
                <a:ea typeface="Meiryo"/>
              </a:rPr>
              <a:t>契約内容とノベルティ制作の進め方</a:t>
            </a:r>
          </a:p>
        </p:txBody>
      </p:sp>
      <p:sp>
        <p:nvSpPr>
          <p:cNvPr id="5" name="TextBox 4"/>
          <p:cNvSpPr txBox="1"/>
          <p:nvPr/>
        </p:nvSpPr>
        <p:spPr>
          <a:xfrm>
            <a:off x="4114800" y="3840480"/>
            <a:ext cx="7680960" cy="822960"/>
          </a:xfrm>
          <a:prstGeom prst="rect">
            <a:avLst/>
          </a:prstGeom>
          <a:noFill/>
        </p:spPr>
        <p:txBody>
          <a:bodyPr wrap="square" anchor="t" lIns="0" rIns="0" tIns="0" bIns="0">
            <a:spAutoFit/>
          </a:bodyPr>
          <a:lstStyle/>
          <a:p>
            <a:pPr algn="ctr">
              <a:spcAft>
                <a:spcPts val="400"/>
              </a:spcAft>
            </a:pPr>
            <a:r>
              <a:rPr sz="1350" b="0">
                <a:solidFill>
                  <a:srgbClr val="1A1A1A"/>
                </a:solidFill>
                <a:latin typeface="Meiryo"/>
                <a:ea typeface="Meiryo"/>
              </a:rPr>
              <a:t>お打ち合わせ資料</a:t>
            </a:r>
          </a:p>
          <a:p>
            <a:pPr algn="ctr">
              <a:spcAft>
                <a:spcPts val="400"/>
              </a:spcAft>
            </a:pPr>
            <a:r>
              <a:rPr sz="1350" b="0">
                <a:solidFill>
                  <a:srgbClr val="1A1A1A"/>
                </a:solidFill>
                <a:latin typeface="Meiryo"/>
                <a:ea typeface="Meiryo"/>
              </a:rPr>
              <a:t>契約期間 2027年1月〜2028年12月(2年間)・基準15ライン</a:t>
            </a:r>
          </a:p>
        </p:txBody>
      </p:sp>
      <p:sp>
        <p:nvSpPr>
          <p:cNvPr id="6" name="TextBox 5"/>
          <p:cNvSpPr txBox="1"/>
          <p:nvPr/>
        </p:nvSpPr>
        <p:spPr>
          <a:xfrm>
            <a:off x="4114800" y="5212080"/>
            <a:ext cx="7680960" cy="914400"/>
          </a:xfrm>
          <a:prstGeom prst="rect">
            <a:avLst/>
          </a:prstGeom>
          <a:noFill/>
        </p:spPr>
        <p:txBody>
          <a:bodyPr wrap="square" anchor="t" lIns="0" rIns="0" tIns="0" bIns="0">
            <a:spAutoFit/>
          </a:bodyPr>
          <a:lstStyle/>
          <a:p>
            <a:pPr algn="ctr">
              <a:spcAft>
                <a:spcPts val="300"/>
              </a:spcAft>
            </a:pPr>
            <a:r>
              <a:rPr sz="1500" b="1">
                <a:solidFill>
                  <a:srgbClr val="1F338C"/>
                </a:solidFill>
                <a:latin typeface="Meiryo"/>
                <a:ea typeface="Meiryo"/>
              </a:rPr>
              <a:t>2026年10月26日</a:t>
            </a:r>
          </a:p>
          <a:p>
            <a:pPr algn="ctr">
              <a:spcAft>
                <a:spcPts val="300"/>
              </a:spcAft>
            </a:pPr>
            <a:r>
              <a:rPr sz="1500" b="1">
                <a:solidFill>
                  <a:srgbClr val="1F338C"/>
                </a:solidFill>
                <a:latin typeface="Meiryo"/>
                <a:ea typeface="Meiryo"/>
              </a:rPr>
              <a:t>(株)円谷プロダクション</a:t>
            </a:r>
          </a:p>
          <a:p>
            <a:pPr algn="ctr">
              <a:spcAft>
                <a:spcPts val="300"/>
              </a:spcAft>
            </a:pPr>
            <a:r>
              <a:rPr sz="1050" b="0">
                <a:solidFill>
                  <a:srgbClr val="8E949B"/>
                </a:solidFill>
                <a:latin typeface="Meiryo"/>
                <a:ea typeface="Meiryo"/>
              </a:rPr>
              <a:t>金額はすべて税別</a:t>
            </a:r>
          </a:p>
        </p:txBody>
      </p:sp>
      <p:sp>
        <p:nvSpPr>
          <p:cNvPr id="7" name="TextBox 6"/>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8" name="TextBox 7"/>
          <p:cNvSpPr txBox="1"/>
          <p:nvPr/>
        </p:nvSpPr>
        <p:spPr>
          <a:xfrm>
            <a:off x="9372600" y="6492240"/>
            <a:ext cx="228600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本日の進め方</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契約の構成と主要条件をご確認いただき、ノベルティ・制作物の進め方と締結までの日程を決めます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2</a:t>
            </a:r>
          </a:p>
        </p:txBody>
      </p:sp>
      <p:graphicFrame>
        <p:nvGraphicFramePr>
          <p:cNvPr id="8" name="Table 7"/>
          <p:cNvGraphicFramePr>
            <a:graphicFrameLocks noGrp="1"/>
          </p:cNvGraphicFramePr>
          <p:nvPr/>
        </p:nvGraphicFramePr>
        <p:xfrm>
          <a:off x="640080" y="1417320"/>
          <a:ext cx="6675118" cy="2514600"/>
        </p:xfrm>
        <a:graphic>
          <a:graphicData uri="http://schemas.openxmlformats.org/drawingml/2006/table">
            <a:tbl>
              <a:tblPr firstRow="1" bandRow="1">
                <a:tableStyleId>{5C22544A-7EE6-4342-B048-85BDC9FD1C3A}</a:tableStyleId>
              </a:tblPr>
              <a:tblGrid>
                <a:gridCol w="377836"/>
                <a:gridCol w="5289717"/>
                <a:gridCol w="1007565"/>
              </a:tblGrid>
              <a:tr h="502920">
                <a:tc>
                  <a:txBody>
                    <a:bodyPr/>
                    <a:lstStyle/>
                    <a:p>
                      <a:r>
                        <a:rPr sz="1200" b="1">
                          <a:solidFill>
                            <a:srgbClr val="FFFFFF"/>
                          </a:solidFill>
                          <a:latin typeface="Meiryo"/>
                          <a:ea typeface="Meiryo"/>
                        </a:rPr>
                        <a:t>#</a:t>
                      </a:r>
                    </a:p>
                  </a:txBody>
                  <a:tcPr anchor="ctr" marL="73152" marR="73152">
                    <a:solidFill>
                      <a:srgbClr val="232278"/>
                    </a:solidFill>
                  </a:tcPr>
                </a:tc>
                <a:tc>
                  <a:txBody>
                    <a:bodyPr/>
                    <a:lstStyle/>
                    <a:p>
                      <a:r>
                        <a:rPr sz="1200" b="1">
                          <a:solidFill>
                            <a:srgbClr val="FFFFFF"/>
                          </a:solidFill>
                          <a:latin typeface="Meiryo"/>
                          <a:ea typeface="Meiryo"/>
                        </a:rPr>
                        <a:t>議題</a:t>
                      </a:r>
                    </a:p>
                  </a:txBody>
                  <a:tcPr anchor="ctr" marL="73152" marR="73152">
                    <a:solidFill>
                      <a:srgbClr val="232278"/>
                    </a:solidFill>
                  </a:tcPr>
                </a:tc>
                <a:tc>
                  <a:txBody>
                    <a:bodyPr/>
                    <a:lstStyle/>
                    <a:p>
                      <a:r>
                        <a:rPr sz="1200" b="1">
                          <a:solidFill>
                            <a:srgbClr val="FFFFFF"/>
                          </a:solidFill>
                          <a:latin typeface="Meiryo"/>
                          <a:ea typeface="Meiryo"/>
                        </a:rPr>
                        <a:t>目安</a:t>
                      </a:r>
                    </a:p>
                  </a:txBody>
                  <a:tcPr anchor="ctr" marL="73152" marR="73152">
                    <a:solidFill>
                      <a:srgbClr val="232278"/>
                    </a:solidFill>
                  </a:tcPr>
                </a:tc>
              </a:tr>
              <a:tr h="502920">
                <a:tc>
                  <a:txBody>
                    <a:bodyPr/>
                    <a:lstStyle/>
                    <a:p>
                      <a:r>
                        <a:rPr sz="1200" b="0">
                          <a:solidFill>
                            <a:srgbClr val="1A1A1A"/>
                          </a:solidFill>
                          <a:latin typeface="Meiryo"/>
                          <a:ea typeface="Meiryo"/>
                        </a:rPr>
                        <a:t>1</a:t>
                      </a:r>
                    </a:p>
                  </a:txBody>
                  <a:tcPr anchor="ctr" marL="73152" marR="73152">
                    <a:solidFill>
                      <a:srgbClr val="FFFFFF"/>
                    </a:solidFill>
                  </a:tcPr>
                </a:tc>
                <a:tc>
                  <a:txBody>
                    <a:bodyPr/>
                    <a:lstStyle/>
                    <a:p>
                      <a:r>
                        <a:rPr sz="1200" b="0">
                          <a:solidFill>
                            <a:srgbClr val="1A1A1A"/>
                          </a:solidFill>
                          <a:latin typeface="Meiryo"/>
                          <a:ea typeface="Meiryo"/>
                        </a:rPr>
                        <a:t>契約の構成(2通)と主要条件のご確認</a:t>
                      </a:r>
                    </a:p>
                  </a:txBody>
                  <a:tcPr anchor="ctr" marL="73152" marR="73152">
                    <a:solidFill>
                      <a:srgbClr val="FFFFFF"/>
                    </a:solidFill>
                  </a:tcPr>
                </a:tc>
                <a:tc>
                  <a:txBody>
                    <a:bodyPr/>
                    <a:lstStyle/>
                    <a:p>
                      <a:r>
                        <a:rPr sz="1200" b="0">
                          <a:solidFill>
                            <a:srgbClr val="1A1A1A"/>
                          </a:solidFill>
                          <a:latin typeface="Meiryo"/>
                          <a:ea typeface="Meiryo"/>
                        </a:rPr>
                        <a:t>25分</a:t>
                      </a:r>
                    </a:p>
                  </a:txBody>
                  <a:tcPr anchor="ctr" marL="73152" marR="73152">
                    <a:solidFill>
                      <a:srgbClr val="FFFFFF"/>
                    </a:solidFill>
                  </a:tcPr>
                </a:tc>
              </a:tr>
              <a:tr h="502920">
                <a:tc>
                  <a:txBody>
                    <a:bodyPr/>
                    <a:lstStyle/>
                    <a:p>
                      <a:r>
                        <a:rPr sz="1200" b="0">
                          <a:solidFill>
                            <a:srgbClr val="1A1A1A"/>
                          </a:solidFill>
                          <a:latin typeface="Meiryo"/>
                          <a:ea typeface="Meiryo"/>
                        </a:rPr>
                        <a:t>2</a:t>
                      </a:r>
                    </a:p>
                  </a:txBody>
                  <a:tcPr anchor="ctr" marL="73152" marR="73152">
                    <a:solidFill>
                      <a:srgbClr val="F2F4F6"/>
                    </a:solidFill>
                  </a:tcPr>
                </a:tc>
                <a:tc>
                  <a:txBody>
                    <a:bodyPr/>
                    <a:lstStyle/>
                    <a:p>
                      <a:r>
                        <a:rPr sz="1200" b="0">
                          <a:solidFill>
                            <a:srgbClr val="1A1A1A"/>
                          </a:solidFill>
                          <a:latin typeface="Meiryo"/>
                          <a:ea typeface="Meiryo"/>
                        </a:rPr>
                        <a:t>ノベルティ・制作物の進め方(品目・数量・申請・許諾料)</a:t>
                      </a:r>
                    </a:p>
                  </a:txBody>
                  <a:tcPr anchor="ctr" marL="73152" marR="73152">
                    <a:solidFill>
                      <a:srgbClr val="F2F4F6"/>
                    </a:solidFill>
                  </a:tcPr>
                </a:tc>
                <a:tc>
                  <a:txBody>
                    <a:bodyPr/>
                    <a:lstStyle/>
                    <a:p>
                      <a:r>
                        <a:rPr sz="1200" b="0">
                          <a:solidFill>
                            <a:srgbClr val="1A1A1A"/>
                          </a:solidFill>
                          <a:latin typeface="Meiryo"/>
                          <a:ea typeface="Meiryo"/>
                        </a:rPr>
                        <a:t>25分</a:t>
                      </a:r>
                    </a:p>
                  </a:txBody>
                  <a:tcPr anchor="ctr" marL="73152" marR="73152">
                    <a:solidFill>
                      <a:srgbClr val="F2F4F6"/>
                    </a:solidFill>
                  </a:tcPr>
                </a:tc>
              </a:tr>
              <a:tr h="502920">
                <a:tc>
                  <a:txBody>
                    <a:bodyPr/>
                    <a:lstStyle/>
                    <a:p>
                      <a:r>
                        <a:rPr sz="1200" b="0">
                          <a:solidFill>
                            <a:srgbClr val="1A1A1A"/>
                          </a:solidFill>
                          <a:latin typeface="Meiryo"/>
                          <a:ea typeface="Meiryo"/>
                        </a:rPr>
                        <a:t>3</a:t>
                      </a:r>
                    </a:p>
                  </a:txBody>
                  <a:tcPr anchor="ctr" marL="73152" marR="73152">
                    <a:solidFill>
                      <a:srgbClr val="FFFFFF"/>
                    </a:solidFill>
                  </a:tcPr>
                </a:tc>
                <a:tc>
                  <a:txBody>
                    <a:bodyPr/>
                    <a:lstStyle/>
                    <a:p>
                      <a:r>
                        <a:rPr sz="1200" b="0">
                          <a:solidFill>
                            <a:srgbClr val="1A1A1A"/>
                          </a:solidFill>
                          <a:latin typeface="Meiryo"/>
                          <a:ea typeface="Meiryo"/>
                        </a:rPr>
                        <a:t>キービジュアルと素材の提供</a:t>
                      </a:r>
                    </a:p>
                  </a:txBody>
                  <a:tcPr anchor="ctr" marL="73152" marR="73152">
                    <a:solidFill>
                      <a:srgbClr val="FFFFFF"/>
                    </a:solidFill>
                  </a:tcPr>
                </a:tc>
                <a:tc>
                  <a:txBody>
                    <a:bodyPr/>
                    <a:lstStyle/>
                    <a:p>
                      <a:r>
                        <a:rPr sz="1200" b="0">
                          <a:solidFill>
                            <a:srgbClr val="1A1A1A"/>
                          </a:solidFill>
                          <a:latin typeface="Meiryo"/>
                          <a:ea typeface="Meiryo"/>
                        </a:rPr>
                        <a:t>10分</a:t>
                      </a:r>
                    </a:p>
                  </a:txBody>
                  <a:tcPr anchor="ctr" marL="73152" marR="73152">
                    <a:solidFill>
                      <a:srgbClr val="FFFFFF"/>
                    </a:solidFill>
                  </a:tcPr>
                </a:tc>
              </a:tr>
              <a:tr h="502920">
                <a:tc>
                  <a:txBody>
                    <a:bodyPr/>
                    <a:lstStyle/>
                    <a:p>
                      <a:r>
                        <a:rPr sz="1200" b="0">
                          <a:solidFill>
                            <a:srgbClr val="1A1A1A"/>
                          </a:solidFill>
                          <a:latin typeface="Meiryo"/>
                          <a:ea typeface="Meiryo"/>
                        </a:rPr>
                        <a:t>4</a:t>
                      </a:r>
                    </a:p>
                  </a:txBody>
                  <a:tcPr anchor="ctr" marL="73152" marR="73152">
                    <a:solidFill>
                      <a:srgbClr val="F2F4F6"/>
                    </a:solidFill>
                  </a:tcPr>
                </a:tc>
                <a:tc>
                  <a:txBody>
                    <a:bodyPr/>
                    <a:lstStyle/>
                    <a:p>
                      <a:r>
                        <a:rPr sz="1200" b="0">
                          <a:solidFill>
                            <a:srgbClr val="1A1A1A"/>
                          </a:solidFill>
                          <a:latin typeface="Meiryo"/>
                          <a:ea typeface="Meiryo"/>
                        </a:rPr>
                        <a:t>締結までの日程と発注・契約の方法</a:t>
                      </a:r>
                    </a:p>
                  </a:txBody>
                  <a:tcPr anchor="ctr" marL="73152" marR="73152">
                    <a:solidFill>
                      <a:srgbClr val="F2F4F6"/>
                    </a:solidFill>
                  </a:tcPr>
                </a:tc>
                <a:tc>
                  <a:txBody>
                    <a:bodyPr/>
                    <a:lstStyle/>
                    <a:p>
                      <a:r>
                        <a:rPr sz="1200" b="0">
                          <a:solidFill>
                            <a:srgbClr val="1A1A1A"/>
                          </a:solidFill>
                          <a:latin typeface="Meiryo"/>
                          <a:ea typeface="Meiryo"/>
                        </a:rPr>
                        <a:t>10分</a:t>
                      </a:r>
                    </a:p>
                  </a:txBody>
                  <a:tcPr anchor="ctr" marL="73152" marR="73152">
                    <a:solidFill>
                      <a:srgbClr val="F2F4F6"/>
                    </a:solidFill>
                  </a:tcPr>
                </a:tc>
              </a:tr>
            </a:tbl>
          </a:graphicData>
        </a:graphic>
      </p:graphicFrame>
      <p:sp>
        <p:nvSpPr>
          <p:cNvPr id="9" name="Rounded Rectangle 8"/>
          <p:cNvSpPr/>
          <p:nvPr/>
        </p:nvSpPr>
        <p:spPr>
          <a:xfrm>
            <a:off x="7589520" y="1417320"/>
            <a:ext cx="3931920" cy="2743200"/>
          </a:xfrm>
          <a:prstGeom prst="roundRect">
            <a:avLst>
              <a:gd name="adj" fmla="val 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554480"/>
            <a:ext cx="3474720" cy="2468880"/>
          </a:xfrm>
          <a:prstGeom prst="rect">
            <a:avLst/>
          </a:prstGeom>
          <a:noFill/>
        </p:spPr>
        <p:txBody>
          <a:bodyPr wrap="square" anchor="t" lIns="0" rIns="0" tIns="0" bIns="0">
            <a:spAutoFit/>
          </a:bodyPr>
          <a:lstStyle/>
          <a:p>
            <a:pPr algn="l">
              <a:spcAft>
                <a:spcPts val="400"/>
              </a:spcAft>
            </a:pPr>
            <a:r>
              <a:rPr sz="1250" b="1">
                <a:solidFill>
                  <a:srgbClr val="C00000"/>
                </a:solidFill>
                <a:latin typeface="Meiryo"/>
                <a:ea typeface="Meiryo"/>
              </a:rPr>
              <a:t>本日決めていただきたいこと</a:t>
            </a:r>
          </a:p>
          <a:p>
            <a:pPr algn="l">
              <a:spcAft>
                <a:spcPts val="400"/>
              </a:spcAft>
            </a:pPr>
            <a:r>
              <a:rPr sz="1100" b="0">
                <a:solidFill>
                  <a:srgbClr val="1A1A1A"/>
                </a:solidFill>
                <a:latin typeface="Meiryo"/>
                <a:ea typeface="Meiryo"/>
              </a:rPr>
              <a:t>・契約を「イベント実施契約」と「IPライセンス契約」の2通にすること</a:t>
            </a:r>
          </a:p>
          <a:p>
            <a:pPr algn="l">
              <a:spcAft>
                <a:spcPts val="400"/>
              </a:spcAft>
            </a:pPr>
            <a:r>
              <a:rPr sz="1100" b="0">
                <a:solidFill>
                  <a:srgbClr val="1A1A1A"/>
                </a:solidFill>
                <a:latin typeface="Meiryo"/>
                <a:ea typeface="Meiryo"/>
              </a:rPr>
              <a:t>・発注の形(期間一括のEDI発注)と電子契約での締結</a:t>
            </a:r>
          </a:p>
          <a:p>
            <a:pPr algn="l">
              <a:spcAft>
                <a:spcPts val="400"/>
              </a:spcAft>
            </a:pPr>
            <a:r>
              <a:rPr sz="1100" b="0">
                <a:solidFill>
                  <a:srgbClr val="1A1A1A"/>
                </a:solidFill>
                <a:latin typeface="Meiryo"/>
                <a:ea typeface="Meiryo"/>
              </a:rPr>
              <a:t>・貴社内の取りまとめ窓口(1部署)</a:t>
            </a:r>
          </a:p>
          <a:p>
            <a:pPr algn="l">
              <a:spcAft>
                <a:spcPts val="400"/>
              </a:spcAft>
            </a:pPr>
            <a:r>
              <a:rPr sz="1100" b="0">
                <a:solidFill>
                  <a:srgbClr val="1A1A1A"/>
                </a:solidFill>
                <a:latin typeface="Meiryo"/>
                <a:ea typeface="Meiryo"/>
              </a:rPr>
              <a:t>・ノベルティの品目候補と、数量の申告・報告のしかた</a:t>
            </a:r>
          </a:p>
          <a:p>
            <a:pPr algn="l">
              <a:spcAft>
                <a:spcPts val="400"/>
              </a:spcAft>
            </a:pPr>
            <a:r>
              <a:rPr sz="1100" b="0">
                <a:solidFill>
                  <a:srgbClr val="1A1A1A"/>
                </a:solidFill>
                <a:latin typeface="Meiryo"/>
                <a:ea typeface="Meiryo"/>
              </a:rPr>
              <a:t>・キービジュアル打ち合わせの日程(11月上旬)</a:t>
            </a:r>
          </a:p>
          <a:p>
            <a:pPr algn="l">
              <a:spcAft>
                <a:spcPts val="400"/>
              </a:spcAft>
            </a:pPr>
            <a:r>
              <a:rPr sz="1100" b="0">
                <a:solidFill>
                  <a:srgbClr val="1A1A1A"/>
                </a:solidFill>
                <a:latin typeface="Meiryo"/>
                <a:ea typeface="Meiryo"/>
              </a:rPr>
              <a:t>・契約書ドラフトのご確認担当者とご確認期間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1. 契約の構成(2通)</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イベントの実施(役務)とキャラクターの使用(権利)を分け、それぞれ独立した契約として締結します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3</a:t>
            </a:r>
          </a:p>
        </p:txBody>
      </p:sp>
      <p:graphicFrame>
        <p:nvGraphicFramePr>
          <p:cNvPr id="8" name="Table 7"/>
          <p:cNvGraphicFramePr>
            <a:graphicFrameLocks noGrp="1"/>
          </p:cNvGraphicFramePr>
          <p:nvPr/>
        </p:nvGraphicFramePr>
        <p:xfrm>
          <a:off x="640080" y="1417320"/>
          <a:ext cx="10881360" cy="2468880"/>
        </p:xfrm>
        <a:graphic>
          <a:graphicData uri="http://schemas.openxmlformats.org/drawingml/2006/table">
            <a:tbl>
              <a:tblPr firstRow="1" bandRow="1">
                <a:tableStyleId>{5C22544A-7EE6-4342-B048-85BDC9FD1C3A}</a:tableStyleId>
              </a:tblPr>
              <a:tblGrid>
                <a:gridCol w="1865376"/>
                <a:gridCol w="3316224"/>
                <a:gridCol w="1969008"/>
                <a:gridCol w="1761744"/>
                <a:gridCol w="1969008"/>
              </a:tblGrid>
              <a:tr h="822960">
                <a:tc>
                  <a:txBody>
                    <a:bodyPr/>
                    <a:lstStyle/>
                    <a:p>
                      <a:r>
                        <a:rPr sz="1100" b="1">
                          <a:solidFill>
                            <a:srgbClr val="FFFFFF"/>
                          </a:solidFill>
                          <a:latin typeface="Meiryo"/>
                          <a:ea typeface="Meiryo"/>
                        </a:rPr>
                        <a:t>契約</a:t>
                      </a:r>
                    </a:p>
                  </a:txBody>
                  <a:tcPr anchor="ctr" marL="73152" marR="73152">
                    <a:solidFill>
                      <a:srgbClr val="232278"/>
                    </a:solidFill>
                  </a:tcPr>
                </a:tc>
                <a:tc>
                  <a:txBody>
                    <a:bodyPr/>
                    <a:lstStyle/>
                    <a:p>
                      <a:r>
                        <a:rPr sz="1100" b="1">
                          <a:solidFill>
                            <a:srgbClr val="FFFFFF"/>
                          </a:solidFill>
                          <a:latin typeface="Meiryo"/>
                          <a:ea typeface="Meiryo"/>
                        </a:rPr>
                        <a:t>内容</a:t>
                      </a:r>
                    </a:p>
                  </a:txBody>
                  <a:tcPr anchor="ctr" marL="73152" marR="73152">
                    <a:solidFill>
                      <a:srgbClr val="232278"/>
                    </a:solidFill>
                  </a:tcPr>
                </a:tc>
                <a:tc>
                  <a:txBody>
                    <a:bodyPr/>
                    <a:lstStyle/>
                    <a:p>
                      <a:r>
                        <a:rPr sz="1100" b="1">
                          <a:solidFill>
                            <a:srgbClr val="FFFFFF"/>
                          </a:solidFill>
                          <a:latin typeface="Meiryo"/>
                          <a:ea typeface="Meiryo"/>
                        </a:rPr>
                        <a:t>金額(固定分)</a:t>
                      </a:r>
                    </a:p>
                  </a:txBody>
                  <a:tcPr anchor="ctr" marL="73152" marR="73152">
                    <a:solidFill>
                      <a:srgbClr val="232278"/>
                    </a:solidFill>
                  </a:tcPr>
                </a:tc>
                <a:tc>
                  <a:txBody>
                    <a:bodyPr/>
                    <a:lstStyle/>
                    <a:p>
                      <a:r>
                        <a:rPr sz="1100" b="1">
                          <a:solidFill>
                            <a:srgbClr val="FFFFFF"/>
                          </a:solidFill>
                          <a:latin typeface="Meiryo"/>
                          <a:ea typeface="Meiryo"/>
                        </a:rPr>
                        <a:t>期間</a:t>
                      </a:r>
                    </a:p>
                  </a:txBody>
                  <a:tcPr anchor="ctr" marL="73152" marR="73152">
                    <a:solidFill>
                      <a:srgbClr val="232278"/>
                    </a:solidFill>
                  </a:tcPr>
                </a:tc>
                <a:tc>
                  <a:txBody>
                    <a:bodyPr/>
                    <a:lstStyle/>
                    <a:p>
                      <a:r>
                        <a:rPr sz="1100" b="1">
                          <a:solidFill>
                            <a:srgbClr val="FFFFFF"/>
                          </a:solidFill>
                          <a:latin typeface="Meiryo"/>
                          <a:ea typeface="Meiryo"/>
                        </a:rPr>
                        <a:t>お支払い</a:t>
                      </a:r>
                    </a:p>
                  </a:txBody>
                  <a:tcPr anchor="ctr" marL="73152" marR="73152">
                    <a:solidFill>
                      <a:srgbClr val="232278"/>
                    </a:solidFill>
                  </a:tcPr>
                </a:tc>
              </a:tr>
              <a:tr h="822960">
                <a:tc>
                  <a:txBody>
                    <a:bodyPr/>
                    <a:lstStyle/>
                    <a:p>
                      <a:r>
                        <a:rPr sz="1100" b="1">
                          <a:solidFill>
                            <a:srgbClr val="1A1A1A"/>
                          </a:solidFill>
                          <a:latin typeface="Meiryo"/>
                          <a:ea typeface="Meiryo"/>
                        </a:rPr>
                        <a:t>(A)イベント実施基本契約</a:t>
                      </a:r>
                    </a:p>
                  </a:txBody>
                  <a:tcPr anchor="ctr" marL="73152" marR="73152">
                    <a:solidFill>
                      <a:srgbClr val="FFFFFF"/>
                    </a:solidFill>
                  </a:tcPr>
                </a:tc>
                <a:tc>
                  <a:txBody>
                    <a:bodyPr/>
                    <a:lstStyle/>
                    <a:p>
                      <a:r>
                        <a:rPr sz="1100" b="0">
                          <a:solidFill>
                            <a:srgbClr val="1A1A1A"/>
                          </a:solidFill>
                          <a:latin typeface="Meiryo"/>
                          <a:ea typeface="Meiryo"/>
                        </a:rPr>
                        <a:t>店頭イベントへのキャラクターと担当者の派遣。最低開催数保証付き</a:t>
                      </a:r>
                    </a:p>
                  </a:txBody>
                  <a:tcPr anchor="ctr" marL="73152" marR="73152">
                    <a:solidFill>
                      <a:srgbClr val="FFFFFF"/>
                    </a:solidFill>
                  </a:tcPr>
                </a:tc>
                <a:tc>
                  <a:txBody>
                    <a:bodyPr/>
                    <a:lstStyle/>
                    <a:p>
                      <a:r>
                        <a:rPr sz="1100" b="1">
                          <a:solidFill>
                            <a:srgbClr val="C00000"/>
                          </a:solidFill>
                          <a:latin typeface="Meiryo"/>
                          <a:ea typeface="Meiryo"/>
                        </a:rPr>
                        <a:t>3億1,500万円</a:t>
                      </a:r>
                    </a:p>
                    <a:p>
                      <a:r>
                        <a:rPr sz="1100" b="1">
                          <a:solidFill>
                            <a:srgbClr val="C00000"/>
                          </a:solidFill>
                          <a:latin typeface="Meiryo"/>
                          <a:ea typeface="Meiryo"/>
                        </a:rPr>
                        <a:t>(10万円/日×3,150現場)</a:t>
                      </a:r>
                    </a:p>
                  </a:txBody>
                  <a:tcPr anchor="ctr" marL="73152" marR="73152">
                    <a:solidFill>
                      <a:srgbClr val="FFFFFF"/>
                    </a:solidFill>
                  </a:tcPr>
                </a:tc>
                <a:tc>
                  <a:txBody>
                    <a:bodyPr/>
                    <a:lstStyle/>
                    <a:p>
                      <a:r>
                        <a:rPr sz="1100" b="0">
                          <a:solidFill>
                            <a:srgbClr val="1A1A1A"/>
                          </a:solidFill>
                          <a:latin typeface="Meiryo"/>
                          <a:ea typeface="Meiryo"/>
                        </a:rPr>
                        <a:t>2027年1月〜2028年12月</a:t>
                      </a:r>
                    </a:p>
                  </a:txBody>
                  <a:tcPr anchor="ctr" marL="73152" marR="73152">
                    <a:solidFill>
                      <a:srgbClr val="FFFFFF"/>
                    </a:solidFill>
                  </a:tcPr>
                </a:tc>
                <a:tc>
                  <a:txBody>
                    <a:bodyPr/>
                    <a:lstStyle/>
                    <a:p>
                      <a:r>
                        <a:rPr sz="1100" b="0">
                          <a:solidFill>
                            <a:srgbClr val="1A1A1A"/>
                          </a:solidFill>
                          <a:latin typeface="Meiryo"/>
                          <a:ea typeface="Meiryo"/>
                        </a:rPr>
                        <a:t>四半期前払い(ご相談)</a:t>
                      </a:r>
                    </a:p>
                    <a:p>
                      <a:r>
                        <a:rPr sz="1100" b="0">
                          <a:solidFill>
                            <a:srgbClr val="1A1A1A"/>
                          </a:solidFill>
                          <a:latin typeface="Meiryo"/>
                          <a:ea typeface="Meiryo"/>
                        </a:rPr>
                        <a:t>従量分は実績精算</a:t>
                      </a:r>
                    </a:p>
                  </a:txBody>
                  <a:tcPr anchor="ctr" marL="73152" marR="73152">
                    <a:solidFill>
                      <a:srgbClr val="FFFFFF"/>
                    </a:solidFill>
                  </a:tcPr>
                </a:tc>
              </a:tr>
              <a:tr h="822960">
                <a:tc>
                  <a:txBody>
                    <a:bodyPr/>
                    <a:lstStyle/>
                    <a:p>
                      <a:r>
                        <a:rPr sz="1100" b="1">
                          <a:solidFill>
                            <a:srgbClr val="1A1A1A"/>
                          </a:solidFill>
                          <a:latin typeface="Meiryo"/>
                          <a:ea typeface="Meiryo"/>
                        </a:rPr>
                        <a:t>(B)IPライセンス契約</a:t>
                      </a:r>
                    </a:p>
                  </a:txBody>
                  <a:tcPr anchor="ctr" marL="73152" marR="73152">
                    <a:solidFill>
                      <a:srgbClr val="F2F4F6"/>
                    </a:solidFill>
                  </a:tcPr>
                </a:tc>
                <a:tc>
                  <a:txBody>
                    <a:bodyPr/>
                    <a:lstStyle/>
                    <a:p>
                      <a:r>
                        <a:rPr sz="1100" b="0">
                          <a:solidFill>
                            <a:srgbClr val="1A1A1A"/>
                          </a:solidFill>
                          <a:latin typeface="Meiryo"/>
                          <a:ea typeface="Meiryo"/>
                        </a:rPr>
                        <a:t>告知・イベントキット・訴求ツール・LP/Web・SNSでのIP使用と監修。作成許諾(20%)を含む</a:t>
                      </a:r>
                    </a:p>
                  </a:txBody>
                  <a:tcPr anchor="ctr" marL="73152" marR="73152">
                    <a:solidFill>
                      <a:srgbClr val="F2F4F6"/>
                    </a:solidFill>
                  </a:tcPr>
                </a:tc>
                <a:tc>
                  <a:txBody>
                    <a:bodyPr/>
                    <a:lstStyle/>
                    <a:p>
                      <a:r>
                        <a:rPr sz="1100" b="1">
                          <a:solidFill>
                            <a:srgbClr val="C00000"/>
                          </a:solidFill>
                          <a:latin typeface="Meiryo"/>
                          <a:ea typeface="Meiryo"/>
                        </a:rPr>
                        <a:t>4,000万円</a:t>
                      </a:r>
                    </a:p>
                    <a:p>
                      <a:r>
                        <a:rPr sz="1100" b="1">
                          <a:solidFill>
                            <a:srgbClr val="C00000"/>
                          </a:solidFill>
                          <a:latin typeface="Meiryo"/>
                          <a:ea typeface="Meiryo"/>
                        </a:rPr>
                        <a:t>(2,000万円/年×2年)</a:t>
                      </a:r>
                    </a:p>
                  </a:txBody>
                  <a:tcPr anchor="ctr" marL="73152" marR="73152">
                    <a:solidFill>
                      <a:srgbClr val="F2F4F6"/>
                    </a:solidFill>
                  </a:tcPr>
                </a:tc>
                <a:tc>
                  <a:txBody>
                    <a:bodyPr/>
                    <a:lstStyle/>
                    <a:p>
                      <a:r>
                        <a:rPr sz="1100" b="0">
                          <a:solidFill>
                            <a:srgbClr val="1A1A1A"/>
                          </a:solidFill>
                          <a:latin typeface="Meiryo"/>
                          <a:ea typeface="Meiryo"/>
                        </a:rPr>
                        <a:t>締結日〜2028年12月</a:t>
                      </a:r>
                    </a:p>
                  </a:txBody>
                  <a:tcPr anchor="ctr" marL="73152" marR="73152">
                    <a:solidFill>
                      <a:srgbClr val="F2F4F6"/>
                    </a:solidFill>
                  </a:tcPr>
                </a:tc>
                <a:tc>
                  <a:txBody>
                    <a:bodyPr/>
                    <a:lstStyle/>
                    <a:p>
                      <a:r>
                        <a:rPr sz="1100" b="0">
                          <a:solidFill>
                            <a:srgbClr val="1A1A1A"/>
                          </a:solidFill>
                          <a:latin typeface="Meiryo"/>
                          <a:ea typeface="Meiryo"/>
                        </a:rPr>
                        <a:t>契約時に一括前払い</a:t>
                      </a:r>
                    </a:p>
                    <a:p>
                      <a:r>
                        <a:rPr sz="1100" b="0">
                          <a:solidFill>
                            <a:srgbClr val="1A1A1A"/>
                          </a:solidFill>
                          <a:latin typeface="Meiryo"/>
                          <a:ea typeface="Meiryo"/>
                        </a:rPr>
                        <a:t>作成許諾料は実績精算</a:t>
                      </a:r>
                    </a:p>
                  </a:txBody>
                  <a:tcPr anchor="ctr" marL="73152" marR="73152">
                    <a:solidFill>
                      <a:srgbClr val="F2F4F6"/>
                    </a:solidFill>
                  </a:tcPr>
                </a:tc>
              </a:tr>
            </a:tbl>
          </a:graphicData>
        </a:graphic>
      </p:graphicFrame>
      <p:sp>
        <p:nvSpPr>
          <p:cNvPr id="9" name="Rounded Rectangle 8"/>
          <p:cNvSpPr/>
          <p:nvPr/>
        </p:nvSpPr>
        <p:spPr>
          <a:xfrm>
            <a:off x="640080" y="4023360"/>
            <a:ext cx="5303520" cy="2103120"/>
          </a:xfrm>
          <a:prstGeom prst="roundRect">
            <a:avLst>
              <a:gd name="adj" fmla="val 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60520"/>
            <a:ext cx="4846320" cy="1828800"/>
          </a:xfrm>
          <a:prstGeom prst="rect">
            <a:avLst/>
          </a:prstGeom>
          <a:noFill/>
        </p:spPr>
        <p:txBody>
          <a:bodyPr wrap="square" anchor="t" lIns="0" rIns="0" tIns="0" bIns="0">
            <a:spAutoFit/>
          </a:bodyPr>
          <a:lstStyle/>
          <a:p>
            <a:pPr algn="l">
              <a:spcAft>
                <a:spcPts val="400"/>
              </a:spcAft>
            </a:pPr>
            <a:r>
              <a:rPr sz="1250" b="1">
                <a:solidFill>
                  <a:srgbClr val="C00000"/>
                </a:solidFill>
                <a:latin typeface="Meiryo"/>
                <a:ea typeface="Meiryo"/>
              </a:rPr>
              <a:t>2通に分ける理由</a:t>
            </a:r>
          </a:p>
          <a:p>
            <a:pPr algn="l">
              <a:spcAft>
                <a:spcPts val="400"/>
              </a:spcAft>
            </a:pPr>
            <a:r>
              <a:rPr sz="1100" b="0">
                <a:solidFill>
                  <a:srgbClr val="1A1A1A"/>
                </a:solidFill>
                <a:latin typeface="Meiryo"/>
                <a:ea typeface="Meiryo"/>
              </a:rPr>
              <a:t>・役務の対価(イベント)と権利の対価(IP使用)を分け、両社の社内処理を明確にするため</a:t>
            </a:r>
          </a:p>
          <a:p>
            <a:pPr algn="l">
              <a:spcAft>
                <a:spcPts val="400"/>
              </a:spcAft>
            </a:pPr>
            <a:r>
              <a:rPr sz="1100" b="0">
                <a:solidFill>
                  <a:srgbClr val="1A1A1A"/>
                </a:solidFill>
                <a:latin typeface="Meiryo"/>
                <a:ea typeface="Meiryo"/>
              </a:rPr>
              <a:t>・それぞれ単独で成立する契約とし、相互に条件を参照しない書き方にします</a:t>
            </a:r>
          </a:p>
          <a:p>
            <a:pPr algn="l">
              <a:spcAft>
                <a:spcPts val="400"/>
              </a:spcAft>
            </a:pPr>
            <a:r>
              <a:rPr sz="1100" b="0">
                <a:solidFill>
                  <a:srgbClr val="1A1A1A"/>
                </a:solidFill>
                <a:latin typeface="Meiryo"/>
                <a:ea typeface="Meiryo"/>
              </a:rPr>
              <a:t>・排他条件(他の携帯キャリアと店頭イベント契約をしない)はIPライセンス契約に置きます</a:t>
            </a:r>
          </a:p>
        </p:txBody>
      </p:sp>
      <p:sp>
        <p:nvSpPr>
          <p:cNvPr id="11" name="Rounded Rectangle 10"/>
          <p:cNvSpPr/>
          <p:nvPr/>
        </p:nvSpPr>
        <p:spPr>
          <a:xfrm>
            <a:off x="6217920" y="4023360"/>
            <a:ext cx="5303520" cy="2103120"/>
          </a:xfrm>
          <a:prstGeom prst="roundRect">
            <a:avLst>
              <a:gd name="adj" fmla="val 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60520"/>
            <a:ext cx="4846320" cy="1828800"/>
          </a:xfrm>
          <a:prstGeom prst="rect">
            <a:avLst/>
          </a:prstGeom>
          <a:noFill/>
        </p:spPr>
        <p:txBody>
          <a:bodyPr wrap="square" anchor="t" lIns="0" rIns="0" tIns="0" bIns="0">
            <a:spAutoFit/>
          </a:bodyPr>
          <a:lstStyle/>
          <a:p>
            <a:pPr algn="l">
              <a:spcAft>
                <a:spcPts val="400"/>
              </a:spcAft>
            </a:pPr>
            <a:r>
              <a:rPr sz="1250" b="1">
                <a:solidFill>
                  <a:srgbClr val="C00000"/>
                </a:solidFill>
                <a:latin typeface="Meiryo"/>
                <a:ea typeface="Meiryo"/>
              </a:rPr>
              <a:t>契約書に共通で入る一般条項</a:t>
            </a:r>
          </a:p>
          <a:p>
            <a:pPr algn="l">
              <a:spcAft>
                <a:spcPts val="400"/>
              </a:spcAft>
            </a:pPr>
            <a:r>
              <a:rPr sz="1100" b="0">
                <a:solidFill>
                  <a:srgbClr val="1A1A1A"/>
                </a:solidFill>
                <a:latin typeface="Meiryo"/>
                <a:ea typeface="Meiryo"/>
              </a:rPr>
              <a:t>・秘密保持(特別価格と最低保証の条件を含む)</a:t>
            </a:r>
          </a:p>
          <a:p>
            <a:pPr algn="l">
              <a:spcAft>
                <a:spcPts val="400"/>
              </a:spcAft>
            </a:pPr>
            <a:r>
              <a:rPr sz="1100" b="0">
                <a:solidFill>
                  <a:srgbClr val="1A1A1A"/>
                </a:solidFill>
                <a:latin typeface="Meiryo"/>
                <a:ea typeface="Meiryo"/>
              </a:rPr>
              <a:t>・反社会的勢力の排除、契約違反時の解除、損害賠償、準拠法・管轄</a:t>
            </a:r>
          </a:p>
          <a:p>
            <a:pPr algn="l">
              <a:spcAft>
                <a:spcPts val="400"/>
              </a:spcAft>
            </a:pPr>
            <a:r>
              <a:rPr sz="1100" b="0">
                <a:solidFill>
                  <a:srgbClr val="1A1A1A"/>
                </a:solidFill>
                <a:latin typeface="Meiryo"/>
                <a:ea typeface="Meiryo"/>
              </a:rPr>
              <a:t>・貴社EDIの発注書と本契約の関係は、本契約を優先する旨を記載</a:t>
            </a:r>
          </a:p>
          <a:p>
            <a:pPr algn="l">
              <a:spcAft>
                <a:spcPts val="400"/>
              </a:spcAft>
            </a:pPr>
            <a:r>
              <a:rPr sz="1100" b="0">
                <a:solidFill>
                  <a:srgbClr val="1A1A1A"/>
                </a:solidFill>
                <a:latin typeface="Meiryo"/>
                <a:ea typeface="Meiryo"/>
              </a:rPr>
              <a:t>・電子契約での締結を想定(貴社のサービスをご教示ください)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1. (A)イベント実施基本契約の主要条件</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10月22日にご提示した実施条件を契約条項に落とし込んだものです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4</a:t>
            </a:r>
          </a:p>
        </p:txBody>
      </p:sp>
      <p:graphicFrame>
        <p:nvGraphicFramePr>
          <p:cNvPr id="8" name="Table 7"/>
          <p:cNvGraphicFramePr>
            <a:graphicFrameLocks noGrp="1"/>
          </p:cNvGraphicFramePr>
          <p:nvPr/>
        </p:nvGraphicFramePr>
        <p:xfrm>
          <a:off x="640080" y="1371600"/>
          <a:ext cx="10881360" cy="4846320"/>
        </p:xfrm>
        <a:graphic>
          <a:graphicData uri="http://schemas.openxmlformats.org/drawingml/2006/table">
            <a:tbl>
              <a:tblPr firstRow="1" bandRow="1">
                <a:tableStyleId>{5C22544A-7EE6-4342-B048-85BDC9FD1C3A}</a:tableStyleId>
              </a:tblPr>
              <a:tblGrid>
                <a:gridCol w="2720340"/>
                <a:gridCol w="8161020"/>
              </a:tblGrid>
              <a:tr h="484632">
                <a:tc>
                  <a:txBody>
                    <a:bodyPr/>
                    <a:lstStyle/>
                    <a:p>
                      <a:r>
                        <a:rPr sz="1050" b="1">
                          <a:solidFill>
                            <a:srgbClr val="FFFFFF"/>
                          </a:solidFill>
                          <a:latin typeface="Meiryo"/>
                          <a:ea typeface="Meiryo"/>
                        </a:rPr>
                        <a:t>条項</a:t>
                      </a:r>
                    </a:p>
                  </a:txBody>
                  <a:tcPr anchor="ctr" marL="73152" marR="73152">
                    <a:solidFill>
                      <a:srgbClr val="232278"/>
                    </a:solidFill>
                  </a:tcPr>
                </a:tc>
                <a:tc>
                  <a:txBody>
                    <a:bodyPr/>
                    <a:lstStyle/>
                    <a:p>
                      <a:r>
                        <a:rPr sz="1050" b="1">
                          <a:solidFill>
                            <a:srgbClr val="FFFFFF"/>
                          </a:solidFill>
                          <a:latin typeface="Meiryo"/>
                          <a:ea typeface="Meiryo"/>
                        </a:rPr>
                        <a:t>内容</a:t>
                      </a:r>
                    </a:p>
                  </a:txBody>
                  <a:tcPr anchor="ctr" marL="73152" marR="73152">
                    <a:solidFill>
                      <a:srgbClr val="232278"/>
                    </a:solidFill>
                  </a:tcPr>
                </a:tc>
              </a:tr>
              <a:tr h="484632">
                <a:tc>
                  <a:txBody>
                    <a:bodyPr/>
                    <a:lstStyle/>
                    <a:p>
                      <a:r>
                        <a:rPr sz="1050" b="1">
                          <a:solidFill>
                            <a:srgbClr val="1A1A1A"/>
                          </a:solidFill>
                          <a:latin typeface="Meiryo"/>
                          <a:ea typeface="Meiryo"/>
                        </a:rPr>
                        <a:t>役務と単価</a:t>
                      </a:r>
                    </a:p>
                  </a:txBody>
                  <a:tcPr anchor="ctr" marL="73152" marR="73152">
                    <a:solidFill>
                      <a:srgbClr val="FFFFFF"/>
                    </a:solidFill>
                  </a:tcPr>
                </a:tc>
                <a:tc>
                  <a:txBody>
                    <a:bodyPr/>
                    <a:lstStyle/>
                    <a:p>
                      <a:r>
                        <a:rPr sz="1050" b="0">
                          <a:solidFill>
                            <a:srgbClr val="1A1A1A"/>
                          </a:solidFill>
                          <a:latin typeface="Meiryo"/>
                          <a:ea typeface="Meiryo"/>
                        </a:rPr>
                        <a:t>ヒーロー1体+当社2名(担当・スーツアクター)、1回30分・1日最大5回。100,000円/ライン・日(本件限りの特別価格)</a:t>
                      </a:r>
                    </a:p>
                  </a:txBody>
                  <a:tcPr anchor="ctr" marL="73152" marR="73152">
                    <a:solidFill>
                      <a:srgbClr val="FFFFFF"/>
                    </a:solidFill>
                  </a:tcPr>
                </a:tc>
              </a:tr>
              <a:tr h="484632">
                <a:tc>
                  <a:txBody>
                    <a:bodyPr/>
                    <a:lstStyle/>
                    <a:p>
                      <a:r>
                        <a:rPr sz="1050" b="1">
                          <a:solidFill>
                            <a:srgbClr val="1A1A1A"/>
                          </a:solidFill>
                          <a:latin typeface="Meiryo"/>
                          <a:ea typeface="Meiryo"/>
                        </a:rPr>
                        <a:t>ライン数</a:t>
                      </a:r>
                    </a:p>
                  </a:txBody>
                  <a:tcPr anchor="ctr" marL="73152" marR="73152">
                    <a:solidFill>
                      <a:srgbClr val="F2F4F6"/>
                    </a:solidFill>
                  </a:tcPr>
                </a:tc>
                <a:tc>
                  <a:txBody>
                    <a:bodyPr/>
                    <a:lstStyle/>
                    <a:p>
                      <a:r>
                        <a:rPr sz="1050" b="0">
                          <a:solidFill>
                            <a:srgbClr val="1A1A1A"/>
                          </a:solidFill>
                          <a:latin typeface="Meiryo"/>
                          <a:ea typeface="Meiryo"/>
                        </a:rPr>
                        <a:t>基準15ライン。余裕月(1・4・6・11・12月)は最大20ラインまで増枠可(前月1日の開催確定時に確定)</a:t>
                      </a:r>
                    </a:p>
                  </a:txBody>
                  <a:tcPr anchor="ctr" marL="73152" marR="73152">
                    <a:solidFill>
                      <a:srgbClr val="F2F4F6"/>
                    </a:solidFill>
                  </a:tcPr>
                </a:tc>
              </a:tr>
              <a:tr h="484632">
                <a:tc>
                  <a:txBody>
                    <a:bodyPr/>
                    <a:lstStyle/>
                    <a:p>
                      <a:r>
                        <a:rPr sz="1050" b="1">
                          <a:solidFill>
                            <a:srgbClr val="1A1A1A"/>
                          </a:solidFill>
                          <a:latin typeface="Meiryo"/>
                          <a:ea typeface="Meiryo"/>
                        </a:rPr>
                        <a:t>最低開催数保証</a:t>
                      </a:r>
                    </a:p>
                  </a:txBody>
                  <a:tcPr anchor="ctr" marL="73152" marR="73152">
                    <a:solidFill>
                      <a:srgbClr val="FFFFFF"/>
                    </a:solidFill>
                  </a:tcPr>
                </a:tc>
                <a:tc>
                  <a:txBody>
                    <a:bodyPr/>
                    <a:lstStyle/>
                    <a:p>
                      <a:r>
                        <a:rPr sz="1050" b="0">
                          <a:solidFill>
                            <a:srgbClr val="1A1A1A"/>
                          </a:solidFill>
                          <a:latin typeface="Meiryo"/>
                          <a:ea typeface="Meiryo"/>
                        </a:rPr>
                        <a:t>基準15ライン分=3,150現場を保証。第1期(2027年1〜3月)390現場/第2期(2027年4月〜2028年3月)1,560現場/第3期(2028年4〜12月)1,200現場。未実施でも保証分を申し受け、返還はありません</a:t>
                      </a:r>
                    </a:p>
                  </a:txBody>
                  <a:tcPr anchor="ctr" marL="73152" marR="73152">
                    <a:solidFill>
                      <a:srgbClr val="FFFFFF"/>
                    </a:solidFill>
                  </a:tcPr>
                </a:tc>
              </a:tr>
              <a:tr h="484632">
                <a:tc>
                  <a:txBody>
                    <a:bodyPr/>
                    <a:lstStyle/>
                    <a:p>
                      <a:r>
                        <a:rPr sz="1050" b="1">
                          <a:solidFill>
                            <a:srgbClr val="1A1A1A"/>
                          </a:solidFill>
                          <a:latin typeface="Meiryo"/>
                          <a:ea typeface="Meiryo"/>
                        </a:rPr>
                        <a:t>精算</a:t>
                      </a:r>
                    </a:p>
                  </a:txBody>
                  <a:tcPr anchor="ctr" marL="73152" marR="73152">
                    <a:solidFill>
                      <a:srgbClr val="F2F4F6"/>
                    </a:solidFill>
                  </a:tcPr>
                </a:tc>
                <a:tc>
                  <a:txBody>
                    <a:bodyPr/>
                    <a:lstStyle/>
                    <a:p>
                      <a:r>
                        <a:rPr sz="1050" b="0">
                          <a:solidFill>
                            <a:srgbClr val="1A1A1A"/>
                          </a:solidFill>
                          <a:latin typeface="Meiryo"/>
                          <a:ea typeface="Meiryo"/>
                        </a:rPr>
                        <a:t>各期末に実績を集計。増枠分は追加精算、最低保証を下回った場合も保証額をお支払いいただきます</a:t>
                      </a:r>
                    </a:p>
                  </a:txBody>
                  <a:tcPr anchor="ctr" marL="73152" marR="73152">
                    <a:solidFill>
                      <a:srgbClr val="F2F4F6"/>
                    </a:solidFill>
                  </a:tcPr>
                </a:tc>
              </a:tr>
              <a:tr h="484632">
                <a:tc>
                  <a:txBody>
                    <a:bodyPr/>
                    <a:lstStyle/>
                    <a:p>
                      <a:r>
                        <a:rPr sz="1050" b="1">
                          <a:solidFill>
                            <a:srgbClr val="1A1A1A"/>
                          </a:solidFill>
                          <a:latin typeface="Meiryo"/>
                          <a:ea typeface="Meiryo"/>
                        </a:rPr>
                        <a:t>開催確定とキャンセル</a:t>
                      </a:r>
                    </a:p>
                  </a:txBody>
                  <a:tcPr anchor="ctr" marL="73152" marR="73152">
                    <a:solidFill>
                      <a:srgbClr val="FFFFFF"/>
                    </a:solidFill>
                  </a:tcPr>
                </a:tc>
                <a:tc>
                  <a:txBody>
                    <a:bodyPr/>
                    <a:lstStyle/>
                    <a:p>
                      <a:r>
                        <a:rPr sz="1050" b="0">
                          <a:solidFill>
                            <a:srgbClr val="1A1A1A"/>
                          </a:solidFill>
                          <a:latin typeface="Meiryo"/>
                          <a:ea typeface="Meiryo"/>
                        </a:rPr>
                        <a:t>会場・日程は開催1ヶ月前までに確定。確定後のキャンセル料:1ヶ月前〜14日前30%/13日前〜7日前50%/6日前〜当日100%</a:t>
                      </a:r>
                    </a:p>
                  </a:txBody>
                  <a:tcPr anchor="ctr" marL="73152" marR="73152">
                    <a:solidFill>
                      <a:srgbClr val="FFFFFF"/>
                    </a:solidFill>
                  </a:tcPr>
                </a:tc>
              </a:tr>
              <a:tr h="484632">
                <a:tc>
                  <a:txBody>
                    <a:bodyPr/>
                    <a:lstStyle/>
                    <a:p>
                      <a:r>
                        <a:rPr sz="1050" b="1">
                          <a:solidFill>
                            <a:srgbClr val="1A1A1A"/>
                          </a:solidFill>
                          <a:latin typeface="Meiryo"/>
                          <a:ea typeface="Meiryo"/>
                        </a:rPr>
                        <a:t>従量費用</a:t>
                      </a:r>
                    </a:p>
                  </a:txBody>
                  <a:tcPr anchor="ctr" marL="73152" marR="73152">
                    <a:solidFill>
                      <a:srgbClr val="F2F4F6"/>
                    </a:solidFill>
                  </a:tcPr>
                </a:tc>
                <a:tc>
                  <a:txBody>
                    <a:bodyPr/>
                    <a:lstStyle/>
                    <a:p>
                      <a:r>
                        <a:rPr sz="1050" b="0">
                          <a:solidFill>
                            <a:srgbClr val="1A1A1A"/>
                          </a:solidFill>
                          <a:latin typeface="Meiryo"/>
                          <a:ea typeface="Meiryo"/>
                        </a:rPr>
                        <a:t>現場諸経費2万円/日、3日目+10万円/日、MC+3万円/日、フル運営+22万円/日(会場単位)。交通運搬・宿泊・スーツ送料は基準料金表により実費</a:t>
                      </a:r>
                    </a:p>
                  </a:txBody>
                  <a:tcPr anchor="ctr" marL="73152" marR="73152">
                    <a:solidFill>
                      <a:srgbClr val="F2F4F6"/>
                    </a:solidFill>
                  </a:tcPr>
                </a:tc>
              </a:tr>
              <a:tr h="484632">
                <a:tc>
                  <a:txBody>
                    <a:bodyPr/>
                    <a:lstStyle/>
                    <a:p>
                      <a:r>
                        <a:rPr sz="1050" b="1">
                          <a:solidFill>
                            <a:srgbClr val="1A1A1A"/>
                          </a:solidFill>
                          <a:latin typeface="Meiryo"/>
                          <a:ea typeface="Meiryo"/>
                        </a:rPr>
                        <a:t>エリアとキャラクター</a:t>
                      </a:r>
                    </a:p>
                  </a:txBody>
                  <a:tcPr anchor="ctr" marL="73152" marR="73152">
                    <a:solidFill>
                      <a:srgbClr val="FFFFFF"/>
                    </a:solidFill>
                  </a:tcPr>
                </a:tc>
                <a:tc>
                  <a:txBody>
                    <a:bodyPr/>
                    <a:lstStyle/>
                    <a:p>
                      <a:r>
                        <a:rPr sz="1050" b="0">
                          <a:solidFill>
                            <a:srgbClr val="1A1A1A"/>
                          </a:solidFill>
                          <a:latin typeface="Meiryo"/>
                          <a:ea typeface="Meiryo"/>
                        </a:rPr>
                        <a:t>関信越エリア(埼玉・茨城・群馬・栃木・山梨・長野・新潟)は2027年1〜3月は実施不可。ウルトラセブンは対象外。8ヒーロー(権利調整により一部変更の場合あり)</a:t>
                      </a:r>
                    </a:p>
                  </a:txBody>
                  <a:tcPr anchor="ctr" marL="73152" marR="73152">
                    <a:solidFill>
                      <a:srgbClr val="FFFFFF"/>
                    </a:solidFill>
                  </a:tcPr>
                </a:tc>
              </a:tr>
              <a:tr h="484632">
                <a:tc>
                  <a:txBody>
                    <a:bodyPr/>
                    <a:lstStyle/>
                    <a:p>
                      <a:r>
                        <a:rPr sz="1050" b="1">
                          <a:solidFill>
                            <a:srgbClr val="1A1A1A"/>
                          </a:solidFill>
                          <a:latin typeface="Meiryo"/>
                          <a:ea typeface="Meiryo"/>
                        </a:rPr>
                        <a:t>役割分担と安全</a:t>
                      </a:r>
                    </a:p>
                  </a:txBody>
                  <a:tcPr anchor="ctr" marL="73152" marR="73152">
                    <a:solidFill>
                      <a:srgbClr val="F2F4F6"/>
                    </a:solidFill>
                  </a:tcPr>
                </a:tc>
                <a:tc>
                  <a:txBody>
                    <a:bodyPr/>
                    <a:lstStyle/>
                    <a:p>
                      <a:r>
                        <a:rPr sz="1050" b="0">
                          <a:solidFill>
                            <a:srgbClr val="1A1A1A"/>
                          </a:solidFill>
                          <a:latin typeface="Meiryo"/>
                          <a:ea typeface="Meiryo"/>
                        </a:rPr>
                        <a:t>貴社が主催者としてイベント保険・JASRAC申請・会場管理・来場者の安全管理を担当。当社は運営マニュアルとレクチャーを提供。実施確認書を会場ごとに取り交わし</a:t>
                      </a:r>
                    </a:p>
                  </a:txBody>
                  <a:tcPr anchor="ctr" marL="73152" marR="73152">
                    <a:solidFill>
                      <a:srgbClr val="F2F4F6"/>
                    </a:solidFill>
                  </a:tcPr>
                </a:tc>
              </a:tr>
              <a:tr h="484632">
                <a:tc>
                  <a:txBody>
                    <a:bodyPr/>
                    <a:lstStyle/>
                    <a:p>
                      <a:r>
                        <a:rPr sz="1050" b="1">
                          <a:solidFill>
                            <a:srgbClr val="1A1A1A"/>
                          </a:solidFill>
                          <a:latin typeface="Meiryo"/>
                          <a:ea typeface="Meiryo"/>
                        </a:rPr>
                        <a:t>協議事項</a:t>
                      </a:r>
                    </a:p>
                  </a:txBody>
                  <a:tcPr anchor="ctr" marL="73152" marR="73152">
                    <a:solidFill>
                      <a:srgbClr val="FFFFFF"/>
                    </a:solidFill>
                  </a:tcPr>
                </a:tc>
                <a:tc>
                  <a:txBody>
                    <a:bodyPr/>
                    <a:lstStyle/>
                    <a:p>
                      <a:r>
                        <a:rPr sz="1050" b="0">
                          <a:solidFill>
                            <a:srgbClr val="1A1A1A"/>
                          </a:solidFill>
                          <a:latin typeface="Meiryo"/>
                          <a:ea typeface="Meiryo"/>
                        </a:rPr>
                        <a:t>天災・感染症・会場都合による中止の扱い(キャンセル料と最低保証への算入)は契約書で整理します</a:t>
                      </a:r>
                    </a:p>
                  </a:txBody>
                  <a:tcPr anchor="ctr" marL="73152" marR="73152">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1. (B)IPライセンス契約の主要条件</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キャラクターの使用範囲と、貴社制作物の作成許諾・監修のルールを定めます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5</a:t>
            </a:r>
          </a:p>
        </p:txBody>
      </p:sp>
      <p:graphicFrame>
        <p:nvGraphicFramePr>
          <p:cNvPr id="8" name="Table 7"/>
          <p:cNvGraphicFramePr>
            <a:graphicFrameLocks noGrp="1"/>
          </p:cNvGraphicFramePr>
          <p:nvPr/>
        </p:nvGraphicFramePr>
        <p:xfrm>
          <a:off x="640080" y="1371600"/>
          <a:ext cx="10881360" cy="4937759"/>
        </p:xfrm>
        <a:graphic>
          <a:graphicData uri="http://schemas.openxmlformats.org/drawingml/2006/table">
            <a:tbl>
              <a:tblPr firstRow="1" bandRow="1">
                <a:tableStyleId>{5C22544A-7EE6-4342-B048-85BDC9FD1C3A}</a:tableStyleId>
              </a:tblPr>
              <a:tblGrid>
                <a:gridCol w="2720340"/>
                <a:gridCol w="8161020"/>
              </a:tblGrid>
              <a:tr h="548639">
                <a:tc>
                  <a:txBody>
                    <a:bodyPr/>
                    <a:lstStyle/>
                    <a:p>
                      <a:r>
                        <a:rPr sz="1050" b="1">
                          <a:solidFill>
                            <a:srgbClr val="FFFFFF"/>
                          </a:solidFill>
                          <a:latin typeface="Meiryo"/>
                          <a:ea typeface="Meiryo"/>
                        </a:rPr>
                        <a:t>条項</a:t>
                      </a:r>
                    </a:p>
                  </a:txBody>
                  <a:tcPr anchor="ctr" marL="73152" marR="73152">
                    <a:solidFill>
                      <a:srgbClr val="232278"/>
                    </a:solidFill>
                  </a:tcPr>
                </a:tc>
                <a:tc>
                  <a:txBody>
                    <a:bodyPr/>
                    <a:lstStyle/>
                    <a:p>
                      <a:r>
                        <a:rPr sz="1050" b="1">
                          <a:solidFill>
                            <a:srgbClr val="FFFFFF"/>
                          </a:solidFill>
                          <a:latin typeface="Meiryo"/>
                          <a:ea typeface="Meiryo"/>
                        </a:rPr>
                        <a:t>内容</a:t>
                      </a:r>
                    </a:p>
                  </a:txBody>
                  <a:tcPr anchor="ctr" marL="73152" marR="73152">
                    <a:solidFill>
                      <a:srgbClr val="232278"/>
                    </a:solidFill>
                  </a:tcPr>
                </a:tc>
              </a:tr>
              <a:tr h="548639">
                <a:tc>
                  <a:txBody>
                    <a:bodyPr/>
                    <a:lstStyle/>
                    <a:p>
                      <a:r>
                        <a:rPr sz="1050" b="1">
                          <a:solidFill>
                            <a:srgbClr val="1A1A1A"/>
                          </a:solidFill>
                          <a:latin typeface="Meiryo"/>
                          <a:ea typeface="Meiryo"/>
                        </a:rPr>
                        <a:t>許諾の内容</a:t>
                      </a:r>
                    </a:p>
                  </a:txBody>
                  <a:tcPr anchor="ctr" marL="73152" marR="73152">
                    <a:solidFill>
                      <a:srgbClr val="FFFFFF"/>
                    </a:solidFill>
                  </a:tcPr>
                </a:tc>
                <a:tc>
                  <a:txBody>
                    <a:bodyPr/>
                    <a:lstStyle/>
                    <a:p>
                      <a:r>
                        <a:rPr sz="1050" b="0">
                          <a:solidFill>
                            <a:srgbClr val="1A1A1A"/>
                          </a:solidFill>
                          <a:latin typeface="Meiryo"/>
                          <a:ea typeface="Meiryo"/>
                        </a:rPr>
                        <a:t>8ヒーローを、店頭イベントの告知、イベントキット、店頭訴求ツール、LP/Web、SNSで使用する権利。作成物の監修を含む。地域は日本国内</a:t>
                      </a:r>
                    </a:p>
                  </a:txBody>
                  <a:tcPr anchor="ctr" marL="73152" marR="73152">
                    <a:solidFill>
                      <a:srgbClr val="FFFFFF"/>
                    </a:solidFill>
                  </a:tcPr>
                </a:tc>
              </a:tr>
              <a:tr h="548639">
                <a:tc>
                  <a:txBody>
                    <a:bodyPr/>
                    <a:lstStyle/>
                    <a:p>
                      <a:r>
                        <a:rPr sz="1050" b="1">
                          <a:solidFill>
                            <a:srgbClr val="1A1A1A"/>
                          </a:solidFill>
                          <a:latin typeface="Meiryo"/>
                          <a:ea typeface="Meiryo"/>
                        </a:rPr>
                        <a:t>ライセンス料</a:t>
                      </a:r>
                    </a:p>
                  </a:txBody>
                  <a:tcPr anchor="ctr" marL="73152" marR="73152">
                    <a:solidFill>
                      <a:srgbClr val="F2F4F6"/>
                    </a:solidFill>
                  </a:tcPr>
                </a:tc>
                <a:tc>
                  <a:txBody>
                    <a:bodyPr/>
                    <a:lstStyle/>
                    <a:p>
                      <a:r>
                        <a:rPr sz="1050" b="0">
                          <a:solidFill>
                            <a:srgbClr val="1A1A1A"/>
                          </a:solidFill>
                          <a:latin typeface="Meiryo"/>
                          <a:ea typeface="Meiryo"/>
                        </a:rPr>
                        <a:t>4,000万円(2,000万円/年×2年)。契約締結時に一括前払い。返還はありません</a:t>
                      </a:r>
                    </a:p>
                  </a:txBody>
                  <a:tcPr anchor="ctr" marL="73152" marR="73152">
                    <a:solidFill>
                      <a:srgbClr val="F2F4F6"/>
                    </a:solidFill>
                  </a:tcPr>
                </a:tc>
              </a:tr>
              <a:tr h="548639">
                <a:tc>
                  <a:txBody>
                    <a:bodyPr/>
                    <a:lstStyle/>
                    <a:p>
                      <a:r>
                        <a:rPr sz="1050" b="1">
                          <a:solidFill>
                            <a:srgbClr val="1A1A1A"/>
                          </a:solidFill>
                          <a:latin typeface="Meiryo"/>
                          <a:ea typeface="Meiryo"/>
                        </a:rPr>
                        <a:t>作成許諾ロイヤリティ</a:t>
                      </a:r>
                    </a:p>
                  </a:txBody>
                  <a:tcPr anchor="ctr" marL="73152" marR="73152">
                    <a:solidFill>
                      <a:srgbClr val="FFFFFF"/>
                    </a:solidFill>
                  </a:tcPr>
                </a:tc>
                <a:tc>
                  <a:txBody>
                    <a:bodyPr/>
                    <a:lstStyle/>
                    <a:p>
                      <a:r>
                        <a:rPr sz="1050" b="0">
                          <a:solidFill>
                            <a:srgbClr val="1A1A1A"/>
                          </a:solidFill>
                          <a:latin typeface="Meiryo"/>
                          <a:ea typeface="Meiryo"/>
                        </a:rPr>
                        <a:t>貴社制作のイベントキット・ノベルティ・店頭訴求ツールの作成費用(製造原価)の20%。製造数量ベースの最低保証を前半(2027年1月〜2028年3月)と後半(2028年4〜12月)で設定。未達分は期末確定</a:t>
                      </a:r>
                    </a:p>
                  </a:txBody>
                  <a:tcPr anchor="ctr" marL="73152" marR="73152">
                    <a:solidFill>
                      <a:srgbClr val="FFFFFF"/>
                    </a:solidFill>
                  </a:tcPr>
                </a:tc>
              </a:tr>
              <a:tr h="548639">
                <a:tc>
                  <a:txBody>
                    <a:bodyPr/>
                    <a:lstStyle/>
                    <a:p>
                      <a:r>
                        <a:rPr sz="1050" b="1">
                          <a:solidFill>
                            <a:srgbClr val="1A1A1A"/>
                          </a:solidFill>
                          <a:latin typeface="Meiryo"/>
                          <a:ea typeface="Meiryo"/>
                        </a:rPr>
                        <a:t>数量の報告</a:t>
                      </a:r>
                    </a:p>
                  </a:txBody>
                  <a:tcPr anchor="ctr" marL="73152" marR="73152">
                    <a:solidFill>
                      <a:srgbClr val="F2F4F6"/>
                    </a:solidFill>
                  </a:tcPr>
                </a:tc>
                <a:tc>
                  <a:txBody>
                    <a:bodyPr/>
                    <a:lstStyle/>
                    <a:p>
                      <a:r>
                        <a:rPr sz="1050" b="0">
                          <a:solidFill>
                            <a:srgbClr val="1A1A1A"/>
                          </a:solidFill>
                          <a:latin typeface="Meiryo"/>
                          <a:ea typeface="Meiryo"/>
                        </a:rPr>
                        <a:t>製造数量は四半期ごとに、製造証憑(工場の納品書など)を添えてご報告ください。当社に確認権を置きます</a:t>
                      </a:r>
                    </a:p>
                  </a:txBody>
                  <a:tcPr anchor="ctr" marL="73152" marR="73152">
                    <a:solidFill>
                      <a:srgbClr val="F2F4F6"/>
                    </a:solidFill>
                  </a:tcPr>
                </a:tc>
              </a:tr>
              <a:tr h="548639">
                <a:tc>
                  <a:txBody>
                    <a:bodyPr/>
                    <a:lstStyle/>
                    <a:p>
                      <a:r>
                        <a:rPr sz="1050" b="1">
                          <a:solidFill>
                            <a:srgbClr val="1A1A1A"/>
                          </a:solidFill>
                          <a:latin typeface="Meiryo"/>
                          <a:ea typeface="Meiryo"/>
                        </a:rPr>
                        <a:t>申請と監修</a:t>
                      </a:r>
                    </a:p>
                  </a:txBody>
                  <a:tcPr anchor="ctr" marL="73152" marR="73152">
                    <a:solidFill>
                      <a:srgbClr val="FFFFFF"/>
                    </a:solidFill>
                  </a:tcPr>
                </a:tc>
                <a:tc>
                  <a:txBody>
                    <a:bodyPr/>
                    <a:lstStyle/>
                    <a:p>
                      <a:r>
                        <a:rPr sz="1050" b="0">
                          <a:solidFill>
                            <a:srgbClr val="1A1A1A"/>
                          </a:solidFill>
                          <a:latin typeface="Meiryo"/>
                          <a:ea typeface="Meiryo"/>
                        </a:rPr>
                        <a:t>品目ごとに仮申請(回答約15営業日)→デザイン→監修(5営業日)→製造。告知物はKV3営業日・Web流用1〜2営業日・チラシ1〜2営業日</a:t>
                      </a:r>
                    </a:p>
                  </a:txBody>
                  <a:tcPr anchor="ctr" marL="73152" marR="73152">
                    <a:solidFill>
                      <a:srgbClr val="FFFFFF"/>
                    </a:solidFill>
                  </a:tcPr>
                </a:tc>
              </a:tr>
              <a:tr h="548639">
                <a:tc>
                  <a:txBody>
                    <a:bodyPr/>
                    <a:lstStyle/>
                    <a:p>
                      <a:r>
                        <a:rPr sz="1050" b="1">
                          <a:solidFill>
                            <a:srgbClr val="1A1A1A"/>
                          </a:solidFill>
                          <a:latin typeface="Meiryo"/>
                          <a:ea typeface="Meiryo"/>
                        </a:rPr>
                        <a:t>制作ルール</a:t>
                      </a:r>
                    </a:p>
                  </a:txBody>
                  <a:tcPr anchor="ctr" marL="73152" marR="73152">
                    <a:solidFill>
                      <a:srgbClr val="F2F4F6"/>
                    </a:solidFill>
                  </a:tcPr>
                </a:tc>
                <a:tc>
                  <a:txBody>
                    <a:bodyPr/>
                    <a:lstStyle/>
                    <a:p>
                      <a:r>
                        <a:rPr sz="1050" b="0">
                          <a:solidFill>
                            <a:srgbClr val="1A1A1A"/>
                          </a:solidFill>
                          <a:latin typeface="Meiryo"/>
                          <a:ea typeface="Meiryo"/>
                        </a:rPr>
                        <a:t>クレジット「©円谷プロ」を左下に表記。他社キャラクターとの混在不可(貴社キャラクターは可)。ノベルティはお子様向け玩具・菓子類など不可の品目あり。非公式商品の使用・販売・装飾利用は不可</a:t>
                      </a:r>
                    </a:p>
                  </a:txBody>
                  <a:tcPr anchor="ctr" marL="73152" marR="73152">
                    <a:solidFill>
                      <a:srgbClr val="F2F4F6"/>
                    </a:solidFill>
                  </a:tcPr>
                </a:tc>
              </a:tr>
              <a:tr h="548639">
                <a:tc>
                  <a:txBody>
                    <a:bodyPr/>
                    <a:lstStyle/>
                    <a:p>
                      <a:r>
                        <a:rPr sz="1050" b="1">
                          <a:solidFill>
                            <a:srgbClr val="1A1A1A"/>
                          </a:solidFill>
                          <a:latin typeface="Meiryo"/>
                          <a:ea typeface="Meiryo"/>
                        </a:rPr>
                        <a:t>権利と終了後の扱い</a:t>
                      </a:r>
                    </a:p>
                  </a:txBody>
                  <a:tcPr anchor="ctr" marL="73152" marR="73152">
                    <a:solidFill>
                      <a:srgbClr val="FFFFFF"/>
                    </a:solidFill>
                  </a:tcPr>
                </a:tc>
                <a:tc>
                  <a:txBody>
                    <a:bodyPr/>
                    <a:lstStyle/>
                    <a:p>
                      <a:r>
                        <a:rPr sz="1050" b="0">
                          <a:solidFill>
                            <a:srgbClr val="1A1A1A"/>
                          </a:solidFill>
                          <a:latin typeface="Meiryo"/>
                          <a:ea typeface="Meiryo"/>
                        </a:rPr>
                        <a:t>制作物に含まれるキャラクター部分の権利は当社に帰属。使用はキャンペーン期間中に限る。契約終了後の在庫・告知物の扱いは契約書で定めます</a:t>
                      </a:r>
                    </a:p>
                  </a:txBody>
                  <a:tcPr anchor="ctr" marL="73152" marR="73152">
                    <a:solidFill>
                      <a:srgbClr val="FFFFFF"/>
                    </a:solidFill>
                  </a:tcPr>
                </a:tc>
              </a:tr>
              <a:tr h="548647">
                <a:tc>
                  <a:txBody>
                    <a:bodyPr/>
                    <a:lstStyle/>
                    <a:p>
                      <a:r>
                        <a:rPr sz="1050" b="1">
                          <a:solidFill>
                            <a:srgbClr val="1A1A1A"/>
                          </a:solidFill>
                          <a:latin typeface="Meiryo"/>
                          <a:ea typeface="Meiryo"/>
                        </a:rPr>
                        <a:t>排他</a:t>
                      </a:r>
                    </a:p>
                  </a:txBody>
                  <a:tcPr anchor="ctr" marL="73152" marR="73152">
                    <a:solidFill>
                      <a:srgbClr val="F2F4F6"/>
                    </a:solidFill>
                  </a:tcPr>
                </a:tc>
                <a:tc>
                  <a:txBody>
                    <a:bodyPr/>
                    <a:lstStyle/>
                    <a:p>
                      <a:r>
                        <a:rPr sz="1050" b="0">
                          <a:solidFill>
                            <a:srgbClr val="1A1A1A"/>
                          </a:solidFill>
                          <a:latin typeface="Meiryo"/>
                          <a:ea typeface="Meiryo"/>
                        </a:rPr>
                        <a:t>契約期間中、当社は国内の他の携帯キャリア3社と店頭イベントの契約を行いません(店頭イベントに限る)</a:t>
                      </a:r>
                    </a:p>
                  </a:txBody>
                  <a:tcPr anchor="ctr" marL="73152" marR="73152">
                    <a:solidFill>
                      <a:srgbClr val="F2F4F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2. ノベルティ・制作物の進め方</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春節前の量産から逆算し、11月上旬までの仮申請と11月中のキービジュアル確定が前提になります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6</a:t>
            </a:r>
          </a:p>
        </p:txBody>
      </p:sp>
      <p:sp>
        <p:nvSpPr>
          <p:cNvPr id="8" name="Rounded Rectangle 7"/>
          <p:cNvSpPr/>
          <p:nvPr/>
        </p:nvSpPr>
        <p:spPr>
          <a:xfrm>
            <a:off x="640080" y="1417320"/>
            <a:ext cx="1600200" cy="86868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27048"/>
            <a:ext cx="1600200" cy="685800"/>
          </a:xfrm>
          <a:prstGeom prst="rect">
            <a:avLst/>
          </a:prstGeom>
          <a:noFill/>
        </p:spPr>
        <p:txBody>
          <a:bodyPr wrap="square" anchor="t" lIns="0" rIns="0" tIns="0" bIns="0">
            <a:spAutoFit/>
          </a:bodyPr>
          <a:lstStyle/>
          <a:p>
            <a:pPr algn="ctr">
              <a:spcAft>
                <a:spcPts val="200"/>
              </a:spcAft>
            </a:pPr>
            <a:r>
              <a:rPr sz="1250" b="1">
                <a:solidFill>
                  <a:srgbClr val="1A1A1A"/>
                </a:solidFill>
                <a:latin typeface="Meiryo"/>
                <a:ea typeface="Meiryo"/>
              </a:rPr>
              <a:t>品目の決定</a:t>
            </a:r>
          </a:p>
          <a:p>
            <a:pPr algn="ctr">
              <a:spcAft>
                <a:spcPts val="200"/>
              </a:spcAft>
            </a:pPr>
            <a:r>
              <a:rPr sz="1050" b="0">
                <a:solidFill>
                  <a:srgbClr val="1A1A1A"/>
                </a:solidFill>
                <a:latin typeface="Meiryo"/>
                <a:ea typeface="Meiryo"/>
              </a:rPr>
              <a:t>10月中</a:t>
            </a:r>
          </a:p>
        </p:txBody>
      </p:sp>
      <p:sp>
        <p:nvSpPr>
          <p:cNvPr id="10" name="TextBox 9"/>
          <p:cNvSpPr txBox="1"/>
          <p:nvPr/>
        </p:nvSpPr>
        <p:spPr>
          <a:xfrm>
            <a:off x="2240280" y="1691640"/>
            <a:ext cx="256032" cy="365760"/>
          </a:xfrm>
          <a:prstGeom prst="rect">
            <a:avLst/>
          </a:prstGeom>
          <a:noFill/>
        </p:spPr>
        <p:txBody>
          <a:bodyPr wrap="square" anchor="t" lIns="0" rIns="0" tIns="0" bIns="0">
            <a:spAutoFit/>
          </a:bodyPr>
          <a:lstStyle/>
          <a:p>
            <a:pPr algn="ctr">
              <a:spcAft>
                <a:spcPts val="500"/>
              </a:spcAft>
            </a:pPr>
            <a:r>
              <a:rPr sz="1100" b="0">
                <a:solidFill>
                  <a:srgbClr val="8E949B"/>
                </a:solidFill>
                <a:latin typeface="Meiryo"/>
                <a:ea typeface="Meiryo"/>
              </a:rPr>
              <a:t>▶</a:t>
            </a:r>
          </a:p>
        </p:txBody>
      </p:sp>
      <p:sp>
        <p:nvSpPr>
          <p:cNvPr id="11" name="Rounded Rectangle 10"/>
          <p:cNvSpPr/>
          <p:nvPr/>
        </p:nvSpPr>
        <p:spPr>
          <a:xfrm>
            <a:off x="2496312" y="1417320"/>
            <a:ext cx="1600200" cy="868680"/>
          </a:xfrm>
          <a:prstGeom prst="roundRect">
            <a:avLst>
              <a:gd name="adj" fmla="val 12000"/>
            </a:avLst>
          </a:prstGeom>
          <a:solidFill>
            <a:srgbClr val="232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96312" y="1527048"/>
            <a:ext cx="1600200" cy="685800"/>
          </a:xfrm>
          <a:prstGeom prst="rect">
            <a:avLst/>
          </a:prstGeom>
          <a:noFill/>
        </p:spPr>
        <p:txBody>
          <a:bodyPr wrap="square" anchor="t" lIns="0" rIns="0" tIns="0" bIns="0">
            <a:spAutoFit/>
          </a:bodyPr>
          <a:lstStyle/>
          <a:p>
            <a:pPr algn="ctr">
              <a:spcAft>
                <a:spcPts val="200"/>
              </a:spcAft>
            </a:pPr>
            <a:r>
              <a:rPr sz="1250" b="1">
                <a:solidFill>
                  <a:srgbClr val="FFFFFF"/>
                </a:solidFill>
                <a:latin typeface="Meiryo"/>
                <a:ea typeface="Meiryo"/>
              </a:rPr>
              <a:t>仮申請</a:t>
            </a:r>
          </a:p>
          <a:p>
            <a:pPr algn="ctr">
              <a:spcAft>
                <a:spcPts val="200"/>
              </a:spcAft>
            </a:pPr>
            <a:r>
              <a:rPr sz="1050" b="0">
                <a:solidFill>
                  <a:srgbClr val="FFFFFF"/>
                </a:solidFill>
                <a:latin typeface="Meiryo"/>
                <a:ea typeface="Meiryo"/>
              </a:rPr>
              <a:t>11月上旬まで</a:t>
            </a:r>
          </a:p>
        </p:txBody>
      </p:sp>
      <p:sp>
        <p:nvSpPr>
          <p:cNvPr id="13" name="TextBox 12"/>
          <p:cNvSpPr txBox="1"/>
          <p:nvPr/>
        </p:nvSpPr>
        <p:spPr>
          <a:xfrm>
            <a:off x="4096512" y="1691640"/>
            <a:ext cx="256032" cy="365760"/>
          </a:xfrm>
          <a:prstGeom prst="rect">
            <a:avLst/>
          </a:prstGeom>
          <a:noFill/>
        </p:spPr>
        <p:txBody>
          <a:bodyPr wrap="square" anchor="t" lIns="0" rIns="0" tIns="0" bIns="0">
            <a:spAutoFit/>
          </a:bodyPr>
          <a:lstStyle/>
          <a:p>
            <a:pPr algn="ctr">
              <a:spcAft>
                <a:spcPts val="500"/>
              </a:spcAft>
            </a:pPr>
            <a:r>
              <a:rPr sz="1100" b="0">
                <a:solidFill>
                  <a:srgbClr val="8E949B"/>
                </a:solidFill>
                <a:latin typeface="Meiryo"/>
                <a:ea typeface="Meiryo"/>
              </a:rPr>
              <a:t>▶</a:t>
            </a:r>
          </a:p>
        </p:txBody>
      </p:sp>
      <p:sp>
        <p:nvSpPr>
          <p:cNvPr id="14" name="Rounded Rectangle 13"/>
          <p:cNvSpPr/>
          <p:nvPr/>
        </p:nvSpPr>
        <p:spPr>
          <a:xfrm>
            <a:off x="4352544" y="1417320"/>
            <a:ext cx="1600200" cy="86868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52544" y="1527048"/>
            <a:ext cx="1600200" cy="685800"/>
          </a:xfrm>
          <a:prstGeom prst="rect">
            <a:avLst/>
          </a:prstGeom>
          <a:noFill/>
        </p:spPr>
        <p:txBody>
          <a:bodyPr wrap="square" anchor="t" lIns="0" rIns="0" tIns="0" bIns="0">
            <a:spAutoFit/>
          </a:bodyPr>
          <a:lstStyle/>
          <a:p>
            <a:pPr algn="ctr">
              <a:spcAft>
                <a:spcPts val="200"/>
              </a:spcAft>
            </a:pPr>
            <a:r>
              <a:rPr sz="1250" b="1">
                <a:solidFill>
                  <a:srgbClr val="1A1A1A"/>
                </a:solidFill>
                <a:latin typeface="Meiryo"/>
                <a:ea typeface="Meiryo"/>
              </a:rPr>
              <a:t>当社回答</a:t>
            </a:r>
          </a:p>
          <a:p>
            <a:pPr algn="ctr">
              <a:spcAft>
                <a:spcPts val="200"/>
              </a:spcAft>
            </a:pPr>
            <a:r>
              <a:rPr sz="1050" b="0">
                <a:solidFill>
                  <a:srgbClr val="1A1A1A"/>
                </a:solidFill>
                <a:latin typeface="Meiryo"/>
                <a:ea typeface="Meiryo"/>
              </a:rPr>
              <a:t>約15営業日</a:t>
            </a:r>
          </a:p>
        </p:txBody>
      </p:sp>
      <p:sp>
        <p:nvSpPr>
          <p:cNvPr id="16" name="TextBox 15"/>
          <p:cNvSpPr txBox="1"/>
          <p:nvPr/>
        </p:nvSpPr>
        <p:spPr>
          <a:xfrm>
            <a:off x="5952744" y="1691640"/>
            <a:ext cx="256032" cy="365760"/>
          </a:xfrm>
          <a:prstGeom prst="rect">
            <a:avLst/>
          </a:prstGeom>
          <a:noFill/>
        </p:spPr>
        <p:txBody>
          <a:bodyPr wrap="square" anchor="t" lIns="0" rIns="0" tIns="0" bIns="0">
            <a:spAutoFit/>
          </a:bodyPr>
          <a:lstStyle/>
          <a:p>
            <a:pPr algn="ctr">
              <a:spcAft>
                <a:spcPts val="500"/>
              </a:spcAft>
            </a:pPr>
            <a:r>
              <a:rPr sz="1100" b="0">
                <a:solidFill>
                  <a:srgbClr val="8E949B"/>
                </a:solidFill>
                <a:latin typeface="Meiryo"/>
                <a:ea typeface="Meiryo"/>
              </a:rPr>
              <a:t>▶</a:t>
            </a:r>
          </a:p>
        </p:txBody>
      </p:sp>
      <p:sp>
        <p:nvSpPr>
          <p:cNvPr id="17" name="Rounded Rectangle 16"/>
          <p:cNvSpPr/>
          <p:nvPr/>
        </p:nvSpPr>
        <p:spPr>
          <a:xfrm>
            <a:off x="6208776" y="1417320"/>
            <a:ext cx="1600200" cy="86868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08776" y="1527048"/>
            <a:ext cx="1600200" cy="685800"/>
          </a:xfrm>
          <a:prstGeom prst="rect">
            <a:avLst/>
          </a:prstGeom>
          <a:noFill/>
        </p:spPr>
        <p:txBody>
          <a:bodyPr wrap="square" anchor="t" lIns="0" rIns="0" tIns="0" bIns="0">
            <a:spAutoFit/>
          </a:bodyPr>
          <a:lstStyle/>
          <a:p>
            <a:pPr algn="ctr">
              <a:spcAft>
                <a:spcPts val="200"/>
              </a:spcAft>
            </a:pPr>
            <a:r>
              <a:rPr sz="1250" b="1">
                <a:solidFill>
                  <a:srgbClr val="1A1A1A"/>
                </a:solidFill>
                <a:latin typeface="Meiryo"/>
                <a:ea typeface="Meiryo"/>
              </a:rPr>
              <a:t>デザイン・監修</a:t>
            </a:r>
          </a:p>
          <a:p>
            <a:pPr algn="ctr">
              <a:spcAft>
                <a:spcPts val="200"/>
              </a:spcAft>
            </a:pPr>
            <a:r>
              <a:rPr sz="1050" b="0">
                <a:solidFill>
                  <a:srgbClr val="1A1A1A"/>
                </a:solidFill>
                <a:latin typeface="Meiryo"/>
                <a:ea typeface="Meiryo"/>
              </a:rPr>
              <a:t>5営業日</a:t>
            </a:r>
          </a:p>
        </p:txBody>
      </p:sp>
      <p:sp>
        <p:nvSpPr>
          <p:cNvPr id="19" name="TextBox 18"/>
          <p:cNvSpPr txBox="1"/>
          <p:nvPr/>
        </p:nvSpPr>
        <p:spPr>
          <a:xfrm>
            <a:off x="7808976" y="1691640"/>
            <a:ext cx="256032" cy="365760"/>
          </a:xfrm>
          <a:prstGeom prst="rect">
            <a:avLst/>
          </a:prstGeom>
          <a:noFill/>
        </p:spPr>
        <p:txBody>
          <a:bodyPr wrap="square" anchor="t" lIns="0" rIns="0" tIns="0" bIns="0">
            <a:spAutoFit/>
          </a:bodyPr>
          <a:lstStyle/>
          <a:p>
            <a:pPr algn="ctr">
              <a:spcAft>
                <a:spcPts val="500"/>
              </a:spcAft>
            </a:pPr>
            <a:r>
              <a:rPr sz="1100" b="0">
                <a:solidFill>
                  <a:srgbClr val="8E949B"/>
                </a:solidFill>
                <a:latin typeface="Meiryo"/>
                <a:ea typeface="Meiryo"/>
              </a:rPr>
              <a:t>▶</a:t>
            </a:r>
          </a:p>
        </p:txBody>
      </p:sp>
      <p:sp>
        <p:nvSpPr>
          <p:cNvPr id="20" name="Rounded Rectangle 19"/>
          <p:cNvSpPr/>
          <p:nvPr/>
        </p:nvSpPr>
        <p:spPr>
          <a:xfrm>
            <a:off x="8065008" y="1417320"/>
            <a:ext cx="1600200" cy="868680"/>
          </a:xfrm>
          <a:prstGeom prst="roundRect">
            <a:avLst>
              <a:gd name="adj" fmla="val 12000"/>
            </a:avLst>
          </a:prstGeom>
          <a:solidFill>
            <a:srgbClr val="232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65008" y="1527048"/>
            <a:ext cx="1600200" cy="685800"/>
          </a:xfrm>
          <a:prstGeom prst="rect">
            <a:avLst/>
          </a:prstGeom>
          <a:noFill/>
        </p:spPr>
        <p:txBody>
          <a:bodyPr wrap="square" anchor="t" lIns="0" rIns="0" tIns="0" bIns="0">
            <a:spAutoFit/>
          </a:bodyPr>
          <a:lstStyle/>
          <a:p>
            <a:pPr algn="ctr">
              <a:spcAft>
                <a:spcPts val="200"/>
              </a:spcAft>
            </a:pPr>
            <a:r>
              <a:rPr sz="1250" b="1">
                <a:solidFill>
                  <a:srgbClr val="FFFFFF"/>
                </a:solidFill>
                <a:latin typeface="Meiryo"/>
                <a:ea typeface="Meiryo"/>
              </a:rPr>
              <a:t>量産</a:t>
            </a:r>
          </a:p>
          <a:p>
            <a:pPr algn="ctr">
              <a:spcAft>
                <a:spcPts val="200"/>
              </a:spcAft>
            </a:pPr>
            <a:r>
              <a:rPr sz="1050" b="0">
                <a:solidFill>
                  <a:srgbClr val="FFFFFF"/>
                </a:solidFill>
                <a:latin typeface="Meiryo"/>
                <a:ea typeface="Meiryo"/>
              </a:rPr>
              <a:t>12月</a:t>
            </a:r>
          </a:p>
        </p:txBody>
      </p:sp>
      <p:sp>
        <p:nvSpPr>
          <p:cNvPr id="22" name="TextBox 21"/>
          <p:cNvSpPr txBox="1"/>
          <p:nvPr/>
        </p:nvSpPr>
        <p:spPr>
          <a:xfrm>
            <a:off x="9665208" y="1691640"/>
            <a:ext cx="256032" cy="365760"/>
          </a:xfrm>
          <a:prstGeom prst="rect">
            <a:avLst/>
          </a:prstGeom>
          <a:noFill/>
        </p:spPr>
        <p:txBody>
          <a:bodyPr wrap="square" anchor="t" lIns="0" rIns="0" tIns="0" bIns="0">
            <a:spAutoFit/>
          </a:bodyPr>
          <a:lstStyle/>
          <a:p>
            <a:pPr algn="ctr">
              <a:spcAft>
                <a:spcPts val="500"/>
              </a:spcAft>
            </a:pPr>
            <a:r>
              <a:rPr sz="1100" b="0">
                <a:solidFill>
                  <a:srgbClr val="8E949B"/>
                </a:solidFill>
                <a:latin typeface="Meiryo"/>
                <a:ea typeface="Meiryo"/>
              </a:rPr>
              <a:t>▶</a:t>
            </a:r>
          </a:p>
        </p:txBody>
      </p:sp>
      <p:sp>
        <p:nvSpPr>
          <p:cNvPr id="23" name="Rounded Rectangle 22"/>
          <p:cNvSpPr/>
          <p:nvPr/>
        </p:nvSpPr>
        <p:spPr>
          <a:xfrm>
            <a:off x="9921240" y="1417320"/>
            <a:ext cx="1600200" cy="86868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1527048"/>
            <a:ext cx="1600200" cy="685800"/>
          </a:xfrm>
          <a:prstGeom prst="rect">
            <a:avLst/>
          </a:prstGeom>
          <a:noFill/>
        </p:spPr>
        <p:txBody>
          <a:bodyPr wrap="square" anchor="t" lIns="0" rIns="0" tIns="0" bIns="0">
            <a:spAutoFit/>
          </a:bodyPr>
          <a:lstStyle/>
          <a:p>
            <a:pPr algn="ctr">
              <a:spcAft>
                <a:spcPts val="200"/>
              </a:spcAft>
            </a:pPr>
            <a:r>
              <a:rPr sz="1250" b="1">
                <a:solidFill>
                  <a:srgbClr val="1A1A1A"/>
                </a:solidFill>
                <a:latin typeface="Meiryo"/>
                <a:ea typeface="Meiryo"/>
              </a:rPr>
              <a:t>配布開始</a:t>
            </a:r>
          </a:p>
          <a:p>
            <a:pPr algn="ctr">
              <a:spcAft>
                <a:spcPts val="200"/>
              </a:spcAft>
            </a:pPr>
            <a:r>
              <a:rPr sz="1050" b="0">
                <a:solidFill>
                  <a:srgbClr val="1A1A1A"/>
                </a:solidFill>
                <a:latin typeface="Meiryo"/>
                <a:ea typeface="Meiryo"/>
              </a:rPr>
              <a:t>2027年1月</a:t>
            </a:r>
          </a:p>
        </p:txBody>
      </p:sp>
      <p:graphicFrame>
        <p:nvGraphicFramePr>
          <p:cNvPr id="25" name="Table 24"/>
          <p:cNvGraphicFramePr>
            <a:graphicFrameLocks noGrp="1"/>
          </p:cNvGraphicFramePr>
          <p:nvPr/>
        </p:nvGraphicFramePr>
        <p:xfrm>
          <a:off x="640080" y="2560320"/>
          <a:ext cx="10881358" cy="3621024"/>
        </p:xfrm>
        <a:graphic>
          <a:graphicData uri="http://schemas.openxmlformats.org/drawingml/2006/table">
            <a:tbl>
              <a:tblPr firstRow="1" bandRow="1">
                <a:tableStyleId>{5C22544A-7EE6-4342-B048-85BDC9FD1C3A}</a:tableStyleId>
              </a:tblPr>
              <a:tblGrid>
                <a:gridCol w="2538983"/>
                <a:gridCol w="8342375"/>
              </a:tblGrid>
              <a:tr h="603504">
                <a:tc>
                  <a:txBody>
                    <a:bodyPr/>
                    <a:lstStyle/>
                    <a:p>
                      <a:r>
                        <a:rPr sz="1050" b="1">
                          <a:solidFill>
                            <a:srgbClr val="FFFFFF"/>
                          </a:solidFill>
                          <a:latin typeface="Meiryo"/>
                          <a:ea typeface="Meiryo"/>
                        </a:rPr>
                        <a:t>項目</a:t>
                      </a:r>
                    </a:p>
                  </a:txBody>
                  <a:tcPr anchor="ctr" marL="73152" marR="73152">
                    <a:solidFill>
                      <a:srgbClr val="232278"/>
                    </a:solidFill>
                  </a:tcPr>
                </a:tc>
                <a:tc>
                  <a:txBody>
                    <a:bodyPr/>
                    <a:lstStyle/>
                    <a:p>
                      <a:r>
                        <a:rPr sz="1050" b="1">
                          <a:solidFill>
                            <a:srgbClr val="FFFFFF"/>
                          </a:solidFill>
                          <a:latin typeface="Meiryo"/>
                          <a:ea typeface="Meiryo"/>
                        </a:rPr>
                        <a:t>内容</a:t>
                      </a:r>
                    </a:p>
                  </a:txBody>
                  <a:tcPr anchor="ctr" marL="73152" marR="73152">
                    <a:solidFill>
                      <a:srgbClr val="232278"/>
                    </a:solidFill>
                  </a:tcPr>
                </a:tc>
              </a:tr>
              <a:tr h="603504">
                <a:tc>
                  <a:txBody>
                    <a:bodyPr/>
                    <a:lstStyle/>
                    <a:p>
                      <a:r>
                        <a:rPr sz="1050" b="1">
                          <a:solidFill>
                            <a:srgbClr val="1A1A1A"/>
                          </a:solidFill>
                          <a:latin typeface="Meiryo"/>
                          <a:ea typeface="Meiryo"/>
                        </a:rPr>
                        <a:t>品目候補</a:t>
                      </a:r>
                    </a:p>
                  </a:txBody>
                  <a:tcPr anchor="ctr" marL="73152" marR="73152">
                    <a:solidFill>
                      <a:srgbClr val="FFFFFF"/>
                    </a:solidFill>
                  </a:tcPr>
                </a:tc>
                <a:tc>
                  <a:txBody>
                    <a:bodyPr/>
                    <a:lstStyle/>
                    <a:p>
                      <a:r>
                        <a:rPr sz="1050" b="0">
                          <a:solidFill>
                            <a:srgbClr val="1A1A1A"/>
                          </a:solidFill>
                          <a:latin typeface="Meiryo"/>
                          <a:ea typeface="Meiryo"/>
                        </a:rPr>
                        <a:t>タオル、トートバッグ、ステッカー、クリアファイル、缶バッジ、ステーショナリー、修了証(当社既存商品のステッカーを卸価格でご購入いただく案も可)</a:t>
                      </a:r>
                    </a:p>
                  </a:txBody>
                  <a:tcPr anchor="ctr" marL="73152" marR="73152">
                    <a:solidFill>
                      <a:srgbClr val="FFFFFF"/>
                    </a:solidFill>
                  </a:tcPr>
                </a:tc>
              </a:tr>
              <a:tr h="603504">
                <a:tc>
                  <a:txBody>
                    <a:bodyPr/>
                    <a:lstStyle/>
                    <a:p>
                      <a:r>
                        <a:rPr sz="1050" b="1">
                          <a:solidFill>
                            <a:srgbClr val="1A1A1A"/>
                          </a:solidFill>
                          <a:latin typeface="Meiryo"/>
                          <a:ea typeface="Meiryo"/>
                        </a:rPr>
                        <a:t>数量の目安</a:t>
                      </a:r>
                    </a:p>
                  </a:txBody>
                  <a:tcPr anchor="ctr" marL="73152" marR="73152">
                    <a:solidFill>
                      <a:srgbClr val="F2F4F6"/>
                    </a:solidFill>
                  </a:tcPr>
                </a:tc>
                <a:tc>
                  <a:txBody>
                    <a:bodyPr/>
                    <a:lstStyle/>
                    <a:p>
                      <a:r>
                        <a:rPr sz="1050" b="0">
                          <a:solidFill>
                            <a:srgbClr val="1A1A1A"/>
                          </a:solidFill>
                          <a:latin typeface="Meiryo"/>
                          <a:ea typeface="Meiryo"/>
                        </a:rPr>
                        <a:t>撮影会1開催(土日2日)あたり約400個。2年間・基準で約1,575開催=約63万個。初回量産(2027年1〜3月分)は約195開催=約7.8万個</a:t>
                      </a:r>
                    </a:p>
                  </a:txBody>
                  <a:tcPr anchor="ctr" marL="73152" marR="73152">
                    <a:solidFill>
                      <a:srgbClr val="F2F4F6"/>
                    </a:solidFill>
                  </a:tcPr>
                </a:tc>
              </a:tr>
              <a:tr h="603504">
                <a:tc>
                  <a:txBody>
                    <a:bodyPr/>
                    <a:lstStyle/>
                    <a:p>
                      <a:r>
                        <a:rPr sz="1050" b="1">
                          <a:solidFill>
                            <a:srgbClr val="1A1A1A"/>
                          </a:solidFill>
                          <a:latin typeface="Meiryo"/>
                          <a:ea typeface="Meiryo"/>
                        </a:rPr>
                        <a:t>許諾料の計算</a:t>
                      </a:r>
                    </a:p>
                  </a:txBody>
                  <a:tcPr anchor="ctr" marL="73152" marR="73152">
                    <a:solidFill>
                      <a:srgbClr val="FFFFFF"/>
                    </a:solidFill>
                  </a:tcPr>
                </a:tc>
                <a:tc>
                  <a:txBody>
                    <a:bodyPr/>
                    <a:lstStyle/>
                    <a:p>
                      <a:r>
                        <a:rPr sz="1050" b="0">
                          <a:solidFill>
                            <a:srgbClr val="1A1A1A"/>
                          </a:solidFill>
                          <a:latin typeface="Meiryo"/>
                          <a:ea typeface="Meiryo"/>
                        </a:rPr>
                        <a:t>製造原価単価 × 製造数量 × 20%。例:単価35円×7.8万個×20%=約55万円(初回量産分)。四半期ごとに製造証憑を添えてご報告</a:t>
                      </a:r>
                    </a:p>
                  </a:txBody>
                  <a:tcPr anchor="ctr" marL="73152" marR="73152">
                    <a:solidFill>
                      <a:srgbClr val="FFFFFF"/>
                    </a:solidFill>
                  </a:tcPr>
                </a:tc>
              </a:tr>
              <a:tr h="603504">
                <a:tc>
                  <a:txBody>
                    <a:bodyPr/>
                    <a:lstStyle/>
                    <a:p>
                      <a:r>
                        <a:rPr sz="1050" b="1">
                          <a:solidFill>
                            <a:srgbClr val="1A1A1A"/>
                          </a:solidFill>
                          <a:latin typeface="Meiryo"/>
                          <a:ea typeface="Meiryo"/>
                        </a:rPr>
                        <a:t>仮申請の入力</a:t>
                      </a:r>
                    </a:p>
                  </a:txBody>
                  <a:tcPr anchor="ctr" marL="73152" marR="73152">
                    <a:solidFill>
                      <a:srgbClr val="F2F4F6"/>
                    </a:solidFill>
                  </a:tcPr>
                </a:tc>
                <a:tc>
                  <a:txBody>
                    <a:bodyPr/>
                    <a:lstStyle/>
                    <a:p>
                      <a:r>
                        <a:rPr sz="1050" b="0">
                          <a:solidFill>
                            <a:srgbClr val="1A1A1A"/>
                          </a:solidFill>
                          <a:latin typeface="Meiryo"/>
                          <a:ea typeface="Meiryo"/>
                        </a:rPr>
                        <a:t>企画商品名は「ノベルティ ○○」、カテゴリーは貴社の品目に合わせて選択、仮売価は製造原価単価。詳細は「仮申請のご案内」(10/22配布)</a:t>
                      </a:r>
                    </a:p>
                  </a:txBody>
                  <a:tcPr anchor="ctr" marL="73152" marR="73152">
                    <a:solidFill>
                      <a:srgbClr val="F2F4F6"/>
                    </a:solidFill>
                  </a:tcPr>
                </a:tc>
              </a:tr>
              <a:tr h="603504">
                <a:tc>
                  <a:txBody>
                    <a:bodyPr/>
                    <a:lstStyle/>
                    <a:p>
                      <a:r>
                        <a:rPr sz="1050" b="1">
                          <a:solidFill>
                            <a:srgbClr val="1A1A1A"/>
                          </a:solidFill>
                          <a:latin typeface="Meiryo"/>
                          <a:ea typeface="Meiryo"/>
                        </a:rPr>
                        <a:t>混在ルール</a:t>
                      </a:r>
                    </a:p>
                  </a:txBody>
                  <a:tcPr anchor="ctr" marL="73152" marR="73152">
                    <a:solidFill>
                      <a:srgbClr val="FFFFFF"/>
                    </a:solidFill>
                  </a:tcPr>
                </a:tc>
                <a:tc>
                  <a:txBody>
                    <a:bodyPr/>
                    <a:lstStyle/>
                    <a:p>
                      <a:r>
                        <a:rPr sz="1050" b="0">
                          <a:solidFill>
                            <a:srgbClr val="1A1A1A"/>
                          </a:solidFill>
                          <a:latin typeface="Meiryo"/>
                          <a:ea typeface="Meiryo"/>
                        </a:rPr>
                        <a:t>他社キャラクターとの同一盤面は不可。貴社キャラクター(おとうさん犬など)との組み合わせは個別にご相談</a:t>
                      </a:r>
                    </a:p>
                  </a:txBody>
                  <a:tcPr anchor="ctr" marL="73152" marR="7315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3. キービジュアルと素材の提供</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キャンペーン名称とキービジュアルを11月中に両社で確定します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7</a:t>
            </a:r>
          </a:p>
        </p:txBody>
      </p:sp>
      <p:graphicFrame>
        <p:nvGraphicFramePr>
          <p:cNvPr id="8" name="Table 7"/>
          <p:cNvGraphicFramePr>
            <a:graphicFrameLocks noGrp="1"/>
          </p:cNvGraphicFramePr>
          <p:nvPr/>
        </p:nvGraphicFramePr>
        <p:xfrm>
          <a:off x="640080" y="1371600"/>
          <a:ext cx="10881358" cy="3840479"/>
        </p:xfrm>
        <a:graphic>
          <a:graphicData uri="http://schemas.openxmlformats.org/drawingml/2006/table">
            <a:tbl>
              <a:tblPr firstRow="1" bandRow="1">
                <a:tableStyleId>{5C22544A-7EE6-4342-B048-85BDC9FD1C3A}</a:tableStyleId>
              </a:tblPr>
              <a:tblGrid>
                <a:gridCol w="2538983"/>
                <a:gridCol w="8342375"/>
              </a:tblGrid>
              <a:tr h="640079">
                <a:tc>
                  <a:txBody>
                    <a:bodyPr/>
                    <a:lstStyle/>
                    <a:p>
                      <a:r>
                        <a:rPr sz="1100" b="1">
                          <a:solidFill>
                            <a:srgbClr val="FFFFFF"/>
                          </a:solidFill>
                          <a:latin typeface="Meiryo"/>
                          <a:ea typeface="Meiryo"/>
                        </a:rPr>
                        <a:t>項目</a:t>
                      </a:r>
                    </a:p>
                  </a:txBody>
                  <a:tcPr anchor="ctr" marL="73152" marR="73152">
                    <a:solidFill>
                      <a:srgbClr val="232278"/>
                    </a:solidFill>
                  </a:tcPr>
                </a:tc>
                <a:tc>
                  <a:txBody>
                    <a:bodyPr/>
                    <a:lstStyle/>
                    <a:p>
                      <a:r>
                        <a:rPr sz="1100" b="1">
                          <a:solidFill>
                            <a:srgbClr val="FFFFFF"/>
                          </a:solidFill>
                          <a:latin typeface="Meiryo"/>
                          <a:ea typeface="Meiryo"/>
                        </a:rPr>
                        <a:t>内容</a:t>
                      </a:r>
                    </a:p>
                  </a:txBody>
                  <a:tcPr anchor="ctr" marL="73152" marR="73152">
                    <a:solidFill>
                      <a:srgbClr val="232278"/>
                    </a:solidFill>
                  </a:tcPr>
                </a:tc>
              </a:tr>
              <a:tr h="640079">
                <a:tc>
                  <a:txBody>
                    <a:bodyPr/>
                    <a:lstStyle/>
                    <a:p>
                      <a:r>
                        <a:rPr sz="1100" b="1">
                          <a:solidFill>
                            <a:srgbClr val="1A1A1A"/>
                          </a:solidFill>
                          <a:latin typeface="Meiryo"/>
                          <a:ea typeface="Meiryo"/>
                        </a:rPr>
                        <a:t>キービジュアル</a:t>
                      </a:r>
                    </a:p>
                  </a:txBody>
                  <a:tcPr anchor="ctr" marL="73152" marR="73152">
                    <a:solidFill>
                      <a:srgbClr val="FFFFFF"/>
                    </a:solidFill>
                  </a:tcPr>
                </a:tc>
                <a:tc>
                  <a:txBody>
                    <a:bodyPr/>
                    <a:lstStyle/>
                    <a:p>
                      <a:r>
                        <a:rPr sz="1100" b="0">
                          <a:solidFill>
                            <a:srgbClr val="1A1A1A"/>
                          </a:solidFill>
                          <a:latin typeface="Meiryo"/>
                          <a:ea typeface="Meiryo"/>
                        </a:rPr>
                        <a:t>貴社で制作(当社での受託も可)。11月上旬に方向性の打ち合わせ、11月中に確定。監修はKV3営業日</a:t>
                      </a:r>
                    </a:p>
                  </a:txBody>
                  <a:tcPr anchor="ctr" marL="73152" marR="73152">
                    <a:solidFill>
                      <a:srgbClr val="FFFFFF"/>
                    </a:solidFill>
                  </a:tcPr>
                </a:tc>
              </a:tr>
              <a:tr h="640079">
                <a:tc>
                  <a:txBody>
                    <a:bodyPr/>
                    <a:lstStyle/>
                    <a:p>
                      <a:r>
                        <a:rPr sz="1100" b="1">
                          <a:solidFill>
                            <a:srgbClr val="1A1A1A"/>
                          </a:solidFill>
                          <a:latin typeface="Meiryo"/>
                          <a:ea typeface="Meiryo"/>
                        </a:rPr>
                        <a:t>当社提供素材</a:t>
                      </a:r>
                    </a:p>
                  </a:txBody>
                  <a:tcPr anchor="ctr" marL="73152" marR="73152">
                    <a:solidFill>
                      <a:srgbClr val="F2F4F6"/>
                    </a:solidFill>
                  </a:tcPr>
                </a:tc>
                <a:tc>
                  <a:txBody>
                    <a:bodyPr/>
                    <a:lstStyle/>
                    <a:p>
                      <a:r>
                        <a:rPr sz="1100" b="0">
                          <a:solidFill>
                            <a:srgbClr val="1A1A1A"/>
                          </a:solidFill>
                          <a:latin typeface="Meiryo"/>
                          <a:ea typeface="Meiryo"/>
                        </a:rPr>
                        <a:t>集合ビジュアル(60周年ロゴ版)、個体素材、ロゴ、撮影会用のキャラクターなし背景素材。データ形式・解像度は別途ご案内</a:t>
                      </a:r>
                    </a:p>
                  </a:txBody>
                  <a:tcPr anchor="ctr" marL="73152" marR="73152">
                    <a:solidFill>
                      <a:srgbClr val="F2F4F6"/>
                    </a:solidFill>
                  </a:tcPr>
                </a:tc>
              </a:tr>
              <a:tr h="640079">
                <a:tc>
                  <a:txBody>
                    <a:bodyPr/>
                    <a:lstStyle/>
                    <a:p>
                      <a:r>
                        <a:rPr sz="1100" b="1">
                          <a:solidFill>
                            <a:srgbClr val="1A1A1A"/>
                          </a:solidFill>
                          <a:latin typeface="Meiryo"/>
                          <a:ea typeface="Meiryo"/>
                        </a:rPr>
                        <a:t>素材の使い分け</a:t>
                      </a:r>
                    </a:p>
                  </a:txBody>
                  <a:tcPr anchor="ctr" marL="73152" marR="73152">
                    <a:solidFill>
                      <a:srgbClr val="FFFFFF"/>
                    </a:solidFill>
                  </a:tcPr>
                </a:tc>
                <a:tc>
                  <a:txBody>
                    <a:bodyPr/>
                    <a:lstStyle/>
                    <a:p>
                      <a:r>
                        <a:rPr sz="1100" b="0">
                          <a:solidFill>
                            <a:srgbClr val="1A1A1A"/>
                          </a:solidFill>
                          <a:latin typeface="Meiryo"/>
                          <a:ea typeface="Meiryo"/>
                        </a:rPr>
                        <a:t>撮影会の背景バナーはキャラクターなし素材。集合ビジュアル・個体素材・ロゴは会場装飾と告知物に使用可</a:t>
                      </a:r>
                    </a:p>
                  </a:txBody>
                  <a:tcPr anchor="ctr" marL="73152" marR="73152">
                    <a:solidFill>
                      <a:srgbClr val="FFFFFF"/>
                    </a:solidFill>
                  </a:tcPr>
                </a:tc>
              </a:tr>
              <a:tr h="640079">
                <a:tc>
                  <a:txBody>
                    <a:bodyPr/>
                    <a:lstStyle/>
                    <a:p>
                      <a:r>
                        <a:rPr sz="1100" b="1">
                          <a:solidFill>
                            <a:srgbClr val="1A1A1A"/>
                          </a:solidFill>
                          <a:latin typeface="Meiryo"/>
                          <a:ea typeface="Meiryo"/>
                        </a:rPr>
                        <a:t>クレジット</a:t>
                      </a:r>
                    </a:p>
                  </a:txBody>
                  <a:tcPr anchor="ctr" marL="73152" marR="73152">
                    <a:solidFill>
                      <a:srgbClr val="F2F4F6"/>
                    </a:solidFill>
                  </a:tcPr>
                </a:tc>
                <a:tc>
                  <a:txBody>
                    <a:bodyPr/>
                    <a:lstStyle/>
                    <a:p>
                      <a:r>
                        <a:rPr sz="1100" b="0">
                          <a:solidFill>
                            <a:srgbClr val="1A1A1A"/>
                          </a:solidFill>
                          <a:latin typeface="Meiryo"/>
                          <a:ea typeface="Meiryo"/>
                        </a:rPr>
                        <a:t>「©円谷プロ」を左下に表記(キャラクターに被る場合は位置を調整)。貴社で加工した制作物の監修は5営業日</a:t>
                      </a:r>
                    </a:p>
                  </a:txBody>
                  <a:tcPr anchor="ctr" marL="73152" marR="73152">
                    <a:solidFill>
                      <a:srgbClr val="F2F4F6"/>
                    </a:solidFill>
                  </a:tcPr>
                </a:tc>
              </a:tr>
              <a:tr h="640084">
                <a:tc>
                  <a:txBody>
                    <a:bodyPr/>
                    <a:lstStyle/>
                    <a:p>
                      <a:r>
                        <a:rPr sz="1100" b="1">
                          <a:solidFill>
                            <a:srgbClr val="1A1A1A"/>
                          </a:solidFill>
                          <a:latin typeface="Meiryo"/>
                          <a:ea typeface="Meiryo"/>
                        </a:rPr>
                        <a:t>告知</a:t>
                      </a:r>
                    </a:p>
                  </a:txBody>
                  <a:tcPr anchor="ctr" marL="73152" marR="73152">
                    <a:solidFill>
                      <a:srgbClr val="FFFFFF"/>
                    </a:solidFill>
                  </a:tcPr>
                </a:tc>
                <a:tc>
                  <a:txBody>
                    <a:bodyPr/>
                    <a:lstStyle/>
                    <a:p>
                      <a:r>
                        <a:rPr sz="1100" b="0">
                          <a:solidFill>
                            <a:srgbClr val="1A1A1A"/>
                          </a:solidFill>
                          <a:latin typeface="Meiryo"/>
                          <a:ea typeface="Meiryo"/>
                        </a:rPr>
                        <a:t>全会場の情報をまとめた告知ページの開設をご検討ください(当社公式サイトから誘導)。撮影後の商談・アンケート案内は告知物と受付で事前にお知らせ</a:t>
                      </a:r>
                    </a:p>
                  </a:txBody>
                  <a:tcPr anchor="ctr" marL="73152" marR="73152">
                    <a:solidFill>
                      <a:srgbClr val="FFFFFF"/>
                    </a:solidFill>
                  </a:tcPr>
                </a:tc>
              </a:tr>
            </a:tbl>
          </a:graphicData>
        </a:graphic>
      </p:graphicFrame>
      <p:sp>
        <p:nvSpPr>
          <p:cNvPr id="9" name="TextBox 8"/>
          <p:cNvSpPr txBox="1"/>
          <p:nvPr/>
        </p:nvSpPr>
        <p:spPr>
          <a:xfrm>
            <a:off x="640080" y="5486400"/>
            <a:ext cx="10881360" cy="731520"/>
          </a:xfrm>
          <a:prstGeom prst="rect">
            <a:avLst/>
          </a:prstGeom>
          <a:noFill/>
        </p:spPr>
        <p:txBody>
          <a:bodyPr wrap="square" anchor="t" lIns="0" rIns="0" tIns="0" bIns="0">
            <a:spAutoFit/>
          </a:bodyPr>
          <a:lstStyle/>
          <a:p>
            <a:pPr algn="l">
              <a:spcAft>
                <a:spcPts val="400"/>
              </a:spcAft>
            </a:pPr>
            <a:r>
              <a:rPr sz="1100" b="0">
                <a:solidFill>
                  <a:srgbClr val="1A1A1A"/>
                </a:solidFill>
                <a:latin typeface="Meiryo"/>
                <a:ea typeface="Meiryo"/>
              </a:rPr>
              <a:t>・素材は本キャンペーンに限ってご使用ください。使用分のみをお渡しします</a:t>
            </a:r>
          </a:p>
          <a:p>
            <a:pPr algn="l">
              <a:spcAft>
                <a:spcPts val="400"/>
              </a:spcAft>
            </a:pPr>
            <a:r>
              <a:rPr sz="1100" b="0">
                <a:solidFill>
                  <a:srgbClr val="1A1A1A"/>
                </a:solidFill>
                <a:latin typeface="Meiryo"/>
                <a:ea typeface="Meiryo"/>
              </a:rPr>
              <a:t>・キービジュアルの打ち合わせ候補日を本日いただければ、当社の監修担当(成岡)を含めて設定します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4. 締結までの日程</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10月末の締結に向けて、契約書ドラフトのご確認期間を確保したく、本日中に進め方を決めさせてください</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8</a:t>
            </a:r>
          </a:p>
        </p:txBody>
      </p:sp>
      <p:graphicFrame>
        <p:nvGraphicFramePr>
          <p:cNvPr id="8" name="Table 7"/>
          <p:cNvGraphicFramePr>
            <a:graphicFrameLocks noGrp="1"/>
          </p:cNvGraphicFramePr>
          <p:nvPr/>
        </p:nvGraphicFramePr>
        <p:xfrm>
          <a:off x="640080" y="1371600"/>
          <a:ext cx="10881360" cy="4114800"/>
        </p:xfrm>
        <a:graphic>
          <a:graphicData uri="http://schemas.openxmlformats.org/drawingml/2006/table">
            <a:tbl>
              <a:tblPr firstRow="1" bandRow="1">
                <a:tableStyleId>{5C22544A-7EE6-4342-B048-85BDC9FD1C3A}</a:tableStyleId>
              </a:tblPr>
              <a:tblGrid>
                <a:gridCol w="2763520"/>
                <a:gridCol w="6908800"/>
                <a:gridCol w="1209040"/>
              </a:tblGrid>
              <a:tr h="457200">
                <a:tc>
                  <a:txBody>
                    <a:bodyPr/>
                    <a:lstStyle/>
                    <a:p>
                      <a:r>
                        <a:rPr sz="1100" b="1">
                          <a:solidFill>
                            <a:srgbClr val="FFFFFF"/>
                          </a:solidFill>
                          <a:latin typeface="Meiryo"/>
                          <a:ea typeface="Meiryo"/>
                        </a:rPr>
                        <a:t>時期</a:t>
                      </a:r>
                    </a:p>
                  </a:txBody>
                  <a:tcPr anchor="ctr" marL="73152" marR="73152">
                    <a:solidFill>
                      <a:srgbClr val="232278"/>
                    </a:solidFill>
                  </a:tcPr>
                </a:tc>
                <a:tc>
                  <a:txBody>
                    <a:bodyPr/>
                    <a:lstStyle/>
                    <a:p>
                      <a:r>
                        <a:rPr sz="1100" b="1">
                          <a:solidFill>
                            <a:srgbClr val="FFFFFF"/>
                          </a:solidFill>
                          <a:latin typeface="Meiryo"/>
                          <a:ea typeface="Meiryo"/>
                        </a:rPr>
                        <a:t>内容</a:t>
                      </a:r>
                    </a:p>
                  </a:txBody>
                  <a:tcPr anchor="ctr" marL="73152" marR="73152">
                    <a:solidFill>
                      <a:srgbClr val="232278"/>
                    </a:solidFill>
                  </a:tcPr>
                </a:tc>
                <a:tc>
                  <a:txBody>
                    <a:bodyPr/>
                    <a:lstStyle/>
                    <a:p>
                      <a:r>
                        <a:rPr sz="1100" b="1">
                          <a:solidFill>
                            <a:srgbClr val="FFFFFF"/>
                          </a:solidFill>
                          <a:latin typeface="Meiryo"/>
                          <a:ea typeface="Meiryo"/>
                        </a:rPr>
                        <a:t>担当</a:t>
                      </a:r>
                    </a:p>
                  </a:txBody>
                  <a:tcPr anchor="ctr" marL="73152" marR="73152">
                    <a:solidFill>
                      <a:srgbClr val="232278"/>
                    </a:solidFill>
                  </a:tcPr>
                </a:tc>
              </a:tr>
              <a:tr h="457200">
                <a:tc>
                  <a:txBody>
                    <a:bodyPr/>
                    <a:lstStyle/>
                    <a:p>
                      <a:r>
                        <a:rPr sz="1100" b="1">
                          <a:solidFill>
                            <a:srgbClr val="1A1A1A"/>
                          </a:solidFill>
                          <a:latin typeface="Meiryo"/>
                          <a:ea typeface="Meiryo"/>
                        </a:rPr>
                        <a:t>10月26日(本日)</a:t>
                      </a:r>
                    </a:p>
                  </a:txBody>
                  <a:tcPr anchor="ctr" marL="73152" marR="73152">
                    <a:solidFill>
                      <a:srgbClr val="FFFFFF"/>
                    </a:solidFill>
                  </a:tcPr>
                </a:tc>
                <a:tc>
                  <a:txBody>
                    <a:bodyPr/>
                    <a:lstStyle/>
                    <a:p>
                      <a:r>
                        <a:rPr sz="1100" b="0">
                          <a:solidFill>
                            <a:srgbClr val="1A1A1A"/>
                          </a:solidFill>
                          <a:latin typeface="Meiryo"/>
                          <a:ea typeface="Meiryo"/>
                        </a:rPr>
                        <a:t>契約構成・主要条件の確認、取りまとめ窓口、発注・契約方法の確認</a:t>
                      </a:r>
                    </a:p>
                  </a:txBody>
                  <a:tcPr anchor="ctr" marL="73152" marR="73152">
                    <a:solidFill>
                      <a:srgbClr val="FFFFFF"/>
                    </a:solidFill>
                  </a:tcPr>
                </a:tc>
                <a:tc>
                  <a:txBody>
                    <a:bodyPr/>
                    <a:lstStyle/>
                    <a:p>
                      <a:r>
                        <a:rPr sz="1100" b="0">
                          <a:solidFill>
                            <a:srgbClr val="1A1A1A"/>
                          </a:solidFill>
                          <a:latin typeface="Meiryo"/>
                          <a:ea typeface="Meiryo"/>
                        </a:rPr>
                        <a:t>両社</a:t>
                      </a:r>
                    </a:p>
                  </a:txBody>
                  <a:tcPr anchor="ctr" marL="73152" marR="73152">
                    <a:solidFill>
                      <a:srgbClr val="FFFFFF"/>
                    </a:solidFill>
                  </a:tcPr>
                </a:tc>
              </a:tr>
              <a:tr h="457200">
                <a:tc>
                  <a:txBody>
                    <a:bodyPr/>
                    <a:lstStyle/>
                    <a:p>
                      <a:r>
                        <a:rPr sz="1100" b="1">
                          <a:solidFill>
                            <a:srgbClr val="1A1A1A"/>
                          </a:solidFill>
                          <a:latin typeface="Meiryo"/>
                          <a:ea typeface="Meiryo"/>
                        </a:rPr>
                        <a:t>10月27〜28日</a:t>
                      </a:r>
                    </a:p>
                  </a:txBody>
                  <a:tcPr anchor="ctr" marL="73152" marR="73152">
                    <a:solidFill>
                      <a:srgbClr val="F2F4F6"/>
                    </a:solidFill>
                  </a:tcPr>
                </a:tc>
                <a:tc>
                  <a:txBody>
                    <a:bodyPr/>
                    <a:lstStyle/>
                    <a:p>
                      <a:r>
                        <a:rPr sz="1100" b="0">
                          <a:solidFill>
                            <a:srgbClr val="1A1A1A"/>
                          </a:solidFill>
                          <a:latin typeface="Meiryo"/>
                          <a:ea typeface="Meiryo"/>
                        </a:rPr>
                        <a:t>契約書ドラフト2通を電子契約の形式でご提示</a:t>
                      </a:r>
                    </a:p>
                  </a:txBody>
                  <a:tcPr anchor="ctr" marL="73152" marR="73152">
                    <a:solidFill>
                      <a:srgbClr val="F2F4F6"/>
                    </a:solidFill>
                  </a:tcPr>
                </a:tc>
                <a:tc>
                  <a:txBody>
                    <a:bodyPr/>
                    <a:lstStyle/>
                    <a:p>
                      <a:r>
                        <a:rPr sz="1100" b="0">
                          <a:solidFill>
                            <a:srgbClr val="1A1A1A"/>
                          </a:solidFill>
                          <a:latin typeface="Meiryo"/>
                          <a:ea typeface="Meiryo"/>
                        </a:rPr>
                        <a:t>当社</a:t>
                      </a:r>
                    </a:p>
                  </a:txBody>
                  <a:tcPr anchor="ctr" marL="73152" marR="73152">
                    <a:solidFill>
                      <a:srgbClr val="F2F4F6"/>
                    </a:solidFill>
                  </a:tcPr>
                </a:tc>
              </a:tr>
              <a:tr h="457200">
                <a:tc>
                  <a:txBody>
                    <a:bodyPr/>
                    <a:lstStyle/>
                    <a:p>
                      <a:r>
                        <a:rPr sz="1100" b="1">
                          <a:solidFill>
                            <a:srgbClr val="1A1A1A"/>
                          </a:solidFill>
                          <a:latin typeface="Meiryo"/>
                          <a:ea typeface="Meiryo"/>
                        </a:rPr>
                        <a:t>10月29〜30日</a:t>
                      </a:r>
                    </a:p>
                  </a:txBody>
                  <a:tcPr anchor="ctr" marL="73152" marR="73152">
                    <a:solidFill>
                      <a:srgbClr val="FFFFFF"/>
                    </a:solidFill>
                  </a:tcPr>
                </a:tc>
                <a:tc>
                  <a:txBody>
                    <a:bodyPr/>
                    <a:lstStyle/>
                    <a:p>
                      <a:r>
                        <a:rPr sz="1100" b="0">
                          <a:solidFill>
                            <a:srgbClr val="1A1A1A"/>
                          </a:solidFill>
                          <a:latin typeface="Meiryo"/>
                          <a:ea typeface="Meiryo"/>
                        </a:rPr>
                        <a:t>貴社でのご確認(法務・購買)、修正協議</a:t>
                      </a:r>
                    </a:p>
                  </a:txBody>
                  <a:tcPr anchor="ctr" marL="73152" marR="73152">
                    <a:solidFill>
                      <a:srgbClr val="FFFFFF"/>
                    </a:solidFill>
                  </a:tcPr>
                </a:tc>
                <a:tc>
                  <a:txBody>
                    <a:bodyPr/>
                    <a:lstStyle/>
                    <a:p>
                      <a:r>
                        <a:rPr sz="1100" b="0">
                          <a:solidFill>
                            <a:srgbClr val="1A1A1A"/>
                          </a:solidFill>
                          <a:latin typeface="Meiryo"/>
                          <a:ea typeface="Meiryo"/>
                        </a:rPr>
                        <a:t>貴社</a:t>
                      </a:r>
                    </a:p>
                  </a:txBody>
                  <a:tcPr anchor="ctr" marL="73152" marR="73152">
                    <a:solidFill>
                      <a:srgbClr val="FFFFFF"/>
                    </a:solidFill>
                  </a:tcPr>
                </a:tc>
              </a:tr>
              <a:tr h="457200">
                <a:tc>
                  <a:txBody>
                    <a:bodyPr/>
                    <a:lstStyle/>
                    <a:p>
                      <a:r>
                        <a:rPr sz="1100" b="1">
                          <a:solidFill>
                            <a:srgbClr val="1A1A1A"/>
                          </a:solidFill>
                          <a:latin typeface="Meiryo"/>
                          <a:ea typeface="Meiryo"/>
                        </a:rPr>
                        <a:t>10月31日</a:t>
                      </a:r>
                    </a:p>
                  </a:txBody>
                  <a:tcPr anchor="ctr" marL="73152" marR="73152">
                    <a:solidFill>
                      <a:srgbClr val="F2F4F6"/>
                    </a:solidFill>
                  </a:tcPr>
                </a:tc>
                <a:tc>
                  <a:txBody>
                    <a:bodyPr/>
                    <a:lstStyle/>
                    <a:p>
                      <a:r>
                        <a:rPr sz="1100" b="0">
                          <a:solidFill>
                            <a:srgbClr val="1A1A1A"/>
                          </a:solidFill>
                          <a:latin typeface="Meiryo"/>
                          <a:ea typeface="Meiryo"/>
                        </a:rPr>
                        <a:t>契約締結(電子契約)。IP使用料の請求書発行</a:t>
                      </a:r>
                    </a:p>
                  </a:txBody>
                  <a:tcPr anchor="ctr" marL="73152" marR="73152">
                    <a:solidFill>
                      <a:srgbClr val="F2F4F6"/>
                    </a:solidFill>
                  </a:tcPr>
                </a:tc>
                <a:tc>
                  <a:txBody>
                    <a:bodyPr/>
                    <a:lstStyle/>
                    <a:p>
                      <a:r>
                        <a:rPr sz="1100" b="0">
                          <a:solidFill>
                            <a:srgbClr val="1A1A1A"/>
                          </a:solidFill>
                          <a:latin typeface="Meiryo"/>
                          <a:ea typeface="Meiryo"/>
                        </a:rPr>
                        <a:t>両社</a:t>
                      </a:r>
                    </a:p>
                  </a:txBody>
                  <a:tcPr anchor="ctr" marL="73152" marR="73152">
                    <a:solidFill>
                      <a:srgbClr val="F2F4F6"/>
                    </a:solidFill>
                  </a:tcPr>
                </a:tc>
              </a:tr>
              <a:tr h="457200">
                <a:tc>
                  <a:txBody>
                    <a:bodyPr/>
                    <a:lstStyle/>
                    <a:p>
                      <a:r>
                        <a:rPr sz="1100" b="1">
                          <a:solidFill>
                            <a:srgbClr val="1A1A1A"/>
                          </a:solidFill>
                          <a:latin typeface="Meiryo"/>
                          <a:ea typeface="Meiryo"/>
                        </a:rPr>
                        <a:t>11月上旬</a:t>
                      </a:r>
                    </a:p>
                  </a:txBody>
                  <a:tcPr anchor="ctr" marL="73152" marR="73152">
                    <a:solidFill>
                      <a:srgbClr val="FFFFFF"/>
                    </a:solidFill>
                  </a:tcPr>
                </a:tc>
                <a:tc>
                  <a:txBody>
                    <a:bodyPr/>
                    <a:lstStyle/>
                    <a:p>
                      <a:r>
                        <a:rPr sz="1100" b="0">
                          <a:solidFill>
                            <a:srgbClr val="1A1A1A"/>
                          </a:solidFill>
                          <a:latin typeface="Meiryo"/>
                          <a:ea typeface="Meiryo"/>
                        </a:rPr>
                        <a:t>キービジュアル打ち合わせ、ノベルティ品目の仮申請、運営レクチャー日程の調整</a:t>
                      </a:r>
                    </a:p>
                  </a:txBody>
                  <a:tcPr anchor="ctr" marL="73152" marR="73152">
                    <a:solidFill>
                      <a:srgbClr val="FFFFFF"/>
                    </a:solidFill>
                  </a:tcPr>
                </a:tc>
                <a:tc>
                  <a:txBody>
                    <a:bodyPr/>
                    <a:lstStyle/>
                    <a:p>
                      <a:r>
                        <a:rPr sz="1100" b="0">
                          <a:solidFill>
                            <a:srgbClr val="1A1A1A"/>
                          </a:solidFill>
                          <a:latin typeface="Meiryo"/>
                          <a:ea typeface="Meiryo"/>
                        </a:rPr>
                        <a:t>両社</a:t>
                      </a:r>
                    </a:p>
                  </a:txBody>
                  <a:tcPr anchor="ctr" marL="73152" marR="73152">
                    <a:solidFill>
                      <a:srgbClr val="FFFFFF"/>
                    </a:solidFill>
                  </a:tcPr>
                </a:tc>
              </a:tr>
              <a:tr h="457200">
                <a:tc>
                  <a:txBody>
                    <a:bodyPr/>
                    <a:lstStyle/>
                    <a:p>
                      <a:r>
                        <a:rPr sz="1100" b="1">
                          <a:solidFill>
                            <a:srgbClr val="1A1A1A"/>
                          </a:solidFill>
                          <a:latin typeface="Meiryo"/>
                          <a:ea typeface="Meiryo"/>
                        </a:rPr>
                        <a:t>11月中</a:t>
                      </a:r>
                    </a:p>
                  </a:txBody>
                  <a:tcPr anchor="ctr" marL="73152" marR="73152">
                    <a:solidFill>
                      <a:srgbClr val="F2F4F6"/>
                    </a:solidFill>
                  </a:tcPr>
                </a:tc>
                <a:tc>
                  <a:txBody>
                    <a:bodyPr/>
                    <a:lstStyle/>
                    <a:p>
                      <a:r>
                        <a:rPr sz="1100" b="0">
                          <a:solidFill>
                            <a:srgbClr val="1A1A1A"/>
                          </a:solidFill>
                          <a:latin typeface="Meiryo"/>
                          <a:ea typeface="Meiryo"/>
                        </a:rPr>
                        <a:t>キービジュアル確定、仮申請の回答</a:t>
                      </a:r>
                    </a:p>
                  </a:txBody>
                  <a:tcPr anchor="ctr" marL="73152" marR="73152">
                    <a:solidFill>
                      <a:srgbClr val="F2F4F6"/>
                    </a:solidFill>
                  </a:tcPr>
                </a:tc>
                <a:tc>
                  <a:txBody>
                    <a:bodyPr/>
                    <a:lstStyle/>
                    <a:p>
                      <a:r>
                        <a:rPr sz="1100" b="0">
                          <a:solidFill>
                            <a:srgbClr val="1A1A1A"/>
                          </a:solidFill>
                          <a:latin typeface="Meiryo"/>
                          <a:ea typeface="Meiryo"/>
                        </a:rPr>
                        <a:t>両社</a:t>
                      </a:r>
                    </a:p>
                  </a:txBody>
                  <a:tcPr anchor="ctr" marL="73152" marR="73152">
                    <a:solidFill>
                      <a:srgbClr val="F2F4F6"/>
                    </a:solidFill>
                  </a:tcPr>
                </a:tc>
              </a:tr>
              <a:tr h="457200">
                <a:tc>
                  <a:txBody>
                    <a:bodyPr/>
                    <a:lstStyle/>
                    <a:p>
                      <a:r>
                        <a:rPr sz="1100" b="1">
                          <a:solidFill>
                            <a:srgbClr val="1A1A1A"/>
                          </a:solidFill>
                          <a:latin typeface="Meiryo"/>
                          <a:ea typeface="Meiryo"/>
                        </a:rPr>
                        <a:t>12月</a:t>
                      </a:r>
                    </a:p>
                  </a:txBody>
                  <a:tcPr anchor="ctr" marL="73152" marR="73152">
                    <a:solidFill>
                      <a:srgbClr val="FFFFFF"/>
                    </a:solidFill>
                  </a:tcPr>
                </a:tc>
                <a:tc>
                  <a:txBody>
                    <a:bodyPr/>
                    <a:lstStyle/>
                    <a:p>
                      <a:r>
                        <a:rPr sz="1100" b="0">
                          <a:solidFill>
                            <a:srgbClr val="1A1A1A"/>
                          </a:solidFill>
                          <a:latin typeface="Meiryo"/>
                          <a:ea typeface="Meiryo"/>
                        </a:rPr>
                        <a:t>デザイン監修完了、量産開始。1月開催分の会場確定(12月1日)、運営レクチャー</a:t>
                      </a:r>
                    </a:p>
                  </a:txBody>
                  <a:tcPr anchor="ctr" marL="73152" marR="73152">
                    <a:solidFill>
                      <a:srgbClr val="FFFFFF"/>
                    </a:solidFill>
                  </a:tcPr>
                </a:tc>
                <a:tc>
                  <a:txBody>
                    <a:bodyPr/>
                    <a:lstStyle/>
                    <a:p>
                      <a:r>
                        <a:rPr sz="1100" b="0">
                          <a:solidFill>
                            <a:srgbClr val="1A1A1A"/>
                          </a:solidFill>
                          <a:latin typeface="Meiryo"/>
                          <a:ea typeface="Meiryo"/>
                        </a:rPr>
                        <a:t>両社</a:t>
                      </a:r>
                    </a:p>
                  </a:txBody>
                  <a:tcPr anchor="ctr" marL="73152" marR="73152">
                    <a:solidFill>
                      <a:srgbClr val="FFFFFF"/>
                    </a:solidFill>
                  </a:tcPr>
                </a:tc>
              </a:tr>
              <a:tr h="457200">
                <a:tc>
                  <a:txBody>
                    <a:bodyPr/>
                    <a:lstStyle/>
                    <a:p>
                      <a:r>
                        <a:rPr sz="1100" b="1">
                          <a:solidFill>
                            <a:srgbClr val="1A1A1A"/>
                          </a:solidFill>
                          <a:latin typeface="Meiryo"/>
                          <a:ea typeface="Meiryo"/>
                        </a:rPr>
                        <a:t>2027年1月</a:t>
                      </a:r>
                    </a:p>
                  </a:txBody>
                  <a:tcPr anchor="ctr" marL="73152" marR="73152">
                    <a:solidFill>
                      <a:srgbClr val="F2F4F6"/>
                    </a:solidFill>
                  </a:tcPr>
                </a:tc>
                <a:tc>
                  <a:txBody>
                    <a:bodyPr/>
                    <a:lstStyle/>
                    <a:p>
                      <a:r>
                        <a:rPr sz="1100" b="0">
                          <a:solidFill>
                            <a:srgbClr val="1A1A1A"/>
                          </a:solidFill>
                          <a:latin typeface="Meiryo"/>
                          <a:ea typeface="Meiryo"/>
                        </a:rPr>
                        <a:t>開始(基準15ライン)</a:t>
                      </a:r>
                    </a:p>
                  </a:txBody>
                  <a:tcPr anchor="ctr" marL="73152" marR="73152">
                    <a:solidFill>
                      <a:srgbClr val="F2F4F6"/>
                    </a:solidFill>
                  </a:tcPr>
                </a:tc>
                <a:tc>
                  <a:txBody>
                    <a:bodyPr/>
                    <a:lstStyle/>
                    <a:p>
                      <a:r>
                        <a:rPr sz="1100" b="0">
                          <a:solidFill>
                            <a:srgbClr val="1A1A1A"/>
                          </a:solidFill>
                          <a:latin typeface="Meiryo"/>
                          <a:ea typeface="Meiryo"/>
                        </a:rPr>
                        <a:t>両社</a:t>
                      </a:r>
                    </a:p>
                  </a:txBody>
                  <a:tcPr anchor="ctr" marL="73152" marR="73152">
                    <a:solidFill>
                      <a:srgbClr val="F2F4F6"/>
                    </a:solidFill>
                  </a:tcPr>
                </a:tc>
              </a:tr>
            </a:tbl>
          </a:graphicData>
        </a:graphic>
      </p:graphicFrame>
      <p:sp>
        <p:nvSpPr>
          <p:cNvPr id="9" name="Rounded Rectangle 8"/>
          <p:cNvSpPr/>
          <p:nvPr/>
        </p:nvSpPr>
        <p:spPr>
          <a:xfrm>
            <a:off x="640080" y="5577840"/>
            <a:ext cx="10881360" cy="731520"/>
          </a:xfrm>
          <a:prstGeom prst="roundRect">
            <a:avLst>
              <a:gd name="adj" fmla="val 6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715000"/>
            <a:ext cx="10424160" cy="457200"/>
          </a:xfrm>
          <a:prstGeom prst="rect">
            <a:avLst/>
          </a:prstGeom>
          <a:noFill/>
        </p:spPr>
        <p:txBody>
          <a:bodyPr wrap="square" anchor="t" lIns="0" rIns="0" tIns="0" bIns="0">
            <a:spAutoFit/>
          </a:bodyPr>
          <a:lstStyle/>
          <a:p>
            <a:pPr algn="l">
              <a:spcAft>
                <a:spcPts val="400"/>
              </a:spcAft>
            </a:pPr>
            <a:r>
              <a:rPr sz="1250" b="1">
                <a:solidFill>
                  <a:srgbClr val="C00000"/>
                </a:solidFill>
                <a:latin typeface="Meiryo"/>
                <a:ea typeface="Meiryo"/>
              </a:rPr>
              <a:t>ご確認したいこと</a:t>
            </a:r>
          </a:p>
          <a:p>
            <a:pPr algn="l">
              <a:spcAft>
                <a:spcPts val="400"/>
              </a:spcAft>
            </a:pPr>
            <a:r>
              <a:rPr sz="1100" b="0">
                <a:solidFill>
                  <a:srgbClr val="1A1A1A"/>
                </a:solidFill>
                <a:latin typeface="Meiryo"/>
                <a:ea typeface="Meiryo"/>
              </a:rPr>
              <a:t>貴社の購買規程で最低保証分の期間一括発注と四半期前払いが可能か。電子契約サービスの指定の有無。ドラフトのご確認担当者とご確認に必要な日数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