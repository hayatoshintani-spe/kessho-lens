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年間ご契約</a:t>
            </a:r>
          </a:p>
          <a:p>
            <a:pPr algn="ctr">
              <a:spcAft>
                <a:spcPts val="1000"/>
              </a:spcAft>
            </a:pPr>
            <a:r>
              <a:rPr sz="3000" b="1">
                <a:solidFill>
                  <a:srgbClr val="1A1A1A"/>
                </a:solidFill>
                <a:latin typeface="Meiryo"/>
                <a:ea typeface="Meiryo"/>
              </a:rPr>
              <a:t>お見積りのご提示</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2026年7月16日付「貴社コンテンツIPご活用について」の</a:t>
            </a:r>
          </a:p>
          <a:p>
            <a:pPr algn="ctr">
              <a:spcAft>
                <a:spcPts val="400"/>
              </a:spcAft>
            </a:pPr>
            <a:r>
              <a:rPr sz="1350" b="0">
                <a:solidFill>
                  <a:srgbClr val="1A1A1A"/>
                </a:solidFill>
                <a:latin typeface="Meiryo"/>
                <a:ea typeface="Meiryo"/>
              </a:rPr>
              <a:t>ご依頼事項・ご確認ポイントへのご回答</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キット800式・ノベルティ約2.1万セット(FY25ご実績)に基づく試算です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約2.1万セット/年(FY25ご実績:約569万個)</a:t>
                      </a:r>
                    </a:p>
                  </a:txBody>
                  <a:tcPr anchor="ctr" marL="73152" marR="73152">
                    <a:solidFill>
                      <a:srgbClr val="F2F4F6"/>
                    </a:solidFill>
                  </a:tcPr>
                </a:tc>
                <a:tc>
                  <a:txBody>
                    <a:bodyPr/>
                    <a:lstStyle/>
                    <a:p>
                      <a:r>
                        <a:rPr sz="1100" b="0">
                          <a:solidFill>
                            <a:srgbClr val="1A1A1A"/>
                          </a:solidFill>
                          <a:latin typeface="Meiryo"/>
                          <a:ea typeface="Meiryo"/>
                        </a:rPr>
                        <a:t>約8,800円/セット(実績)</a:t>
                      </a:r>
                    </a:p>
                  </a:txBody>
                  <a:tcPr anchor="ctr" marL="73152" marR="73152">
                    <a:solidFill>
                      <a:srgbClr val="F2F4F6"/>
                    </a:solidFill>
                  </a:tcPr>
                </a:tc>
                <a:tc>
                  <a:txBody>
                    <a:bodyPr/>
                    <a:lstStyle/>
                    <a:p>
                      <a:r>
                        <a:rPr sz="1100" b="0">
                          <a:solidFill>
                            <a:srgbClr val="1A1A1A"/>
                          </a:solidFill>
                          <a:latin typeface="Meiryo"/>
                          <a:ea typeface="Meiryo"/>
                        </a:rPr>
                        <a:t>約1億8,500万円</a:t>
                      </a:r>
                    </a:p>
                  </a:txBody>
                  <a:tcPr anchor="ctr" marL="73152" marR="73152">
                    <a:solidFill>
                      <a:srgbClr val="F2F4F6"/>
                    </a:solidFill>
                  </a:tcPr>
                </a:tc>
                <a:tc>
                  <a:txBody>
                    <a:bodyPr/>
                    <a:lstStyle/>
                    <a:p>
                      <a:r>
                        <a:rPr sz="1100" b="0">
                          <a:solidFill>
                            <a:srgbClr val="1A1A1A"/>
                          </a:solidFill>
                          <a:latin typeface="Meiryo"/>
                          <a:ea typeface="Meiryo"/>
                        </a:rPr>
                        <a:t>約3,700万円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約3.2億円</a:t>
                      </a:r>
                    </a:p>
                  </a:txBody>
                  <a:tcPr anchor="ctr" marL="73152" marR="73152">
                    <a:solidFill>
                      <a:srgbClr val="F2F4F6"/>
                    </a:solidFill>
                  </a:tcPr>
                </a:tc>
                <a:tc>
                  <a:txBody>
                    <a:bodyPr/>
                    <a:lstStyle/>
                    <a:p>
                      <a:r>
                        <a:rPr sz="1100" b="1">
                          <a:solidFill>
                            <a:srgbClr val="C00000"/>
                          </a:solidFill>
                          <a:latin typeface="Meiryo"/>
                          <a:ea typeface="Meiryo"/>
                        </a:rPr>
                        <a:t>約6,480万円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※キットの数量・単価は貴社資料、ノベルティはFY25ご実績(年約2.1万セット・平均約8,800円/セット)に基づく参考値です。実際の作成計画に応じて変動し、お支払いは作成実績ベースの従量となります。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※キット数は貴社ご提示の800式、ノベルティはFY25ご実績(作成費約1.85億円)を反映。店頭訴求ツールは作成数実績(年間約23.5万部)を受領済み・作成費実額のご共有後に精緻化します。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キット800式・ノベルティ約2.1万セット(実績)・訴求ツール</a:t>
                      </a:r>
                    </a:p>
                  </a:txBody>
                  <a:tcPr anchor="ctr" marL="73152" marR="73152">
                    <a:solidFill>
                      <a:srgbClr val="F2F4F6"/>
                    </a:solidFill>
                  </a:tcPr>
                </a:tc>
                <a:tc>
                  <a:txBody>
                    <a:bodyPr/>
                    <a:lstStyle/>
                    <a:p>
                      <a:r>
                        <a:rPr sz="1200" b="0">
                          <a:solidFill>
                            <a:srgbClr val="1A1A1A"/>
                          </a:solidFill>
                          <a:latin typeface="Meiryo"/>
                          <a:ea typeface="Meiryo"/>
                        </a:rPr>
                        <a:t>約6,480万円(従量)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約2.05億円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本お見積りのポイントと次アクション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ご予算・運用フローともに現行IP様の座組と同一の形でご導入いただけます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本お見積りのポイント</a:t>
            </a:r>
          </a:p>
          <a:p>
            <a:pPr algn="l">
              <a:spcAft>
                <a:spcPts val="700"/>
              </a:spcAft>
            </a:pPr>
            <a:r>
              <a:rPr sz="1300" b="0">
                <a:solidFill>
                  <a:srgbClr val="1A1A1A"/>
                </a:solidFill>
                <a:latin typeface="Meiryo"/>
                <a:ea typeface="Meiryo"/>
              </a:rPr>
              <a:t>・年間IP使用料2,000万円+従量型(着ぐるみ20万円/開催・ロイヤリティ20%)のシンプルな3階建て構造</a:t>
            </a:r>
          </a:p>
          <a:p>
            <a:pPr algn="l">
              <a:spcAft>
                <a:spcPts val="700"/>
              </a:spcAft>
            </a:pPr>
            <a:r>
              <a:rPr sz="1300" b="0">
                <a:solidFill>
                  <a:srgbClr val="1A1A1A"/>
                </a:solidFill>
                <a:latin typeface="Meiryo"/>
                <a:ea typeface="Meiryo"/>
              </a:rPr>
              <a:t>・ポケモン様の現行運用と同一の枠組み(形式・体制)のため、貴社・代理店様の運用フロー変更が不要</a:t>
            </a:r>
          </a:p>
          <a:p>
            <a:pPr algn="l">
              <a:spcAft>
                <a:spcPts val="700"/>
              </a:spcAft>
            </a:pPr>
            <a:r>
              <a:rPr sz="1300" b="0">
                <a:solidFill>
                  <a:srgbClr val="1A1A1A"/>
                </a:solidFill>
                <a:latin typeface="Meiryo"/>
                <a:ea typeface="Meiryo"/>
              </a:rPr>
              <a:t>・60周年イヤーのウルトラマンで「会いに行ける」店頭集客コンテンツを、固定費を抑えて導入可能</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2026年7月〜8月</a:t>
                      </a:r>
                    </a:p>
                  </a:txBody>
                  <a:tcPr anchor="ctr" marL="73152" marR="73152">
                    <a:solidFill>
                      <a:srgbClr val="FFFFFF"/>
                    </a:solidFill>
                  </a:tcPr>
                </a:tc>
                <a:tc>
                  <a:txBody>
                    <a:bodyPr/>
                    <a:lstStyle/>
                    <a:p>
                      <a:r>
                        <a:rPr sz="1250" b="0">
                          <a:solidFill>
                            <a:srgbClr val="1A1A1A"/>
                          </a:solidFill>
                          <a:latin typeface="Meiryo"/>
                          <a:ea typeface="Meiryo"/>
                        </a:rPr>
                        <a:t>本お見積りのご確認・条件協議(契約書ドラフトのご提示)</a:t>
                      </a:r>
                    </a:p>
                  </a:txBody>
                  <a:tcPr anchor="ctr" marL="73152" marR="73152">
                    <a:solidFill>
                      <a:srgbClr val="FFFFFF"/>
                    </a:solidFill>
                  </a:tcPr>
                </a:tc>
              </a:tr>
              <a:tr h="457200">
                <a:tc>
                  <a:txBody>
                    <a:bodyPr/>
                    <a:lstStyle/>
                    <a:p>
                      <a:r>
                        <a:rPr sz="1250" b="0">
                          <a:solidFill>
                            <a:srgbClr val="1A1A1A"/>
                          </a:solidFill>
                          <a:latin typeface="Meiryo"/>
                          <a:ea typeface="Meiryo"/>
                        </a:rPr>
                        <a:t>2026年9月〜12月</a:t>
                      </a:r>
                    </a:p>
                  </a:txBody>
                  <a:tcPr anchor="ctr" marL="73152" marR="73152">
                    <a:solidFill>
                      <a:srgbClr val="F2F4F6"/>
                    </a:solidFill>
                  </a:tcPr>
                </a:tc>
                <a:tc>
                  <a:txBody>
                    <a:bodyPr/>
                    <a:lstStyle/>
                    <a:p>
                      <a:r>
                        <a:rPr sz="1250" b="0">
                          <a:solidFill>
                            <a:srgbClr val="1A1A1A"/>
                          </a:solidFill>
                          <a:latin typeface="Meiryo"/>
                          <a:ea typeface="Meiryo"/>
                        </a:rPr>
                        <a:t>キット・訴求ツールのデザイン監修、着ぐるみ供給体制の整備、FY26中テストの個別協議</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年間契約開始・全国展開スタート(FY27)</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