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398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0" y="11887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5A626B"/>
                </a:solidFill>
                <a:latin typeface="Meiryo"/>
                <a:ea typeface="Meiryo"/>
              </a:rPr>
              <a:t>ソフトバンク株式会社 御中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103120"/>
            <a:ext cx="7680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</a:rPr>
              <a:t>ウルトラマンIP 年間ご契約</a:t>
            </a:r>
          </a:p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</a:rPr>
              <a:t>お見積りのご提示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8620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Meiryo"/>
                <a:ea typeface="Meiryo"/>
              </a:rPr>
              <a:t>2026年7月16日付「貴社コンテンツIPご活用について」の</a:t>
            </a:r>
          </a:p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Meiryo"/>
                <a:ea typeface="Meiryo"/>
              </a:rPr>
              <a:t>ご依頼事項・ご確認ポイントへのご回答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21208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F338C"/>
                </a:solidFill>
                <a:latin typeface="Meiryo"/>
                <a:ea typeface="Meiryo"/>
              </a:rPr>
              <a:t>2026年7月</a:t>
            </a:r>
          </a:p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F338C"/>
                </a:solidFill>
                <a:latin typeface="Meiryo"/>
                <a:ea typeface="Meiryo"/>
              </a:rPr>
              <a:t>(株)円谷プロダクション</a:t>
            </a:r>
          </a:p>
          <a:p>
            <a:pPr algn="ctr">
              <a:spcAft>
                <a:spcPts val="300"/>
              </a:spcAft>
            </a:pPr>
            <a:r>
              <a:rPr sz="1050" b="0">
                <a:solidFill>
                  <a:srgbClr val="8E949B"/>
                </a:solidFill>
                <a:latin typeface="Meiryo"/>
                <a:ea typeface="Meiryo"/>
              </a:rPr>
              <a:t>金額はすべて税別・概算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4922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ご依頼事項の整理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貴社資料(2026/7/16)のご依頼・ご確認事項を以下の通り理解しております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2064"/>
                <a:gridCol w="5677231"/>
                <a:gridCol w="2602064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区分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貴社想定規模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① 着ぐるみイベント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店頭写真撮影会(グリーティング型)。イベントキットと併用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600開催/年(全国)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② 通常イベントキット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展示キット+ノベルティ(作成主体は貴社)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20,000開催/年(全国)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③ イベント外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店頭訴求ツールへのIP活用(ポスター・POP等)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各種ツールで展開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3383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Meiryo"/>
                <a:ea typeface="Meiryo"/>
              </a:rPr>
              <a:t>ご依頼内容:</a:t>
            </a:r>
            <a:r>
              <a:rPr sz="1400" b="1">
                <a:solidFill>
                  <a:srgbClr val="1A1A1A"/>
                </a:solidFill>
                <a:latin typeface="Meiryo"/>
                <a:ea typeface="Meiryo"/>
              </a:rPr>
              <a:t>年間費用および内訳のご提示(IP利用/契約料、着ぐるみ費用、作成許諾費用〔ロイヤリティ〕)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60520"/>
            <a:ext cx="10881360" cy="16002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あわせてご回答する確認ポイント(見積もり以外)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Meiryo"/>
                <a:ea typeface="Meiryo"/>
              </a:rPr>
              <a:t>1. FY26中のテスト実施可否(単体契約 or 短期契約 等)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Meiryo"/>
                <a:ea typeface="Meiryo"/>
              </a:rPr>
              <a:t>2. ノベルティ作成時の費用(ロイヤリティ)発生有無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Meiryo"/>
                <a:ea typeface="Meiryo"/>
              </a:rPr>
              <a:t>3. イベント実施会場に関する制限事項有無(更衣室の準備など)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年間ご契約費用の全体構造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固定費は年間IP使用料のみ。着ぐるみ費用・ロイヤリティは実施数・作成数に連動する従量型です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28216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Meiryo"/>
                <a:ea typeface="Meiryo"/>
              </a:rPr>
              <a:t>① 年間IP使用料(固定)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26B"/>
                </a:solidFill>
                <a:latin typeface="Meiryo"/>
                <a:ea typeface="Meiryo"/>
              </a:rPr>
              <a:t>イベント・店頭訴求ツール・Web/SNSでのIP利用と監修対応を包括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00200"/>
            <a:ext cx="42976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2200" b="1">
                <a:solidFill>
                  <a:srgbClr val="1A1A1A"/>
                </a:solidFill>
                <a:latin typeface="Meiryo"/>
                <a:ea typeface="Meiryo"/>
              </a:rPr>
              <a:t>1,650万円/年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99816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Meiryo"/>
                <a:ea typeface="Meiryo"/>
              </a:rPr>
              <a:t>② 着ぐるみイベント費用(従量)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26B"/>
                </a:solidFill>
                <a:latin typeface="Meiryo"/>
                <a:ea typeface="Meiryo"/>
              </a:rPr>
              <a:t>撮影会・グリーティング型。実施数に応じたお支払い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971800"/>
            <a:ext cx="42976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2200" b="1">
                <a:solidFill>
                  <a:srgbClr val="1A1A1A"/>
                </a:solidFill>
                <a:latin typeface="Meiryo"/>
                <a:ea typeface="Meiryo"/>
              </a:rPr>
              <a:t>15万円/開催(土日2日間)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Meiryo"/>
                <a:ea typeface="Meiryo"/>
              </a:rPr>
              <a:t>③ 作成許諾費用(従量)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26B"/>
                </a:solidFill>
                <a:latin typeface="Meiryo"/>
                <a:ea typeface="Meiryo"/>
              </a:rPr>
              <a:t>イベントキット・ノベルティ・訴求ツール等のロイヤリティ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343400"/>
            <a:ext cx="42976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2200" b="1">
                <a:solidFill>
                  <a:srgbClr val="1A1A1A"/>
                </a:solidFill>
                <a:latin typeface="Meiryo"/>
                <a:ea typeface="Meiryo"/>
              </a:rPr>
              <a:t>作成費用の10%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A626B"/>
                </a:solidFill>
                <a:latin typeface="Meiryo"/>
                <a:ea typeface="Meiryo"/>
              </a:rPr>
              <a:t>※ポケモン様の現行運用と同一の費用構造(年間契約+着ぐるみ都度+ロイヤリティ)に揃えており、貴社の運用フローを変えずに導入いただけます。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①年間IP使用料:1,650万円(税別)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貴社のご予算水準に合わせた年間包括のご提供条件です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5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6950"/>
                <a:gridCol w="7544409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条件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契約期間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年度単位(12か月)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使用業種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携帯通信、ブロードバンド、でんき(コンシューマ向けプロモーション)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使用媒体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イベント(着ぐるみ・キット)、店頭訴求ツール、LP/Web、SNS、メール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含まれるもの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上記範囲でのIP利用許諾、作成物の監修対応、着ぐるみイベント年600開催の開催権(稼働実費は②)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通常キットイベント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年20,000開催規模での展開可(キット作成費は貴社、ロイヤリティは③)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ステージショー(オプション)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年10回程度まで対応可。1回30万円〜(内容により個別見積)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範囲外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TVCM、交通広告、大型OOH、販売用グッズ、法人向け、グループ他社サービス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A626B"/>
                </a:solidFill>
                <a:latin typeface="Meiryo"/>
                <a:ea typeface="Meiryo"/>
              </a:rPr>
              <a:t>※60周年イヤーの記念施策・キャンペーン素材のご提供など、初年度限定の特典もあわせてご相談させてください。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②着ぐるみイベント費用(撮影会・グリーティング型)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ポケモン様と同一の運用形式・同水準の費用に設定。貴社店舗・量販店・商業施設での週末稼働に対応します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829056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形式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写真撮影会・グリーティング(1回30分×1日最大5回)。イベントキットと併用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費用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15万円/開催(土日2日間の概算)。1日のみの場合は8万円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内訳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着ぐるみ費用+専属スタッフ人件費(ディレクター+アクターの2名体制)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交通・宿泊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首都圏は費用内。首都圏外は交通・宿泊実費を別途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体制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円谷プロ指定アクター制(貴社・代理店社員による着用は不可)。全国600開催に対応する供給体制を整備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会場条件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外部から見えない更衣室(控室)のご用意/他キャラクターとの同時共存は不可/非公式商品の展示・装飾利用は不可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1206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参考:</a:t>
            </a:r>
            <a:r>
              <a:rPr sz="1250" b="1">
                <a:solidFill>
                  <a:srgbClr val="1A1A1A"/>
                </a:solidFill>
                <a:latin typeface="Meiryo"/>
                <a:ea typeface="Meiryo"/>
              </a:rPr>
              <a:t>年600開催(貴社想定)の場合、着ぐるみ費用は年間約9,000万円(15万円×600開催、実施数に連動)。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5A626B"/>
                </a:solidFill>
                <a:latin typeface="Meiryo"/>
                <a:ea typeface="Meiryo"/>
              </a:rPr>
              <a:t>開催数が変動した場合も費用は実施分のみ。固定のコミットメントはございません。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③作成許諾費用:作成費用の10%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イベントキット・ノベルティ・店頭訴求ツールの作成主体は貴社。作成費用(税別)の10%をロイヤリティとしてお支払いいただきます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6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829056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料率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作成費用(税別)の10%(ポケモン様と同率)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対象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イベントキット(ルーレット・POP・パネル等)、ノベルティ、店頭訴求ツール(ポスター・POP・什器シート等)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上限なし。数量に応じたロイヤリティのお支払いのみ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監修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作成物ごとに事前監修(デザインデータ確認)+完成サンプルのご提出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素材提供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キービジュアル・キャラクター素材は当社より提供(既存素材は使用料内。新規描き起こしは個別見積)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お支払い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請求書発行月の翌月末までにお振込(作成実績ベース)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0292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ご確認ポイント2への回答:</a:t>
            </a:r>
            <a:r>
              <a:rPr sz="1250" b="1">
                <a:solidFill>
                  <a:srgbClr val="1A1A1A"/>
                </a:solidFill>
                <a:latin typeface="Meiryo"/>
                <a:ea typeface="Meiryo"/>
              </a:rPr>
              <a:t>ノベルティ作成時のロイヤリティは発生します(作成費用の10%)。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年間費用の概算シミュレーション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貴社想定の開催数(着ぐるみ600開催/キット20,000開催)をそのまま当てはめた場合の年間概算です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08760"/>
          <a:ext cx="1088135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630"/>
                <a:gridCol w="2258395"/>
                <a:gridCol w="2669012"/>
                <a:gridCol w="2874321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費用項目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単価・料率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貴社想定規模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年間概算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① 年間IP使用料(固定)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1,650万円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② 着ぐるみイベント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15万円/開催(土日)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600開催/年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約9,000万円(従量)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  ステージショー(任意)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30万円〜/回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年10回程度まで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〜約300万円(任意)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③ 作成許諾ロイヤリティ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作成費用の10%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キット・ノベルティ・訴求ツール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作成費用に応じて(従量)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206240"/>
            <a:ext cx="10881360" cy="1051560"/>
          </a:xfrm>
          <a:prstGeom prst="rect">
            <a:avLst/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7083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Meiryo"/>
                <a:ea typeface="Meiryo"/>
              </a:rPr>
              <a:t>固定でお支払いいただくのは①1,650万円のみ。②③は実施・作成した分だけの従量型のため、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Meiryo"/>
                <a:ea typeface="Meiryo"/>
              </a:rPr>
              <a:t>展開規模を貴社側でコントロールしながらご活用いただけます。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※金額はすべて税別・概算です。②は実施数、③は作成実績により変動します。訴求ツール作成のロイヤリティはイベント作成物と同水準(10%)です。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ご確認ポイントへのご回答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貴社資料の確認事項3点への回答です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08760"/>
          <a:ext cx="1088135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252"/>
                <a:gridCol w="3589727"/>
                <a:gridCol w="6506380"/>
              </a:tblGrid>
              <a:tr h="777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No.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ご確認内容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ご回答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FY26中のテスト実施可否(単体契約 or 短期契約)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短期・単体契約での対応は可能です。ただし当社の既存ライセンス条件との調整が必要なため、FY26中の実施は形態・会場・時期を個別協議とさせてください。本格開始は2027年4月(FY27期首)を推奨します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ノベルティ作成時の費用(ロイヤリティ)発生有無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発生します。作成費用(税別)の10%をロイヤリティとしてお支払いいただきます(作成数の上限なし)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イベント実施会場に関する制限事項有無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①外部から見えない更衣室(控室)のご用意 ②他キャラクターとの同時共存は不可 ③非公式商品の店頭ツール・装飾利用は不可。詳細は運用ガイドラインをご提示します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4348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A626B"/>
                </a:solidFill>
                <a:latin typeface="Meiryo"/>
                <a:ea typeface="Meiryo"/>
              </a:rPr>
              <a:t>※着ぐるみの稼働ルール(1回30分×1日最大5回、専属スタッフ2名体制)は、ポケモン様の現行運用と同一の水準で設計しています。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本お見積りのポイントと次アクション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ご予算・運用フローともに現行IP様の座組と同一の形でご導入いただけます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0881360" cy="210312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  <a:latin typeface="Meiryo"/>
                <a:ea typeface="Meiryo"/>
              </a:rPr>
              <a:t>本お見積りのポイント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Meiryo"/>
                <a:ea typeface="Meiryo"/>
              </a:rPr>
              <a:t>・年間IP使用料1,650万円+従量型(着ぐるみ15万円/開催・ロイヤリティ10%)のシンプルな3階建て構造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Meiryo"/>
                <a:ea typeface="Meiryo"/>
              </a:rPr>
              <a:t>・ポケモン様の現行運用(形式・体制・料率)と同一の枠組みのため、貴社・代理店様の運用フロー変更が不要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Meiryo"/>
                <a:ea typeface="Meiryo"/>
              </a:rPr>
              <a:t>・60周年イヤーのウルトラマンで「会いに行ける」店頭集客コンテンツを、固定費を抑えて導入可能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931920"/>
          <a:ext cx="1088135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3515"/>
                <a:gridCol w="8017844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時期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アクション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2026年7月〜8月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本お見積りのご確認・条件協議(契約書ドラフトのご提示)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2026年9月〜12月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キット・訴求ツールのデザイン監修、着ぐるみ供給体制の整備、FY26中テストの個別協議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2027年4月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年間契約開始・全国展開スタート(FY27)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