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3989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0" y="11430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5A626B"/>
                </a:solidFill>
                <a:latin typeface="Meiryo"/>
                <a:ea typeface="Meiryo"/>
              </a:rPr>
              <a:t>ソフトバンク株式会社 御中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57400"/>
            <a:ext cx="7680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1A1A1A"/>
                </a:solidFill>
                <a:latin typeface="Meiryo"/>
                <a:ea typeface="Meiryo"/>
              </a:rPr>
              <a:t>ウルトラソフトバンクフェス</a:t>
            </a:r>
          </a:p>
          <a:p>
            <a:pPr algn="ctr">
              <a:spcAft>
                <a:spcPts val="1000"/>
              </a:spcAft>
            </a:pPr>
            <a:r>
              <a:rPr sz="2600" b="1">
                <a:solidFill>
                  <a:srgbClr val="1A1A1A"/>
                </a:solidFill>
                <a:latin typeface="Meiryo"/>
                <a:ea typeface="Meiryo"/>
              </a:rPr>
              <a:t>お見積り(最低開催数保証プラン)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384048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2027年1月〜2029年3月(2年3ヶ月)・基準15ライン</a:t>
            </a:r>
          </a:p>
          <a:p>
            <a:pPr algn="ctr">
              <a:spcAft>
                <a:spcPts val="400"/>
              </a:spcAft>
            </a:pPr>
            <a:r>
              <a:rPr sz="1350" b="0">
                <a:solidFill>
                  <a:srgbClr val="1A1A1A"/>
                </a:solidFill>
                <a:latin typeface="Meiryo"/>
                <a:ea typeface="Meiryo"/>
              </a:rPr>
              <a:t>ソフトバンク様特別プランによる概算お見積り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212080"/>
            <a:ext cx="7680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2026年10月</a:t>
            </a:r>
          </a:p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F338C"/>
                </a:solidFill>
                <a:latin typeface="Meiryo"/>
                <a:ea typeface="Meiryo"/>
              </a:rPr>
              <a:t>(株)円谷プロダクション</a:t>
            </a:r>
          </a:p>
          <a:p>
            <a:pPr algn="ctr">
              <a:spcAft>
                <a:spcPts val="300"/>
              </a:spcAft>
            </a:pPr>
            <a:r>
              <a:rPr sz="1050" b="0">
                <a:solidFill>
                  <a:srgbClr val="8E949B"/>
                </a:solidFill>
                <a:latin typeface="Meiryo"/>
                <a:ea typeface="Meiryo"/>
              </a:rPr>
              <a:t>金額はすべて税別・概算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64922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お見積り総括:27ヶ月 合計 3.98億円(税別)+従量精算分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固定分(最低開催数保証と年間IP使用料)と、従量分(増枠・諸経費・許諾料・実費)に分けて記載しています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68040"/>
                <a:gridCol w="4145280"/>
                <a:gridCol w="1813559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区分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費目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単価・条件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27ヶ月合計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固定(最低保証)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キャラクターイベント稼働費(最低開催数保証)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10万円/日 × 基準15ライン × 235日 = 3,525現場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3.52億円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固定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IP使用料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2,000万円/年×27ヶ月分。契約時に一括前払い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4,500万円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固定分 小計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3.98億円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余裕月の増枠分(最大20ライン)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10万円/日 × 増枠現場数(最大+470現場)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最大 +4,700万円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現場諸経費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2万円/日 × 実施現場数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基準で 7,050万円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作成許諾ロイヤリティ(最低保証付き)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作成費用の20%(製造数量ベースで契約年度ごとに最低保証を設定)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次頁参照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従量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3連休等の3日目/フル運営オプション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+10万円/日/+22万円/日(会場単位)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実施分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実費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交通運搬費・宿泊費・スーツ送料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全国基準料金表により会場確定時に算定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実費精算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 最低保証分は未実施の場合も申し受けます。増枠分・諸経費・許諾料・実費は実施・製造の実績に基づき精算します。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期別の最低保証額と精算スケジュール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最低保証は3つの精算期間に区切り、各期末に実績との差額(未達分・増枠分)を精算します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645"/>
                <a:gridCol w="1020127"/>
                <a:gridCol w="1360170"/>
                <a:gridCol w="1586864"/>
                <a:gridCol w="1586864"/>
                <a:gridCol w="1473517"/>
                <a:gridCol w="136017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精算期間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開催日数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最低保証現場数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稼働費(最低保証)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IP使用料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固定分 計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現場諸経費(参考)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第1期 2027年1月〜3月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26日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390現場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3,900万円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4,500万円</a:t>
                      </a:r>
                    </a:p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(27ヶ月分を契約時一括)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8,400万円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780万円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第2期 2027年4月〜2028年3月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104日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1,560現場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15,600万円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15,600万円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3,120万円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第3期 2028年4月〜2029年3月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105日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1,575現場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15,750万円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15,750万円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3,150万円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合計(27ヶ月)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235日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3,525現場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35,250万円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4,500万円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0000"/>
                          </a:solidFill>
                          <a:latin typeface="Meiryo"/>
                          <a:ea typeface="Meiryo"/>
                        </a:rPr>
                        <a:t>3.98億円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7,050万円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eiryo"/>
                <a:ea typeface="Meiryo"/>
              </a:rPr>
              <a:t>精算の考え方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・各期の最低保証額は期初(第1期は契約時)に確定。四半期ごとの前払い(お支払い条件はご相談)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・期末に実績を集計。余裕月の増枠分は追加精算、最低保証を下回った場合も保証額をお支払いいただく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・第1期(2027年1〜3月)は立ち上げ期として、会場の確定状況にかかわらず15ライン体制を貴社専属で確保する定額期間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Meiryo"/>
                <a:ea typeface="Meiryo"/>
              </a:rPr>
              <a:t>・IP使用料は27ヶ月分(4,500万円)を契約時に一括前払い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作成許諾ロイヤリティ(最低保証付き)の考え方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貴社制作のイベントキット・ノベルティ・店頭訴求ツールが対象。製造数量をもとに契約年度ごとに最低保証を設定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3"/>
                <a:gridCol w="8342375"/>
              </a:tblGrid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対象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貴社が制作するイベントキット(バックバナー等の備品を含む)・ノベルティ・店頭訴求ツール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料率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作成費用(製造原価)の20%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最低保証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契約年度ごとに想定製造数量に基づく最低保証額を設定(第1期+第2期で1年3ヶ月分、第3期で1年分)。実績が上回る場合は差額を精算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想定数量(仮置き)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撮影会1開催あたり約400個 × 1,755開催(27ヶ月・基準)= 約70万個。作成単価は品目構成により確定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参考:最低保証額の目安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平均作成単価30円台の構成なら27ヶ月で約450〜500万円、高単価品(タオル・トート等)中心の構成なら数千万円規模。貴社の数量・品目確定後に確定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手続き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品目ごとの仮申請→当社監修→製造。製造数量は四半期ごとにご報告いただき精算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 修了証ステッカー等を当社既存商品でご購入いただく場合は、本許諾料とは別に商品代金(卸価格)でのお取引となります。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お見積り条件(備考)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本見積りは以下の条件を前提としています。正式見積書・契約書に同内容を記載します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5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8E949B"/>
                </a:solidFill>
                <a:latin typeface="Meiryo"/>
                <a:ea typeface="Meiryo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88135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983"/>
                <a:gridCol w="8342375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条件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契約期間・締結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2027年1月〜2029年3月。2026年11月末までのご締結を前提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特別価格の適用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本件限りの条件(年間契約+最低開催数保証が前提)。単発・スポットは通常価格(225,000円/日)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開催確定・キャンセル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会場・日程は開催1ヶ月前までに確定。確定後のキャンセル料:1ヶ月前〜14日前30%/13日前〜7日前50%/6日前〜当日100%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中途解約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残期間の最低保証額を精算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ライン供給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基準15ライン。余裕月(1・4・6・11・12月)は最大20ライン。2・3・8・9月は当社主催行事との調整月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エリア・キャラクター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関信越エリア(埼玉・茨城・群馬・栃木・山梨・長野・新潟)は2027年1〜3月は実施不可。ウルトラセブンは対象外。出演は8ヒーロー(権利調整により一部変動の場合あり)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排他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契約期間中、当社は国内の他の携帯キャリア(3社)との店頭イベント契約を行いません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お支払い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貴社EDI発注・翌月末振込。IP使用料は契約時に27ヶ月分を一括前払い、最低保証分は四半期前払い(ご相談)。期間一括の発注形態をご相談。すべて税別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有効期限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本見積りの有効期限は発行日より30日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