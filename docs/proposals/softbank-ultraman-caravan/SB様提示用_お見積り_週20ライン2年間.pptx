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398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114300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5A626B"/>
                </a:solidFill>
                <a:latin typeface="Meiryo"/>
                <a:ea typeface="Meiryo"/>
              </a:rPr>
              <a:t>ソフトバンク株式会社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057400"/>
            <a:ext cx="7680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</a:rPr>
              <a:t>ウルトラマンIP 店頭イベント展開</a:t>
            </a:r>
          </a:p>
          <a:p>
            <a:pPr algn="ctr">
              <a:spcAft>
                <a:spcPts val="1000"/>
              </a:spcAft>
            </a:pPr>
            <a:r>
              <a:rPr sz="2600" b="1">
                <a:solidFill>
                  <a:srgbClr val="1A1A1A"/>
                </a:solidFill>
                <a:latin typeface="Meiryo"/>
                <a:ea typeface="Meiryo"/>
              </a:rPr>
              <a:t>お見積り(週20ライン・2年間)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Meiryo"/>
                <a:ea typeface="Meiryo"/>
              </a:rPr>
              <a:t>週20ライン(月80開催)× 2年間の継続展開に関する</a:t>
            </a:r>
          </a:p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Meiryo"/>
                <a:ea typeface="Meiryo"/>
              </a:rPr>
              <a:t>概算お見積りのご提示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21208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338C"/>
                </a:solidFill>
                <a:latin typeface="Meiryo"/>
                <a:ea typeface="Meiryo"/>
              </a:rPr>
              <a:t>2026年10月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338C"/>
                </a:solidFill>
                <a:latin typeface="Meiryo"/>
                <a:ea typeface="Meiryo"/>
              </a:rPr>
              <a:t>(株)円谷プロダクション</a:t>
            </a:r>
          </a:p>
          <a:p>
            <a:pPr algn="ctr">
              <a:spcAft>
                <a:spcPts val="300"/>
              </a:spcAft>
            </a:pPr>
            <a:r>
              <a:rPr sz="1050" b="0">
                <a:solidFill>
                  <a:srgbClr val="8E949B"/>
                </a:solidFill>
                <a:latin typeface="Meiryo"/>
                <a:ea typeface="Meiryo"/>
              </a:rPr>
              <a:t>金額はすべて税別・概算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492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お見積りの前提:ご相談いただいた実施規模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現在実施中のテスト(神奈川7会場)と同一のパッケージ形式を、週20ラインで2年間継続する想定で試算しています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5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513"/>
                <a:gridCol w="8515846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前提条件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実施規模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週20ライン(20会場で同時開催)× 月4週 = 月80開催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年間開催数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960開催/年(月80開催 × 12ヶ月)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契約期間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2027年1月 〜 2028年12月の2年間(計1,920開催)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実施形式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写真撮影会型(現在のテストと同一のパッケージ:キャラクター出演・運営スタッフ・演出込み)</a:t>
                      </a:r>
                    </a:p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※ステージショー型への変更は該当開催を200万円/開催で読み替え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1開催の単位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土日2日間・1会場での実施(1回30分×1日最大5回・1回あたり約50組対応)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846320"/>
            <a:ext cx="10881360" cy="1051560"/>
          </a:xfrm>
          <a:prstGeom prst="roundRect">
            <a:avLst>
              <a:gd name="adj" fmla="val 7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体制についてのご案内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eiryo"/>
                <a:ea typeface="Meiryo"/>
              </a:rPr>
              <a:t>週20ラインの同時稼働は、現行体制からの増強(スーツ・アクター・ディレクターの拡充)を伴います。増強には約3ヶ月の準備期間を要するため、2027年1月開始の場合は2026年10月末までの契約締結をお願いしてお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お見積り:2年間合計 19億6,400万円(税別)+従量精算分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固定費はIP利用料とライブ費の2項目のみ。キット・ノベルティは貴社制作とし、当社は作成許諾料を申し受けるシンプルな構成です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57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6125"/>
                <a:gridCol w="3085758"/>
                <a:gridCol w="1786491"/>
                <a:gridCol w="1624083"/>
                <a:gridCol w="1948900"/>
              </a:tblGrid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費目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単価・条件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1年目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2年目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2年間合計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① 年間IP利用料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年間包括ライセンス</a:t>
                      </a:r>
                    </a:p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初年度特別価格を適用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2,000万円</a:t>
                      </a:r>
                    </a:p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(通常2,400万円)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2,400万円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4,400万円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② ライブ費(イベント実施)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100万円/開催 × 960開催</a:t>
                      </a:r>
                    </a:p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(出演・運営・演出込み)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9億6,000万円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9億6,000万円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19億2,000万円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小計(固定)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9億8,000万円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9億8,400万円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19億6,400万円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③ ノベルティ作成許諾料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貴社制作ノベルティの</a:t>
                      </a:r>
                    </a:p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下代(卸価格)の20%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従量精算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従量精算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従量精算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④ イベントキット作成許諾料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貴社制作キットの</a:t>
                      </a:r>
                    </a:p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作成費用の20%(当社監修)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従量精算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従量精算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従量精算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1937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32278"/>
                </a:solidFill>
                <a:latin typeface="Meiryo"/>
                <a:ea typeface="Meiryo"/>
              </a:rPr>
              <a:t>月額換算:約8,170万円/月(固定分)。実施されなかった開催分は請求いたしません(最低開催数のお約束は次頁)。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59552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※ 着ぐるみ運搬・交通・宿泊費、スタッフ昼食費等の実費を全開催で別途申し受けます(会場確定後にお見積り)。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※ 店頭訴求ツール(ポスター・チラシ等)の作成許諾料(作成費用の20%)は従来ご提示のとおり別途精算です(③④と同じ扱い)。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※ 連休等で3日間開催とする場合:ライブ費+50万円/日を追加で申し受けます。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費目のご説明:お支払いいただく内容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テストでは開催ごとの単価に内包していたIP利用の対価を、年間契約では包括ライセンスとして明確化しています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48463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① 年間IP利用料(固定)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・店頭イベント・告知物・LP/Web・SNSでのIP利用を年間で包括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・週20ライン同時稼働枠の優先確保(体制の専属化)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・作成物の監修対応(KV3営業日・チラシ等1〜2営業日)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・8ヒーローのキャラクター選択・切替(店舗・時期ごと)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91056"/>
            <a:ext cx="48463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② ライブ費 100万円/開催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・キャラクター出演(着ぐるみ)・専属アクター・ディレクター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・運営スタッフ・演出・BGM音素材・音響機材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・現在のテストと同一内容・同一単価(実績ベース)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・ステージショー型は200万円/開催で読み替え可能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77055"/>
            <a:ext cx="48463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③ ノベルティ作成許諾料(下代の20%)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・貴社にてノベルティを制作いただく方式に切り替え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・当社は商品企画の監修と作成許諾を提供し、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  下代(卸価格)の20%を許諾料として申し受けます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・大量供給の安定化とコスト最適化が見込めます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77055"/>
            <a:ext cx="48463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④ イベントキット作成許諾料(作成費用の20%)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・バックパネル・装飾ツール等は貴社にて制作・保有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・当社はデザイン監修と作成許諾を提供し、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  作成費用の20%を許諾料として申し受けます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・20ライン分の設営ツールを貴社仕様で最適化できます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ご契約条件・ご留意事項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本見積りは以下の条件を前提としています。詳細は契約協議にて調整させてください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59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899"/>
                <a:gridCol w="848746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条件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最低開催数のお約束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年間770開催(計画数の8割)を最低開催数として設定させてください。体制増強の前提となるため、未達の場合も当該数量分を申し受けます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ご契約期限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2027年1月開始の場合、体制増強の準備期間(約3ヶ月)のため2026年10月末までの締結をお願いします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キャンセル料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個別開催の中止:開催30日前まで30%/14日前まで50%/13日前以降100%(ライブ費に適用)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キャラクター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8ヒーロー(初代ウルトラマン/タロウ/ティガ/ダイナ/ゼロ/アーク/オメガ/テオ)。権利調整の状況により一部変動の場合があります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開催エリア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会場リストを頂戴し次第、当社にて開催可否を確認します(一部実施できないエリアがあります)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IP利用の範囲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本契約に基づくイベント・告知目的に限ります。非公式商品の使用・販売はできません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金額の前提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すべて税別。本見積りは概算であり、正式見積書は条件確定後に発行します(有効期限:発行日より30日)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32278"/>
                </a:solidFill>
                <a:latin typeface="Meiryo"/>
                <a:ea typeface="Meiryo"/>
              </a:rPr>
              <a:t>次のステップ:本見積りをたたき台に、開催エリア計画・最低開催数・お支払い条件を協議のうえ、正式見積書とご契約手続き(EDI発注)へ進めさせてください。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