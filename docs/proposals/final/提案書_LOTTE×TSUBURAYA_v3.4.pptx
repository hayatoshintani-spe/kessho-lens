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notesMasterIdLst>
    <p:notesMasterId r:id="rId2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notesMaster" Target="notesMasters/notesMaster1.xml"/><Relationship Id="rId28" Type="http://schemas.openxmlformats.org/officeDocument/2006/relationships/presProps" Target="presProps.xml"/><Relationship Id="rId29" Type="http://schemas.openxmlformats.org/officeDocument/2006/relationships/viewProps" Target="viewProps.xml"/><Relationship Id="rId30" Type="http://schemas.openxmlformats.org/officeDocument/2006/relationships/theme" Target="theme/theme1.xml"/><Relationship Id="rId3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本日はウルトラマンの売り込みではなく、生活者データから見えたロッテの成長テーマを一緒に議論しに来た、と冒頭で宣言する。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「本日は売り込みではない」と最初に言い切る。3ステップの順番（データ→実証→カテゴリー）だけ覚えて帰ってもらえれば十分。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手法説明に時間を使わない。「思い込みでなくデータで見た」ことだけ伝え、詳細質問はAppendixで受ける。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このページが最初の山場。「思っていた以上に、データ上の重なりがあった」という驚きを丁寧に。スコアの読み方を聞かれたらAppendixへ。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「特撮ファン向けのIP」という先入観をデータで外すページ。+179%（ヤングのイベント参加）は口頭でも強調。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結論を先に：「本命はコアラのマーチでした」。BEST FITカードだけ説明し、他2枚は「目的次第で次点」と流す。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ガーナは「純粋な幸福感」の1点だけ話す。バレンタイン軸は明治が強い＝だからこそ別の文脈で戦う、という読み。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雪見は「勝てる文脈（家族）」と「勝てない文脈（夏・味変）」を正直に見せる。データで語る姿勢の証明になる。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資料全体のビジュアルピーク。+9.57の突出ぶりと「食べるウルトラ図鑑」の一言で覚えて帰ってもらう。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企画の細部判断は求めない。「歴代復刻は業界に実績がない＝データが示す空白」とだけ言い、細部はWSへ。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ストーリーを一段上げる転換点。「売って終わりではなく、学びを買いに行く」という言い方が効く。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4例に絞って手短に。最後の問い「次の習慣は何か」で一拍置いてから次ページへ。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ここで初めてULTRA 3MIN.を出す。主軸は「3分で気分が変わる」（キリッとする・落ち着く）。味や色の変化は検証仮説として添える程度に。形態はグミ第一候補（ロッテのグミシフトと整合）。「実現できます」とは絶対に言わない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7項目の詳細比較はやらない。物語×実装、の一言で相補性を伝える。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アライドは主役にしない。「検証の仕組みが最初から入っている」ことが従来コラボとの違い、と伝える。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「今日決めるのは①だけ」でハードルを下げる。②③はデータを見て一緒に判断＝経営リスクが小さいことを強調。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お願いは3つだけ、①が本丸。最後は「まず一つ売る。そこで学ぶ。」で締めて余韻を残す。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50292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B3028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TSUBURAYA PRODUCTIONS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8778240" y="50292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spc="600" kern="0" dirty="0">
                <a:solidFill>
                  <a:srgbClr val="595959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LOTTE</a:t>
            </a:r>
            <a:endParaRPr lang="en-US" sz="1500" dirty="0"/>
          </a:p>
          <a:p>
            <a:pPr algn="r" indent="0" marL="0">
              <a:buNone/>
            </a:pPr>
            <a:r>
              <a:rPr lang="en-US" sz="750" spc="300" kern="0" dirty="0">
                <a:solidFill>
                  <a:srgbClr val="80808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LOTTE HOLDINGS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685800" y="214884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7A4521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LOTTE × TSUBURAYA PRODUCTIONS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85800" y="2606040"/>
            <a:ext cx="1051560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5200"/>
              </a:lnSpc>
              <a:buNone/>
            </a:pPr>
            <a:r>
              <a:rPr lang="en-US" sz="4000" b="1" dirty="0">
                <a:solidFill>
                  <a:srgbClr val="333333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生活者データから、</a:t>
            </a:r>
            <a:endParaRPr lang="en-US" sz="4000" dirty="0"/>
          </a:p>
          <a:p>
            <a:pPr indent="0" marL="0">
              <a:lnSpc>
                <a:spcPts val="5200"/>
              </a:lnSpc>
              <a:buNone/>
            </a:pPr>
            <a:r>
              <a:rPr lang="en-US" sz="4000" b="1" dirty="0">
                <a:solidFill>
                  <a:srgbClr val="333333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次のカテゴリーをつくる。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685800" y="4343400"/>
            <a:ext cx="10515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0404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ウルトラマンIPを活用した既存ブランド成長と新カテゴリー創造のご提案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85800" y="489204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0404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ロッテホールディングス 玉塚社長 御中  | 2026年8月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0" y="6263640"/>
            <a:ext cx="12191695" cy="91440"/>
          </a:xfrm>
          <a:prstGeom prst="rect">
            <a:avLst/>
          </a:prstGeom>
          <a:solidFill>
            <a:srgbClr val="7A4521"/>
          </a:solidFill>
          <a:ln/>
        </p:spPr>
      </p:sp>
      <p:sp>
        <p:nvSpPr>
          <p:cNvPr id="9" name="Shape 7"/>
          <p:cNvSpPr/>
          <p:nvPr/>
        </p:nvSpPr>
        <p:spPr>
          <a:xfrm>
            <a:off x="0" y="6355080"/>
            <a:ext cx="12191695" cy="45720"/>
          </a:xfrm>
          <a:prstGeom prst="rect">
            <a:avLst/>
          </a:prstGeom>
          <a:solidFill>
            <a:srgbClr val="D9C7A9"/>
          </a:solidFill>
          <a:ln/>
        </p:spPr>
      </p:sp>
      <p:sp>
        <p:nvSpPr>
          <p:cNvPr id="10" name="Text 8"/>
          <p:cNvSpPr/>
          <p:nvPr/>
        </p:nvSpPr>
        <p:spPr>
          <a:xfrm>
            <a:off x="685800" y="651052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400" kern="0" dirty="0">
                <a:solidFill>
                  <a:srgbClr val="595959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対 外 厳 秘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384048"/>
            <a:ext cx="1673352" cy="310896"/>
          </a:xfrm>
          <a:prstGeom prst="rect">
            <a:avLst/>
          </a:prstGeom>
          <a:solidFill>
            <a:srgbClr val="C4761B"/>
          </a:solidFill>
          <a:ln/>
        </p:spPr>
      </p:sp>
      <p:sp>
        <p:nvSpPr>
          <p:cNvPr id="3" name="Text 1"/>
          <p:cNvSpPr/>
          <p:nvPr/>
        </p:nvSpPr>
        <p:spPr>
          <a:xfrm>
            <a:off x="795528" y="384048"/>
            <a:ext cx="15636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1．オープニング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685800" y="758952"/>
            <a:ext cx="1463040" cy="50292"/>
          </a:xfrm>
          <a:prstGeom prst="rect">
            <a:avLst/>
          </a:prstGeom>
          <a:solidFill>
            <a:srgbClr val="7A4521"/>
          </a:solidFill>
          <a:ln/>
        </p:spPr>
      </p:sp>
      <p:sp>
        <p:nvSpPr>
          <p:cNvPr id="5" name="Text 3"/>
          <p:cNvSpPr/>
          <p:nvPr/>
        </p:nvSpPr>
        <p:spPr>
          <a:xfrm>
            <a:off x="10332720" y="411480"/>
            <a:ext cx="1170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spc="300" kern="0" dirty="0">
                <a:solidFill>
                  <a:srgbClr val="595959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極　秘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685800" y="932688"/>
            <a:ext cx="10817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33333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今回お願いしたいのは、「ウルトラマンを使うこと」ではありません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685800" y="1481328"/>
            <a:ext cx="1081735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40404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ロッテがこれまで何度も行ってきたように、生活者の新しい欲求を捉え、新しい食べ方・買い方・習慣を生み出すこと。</a:t>
            </a:r>
            <a:endParaRPr lang="en-US" sz="125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40404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そのパートナーとしてウルトラマンIPを活用できないか、というご提案です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85800" y="6382512"/>
            <a:ext cx="10817352" cy="0"/>
          </a:xfrm>
          <a:prstGeom prst="line">
            <a:avLst/>
          </a:prstGeom>
          <a:noFill/>
          <a:ln w="9525">
            <a:solidFill>
              <a:srgbClr val="E9E9E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6437376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33333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TSUBURAYA PRODUCTIONS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7772400" y="6437376"/>
            <a:ext cx="37307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spc="400" kern="0" dirty="0">
                <a:solidFill>
                  <a:srgbClr val="80808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LOTTE × TSUBURAYA</a:t>
            </a:r>
            <a:pPr algn="r" indent="0" marL="0">
              <a:buNone/>
            </a:pPr>
            <a:r>
              <a:rPr lang="en-US" sz="950" dirty="0">
                <a:solidFill>
                  <a:srgbClr val="595959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    2</a:t>
            </a:r>
            <a:endParaRPr lang="en-US" sz="95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2377440"/>
          <a:ext cx="10817352" cy="914400"/>
        </p:xfrm>
        <a:graphic>
          <a:graphicData uri="http://schemas.openxmlformats.org/drawingml/2006/table">
            <a:tbl>
              <a:tblPr/>
              <a:tblGrid>
                <a:gridCol w="2926080"/>
                <a:gridCol w="7891272"/>
              </a:tblGrid>
              <a:tr h="8686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C00000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① </a:t>
                      </a:r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333333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データから始める</a:t>
                      </a:r>
                      <a:endParaRPr lang="en-US" sz="11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04040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キャラクターの人気や記念年を売り込むのではなく、生活者のVOC（SNS上の声）を分析した結果からお話しする。ロッテ3ブランドとウルトラマンには、データ上の意外な相性が見つかった</a:t>
                      </a:r>
                      <a:endParaRPr lang="en-US" sz="11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C00000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② </a:t>
                      </a:r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333333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まず既存ブランドで実証</a:t>
                      </a:r>
                      <a:endParaRPr lang="en-US" sz="11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04040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新商品をいきなり作るのではなく、既存ブランドの新規顧客・新規界隈の開拓で小さく実証し、購買・VOCデータで学習する</a:t>
                      </a:r>
                      <a:endParaRPr lang="en-US" sz="11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C00000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③ </a:t>
                      </a:r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333333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その先に、カテゴリー創造</a:t>
                      </a:r>
                      <a:endParaRPr lang="en-US" sz="11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04040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実証で得た学びを起点に、ロッテ×円谷プロで次の新カテゴリーの共同開発まで検討する。本日はその入口の議論をお願いしたい</a:t>
                      </a:r>
                      <a:endParaRPr lang="en-US" sz="11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2" name="Text 9"/>
          <p:cNvSpPr/>
          <p:nvPr/>
        </p:nvSpPr>
        <p:spPr>
          <a:xfrm>
            <a:off x="685800" y="5532120"/>
            <a:ext cx="108173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A4521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データ → 発見 → 実証 → 学習 → カテゴリー創造。この順番でお話しします。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384048"/>
            <a:ext cx="1673352" cy="310896"/>
          </a:xfrm>
          <a:prstGeom prst="rect">
            <a:avLst/>
          </a:prstGeom>
          <a:solidFill>
            <a:srgbClr val="C4761B"/>
          </a:solidFill>
          <a:ln/>
        </p:spPr>
      </p:sp>
      <p:sp>
        <p:nvSpPr>
          <p:cNvPr id="3" name="Text 1"/>
          <p:cNvSpPr/>
          <p:nvPr/>
        </p:nvSpPr>
        <p:spPr>
          <a:xfrm>
            <a:off x="795528" y="384048"/>
            <a:ext cx="15636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1．オープニング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685800" y="758952"/>
            <a:ext cx="1463040" cy="50292"/>
          </a:xfrm>
          <a:prstGeom prst="rect">
            <a:avLst/>
          </a:prstGeom>
          <a:solidFill>
            <a:srgbClr val="7A4521"/>
          </a:solidFill>
          <a:ln/>
        </p:spPr>
      </p:sp>
      <p:sp>
        <p:nvSpPr>
          <p:cNvPr id="5" name="Text 3"/>
          <p:cNvSpPr/>
          <p:nvPr/>
        </p:nvSpPr>
        <p:spPr>
          <a:xfrm>
            <a:off x="10332720" y="411480"/>
            <a:ext cx="1170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spc="300" kern="0" dirty="0">
                <a:solidFill>
                  <a:srgbClr val="595959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極　秘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685800" y="932688"/>
            <a:ext cx="10817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33333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「ロッテ × ウルトラマン」は、本当に相性が良いのか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685800" y="1481328"/>
            <a:ext cx="1081735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40404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思い込みを排するため、アライドアーキテクツ社とともに、ロッテ3ブランドとウルトラマンIPの生活者VOCを</a:t>
            </a:r>
            <a:endParaRPr lang="en-US" sz="125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40404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CEPs（カテゴリーエントリーポイント）の枠組みで分析した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85800" y="6382512"/>
            <a:ext cx="10817352" cy="0"/>
          </a:xfrm>
          <a:prstGeom prst="line">
            <a:avLst/>
          </a:prstGeom>
          <a:noFill/>
          <a:ln w="9525">
            <a:solidFill>
              <a:srgbClr val="E9E9E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6437376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33333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TSUBURAYA PRODUCTIONS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7772400" y="6437376"/>
            <a:ext cx="37307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spc="400" kern="0" dirty="0">
                <a:solidFill>
                  <a:srgbClr val="80808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LOTTE × TSUBURAYA</a:t>
            </a:r>
            <a:pPr algn="r" indent="0" marL="0">
              <a:buNone/>
            </a:pPr>
            <a:r>
              <a:rPr lang="en-US" sz="950" dirty="0">
                <a:solidFill>
                  <a:srgbClr val="595959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    3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685800" y="2286000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33333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分析の枠組み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85800" y="2615184"/>
            <a:ext cx="4937760" cy="0"/>
          </a:xfrm>
          <a:prstGeom prst="line">
            <a:avLst/>
          </a:prstGeom>
          <a:noFill/>
          <a:ln w="12700">
            <a:solidFill>
              <a:srgbClr val="333333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85800" y="2743200"/>
            <a:ext cx="4937760" cy="960120"/>
          </a:xfrm>
          <a:prstGeom prst="roundRect">
            <a:avLst>
              <a:gd name="adj" fmla="val 7619"/>
            </a:avLst>
          </a:prstGeom>
          <a:solidFill>
            <a:srgbClr val="EAF4F8"/>
          </a:solidFill>
          <a:ln/>
        </p:spPr>
      </p:sp>
      <p:sp>
        <p:nvSpPr>
          <p:cNvPr id="14" name="Text 12"/>
          <p:cNvSpPr/>
          <p:nvPr/>
        </p:nvSpPr>
        <p:spPr>
          <a:xfrm>
            <a:off x="914400" y="2743200"/>
            <a:ext cx="44805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b="1" dirty="0">
                <a:solidFill>
                  <a:srgbClr val="17828F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CEPs とは：</a:t>
            </a:r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40404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生活者がそのカテゴリーを想起・購入する「きっかけ」のこと。SNS上のVOCから文脈を抽出し、スコアリングできる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85800" y="3977640"/>
            <a:ext cx="1115568" cy="457200"/>
          </a:xfrm>
          <a:prstGeom prst="roundRect">
            <a:avLst>
              <a:gd name="adj" fmla="val 12000"/>
            </a:avLst>
          </a:prstGeom>
          <a:solidFill>
            <a:srgbClr val="F7F5F1"/>
          </a:solidFill>
          <a:ln w="9525">
            <a:solidFill>
              <a:srgbClr val="BFBFB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85800" y="3977640"/>
            <a:ext cx="11155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333333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VOC収集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1801368" y="3977640"/>
            <a:ext cx="1645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0808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→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1965960" y="3977640"/>
            <a:ext cx="1115568" cy="457200"/>
          </a:xfrm>
          <a:prstGeom prst="roundRect">
            <a:avLst>
              <a:gd name="adj" fmla="val 12000"/>
            </a:avLst>
          </a:prstGeom>
          <a:solidFill>
            <a:srgbClr val="F7F5F1"/>
          </a:solidFill>
          <a:ln w="9525">
            <a:solidFill>
              <a:srgbClr val="BFBFB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965960" y="3977640"/>
            <a:ext cx="11155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333333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クリーニング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3081528" y="3977640"/>
            <a:ext cx="1645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0808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→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246120" y="3977640"/>
            <a:ext cx="1115568" cy="457200"/>
          </a:xfrm>
          <a:prstGeom prst="roundRect">
            <a:avLst>
              <a:gd name="adj" fmla="val 12000"/>
            </a:avLst>
          </a:prstGeom>
          <a:solidFill>
            <a:srgbClr val="F7F5F1"/>
          </a:solidFill>
          <a:ln w="9525">
            <a:solidFill>
              <a:srgbClr val="BFBFB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246120" y="3977640"/>
            <a:ext cx="11155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333333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CEPs特定・集計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4361688" y="3977640"/>
            <a:ext cx="1645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0808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→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526280" y="3977640"/>
            <a:ext cx="1115568" cy="457200"/>
          </a:xfrm>
          <a:prstGeom prst="roundRect">
            <a:avLst>
              <a:gd name="adj" fmla="val 12000"/>
            </a:avLst>
          </a:prstGeom>
          <a:solidFill>
            <a:srgbClr val="F7F5F1"/>
          </a:solidFill>
          <a:ln w="9525">
            <a:solidFill>
              <a:srgbClr val="BFBFB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26280" y="3977640"/>
            <a:ext cx="11155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333333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CEPs診断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685800" y="457200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0808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アライド社データソリューション「Kaname.ax」によるAI文脈抽出 × アナリストの妥当性チェック（詳細はAppendix）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6172200" y="2286000"/>
            <a:ext cx="53309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33333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分析対象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6172200" y="2615184"/>
            <a:ext cx="5330952" cy="0"/>
          </a:xfrm>
          <a:prstGeom prst="line">
            <a:avLst/>
          </a:prstGeom>
          <a:noFill/>
          <a:ln w="12700">
            <a:solidFill>
              <a:srgbClr val="333333"/>
            </a:solidFill>
            <a:prstDash val="solid"/>
          </a:ln>
        </p:spPr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172200" y="2743200"/>
          <a:ext cx="5330952" cy="914400"/>
        </p:xfrm>
        <a:graphic>
          <a:graphicData uri="http://schemas.openxmlformats.org/drawingml/2006/table">
            <a:tbl>
              <a:tblPr/>
              <a:tblGrid>
                <a:gridCol w="1554480"/>
                <a:gridCol w="3776472"/>
              </a:tblGrid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カテゴリー</a:t>
                      </a:r>
                      <a:endParaRPr lang="en-US" sz="11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828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分析ブランド（競合含む）</a:t>
                      </a:r>
                      <a:endParaRPr lang="en-US" sz="11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828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333333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チョコレート</a:t>
                      </a:r>
                      <a:endParaRPr lang="en-US" sz="11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04040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ガーナ／明治ミルクチョコレート／meiji THE Chocolate／DARS</a:t>
                      </a:r>
                      <a:endParaRPr lang="en-US" sz="10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333333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ビスケット菓子</a:t>
                      </a:r>
                      <a:endParaRPr lang="en-US" sz="11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04040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コアラのマーチ／ポッキー／たけのこの里／アルフォート</a:t>
                      </a:r>
                      <a:endParaRPr lang="en-US" sz="10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333333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アイス</a:t>
                      </a:r>
                      <a:endParaRPr lang="en-US" sz="11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04040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雪見だいふく／ハーゲンダッツ／ピノ／パルム</a:t>
                      </a:r>
                      <a:endParaRPr lang="en-US" sz="10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333333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ヒーローIP</a:t>
                      </a:r>
                      <a:endParaRPr lang="en-US" sz="11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04040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ウルトラマン／仮面ライダー／スーパー戦隊／ゴジラ／ドラゴンボール</a:t>
                      </a:r>
                      <a:endParaRPr lang="en-US" sz="10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30" name="Text 27"/>
          <p:cNvSpPr/>
          <p:nvPr/>
        </p:nvSpPr>
        <p:spPr>
          <a:xfrm>
            <a:off x="6172200" y="5486400"/>
            <a:ext cx="53309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80808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収集期間：2025/8/1–2026/7/31（12ヶ月）。ノイズ除外後、各ブランド最大1,000件を分析</a:t>
            </a:r>
            <a:endParaRPr lang="en-US" sz="950" dirty="0"/>
          </a:p>
        </p:txBody>
      </p:sp>
      <p:sp>
        <p:nvSpPr>
          <p:cNvPr id="31" name="Text 28"/>
          <p:cNvSpPr/>
          <p:nvPr/>
        </p:nvSpPr>
        <p:spPr>
          <a:xfrm>
            <a:off x="685800" y="5989320"/>
            <a:ext cx="10817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0808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出所：アライドアーキテクツ社 VOC分析。収集条件・件数・クリーニング工程の詳細はAppendix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384048"/>
            <a:ext cx="2258568" cy="310896"/>
          </a:xfrm>
          <a:prstGeom prst="rect">
            <a:avLst/>
          </a:prstGeom>
          <a:solidFill>
            <a:srgbClr val="C4761B"/>
          </a:solidFill>
          <a:ln/>
        </p:spPr>
      </p:sp>
      <p:sp>
        <p:nvSpPr>
          <p:cNvPr id="3" name="Text 1"/>
          <p:cNvSpPr/>
          <p:nvPr/>
        </p:nvSpPr>
        <p:spPr>
          <a:xfrm>
            <a:off x="795528" y="384048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2．データが見つけた相性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685800" y="758952"/>
            <a:ext cx="1463040" cy="50292"/>
          </a:xfrm>
          <a:prstGeom prst="rect">
            <a:avLst/>
          </a:prstGeom>
          <a:solidFill>
            <a:srgbClr val="7A4521"/>
          </a:solidFill>
          <a:ln/>
        </p:spPr>
      </p:sp>
      <p:sp>
        <p:nvSpPr>
          <p:cNvPr id="5" name="Text 3"/>
          <p:cNvSpPr/>
          <p:nvPr/>
        </p:nvSpPr>
        <p:spPr>
          <a:xfrm>
            <a:off x="10332720" y="411480"/>
            <a:ext cx="1170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spc="300" kern="0" dirty="0">
                <a:solidFill>
                  <a:srgbClr val="595959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極　秘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685800" y="932688"/>
            <a:ext cx="10817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33333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ロッテの強い購買文脈と、ウルトラマンの強い文脈が重なっていた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685800" y="1481328"/>
            <a:ext cx="1081735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40404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競合より強く想起される「購買シーン」を比較すると、ロッテ3ブランドとウルトラマンには複数の重なりが見つかった ── 人気の量ではなく、想起の偏りの重なりである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85800" y="6382512"/>
            <a:ext cx="10817352" cy="0"/>
          </a:xfrm>
          <a:prstGeom prst="line">
            <a:avLst/>
          </a:prstGeom>
          <a:noFill/>
          <a:ln w="9525">
            <a:solidFill>
              <a:srgbClr val="E9E9E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6437376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33333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TSUBURAYA PRODUCTIONS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7772400" y="6437376"/>
            <a:ext cx="37307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spc="400" kern="0" dirty="0">
                <a:solidFill>
                  <a:srgbClr val="80808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LOTTE × TSUBURAYA</a:t>
            </a:r>
            <a:pPr algn="r" indent="0" marL="0">
              <a:buNone/>
            </a:pPr>
            <a:r>
              <a:rPr lang="en-US" sz="950" dirty="0">
                <a:solidFill>
                  <a:srgbClr val="595959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    4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685800" y="212140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0808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※ 発話量を同一条件に補正し、各CEPへの言及構成比が期待値をどれだけ上回るかを比較（読み方はAppendix P.21）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8275320" y="2084832"/>
            <a:ext cx="1371600" cy="777240"/>
          </a:xfrm>
          <a:prstGeom prst="ellipse">
            <a:avLst/>
          </a:prstGeom>
          <a:ln w="12700">
            <a:solidFill>
              <a:srgbClr val="C0000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9098280" y="2084832"/>
            <a:ext cx="1371600" cy="777240"/>
          </a:xfrm>
          <a:prstGeom prst="ellipse">
            <a:avLst/>
          </a:prstGeom>
          <a:ln w="12700">
            <a:solidFill>
              <a:srgbClr val="595959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098280" y="2212848"/>
            <a:ext cx="548640" cy="521208"/>
          </a:xfrm>
          <a:prstGeom prst="ellipse">
            <a:avLst/>
          </a:prstGeom>
          <a:ln w="15875">
            <a:solidFill>
              <a:srgbClr val="C4761B"/>
            </a:solidFill>
            <a:prstDash val="dash"/>
          </a:ln>
        </p:spPr>
      </p:sp>
      <p:sp>
        <p:nvSpPr>
          <p:cNvPr id="15" name="Text 13"/>
          <p:cNvSpPr/>
          <p:nvPr/>
        </p:nvSpPr>
        <p:spPr>
          <a:xfrm>
            <a:off x="8229600" y="292608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0808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適合ゾーン ＝ 双方が独占するCEPs</a:t>
            </a:r>
            <a:endParaRPr lang="en-US" sz="9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3383280"/>
          <a:ext cx="10817352" cy="914400"/>
        </p:xfrm>
        <a:graphic>
          <a:graphicData uri="http://schemas.openxmlformats.org/drawingml/2006/table">
            <a:tbl>
              <a:tblPr/>
              <a:tblGrid>
                <a:gridCol w="1737360"/>
                <a:gridCol w="5120640"/>
                <a:gridCol w="3959352"/>
              </a:tblGrid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ブランド</a:t>
                      </a:r>
                      <a:endParaRPr lang="en-US" sz="11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828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ブランドが独占するCEPs（競合とのスコア差）</a:t>
                      </a:r>
                      <a:endParaRPr lang="en-US" sz="11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828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対応するウルトラマンの資産</a:t>
                      </a:r>
                      <a:endParaRPr lang="en-US" sz="11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828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333333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ガーナ</a:t>
                      </a:r>
                      <a:endParaRPr lang="en-US" sz="11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33333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「純粋な幸福感を得たいとき」 </a:t>
                      </a:r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C00000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+2.61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808080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（4社中1位）</a:t>
                      </a:r>
                      <a:endParaRPr lang="en-US" sz="105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04040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応援・希望の物語。「テンションを上げたい」文脈 +1.49</a:t>
                      </a:r>
                      <a:endParaRPr lang="en-US" sz="105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333333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コアラのマーチ</a:t>
                      </a:r>
                      <a:endParaRPr lang="en-US" sz="11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33333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「絵柄を楽しみながら食べたいとき」 </a:t>
                      </a:r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C00000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+9.57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808080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（3ブランド中最強・突出）</a:t>
                      </a:r>
                      <a:endParaRPr lang="en-US" sz="105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0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04040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60年 × 約2,500種のヒーロー・怪獣のキャラクター絵柄資産</a:t>
                      </a:r>
                      <a:endParaRPr lang="en-US" sz="105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0F0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333333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雪見だいふく</a:t>
                      </a:r>
                      <a:endParaRPr lang="en-US" sz="11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33333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「友達や家族に分け合いながら食べたいとき」 </a:t>
                      </a:r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C00000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+4.55</a:t>
                      </a:r>
                      <a:endParaRPr lang="en-US" sz="105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04040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昭和・平成・令和の三世代IP。「世代を超えた絆」 +0.66</a:t>
                      </a:r>
                      <a:endParaRPr lang="en-US" sz="105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7" name="Shape 14"/>
          <p:cNvSpPr/>
          <p:nvPr/>
        </p:nvSpPr>
        <p:spPr>
          <a:xfrm>
            <a:off x="630936" y="4370832"/>
            <a:ext cx="10927080" cy="777240"/>
          </a:xfrm>
          <a:prstGeom prst="rect">
            <a:avLst/>
          </a:prstGeom>
          <a:ln w="15875">
            <a:solidFill>
              <a:srgbClr val="C00000"/>
            </a:solidFill>
            <a:prstDash val="dash"/>
          </a:ln>
        </p:spPr>
      </p:sp>
      <p:sp>
        <p:nvSpPr>
          <p:cNvPr id="18" name="Text 15"/>
          <p:cNvSpPr/>
          <p:nvPr/>
        </p:nvSpPr>
        <p:spPr>
          <a:xfrm>
            <a:off x="685800" y="5797296"/>
            <a:ext cx="108173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0404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さらに、</a:t>
            </a:r>
            <a:pPr indent="0" marL="0">
              <a:buNone/>
            </a:pPr>
            <a:r>
              <a:rPr lang="en-US" sz="1150" b="1" dirty="0">
                <a:solidFill>
                  <a:srgbClr val="C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「周年・節目を祝いたいとき」はウルトラマン +7.46 で、3ブランド共通の追い風</a:t>
            </a:r>
            <a:pPr indent="0" marL="0">
              <a:buNone/>
            </a:pPr>
            <a:r>
              <a:rPr lang="en-US" sz="1150" dirty="0">
                <a:solidFill>
                  <a:srgbClr val="40404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（2026年＝シリーズ60周年）</a:t>
            </a:r>
            <a:endParaRPr lang="en-US" sz="1150" dirty="0"/>
          </a:p>
        </p:txBody>
      </p:sp>
      <p:sp>
        <p:nvSpPr>
          <p:cNvPr id="19" name="Text 16"/>
          <p:cNvSpPr/>
          <p:nvPr/>
        </p:nvSpPr>
        <p:spPr>
          <a:xfrm>
            <a:off x="685800" y="6108192"/>
            <a:ext cx="10817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0808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スコア＝メンタルアドバンテージスコア（0基準・±5が目安、正＝その場面で想起されやすい。読み方はAppendix参照）。出所：アライドアーキテクツ社 VOC分析（X上の生活者投稿、2025/8–2026/7）※分析の一部を抜粋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384048"/>
            <a:ext cx="2258568" cy="310896"/>
          </a:xfrm>
          <a:prstGeom prst="rect">
            <a:avLst/>
          </a:prstGeom>
          <a:solidFill>
            <a:srgbClr val="C4761B"/>
          </a:solidFill>
          <a:ln/>
        </p:spPr>
      </p:sp>
      <p:sp>
        <p:nvSpPr>
          <p:cNvPr id="3" name="Text 1"/>
          <p:cNvSpPr/>
          <p:nvPr/>
        </p:nvSpPr>
        <p:spPr>
          <a:xfrm>
            <a:off x="795528" y="384048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2．データが見つけた相性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685800" y="758952"/>
            <a:ext cx="1463040" cy="50292"/>
          </a:xfrm>
          <a:prstGeom prst="rect">
            <a:avLst/>
          </a:prstGeom>
          <a:solidFill>
            <a:srgbClr val="7A4521"/>
          </a:solidFill>
          <a:ln/>
        </p:spPr>
      </p:sp>
      <p:sp>
        <p:nvSpPr>
          <p:cNvPr id="5" name="Text 3"/>
          <p:cNvSpPr/>
          <p:nvPr/>
        </p:nvSpPr>
        <p:spPr>
          <a:xfrm>
            <a:off x="10332720" y="411480"/>
            <a:ext cx="1170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spc="300" kern="0" dirty="0">
                <a:solidFill>
                  <a:srgbClr val="595959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極　秘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685800" y="932688"/>
            <a:ext cx="10817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33333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ウルトラマンは、従来の“特撮ファン”だけのIPではない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685800" y="1481328"/>
            <a:ext cx="1081735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40404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各界隈のSNS発話に既にウルトラマンが自然に登場しており、発話の伸長とIP資産（60周年・キャラ約2,500種・三世代性）が噛み合っている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85800" y="6382512"/>
            <a:ext cx="10817352" cy="0"/>
          </a:xfrm>
          <a:prstGeom prst="line">
            <a:avLst/>
          </a:prstGeom>
          <a:noFill/>
          <a:ln w="9525">
            <a:solidFill>
              <a:srgbClr val="E9E9E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6437376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33333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TSUBURAYA PRODUCTIONS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7772400" y="6437376"/>
            <a:ext cx="37307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spc="400" kern="0" dirty="0">
                <a:solidFill>
                  <a:srgbClr val="80808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LOTTE × TSUBURAYA</a:t>
            </a:r>
            <a:pPr algn="r" indent="0" marL="0">
              <a:buNone/>
            </a:pPr>
            <a:r>
              <a:rPr lang="en-US" sz="950" dirty="0">
                <a:solidFill>
                  <a:srgbClr val="595959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    5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685800" y="2240280"/>
            <a:ext cx="3520440" cy="3520440"/>
          </a:xfrm>
          <a:prstGeom prst="roundRect">
            <a:avLst>
              <a:gd name="adj" fmla="val 2597"/>
            </a:avLst>
          </a:prstGeom>
          <a:solidFill>
            <a:srgbClr val="FFFFFF"/>
          </a:solidFill>
          <a:ln w="15875">
            <a:solidFill>
              <a:srgbClr val="C4761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14400" y="239572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C4761B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界隈 01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914400" y="2670048"/>
            <a:ext cx="3063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33333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推し活女子・ママ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914400" y="3090672"/>
            <a:ext cx="3063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595959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既に語られている（言及件数／2,000件中）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914400" y="3328416"/>
            <a:ext cx="3063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40404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推しのウルトラマン作品を見たい　</a:t>
            </a:r>
            <a:pPr indent="0" marL="0">
              <a:lnSpc>
                <a:spcPts val="1350"/>
              </a:lnSpc>
              <a:buNone/>
            </a:pPr>
            <a:r>
              <a:rPr lang="en-US" sz="900" b="1" dirty="0">
                <a:solidFill>
                  <a:srgbClr val="17828F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447件
</a:t>
            </a:r>
            <a:pPr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40404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子どもと一緒に楽しみたい　</a:t>
            </a:r>
            <a:pPr indent="0" marL="0">
              <a:lnSpc>
                <a:spcPts val="1350"/>
              </a:lnSpc>
              <a:buNone/>
            </a:pPr>
            <a:r>
              <a:rPr lang="en-US" sz="900" b="1" dirty="0">
                <a:solidFill>
                  <a:srgbClr val="17828F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335件
</a:t>
            </a:r>
            <a:pPr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40404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推しのグッズを集めたい　</a:t>
            </a:r>
            <a:pPr indent="0" marL="0">
              <a:lnSpc>
                <a:spcPts val="1350"/>
              </a:lnSpc>
              <a:buNone/>
            </a:pPr>
            <a:r>
              <a:rPr lang="en-US" sz="900" b="1" dirty="0">
                <a:solidFill>
                  <a:srgbClr val="17828F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312件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914400" y="4315968"/>
            <a:ext cx="3063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595959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伸長中の需要（YoY）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914400" y="4553712"/>
            <a:ext cx="3063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40404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周年イベントを楽しみたい　</a:t>
            </a:r>
            <a:pPr indent="0" marL="0">
              <a:lnSpc>
                <a:spcPts val="1350"/>
              </a:lnSpc>
              <a:buNone/>
            </a:pPr>
            <a:r>
              <a:rPr lang="en-US" sz="900" b="1" dirty="0">
                <a:solidFill>
                  <a:srgbClr val="C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+84%
</a:t>
            </a:r>
            <a:pPr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40404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推し旅をしたい　</a:t>
            </a:r>
            <a:pPr indent="0" marL="0">
              <a:lnSpc>
                <a:spcPts val="1350"/>
              </a:lnSpc>
              <a:buNone/>
            </a:pPr>
            <a:r>
              <a:rPr lang="en-US" sz="900" b="1" dirty="0">
                <a:solidFill>
                  <a:srgbClr val="C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+80%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914400" y="5321808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C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CONNECT → ガーナ／コアラのマーチ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4334256" y="2240280"/>
            <a:ext cx="3520440" cy="3520440"/>
          </a:xfrm>
          <a:prstGeom prst="roundRect">
            <a:avLst>
              <a:gd name="adj" fmla="val 2597"/>
            </a:avLst>
          </a:prstGeom>
          <a:solidFill>
            <a:srgbClr val="FFFFFF"/>
          </a:solidFill>
          <a:ln w="15875">
            <a:solidFill>
              <a:srgbClr val="C4761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62856" y="239572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C4761B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界隈 02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4562856" y="2670048"/>
            <a:ext cx="3063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33333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ヤング懐かし配信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4562856" y="3090672"/>
            <a:ext cx="3063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595959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既に語られている（言及件数／2,000件中）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4562856" y="3328416"/>
            <a:ext cx="3063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40404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懐かしさ・子どもの頃を振り返りたい　</a:t>
            </a:r>
            <a:pPr indent="0" marL="0">
              <a:lnSpc>
                <a:spcPts val="1350"/>
              </a:lnSpc>
              <a:buNone/>
            </a:pPr>
            <a:r>
              <a:rPr lang="en-US" sz="900" b="1" dirty="0">
                <a:solidFill>
                  <a:srgbClr val="17828F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539件
</a:t>
            </a:r>
            <a:pPr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40404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SNSで感想や考察をシェアしたい　</a:t>
            </a:r>
            <a:pPr indent="0" marL="0">
              <a:lnSpc>
                <a:spcPts val="1350"/>
              </a:lnSpc>
              <a:buNone/>
            </a:pPr>
            <a:r>
              <a:rPr lang="en-US" sz="900" b="1" dirty="0">
                <a:solidFill>
                  <a:srgbClr val="17828F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452件
</a:t>
            </a:r>
            <a:pPr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40404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昭和・平成・令和を一から履修したい　</a:t>
            </a:r>
            <a:pPr indent="0" marL="0">
              <a:lnSpc>
                <a:spcPts val="1350"/>
              </a:lnSpc>
              <a:buNone/>
            </a:pPr>
            <a:r>
              <a:rPr lang="en-US" sz="900" b="1" dirty="0">
                <a:solidFill>
                  <a:srgbClr val="17828F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278件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4562856" y="4315968"/>
            <a:ext cx="3063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595959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伸長中の需要（YoY）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4562856" y="4553712"/>
            <a:ext cx="3063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40404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イベント・展示会に参加したい　</a:t>
            </a:r>
            <a:pPr indent="0" marL="0">
              <a:lnSpc>
                <a:spcPts val="1350"/>
              </a:lnSpc>
              <a:buNone/>
            </a:pPr>
            <a:r>
              <a:rPr lang="en-US" sz="900" b="1" dirty="0">
                <a:solidFill>
                  <a:srgbClr val="C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+179%
</a:t>
            </a:r>
            <a:pPr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40404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ヒーローから勇気を得られる　</a:t>
            </a:r>
            <a:pPr indent="0" marL="0">
              <a:lnSpc>
                <a:spcPts val="1350"/>
              </a:lnSpc>
              <a:buNone/>
            </a:pPr>
            <a:r>
              <a:rPr lang="en-US" sz="900" b="1" dirty="0">
                <a:solidFill>
                  <a:srgbClr val="C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+35%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4562856" y="5321808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C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CONNECT → コアラのマーチ／雪見だいふく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7982712" y="2240280"/>
            <a:ext cx="3520440" cy="3520440"/>
          </a:xfrm>
          <a:prstGeom prst="roundRect">
            <a:avLst>
              <a:gd name="adj" fmla="val 2597"/>
            </a:avLst>
          </a:prstGeom>
          <a:solidFill>
            <a:srgbClr val="FFFFFF"/>
          </a:solidFill>
          <a:ln w="15875">
            <a:solidFill>
              <a:srgbClr val="C4761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211312" y="239572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C4761B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界隈 03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8211312" y="2670048"/>
            <a:ext cx="3063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33333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コレクター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8211312" y="3090672"/>
            <a:ext cx="3063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595959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既に語られている（言及件数／2,000件中）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8211312" y="3328416"/>
            <a:ext cx="3063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40404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子供の頃好きだったキャラのソフビ　</a:t>
            </a:r>
            <a:pPr indent="0" marL="0">
              <a:lnSpc>
                <a:spcPts val="1350"/>
              </a:lnSpc>
              <a:buNone/>
            </a:pPr>
            <a:r>
              <a:rPr lang="en-US" sz="900" b="1" dirty="0">
                <a:solidFill>
                  <a:srgbClr val="17828F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379件
</a:t>
            </a:r>
            <a:pPr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40404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造形を眺めて名シーンを思い出す　</a:t>
            </a:r>
            <a:pPr indent="0" marL="0">
              <a:lnSpc>
                <a:spcPts val="1350"/>
              </a:lnSpc>
              <a:buNone/>
            </a:pPr>
            <a:r>
              <a:rPr lang="en-US" sz="900" b="1" dirty="0">
                <a:solidFill>
                  <a:srgbClr val="17828F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261件
</a:t>
            </a:r>
            <a:pPr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40404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コレクションを並べて飾りたい　</a:t>
            </a:r>
            <a:pPr indent="0" marL="0">
              <a:lnSpc>
                <a:spcPts val="1350"/>
              </a:lnSpc>
              <a:buNone/>
            </a:pPr>
            <a:r>
              <a:rPr lang="en-US" sz="900" b="1" dirty="0">
                <a:solidFill>
                  <a:srgbClr val="17828F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235件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8211312" y="4315968"/>
            <a:ext cx="3063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595959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伸長中の需要（YoY）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8211312" y="4553712"/>
            <a:ext cx="3063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40404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昭和・平成の復刻版ソフビを揃えたい　</a:t>
            </a:r>
            <a:pPr indent="0" marL="0">
              <a:lnSpc>
                <a:spcPts val="1350"/>
              </a:lnSpc>
              <a:buNone/>
            </a:pPr>
            <a:r>
              <a:rPr lang="en-US" sz="900" b="1" dirty="0">
                <a:solidFill>
                  <a:srgbClr val="C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+73%
</a:t>
            </a:r>
            <a:pPr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40404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好きなキャラへの愛を形にしたい　</a:t>
            </a:r>
            <a:pPr indent="0" marL="0">
              <a:lnSpc>
                <a:spcPts val="1350"/>
              </a:lnSpc>
              <a:buNone/>
            </a:pPr>
            <a:r>
              <a:rPr lang="en-US" sz="900" b="1" dirty="0">
                <a:solidFill>
                  <a:srgbClr val="C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+53%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8211312" y="5321808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C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CONNECT → コアラのマーチ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685800" y="587044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A4521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ロッテの既存ブランドを、新しい顧客・新しい界隈へ運ぶ「橋」になれる。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685800" y="6199632"/>
            <a:ext cx="10817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0808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出所：アライドアーキテクツ社 VOC分析。言及件数は各界隈2,000件中／YoY＝ウルトラマン関連発話における当該文脈の発話数の前年比（2024年→2025年）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384048"/>
            <a:ext cx="1965960" cy="310896"/>
          </a:xfrm>
          <a:prstGeom prst="rect">
            <a:avLst/>
          </a:prstGeom>
          <a:solidFill>
            <a:srgbClr val="C4761B"/>
          </a:solidFill>
          <a:ln/>
        </p:spPr>
      </p:sp>
      <p:sp>
        <p:nvSpPr>
          <p:cNvPr id="3" name="Text 1"/>
          <p:cNvSpPr/>
          <p:nvPr/>
        </p:nvSpPr>
        <p:spPr>
          <a:xfrm>
            <a:off x="795528" y="384048"/>
            <a:ext cx="18562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3．どこから始めるか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685800" y="758952"/>
            <a:ext cx="1463040" cy="50292"/>
          </a:xfrm>
          <a:prstGeom prst="rect">
            <a:avLst/>
          </a:prstGeom>
          <a:solidFill>
            <a:srgbClr val="7A4521"/>
          </a:solidFill>
          <a:ln/>
        </p:spPr>
      </p:sp>
      <p:sp>
        <p:nvSpPr>
          <p:cNvPr id="5" name="Text 3"/>
          <p:cNvSpPr/>
          <p:nvPr/>
        </p:nvSpPr>
        <p:spPr>
          <a:xfrm>
            <a:off x="10332720" y="411480"/>
            <a:ext cx="1170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spc="300" kern="0" dirty="0">
                <a:solidFill>
                  <a:srgbClr val="595959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極　秘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685800" y="932688"/>
            <a:ext cx="10817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33333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本命は、コアラのマーチでした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685800" y="1481328"/>
            <a:ext cx="1081735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40404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4つの評価軸で3ブランドを比較すると、コアラのマーチが全軸で最高評価。次点はガーナ or 雪見だいふくで、目的に応じて選択できる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85800" y="6382512"/>
            <a:ext cx="10817352" cy="0"/>
          </a:xfrm>
          <a:prstGeom prst="line">
            <a:avLst/>
          </a:prstGeom>
          <a:noFill/>
          <a:ln w="9525">
            <a:solidFill>
              <a:srgbClr val="E9E9E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6437376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33333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TSUBURAYA PRODUCTIONS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7772400" y="6437376"/>
            <a:ext cx="37307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spc="400" kern="0" dirty="0">
                <a:solidFill>
                  <a:srgbClr val="80808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LOTTE × TSUBURAYA</a:t>
            </a:r>
            <a:pPr algn="r" indent="0" marL="0">
              <a:buNone/>
            </a:pPr>
            <a:r>
              <a:rPr lang="en-US" sz="950" dirty="0">
                <a:solidFill>
                  <a:srgbClr val="595959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    6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685800" y="2194560"/>
            <a:ext cx="3520440" cy="3794760"/>
          </a:xfrm>
          <a:prstGeom prst="roundRect">
            <a:avLst>
              <a:gd name="adj" fmla="val 2597"/>
            </a:avLst>
          </a:prstGeom>
          <a:solidFill>
            <a:srgbClr val="FFFFFF"/>
          </a:solidFill>
          <a:ln w="25400">
            <a:solidFill>
              <a:srgbClr val="C4761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971800" y="2066544"/>
            <a:ext cx="1097280" cy="292608"/>
          </a:xfrm>
          <a:prstGeom prst="roundRect">
            <a:avLst>
              <a:gd name="adj" fmla="val 50000"/>
            </a:avLst>
          </a:prstGeom>
          <a:solidFill>
            <a:srgbClr val="C4761B"/>
          </a:solidFill>
          <a:ln/>
        </p:spPr>
      </p:sp>
      <p:sp>
        <p:nvSpPr>
          <p:cNvPr id="13" name="Text 11"/>
          <p:cNvSpPr/>
          <p:nvPr/>
        </p:nvSpPr>
        <p:spPr>
          <a:xfrm>
            <a:off x="2971800" y="2066544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BEST FIT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886968" y="2331720"/>
            <a:ext cx="31181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C4761B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1st ／ 本命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886968" y="2578608"/>
            <a:ext cx="31181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333333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コアラのマーチ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886968" y="2962656"/>
            <a:ext cx="31181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4761B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絵柄コレクション × 60周年造形資産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886968" y="3291840"/>
            <a:ext cx="31181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595959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CEP独占度  </a:t>
            </a:r>
            <a:pPr indent="0" marL="0">
              <a:buNone/>
            </a:pPr>
            <a:r>
              <a:rPr lang="en-US" sz="1000" b="1" dirty="0">
                <a:solidFill>
                  <a:srgbClr val="C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◎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886968" y="3502152"/>
            <a:ext cx="31181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000"/>
              </a:lnSpc>
              <a:buNone/>
            </a:pPr>
            <a:r>
              <a:rPr lang="en-US" sz="750" dirty="0">
                <a:solidFill>
                  <a:srgbClr val="80808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「絵柄を楽しみながら食べたい」+9.57（突出／3ブランド最強）</a:t>
            </a:r>
            <a:endParaRPr lang="en-US" sz="750" dirty="0"/>
          </a:p>
        </p:txBody>
      </p:sp>
      <p:sp>
        <p:nvSpPr>
          <p:cNvPr id="19" name="Text 17"/>
          <p:cNvSpPr/>
          <p:nvPr/>
        </p:nvSpPr>
        <p:spPr>
          <a:xfrm>
            <a:off x="886968" y="3895344"/>
            <a:ext cx="31181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595959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既存コラボ実績との整合性  </a:t>
            </a:r>
            <a:pPr indent="0" marL="0">
              <a:buNone/>
            </a:pPr>
            <a:r>
              <a:rPr lang="en-US" sz="1000" b="1" dirty="0">
                <a:solidFill>
                  <a:srgbClr val="C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◎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886968" y="4105656"/>
            <a:ext cx="31181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000"/>
              </a:lnSpc>
              <a:buNone/>
            </a:pPr>
            <a:r>
              <a:rPr lang="en-US" sz="750" dirty="0">
                <a:solidFill>
                  <a:srgbClr val="80808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絵柄コレクション型が既に標準フォーマット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886968" y="4498848"/>
            <a:ext cx="31181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595959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3界隈カバレッジ  </a:t>
            </a:r>
            <a:pPr indent="0" marL="0">
              <a:buNone/>
            </a:pPr>
            <a:r>
              <a:rPr lang="en-US" sz="1000" b="1" dirty="0">
                <a:solidFill>
                  <a:srgbClr val="C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◎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886968" y="4709160"/>
            <a:ext cx="31181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000"/>
              </a:lnSpc>
              <a:buNone/>
            </a:pPr>
            <a:r>
              <a:rPr lang="en-US" sz="750" dirty="0">
                <a:solidFill>
                  <a:srgbClr val="80808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推し活・ヤング懐かし・コレクター全てに接続可能</a:t>
            </a:r>
            <a:endParaRPr lang="en-US" sz="750" dirty="0"/>
          </a:p>
        </p:txBody>
      </p:sp>
      <p:sp>
        <p:nvSpPr>
          <p:cNvPr id="23" name="Text 21"/>
          <p:cNvSpPr/>
          <p:nvPr/>
        </p:nvSpPr>
        <p:spPr>
          <a:xfrm>
            <a:off x="886968" y="5102352"/>
            <a:ext cx="31181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595959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60周年タイミング活用  </a:t>
            </a:r>
            <a:pPr indent="0" marL="0">
              <a:buNone/>
            </a:pPr>
            <a:r>
              <a:rPr lang="en-US" sz="1000" b="1" dirty="0">
                <a:solidFill>
                  <a:srgbClr val="C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◎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886968" y="5312664"/>
            <a:ext cx="31181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000"/>
              </a:lnSpc>
              <a:buNone/>
            </a:pPr>
            <a:r>
              <a:rPr lang="en-US" sz="750" dirty="0">
                <a:solidFill>
                  <a:srgbClr val="80808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60年×2,500種の造形資産が「絵柄で楽しむ」に直結</a:t>
            </a:r>
            <a:endParaRPr lang="en-US" sz="750" dirty="0"/>
          </a:p>
        </p:txBody>
      </p:sp>
      <p:sp>
        <p:nvSpPr>
          <p:cNvPr id="25" name="Text 23"/>
          <p:cNvSpPr/>
          <p:nvPr/>
        </p:nvSpPr>
        <p:spPr>
          <a:xfrm>
            <a:off x="886968" y="5705856"/>
            <a:ext cx="31181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C4761B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→ 4軸全てで最高評価。実装リスクも低い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4334256" y="2194560"/>
            <a:ext cx="3520440" cy="3794760"/>
          </a:xfrm>
          <a:prstGeom prst="roundRect">
            <a:avLst>
              <a:gd name="adj" fmla="val 2597"/>
            </a:avLst>
          </a:prstGeom>
          <a:solidFill>
            <a:srgbClr val="F7F5F1"/>
          </a:solidFill>
          <a:ln w="9525">
            <a:solidFill>
              <a:srgbClr val="BFBFB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535424" y="2331720"/>
            <a:ext cx="31181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80808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2nd 候補 ／ 話題性重視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4535424" y="2578608"/>
            <a:ext cx="31181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333333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ガーナ</a:t>
            </a:r>
            <a:endParaRPr lang="en-US" sz="1700" dirty="0"/>
          </a:p>
        </p:txBody>
      </p:sp>
      <p:sp>
        <p:nvSpPr>
          <p:cNvPr id="29" name="Text 27"/>
          <p:cNvSpPr/>
          <p:nvPr/>
        </p:nvSpPr>
        <p:spPr>
          <a:xfrm>
            <a:off x="4535424" y="2962656"/>
            <a:ext cx="31181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0808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実写特撮ヒーロー 初コラボ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4535424" y="3291840"/>
            <a:ext cx="31181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595959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CEP独占度  </a:t>
            </a:r>
            <a:pPr indent="0" marL="0">
              <a:buNone/>
            </a:pPr>
            <a:r>
              <a:rPr lang="en-US" sz="1000" b="1" dirty="0">
                <a:solidFill>
                  <a:srgbClr val="17828F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○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4535424" y="3502152"/>
            <a:ext cx="31181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000"/>
              </a:lnSpc>
              <a:buNone/>
            </a:pPr>
            <a:r>
              <a:rPr lang="en-US" sz="750" dirty="0">
                <a:solidFill>
                  <a:srgbClr val="80808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「純粋な幸福感」+2.61（4社中1位）／「甘いもの」+6.19</a:t>
            </a:r>
            <a:endParaRPr lang="en-US" sz="750" dirty="0"/>
          </a:p>
        </p:txBody>
      </p:sp>
      <p:sp>
        <p:nvSpPr>
          <p:cNvPr id="32" name="Text 30"/>
          <p:cNvSpPr/>
          <p:nvPr/>
        </p:nvSpPr>
        <p:spPr>
          <a:xfrm>
            <a:off x="4535424" y="3895344"/>
            <a:ext cx="31181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595959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既存コラボ実績との整合性  </a:t>
            </a:r>
            <a:pPr indent="0" marL="0">
              <a:buNone/>
            </a:pPr>
            <a:r>
              <a:rPr lang="en-US" sz="1000" b="1" dirty="0">
                <a:solidFill>
                  <a:srgbClr val="C4761B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△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4535424" y="4105656"/>
            <a:ext cx="31181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000"/>
              </a:lnSpc>
              <a:buNone/>
            </a:pPr>
            <a:r>
              <a:rPr lang="en-US" sz="750" dirty="0">
                <a:solidFill>
                  <a:srgbClr val="80808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バレンタイン軸中心。特撮初コラボで新規性◎だが実装工数増</a:t>
            </a:r>
            <a:endParaRPr lang="en-US" sz="750" dirty="0"/>
          </a:p>
        </p:txBody>
      </p:sp>
      <p:sp>
        <p:nvSpPr>
          <p:cNvPr id="34" name="Text 32"/>
          <p:cNvSpPr/>
          <p:nvPr/>
        </p:nvSpPr>
        <p:spPr>
          <a:xfrm>
            <a:off x="4535424" y="4498848"/>
            <a:ext cx="31181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595959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3界隈カバレッジ  </a:t>
            </a:r>
            <a:pPr indent="0" marL="0">
              <a:buNone/>
            </a:pPr>
            <a:r>
              <a:rPr lang="en-US" sz="1000" b="1" dirty="0">
                <a:solidFill>
                  <a:srgbClr val="17828F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○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4535424" y="4709160"/>
            <a:ext cx="31181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000"/>
              </a:lnSpc>
              <a:buNone/>
            </a:pPr>
            <a:r>
              <a:rPr lang="en-US" sz="750" dirty="0">
                <a:solidFill>
                  <a:srgbClr val="80808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推し活・ヤング中心。コレクター界隈への接続は限定的</a:t>
            </a:r>
            <a:endParaRPr lang="en-US" sz="750" dirty="0"/>
          </a:p>
        </p:txBody>
      </p:sp>
      <p:sp>
        <p:nvSpPr>
          <p:cNvPr id="36" name="Text 34"/>
          <p:cNvSpPr/>
          <p:nvPr/>
        </p:nvSpPr>
        <p:spPr>
          <a:xfrm>
            <a:off x="4535424" y="5102352"/>
            <a:ext cx="31181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595959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60周年タイミング活用  </a:t>
            </a:r>
            <a:pPr indent="0" marL="0">
              <a:buNone/>
            </a:pPr>
            <a:r>
              <a:rPr lang="en-US" sz="1000" b="1" dirty="0">
                <a:solidFill>
                  <a:srgbClr val="17828F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○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4535424" y="5312664"/>
            <a:ext cx="31181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000"/>
              </a:lnSpc>
              <a:buNone/>
            </a:pPr>
            <a:r>
              <a:rPr lang="en-US" sz="750" dirty="0">
                <a:solidFill>
                  <a:srgbClr val="80808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周年限定パッケージ・応援ムービー等で展開可能</a:t>
            </a:r>
            <a:endParaRPr lang="en-US" sz="750" dirty="0"/>
          </a:p>
        </p:txBody>
      </p:sp>
      <p:sp>
        <p:nvSpPr>
          <p:cNvPr id="38" name="Text 36"/>
          <p:cNvSpPr/>
          <p:nvPr/>
        </p:nvSpPr>
        <p:spPr>
          <a:xfrm>
            <a:off x="4535424" y="5705856"/>
            <a:ext cx="31181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595959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→ 新規性・話題性を狙う場合に選択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7982712" y="2194560"/>
            <a:ext cx="3520440" cy="3794760"/>
          </a:xfrm>
          <a:prstGeom prst="roundRect">
            <a:avLst>
              <a:gd name="adj" fmla="val 2597"/>
            </a:avLst>
          </a:prstGeom>
          <a:solidFill>
            <a:srgbClr val="F7F5F1"/>
          </a:solidFill>
          <a:ln w="9525">
            <a:solidFill>
              <a:srgbClr val="BFBFBF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8183880" y="2331720"/>
            <a:ext cx="31181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80808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2nd 候補 ／ 世代継承重視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8183880" y="2578608"/>
            <a:ext cx="31181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333333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雪見だいふく</a:t>
            </a:r>
            <a:endParaRPr lang="en-US" sz="1700" dirty="0"/>
          </a:p>
        </p:txBody>
      </p:sp>
      <p:sp>
        <p:nvSpPr>
          <p:cNvPr id="42" name="Text 40"/>
          <p:cNvSpPr/>
          <p:nvPr/>
        </p:nvSpPr>
        <p:spPr>
          <a:xfrm>
            <a:off x="8183880" y="2962656"/>
            <a:ext cx="31181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0808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家族団らん × 冬ホリデーシーズン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8183880" y="3291840"/>
            <a:ext cx="31181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595959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CEP独占度  </a:t>
            </a:r>
            <a:pPr indent="0" marL="0">
              <a:buNone/>
            </a:pPr>
            <a:r>
              <a:rPr lang="en-US" sz="1000" b="1" dirty="0">
                <a:solidFill>
                  <a:srgbClr val="C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◎</a:t>
            </a:r>
            <a:endParaRPr lang="en-US" sz="850" dirty="0"/>
          </a:p>
        </p:txBody>
      </p:sp>
      <p:sp>
        <p:nvSpPr>
          <p:cNvPr id="44" name="Text 42"/>
          <p:cNvSpPr/>
          <p:nvPr/>
        </p:nvSpPr>
        <p:spPr>
          <a:xfrm>
            <a:off x="8183880" y="3502152"/>
            <a:ext cx="31181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000"/>
              </a:lnSpc>
              <a:buNone/>
            </a:pPr>
            <a:r>
              <a:rPr lang="en-US" sz="750" dirty="0">
                <a:solidFill>
                  <a:srgbClr val="80808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「家族と分け合いながら」+4.55／「こたつでくつろぎ」+21.16</a:t>
            </a:r>
            <a:endParaRPr lang="en-US" sz="750" dirty="0"/>
          </a:p>
        </p:txBody>
      </p:sp>
      <p:sp>
        <p:nvSpPr>
          <p:cNvPr id="45" name="Text 43"/>
          <p:cNvSpPr/>
          <p:nvPr/>
        </p:nvSpPr>
        <p:spPr>
          <a:xfrm>
            <a:off x="8183880" y="3895344"/>
            <a:ext cx="31181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595959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既存コラボ実績との整合性  </a:t>
            </a:r>
            <a:pPr indent="0" marL="0">
              <a:buNone/>
            </a:pPr>
            <a:r>
              <a:rPr lang="en-US" sz="1000" b="1" dirty="0">
                <a:solidFill>
                  <a:srgbClr val="C4761B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△</a:t>
            </a:r>
            <a:endParaRPr lang="en-US" sz="850" dirty="0"/>
          </a:p>
        </p:txBody>
      </p:sp>
      <p:sp>
        <p:nvSpPr>
          <p:cNvPr id="46" name="Text 44"/>
          <p:cNvSpPr/>
          <p:nvPr/>
        </p:nvSpPr>
        <p:spPr>
          <a:xfrm>
            <a:off x="8183880" y="4105656"/>
            <a:ext cx="31181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000"/>
              </a:lnSpc>
              <a:buNone/>
            </a:pPr>
            <a:r>
              <a:rPr lang="en-US" sz="750" dirty="0">
                <a:solidFill>
                  <a:srgbClr val="80808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個人向けおまけ・タレント起用中心。三世代家族軸は未実施</a:t>
            </a:r>
            <a:endParaRPr lang="en-US" sz="750" dirty="0"/>
          </a:p>
        </p:txBody>
      </p:sp>
      <p:sp>
        <p:nvSpPr>
          <p:cNvPr id="47" name="Text 45"/>
          <p:cNvSpPr/>
          <p:nvPr/>
        </p:nvSpPr>
        <p:spPr>
          <a:xfrm>
            <a:off x="8183880" y="4498848"/>
            <a:ext cx="31181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595959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3界隈カバレッジ  </a:t>
            </a:r>
            <a:pPr indent="0" marL="0">
              <a:buNone/>
            </a:pPr>
            <a:r>
              <a:rPr lang="en-US" sz="1000" b="1" dirty="0">
                <a:solidFill>
                  <a:srgbClr val="17828F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○</a:t>
            </a:r>
            <a:endParaRPr lang="en-US" sz="850" dirty="0"/>
          </a:p>
        </p:txBody>
      </p:sp>
      <p:sp>
        <p:nvSpPr>
          <p:cNvPr id="48" name="Text 46"/>
          <p:cNvSpPr/>
          <p:nvPr/>
        </p:nvSpPr>
        <p:spPr>
          <a:xfrm>
            <a:off x="8183880" y="4709160"/>
            <a:ext cx="31181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000"/>
              </a:lnSpc>
              <a:buNone/>
            </a:pPr>
            <a:r>
              <a:rPr lang="en-US" sz="750" dirty="0">
                <a:solidFill>
                  <a:srgbClr val="80808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ヤング懐かし・家族軸に接続。コレクターとの相性は限定的</a:t>
            </a:r>
            <a:endParaRPr lang="en-US" sz="750" dirty="0"/>
          </a:p>
        </p:txBody>
      </p:sp>
      <p:sp>
        <p:nvSpPr>
          <p:cNvPr id="49" name="Text 47"/>
          <p:cNvSpPr/>
          <p:nvPr/>
        </p:nvSpPr>
        <p:spPr>
          <a:xfrm>
            <a:off x="8183880" y="5102352"/>
            <a:ext cx="31181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595959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60周年タイミング活用  </a:t>
            </a:r>
            <a:pPr indent="0" marL="0">
              <a:buNone/>
            </a:pPr>
            <a:r>
              <a:rPr lang="en-US" sz="1000" b="1" dirty="0">
                <a:solidFill>
                  <a:srgbClr val="C4761B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△</a:t>
            </a:r>
            <a:endParaRPr lang="en-US" sz="850" dirty="0"/>
          </a:p>
        </p:txBody>
      </p:sp>
      <p:sp>
        <p:nvSpPr>
          <p:cNvPr id="50" name="Text 48"/>
          <p:cNvSpPr/>
          <p:nvPr/>
        </p:nvSpPr>
        <p:spPr>
          <a:xfrm>
            <a:off x="8183880" y="5312664"/>
            <a:ext cx="31181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000"/>
              </a:lnSpc>
              <a:buNone/>
            </a:pPr>
            <a:r>
              <a:rPr lang="en-US" sz="750" dirty="0">
                <a:solidFill>
                  <a:srgbClr val="80808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冬季限定のためタイミング依存（2026年冬）</a:t>
            </a:r>
            <a:endParaRPr lang="en-US" sz="750" dirty="0"/>
          </a:p>
        </p:txBody>
      </p:sp>
      <p:sp>
        <p:nvSpPr>
          <p:cNvPr id="51" name="Text 49"/>
          <p:cNvSpPr/>
          <p:nvPr/>
        </p:nvSpPr>
        <p:spPr>
          <a:xfrm>
            <a:off x="8183880" y="5705856"/>
            <a:ext cx="31181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595959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→ 世代継承・家族団らん訴求／ホリデーシーズンに選択</a:t>
            </a:r>
            <a:endParaRPr lang="en-US" sz="850" dirty="0"/>
          </a:p>
        </p:txBody>
      </p:sp>
      <p:sp>
        <p:nvSpPr>
          <p:cNvPr id="52" name="Text 50"/>
          <p:cNvSpPr/>
          <p:nvPr/>
        </p:nvSpPr>
        <p:spPr>
          <a:xfrm>
            <a:off x="685800" y="6144768"/>
            <a:ext cx="10817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0808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出所：アライドアーキテクツ社 VOC分析に基づく4軸評価。スコアは各CEPの全体規模（言及数）とセットで評価しており、スコア単独で推奨順位を決めていない（詳細データはAppendix）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384048"/>
            <a:ext cx="1965960" cy="310896"/>
          </a:xfrm>
          <a:prstGeom prst="rect">
            <a:avLst/>
          </a:prstGeom>
          <a:solidFill>
            <a:srgbClr val="C4761B"/>
          </a:solidFill>
          <a:ln/>
        </p:spPr>
      </p:sp>
      <p:sp>
        <p:nvSpPr>
          <p:cNvPr id="3" name="Text 1"/>
          <p:cNvSpPr/>
          <p:nvPr/>
        </p:nvSpPr>
        <p:spPr>
          <a:xfrm>
            <a:off x="795528" y="384048"/>
            <a:ext cx="18562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3．どこから始めるか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685800" y="758952"/>
            <a:ext cx="1463040" cy="50292"/>
          </a:xfrm>
          <a:prstGeom prst="rect">
            <a:avLst/>
          </a:prstGeom>
          <a:solidFill>
            <a:srgbClr val="7A4521"/>
          </a:solidFill>
          <a:ln/>
        </p:spPr>
      </p:sp>
      <p:sp>
        <p:nvSpPr>
          <p:cNvPr id="5" name="Text 3"/>
          <p:cNvSpPr/>
          <p:nvPr/>
        </p:nvSpPr>
        <p:spPr>
          <a:xfrm>
            <a:off x="10332720" y="411480"/>
            <a:ext cx="1170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spc="300" kern="0" dirty="0">
                <a:solidFill>
                  <a:srgbClr val="595959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極　秘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685800" y="932688"/>
            <a:ext cx="10817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33333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ガーナなら、「応援」と「幸福感」を広げられる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685800" y="1481328"/>
            <a:ext cx="1081735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40404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ガーナは「純粋な幸福感」の文脈で競合を引き離し、「甘いもの」でも上位。過去5年のIPコラボはアニメ・タレント中心で、実写特撮ヒーローとの連携は空白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85800" y="6382512"/>
            <a:ext cx="10817352" cy="0"/>
          </a:xfrm>
          <a:prstGeom prst="line">
            <a:avLst/>
          </a:prstGeom>
          <a:noFill/>
          <a:ln w="9525">
            <a:solidFill>
              <a:srgbClr val="E9E9E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6437376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33333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TSUBURAYA PRODUCTIONS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7772400" y="6437376"/>
            <a:ext cx="37307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spc="400" kern="0" dirty="0">
                <a:solidFill>
                  <a:srgbClr val="80808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LOTTE × TSUBURAYA</a:t>
            </a:r>
            <a:pPr algn="r" indent="0" marL="0">
              <a:buNone/>
            </a:pPr>
            <a:r>
              <a:rPr lang="en-US" sz="950" dirty="0">
                <a:solidFill>
                  <a:srgbClr val="595959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    7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685800" y="2286000"/>
            <a:ext cx="2011680" cy="292608"/>
          </a:xfrm>
          <a:prstGeom prst="roundRect">
            <a:avLst>
              <a:gd name="adj" fmla="val 50000"/>
            </a:avLst>
          </a:prstGeom>
          <a:solidFill>
            <a:srgbClr val="C00000"/>
          </a:solidFill>
          <a:ln/>
        </p:spPr>
      </p:sp>
      <p:sp>
        <p:nvSpPr>
          <p:cNvPr id="12" name="Text 10"/>
          <p:cNvSpPr/>
          <p:nvPr/>
        </p:nvSpPr>
        <p:spPr>
          <a:xfrm>
            <a:off x="685800" y="2286000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ガーナ競合比較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2834640" y="2304288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0808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※分析の一部を抜粋</a:t>
            </a:r>
            <a:endParaRPr lang="en-US" sz="85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2670048"/>
          <a:ext cx="10817352" cy="914400"/>
        </p:xfrm>
        <a:graphic>
          <a:graphicData uri="http://schemas.openxmlformats.org/drawingml/2006/table">
            <a:tbl>
              <a:tblPr/>
              <a:tblGrid>
                <a:gridCol w="3017520"/>
                <a:gridCol w="914400"/>
                <a:gridCol w="914400"/>
                <a:gridCol w="914400"/>
                <a:gridCol w="914400"/>
                <a:gridCol w="758952"/>
                <a:gridCol w="3383280"/>
              </a:tblGrid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状況のCEPs</a:t>
                      </a:r>
                      <a:endParaRPr lang="en-US" sz="9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828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ガーナ</a:t>
                      </a:r>
                      <a:endParaRPr lang="en-US" sz="9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828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明治ミルク</a:t>
                      </a:r>
                      <a:endParaRPr lang="en-US" sz="9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828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meiji THE</a:t>
                      </a:r>
                      <a:endParaRPr lang="en-US" sz="9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828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DARS</a:t>
                      </a:r>
                      <a:endParaRPr lang="en-US" sz="9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828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言及数</a:t>
                      </a:r>
                      <a:endParaRPr lang="en-US" sz="9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828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→ ウルトラマンの対応CEP</a:t>
                      </a:r>
                      <a:endParaRPr lang="en-US" sz="9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828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404040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甘いものが食べたいとき</a:t>
                      </a:r>
                      <a:endParaRPr lang="en-US" sz="9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333333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6.19</a:t>
                      </a:r>
                      <a:endParaRPr lang="en-US" sz="9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FD9B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-6.6</a:t>
                      </a:r>
                      <a:endParaRPr lang="en-US" sz="9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B3B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-6.54</a:t>
                      </a:r>
                      <a:endParaRPr lang="en-US" sz="9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B3B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9.21</a:t>
                      </a:r>
                      <a:endParaRPr lang="en-US" sz="9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FD9B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7828F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270</a:t>
                      </a:r>
                      <a:endParaRPr lang="en-US" sz="9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C00000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「テンションを上げたい」+1.49</a:t>
                      </a:r>
                      <a:endParaRPr lang="en-US" sz="8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C00000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◎ </a:t>
                      </a:r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C00000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純粋な幸福感を得たいとき</a:t>
                      </a:r>
                      <a:endParaRPr lang="en-US" sz="9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0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C00000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2.61</a:t>
                      </a:r>
                      <a:endParaRPr lang="en-US" sz="9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F0D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-1.9</a:t>
                      </a:r>
                      <a:endParaRPr lang="en-US" sz="9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DED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-0.7</a:t>
                      </a:r>
                      <a:endParaRPr lang="en-US" sz="9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DED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-1.2</a:t>
                      </a:r>
                      <a:endParaRPr lang="en-US" sz="9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DED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7828F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155</a:t>
                      </a:r>
                      <a:endParaRPr lang="en-US" sz="9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C00000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「幼少期の純粋な興奮」文脈と適合</a:t>
                      </a:r>
                      <a:endParaRPr lang="en-US" sz="8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404040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自分のご褒美として食べたいとき</a:t>
                      </a:r>
                      <a:endParaRPr lang="en-US" sz="9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0.6</a:t>
                      </a:r>
                      <a:endParaRPr lang="en-US" sz="9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F0D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-0.19</a:t>
                      </a:r>
                      <a:endParaRPr lang="en-US" sz="9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DED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-1.56</a:t>
                      </a:r>
                      <a:endParaRPr lang="en-US" sz="9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DED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-1.45</a:t>
                      </a:r>
                      <a:endParaRPr lang="en-US" sz="9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DED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7828F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48</a:t>
                      </a:r>
                      <a:endParaRPr lang="en-US" sz="9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404040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バレンタインに好きな人へ渡したいとき</a:t>
                      </a:r>
                      <a:endParaRPr lang="en-US" sz="9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-9.18</a:t>
                      </a:r>
                      <a:endParaRPr lang="en-US" sz="9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B3B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12.05</a:t>
                      </a:r>
                      <a:endParaRPr lang="en-US" sz="9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FD9B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-8.01</a:t>
                      </a:r>
                      <a:endParaRPr lang="en-US" sz="9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B3B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-11.34</a:t>
                      </a:r>
                      <a:endParaRPr lang="en-US" sz="9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B3B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7828F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315</a:t>
                      </a:r>
                      <a:endParaRPr lang="en-US" sz="9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C00000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既存の主戦場は明治が優位</a:t>
                      </a:r>
                      <a:endParaRPr lang="en-US" sz="8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5" name="Shape 12"/>
          <p:cNvSpPr/>
          <p:nvPr/>
        </p:nvSpPr>
        <p:spPr>
          <a:xfrm>
            <a:off x="685800" y="4892040"/>
            <a:ext cx="10817352" cy="960120"/>
          </a:xfrm>
          <a:prstGeom prst="roundRect">
            <a:avLst>
              <a:gd name="adj" fmla="val 7619"/>
            </a:avLst>
          </a:prstGeom>
          <a:solidFill>
            <a:srgbClr val="FDF0F0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960120" y="4892040"/>
            <a:ext cx="1026871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100" b="1" dirty="0">
                <a:solidFill>
                  <a:srgbClr val="C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◆ 適合ゾーンに応える新規の切り口（例・1案のみ）：</a:t>
            </a:r>
            <a:endParaRPr lang="en-US" sz="11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100" dirty="0">
                <a:solidFill>
                  <a:srgbClr val="40404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ウルトラマン60周年 × 応援ムービー付き限定パッケージ ── 「純粋な幸福感を得たいとき」に、実写特撮ヒーロー初コラボで応える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685800" y="6035040"/>
            <a:ext cx="10817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0808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スコア＝メンタルアドバンテージスコア（0基準・±5が目安、正＝その場面で想起されやすい。読み方はAppendix参照）。出所：アライドアーキテクツ社 VOC分析（X上の生活者投稿、2025/8–2026/7）※分析の一部を抜粋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384048"/>
            <a:ext cx="1965960" cy="310896"/>
          </a:xfrm>
          <a:prstGeom prst="rect">
            <a:avLst/>
          </a:prstGeom>
          <a:solidFill>
            <a:srgbClr val="C4761B"/>
          </a:solidFill>
          <a:ln/>
        </p:spPr>
      </p:sp>
      <p:sp>
        <p:nvSpPr>
          <p:cNvPr id="3" name="Text 1"/>
          <p:cNvSpPr/>
          <p:nvPr/>
        </p:nvSpPr>
        <p:spPr>
          <a:xfrm>
            <a:off x="795528" y="384048"/>
            <a:ext cx="18562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3．どこから始めるか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685800" y="758952"/>
            <a:ext cx="1463040" cy="50292"/>
          </a:xfrm>
          <a:prstGeom prst="rect">
            <a:avLst/>
          </a:prstGeom>
          <a:solidFill>
            <a:srgbClr val="7A4521"/>
          </a:solidFill>
          <a:ln/>
        </p:spPr>
      </p:sp>
      <p:sp>
        <p:nvSpPr>
          <p:cNvPr id="5" name="Text 3"/>
          <p:cNvSpPr/>
          <p:nvPr/>
        </p:nvSpPr>
        <p:spPr>
          <a:xfrm>
            <a:off x="10332720" y="411480"/>
            <a:ext cx="1170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spc="300" kern="0" dirty="0">
                <a:solidFill>
                  <a:srgbClr val="595959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極　秘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685800" y="932688"/>
            <a:ext cx="10817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33333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雪見だいふくなら、「三世代の団らん」を取りにいける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685800" y="1481328"/>
            <a:ext cx="1081735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40404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雪見だいふくは「家族と分け合う」文脈で独占的。三世代の家族団らん軸のIPコラボは過去5年に実績がなく、三世代IPのウルトラマンと噛み合う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85800" y="6382512"/>
            <a:ext cx="10817352" cy="0"/>
          </a:xfrm>
          <a:prstGeom prst="line">
            <a:avLst/>
          </a:prstGeom>
          <a:noFill/>
          <a:ln w="9525">
            <a:solidFill>
              <a:srgbClr val="E9E9E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6437376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33333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TSUBURAYA PRODUCTIONS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7772400" y="6437376"/>
            <a:ext cx="37307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spc="400" kern="0" dirty="0">
                <a:solidFill>
                  <a:srgbClr val="80808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LOTTE × TSUBURAYA</a:t>
            </a:r>
            <a:pPr algn="r" indent="0" marL="0">
              <a:buNone/>
            </a:pPr>
            <a:r>
              <a:rPr lang="en-US" sz="950" dirty="0">
                <a:solidFill>
                  <a:srgbClr val="595959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    8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685800" y="2286000"/>
            <a:ext cx="2377440" cy="292608"/>
          </a:xfrm>
          <a:prstGeom prst="roundRect">
            <a:avLst>
              <a:gd name="adj" fmla="val 50000"/>
            </a:avLst>
          </a:prstGeom>
          <a:solidFill>
            <a:srgbClr val="C00000"/>
          </a:solidFill>
          <a:ln/>
        </p:spPr>
      </p:sp>
      <p:sp>
        <p:nvSpPr>
          <p:cNvPr id="12" name="Text 10"/>
          <p:cNvSpPr/>
          <p:nvPr/>
        </p:nvSpPr>
        <p:spPr>
          <a:xfrm>
            <a:off x="685800" y="2286000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雪見だいふく競合比較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3200400" y="2304288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0808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※分析の一部を抜粋</a:t>
            </a:r>
            <a:endParaRPr lang="en-US" sz="85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2670048"/>
          <a:ext cx="10817352" cy="914400"/>
        </p:xfrm>
        <a:graphic>
          <a:graphicData uri="http://schemas.openxmlformats.org/drawingml/2006/table">
            <a:tbl>
              <a:tblPr/>
              <a:tblGrid>
                <a:gridCol w="3017520"/>
                <a:gridCol w="1005840"/>
                <a:gridCol w="1051560"/>
                <a:gridCol w="777240"/>
                <a:gridCol w="822960"/>
                <a:gridCol w="758952"/>
                <a:gridCol w="3383280"/>
              </a:tblGrid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状況のCEPs</a:t>
                      </a:r>
                      <a:endParaRPr lang="en-US" sz="9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828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雪見だいふく</a:t>
                      </a:r>
                      <a:endParaRPr lang="en-US" sz="9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828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ハーゲンダッツ</a:t>
                      </a:r>
                      <a:endParaRPr lang="en-US" sz="9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828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ピノ</a:t>
                      </a:r>
                      <a:endParaRPr lang="en-US" sz="9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828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パルム</a:t>
                      </a:r>
                      <a:endParaRPr lang="en-US" sz="9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828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言及数</a:t>
                      </a:r>
                      <a:endParaRPr lang="en-US" sz="9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828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→ ウルトラマンの対応CEP</a:t>
                      </a:r>
                      <a:endParaRPr lang="en-US" sz="9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828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C00000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◎ </a:t>
                      </a:r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C00000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友達や家族に分け合いながら食べたいとき</a:t>
                      </a:r>
                      <a:endParaRPr lang="en-US" sz="9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0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C00000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4.55</a:t>
                      </a:r>
                      <a:endParaRPr lang="en-US" sz="9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FD9B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0.76</a:t>
                      </a:r>
                      <a:endParaRPr lang="en-US" sz="9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F0D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0.9</a:t>
                      </a:r>
                      <a:endParaRPr lang="en-US" sz="9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F0D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-6.2</a:t>
                      </a:r>
                      <a:endParaRPr lang="en-US" sz="9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B3B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7828F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452</a:t>
                      </a:r>
                      <a:endParaRPr lang="en-US" sz="9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C00000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「世代を超えた絆」+0.66</a:t>
                      </a:r>
                      <a:endParaRPr lang="en-US" sz="8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C00000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◎ </a:t>
                      </a:r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C00000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子供と一緒に食べたいとき</a:t>
                      </a:r>
                      <a:endParaRPr lang="en-US" sz="9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0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C00000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1.68</a:t>
                      </a:r>
                      <a:endParaRPr lang="en-US" sz="9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F0D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-1.07</a:t>
                      </a:r>
                      <a:endParaRPr lang="en-US" sz="9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DED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1.52</a:t>
                      </a:r>
                      <a:endParaRPr lang="en-US" sz="9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F0D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-2.53</a:t>
                      </a:r>
                      <a:endParaRPr lang="en-US" sz="9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DED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7828F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217</a:t>
                      </a:r>
                      <a:endParaRPr lang="en-US" sz="9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C00000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「子どもと一緒に楽しみたい」+1.45</a:t>
                      </a:r>
                      <a:endParaRPr lang="en-US" sz="8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404040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暑い時に涼みながら食べたいとき</a:t>
                      </a:r>
                      <a:endParaRPr lang="en-US" sz="9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-10.6</a:t>
                      </a:r>
                      <a:endParaRPr lang="en-US" sz="9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B3B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0.07</a:t>
                      </a:r>
                      <a:endParaRPr lang="en-US" sz="9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F0D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4.71</a:t>
                      </a:r>
                      <a:endParaRPr lang="en-US" sz="9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FD9B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5.82</a:t>
                      </a:r>
                      <a:endParaRPr lang="en-US" sz="9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FD9B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7828F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895</a:t>
                      </a:r>
                      <a:endParaRPr lang="en-US" sz="9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C00000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夏場はピノ・パルムが優位 ＝ 冬が主戦場</a:t>
                      </a:r>
                      <a:endParaRPr lang="en-US" sz="8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404040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期間限定フレーバーを試したいとき</a:t>
                      </a:r>
                      <a:endParaRPr lang="en-US" sz="9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-11.08</a:t>
                      </a:r>
                      <a:endParaRPr lang="en-US" sz="9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B3B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9.22</a:t>
                      </a:r>
                      <a:endParaRPr lang="en-US" sz="9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FD9B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-8.63</a:t>
                      </a:r>
                      <a:endParaRPr lang="en-US" sz="9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B3B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10.5</a:t>
                      </a:r>
                      <a:endParaRPr lang="en-US" sz="9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FD9B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7828F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1291</a:t>
                      </a:r>
                      <a:endParaRPr lang="en-US" sz="9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C00000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味変軸は競合が優位</a:t>
                      </a:r>
                      <a:endParaRPr lang="en-US" sz="8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5" name="Shape 12"/>
          <p:cNvSpPr/>
          <p:nvPr/>
        </p:nvSpPr>
        <p:spPr>
          <a:xfrm>
            <a:off x="685800" y="4892040"/>
            <a:ext cx="10817352" cy="960120"/>
          </a:xfrm>
          <a:prstGeom prst="roundRect">
            <a:avLst>
              <a:gd name="adj" fmla="val 7619"/>
            </a:avLst>
          </a:prstGeom>
          <a:solidFill>
            <a:srgbClr val="FDF0F0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960120" y="4892040"/>
            <a:ext cx="1026871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100" b="1" dirty="0">
                <a:solidFill>
                  <a:srgbClr val="C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◆ 適合ゾーンに応える新規の切り口（例・1案のみ）：</a:t>
            </a:r>
            <a:endParaRPr lang="en-US" sz="11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100" dirty="0">
                <a:solidFill>
                  <a:srgbClr val="40404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昭和・平成・令和のウルトラファミリーと囲む冬 ── 三世代でこたつを囲む「家族と分け合いたいとき」に応える（2026年冬）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685800" y="6035040"/>
            <a:ext cx="10817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0808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スコア＝メンタルアドバンテージスコア（0基準・±5が目安、正＝その場面で想起されやすい。読み方はAppendix参照）。出所：アライドアーキテクツ社 VOC分析（X上の生活者投稿、2025/8–2026/7）※分析の一部を抜粋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384048"/>
            <a:ext cx="1965960" cy="310896"/>
          </a:xfrm>
          <a:prstGeom prst="rect">
            <a:avLst/>
          </a:prstGeom>
          <a:solidFill>
            <a:srgbClr val="C4761B"/>
          </a:solidFill>
          <a:ln/>
        </p:spPr>
      </p:sp>
      <p:sp>
        <p:nvSpPr>
          <p:cNvPr id="3" name="Text 1"/>
          <p:cNvSpPr/>
          <p:nvPr/>
        </p:nvSpPr>
        <p:spPr>
          <a:xfrm>
            <a:off x="795528" y="384048"/>
            <a:ext cx="18562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3．どこから始めるか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685800" y="758952"/>
            <a:ext cx="1463040" cy="50292"/>
          </a:xfrm>
          <a:prstGeom prst="rect">
            <a:avLst/>
          </a:prstGeom>
          <a:solidFill>
            <a:srgbClr val="7A4521"/>
          </a:solidFill>
          <a:ln/>
        </p:spPr>
      </p:sp>
      <p:sp>
        <p:nvSpPr>
          <p:cNvPr id="5" name="Text 3"/>
          <p:cNvSpPr/>
          <p:nvPr/>
        </p:nvSpPr>
        <p:spPr>
          <a:xfrm>
            <a:off x="10332720" y="411480"/>
            <a:ext cx="1170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spc="300" kern="0" dirty="0">
                <a:solidFill>
                  <a:srgbClr val="595959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極　秘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685800" y="932688"/>
            <a:ext cx="10817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33333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コアラのマーチ ×「食べるウルトラ図鑑」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685800" y="1481328"/>
            <a:ext cx="1081735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40404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「絵柄を楽しみながら食べたい」はコアラのマーチが突出して独占するCEPs。60年×約2,500種の絵柄資産との掛け合わせ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85800" y="6382512"/>
            <a:ext cx="10817352" cy="0"/>
          </a:xfrm>
          <a:prstGeom prst="line">
            <a:avLst/>
          </a:prstGeom>
          <a:noFill/>
          <a:ln w="9525">
            <a:solidFill>
              <a:srgbClr val="E9E9E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6437376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33333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TSUBURAYA PRODUCTIONS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7772400" y="6437376"/>
            <a:ext cx="37307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spc="400" kern="0" dirty="0">
                <a:solidFill>
                  <a:srgbClr val="80808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LOTTE × TSUBURAYA</a:t>
            </a:r>
            <a:pPr algn="r" indent="0" marL="0">
              <a:buNone/>
            </a:pPr>
            <a:r>
              <a:rPr lang="en-US" sz="950" dirty="0">
                <a:solidFill>
                  <a:srgbClr val="595959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    9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685800" y="2194560"/>
            <a:ext cx="3108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C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+9.57</a:t>
            </a:r>
            <a:endParaRPr lang="en-US" sz="5200" dirty="0"/>
          </a:p>
        </p:txBody>
      </p:sp>
      <p:sp>
        <p:nvSpPr>
          <p:cNvPr id="12" name="Text 10"/>
          <p:cNvSpPr/>
          <p:nvPr/>
        </p:nvSpPr>
        <p:spPr>
          <a:xfrm>
            <a:off x="685800" y="3127248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80808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「絵柄を楽しみながら食べたいとき」</a:t>
            </a:r>
            <a:endParaRPr lang="en-US" sz="9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80808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コアラのマーチのスコア差（3ブランド中最強・突出）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206240" y="2194560"/>
            <a:ext cx="2743200" cy="1234440"/>
          </a:xfrm>
          <a:prstGeom prst="roundRect">
            <a:avLst>
              <a:gd name="adj" fmla="val 7407"/>
            </a:avLst>
          </a:prstGeom>
          <a:solidFill>
            <a:srgbClr val="F7F5F1"/>
          </a:solidFill>
          <a:ln w="19050">
            <a:solidFill>
              <a:srgbClr val="17828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389120" y="2304288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828F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コアラのマーチ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389120" y="2670048"/>
            <a:ext cx="2377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40404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絵柄を見る楽しさ</a:t>
            </a:r>
            <a:endParaRPr lang="en-US" sz="10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40404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（CEPs独占 +9.57）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7498080" y="2194560"/>
            <a:ext cx="2743200" cy="1234440"/>
          </a:xfrm>
          <a:prstGeom prst="roundRect">
            <a:avLst>
              <a:gd name="adj" fmla="val 7407"/>
            </a:avLst>
          </a:prstGeom>
          <a:solidFill>
            <a:srgbClr val="F7F5F1"/>
          </a:solidFill>
          <a:ln w="19050">
            <a:solidFill>
              <a:srgbClr val="C0000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680960" y="2304288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ウルトラマン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7680960" y="2670048"/>
            <a:ext cx="2377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40404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60年 × 約2,500種の</a:t>
            </a:r>
            <a:endParaRPr lang="en-US" sz="10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40404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ヒーロー・怪獣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6949440" y="2194560"/>
            <a:ext cx="5486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80808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×</a:t>
            </a:r>
            <a:endParaRPr lang="en-US" sz="2400" dirty="0"/>
          </a:p>
        </p:txBody>
      </p:sp>
      <p:sp>
        <p:nvSpPr>
          <p:cNvPr id="20" name="Shape 18"/>
          <p:cNvSpPr/>
          <p:nvPr/>
        </p:nvSpPr>
        <p:spPr>
          <a:xfrm>
            <a:off x="4206240" y="3657600"/>
            <a:ext cx="7296912" cy="868680"/>
          </a:xfrm>
          <a:prstGeom prst="roundRect">
            <a:avLst>
              <a:gd name="adj" fmla="val 10526"/>
            </a:avLst>
          </a:prstGeom>
          <a:solidFill>
            <a:srgbClr val="3B3028"/>
          </a:solidFill>
          <a:ln/>
        </p:spPr>
      </p:sp>
      <p:sp>
        <p:nvSpPr>
          <p:cNvPr id="21" name="Text 19"/>
          <p:cNvSpPr/>
          <p:nvPr/>
        </p:nvSpPr>
        <p:spPr>
          <a:xfrm>
            <a:off x="4526280" y="3657600"/>
            <a:ext cx="6675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1900" b="1" dirty="0">
                <a:solidFill>
                  <a:srgbClr val="FFFFFF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＝ 「食べるウルトラ図鑑」</a:t>
            </a:r>
            <a:endParaRPr lang="en-US" sz="1900" dirty="0"/>
          </a:p>
          <a:p>
            <a:pPr indent="0" marL="0">
              <a:buNone/>
            </a:pPr>
            <a:r>
              <a:rPr lang="en-US" sz="1050" dirty="0">
                <a:solidFill>
                  <a:srgbClr val="D9C7A9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一枚ごとに絵柄と出会い、集め、語りたくなる新しいおやつ体験</a:t>
            </a:r>
            <a:endParaRPr lang="en-US" sz="19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4754880"/>
          <a:ext cx="10817352" cy="914400"/>
        </p:xfrm>
        <a:graphic>
          <a:graphicData uri="http://schemas.openxmlformats.org/drawingml/2006/table">
            <a:tbl>
              <a:tblPr/>
              <a:tblGrid>
                <a:gridCol w="4206240"/>
                <a:gridCol w="2377440"/>
                <a:gridCol w="4233672"/>
              </a:tblGrid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補強するCEPs</a:t>
                      </a:r>
                      <a:endParaRPr lang="en-US" sz="11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828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スコア</a:t>
                      </a:r>
                      <a:endParaRPr lang="en-US" sz="11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828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位置づけ</a:t>
                      </a:r>
                      <a:endParaRPr lang="en-US" sz="11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828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404040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限定やコラボ商品を試したいとき</a:t>
                      </a:r>
                      <a:endParaRPr lang="en-US" sz="95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C00000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+4.48（738件）</a:t>
                      </a:r>
                      <a:endParaRPr lang="en-US" sz="95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808080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コアラのマーチ側の第2の独占CEPs</a:t>
                      </a:r>
                      <a:endParaRPr lang="en-US" sz="95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404040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周年記念を祝いたいとき</a:t>
                      </a:r>
                      <a:endParaRPr lang="en-US" sz="95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C00000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+7.46（210件）</a:t>
                      </a:r>
                      <a:endParaRPr lang="en-US" sz="95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808080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ウルトラマン側・全IP中で突出</a:t>
                      </a:r>
                      <a:endParaRPr lang="en-US" sz="95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404040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コラボ情報を知ってワクワクしたとき</a:t>
                      </a:r>
                      <a:endParaRPr lang="en-US" sz="95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C00000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+4.56（1,150件）</a:t>
                      </a:r>
                      <a:endParaRPr lang="en-US" sz="95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808080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ウルトラマン側・発話量も最大級</a:t>
                      </a:r>
                      <a:endParaRPr lang="en-US" sz="95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3" name="Text 20"/>
          <p:cNvSpPr/>
          <p:nvPr/>
        </p:nvSpPr>
        <p:spPr>
          <a:xfrm>
            <a:off x="685800" y="6089904"/>
            <a:ext cx="10817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0808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スコア＝メンタルアドバンテージスコア（0基準・±5が目安、正＝その場面で想起されやすい。読み方はAppendix参照）。出所：アライドアーキテクツ社 VOC分析（X上の生活者投稿、2025/8–2026/7）※分析の一部を抜粋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384048"/>
            <a:ext cx="1965960" cy="310896"/>
          </a:xfrm>
          <a:prstGeom prst="rect">
            <a:avLst/>
          </a:prstGeom>
          <a:solidFill>
            <a:srgbClr val="C4761B"/>
          </a:solidFill>
          <a:ln/>
        </p:spPr>
      </p:sp>
      <p:sp>
        <p:nvSpPr>
          <p:cNvPr id="3" name="Text 1"/>
          <p:cNvSpPr/>
          <p:nvPr/>
        </p:nvSpPr>
        <p:spPr>
          <a:xfrm>
            <a:off x="795528" y="384048"/>
            <a:ext cx="18562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3．どこから始めるか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685800" y="758952"/>
            <a:ext cx="1463040" cy="50292"/>
          </a:xfrm>
          <a:prstGeom prst="rect">
            <a:avLst/>
          </a:prstGeom>
          <a:solidFill>
            <a:srgbClr val="7A4521"/>
          </a:solidFill>
          <a:ln/>
        </p:spPr>
      </p:sp>
      <p:sp>
        <p:nvSpPr>
          <p:cNvPr id="5" name="Text 3"/>
          <p:cNvSpPr/>
          <p:nvPr/>
        </p:nvSpPr>
        <p:spPr>
          <a:xfrm>
            <a:off x="10332720" y="411480"/>
            <a:ext cx="1170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spc="300" kern="0" dirty="0">
                <a:solidFill>
                  <a:srgbClr val="595959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極　秘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685800" y="932688"/>
            <a:ext cx="10817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33333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一箱ごとに、60年の宇宙へ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685800" y="1481328"/>
            <a:ext cx="1081735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40404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データから導かれた具体化イメージ（決定事項ではない）。シリーズを段階的に展開し、パッケージから店頭・SNS・デジタル図鑑までを一つの体験として設計する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85800" y="6382512"/>
            <a:ext cx="10817352" cy="0"/>
          </a:xfrm>
          <a:prstGeom prst="line">
            <a:avLst/>
          </a:prstGeom>
          <a:noFill/>
          <a:ln w="9525">
            <a:solidFill>
              <a:srgbClr val="E9E9E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6437376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33333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TSUBURAYA PRODUCTIONS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7772400" y="6437376"/>
            <a:ext cx="37307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spc="400" kern="0" dirty="0">
                <a:solidFill>
                  <a:srgbClr val="80808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LOTTE × TSUBURAYA</a:t>
            </a:r>
            <a:pPr algn="r" indent="0" marL="0">
              <a:buNone/>
            </a:pPr>
            <a:r>
              <a:rPr lang="en-US" sz="950" dirty="0">
                <a:solidFill>
                  <a:srgbClr val="595959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    10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685800" y="2286000"/>
            <a:ext cx="108173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33333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シリーズ構成（歴代デザインの段階的復刻）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85800" y="2615184"/>
            <a:ext cx="10817352" cy="0"/>
          </a:xfrm>
          <a:prstGeom prst="line">
            <a:avLst/>
          </a:prstGeom>
          <a:noFill/>
          <a:ln w="12700">
            <a:solidFill>
              <a:srgbClr val="333333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85800" y="2743200"/>
            <a:ext cx="1719072" cy="475488"/>
          </a:xfrm>
          <a:prstGeom prst="roundRect">
            <a:avLst>
              <a:gd name="adj" fmla="val 50000"/>
            </a:avLst>
          </a:prstGeom>
          <a:solidFill>
            <a:srgbClr val="17828F"/>
          </a:solidFill>
          <a:ln/>
        </p:spPr>
      </p:sp>
      <p:sp>
        <p:nvSpPr>
          <p:cNvPr id="14" name="Text 12"/>
          <p:cNvSpPr/>
          <p:nvPr/>
        </p:nvSpPr>
        <p:spPr>
          <a:xfrm>
            <a:off x="685800" y="2743200"/>
            <a:ext cx="17190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昭和ウルトラマン編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505456" y="2743200"/>
            <a:ext cx="1719072" cy="475488"/>
          </a:xfrm>
          <a:prstGeom prst="roundRect">
            <a:avLst>
              <a:gd name="adj" fmla="val 50000"/>
            </a:avLst>
          </a:prstGeom>
          <a:solidFill>
            <a:srgbClr val="17828F"/>
          </a:solidFill>
          <a:ln/>
        </p:spPr>
      </p:sp>
      <p:sp>
        <p:nvSpPr>
          <p:cNvPr id="16" name="Text 14"/>
          <p:cNvSpPr/>
          <p:nvPr/>
        </p:nvSpPr>
        <p:spPr>
          <a:xfrm>
            <a:off x="2505456" y="2743200"/>
            <a:ext cx="17190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平成ウルトラマン編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325112" y="2743200"/>
            <a:ext cx="1719072" cy="475488"/>
          </a:xfrm>
          <a:prstGeom prst="roundRect">
            <a:avLst>
              <a:gd name="adj" fmla="val 50000"/>
            </a:avLst>
          </a:prstGeom>
          <a:solidFill>
            <a:srgbClr val="17828F"/>
          </a:solidFill>
          <a:ln/>
        </p:spPr>
      </p:sp>
      <p:sp>
        <p:nvSpPr>
          <p:cNvPr id="18" name="Text 16"/>
          <p:cNvSpPr/>
          <p:nvPr/>
        </p:nvSpPr>
        <p:spPr>
          <a:xfrm>
            <a:off x="4325112" y="2743200"/>
            <a:ext cx="17190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令和ウルトラマン編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144768" y="2743200"/>
            <a:ext cx="1719072" cy="475488"/>
          </a:xfrm>
          <a:prstGeom prst="roundRect">
            <a:avLst>
              <a:gd name="adj" fmla="val 50000"/>
            </a:avLst>
          </a:prstGeom>
          <a:solidFill>
            <a:srgbClr val="C00000"/>
          </a:solidFill>
          <a:ln/>
        </p:spPr>
      </p:sp>
      <p:sp>
        <p:nvSpPr>
          <p:cNvPr id="20" name="Text 18"/>
          <p:cNvSpPr/>
          <p:nvPr/>
        </p:nvSpPr>
        <p:spPr>
          <a:xfrm>
            <a:off x="6144768" y="2743200"/>
            <a:ext cx="17190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怪獣編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7964424" y="2743200"/>
            <a:ext cx="1719072" cy="475488"/>
          </a:xfrm>
          <a:prstGeom prst="roundRect">
            <a:avLst>
              <a:gd name="adj" fmla="val 50000"/>
            </a:avLst>
          </a:prstGeom>
          <a:solidFill>
            <a:srgbClr val="C00000"/>
          </a:solidFill>
          <a:ln/>
        </p:spPr>
      </p:sp>
      <p:sp>
        <p:nvSpPr>
          <p:cNvPr id="22" name="Text 20"/>
          <p:cNvSpPr/>
          <p:nvPr/>
        </p:nvSpPr>
        <p:spPr>
          <a:xfrm>
            <a:off x="7964424" y="2743200"/>
            <a:ext cx="17190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宇宙人編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9784080" y="2743200"/>
            <a:ext cx="1719072" cy="475488"/>
          </a:xfrm>
          <a:prstGeom prst="roundRect">
            <a:avLst>
              <a:gd name="adj" fmla="val 50000"/>
            </a:avLst>
          </a:prstGeom>
          <a:solidFill>
            <a:srgbClr val="C4761B"/>
          </a:solidFill>
          <a:ln/>
        </p:spPr>
      </p:sp>
      <p:sp>
        <p:nvSpPr>
          <p:cNvPr id="24" name="Text 22"/>
          <p:cNvSpPr/>
          <p:nvPr/>
        </p:nvSpPr>
        <p:spPr>
          <a:xfrm>
            <a:off x="9784080" y="2743200"/>
            <a:ext cx="17190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シークレット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685800" y="3346704"/>
            <a:ext cx="10817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0808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過去5年のIPコラボは「最新作の絵柄」で一貫しており、初代からの歴代デザイン復刻は業界に実績なし（＝新規性）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685800" y="3794760"/>
            <a:ext cx="108173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33333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一つの体験としてつなぐ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685800" y="4123944"/>
            <a:ext cx="10817352" cy="0"/>
          </a:xfrm>
          <a:prstGeom prst="line">
            <a:avLst/>
          </a:prstGeom>
          <a:noFill/>
          <a:ln w="12700">
            <a:solidFill>
              <a:srgbClr val="333333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85800" y="4206240"/>
            <a:ext cx="1938528" cy="868680"/>
          </a:xfrm>
          <a:prstGeom prst="roundRect">
            <a:avLst>
              <a:gd name="adj" fmla="val 8421"/>
            </a:avLst>
          </a:prstGeom>
          <a:solidFill>
            <a:srgbClr val="F7F5F1"/>
          </a:solidFill>
          <a:ln w="9525">
            <a:solidFill>
              <a:srgbClr val="BFBFB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58952" y="4206240"/>
            <a:ext cx="179222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900" b="1" dirty="0">
                <a:solidFill>
                  <a:srgbClr val="333333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パッケージ</a:t>
            </a:r>
            <a:endParaRPr lang="en-US" sz="900" dirty="0"/>
          </a:p>
          <a:p>
            <a:pPr algn="ctr" indent="0" marL="0">
              <a:lnSpc>
                <a:spcPts val="1300"/>
              </a:lnSpc>
              <a:buNone/>
            </a:pPr>
            <a:r>
              <a:rPr lang="en-US" sz="900" b="1" dirty="0">
                <a:solidFill>
                  <a:srgbClr val="333333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（60周年仕様）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2624328" y="4434840"/>
            <a:ext cx="274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0808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→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2898648" y="4206240"/>
            <a:ext cx="1938528" cy="868680"/>
          </a:xfrm>
          <a:prstGeom prst="roundRect">
            <a:avLst>
              <a:gd name="adj" fmla="val 8421"/>
            </a:avLst>
          </a:prstGeom>
          <a:solidFill>
            <a:srgbClr val="F7F5F1"/>
          </a:solidFill>
          <a:ln w="9525">
            <a:solidFill>
              <a:srgbClr val="BFBFB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971800" y="4206240"/>
            <a:ext cx="179222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900" b="1" dirty="0">
                <a:solidFill>
                  <a:srgbClr val="333333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菓子の絵柄</a:t>
            </a:r>
            <a:endParaRPr lang="en-US" sz="900" dirty="0"/>
          </a:p>
          <a:p>
            <a:pPr algn="ctr" indent="0" marL="0">
              <a:lnSpc>
                <a:spcPts val="1300"/>
              </a:lnSpc>
              <a:buNone/>
            </a:pPr>
            <a:r>
              <a:rPr lang="en-US" sz="900" b="1" dirty="0">
                <a:solidFill>
                  <a:srgbClr val="333333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（全種描き下ろし）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4837176" y="4434840"/>
            <a:ext cx="274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0808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→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5111496" y="4206240"/>
            <a:ext cx="1938528" cy="868680"/>
          </a:xfrm>
          <a:prstGeom prst="roundRect">
            <a:avLst>
              <a:gd name="adj" fmla="val 8421"/>
            </a:avLst>
          </a:prstGeom>
          <a:solidFill>
            <a:srgbClr val="F7F5F1"/>
          </a:solidFill>
          <a:ln w="9525">
            <a:solidFill>
              <a:srgbClr val="BFBFB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184648" y="4206240"/>
            <a:ext cx="179222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900" b="1" dirty="0">
                <a:solidFill>
                  <a:srgbClr val="333333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店頭什器</a:t>
            </a:r>
            <a:endParaRPr lang="en-US" sz="900" dirty="0"/>
          </a:p>
          <a:p>
            <a:pPr algn="ctr" indent="0" marL="0">
              <a:lnSpc>
                <a:spcPts val="1300"/>
              </a:lnSpc>
              <a:buNone/>
            </a:pPr>
            <a:r>
              <a:rPr lang="en-US" sz="900" b="1" dirty="0">
                <a:solidFill>
                  <a:srgbClr val="333333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（三世代で楽しむ売場）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7050024" y="4434840"/>
            <a:ext cx="274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0808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→</a:t>
            </a:r>
            <a:endParaRPr lang="en-US" sz="1300" dirty="0"/>
          </a:p>
        </p:txBody>
      </p:sp>
      <p:sp>
        <p:nvSpPr>
          <p:cNvPr id="37" name="Shape 35"/>
          <p:cNvSpPr/>
          <p:nvPr/>
        </p:nvSpPr>
        <p:spPr>
          <a:xfrm>
            <a:off x="7324344" y="4206240"/>
            <a:ext cx="1938528" cy="868680"/>
          </a:xfrm>
          <a:prstGeom prst="roundRect">
            <a:avLst>
              <a:gd name="adj" fmla="val 8421"/>
            </a:avLst>
          </a:prstGeom>
          <a:solidFill>
            <a:srgbClr val="F7F5F1"/>
          </a:solidFill>
          <a:ln w="9525">
            <a:solidFill>
              <a:srgbClr val="BFBFBF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397496" y="4206240"/>
            <a:ext cx="179222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900" b="1" dirty="0">
                <a:solidFill>
                  <a:srgbClr val="333333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SNS</a:t>
            </a:r>
            <a:endParaRPr lang="en-US" sz="900" dirty="0"/>
          </a:p>
          <a:p>
            <a:pPr algn="ctr" indent="0" marL="0">
              <a:lnSpc>
                <a:spcPts val="1300"/>
              </a:lnSpc>
              <a:buNone/>
            </a:pPr>
            <a:r>
              <a:rPr lang="en-US" sz="900" b="1" dirty="0">
                <a:solidFill>
                  <a:srgbClr val="333333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（#食べるウルトラ図鑑）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9262872" y="4434840"/>
            <a:ext cx="274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0808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→</a:t>
            </a:r>
            <a:endParaRPr lang="en-US" sz="1300" dirty="0"/>
          </a:p>
        </p:txBody>
      </p:sp>
      <p:sp>
        <p:nvSpPr>
          <p:cNvPr id="40" name="Shape 38"/>
          <p:cNvSpPr/>
          <p:nvPr/>
        </p:nvSpPr>
        <p:spPr>
          <a:xfrm>
            <a:off x="9537192" y="4206240"/>
            <a:ext cx="1938528" cy="868680"/>
          </a:xfrm>
          <a:prstGeom prst="roundRect">
            <a:avLst>
              <a:gd name="adj" fmla="val 8421"/>
            </a:avLst>
          </a:prstGeom>
          <a:solidFill>
            <a:srgbClr val="F7F5F1"/>
          </a:solidFill>
          <a:ln w="9525">
            <a:solidFill>
              <a:srgbClr val="BFBFBF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9610344" y="4206240"/>
            <a:ext cx="179222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900" b="1" dirty="0">
                <a:solidFill>
                  <a:srgbClr val="333333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デジタル図鑑</a:t>
            </a:r>
            <a:endParaRPr lang="en-US" sz="900" dirty="0"/>
          </a:p>
          <a:p>
            <a:pPr algn="ctr" indent="0" marL="0">
              <a:lnSpc>
                <a:spcPts val="1300"/>
              </a:lnSpc>
              <a:buNone/>
            </a:pPr>
            <a:r>
              <a:rPr lang="en-US" sz="900" b="1" dirty="0">
                <a:solidFill>
                  <a:srgbClr val="333333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（集めて記録・共有）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685800" y="5349240"/>
            <a:ext cx="10817352" cy="685800"/>
          </a:xfrm>
          <a:prstGeom prst="roundRect">
            <a:avLst>
              <a:gd name="adj" fmla="val 10667"/>
            </a:avLst>
          </a:prstGeom>
          <a:solidFill>
            <a:srgbClr val="EAF4F8"/>
          </a:solidFill>
          <a:ln/>
        </p:spPr>
      </p:sp>
      <p:sp>
        <p:nvSpPr>
          <p:cNvPr id="43" name="Text 41"/>
          <p:cNvSpPr/>
          <p:nvPr/>
        </p:nvSpPr>
        <p:spPr>
          <a:xfrm>
            <a:off x="960120" y="5349240"/>
            <a:ext cx="1026871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7828F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コアラのマーチ35周年 × ウルトラマン60周年：</a:t>
            </a:r>
            <a:pPr indent="0" marL="0">
              <a:buNone/>
            </a:pPr>
            <a:r>
              <a:rPr lang="en-US" sz="1100" dirty="0">
                <a:solidFill>
                  <a:srgbClr val="40404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「周年・節目を祝いたいとき」（ウルトラマン+7.46）に応える、両ブランドの特別な1年の物語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685800" y="6144768"/>
            <a:ext cx="10817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0808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※ 企画案はデータから導かれた具体化イメージであり決定事項ではない。詳細はワークショップで御社メンバーと共同設計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384048"/>
            <a:ext cx="1819656" cy="310896"/>
          </a:xfrm>
          <a:prstGeom prst="rect">
            <a:avLst/>
          </a:prstGeom>
          <a:solidFill>
            <a:srgbClr val="C4761B"/>
          </a:solidFill>
          <a:ln/>
        </p:spPr>
      </p:sp>
      <p:sp>
        <p:nvSpPr>
          <p:cNvPr id="3" name="Text 1"/>
          <p:cNvSpPr/>
          <p:nvPr/>
        </p:nvSpPr>
        <p:spPr>
          <a:xfrm>
            <a:off x="795528" y="384048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4．実証のその先へ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685800" y="758952"/>
            <a:ext cx="1463040" cy="50292"/>
          </a:xfrm>
          <a:prstGeom prst="rect">
            <a:avLst/>
          </a:prstGeom>
          <a:solidFill>
            <a:srgbClr val="7A4521"/>
          </a:solidFill>
          <a:ln/>
        </p:spPr>
      </p:sp>
      <p:sp>
        <p:nvSpPr>
          <p:cNvPr id="5" name="Text 3"/>
          <p:cNvSpPr/>
          <p:nvPr/>
        </p:nvSpPr>
        <p:spPr>
          <a:xfrm>
            <a:off x="10332720" y="411480"/>
            <a:ext cx="1170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spc="300" kern="0" dirty="0">
                <a:solidFill>
                  <a:srgbClr val="595959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極　秘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685800" y="932688"/>
            <a:ext cx="10817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33333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ただし、私たちのゴールはコラボ商品ではありません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685800" y="1481328"/>
            <a:ext cx="1081735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40404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コアラのマーチ企画は「売上を取る商品」であると同時に、次のカテゴリーを作るための実証実験。売って終わりではなく、学びを設計して取りにいく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85800" y="6382512"/>
            <a:ext cx="10817352" cy="0"/>
          </a:xfrm>
          <a:prstGeom prst="line">
            <a:avLst/>
          </a:prstGeom>
          <a:noFill/>
          <a:ln w="9525">
            <a:solidFill>
              <a:srgbClr val="E9E9E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6437376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33333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TSUBURAYA PRODUCTIONS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7772400" y="6437376"/>
            <a:ext cx="37307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spc="400" kern="0" dirty="0">
                <a:solidFill>
                  <a:srgbClr val="80808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LOTTE × TSUBURAYA</a:t>
            </a:r>
            <a:pPr algn="r" indent="0" marL="0">
              <a:buNone/>
            </a:pPr>
            <a:r>
              <a:rPr lang="en-US" sz="950" dirty="0">
                <a:solidFill>
                  <a:srgbClr val="595959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    11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685800" y="2331720"/>
            <a:ext cx="108173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33333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実証で測定するもの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85800" y="2660904"/>
            <a:ext cx="10817352" cy="0"/>
          </a:xfrm>
          <a:prstGeom prst="line">
            <a:avLst/>
          </a:prstGeom>
          <a:noFill/>
          <a:ln w="12700">
            <a:solidFill>
              <a:srgbClr val="333333"/>
            </a:solidFill>
            <a:prstDash val="solid"/>
          </a:ln>
        </p:spPr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2788920"/>
          <a:ext cx="10817352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8439912"/>
              </a:tblGrid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測定項目</a:t>
                      </a:r>
                      <a:endParaRPr lang="en-US" sz="11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828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何を学ぶか</a:t>
                      </a:r>
                      <a:endParaRPr lang="en-US" sz="11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828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333333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新規購買</a:t>
                      </a:r>
                      <a:endParaRPr lang="en-US" sz="11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04040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コアラのマーチを初めて／久しぶりに買った人の割合</a:t>
                      </a:r>
                      <a:endParaRPr lang="en-US" sz="105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333333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年代構成</a:t>
                      </a:r>
                      <a:endParaRPr lang="en-US" sz="11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04040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購買者の年代分布 ── 三世代に届いたか</a:t>
                      </a:r>
                      <a:endParaRPr lang="en-US" sz="105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333333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リピート</a:t>
                      </a:r>
                      <a:endParaRPr lang="en-US" sz="11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04040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シリーズ第2弾・第3弾への継続購買</a:t>
                      </a:r>
                      <a:endParaRPr lang="en-US" sz="105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333333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人気キャラクター</a:t>
                      </a:r>
                      <a:endParaRPr lang="en-US" sz="11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04040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どの時代・どのキャラが選ばれたか</a:t>
                      </a:r>
                      <a:endParaRPr lang="en-US" sz="105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333333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SNS発話</a:t>
                      </a:r>
                      <a:endParaRPr lang="en-US" sz="11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04040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#食べるウルトラ図鑑 の発話量・文脈</a:t>
                      </a:r>
                      <a:endParaRPr lang="en-US" sz="105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333333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動いた界隈</a:t>
                      </a:r>
                      <a:endParaRPr lang="en-US" sz="11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04040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推し活・ヤング・コレクターのどこが動いたか</a:t>
                      </a:r>
                      <a:endParaRPr lang="en-US" sz="105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333333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CEPスコアの変化</a:t>
                      </a:r>
                      <a:endParaRPr lang="en-US" sz="11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04040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施策前後のメンタルアドバンテージスコアのBefore/After ── 対象CEP・新規CEP・発話構成がどう動いたか</a:t>
                      </a:r>
                      <a:endParaRPr lang="en-US" sz="105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4" name="Shape 11"/>
          <p:cNvSpPr/>
          <p:nvPr/>
        </p:nvSpPr>
        <p:spPr>
          <a:xfrm>
            <a:off x="630936" y="5349240"/>
            <a:ext cx="10927080" cy="457200"/>
          </a:xfrm>
          <a:prstGeom prst="rect">
            <a:avLst/>
          </a:prstGeom>
          <a:ln w="15875">
            <a:solidFill>
              <a:srgbClr val="C00000"/>
            </a:solidFill>
            <a:prstDash val="dash"/>
          </a:ln>
        </p:spPr>
      </p:sp>
      <p:sp>
        <p:nvSpPr>
          <p:cNvPr id="15" name="Text 12"/>
          <p:cNvSpPr/>
          <p:nvPr/>
        </p:nvSpPr>
        <p:spPr>
          <a:xfrm>
            <a:off x="685800" y="5943600"/>
            <a:ext cx="108173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C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スコアは「相性の点数」ではなく、施策前後の変化を追う共通KPIとして使う ── </a:t>
            </a:r>
            <a:pPr indent="0" marL="0">
              <a:buNone/>
            </a:pPr>
            <a:r>
              <a:rPr lang="en-US" sz="1150" dirty="0">
                <a:solidFill>
                  <a:srgbClr val="40404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診断で終わらせないことが、単発コラボとの決定的な違い</a:t>
            </a:r>
            <a:endParaRPr lang="en-US" sz="11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384048"/>
            <a:ext cx="1819656" cy="310896"/>
          </a:xfrm>
          <a:prstGeom prst="rect">
            <a:avLst/>
          </a:prstGeom>
          <a:solidFill>
            <a:srgbClr val="C4761B"/>
          </a:solidFill>
          <a:ln/>
        </p:spPr>
      </p:sp>
      <p:sp>
        <p:nvSpPr>
          <p:cNvPr id="3" name="Text 1"/>
          <p:cNvSpPr/>
          <p:nvPr/>
        </p:nvSpPr>
        <p:spPr>
          <a:xfrm>
            <a:off x="795528" y="384048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4．実証のその先へ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685800" y="758952"/>
            <a:ext cx="1463040" cy="50292"/>
          </a:xfrm>
          <a:prstGeom prst="rect">
            <a:avLst/>
          </a:prstGeom>
          <a:solidFill>
            <a:srgbClr val="7A4521"/>
          </a:solidFill>
          <a:ln/>
        </p:spPr>
      </p:sp>
      <p:sp>
        <p:nvSpPr>
          <p:cNvPr id="5" name="Text 3"/>
          <p:cNvSpPr/>
          <p:nvPr/>
        </p:nvSpPr>
        <p:spPr>
          <a:xfrm>
            <a:off x="10332720" y="411480"/>
            <a:ext cx="1170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spc="300" kern="0" dirty="0">
                <a:solidFill>
                  <a:srgbClr val="595959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極　秘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685800" y="932688"/>
            <a:ext cx="10817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33333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ロッテは、商品ではなく“習慣”を発明してきた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685800" y="1481328"/>
            <a:ext cx="1081735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40404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カテゴリー創造は外部の成功例ではなく、御社自身の勝ちパターンである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85800" y="6382512"/>
            <a:ext cx="10817352" cy="0"/>
          </a:xfrm>
          <a:prstGeom prst="line">
            <a:avLst/>
          </a:prstGeom>
          <a:noFill/>
          <a:ln w="9525">
            <a:solidFill>
              <a:srgbClr val="E9E9E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6437376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33333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TSUBURAYA PRODUCTIONS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7772400" y="6437376"/>
            <a:ext cx="37307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spc="400" kern="0" dirty="0">
                <a:solidFill>
                  <a:srgbClr val="80808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LOTTE × TSUBURAYA</a:t>
            </a:r>
            <a:pPr algn="r" indent="0" marL="0">
              <a:buNone/>
            </a:pPr>
            <a:r>
              <a:rPr lang="en-US" sz="950" dirty="0">
                <a:solidFill>
                  <a:srgbClr val="595959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    12</a:t>
            </a:r>
            <a:endParaRPr lang="en-US" sz="95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2331720"/>
          <a:ext cx="10817352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1097280"/>
                <a:gridCol w="3566160"/>
                <a:gridCol w="3867912"/>
              </a:tblGrid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商品</a:t>
                      </a:r>
                      <a:endParaRPr lang="en-US" sz="11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828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年</a:t>
                      </a:r>
                      <a:endParaRPr lang="en-US" sz="11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828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発明した習慣</a:t>
                      </a:r>
                      <a:endParaRPr lang="en-US" sz="11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828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何が起きたか</a:t>
                      </a:r>
                      <a:endParaRPr lang="en-US" sz="11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828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333333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ビックリマン</a:t>
                      </a:r>
                      <a:endParaRPr lang="en-US" sz="11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04040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1977／85</a:t>
                      </a:r>
                      <a:endParaRPr lang="en-US" sz="11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333333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「集める」という習慣</a:t>
                      </a:r>
                      <a:endParaRPr lang="en-US" sz="11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808080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シール食玩の発明。最盛期年間4億個</a:t>
                      </a:r>
                      <a:endParaRPr lang="en-US" sz="10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333333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雪見だいふく</a:t>
                      </a:r>
                      <a:endParaRPr lang="en-US" sz="11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04040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1981</a:t>
                      </a:r>
                      <a:endParaRPr lang="en-US" sz="11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333333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「冬にアイスを食べる」習慣</a:t>
                      </a:r>
                      <a:endParaRPr lang="en-US" sz="11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808080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『冬は売れない』の常識を反転</a:t>
                      </a:r>
                      <a:endParaRPr lang="en-US" sz="10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333333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キシリトールガム</a:t>
                      </a:r>
                      <a:endParaRPr lang="en-US" sz="11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04040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1997</a:t>
                      </a:r>
                      <a:endParaRPr lang="en-US" sz="11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333333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「歯のために噛む」習慣</a:t>
                      </a:r>
                      <a:endParaRPr lang="en-US" sz="11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808080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機能性ガムの創造。ガムシェア6割の源泉</a:t>
                      </a:r>
                      <a:endParaRPr lang="en-US" sz="10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333333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クーリッシュ</a:t>
                      </a:r>
                      <a:endParaRPr lang="en-US" sz="11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04040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2003</a:t>
                      </a:r>
                      <a:endParaRPr lang="en-US" sz="11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333333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「アイスを飲む」習慣</a:t>
                      </a:r>
                      <a:endParaRPr lang="en-US" sz="11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808080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容器の発明で世界ヒット商品賞</a:t>
                      </a:r>
                      <a:endParaRPr lang="en-US" sz="10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2" name="Shape 9"/>
          <p:cNvSpPr/>
          <p:nvPr/>
        </p:nvSpPr>
        <p:spPr>
          <a:xfrm>
            <a:off x="685800" y="5349240"/>
            <a:ext cx="10817352" cy="777240"/>
          </a:xfrm>
          <a:prstGeom prst="rect">
            <a:avLst/>
          </a:prstGeom>
          <a:solidFill>
            <a:srgbClr val="3B3028"/>
          </a:solidFill>
          <a:ln/>
        </p:spPr>
      </p:sp>
      <p:sp>
        <p:nvSpPr>
          <p:cNvPr id="13" name="Text 10"/>
          <p:cNvSpPr/>
          <p:nvPr/>
        </p:nvSpPr>
        <p:spPr>
          <a:xfrm>
            <a:off x="685800" y="5349240"/>
            <a:ext cx="108173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では、次の習慣は何か。</a:t>
            </a:r>
            <a:endParaRPr lang="en-US" sz="1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384048"/>
            <a:ext cx="1819656" cy="310896"/>
          </a:xfrm>
          <a:prstGeom prst="rect">
            <a:avLst/>
          </a:prstGeom>
          <a:solidFill>
            <a:srgbClr val="C4761B"/>
          </a:solidFill>
          <a:ln/>
        </p:spPr>
      </p:sp>
      <p:sp>
        <p:nvSpPr>
          <p:cNvPr id="3" name="Text 1"/>
          <p:cNvSpPr/>
          <p:nvPr/>
        </p:nvSpPr>
        <p:spPr>
          <a:xfrm>
            <a:off x="795528" y="384048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4．実証のその先へ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685800" y="758952"/>
            <a:ext cx="1463040" cy="50292"/>
          </a:xfrm>
          <a:prstGeom prst="rect">
            <a:avLst/>
          </a:prstGeom>
          <a:solidFill>
            <a:srgbClr val="7A4521"/>
          </a:solidFill>
          <a:ln/>
        </p:spPr>
      </p:sp>
      <p:sp>
        <p:nvSpPr>
          <p:cNvPr id="5" name="Text 3"/>
          <p:cNvSpPr/>
          <p:nvPr/>
        </p:nvSpPr>
        <p:spPr>
          <a:xfrm>
            <a:off x="10332720" y="411480"/>
            <a:ext cx="1170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spc="300" kern="0" dirty="0">
                <a:solidFill>
                  <a:srgbClr val="595959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極　秘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685800" y="932688"/>
            <a:ext cx="10817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33333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「3分間を、たべよう。」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685800" y="1481328"/>
            <a:ext cx="1081735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40404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実証の先で共同開発したい最終構想 ──『ULTRA 3MIN.』。ウルトラマンの「3分間」を、気分を切り替える食習慣に翻訳する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85800" y="6382512"/>
            <a:ext cx="10817352" cy="0"/>
          </a:xfrm>
          <a:prstGeom prst="line">
            <a:avLst/>
          </a:prstGeom>
          <a:noFill/>
          <a:ln w="9525">
            <a:solidFill>
              <a:srgbClr val="E9E9E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6437376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33333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TSUBURAYA PRODUCTIONS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7772400" y="6437376"/>
            <a:ext cx="37307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spc="400" kern="0" dirty="0">
                <a:solidFill>
                  <a:srgbClr val="80808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LOTTE × TSUBURAYA</a:t>
            </a:r>
            <a:pPr algn="r" indent="0" marL="0">
              <a:buNone/>
            </a:pPr>
            <a:r>
              <a:rPr lang="en-US" sz="950" dirty="0">
                <a:solidFill>
                  <a:srgbClr val="595959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    13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685800" y="2286000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33333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コンセプト（共同で検証したい仮説）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85800" y="2615184"/>
            <a:ext cx="4937760" cy="0"/>
          </a:xfrm>
          <a:prstGeom prst="line">
            <a:avLst/>
          </a:prstGeom>
          <a:noFill/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85800" y="2788920"/>
            <a:ext cx="4937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000"/>
              </a:lnSpc>
              <a:buNone/>
            </a:pPr>
            <a:r>
              <a:rPr lang="en-US" sz="2200" b="1" dirty="0">
                <a:solidFill>
                  <a:srgbClr val="333333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噛んで3分。</a:t>
            </a:r>
            <a:endParaRPr lang="en-US" sz="2200" dirty="0"/>
          </a:p>
          <a:p>
            <a:pPr indent="0" marL="0">
              <a:lnSpc>
                <a:spcPts val="3000"/>
              </a:lnSpc>
              <a:buNone/>
            </a:pPr>
            <a:r>
              <a:rPr lang="en-US" sz="2200" b="1" dirty="0">
                <a:solidFill>
                  <a:srgbClr val="333333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気分が、変身する。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685800" y="3931920"/>
            <a:ext cx="49377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100" dirty="0">
                <a:solidFill>
                  <a:srgbClr val="40404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「やるぞ」のスイッチ、「落ち着く」の儀式 ── 勉強前・仕事前の</a:t>
            </a:r>
            <a:endParaRPr lang="en-US" sz="11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100" dirty="0">
                <a:solidFill>
                  <a:srgbClr val="40404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「1日3分のヒーロータイム」という新習慣。形態はグミを第一候補に</a:t>
            </a:r>
            <a:endParaRPr lang="en-US" sz="11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100" dirty="0">
                <a:solidFill>
                  <a:srgbClr val="40404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（御社のグミ強化・生産投資の方針と整合）、ガム等へ拡張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989320" y="2286000"/>
            <a:ext cx="55138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33333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3分の変身の設計（イメージ）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989320" y="2615184"/>
            <a:ext cx="5513832" cy="0"/>
          </a:xfrm>
          <a:prstGeom prst="line">
            <a:avLst/>
          </a:prstGeom>
          <a:noFill/>
          <a:ln w="12700">
            <a:solidFill>
              <a:srgbClr val="333333"/>
            </a:solidFill>
            <a:prstDash val="solid"/>
          </a:ln>
        </p:spPr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89320" y="2743200"/>
          <a:ext cx="5513832" cy="914400"/>
        </p:xfrm>
        <a:graphic>
          <a:graphicData uri="http://schemas.openxmlformats.org/drawingml/2006/table">
            <a:tbl>
              <a:tblPr/>
              <a:tblGrid>
                <a:gridCol w="1280160"/>
                <a:gridCol w="1920240"/>
                <a:gridCol w="2313432"/>
              </a:tblGrid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噛みはじめ</a:t>
                      </a:r>
                      <a:endParaRPr lang="en-US" sz="10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828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変身（3分経過）</a:t>
                      </a:r>
                      <a:endParaRPr lang="en-US" sz="10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828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333333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気分</a:t>
                      </a:r>
                      <a:endParaRPr lang="en-US" sz="10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04040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ざわつく日常</a:t>
                      </a:r>
                      <a:endParaRPr lang="en-US" sz="10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00000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キリッと集中／すっと落ち着く</a:t>
                      </a:r>
                      <a:endParaRPr lang="en-US" sz="10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333333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味・清涼感</a:t>
                      </a:r>
                      <a:endParaRPr lang="en-US" sz="10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04040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クールな立ち上がり</a:t>
                      </a:r>
                      <a:endParaRPr lang="en-US" sz="10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04040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時限的な変化（検証仮説）</a:t>
                      </a:r>
                      <a:endParaRPr lang="en-US" sz="10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8" name="Shape 15"/>
          <p:cNvSpPr/>
          <p:nvPr/>
        </p:nvSpPr>
        <p:spPr>
          <a:xfrm>
            <a:off x="7214616" y="3026664"/>
            <a:ext cx="4343400" cy="521208"/>
          </a:xfrm>
          <a:prstGeom prst="rect">
            <a:avLst/>
          </a:prstGeom>
          <a:ln w="15875">
            <a:solidFill>
              <a:srgbClr val="C00000"/>
            </a:solidFill>
            <a:prstDash val="dash"/>
          </a:ln>
        </p:spPr>
      </p:sp>
      <p:sp>
        <p:nvSpPr>
          <p:cNvPr id="19" name="Text 16"/>
          <p:cNvSpPr/>
          <p:nvPr/>
        </p:nvSpPr>
        <p:spPr>
          <a:xfrm>
            <a:off x="5989320" y="4251960"/>
            <a:ext cx="551383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80808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※ </a:t>
            </a:r>
            <a:pPr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80808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「3分後の気分の切り替え」を軸に、香味・清涼感・食感等の時限設計は御社の咀嚼研究・商品開発・研究部門と共同で技術検証したい仮説（実現可能性を保証するものではない）</a:t>
            </a:r>
            <a:endParaRPr lang="en-US" sz="950" dirty="0"/>
          </a:p>
        </p:txBody>
      </p:sp>
      <p:sp>
        <p:nvSpPr>
          <p:cNvPr id="20" name="Shape 17"/>
          <p:cNvSpPr/>
          <p:nvPr/>
        </p:nvSpPr>
        <p:spPr>
          <a:xfrm>
            <a:off x="685800" y="5257800"/>
            <a:ext cx="10817352" cy="731520"/>
          </a:xfrm>
          <a:prstGeom prst="roundRect">
            <a:avLst>
              <a:gd name="adj" fmla="val 10000"/>
            </a:avLst>
          </a:prstGeom>
          <a:solidFill>
            <a:srgbClr val="EAF4F8"/>
          </a:solidFill>
          <a:ln/>
        </p:spPr>
      </p:sp>
      <p:sp>
        <p:nvSpPr>
          <p:cNvPr id="21" name="Text 18"/>
          <p:cNvSpPr/>
          <p:nvPr/>
        </p:nvSpPr>
        <p:spPr>
          <a:xfrm>
            <a:off x="960120" y="5257800"/>
            <a:ext cx="1026871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7828F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なぜウルトラマンか：</a:t>
            </a:r>
            <a:pPr indent="0" marL="0">
              <a:buNone/>
            </a:pPr>
            <a:r>
              <a:rPr lang="en-US" sz="1100" dirty="0">
                <a:solidFill>
                  <a:srgbClr val="40404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「3分」を物語として背負えるのは、カラータイマーを持つウルトラマンだけ。噛むことの価値（集中・リフレッシュ）は御社の咀嚼研究と整合する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384048"/>
            <a:ext cx="1673352" cy="310896"/>
          </a:xfrm>
          <a:prstGeom prst="rect">
            <a:avLst/>
          </a:prstGeom>
          <a:solidFill>
            <a:srgbClr val="C4761B"/>
          </a:solidFill>
          <a:ln/>
        </p:spPr>
      </p:sp>
      <p:sp>
        <p:nvSpPr>
          <p:cNvPr id="3" name="Text 1"/>
          <p:cNvSpPr/>
          <p:nvPr/>
        </p:nvSpPr>
        <p:spPr>
          <a:xfrm>
            <a:off x="795528" y="384048"/>
            <a:ext cx="15636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5．共同のかたち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685800" y="758952"/>
            <a:ext cx="1463040" cy="50292"/>
          </a:xfrm>
          <a:prstGeom prst="rect">
            <a:avLst/>
          </a:prstGeom>
          <a:solidFill>
            <a:srgbClr val="7A4521"/>
          </a:solidFill>
          <a:ln/>
        </p:spPr>
      </p:sp>
      <p:sp>
        <p:nvSpPr>
          <p:cNvPr id="5" name="Text 3"/>
          <p:cNvSpPr/>
          <p:nvPr/>
        </p:nvSpPr>
        <p:spPr>
          <a:xfrm>
            <a:off x="10332720" y="411480"/>
            <a:ext cx="1170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spc="300" kern="0" dirty="0">
                <a:solidFill>
                  <a:srgbClr val="595959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極　秘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685800" y="932688"/>
            <a:ext cx="10817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33333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片方だけでは、作れない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685800" y="1481328"/>
            <a:ext cx="1081735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40404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円谷プロは物語と資産を、ロッテは技術と売場を持つ。新しい食習慣は、その交点にしか生まれない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85800" y="6382512"/>
            <a:ext cx="10817352" cy="0"/>
          </a:xfrm>
          <a:prstGeom prst="line">
            <a:avLst/>
          </a:prstGeom>
          <a:noFill/>
          <a:ln w="9525">
            <a:solidFill>
              <a:srgbClr val="E9E9E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6437376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33333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TSUBURAYA PRODUCTIONS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7772400" y="6437376"/>
            <a:ext cx="37307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spc="400" kern="0" dirty="0">
                <a:solidFill>
                  <a:srgbClr val="80808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LOTTE × TSUBURAYA</a:t>
            </a:r>
            <a:pPr algn="r" indent="0" marL="0">
              <a:buNone/>
            </a:pPr>
            <a:r>
              <a:rPr lang="en-US" sz="950" dirty="0">
                <a:solidFill>
                  <a:srgbClr val="595959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    14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685800" y="2377440"/>
            <a:ext cx="3931920" cy="3108960"/>
          </a:xfrm>
          <a:prstGeom prst="roundRect">
            <a:avLst>
              <a:gd name="adj" fmla="val 2941"/>
            </a:avLst>
          </a:prstGeom>
          <a:solidFill>
            <a:srgbClr val="F7F5F1"/>
          </a:solidFill>
          <a:ln/>
        </p:spPr>
      </p:sp>
      <p:sp>
        <p:nvSpPr>
          <p:cNvPr id="12" name="Text 10"/>
          <p:cNvSpPr/>
          <p:nvPr/>
        </p:nvSpPr>
        <p:spPr>
          <a:xfrm>
            <a:off x="1005840" y="260604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円谷プロダクション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005840" y="3108960"/>
            <a:ext cx="32918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lnSpc>
                <a:spcPts val="1700"/>
              </a:lnSpc>
              <a:spcAft>
                <a:spcPts val="600"/>
              </a:spcAft>
              <a:buSzPct val="100000"/>
              <a:buChar char="●"/>
            </a:pPr>
            <a:r>
              <a:rPr lang="en-US" sz="1150" dirty="0">
                <a:solidFill>
                  <a:srgbClr val="40404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変身・3分間・カラータイマー</a:t>
            </a:r>
            <a:endParaRPr lang="en-US" sz="1150" dirty="0"/>
          </a:p>
          <a:p>
            <a:pPr marL="152400" indent="-152400">
              <a:lnSpc>
                <a:spcPts val="1700"/>
              </a:lnSpc>
              <a:spcAft>
                <a:spcPts val="600"/>
              </a:spcAft>
              <a:buSzPct val="100000"/>
              <a:buChar char="●"/>
            </a:pPr>
            <a:r>
              <a:rPr lang="en-US" sz="1150" dirty="0">
                <a:solidFill>
                  <a:srgbClr val="40404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60年 × 約2,500種のキャラクター</a:t>
            </a:r>
            <a:endParaRPr lang="en-US" sz="1150" dirty="0"/>
          </a:p>
          <a:p>
            <a:pPr marL="152400" indent="-152400">
              <a:lnSpc>
                <a:spcPts val="1700"/>
              </a:lnSpc>
              <a:spcAft>
                <a:spcPts val="600"/>
              </a:spcAft>
              <a:buSzPct val="100000"/>
              <a:buChar char="●"/>
            </a:pPr>
            <a:r>
              <a:rPr lang="en-US" sz="1150" dirty="0">
                <a:solidFill>
                  <a:srgbClr val="40404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毎年更新される映像・イベント</a:t>
            </a:r>
            <a:endParaRPr lang="en-US" sz="1150" dirty="0"/>
          </a:p>
          <a:p>
            <a:pPr marL="152400" indent="-152400">
              <a:lnSpc>
                <a:spcPts val="1700"/>
              </a:lnSpc>
              <a:buSzPct val="100000"/>
              <a:buChar char="●"/>
            </a:pPr>
            <a:r>
              <a:rPr lang="en-US" sz="1150" dirty="0">
                <a:solidFill>
                  <a:srgbClr val="40404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三世代・国内外のファンダム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7571232" y="2377440"/>
            <a:ext cx="3931920" cy="3108960"/>
          </a:xfrm>
          <a:prstGeom prst="roundRect">
            <a:avLst>
              <a:gd name="adj" fmla="val 2941"/>
            </a:avLst>
          </a:prstGeom>
          <a:solidFill>
            <a:srgbClr val="F7F5F1"/>
          </a:solidFill>
          <a:ln/>
        </p:spPr>
      </p:sp>
      <p:sp>
        <p:nvSpPr>
          <p:cNvPr id="15" name="Text 13"/>
          <p:cNvSpPr/>
          <p:nvPr/>
        </p:nvSpPr>
        <p:spPr>
          <a:xfrm>
            <a:off x="7891272" y="260604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828F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ロッテ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7891272" y="3108960"/>
            <a:ext cx="32918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lnSpc>
                <a:spcPts val="1700"/>
              </a:lnSpc>
              <a:spcAft>
                <a:spcPts val="600"/>
              </a:spcAft>
              <a:buSzPct val="100000"/>
              <a:buChar char="●"/>
            </a:pPr>
            <a:r>
              <a:rPr lang="en-US" sz="1150" dirty="0">
                <a:solidFill>
                  <a:srgbClr val="40404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ガム・グミ・チョコ・アイスの食品技術</a:t>
            </a:r>
            <a:endParaRPr lang="en-US" sz="1150" dirty="0"/>
          </a:p>
          <a:p>
            <a:pPr marL="152400" indent="-152400">
              <a:lnSpc>
                <a:spcPts val="1700"/>
              </a:lnSpc>
              <a:spcAft>
                <a:spcPts val="600"/>
              </a:spcAft>
              <a:buSzPct val="100000"/>
              <a:buChar char="●"/>
            </a:pPr>
            <a:r>
              <a:rPr lang="en-US" sz="1150" dirty="0">
                <a:solidFill>
                  <a:srgbClr val="40404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咀嚼研究・機能性のエビデンス</a:t>
            </a:r>
            <a:endParaRPr lang="en-US" sz="1150" dirty="0"/>
          </a:p>
          <a:p>
            <a:pPr marL="152400" indent="-152400">
              <a:lnSpc>
                <a:spcPts val="1700"/>
              </a:lnSpc>
              <a:spcAft>
                <a:spcPts val="600"/>
              </a:spcAft>
              <a:buSzPct val="100000"/>
              <a:buChar char="●"/>
            </a:pPr>
            <a:r>
              <a:rPr lang="en-US" sz="1150" dirty="0">
                <a:solidFill>
                  <a:srgbClr val="40404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商品開発・製造・品質管理</a:t>
            </a:r>
            <a:endParaRPr lang="en-US" sz="1150" dirty="0"/>
          </a:p>
          <a:p>
            <a:pPr marL="152400" indent="-152400">
              <a:lnSpc>
                <a:spcPts val="1700"/>
              </a:lnSpc>
              <a:buSzPct val="100000"/>
              <a:buChar char="●"/>
            </a:pPr>
            <a:r>
              <a:rPr lang="en-US" sz="1150" dirty="0">
                <a:solidFill>
                  <a:srgbClr val="40404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全国の売場とアジアの流通網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5202936" y="3200400"/>
            <a:ext cx="1783080" cy="1463040"/>
          </a:xfrm>
          <a:prstGeom prst="ellipse">
            <a:avLst/>
          </a:prstGeom>
          <a:solidFill>
            <a:srgbClr val="3B3028"/>
          </a:solidFill>
          <a:ln/>
        </p:spPr>
      </p:sp>
      <p:sp>
        <p:nvSpPr>
          <p:cNvPr id="18" name="Text 16"/>
          <p:cNvSpPr/>
          <p:nvPr/>
        </p:nvSpPr>
        <p:spPr>
          <a:xfrm>
            <a:off x="5202936" y="3200400"/>
            <a:ext cx="17830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2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新しい</a:t>
            </a:r>
            <a:endParaRPr lang="en-US" sz="1500" dirty="0"/>
          </a:p>
          <a:p>
            <a:pPr algn="ctr" indent="0" marL="0">
              <a:lnSpc>
                <a:spcPts val="2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食習慣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4617720" y="3200400"/>
            <a:ext cx="585216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80808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×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6986016" y="3200400"/>
            <a:ext cx="585216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80808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×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685800" y="5760720"/>
            <a:ext cx="108173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A4521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習慣の物語は円谷から、習慣の実装はロッテから。どちらが欠けても「変身菓子」は成立しない。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384048"/>
            <a:ext cx="1673352" cy="310896"/>
          </a:xfrm>
          <a:prstGeom prst="rect">
            <a:avLst/>
          </a:prstGeom>
          <a:solidFill>
            <a:srgbClr val="C4761B"/>
          </a:solidFill>
          <a:ln/>
        </p:spPr>
      </p:sp>
      <p:sp>
        <p:nvSpPr>
          <p:cNvPr id="3" name="Text 1"/>
          <p:cNvSpPr/>
          <p:nvPr/>
        </p:nvSpPr>
        <p:spPr>
          <a:xfrm>
            <a:off x="795528" y="384048"/>
            <a:ext cx="15636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5．共同のかたち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685800" y="758952"/>
            <a:ext cx="1463040" cy="50292"/>
          </a:xfrm>
          <a:prstGeom prst="rect">
            <a:avLst/>
          </a:prstGeom>
          <a:solidFill>
            <a:srgbClr val="7A4521"/>
          </a:solidFill>
          <a:ln/>
        </p:spPr>
      </p:sp>
      <p:sp>
        <p:nvSpPr>
          <p:cNvPr id="5" name="Text 3"/>
          <p:cNvSpPr/>
          <p:nvPr/>
        </p:nvSpPr>
        <p:spPr>
          <a:xfrm>
            <a:off x="10332720" y="411480"/>
            <a:ext cx="1170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spc="300" kern="0" dirty="0">
                <a:solidFill>
                  <a:srgbClr val="595959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極　秘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685800" y="932688"/>
            <a:ext cx="10817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33333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企画して終わらない。データで学び続ける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685800" y="1481328"/>
            <a:ext cx="1081735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40404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従来の「単発コラボ」と違うのは、生活者データで仮説と成果を検証し続ける循環を最初から組み込むこと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85800" y="6382512"/>
            <a:ext cx="10817352" cy="0"/>
          </a:xfrm>
          <a:prstGeom prst="line">
            <a:avLst/>
          </a:prstGeom>
          <a:noFill/>
          <a:ln w="9525">
            <a:solidFill>
              <a:srgbClr val="E9E9E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6437376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33333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TSUBURAYA PRODUCTIONS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7772400" y="6437376"/>
            <a:ext cx="37307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spc="400" kern="0" dirty="0">
                <a:solidFill>
                  <a:srgbClr val="80808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LOTTE × TSUBURAYA</a:t>
            </a:r>
            <a:pPr algn="r" indent="0" marL="0">
              <a:buNone/>
            </a:pPr>
            <a:r>
              <a:rPr lang="en-US" sz="950" dirty="0">
                <a:solidFill>
                  <a:srgbClr val="595959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    15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960120" y="2468880"/>
            <a:ext cx="2377440" cy="685800"/>
          </a:xfrm>
          <a:prstGeom prst="roundRect">
            <a:avLst>
              <a:gd name="adj" fmla="val 10667"/>
            </a:avLst>
          </a:prstGeom>
          <a:solidFill>
            <a:srgbClr val="EAF4F8"/>
          </a:solidFill>
          <a:ln/>
        </p:spPr>
      </p:sp>
      <p:sp>
        <p:nvSpPr>
          <p:cNvPr id="12" name="Text 10"/>
          <p:cNvSpPr/>
          <p:nvPr/>
        </p:nvSpPr>
        <p:spPr>
          <a:xfrm>
            <a:off x="1033272" y="2468880"/>
            <a:ext cx="223113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050" b="1" dirty="0">
                <a:solidFill>
                  <a:srgbClr val="17828F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生活者VOC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3337560" y="2606040"/>
            <a:ext cx="2926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0808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→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3630168" y="2468880"/>
            <a:ext cx="2377440" cy="685800"/>
          </a:xfrm>
          <a:prstGeom prst="roundRect">
            <a:avLst>
              <a:gd name="adj" fmla="val 10667"/>
            </a:avLst>
          </a:prstGeom>
          <a:solidFill>
            <a:srgbClr val="EAF4F8"/>
          </a:solidFill>
          <a:ln/>
        </p:spPr>
      </p:sp>
      <p:sp>
        <p:nvSpPr>
          <p:cNvPr id="15" name="Text 13"/>
          <p:cNvSpPr/>
          <p:nvPr/>
        </p:nvSpPr>
        <p:spPr>
          <a:xfrm>
            <a:off x="3703320" y="2468880"/>
            <a:ext cx="223113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050" b="1" dirty="0">
                <a:solidFill>
                  <a:srgbClr val="17828F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ブランド課題の特定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6007608" y="2606040"/>
            <a:ext cx="2926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0808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→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6300216" y="2468880"/>
            <a:ext cx="2377440" cy="685800"/>
          </a:xfrm>
          <a:prstGeom prst="roundRect">
            <a:avLst>
              <a:gd name="adj" fmla="val 10667"/>
            </a:avLst>
          </a:prstGeom>
          <a:solidFill>
            <a:srgbClr val="EAF4F8"/>
          </a:solidFill>
          <a:ln/>
        </p:spPr>
      </p:sp>
      <p:sp>
        <p:nvSpPr>
          <p:cNvPr id="18" name="Text 16"/>
          <p:cNvSpPr/>
          <p:nvPr/>
        </p:nvSpPr>
        <p:spPr>
          <a:xfrm>
            <a:off x="6373368" y="2468880"/>
            <a:ext cx="223113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050" b="1" dirty="0">
                <a:solidFill>
                  <a:srgbClr val="17828F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IP活用の仮説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8677656" y="2606040"/>
            <a:ext cx="2926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0808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→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8970264" y="2468880"/>
            <a:ext cx="2377440" cy="685800"/>
          </a:xfrm>
          <a:prstGeom prst="roundRect">
            <a:avLst>
              <a:gd name="adj" fmla="val 10667"/>
            </a:avLst>
          </a:prstGeom>
          <a:solidFill>
            <a:srgbClr val="EAF4F8"/>
          </a:solidFill>
          <a:ln/>
        </p:spPr>
      </p:sp>
      <p:sp>
        <p:nvSpPr>
          <p:cNvPr id="21" name="Text 19"/>
          <p:cNvSpPr/>
          <p:nvPr/>
        </p:nvSpPr>
        <p:spPr>
          <a:xfrm>
            <a:off x="9043416" y="2468880"/>
            <a:ext cx="223113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050" b="1" dirty="0">
                <a:solidFill>
                  <a:srgbClr val="17828F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商品・プロモーション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8970264" y="324612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0808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↓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960120" y="3703320"/>
            <a:ext cx="3246120" cy="685800"/>
          </a:xfrm>
          <a:prstGeom prst="roundRect">
            <a:avLst>
              <a:gd name="adj" fmla="val 10667"/>
            </a:avLst>
          </a:prstGeom>
          <a:solidFill>
            <a:srgbClr val="F3EDE0"/>
          </a:solidFill>
          <a:ln w="12700">
            <a:solidFill>
              <a:srgbClr val="7A452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033272" y="3703320"/>
            <a:ext cx="309981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050" b="1" dirty="0">
                <a:solidFill>
                  <a:srgbClr val="7A4521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次の商品・次のブランドへ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4206240" y="3840480"/>
            <a:ext cx="320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0808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←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4553712" y="3703320"/>
            <a:ext cx="3246120" cy="685800"/>
          </a:xfrm>
          <a:prstGeom prst="roundRect">
            <a:avLst>
              <a:gd name="adj" fmla="val 10667"/>
            </a:avLst>
          </a:prstGeom>
          <a:solidFill>
            <a:srgbClr val="F7F5F1"/>
          </a:solidFill>
          <a:ln w="9525">
            <a:solidFill>
              <a:srgbClr val="BFBFB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626864" y="3703320"/>
            <a:ext cx="309981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050" b="1" dirty="0">
                <a:solidFill>
                  <a:srgbClr val="333333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再分析（CEPs・界隈の変化）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7799832" y="3840480"/>
            <a:ext cx="320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0808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←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8147304" y="3703320"/>
            <a:ext cx="3246120" cy="685800"/>
          </a:xfrm>
          <a:prstGeom prst="roundRect">
            <a:avLst>
              <a:gd name="adj" fmla="val 10667"/>
            </a:avLst>
          </a:prstGeom>
          <a:solidFill>
            <a:srgbClr val="F7F5F1"/>
          </a:solidFill>
          <a:ln w="9525">
            <a:solidFill>
              <a:srgbClr val="BFBFB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220456" y="3703320"/>
            <a:ext cx="309981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050" b="1" dirty="0">
                <a:solidFill>
                  <a:srgbClr val="333333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購買・SNSデータ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960120" y="4526280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7A4521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↑ 学びが次の起点に戻る</a:t>
            </a:r>
            <a:endParaRPr lang="en-US" sz="95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5029200"/>
          <a:ext cx="10817352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8074152"/>
              </a:tblGrid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担い手</a:t>
                      </a:r>
                      <a:endParaRPr lang="en-US" sz="11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828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役割</a:t>
                      </a:r>
                      <a:endParaRPr lang="en-US" sz="11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828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333333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円谷プロ</a:t>
                      </a:r>
                      <a:endParaRPr lang="en-US" sz="11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04040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IP・物語・監修・映像連動</a:t>
                      </a:r>
                      <a:endParaRPr lang="en-US" sz="105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333333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ロッテ</a:t>
                      </a:r>
                      <a:endParaRPr lang="en-US" sz="11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04040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商品・製造・売場・ブランド</a:t>
                      </a:r>
                      <a:endParaRPr lang="en-US" sz="105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333333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アライドアーキテクツ</a:t>
                      </a:r>
                      <a:endParaRPr lang="en-US" sz="11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04040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生活者データで仮説と成果を検証する分析パートナー</a:t>
                      </a:r>
                      <a:endParaRPr lang="en-US" sz="105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384048"/>
            <a:ext cx="1673352" cy="310896"/>
          </a:xfrm>
          <a:prstGeom prst="rect">
            <a:avLst/>
          </a:prstGeom>
          <a:solidFill>
            <a:srgbClr val="C4761B"/>
          </a:solidFill>
          <a:ln/>
        </p:spPr>
      </p:sp>
      <p:sp>
        <p:nvSpPr>
          <p:cNvPr id="3" name="Text 1"/>
          <p:cNvSpPr/>
          <p:nvPr/>
        </p:nvSpPr>
        <p:spPr>
          <a:xfrm>
            <a:off x="795528" y="384048"/>
            <a:ext cx="15636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5．共同のかたち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685800" y="758952"/>
            <a:ext cx="1463040" cy="50292"/>
          </a:xfrm>
          <a:prstGeom prst="rect">
            <a:avLst/>
          </a:prstGeom>
          <a:solidFill>
            <a:srgbClr val="7A4521"/>
          </a:solidFill>
          <a:ln/>
        </p:spPr>
      </p:sp>
      <p:sp>
        <p:nvSpPr>
          <p:cNvPr id="5" name="Text 3"/>
          <p:cNvSpPr/>
          <p:nvPr/>
        </p:nvSpPr>
        <p:spPr>
          <a:xfrm>
            <a:off x="10332720" y="411480"/>
            <a:ext cx="1170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spc="300" kern="0" dirty="0">
                <a:solidFill>
                  <a:srgbClr val="595959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極　秘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685800" y="932688"/>
            <a:ext cx="10817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33333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まず試す。その先で、発明する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685800" y="1481328"/>
            <a:ext cx="1081735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40404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いきなりカテゴリーを宣言しない。実証 → 学習 → カテゴリー開発の順に、意思決定を段階的に進める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85800" y="6382512"/>
            <a:ext cx="10817352" cy="0"/>
          </a:xfrm>
          <a:prstGeom prst="line">
            <a:avLst/>
          </a:prstGeom>
          <a:noFill/>
          <a:ln w="9525">
            <a:solidFill>
              <a:srgbClr val="E9E9E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6437376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33333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TSUBURAYA PRODUCTIONS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7772400" y="6437376"/>
            <a:ext cx="37307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spc="400" kern="0" dirty="0">
                <a:solidFill>
                  <a:srgbClr val="80808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LOTTE × TSUBURAYA</a:t>
            </a:r>
            <a:pPr algn="r" indent="0" marL="0">
              <a:buNone/>
            </a:pPr>
            <a:r>
              <a:rPr lang="en-US" sz="950" dirty="0">
                <a:solidFill>
                  <a:srgbClr val="595959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    16</a:t>
            </a:r>
            <a:endParaRPr lang="en-US" sz="95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2377440"/>
          <a:ext cx="10817352" cy="914400"/>
        </p:xfrm>
        <a:graphic>
          <a:graphicData uri="http://schemas.openxmlformats.org/drawingml/2006/table">
            <a:tbl>
              <a:tblPr/>
              <a:tblGrid>
                <a:gridCol w="1920240"/>
                <a:gridCol w="1188720"/>
                <a:gridCol w="5120640"/>
                <a:gridCol w="2587752"/>
              </a:tblGrid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フェーズ</a:t>
                      </a:r>
                      <a:endParaRPr lang="en-US" sz="11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828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時期</a:t>
                      </a:r>
                      <a:endParaRPr lang="en-US" sz="11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828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取り組み</a:t>
                      </a:r>
                      <a:endParaRPr lang="en-US" sz="11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828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目的</a:t>
                      </a:r>
                      <a:endParaRPr lang="en-US" sz="11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828F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C00000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① </a:t>
                      </a:r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333333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実証</a:t>
                      </a:r>
                      <a:endParaRPr lang="en-US" sz="11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7828F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2026</a:t>
                      </a:r>
                      <a:endParaRPr lang="en-US" sz="11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04040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コアラのマーチ × ウルトラマン60周年。歴代絵柄シリーズと#食べるウルトラ図鑑を展開</a:t>
                      </a:r>
                      <a:endParaRPr lang="en-US" sz="105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04040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既存ブランドで新規顧客・新規界隈を実証</a:t>
                      </a:r>
                      <a:endParaRPr lang="en-US" sz="105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C00000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② </a:t>
                      </a:r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333333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学習・検証</a:t>
                      </a:r>
                      <a:endParaRPr lang="en-US" sz="11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04040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2027</a:t>
                      </a:r>
                      <a:endParaRPr lang="en-US" sz="11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04040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実証データの再分析。ULTRA 3MIN.の共同研究・技術検証・試作。ガーナ／雪見だいふくへの横展開判断</a:t>
                      </a:r>
                      <a:endParaRPr lang="en-US" sz="105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04040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新カテゴリーの仮説検証</a:t>
                      </a:r>
                      <a:endParaRPr lang="en-US" sz="105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C00000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③ </a:t>
                      </a:r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333333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カテゴリー開発</a:t>
                      </a:r>
                      <a:endParaRPr lang="en-US" sz="11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04040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2028〜</a:t>
                      </a:r>
                      <a:endParaRPr lang="en-US" sz="11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04040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ULTRA 3MIN.の商品化判断と展開。他ブランド・アジア市場への拡張</a:t>
                      </a:r>
                      <a:endParaRPr lang="en-US" sz="105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04040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「変身菓子」カテゴリーの確立</a:t>
                      </a:r>
                      <a:endParaRPr lang="en-US" sz="105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2" name="Shape 9"/>
          <p:cNvSpPr/>
          <p:nvPr/>
        </p:nvSpPr>
        <p:spPr>
          <a:xfrm>
            <a:off x="630936" y="2688336"/>
            <a:ext cx="10927080" cy="960120"/>
          </a:xfrm>
          <a:prstGeom prst="rect">
            <a:avLst/>
          </a:prstGeom>
          <a:ln w="15875">
            <a:solidFill>
              <a:srgbClr val="C00000"/>
            </a:solidFill>
            <a:prstDash val="dash"/>
          </a:ln>
        </p:spPr>
      </p:sp>
      <p:sp>
        <p:nvSpPr>
          <p:cNvPr id="13" name="Text 10"/>
          <p:cNvSpPr/>
          <p:nvPr/>
        </p:nvSpPr>
        <p:spPr>
          <a:xfrm>
            <a:off x="685800" y="5623560"/>
            <a:ext cx="108173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C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① </a:t>
            </a:r>
            <a:pPr indent="0" marL="0">
              <a:buNone/>
            </a:pPr>
            <a:r>
              <a:rPr lang="en-US" sz="1150" dirty="0">
                <a:solidFill>
                  <a:srgbClr val="40404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だけが本日の意思決定範囲 ── ②③は実証データを見てから一緒に判断する</a:t>
            </a:r>
            <a:endParaRPr lang="en-US" sz="11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384048"/>
            <a:ext cx="1673352" cy="310896"/>
          </a:xfrm>
          <a:prstGeom prst="rect">
            <a:avLst/>
          </a:prstGeom>
          <a:solidFill>
            <a:srgbClr val="C4761B"/>
          </a:solidFill>
          <a:ln/>
        </p:spPr>
      </p:sp>
      <p:sp>
        <p:nvSpPr>
          <p:cNvPr id="3" name="Text 1"/>
          <p:cNvSpPr/>
          <p:nvPr/>
        </p:nvSpPr>
        <p:spPr>
          <a:xfrm>
            <a:off x="795528" y="384048"/>
            <a:ext cx="15636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6．クロージング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685800" y="758952"/>
            <a:ext cx="1463040" cy="50292"/>
          </a:xfrm>
          <a:prstGeom prst="rect">
            <a:avLst/>
          </a:prstGeom>
          <a:solidFill>
            <a:srgbClr val="7A4521"/>
          </a:solidFill>
          <a:ln/>
        </p:spPr>
      </p:sp>
      <p:sp>
        <p:nvSpPr>
          <p:cNvPr id="5" name="Text 3"/>
          <p:cNvSpPr/>
          <p:nvPr/>
        </p:nvSpPr>
        <p:spPr>
          <a:xfrm>
            <a:off x="10332720" y="411480"/>
            <a:ext cx="1170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spc="300" kern="0" dirty="0">
                <a:solidFill>
                  <a:srgbClr val="595959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極　秘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685800" y="932688"/>
            <a:ext cx="10817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33333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まず、コアラのマーチから一緒に考えさせてください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685800" y="1481328"/>
            <a:ext cx="1081735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40404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本日お願いしたいことは3点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85800" y="6382512"/>
            <a:ext cx="10817352" cy="0"/>
          </a:xfrm>
          <a:prstGeom prst="line">
            <a:avLst/>
          </a:prstGeom>
          <a:noFill/>
          <a:ln w="9525">
            <a:solidFill>
              <a:srgbClr val="E9E9E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6437376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33333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TSUBURAYA PRODUCTIONS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7772400" y="6437376"/>
            <a:ext cx="37307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spc="400" kern="0" dirty="0">
                <a:solidFill>
                  <a:srgbClr val="80808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LOTTE × TSUBURAYA</a:t>
            </a:r>
            <a:pPr algn="r" indent="0" marL="0">
              <a:buNone/>
            </a:pPr>
            <a:r>
              <a:rPr lang="en-US" sz="950" dirty="0">
                <a:solidFill>
                  <a:srgbClr val="595959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    17</a:t>
            </a:r>
            <a:endParaRPr lang="en-US" sz="95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2286000"/>
          <a:ext cx="10817352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8439912"/>
              </a:tblGrid>
              <a:tr h="384048">
                <a:tc gridSpan="2"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NEXT STEP：本日ご相談したい三つのこと</a:t>
                      </a:r>
                      <a:endParaRPr lang="en-US" sz="11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828F"/>
                    </a:solidFill>
                  </a:tcPr>
                </a:tc>
                <a:tc hMerge="1">
                  <a:tcPr/>
                </a:tc>
              </a:tr>
              <a:tr h="60350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333333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① 方向性</a:t>
                      </a:r>
                      <a:endParaRPr lang="en-US" sz="11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04040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ロッテ × 円谷プロで、既存ブランドの新規顧客・新規界隈開拓を共同検討することへのご合意</a:t>
                      </a:r>
                      <a:endParaRPr lang="en-US" sz="11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333333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② ワークショップ</a:t>
                      </a:r>
                      <a:endParaRPr lang="en-US" sz="11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04040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第一弾としてコアラのマーチを題材に、御社の商品・マーケティング・研究メンバーを交えた共同ワークショップの設定</a:t>
                      </a:r>
                      <a:endParaRPr lang="en-US" sz="11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333333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③ その先の検討</a:t>
                      </a:r>
                      <a:endParaRPr lang="en-US" sz="11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04040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実証結果を踏まえ、ULTRA 3MIN.を含む新カテゴリー開発まで検討範囲に含めること</a:t>
                      </a:r>
                      <a:endParaRPr lang="en-US" sz="11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2" name="Shape 9"/>
          <p:cNvSpPr/>
          <p:nvPr/>
        </p:nvSpPr>
        <p:spPr>
          <a:xfrm>
            <a:off x="630936" y="2633472"/>
            <a:ext cx="10927080" cy="694944"/>
          </a:xfrm>
          <a:prstGeom prst="rect">
            <a:avLst/>
          </a:prstGeom>
          <a:ln w="15875">
            <a:solidFill>
              <a:srgbClr val="C00000"/>
            </a:solidFill>
            <a:prstDash val="dash"/>
          </a:ln>
        </p:spPr>
      </p:sp>
      <p:sp>
        <p:nvSpPr>
          <p:cNvPr id="13" name="Text 10"/>
          <p:cNvSpPr/>
          <p:nvPr/>
        </p:nvSpPr>
        <p:spPr>
          <a:xfrm>
            <a:off x="685800" y="4892040"/>
            <a:ext cx="108173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33333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ビックリマンを生んだロッテと、「変身」を生んだウルトラマン。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685800" y="5303520"/>
            <a:ext cx="108173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7A4521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まず一つ売る。そこで学ぶ。そして、次のカテゴリーを一緒につくる。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685800" y="5852160"/>
            <a:ext cx="10817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0808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円谷プロダクション ｜ 2026年8月 ｜ 本資料の内容は両社間の検討用であり、記載の企画・商品名・時期はすべて仮称・仮案です</a:t>
            </a:r>
            <a:endParaRPr lang="en-US" sz="9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283464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333333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Appendix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685800" y="37490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0808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分析手法・全データ・技術検討事項・権利前提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85800" y="4297680"/>
            <a:ext cx="1463040" cy="50292"/>
          </a:xfrm>
          <a:prstGeom prst="rect">
            <a:avLst/>
          </a:prstGeom>
          <a:solidFill>
            <a:srgbClr val="7A4521"/>
          </a:solidFill>
          <a:ln/>
        </p:spPr>
      </p:sp>
      <p:sp>
        <p:nvSpPr>
          <p:cNvPr id="5" name="Shape 3"/>
          <p:cNvSpPr/>
          <p:nvPr/>
        </p:nvSpPr>
        <p:spPr>
          <a:xfrm>
            <a:off x="685800" y="6382512"/>
            <a:ext cx="10817352" cy="0"/>
          </a:xfrm>
          <a:prstGeom prst="line">
            <a:avLst/>
          </a:prstGeom>
          <a:noFill/>
          <a:ln w="9525">
            <a:solidFill>
              <a:srgbClr val="E9E9E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6437376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33333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TSUBURAYA PRODUCTIONS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7772400" y="6437376"/>
            <a:ext cx="37307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spc="400" kern="0" dirty="0">
                <a:solidFill>
                  <a:srgbClr val="80808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LOTTE × TSUBURAYA</a:t>
            </a:r>
            <a:pPr algn="r" indent="0" marL="0">
              <a:buNone/>
            </a:pPr>
            <a:r>
              <a:rPr lang="en-US" sz="950" dirty="0">
                <a:solidFill>
                  <a:srgbClr val="595959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    18</a:t>
            </a:r>
            <a:endParaRPr lang="en-US" sz="9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384048"/>
            <a:ext cx="1673352" cy="310896"/>
          </a:xfrm>
          <a:prstGeom prst="rect">
            <a:avLst/>
          </a:prstGeom>
          <a:solidFill>
            <a:srgbClr val="C4761B"/>
          </a:solidFill>
          <a:ln/>
        </p:spPr>
      </p:sp>
      <p:sp>
        <p:nvSpPr>
          <p:cNvPr id="3" name="Text 1"/>
          <p:cNvSpPr/>
          <p:nvPr/>
        </p:nvSpPr>
        <p:spPr>
          <a:xfrm>
            <a:off x="795528" y="384048"/>
            <a:ext cx="15636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APPENDIX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685800" y="758952"/>
            <a:ext cx="1463040" cy="50292"/>
          </a:xfrm>
          <a:prstGeom prst="rect">
            <a:avLst/>
          </a:prstGeom>
          <a:solidFill>
            <a:srgbClr val="7A4521"/>
          </a:solidFill>
          <a:ln/>
        </p:spPr>
      </p:sp>
      <p:sp>
        <p:nvSpPr>
          <p:cNvPr id="5" name="Text 3"/>
          <p:cNvSpPr/>
          <p:nvPr/>
        </p:nvSpPr>
        <p:spPr>
          <a:xfrm>
            <a:off x="10332720" y="411480"/>
            <a:ext cx="1170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spc="300" kern="0" dirty="0">
                <a:solidFill>
                  <a:srgbClr val="595959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極　秘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685800" y="932688"/>
            <a:ext cx="10817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33333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CEPs（カテゴリーエントリーポイント）とは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685800" y="1481328"/>
            <a:ext cx="1081735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40404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「あるカテゴリーの購入状況においてブランドを想起し選ぶきっかけ」。VOCから文脈抽出し、スコアリングして算出できる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85800" y="6382512"/>
            <a:ext cx="10817352" cy="0"/>
          </a:xfrm>
          <a:prstGeom prst="line">
            <a:avLst/>
          </a:prstGeom>
          <a:noFill/>
          <a:ln w="9525">
            <a:solidFill>
              <a:srgbClr val="E9E9E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6437376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33333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TSUBURAYA PRODUCTIONS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7772400" y="6437376"/>
            <a:ext cx="37307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spc="400" kern="0" dirty="0">
                <a:solidFill>
                  <a:srgbClr val="80808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LOTTE × TSUBURAYA</a:t>
            </a:r>
            <a:pPr algn="r" indent="0" marL="0">
              <a:buNone/>
            </a:pPr>
            <a:r>
              <a:rPr lang="en-US" sz="950" dirty="0">
                <a:solidFill>
                  <a:srgbClr val="595959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    19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685800" y="2377440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33333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SNS上のVOC（例：テーマパーク）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85800" y="2706624"/>
            <a:ext cx="3291840" cy="0"/>
          </a:xfrm>
          <a:prstGeom prst="line">
            <a:avLst/>
          </a:prstGeom>
          <a:noFill/>
          <a:ln w="12700">
            <a:solidFill>
              <a:srgbClr val="333333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85800" y="2834640"/>
            <a:ext cx="3291840" cy="402336"/>
          </a:xfrm>
          <a:prstGeom prst="roundRect">
            <a:avLst>
              <a:gd name="adj" fmla="val 50000"/>
            </a:avLst>
          </a:prstGeom>
          <a:solidFill>
            <a:srgbClr val="F7F5F1"/>
          </a:solidFill>
          <a:ln w="9525">
            <a:solidFill>
              <a:srgbClr val="BFBFB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68680" y="2834640"/>
            <a:ext cx="29260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0404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「思い出の地といえば」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85800" y="3346704"/>
            <a:ext cx="3291840" cy="402336"/>
          </a:xfrm>
          <a:prstGeom prst="roundRect">
            <a:avLst>
              <a:gd name="adj" fmla="val 50000"/>
            </a:avLst>
          </a:prstGeom>
          <a:solidFill>
            <a:srgbClr val="F7F5F1"/>
          </a:solidFill>
          <a:ln w="9525">
            <a:solidFill>
              <a:srgbClr val="BFBFB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68680" y="3346704"/>
            <a:ext cx="29260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0404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「友人と過ごす」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85800" y="3858768"/>
            <a:ext cx="3291840" cy="402336"/>
          </a:xfrm>
          <a:prstGeom prst="roundRect">
            <a:avLst>
              <a:gd name="adj" fmla="val 50000"/>
            </a:avLst>
          </a:prstGeom>
          <a:solidFill>
            <a:srgbClr val="F7F5F1"/>
          </a:solidFill>
          <a:ln w="9525">
            <a:solidFill>
              <a:srgbClr val="BFBFB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68680" y="3858768"/>
            <a:ext cx="29260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0404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「休日に家族で」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85800" y="4370832"/>
            <a:ext cx="3291840" cy="402336"/>
          </a:xfrm>
          <a:prstGeom prst="roundRect">
            <a:avLst>
              <a:gd name="adj" fmla="val 50000"/>
            </a:avLst>
          </a:prstGeom>
          <a:solidFill>
            <a:srgbClr val="F7F5F1"/>
          </a:solidFill>
          <a:ln w="9525">
            <a:solidFill>
              <a:srgbClr val="BFBFB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68680" y="4370832"/>
            <a:ext cx="29260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0404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「現実逃避したいなら」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685800" y="4882896"/>
            <a:ext cx="3291840" cy="402336"/>
          </a:xfrm>
          <a:prstGeom prst="roundRect">
            <a:avLst>
              <a:gd name="adj" fmla="val 50000"/>
            </a:avLst>
          </a:prstGeom>
          <a:solidFill>
            <a:srgbClr val="F7F5F1"/>
          </a:solidFill>
          <a:ln w="9525">
            <a:solidFill>
              <a:srgbClr val="BFBFB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68680" y="4882896"/>
            <a:ext cx="29260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0404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「恋人とデートで」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685800" y="5394960"/>
            <a:ext cx="3291840" cy="402336"/>
          </a:xfrm>
          <a:prstGeom prst="roundRect">
            <a:avLst>
              <a:gd name="adj" fmla="val 50000"/>
            </a:avLst>
          </a:prstGeom>
          <a:solidFill>
            <a:srgbClr val="F7F5F1"/>
          </a:solidFill>
          <a:ln w="9525">
            <a:solidFill>
              <a:srgbClr val="BFBFB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68680" y="5394960"/>
            <a:ext cx="29260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0404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「卒業旅行で」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343400" y="3657600"/>
            <a:ext cx="2194560" cy="914400"/>
          </a:xfrm>
          <a:prstGeom prst="roundRect">
            <a:avLst>
              <a:gd name="adj" fmla="val 10000"/>
            </a:avLst>
          </a:prstGeom>
          <a:solidFill>
            <a:srgbClr val="17828F"/>
          </a:solidFill>
          <a:ln/>
        </p:spPr>
      </p:sp>
      <p:sp>
        <p:nvSpPr>
          <p:cNvPr id="26" name="Text 24"/>
          <p:cNvSpPr/>
          <p:nvPr/>
        </p:nvSpPr>
        <p:spPr>
          <a:xfrm>
            <a:off x="4343400" y="365760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AIエージェント</a:t>
            </a:r>
            <a:endParaRPr lang="en-US" sz="1050" dirty="0"/>
          </a:p>
          <a:p>
            <a:pPr algn="ctr" indent="0" marL="0">
              <a:lnSpc>
                <a:spcPts val="14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による文脈抽出</a:t>
            </a:r>
            <a:endParaRPr lang="en-US" sz="1050" dirty="0"/>
          </a:p>
          <a:p>
            <a:pPr algn="ctr" indent="0" marL="0">
              <a:lnSpc>
                <a:spcPts val="14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データ整形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4041648" y="3886200"/>
            <a:ext cx="320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0808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→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6537960" y="3886200"/>
            <a:ext cx="320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0808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→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6903720" y="2377440"/>
            <a:ext cx="45994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33333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テーマパークのCEPs（抽出結果イメージ）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6903720" y="2706624"/>
            <a:ext cx="4599432" cy="0"/>
          </a:xfrm>
          <a:prstGeom prst="line">
            <a:avLst/>
          </a:prstGeom>
          <a:noFill/>
          <a:ln w="12700">
            <a:solidFill>
              <a:srgbClr val="333333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903720" y="2834640"/>
            <a:ext cx="4599432" cy="402336"/>
          </a:xfrm>
          <a:prstGeom prst="roundRect">
            <a:avLst>
              <a:gd name="adj" fmla="val 13636"/>
            </a:avLst>
          </a:prstGeom>
          <a:solidFill>
            <a:srgbClr val="EAF4F8"/>
          </a:solidFill>
          <a:ln/>
        </p:spPr>
      </p:sp>
      <p:sp>
        <p:nvSpPr>
          <p:cNvPr id="32" name="Text 30"/>
          <p:cNvSpPr/>
          <p:nvPr/>
        </p:nvSpPr>
        <p:spPr>
          <a:xfrm>
            <a:off x="7086600" y="2834640"/>
            <a:ext cx="42336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7828F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非日常の世界観を味わいたいなら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6903720" y="3346704"/>
            <a:ext cx="4599432" cy="402336"/>
          </a:xfrm>
          <a:prstGeom prst="roundRect">
            <a:avLst>
              <a:gd name="adj" fmla="val 13636"/>
            </a:avLst>
          </a:prstGeom>
          <a:solidFill>
            <a:srgbClr val="EAF4F8"/>
          </a:solidFill>
          <a:ln/>
        </p:spPr>
      </p:sp>
      <p:sp>
        <p:nvSpPr>
          <p:cNvPr id="34" name="Text 32"/>
          <p:cNvSpPr/>
          <p:nvPr/>
        </p:nvSpPr>
        <p:spPr>
          <a:xfrm>
            <a:off x="7086600" y="3346704"/>
            <a:ext cx="42336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7828F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友人と特別な時間を過ごしたいとき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6903720" y="3858768"/>
            <a:ext cx="4599432" cy="402336"/>
          </a:xfrm>
          <a:prstGeom prst="roundRect">
            <a:avLst>
              <a:gd name="adj" fmla="val 13636"/>
            </a:avLst>
          </a:prstGeom>
          <a:solidFill>
            <a:srgbClr val="EAF4F8"/>
          </a:solidFill>
          <a:ln/>
        </p:spPr>
      </p:sp>
      <p:sp>
        <p:nvSpPr>
          <p:cNvPr id="36" name="Text 34"/>
          <p:cNvSpPr/>
          <p:nvPr/>
        </p:nvSpPr>
        <p:spPr>
          <a:xfrm>
            <a:off x="7086600" y="3858768"/>
            <a:ext cx="42336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7828F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家族の休日の行き先として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6903720" y="4370832"/>
            <a:ext cx="4599432" cy="402336"/>
          </a:xfrm>
          <a:prstGeom prst="roundRect">
            <a:avLst>
              <a:gd name="adj" fmla="val 13636"/>
            </a:avLst>
          </a:prstGeom>
          <a:solidFill>
            <a:srgbClr val="EAF4F8"/>
          </a:solidFill>
          <a:ln/>
        </p:spPr>
      </p:sp>
      <p:sp>
        <p:nvSpPr>
          <p:cNvPr id="38" name="Text 36"/>
          <p:cNvSpPr/>
          <p:nvPr/>
        </p:nvSpPr>
        <p:spPr>
          <a:xfrm>
            <a:off x="7086600" y="4370832"/>
            <a:ext cx="42336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7828F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現実逃避したいとき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6903720" y="4882896"/>
            <a:ext cx="4599432" cy="402336"/>
          </a:xfrm>
          <a:prstGeom prst="roundRect">
            <a:avLst>
              <a:gd name="adj" fmla="val 13636"/>
            </a:avLst>
          </a:prstGeom>
          <a:solidFill>
            <a:srgbClr val="EAF4F8"/>
          </a:solidFill>
          <a:ln/>
        </p:spPr>
      </p:sp>
      <p:sp>
        <p:nvSpPr>
          <p:cNvPr id="40" name="Text 38"/>
          <p:cNvSpPr/>
          <p:nvPr/>
        </p:nvSpPr>
        <p:spPr>
          <a:xfrm>
            <a:off x="7086600" y="4882896"/>
            <a:ext cx="42336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7828F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記念日・節目を祝いたいとき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685800" y="5943600"/>
            <a:ext cx="10817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0808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出所：アライドアーキテクツ社資料。CEPsはメンタル・アベイラビリティ（想起のされやすさ）を構成し、フィジカル・アベイラビリティ（手に入りやすさ）と併せて購買を規定する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685800" y="6382512"/>
            <a:ext cx="10817352" cy="0"/>
          </a:xfrm>
          <a:prstGeom prst="line">
            <a:avLst/>
          </a:prstGeom>
          <a:noFill/>
          <a:ln w="9525">
            <a:solidFill>
              <a:srgbClr val="E9E9E9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85800" y="6437376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33333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TSUBURAYA PRODUCTIONS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7772400" y="6437376"/>
            <a:ext cx="37307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spc="400" kern="0" dirty="0">
                <a:solidFill>
                  <a:srgbClr val="80808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LOTTE × TSUBURAYA</a:t>
            </a:r>
            <a:pPr algn="r" indent="0" marL="0">
              <a:buNone/>
            </a:pPr>
            <a:r>
              <a:rPr lang="en-US" sz="950" dirty="0">
                <a:solidFill>
                  <a:srgbClr val="595959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    19</a:t>
            </a:r>
            <a:endParaRPr lang="en-US" sz="9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384048"/>
            <a:ext cx="1673352" cy="310896"/>
          </a:xfrm>
          <a:prstGeom prst="rect">
            <a:avLst/>
          </a:prstGeom>
          <a:solidFill>
            <a:srgbClr val="C4761B"/>
          </a:solidFill>
          <a:ln/>
        </p:spPr>
      </p:sp>
      <p:sp>
        <p:nvSpPr>
          <p:cNvPr id="3" name="Text 1"/>
          <p:cNvSpPr/>
          <p:nvPr/>
        </p:nvSpPr>
        <p:spPr>
          <a:xfrm>
            <a:off x="795528" y="384048"/>
            <a:ext cx="15636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APPENDIX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685800" y="758952"/>
            <a:ext cx="1463040" cy="50292"/>
          </a:xfrm>
          <a:prstGeom prst="rect">
            <a:avLst/>
          </a:prstGeom>
          <a:solidFill>
            <a:srgbClr val="7A4521"/>
          </a:solidFill>
          <a:ln/>
        </p:spPr>
      </p:sp>
      <p:sp>
        <p:nvSpPr>
          <p:cNvPr id="5" name="Text 3"/>
          <p:cNvSpPr/>
          <p:nvPr/>
        </p:nvSpPr>
        <p:spPr>
          <a:xfrm>
            <a:off x="10332720" y="411480"/>
            <a:ext cx="1170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spc="300" kern="0" dirty="0">
                <a:solidFill>
                  <a:srgbClr val="595959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極　秘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685800" y="932688"/>
            <a:ext cx="10817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33333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VOC分析の手法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685800" y="1481328"/>
            <a:ext cx="1081735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40404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収集 → クリーニング → CEPs特定・集計 → 診断の4工程。AI処理とアナリストの妥当性チェックを併用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85800" y="6382512"/>
            <a:ext cx="10817352" cy="0"/>
          </a:xfrm>
          <a:prstGeom prst="line">
            <a:avLst/>
          </a:prstGeom>
          <a:noFill/>
          <a:ln w="9525">
            <a:solidFill>
              <a:srgbClr val="E9E9E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6437376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33333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TSUBURAYA PRODUCTIONS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7772400" y="6437376"/>
            <a:ext cx="37307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spc="400" kern="0" dirty="0">
                <a:solidFill>
                  <a:srgbClr val="80808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LOTTE × TSUBURAYA</a:t>
            </a:r>
            <a:pPr algn="r" indent="0" marL="0">
              <a:buNone/>
            </a:pPr>
            <a:r>
              <a:rPr lang="en-US" sz="950" dirty="0">
                <a:solidFill>
                  <a:srgbClr val="595959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    20</a:t>
            </a:r>
            <a:endParaRPr lang="en-US" sz="950" dirty="0"/>
          </a:p>
        </p:txBody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2331720"/>
          <a:ext cx="10817352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8714232"/>
              </a:tblGrid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工程</a:t>
                      </a:r>
                      <a:endParaRPr lang="en-US" sz="11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828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内容</a:t>
                      </a:r>
                      <a:endParaRPr lang="en-US" sz="11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828F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333333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① 収集</a:t>
                      </a:r>
                      <a:endParaRPr lang="en-US" sz="11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04040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自社／競合ブランドのX投稿を12ヶ月分収集。#PR・#AD、キャンペーン応募、公式メンション、アフィリエイト、URL付き投稿を収集時に除外</a:t>
                      </a:r>
                      <a:endParaRPr lang="en-US" sz="10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333333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② クリーニング</a:t>
                      </a:r>
                      <a:endParaRPr lang="en-US" sz="11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04040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期間別の層化比例ランダムサンプリング後、bot・公式アカウント・重複・同一ユーザー15件以上の投稿・関連行動との非一致・ネガティブ言及を除外し、分析対象を決定</a:t>
                      </a:r>
                      <a:endParaRPr lang="en-US" sz="10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601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333333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③ CEPs特定・集計</a:t>
                      </a:r>
                      <a:endParaRPr lang="en-US" sz="11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04040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南オーストラリア大学 ジェニー・ロマニウク氏の「W'sフレームワーク」（When／Where／With whom／With what／While／Why／How feeling）で文脈を抽出し、状況・体験価値ごとに最大24種まで整理。複数の生成AI処理＋アナリストの妥当性チェックで全投稿を集計</a:t>
                      </a:r>
                      <a:endParaRPr lang="en-US" sz="10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333333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④ 診断</a:t>
                      </a:r>
                      <a:endParaRPr lang="en-US" sz="11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04040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メンタルアドバンテージスコア＝（実測リンク数 − 期待リンク数）÷ サンプルサイズ × 100 で各ブランド×各CEPを数値化し、ブランド間で比較（Jenni Romaniuk教授提唱。読み方は次ページ）</a:t>
                      </a:r>
                      <a:endParaRPr lang="en-US" sz="10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2" name="Text 9"/>
          <p:cNvSpPr/>
          <p:nvPr/>
        </p:nvSpPr>
        <p:spPr>
          <a:xfrm>
            <a:off x="685800" y="6035040"/>
            <a:ext cx="10817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0808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出所：アライドアーキテクツ社資料（本資料の各スコアはすべて上記手法による相対スコア）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384048"/>
            <a:ext cx="1673352" cy="310896"/>
          </a:xfrm>
          <a:prstGeom prst="rect">
            <a:avLst/>
          </a:prstGeom>
          <a:solidFill>
            <a:srgbClr val="C4761B"/>
          </a:solidFill>
          <a:ln/>
        </p:spPr>
      </p:sp>
      <p:sp>
        <p:nvSpPr>
          <p:cNvPr id="3" name="Text 1"/>
          <p:cNvSpPr/>
          <p:nvPr/>
        </p:nvSpPr>
        <p:spPr>
          <a:xfrm>
            <a:off x="795528" y="384048"/>
            <a:ext cx="15636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APPENDIX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685800" y="758952"/>
            <a:ext cx="1463040" cy="50292"/>
          </a:xfrm>
          <a:prstGeom prst="rect">
            <a:avLst/>
          </a:prstGeom>
          <a:solidFill>
            <a:srgbClr val="7A4521"/>
          </a:solidFill>
          <a:ln/>
        </p:spPr>
      </p:sp>
      <p:sp>
        <p:nvSpPr>
          <p:cNvPr id="5" name="Text 3"/>
          <p:cNvSpPr/>
          <p:nvPr/>
        </p:nvSpPr>
        <p:spPr>
          <a:xfrm>
            <a:off x="10332720" y="411480"/>
            <a:ext cx="1170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spc="300" kern="0" dirty="0">
                <a:solidFill>
                  <a:srgbClr val="595959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極　秘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685800" y="932688"/>
            <a:ext cx="10817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33333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補足：メンタルアドバンテージスコアの読み方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685800" y="1481328"/>
            <a:ext cx="1081735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40404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本資料の「スコア」の正式名称。言及の量ではなく、言及がどのCEPに偏っているかを測る指標のため、規模の違うブランドを同じ土俵で比較できる（Jenni Romaniuk教授提唱）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85800" y="6382512"/>
            <a:ext cx="10817352" cy="0"/>
          </a:xfrm>
          <a:prstGeom prst="line">
            <a:avLst/>
          </a:prstGeom>
          <a:noFill/>
          <a:ln w="9525">
            <a:solidFill>
              <a:srgbClr val="E9E9E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6437376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33333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TSUBURAYA PRODUCTIONS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7772400" y="6437376"/>
            <a:ext cx="37307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spc="400" kern="0" dirty="0">
                <a:solidFill>
                  <a:srgbClr val="80808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LOTTE × TSUBURAYA</a:t>
            </a:r>
            <a:pPr algn="r" indent="0" marL="0">
              <a:buNone/>
            </a:pPr>
            <a:r>
              <a:rPr lang="en-US" sz="950" dirty="0">
                <a:solidFill>
                  <a:srgbClr val="595959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    21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685800" y="2331720"/>
            <a:ext cx="5257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33333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算出方法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85800" y="2660904"/>
            <a:ext cx="5257800" cy="0"/>
          </a:xfrm>
          <a:prstGeom prst="line">
            <a:avLst/>
          </a:prstGeom>
          <a:noFill/>
          <a:ln w="12700">
            <a:solidFill>
              <a:srgbClr val="333333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85800" y="2743200"/>
            <a:ext cx="5257800" cy="777240"/>
          </a:xfrm>
          <a:prstGeom prst="roundRect">
            <a:avLst>
              <a:gd name="adj" fmla="val 9412"/>
            </a:avLst>
          </a:prstGeom>
          <a:solidFill>
            <a:srgbClr val="EAF4F8"/>
          </a:solidFill>
          <a:ln/>
        </p:spPr>
      </p:sp>
      <p:sp>
        <p:nvSpPr>
          <p:cNvPr id="14" name="Text 12"/>
          <p:cNvSpPr/>
          <p:nvPr/>
        </p:nvSpPr>
        <p:spPr>
          <a:xfrm>
            <a:off x="914400" y="2743200"/>
            <a:ext cx="4800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1100" b="1" dirty="0">
                <a:solidFill>
                  <a:srgbClr val="17828F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スコア ＝（実測リンク数 − 期待リンク数）÷ サンプルサイズ × 100</a:t>
            </a:r>
            <a:endParaRPr lang="en-US" sz="1100" dirty="0"/>
          </a:p>
          <a:p>
            <a:pPr indent="0" marL="0">
              <a:buNone/>
            </a:pPr>
            <a:r>
              <a:rPr lang="en-US" sz="1000" dirty="0">
                <a:solidFill>
                  <a:srgbClr val="40404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期待リンク数 ＝ 自社の言及数 × その場面の話題シェア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85800" y="3703320"/>
            <a:ext cx="52578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lnSpc>
                <a:spcPts val="1500"/>
              </a:lnSpc>
              <a:spcAft>
                <a:spcPts val="600"/>
              </a:spcAft>
              <a:buSzPct val="100000"/>
              <a:buChar char="●"/>
            </a:pPr>
            <a:r>
              <a:rPr lang="en-US" sz="1000" dirty="0">
                <a:solidFill>
                  <a:srgbClr val="40404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全ブランドを同一件数（例：1,000件）に換算してから算出 ── 母数の差を消す</a:t>
            </a:r>
            <a:endParaRPr lang="en-US" sz="1000" dirty="0"/>
          </a:p>
          <a:p>
            <a:pPr marL="152400" indent="-152400">
              <a:lnSpc>
                <a:spcPts val="1500"/>
              </a:lnSpc>
              <a:spcAft>
                <a:spcPts val="600"/>
              </a:spcAft>
              <a:buSzPct val="100000"/>
              <a:buChar char="●"/>
            </a:pPr>
            <a:r>
              <a:rPr lang="en-US" sz="1000" dirty="0">
                <a:solidFill>
                  <a:srgbClr val="40404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単位は件数ではなく「言及構成比のポイント差」（1ポイント＝構成比1%分）</a:t>
            </a:r>
            <a:endParaRPr lang="en-US" sz="1000" dirty="0"/>
          </a:p>
          <a:p>
            <a:pPr marL="152400" indent="-152400">
              <a:lnSpc>
                <a:spcPts val="1500"/>
              </a:lnSpc>
              <a:spcAft>
                <a:spcPts val="600"/>
              </a:spcAft>
              <a:buSzPct val="100000"/>
              <a:buChar char="●"/>
            </a:pPr>
            <a:r>
              <a:rPr lang="en-US" sz="1000" dirty="0">
                <a:solidFill>
                  <a:srgbClr val="40404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期待値の算出はカイ二乗検定の期待度数と同じロジック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685800" y="4846320"/>
            <a:ext cx="5257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33333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目安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85800" y="5175504"/>
            <a:ext cx="5257800" cy="0"/>
          </a:xfrm>
          <a:prstGeom prst="line">
            <a:avLst/>
          </a:prstGeom>
          <a:noFill/>
          <a:ln w="12700">
            <a:solidFill>
              <a:srgbClr val="333333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85800" y="5257800"/>
            <a:ext cx="1737360" cy="566928"/>
          </a:xfrm>
          <a:prstGeom prst="rect">
            <a:avLst/>
          </a:prstGeom>
          <a:solidFill>
            <a:srgbClr val="EFB3B3"/>
          </a:solidFill>
          <a:ln w="6350">
            <a:solidFill>
              <a:srgbClr val="BFBFB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58952" y="5257800"/>
            <a:ext cx="159105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1000" b="1" dirty="0">
                <a:solidFill>
                  <a:srgbClr val="333333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−5未満</a:t>
            </a:r>
            <a:endParaRPr lang="en-US" sz="1000" dirty="0"/>
          </a:p>
          <a:p>
            <a:pPr algn="ctr" indent="0" marL="0">
              <a:lnSpc>
                <a:spcPts val="1100"/>
              </a:lnSpc>
              <a:buNone/>
            </a:pPr>
            <a:r>
              <a:rPr lang="en-US" sz="800" dirty="0">
                <a:solidFill>
                  <a:srgbClr val="333333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その場面で思いつかれにくい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2441448" y="5257800"/>
            <a:ext cx="1737360" cy="566928"/>
          </a:xfrm>
          <a:prstGeom prst="rect">
            <a:avLst/>
          </a:prstGeom>
          <a:solidFill>
            <a:srgbClr val="F7F5F1"/>
          </a:solidFill>
          <a:ln w="6350">
            <a:solidFill>
              <a:srgbClr val="BFBFB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514600" y="5257800"/>
            <a:ext cx="159105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1000" b="1" dirty="0">
                <a:solidFill>
                  <a:srgbClr val="333333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−5 〜 +5</a:t>
            </a:r>
            <a:endParaRPr lang="en-US" sz="1000" dirty="0"/>
          </a:p>
          <a:p>
            <a:pPr algn="ctr" indent="0" marL="0">
              <a:lnSpc>
                <a:spcPts val="1100"/>
              </a:lnSpc>
              <a:buNone/>
            </a:pPr>
            <a:r>
              <a:rPr lang="en-US" sz="800" dirty="0">
                <a:solidFill>
                  <a:srgbClr val="333333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平均的な水準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197096" y="5257800"/>
            <a:ext cx="1737360" cy="566928"/>
          </a:xfrm>
          <a:prstGeom prst="rect">
            <a:avLst/>
          </a:prstGeom>
          <a:solidFill>
            <a:srgbClr val="AFD9B2"/>
          </a:solidFill>
          <a:ln w="6350">
            <a:solidFill>
              <a:srgbClr val="BFBFB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270248" y="5257800"/>
            <a:ext cx="159105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1000" b="1" dirty="0">
                <a:solidFill>
                  <a:srgbClr val="333333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+5超</a:t>
            </a:r>
            <a:endParaRPr lang="en-US" sz="1000" dirty="0"/>
          </a:p>
          <a:p>
            <a:pPr algn="ctr" indent="0" marL="0">
              <a:lnSpc>
                <a:spcPts val="1100"/>
              </a:lnSpc>
              <a:buNone/>
            </a:pPr>
            <a:r>
              <a:rPr lang="en-US" sz="800" dirty="0">
                <a:solidFill>
                  <a:srgbClr val="333333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思いつかれやすい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85800" y="5897880"/>
            <a:ext cx="5257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→ コアラのマーチ +9.57 は「突出」の水準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6309360" y="2331720"/>
            <a:ext cx="51937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33333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読み違えやすい3点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6309360" y="2660904"/>
            <a:ext cx="5193792" cy="0"/>
          </a:xfrm>
          <a:prstGeom prst="line">
            <a:avLst/>
          </a:prstGeom>
          <a:noFill/>
          <a:ln w="12700">
            <a:solidFill>
              <a:srgbClr val="333333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309360" y="2743200"/>
            <a:ext cx="5193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33333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① 合計は必ずゼロ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309360" y="3017520"/>
            <a:ext cx="51937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80808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言及100%の配分なので全CEPでプラスは構造上ありえない。どこかで勝てば、どこかは必ずマイナスに振れる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6309360" y="3675888"/>
            <a:ext cx="5193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33333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② マイナス＝弱いとは限らない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6309360" y="3950208"/>
            <a:ext cx="51937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80808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想起が他のCEPに強く寄っているだけの場合もある。狙って捨てている場面なら想定どおりの結果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6309360" y="4608576"/>
            <a:ext cx="5193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33333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③ スコアの高さと市場の強さは別物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6309360" y="4882896"/>
            <a:ext cx="51937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80808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ニッチでも特定CEPで高スコアは取れる。打ち手は必ずそのCEPの全体規模（言及数）とセットで判断する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6309360" y="5943600"/>
            <a:ext cx="5193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0808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出所：Kaname.ax 分析資料「メンタルアドバンテージスコアについて」p.27（指標提唱：Jenni Romaniuk 教授／南オーストラリア大学アレンバーグ・バス研究所）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384048"/>
            <a:ext cx="1673352" cy="310896"/>
          </a:xfrm>
          <a:prstGeom prst="rect">
            <a:avLst/>
          </a:prstGeom>
          <a:solidFill>
            <a:srgbClr val="C4761B"/>
          </a:solidFill>
          <a:ln/>
        </p:spPr>
      </p:sp>
      <p:sp>
        <p:nvSpPr>
          <p:cNvPr id="3" name="Text 1"/>
          <p:cNvSpPr/>
          <p:nvPr/>
        </p:nvSpPr>
        <p:spPr>
          <a:xfrm>
            <a:off x="795528" y="384048"/>
            <a:ext cx="15636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APPENDIX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685800" y="758952"/>
            <a:ext cx="1463040" cy="50292"/>
          </a:xfrm>
          <a:prstGeom prst="rect">
            <a:avLst/>
          </a:prstGeom>
          <a:solidFill>
            <a:srgbClr val="7A4521"/>
          </a:solidFill>
          <a:ln/>
        </p:spPr>
      </p:sp>
      <p:sp>
        <p:nvSpPr>
          <p:cNvPr id="5" name="Text 3"/>
          <p:cNvSpPr/>
          <p:nvPr/>
        </p:nvSpPr>
        <p:spPr>
          <a:xfrm>
            <a:off x="10332720" y="411480"/>
            <a:ext cx="1170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spc="300" kern="0" dirty="0">
                <a:solidFill>
                  <a:srgbClr val="595959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極　秘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685800" y="932688"/>
            <a:ext cx="10817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33333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データ収集条件（2025/8/1 – 2026/7/31）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685800" y="1481328"/>
            <a:ext cx="1081735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40404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3カテゴリー×12ブランド。ノイズ除外・サンプリング後、各ブランド最大1,000件を分析対象とした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85800" y="6382512"/>
            <a:ext cx="10817352" cy="0"/>
          </a:xfrm>
          <a:prstGeom prst="line">
            <a:avLst/>
          </a:prstGeom>
          <a:noFill/>
          <a:ln w="9525">
            <a:solidFill>
              <a:srgbClr val="E9E9E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6437376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33333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TSUBURAYA PRODUCTIONS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7772400" y="6437376"/>
            <a:ext cx="37307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spc="400" kern="0" dirty="0">
                <a:solidFill>
                  <a:srgbClr val="80808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LOTTE × TSUBURAYA</a:t>
            </a:r>
            <a:pPr algn="r" indent="0" marL="0">
              <a:buNone/>
            </a:pPr>
            <a:r>
              <a:rPr lang="en-US" sz="950" dirty="0">
                <a:solidFill>
                  <a:srgbClr val="595959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    22</a:t>
            </a:r>
            <a:endParaRPr lang="en-US" sz="950" dirty="0"/>
          </a:p>
        </p:txBody>
      </p:sp>
      <p:graphicFrame>
        <p:nvGraphicFramePr>
          <p:cNvPr id="2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2148840"/>
          <a:ext cx="10817352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3657600"/>
                <a:gridCol w="2011680"/>
                <a:gridCol w="3136392"/>
              </a:tblGrid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カテゴリー</a:t>
                      </a:r>
                      <a:endParaRPr lang="en-US" sz="9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32004" marR="32004" marT="32004" marB="3200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828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ブランド</a:t>
                      </a:r>
                      <a:endParaRPr lang="en-US" sz="9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32004" marR="32004" marT="32004" marB="3200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828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収集件数</a:t>
                      </a:r>
                      <a:endParaRPr lang="en-US" sz="9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32004" marR="32004" marT="32004" marB="3200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828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ノイズ除外・サンプリング後の分析対象件数</a:t>
                      </a:r>
                      <a:endParaRPr lang="en-US" sz="9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32004" marR="32004" marT="32004" marB="3200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828F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333333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チョコレート</a:t>
                      </a:r>
                      <a:endParaRPr lang="en-US" sz="9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32004" marR="32004" marT="32004" marB="3200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404040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ガーナ</a:t>
                      </a:r>
                      <a:endParaRPr lang="en-US" sz="95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32004" marR="32004" marT="32004" marB="3200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404040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3,069</a:t>
                      </a:r>
                      <a:endParaRPr lang="en-US" sz="95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32004" marR="32004" marT="32004" marB="3200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404040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1,000</a:t>
                      </a:r>
                      <a:endParaRPr lang="en-US" sz="95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32004" marR="32004" marT="32004" marB="3200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32004" marR="32004" marT="32004" marB="3200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404040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明治ミルクチョコレート</a:t>
                      </a:r>
                      <a:endParaRPr lang="en-US" sz="95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32004" marR="32004" marT="32004" marB="3200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404040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1,763</a:t>
                      </a:r>
                      <a:endParaRPr lang="en-US" sz="95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32004" marR="32004" marT="32004" marB="3200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404040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1,000</a:t>
                      </a:r>
                      <a:endParaRPr lang="en-US" sz="95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32004" marR="32004" marT="32004" marB="3200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32004" marR="32004" marT="32004" marB="3200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404040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meiji THE Chocolate</a:t>
                      </a:r>
                      <a:endParaRPr lang="en-US" sz="95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32004" marR="32004" marT="32004" marB="3200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404040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473</a:t>
                      </a:r>
                      <a:endParaRPr lang="en-US" sz="95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32004" marR="32004" marT="32004" marB="3200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404040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89</a:t>
                      </a:r>
                      <a:endParaRPr lang="en-US" sz="95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32004" marR="32004" marT="32004" marB="3200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32004" marR="32004" marT="32004" marB="3200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404040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DARS</a:t>
                      </a:r>
                      <a:endParaRPr lang="en-US" sz="95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32004" marR="32004" marT="32004" marB="3200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404040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252</a:t>
                      </a:r>
                      <a:endParaRPr lang="en-US" sz="95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32004" marR="32004" marT="32004" marB="3200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404040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190</a:t>
                      </a:r>
                      <a:endParaRPr lang="en-US" sz="95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32004" marR="32004" marT="32004" marB="3200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333333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ビスケット菓子</a:t>
                      </a:r>
                      <a:endParaRPr lang="en-US" sz="9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32004" marR="32004" marT="32004" marB="3200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404040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コアラのマーチ</a:t>
                      </a:r>
                      <a:endParaRPr lang="en-US" sz="95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32004" marR="32004" marT="32004" marB="3200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404040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7,602</a:t>
                      </a:r>
                      <a:endParaRPr lang="en-US" sz="95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32004" marR="32004" marT="32004" marB="3200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404040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1,000</a:t>
                      </a:r>
                      <a:endParaRPr lang="en-US" sz="95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32004" marR="32004" marT="32004" marB="3200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32004" marR="32004" marT="32004" marB="3200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404040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ポッキー</a:t>
                      </a:r>
                      <a:endParaRPr lang="en-US" sz="95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32004" marR="32004" marT="32004" marB="3200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404040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7,199</a:t>
                      </a:r>
                      <a:endParaRPr lang="en-US" sz="95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32004" marR="32004" marT="32004" marB="3200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404040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1,000</a:t>
                      </a:r>
                      <a:endParaRPr lang="en-US" sz="95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32004" marR="32004" marT="32004" marB="3200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32004" marR="32004" marT="32004" marB="3200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404040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たけのこの里</a:t>
                      </a:r>
                      <a:endParaRPr lang="en-US" sz="95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32004" marR="32004" marT="32004" marB="3200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404040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4,972</a:t>
                      </a:r>
                      <a:endParaRPr lang="en-US" sz="95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32004" marR="32004" marT="32004" marB="3200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404040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1,000</a:t>
                      </a:r>
                      <a:endParaRPr lang="en-US" sz="95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32004" marR="32004" marT="32004" marB="3200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32004" marR="32004" marT="32004" marB="3200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404040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アルフォート</a:t>
                      </a:r>
                      <a:endParaRPr lang="en-US" sz="95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32004" marR="32004" marT="32004" marB="3200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404040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6,074</a:t>
                      </a:r>
                      <a:endParaRPr lang="en-US" sz="95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32004" marR="32004" marT="32004" marB="3200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404040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1,000</a:t>
                      </a:r>
                      <a:endParaRPr lang="en-US" sz="95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32004" marR="32004" marT="32004" marB="3200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333333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アイス</a:t>
                      </a:r>
                      <a:endParaRPr lang="en-US" sz="9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32004" marR="32004" marT="32004" marB="3200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404040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雪見だいふく</a:t>
                      </a:r>
                      <a:endParaRPr lang="en-US" sz="95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32004" marR="32004" marT="32004" marB="3200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404040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24,867</a:t>
                      </a:r>
                      <a:endParaRPr lang="en-US" sz="95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32004" marR="32004" marT="32004" marB="3200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404040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1,000</a:t>
                      </a:r>
                      <a:endParaRPr lang="en-US" sz="95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32004" marR="32004" marT="32004" marB="3200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32004" marR="32004" marT="32004" marB="3200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404040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ハーゲンダッツ</a:t>
                      </a:r>
                      <a:endParaRPr lang="en-US" sz="95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32004" marR="32004" marT="32004" marB="3200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404040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9,822</a:t>
                      </a:r>
                      <a:endParaRPr lang="en-US" sz="95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32004" marR="32004" marT="32004" marB="3200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404040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1,000</a:t>
                      </a:r>
                      <a:endParaRPr lang="en-US" sz="95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32004" marR="32004" marT="32004" marB="3200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32004" marR="32004" marT="32004" marB="3200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404040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ピノ</a:t>
                      </a:r>
                      <a:endParaRPr lang="en-US" sz="95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32004" marR="32004" marT="32004" marB="3200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404040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5,390</a:t>
                      </a:r>
                      <a:endParaRPr lang="en-US" sz="95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32004" marR="32004" marT="32004" marB="3200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404040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1,000</a:t>
                      </a:r>
                      <a:endParaRPr lang="en-US" sz="95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32004" marR="32004" marT="32004" marB="3200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32004" marR="32004" marT="32004" marB="3200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404040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パルム</a:t>
                      </a:r>
                      <a:endParaRPr lang="en-US" sz="95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32004" marR="32004" marT="32004" marB="3200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404040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3,195</a:t>
                      </a:r>
                      <a:endParaRPr lang="en-US" sz="95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32004" marR="32004" marT="32004" marB="3200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404040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1,000</a:t>
                      </a:r>
                      <a:endParaRPr lang="en-US" sz="95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32004" marR="32004" marT="32004" marB="3200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2" name="Text 9"/>
          <p:cNvSpPr/>
          <p:nvPr/>
        </p:nvSpPr>
        <p:spPr>
          <a:xfrm>
            <a:off x="685800" y="6144768"/>
            <a:ext cx="10817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0808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出所：アライドアーキテクツ社資料。収集キーワード・除外条件の全文は元資料参照。ヒーローIP側（ウルトラマン等5IP）は市場件数ベースで比較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384048"/>
            <a:ext cx="1673352" cy="310896"/>
          </a:xfrm>
          <a:prstGeom prst="rect">
            <a:avLst/>
          </a:prstGeom>
          <a:solidFill>
            <a:srgbClr val="C4761B"/>
          </a:solidFill>
          <a:ln/>
        </p:spPr>
      </p:sp>
      <p:sp>
        <p:nvSpPr>
          <p:cNvPr id="3" name="Text 1"/>
          <p:cNvSpPr/>
          <p:nvPr/>
        </p:nvSpPr>
        <p:spPr>
          <a:xfrm>
            <a:off x="795528" y="384048"/>
            <a:ext cx="15636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APPENDIX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685800" y="758952"/>
            <a:ext cx="1463040" cy="50292"/>
          </a:xfrm>
          <a:prstGeom prst="rect">
            <a:avLst/>
          </a:prstGeom>
          <a:solidFill>
            <a:srgbClr val="7A4521"/>
          </a:solidFill>
          <a:ln/>
        </p:spPr>
      </p:sp>
      <p:sp>
        <p:nvSpPr>
          <p:cNvPr id="5" name="Text 3"/>
          <p:cNvSpPr/>
          <p:nvPr/>
        </p:nvSpPr>
        <p:spPr>
          <a:xfrm>
            <a:off x="10332720" y="411480"/>
            <a:ext cx="1170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spc="300" kern="0" dirty="0">
                <a:solidFill>
                  <a:srgbClr val="595959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極　秘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685800" y="932688"/>
            <a:ext cx="10817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33333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コアラのマーチ 競合比較（CEPsスコア全文）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685800" y="1481328"/>
            <a:ext cx="1081735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40404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◎＝コアラのマーチが独占するCEPs。スコアの読み方はP.21参照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85800" y="6382512"/>
            <a:ext cx="10817352" cy="0"/>
          </a:xfrm>
          <a:prstGeom prst="line">
            <a:avLst/>
          </a:prstGeom>
          <a:noFill/>
          <a:ln w="9525">
            <a:solidFill>
              <a:srgbClr val="E9E9E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6437376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33333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TSUBURAYA PRODUCTIONS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7772400" y="6437376"/>
            <a:ext cx="37307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spc="400" kern="0" dirty="0">
                <a:solidFill>
                  <a:srgbClr val="80808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LOTTE × TSUBURAYA</a:t>
            </a:r>
            <a:pPr algn="r" indent="0" marL="0">
              <a:buNone/>
            </a:pPr>
            <a:r>
              <a:rPr lang="en-US" sz="950" dirty="0">
                <a:solidFill>
                  <a:srgbClr val="595959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    23</a:t>
            </a:r>
            <a:endParaRPr lang="en-US" sz="950" dirty="0"/>
          </a:p>
        </p:txBody>
      </p:sp>
      <p:graphicFrame>
        <p:nvGraphicFramePr>
          <p:cNvPr id="2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2286000"/>
          <a:ext cx="10817352" cy="914400"/>
        </p:xfrm>
        <a:graphic>
          <a:graphicData uri="http://schemas.openxmlformats.org/drawingml/2006/table">
            <a:tbl>
              <a:tblPr/>
              <a:tblGrid>
                <a:gridCol w="3200400"/>
                <a:gridCol w="960120"/>
                <a:gridCol w="777240"/>
                <a:gridCol w="960120"/>
                <a:gridCol w="914400"/>
                <a:gridCol w="621792"/>
                <a:gridCol w="3383280"/>
              </a:tblGrid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状況のCEPs</a:t>
                      </a:r>
                      <a:endParaRPr lang="en-US" sz="9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828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コアラのマーチ</a:t>
                      </a:r>
                      <a:endParaRPr lang="en-US" sz="9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828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ポッキー</a:t>
                      </a:r>
                      <a:endParaRPr lang="en-US" sz="9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828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たけのこの里</a:t>
                      </a:r>
                      <a:endParaRPr lang="en-US" sz="9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828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アルフォート</a:t>
                      </a:r>
                      <a:endParaRPr lang="en-US" sz="9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828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言及数</a:t>
                      </a:r>
                      <a:endParaRPr lang="en-US" sz="9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828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→ ウルトラマンの対応CEP</a:t>
                      </a:r>
                      <a:endParaRPr lang="en-US" sz="9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828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C00000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◎ </a:t>
                      </a:r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C00000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絵柄を楽しみながら食べたいとき</a:t>
                      </a:r>
                      <a:endParaRPr lang="en-US" sz="9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0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C00000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9.57</a:t>
                      </a:r>
                      <a:endParaRPr lang="en-US" sz="9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FD9B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-1.78</a:t>
                      </a:r>
                      <a:endParaRPr lang="en-US" sz="9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DED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-4.19</a:t>
                      </a:r>
                      <a:endParaRPr lang="en-US" sz="9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B3B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-3.6</a:t>
                      </a:r>
                      <a:endParaRPr lang="en-US" sz="9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DED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7828F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366</a:t>
                      </a:r>
                      <a:endParaRPr lang="en-US" sz="9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C00000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「知的好奇心」+2.11／「展示・イベント参加」+1.43／通算資産2,500種</a:t>
                      </a:r>
                      <a:endParaRPr lang="en-US" sz="8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C00000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◎ </a:t>
                      </a:r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C00000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限定やコラボ商品を試したいとき</a:t>
                      </a:r>
                      <a:endParaRPr lang="en-US" sz="9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0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C00000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4.48</a:t>
                      </a:r>
                      <a:endParaRPr lang="en-US" sz="9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FD9B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-1.72</a:t>
                      </a:r>
                      <a:endParaRPr lang="en-US" sz="9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DED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4.39</a:t>
                      </a:r>
                      <a:endParaRPr lang="en-US" sz="9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FD9B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-7.15</a:t>
                      </a:r>
                      <a:endParaRPr lang="en-US" sz="9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B3B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7828F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738</a:t>
                      </a:r>
                      <a:endParaRPr lang="en-US" sz="9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C00000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「コラボ情報にワクワク」+4.56</a:t>
                      </a:r>
                      <a:endParaRPr lang="en-US" sz="8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404040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懐かしさを感じたいとき</a:t>
                      </a:r>
                      <a:endParaRPr lang="en-US" sz="9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0.89</a:t>
                      </a:r>
                      <a:endParaRPr lang="en-US" sz="9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F0D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0.23</a:t>
                      </a:r>
                      <a:endParaRPr lang="en-US" sz="9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F0D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0.25</a:t>
                      </a:r>
                      <a:endParaRPr lang="en-US" sz="9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F0D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-1.38</a:t>
                      </a:r>
                      <a:endParaRPr lang="en-US" sz="9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DED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7828F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117</a:t>
                      </a:r>
                      <a:endParaRPr lang="en-US" sz="9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C00000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三世代IP・昭和平成令和</a:t>
                      </a:r>
                      <a:endParaRPr lang="en-US" sz="8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404040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まとめ買いやストックしておきたいとき</a:t>
                      </a:r>
                      <a:endParaRPr lang="en-US" sz="9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-0.11</a:t>
                      </a:r>
                      <a:endParaRPr lang="en-US" sz="9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DED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-2.82</a:t>
                      </a:r>
                      <a:endParaRPr lang="en-US" sz="9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DED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-0.06</a:t>
                      </a:r>
                      <a:endParaRPr lang="en-US" sz="9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DED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2.99</a:t>
                      </a:r>
                      <a:endParaRPr lang="en-US" sz="9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F0D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7828F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537</a:t>
                      </a:r>
                      <a:endParaRPr lang="en-US" sz="9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404040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誰かへのプレゼントや差し入れに使いたいとき</a:t>
                      </a:r>
                      <a:endParaRPr lang="en-US" sz="9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-0.59</a:t>
                      </a:r>
                      <a:endParaRPr lang="en-US" sz="9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DED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0.82</a:t>
                      </a:r>
                      <a:endParaRPr lang="en-US" sz="9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F0D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-0.97</a:t>
                      </a:r>
                      <a:endParaRPr lang="en-US" sz="9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DED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0.74</a:t>
                      </a:r>
                      <a:endParaRPr lang="en-US" sz="9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F0D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7828F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153</a:t>
                      </a:r>
                      <a:endParaRPr lang="en-US" sz="9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404040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動画やテレビを見ながら食べたいとき</a:t>
                      </a:r>
                      <a:endParaRPr lang="en-US" sz="9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-0.51</a:t>
                      </a:r>
                      <a:endParaRPr lang="en-US" sz="9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DED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2.03</a:t>
                      </a:r>
                      <a:endParaRPr lang="en-US" sz="9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F0D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-0.14</a:t>
                      </a:r>
                      <a:endParaRPr lang="en-US" sz="9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DED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-1.38</a:t>
                      </a:r>
                      <a:endParaRPr lang="en-US" sz="9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DED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7828F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121</a:t>
                      </a:r>
                      <a:endParaRPr lang="en-US" sz="9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404040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仕事や勉強の休憩中に食べたいとき</a:t>
                      </a:r>
                      <a:endParaRPr lang="en-US" sz="9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-1.18</a:t>
                      </a:r>
                      <a:endParaRPr lang="en-US" sz="9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DED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0.17</a:t>
                      </a:r>
                      <a:endParaRPr lang="en-US" sz="9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F0D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0.08</a:t>
                      </a:r>
                      <a:endParaRPr lang="en-US" sz="9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F0D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0.93</a:t>
                      </a:r>
                      <a:endParaRPr lang="en-US" sz="9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F0D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7828F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76</a:t>
                      </a:r>
                      <a:endParaRPr lang="en-US" sz="9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404040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コーヒーやお酒と一緒に楽しみたいとき</a:t>
                      </a:r>
                      <a:endParaRPr lang="en-US" sz="9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-2.28</a:t>
                      </a:r>
                      <a:endParaRPr lang="en-US" sz="9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DED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-0.04</a:t>
                      </a:r>
                      <a:endParaRPr lang="en-US" sz="9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DED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0.17</a:t>
                      </a:r>
                      <a:endParaRPr lang="en-US" sz="9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F0D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2.15</a:t>
                      </a:r>
                      <a:endParaRPr lang="en-US" sz="9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F0D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7828F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116</a:t>
                      </a:r>
                      <a:endParaRPr lang="en-US" sz="9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404040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チョコとビスケットのバランスを楽しみたいとき</a:t>
                      </a:r>
                      <a:endParaRPr lang="en-US" sz="9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-2.43</a:t>
                      </a:r>
                      <a:endParaRPr lang="en-US" sz="9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DED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-0.35</a:t>
                      </a:r>
                      <a:endParaRPr lang="en-US" sz="9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DED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1.12</a:t>
                      </a:r>
                      <a:endParaRPr lang="en-US" sz="9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F0D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1.65</a:t>
                      </a:r>
                      <a:endParaRPr lang="en-US" sz="9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F0D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7828F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136</a:t>
                      </a:r>
                      <a:endParaRPr lang="en-US" sz="9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2" name="Text 9"/>
          <p:cNvSpPr/>
          <p:nvPr/>
        </p:nvSpPr>
        <p:spPr>
          <a:xfrm>
            <a:off x="685800" y="6126480"/>
            <a:ext cx="10817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0808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スコア＝メンタルアドバンテージスコア（0基準・±5が目安、正＝その場面で想起されやすい。読み方はP.21参照）。出所：アライドアーキテクツ社 VOC分析（X上の生活者投稿、2025/8–2026/7）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384048"/>
            <a:ext cx="1673352" cy="310896"/>
          </a:xfrm>
          <a:prstGeom prst="rect">
            <a:avLst/>
          </a:prstGeom>
          <a:solidFill>
            <a:srgbClr val="C4761B"/>
          </a:solidFill>
          <a:ln/>
        </p:spPr>
      </p:sp>
      <p:sp>
        <p:nvSpPr>
          <p:cNvPr id="3" name="Text 1"/>
          <p:cNvSpPr/>
          <p:nvPr/>
        </p:nvSpPr>
        <p:spPr>
          <a:xfrm>
            <a:off x="795528" y="384048"/>
            <a:ext cx="15636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APPENDIX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685800" y="758952"/>
            <a:ext cx="1463040" cy="50292"/>
          </a:xfrm>
          <a:prstGeom prst="rect">
            <a:avLst/>
          </a:prstGeom>
          <a:solidFill>
            <a:srgbClr val="7A4521"/>
          </a:solidFill>
          <a:ln/>
        </p:spPr>
      </p:sp>
      <p:sp>
        <p:nvSpPr>
          <p:cNvPr id="5" name="Text 3"/>
          <p:cNvSpPr/>
          <p:nvPr/>
        </p:nvSpPr>
        <p:spPr>
          <a:xfrm>
            <a:off x="10332720" y="411480"/>
            <a:ext cx="1170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spc="300" kern="0" dirty="0">
                <a:solidFill>
                  <a:srgbClr val="595959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極　秘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685800" y="932688"/>
            <a:ext cx="10817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33333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ウルトラマンIP 競合比較（対 他ヒーローIP）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685800" y="1481328"/>
            <a:ext cx="1081735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40404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◎＝ウルトラマンが独占するCEPs。周年・コラボ・テンションの文脈で他IPを引き離す（スコアの読み方はP.21参照）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85800" y="6382512"/>
            <a:ext cx="10817352" cy="0"/>
          </a:xfrm>
          <a:prstGeom prst="line">
            <a:avLst/>
          </a:prstGeom>
          <a:noFill/>
          <a:ln w="9525">
            <a:solidFill>
              <a:srgbClr val="E9E9E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6437376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33333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TSUBURAYA PRODUCTIONS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7772400" y="6437376"/>
            <a:ext cx="37307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spc="400" kern="0" dirty="0">
                <a:solidFill>
                  <a:srgbClr val="80808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LOTTE × TSUBURAYA</a:t>
            </a:r>
            <a:pPr algn="r" indent="0" marL="0">
              <a:buNone/>
            </a:pPr>
            <a:r>
              <a:rPr lang="en-US" sz="950" dirty="0">
                <a:solidFill>
                  <a:srgbClr val="595959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    24</a:t>
            </a:r>
            <a:endParaRPr lang="en-US" sz="950" dirty="0"/>
          </a:p>
        </p:txBody>
      </p:sp>
      <p:graphicFrame>
        <p:nvGraphicFramePr>
          <p:cNvPr id="2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2286000"/>
          <a:ext cx="10817352" cy="914400"/>
        </p:xfrm>
        <a:graphic>
          <a:graphicData uri="http://schemas.openxmlformats.org/drawingml/2006/table">
            <a:tbl>
              <a:tblPr/>
              <a:tblGrid>
                <a:gridCol w="2926080"/>
                <a:gridCol w="914400"/>
                <a:gridCol w="914400"/>
                <a:gridCol w="914400"/>
                <a:gridCol w="731520"/>
                <a:gridCol w="960120"/>
                <a:gridCol w="621792"/>
                <a:gridCol w="2834640"/>
              </a:tblGrid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状況のCEPs</a:t>
                      </a:r>
                      <a:endParaRPr lang="en-US" sz="9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828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ウルトラマン</a:t>
                      </a:r>
                      <a:endParaRPr lang="en-US" sz="9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828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仮面ライダー</a:t>
                      </a:r>
                      <a:endParaRPr lang="en-US" sz="9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828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スーパー戦隊</a:t>
                      </a:r>
                      <a:endParaRPr lang="en-US" sz="9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828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ゴジラ</a:t>
                      </a:r>
                      <a:endParaRPr lang="en-US" sz="9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828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ドラゴンボール</a:t>
                      </a:r>
                      <a:endParaRPr lang="en-US" sz="9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828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市場件数</a:t>
                      </a:r>
                      <a:endParaRPr lang="en-US" sz="9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828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→ 対応するブランド／位置づけ</a:t>
                      </a:r>
                      <a:endParaRPr lang="en-US" sz="9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828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C00000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◎ </a:t>
                      </a:r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C00000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周年記念を祝いたいとき</a:t>
                      </a:r>
                      <a:endParaRPr lang="en-US" sz="9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0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C00000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7.46</a:t>
                      </a:r>
                      <a:endParaRPr lang="en-US" sz="9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FD9B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-0.26</a:t>
                      </a:r>
                      <a:endParaRPr lang="en-US" sz="9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DED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-0.62</a:t>
                      </a:r>
                      <a:endParaRPr lang="en-US" sz="9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DED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-3.45</a:t>
                      </a:r>
                      <a:endParaRPr lang="en-US" sz="9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DED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-3.13</a:t>
                      </a:r>
                      <a:endParaRPr lang="en-US" sz="9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DED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7828F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210</a:t>
                      </a:r>
                      <a:endParaRPr lang="en-US" sz="9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C00000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3ブランド共通の追い風（60周年）</a:t>
                      </a:r>
                      <a:endParaRPr lang="en-US" sz="8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C00000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◎ </a:t>
                      </a:r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C00000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コラボ情報を知ってワクワクしたとき</a:t>
                      </a:r>
                      <a:endParaRPr lang="en-US" sz="9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0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C00000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4.56</a:t>
                      </a:r>
                      <a:endParaRPr lang="en-US" sz="9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FD9B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5.86</a:t>
                      </a:r>
                      <a:endParaRPr lang="en-US" sz="9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FD9B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-11.22</a:t>
                      </a:r>
                      <a:endParaRPr lang="en-US" sz="9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B3B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1.2</a:t>
                      </a:r>
                      <a:endParaRPr lang="en-US" sz="9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F0D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-0.39</a:t>
                      </a:r>
                      <a:endParaRPr lang="en-US" sz="9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DED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7828F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1150</a:t>
                      </a:r>
                      <a:endParaRPr lang="en-US" sz="9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C00000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ガーナ・コアラ「限定コラボを試したい」と重なる</a:t>
                      </a:r>
                      <a:endParaRPr lang="en-US" sz="8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404040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好きな作品同士がコラボした盛り上がり</a:t>
                      </a:r>
                      <a:endParaRPr lang="en-US" sz="9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1.83</a:t>
                      </a:r>
                      <a:endParaRPr lang="en-US" sz="9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F0D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9.87</a:t>
                      </a:r>
                      <a:endParaRPr lang="en-US" sz="9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FD9B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-17.44</a:t>
                      </a:r>
                      <a:endParaRPr lang="en-US" sz="9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B3B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10.42</a:t>
                      </a:r>
                      <a:endParaRPr lang="en-US" sz="9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FD9B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-4.69</a:t>
                      </a:r>
                      <a:endParaRPr lang="en-US" sz="9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B3B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7828F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2804</a:t>
                      </a:r>
                      <a:endParaRPr lang="en-US" sz="9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C00000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◎ </a:t>
                      </a:r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C00000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テンションを上げたいとき</a:t>
                      </a:r>
                      <a:endParaRPr lang="en-US" sz="9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0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C00000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1.49</a:t>
                      </a:r>
                      <a:endParaRPr lang="en-US" sz="9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F0D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-0.97</a:t>
                      </a:r>
                      <a:endParaRPr lang="en-US" sz="9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DED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1.38</a:t>
                      </a:r>
                      <a:endParaRPr lang="en-US" sz="9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F0D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-3.14</a:t>
                      </a:r>
                      <a:endParaRPr lang="en-US" sz="9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DED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1.24</a:t>
                      </a:r>
                      <a:endParaRPr lang="en-US" sz="9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F0D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7828F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614</a:t>
                      </a:r>
                      <a:endParaRPr lang="en-US" sz="9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C00000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ガーナ「甘いもの／幸福感」と重なる</a:t>
                      </a:r>
                      <a:endParaRPr lang="en-US" sz="8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404040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コラボグッズや限定アイテムを手に入れたいとき</a:t>
                      </a:r>
                      <a:endParaRPr lang="en-US" sz="9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1.22</a:t>
                      </a:r>
                      <a:endParaRPr lang="en-US" sz="9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F0D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-4.16</a:t>
                      </a:r>
                      <a:endParaRPr lang="en-US" sz="9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B3B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-2.47</a:t>
                      </a:r>
                      <a:endParaRPr lang="en-US" sz="9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DED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2.91</a:t>
                      </a:r>
                      <a:endParaRPr lang="en-US" sz="9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F0D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2.49</a:t>
                      </a:r>
                      <a:endParaRPr lang="en-US" sz="9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F0D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7828F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489</a:t>
                      </a:r>
                      <a:endParaRPr lang="en-US" sz="9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404040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コラボグッズをSNSでシェアしたいとき</a:t>
                      </a:r>
                      <a:endParaRPr lang="en-US" sz="9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0.4</a:t>
                      </a:r>
                      <a:endParaRPr lang="en-US" sz="9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F0D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-1.11</a:t>
                      </a:r>
                      <a:endParaRPr lang="en-US" sz="9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DED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0.5</a:t>
                      </a:r>
                      <a:endParaRPr lang="en-US" sz="9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F0D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-0.35</a:t>
                      </a:r>
                      <a:endParaRPr lang="en-US" sz="9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DED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0.56</a:t>
                      </a:r>
                      <a:endParaRPr lang="en-US" sz="9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F0D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7828F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109</a:t>
                      </a:r>
                      <a:endParaRPr lang="en-US" sz="9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2" name="Text 9"/>
          <p:cNvSpPr/>
          <p:nvPr/>
        </p:nvSpPr>
        <p:spPr>
          <a:xfrm>
            <a:off x="685800" y="5623560"/>
            <a:ext cx="108173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950" b="1" dirty="0">
                <a:solidFill>
                  <a:srgbClr val="595959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参考：</a:t>
            </a:r>
            <a:pPr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80808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仮面ライダーは「コラボ情報」「作品同士のコラボ」で強いが、「周年記念」はウルトラマンが独占（+7.46 vs -0.26）。60周年起点の本提案はウルトラマン固有の土俵</a:t>
            </a:r>
            <a:endParaRPr lang="en-US" sz="950" dirty="0"/>
          </a:p>
        </p:txBody>
      </p:sp>
      <p:sp>
        <p:nvSpPr>
          <p:cNvPr id="13" name="Text 10"/>
          <p:cNvSpPr/>
          <p:nvPr/>
        </p:nvSpPr>
        <p:spPr>
          <a:xfrm>
            <a:off x="685800" y="6126480"/>
            <a:ext cx="10817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0808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スコア＝メンタルアドバンテージスコア（0基準・±5が目安、正＝その場面で想起されやすい。読み方はP.21参照）。出所：アライドアーキテクツ社 VOC分析（X上の生活者投稿、2025/8–2026/7）</a:t>
            </a:r>
            <a:endParaRPr lang="en-US" sz="9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384048"/>
            <a:ext cx="1673352" cy="310896"/>
          </a:xfrm>
          <a:prstGeom prst="rect">
            <a:avLst/>
          </a:prstGeom>
          <a:solidFill>
            <a:srgbClr val="C4761B"/>
          </a:solidFill>
          <a:ln/>
        </p:spPr>
      </p:sp>
      <p:sp>
        <p:nvSpPr>
          <p:cNvPr id="3" name="Text 1"/>
          <p:cNvSpPr/>
          <p:nvPr/>
        </p:nvSpPr>
        <p:spPr>
          <a:xfrm>
            <a:off x="795528" y="384048"/>
            <a:ext cx="15636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APPENDIX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685800" y="758952"/>
            <a:ext cx="1463040" cy="50292"/>
          </a:xfrm>
          <a:prstGeom prst="rect">
            <a:avLst/>
          </a:prstGeom>
          <a:solidFill>
            <a:srgbClr val="7A4521"/>
          </a:solidFill>
          <a:ln/>
        </p:spPr>
      </p:sp>
      <p:sp>
        <p:nvSpPr>
          <p:cNvPr id="5" name="Text 3"/>
          <p:cNvSpPr/>
          <p:nvPr/>
        </p:nvSpPr>
        <p:spPr>
          <a:xfrm>
            <a:off x="10332720" y="411480"/>
            <a:ext cx="1170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spc="300" kern="0" dirty="0">
                <a:solidFill>
                  <a:srgbClr val="595959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極　秘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685800" y="932688"/>
            <a:ext cx="10817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33333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ULTRA 3MIN. 技術検討事項と、IP権利・監修の前提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685800" y="1481328"/>
            <a:ext cx="1081735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40404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技術は仮説として共同検証、権利はクリーンな状態で提供する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85800" y="6382512"/>
            <a:ext cx="10817352" cy="0"/>
          </a:xfrm>
          <a:prstGeom prst="line">
            <a:avLst/>
          </a:prstGeom>
          <a:noFill/>
          <a:ln w="9525">
            <a:solidFill>
              <a:srgbClr val="E9E9E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6437376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33333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TSUBURAYA PRODUCTIONS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7772400" y="6437376"/>
            <a:ext cx="37307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spc="400" kern="0" dirty="0">
                <a:solidFill>
                  <a:srgbClr val="80808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LOTTE × TSUBURAYA</a:t>
            </a:r>
            <a:pPr algn="r" indent="0" marL="0">
              <a:buNone/>
            </a:pPr>
            <a:r>
              <a:rPr lang="en-US" sz="950" dirty="0">
                <a:solidFill>
                  <a:srgbClr val="595959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    25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685800" y="2331720"/>
            <a:ext cx="5257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33333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技術検討事項（共同検証したい仮説）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85800" y="2660904"/>
            <a:ext cx="5257800" cy="0"/>
          </a:xfrm>
          <a:prstGeom prst="line">
            <a:avLst/>
          </a:prstGeom>
          <a:noFill/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85800" y="2788920"/>
            <a:ext cx="52578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lnSpc>
                <a:spcPts val="1600"/>
              </a:lnSpc>
              <a:spcAft>
                <a:spcPts val="800"/>
              </a:spcAft>
              <a:buSzPct val="100000"/>
              <a:buChar char="●"/>
            </a:pPr>
            <a:r>
              <a:rPr lang="en-US" sz="1050" dirty="0">
                <a:solidFill>
                  <a:srgbClr val="40404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「3分後の気分の切り替え」体験の設計：清涼感・香味の立ち上がり制御 ── 要検証</a:t>
            </a:r>
            <a:endParaRPr lang="en-US" sz="1050" dirty="0"/>
          </a:p>
          <a:p>
            <a:pPr marL="152400" indent="-152400">
              <a:lnSpc>
                <a:spcPts val="1600"/>
              </a:lnSpc>
              <a:spcAft>
                <a:spcPts val="800"/>
              </a:spcAft>
              <a:buSzPct val="100000"/>
              <a:buChar char="●"/>
            </a:pPr>
            <a:r>
              <a:rPr lang="en-US" sz="1050" dirty="0">
                <a:solidFill>
                  <a:srgbClr val="40404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時限的な味・色の変化（フレーバーカプセル徐放・食用色素）── 検証仮説の一つ</a:t>
            </a:r>
            <a:endParaRPr lang="en-US" sz="1050" dirty="0"/>
          </a:p>
          <a:p>
            <a:pPr marL="152400" indent="-152400">
              <a:lnSpc>
                <a:spcPts val="1600"/>
              </a:lnSpc>
              <a:spcAft>
                <a:spcPts val="800"/>
              </a:spcAft>
              <a:buSzPct val="100000"/>
              <a:buChar char="●"/>
            </a:pPr>
            <a:r>
              <a:rPr lang="en-US" sz="1050" dirty="0">
                <a:solidFill>
                  <a:srgbClr val="40404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形態はグミを第一候補（御社のグミ強化・生産投資の方針と整合）、ガム等へ拡張 ── 実装可否・食感設計は要検証</a:t>
            </a:r>
            <a:endParaRPr lang="en-US" sz="1050" dirty="0"/>
          </a:p>
          <a:p>
            <a:pPr marL="152400" indent="-152400">
              <a:lnSpc>
                <a:spcPts val="1600"/>
              </a:lnSpc>
              <a:spcAft>
                <a:spcPts val="800"/>
              </a:spcAft>
              <a:buSzPct val="100000"/>
              <a:buChar char="●"/>
            </a:pPr>
            <a:r>
              <a:rPr lang="en-US" sz="1050" dirty="0">
                <a:solidFill>
                  <a:srgbClr val="40404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機能性表現（集中・リフレッシュ等）：御社の咀嚼研究の知見と表示規制の範囲内で設計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6309360" y="2331720"/>
            <a:ext cx="51937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33333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IP権利・監修の前提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309360" y="2660904"/>
            <a:ext cx="5193792" cy="0"/>
          </a:xfrm>
          <a:prstGeom prst="line">
            <a:avLst/>
          </a:prstGeom>
          <a:noFill/>
          <a:ln w="12700">
            <a:solidFill>
              <a:srgbClr val="33333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309360" y="2788920"/>
            <a:ext cx="5193792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lnSpc>
                <a:spcPts val="1600"/>
              </a:lnSpc>
              <a:spcAft>
                <a:spcPts val="800"/>
              </a:spcAft>
              <a:buSzPct val="100000"/>
              <a:buChar char="●"/>
            </a:pPr>
            <a:r>
              <a:rPr lang="en-US" sz="1050" dirty="0">
                <a:solidFill>
                  <a:srgbClr val="40404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ウルトラマンシリーズの国内外の権利関係は2019年の米控訴審勝訴（2020年3月確定）により係争終結。御社に法務リスクを持ち込まない</a:t>
            </a:r>
            <a:endParaRPr lang="en-US" sz="1050" dirty="0"/>
          </a:p>
          <a:p>
            <a:pPr marL="152400" indent="-152400">
              <a:lnSpc>
                <a:spcPts val="1600"/>
              </a:lnSpc>
              <a:spcAft>
                <a:spcPts val="800"/>
              </a:spcAft>
              <a:buSzPct val="100000"/>
              <a:buChar char="●"/>
            </a:pPr>
            <a:r>
              <a:rPr lang="en-US" sz="1050" dirty="0">
                <a:solidFill>
                  <a:srgbClr val="40404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キャラクター・世界観・デザインは円谷プロが全面監修（歴代デザイン・怪獣造形の一次資産を提供）</a:t>
            </a:r>
            <a:endParaRPr lang="en-US" sz="1050" dirty="0"/>
          </a:p>
          <a:p>
            <a:pPr marL="152400" indent="-152400">
              <a:lnSpc>
                <a:spcPts val="1600"/>
              </a:lnSpc>
              <a:spcAft>
                <a:spcPts val="800"/>
              </a:spcAft>
              <a:buSzPct val="100000"/>
              <a:buChar char="●"/>
            </a:pPr>
            <a:r>
              <a:rPr lang="en-US" sz="1050" dirty="0">
                <a:solidFill>
                  <a:srgbClr val="40404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60周年公式商品としての認定・映像連動は円谷プロが主導</a:t>
            </a:r>
            <a:endParaRPr lang="en-US" sz="1050" dirty="0"/>
          </a:p>
          <a:p>
            <a:pPr marL="152400" indent="-152400">
              <a:lnSpc>
                <a:spcPts val="1600"/>
              </a:lnSpc>
              <a:spcAft>
                <a:spcPts val="800"/>
              </a:spcAft>
              <a:buSzPct val="100000"/>
              <a:buChar char="●"/>
            </a:pPr>
            <a:r>
              <a:rPr lang="en-US" sz="1050" dirty="0">
                <a:solidFill>
                  <a:srgbClr val="40404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スキームはライセンス＋共同マーケティング契約を想定。詳細条件はワークショップにて協議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685800" y="6035040"/>
            <a:ext cx="10817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0808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本資料の市場・分析数値はすべてアライドアーキテクツ社VOC分析（2025/8–2026/7）および公表情報に基づく。新規の推計値は含まない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游ゴシック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游ゴシック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25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2026-08-18T03:12:21Z</dcterms:created>
  <dcterms:modified xsi:type="dcterms:W3CDTF">2026-08-18T03:12:21Z</dcterms:modified>
</cp:coreProperties>
</file>