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本日はウルトラマンの売り込みではなく、生活者データから見えたロッテの成長テーマを一緒に議論しに来た、と冒頭で宣言する。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「本日は売り込みではない」と最初に言い切る。3ステップの順番（データ→実証→カテゴリー）だけ覚えて帰ってもらえれば十分。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手法説明に時間を使わない。「思い込みでなくデータで見た」ことだけ伝え、詳細質問はAppendixで受ける。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このページが最初の山場。「思っていた以上に、データ上の重なりがあった」という驚きを丁寧に。スコアの読み方を聞かれたらAppendixへ。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「特撮ファン向けのIP」という先入観をデータで外すページ。+179%（ヤングのイベント参加）は口頭でも強調。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結論を先に：「本命はコアラのマーチでした」。BEST FITカードだけ説明し、他2枚は「目的次第で次点」と流す。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ガーナは「純粋な幸福感」の1点だけ話す。バレンタイン軸は明治が強い＝だからこそ別の文脈で戦う、という読み。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雪見は「勝てる文脈（家族）」と「勝てない文脈（夏・味変）」を正直に見せる。データで語る姿勢の証明になる。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資料全体のビジュアルピーク。+9.57の突出ぶりと「食べるウルトラ図鑑」の一言で覚えて帰ってもらう。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企画の細部判断は求めない。「歴代復刻は業界に実績がない＝データが示す空白」とだけ言い、細部はWSへ。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ストーリーを一段上げる転換点。「売って終わりではなく、学びを買いに行く」という言い方が効く。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4例に絞って手短に。最後の問い「次の習慣は何か」で一拍置いてから次ページへ。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ここで初めてULTRA 3MIN.を出す。主軸は「3分で気分が変わる」（キリッとする・落ち着く）。味や色の変化は検証仮説として添える程度に。形態はグミ第一候補（ロッテのグミシフトと整合）。「実現できます」とは絶対に言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7項目の詳細比較はやらない。物語×実装、の一言で相補性を伝える。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アライドは主役にしない。「検証の仕組みが最初から入っている」ことが従来コラボとの違い、と伝える。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「今日決めるのは①だけ」でハードルを下げる。②③はデータを見て一緒に判断＝経営リスクが小さいことを強調。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お願いは3つだけ、①が本丸。最後は「まず一つ売る。そこで学ぶ。」で締めて余韻を残す。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302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77824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6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</a:t>
            </a:r>
            <a:endParaRPr lang="en-US" sz="1500" dirty="0"/>
          </a:p>
          <a:p>
            <a:pPr algn="r" indent="0" marL="0">
              <a:buNone/>
            </a:pPr>
            <a:r>
              <a:rPr lang="en-US" sz="750" spc="3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HOLDINGS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 PRODUCTIONS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生活者データから、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次のカテゴリーをつくる。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4343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ウルトラマンIPを活用した既存ブランド成長と新カテゴリー創造のご提案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4892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ロッテホールディングス 玉塚社長 御中  | 2026年8月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263640"/>
            <a:ext cx="12191695" cy="9144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355080"/>
            <a:ext cx="12191695" cy="45720"/>
          </a:xfrm>
          <a:prstGeom prst="rect">
            <a:avLst/>
          </a:prstGeom>
          <a:solidFill>
            <a:srgbClr val="D9C7A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 外 厳 秘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1．オープニング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今回お願いしたいのは、「ウルトラマンを使うこと」ではありません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ロッテがこれまで何度も行ってきたように、生活者の新しい欲求を捉え、新しい食べ方・買い方・習慣を生み出すこと。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そのパートナーとしてウルトラマンIPを活用できないか、というご提案です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77440"/>
          <a:ext cx="108173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891272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データから始める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キャラクターの人気や記念年を売り込むのではなく、生活者のVOC（SNS上の声）を分析した結果からお話しする。ロッテ3ブランドとウルトラマンには、データ上の意外な相性が見つかった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まず既存ブランドで実証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新商品をいきなり作るのではなく、既存ブランドの新規顧客・新規界隈の開拓で小さく実証し、購買・VOCデータで学習する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その先に、カテゴリー創造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実証で得た学びを起点に、ロッテ×円谷プロで次の新カテゴリーの共同開発まで検討する。本日はその入口の議論をお願いしたい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553212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 → 発見 → 実証 → 学習 → カテゴリー創造。この順番でお話しします。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1．オープニング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「ロッテ × ウルトラマン」は、本当に相性が良いのか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思い込みを排するため、アライドアーキテクツ社とともに、ロッテ3ブランドとウルトラマンIPの生活者VOCを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CEPs（カテゴリーエントリーポイント）の枠組みで分析した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分析の枠組み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15184"/>
            <a:ext cx="49377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74320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 とは：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生活者がそのカテゴリーを想起・購入する「きっかけ」のこと。SNS上のVOCから文脈を抽出し、スコアリングできる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977640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77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VOC収集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01368" y="39776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65960" y="3977640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3977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クリーニング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081528" y="39776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977640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977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CEPs特定・集計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61688" y="39776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26280" y="3977640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3977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CEPs診断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5800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AIによる文脈抽出 × アナリストの妥当性チェックの併用（詳細はAppendix）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72200" y="228600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分析対象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2615184"/>
            <a:ext cx="53309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743200"/>
          <a:ext cx="53309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7764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カテゴリー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分析ブランド（競合含む）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チョコレート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ガーナ／明治ミルクチョコレート／meiji THE Chocolate／DARS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ビスケット菓子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コアラのマーチ／ポッキー／たけのこの里／アルフォート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アイス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雪見だいふく／ハーゲンダッツ／ピノ／パルム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ヒーローIP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ウルトラマン／仮面ライダー／スーパー戦隊／ゴジラ／ドラゴンボール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6172200" y="5486400"/>
            <a:ext cx="5330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収集期間：2025/8/1–2026/7/31（12ヶ月）。ノイズ除外後、各ブランド最大1,000件を分析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85800" y="59893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 VOC分析。収集条件・件数・クリーニング工程の詳細はAppendix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2258568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2．データが見つけた相性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ロッテの強い購買文脈と、ウルトラマンの強い文脈が重なっていた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各ブランドが競合を引き離して独占するCEPs（＝適合ゾーン）に、ウルトラマンが他IPを引き離して独占する文脈が対応していた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75320" y="2084832"/>
            <a:ext cx="1371600" cy="77724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98280" y="2084832"/>
            <a:ext cx="1371600" cy="77724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98280" y="2212848"/>
            <a:ext cx="548640" cy="521208"/>
          </a:xfrm>
          <a:prstGeom prst="ellipse">
            <a:avLst/>
          </a:prstGeom>
          <a:ln w="15875">
            <a:solidFill>
              <a:srgbClr val="C4761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22960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適合ゾーン ＝ 双方が独占するCEPs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383280"/>
          <a:ext cx="108173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395935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ブランド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ブランドが独占するCEPs（競合とのスコア差）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対応するウルトラマンの資産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「純粋な幸福感を得たいとき」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+2.61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（4社中1位）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応援・希望の物語。「テンションを上げたい」文脈 +1.49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「絵柄を楽しみながら食べたいとき」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+9.57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（3ブランド中最強・突出）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60年 × 約2,500種のヒーロー・怪獣のキャラクター絵柄資産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「友達や家族に分け合いながら食べたいとき」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+4.55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昭和・平成・令和の三世代IP。「世代を超えた絆」 +0.66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30936" y="4370832"/>
            <a:ext cx="10927080" cy="77724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685800" y="57972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さらに、</a:t>
            </a:r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「周年・節目を祝いたいとき」はウルトラマン +7.46 で、3ブランド共通の追い風</a:t>
            </a:r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（2026年＝シリーズ60周年）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85800" y="610819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スコア＝競合比の相対値（0が基準・正＝競合より強く独占）。出所：アライドアーキテクツ社 VOC分析（X上の生活者投稿、2025/8–2026/7）※分析の一部を抜粋。手法・全データはAppendix参照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2258568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2．データが見つけた相性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ウルトラマンは、従来の“特撮ファン”だけのIPではない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各界隈のSNS発話に既にウルトラマンが自然に登場しており、発話の伸長とIP資産（60周年・キャラ約2,500種・三世代性）が噛み合っている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C47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界隈 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26700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推し活女子・ママ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0906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既に語られている（言及件数／2,000件中）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332841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推しのウルトラマン作品を見たい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447件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子どもと一緒に楽しみたい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335件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推しのグッズを集めたい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312件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43159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伸長中の需要（YoY）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45537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周年イベントを楽しみたい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+84%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推し旅をしたい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+80%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5321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CONNECT → ガーナ／コアラのマーチ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34256" y="224028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C476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62856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界隈 02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62856" y="26700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ヤング懐かし配信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62856" y="30906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既に語られている（言及件数／2,000件中）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62856" y="332841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懐かしさ・子どもの頃を振り返りたい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539件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SNSで感想や考察をシェアしたい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452件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昭和・平成・令和を一から履修したい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278件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62856" y="43159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伸長中の需要（YoY）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62856" y="45537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イベント・展示会に参加したい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+179%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ヒーローから勇気を得られる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+35%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62856" y="5321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CONNECT → コアラのマーチ／雪見だいふく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82712" y="224028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C476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1312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界隈 03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11312" y="26700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コレクター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11312" y="30906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既に語られている（言及件数／2,000件中）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11312" y="332841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子供の頃好きだったキャラのソフビ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379件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造形を眺めて名シーンを思い出す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261件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コレクションを並べて飾りたい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235件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11312" y="43159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伸長中の需要（YoY）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11312" y="45537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昭和・平成の復刻版ソフビを揃えたい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+73%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好きなキャラへの愛を形にしたい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+53%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11312" y="5321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CONNECT → コアラのマーチ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" y="5870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ロッテの既存ブランドを、新しい顧客・新しい界隈へ運ぶ「橋」になれる。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" y="619963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 VOC分析。言及件数は各界隈2,000件中／YoY＝ウルトラマン関連発話における当該文脈の発話数の前年比（2024年→2025年）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本命は、コアラのマーチでした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4つの評価軸で3ブランドを比較すると、コアラのマーチが全軸で最高評価。次点はガーナ or 雪見だいふくで、目的に応じて選択できる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25400">
            <a:solidFill>
              <a:srgbClr val="C476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206654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C4761B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20665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BEST FIT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86968" y="2331720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1st ／ 本命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86968" y="25786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6968" y="296265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絵柄コレクション × 60周年造形資産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6968" y="329184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CEP独占度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86968" y="350215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「絵柄を楽しみながら食べたい」+9.57（突出／3ブランド最強）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86968" y="3895344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既存コラボ実績との整合性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86968" y="410565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絵柄コレクション型が既に標準フォーマット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86968" y="4498848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3界隈カバレッジ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86968" y="47091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推し活・ヤング懐かし・コレクター全てに接続可能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86968" y="5102352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60周年タイミング活用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6968" y="531266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60年×2,500種の造形資産が「絵柄で楽しむ」に直結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86968" y="57058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4軸全てで最高評価。実装リスクも低い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34256" y="21945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35424" y="2331720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2nd 候補 ／ 話題性重視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35424" y="25786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ガーナ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535424" y="296265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実写特撮ヒーロー 初コラボ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35424" y="329184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CEP独占度  </a:t>
            </a:r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○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35424" y="350215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「純粋な幸福感」+2.61（4社中1位）／「甘いもの」+6.19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535424" y="3895344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既存コラボ実績との整合性  </a:t>
            </a:r>
            <a:pPr indent="0" marL="0">
              <a:buNone/>
            </a:pPr>
            <a:r>
              <a:rPr lang="en-US" sz="100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△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35424" y="410565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バレンタイン軸中心。特撮初コラボで新規性◎だが実装工数増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535424" y="4498848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3界隈カバレッジ  </a:t>
            </a:r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○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35424" y="47091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推し活・ヤング中心。コレクター界隈への接続は限定的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535424" y="5102352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60周年タイミング活用  </a:t>
            </a:r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○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35424" y="531266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周年限定パッケージ・応援ムービー等で展開可能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35424" y="57058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新規性・話題性を狙う場合に選択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982712" y="21945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2331720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2nd 候補 ／ 世代継承重視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183880" y="25786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雪見だいふく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8183880" y="296265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家族団らん × 冬ホリデーシーズン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83880" y="329184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CEP独占度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183880" y="350215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「家族と分け合いながら」+4.55／「こたつでくつろぎ」+21.16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183880" y="3895344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既存コラボ実績との整合性  </a:t>
            </a:r>
            <a:pPr indent="0" marL="0">
              <a:buNone/>
            </a:pPr>
            <a:r>
              <a:rPr lang="en-US" sz="100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△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183880" y="410565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個人向けおまけ・タレント起用中心。三世代家族軸は未実施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183880" y="4498848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3界隈カバレッジ  </a:t>
            </a:r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○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183880" y="47091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ヤング懐かし・家族軸に接続。コレクターとの相性は限定的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183880" y="5102352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60周年タイミング活用  </a:t>
            </a:r>
            <a:pPr indent="0" marL="0">
              <a:buNone/>
            </a:pPr>
            <a:r>
              <a:rPr lang="en-US" sz="100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△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183880" y="531266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冬季限定のためタイミング依存（2026年冬）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183880" y="57058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世代継承・家族団らん訴求／ホリデーシーズンに選択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5800" y="614476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 VOC分析に基づく4軸評価（評価の詳細データはAppendix）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ガーナなら、「応援」と「幸福感」を広げられる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ガーナは「純粋な幸福感」「甘いもの」の文脈で競合を引き離す。過去5年のIPコラボはアニメ・タレント中心で、実写特撮ヒーローとの連携は空白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7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ガーナ競合比較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34640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※分析の一部を抜粋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70048"/>
          <a:ext cx="108173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914400"/>
                <a:gridCol w="914400"/>
                <a:gridCol w="914400"/>
                <a:gridCol w="758952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状況のCEPs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明治ミルク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meiji THE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DARS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言及数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→ ウルトラマンの対応CEP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甘いものが食べたいとき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6.19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-6.6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-6.54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9.21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270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「テンションを上げたい」+1.49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純粋な幸福感を得たいとき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2.61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155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「幼少期の純粋な興奮」文脈と適合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自分のご褒美として食べたいとき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-0.19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-1.56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-1.45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バレンタインに好きな人へ渡したいとき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-9.18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12.05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-8.01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-11.34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315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既存の主戦場は明治が優位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85800" y="4892040"/>
            <a:ext cx="10817352" cy="960120"/>
          </a:xfrm>
          <a:prstGeom prst="roundRect">
            <a:avLst>
              <a:gd name="adj" fmla="val 7619"/>
            </a:avLst>
          </a:prstGeom>
          <a:solidFill>
            <a:srgbClr val="FD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892040"/>
            <a:ext cx="10268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◆ 適合ゾーンに応える新規の切り口（例・1案のみ）：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ウルトラマン60周年 × 応援ムービー付き限定パッケージ ── 「純粋な幸福感を得たいとき」に、実写特撮ヒーロー初コラボで応える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スコア＝競合比の相対値（0が基準・正＝競合より強く独占）。出所：アライドアーキテクツ社 VOC分析（X上の生活者投稿、2025/8–2026/7）※分析の一部を抜粋。手法・全データはAppendix参照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雪見だいふくなら、「三世代の団らん」を取りにいける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雪見だいふくは「家族と分け合う」文脈で独占的。三世代の家族団らん軸のIPコラボは過去5年に実績がなく、三世代IPのウルトラマンと噛み合う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雪見だいふく競合比較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0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※分析の一部を抜粋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70048"/>
          <a:ext cx="108173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05840"/>
                <a:gridCol w="1051560"/>
                <a:gridCol w="777240"/>
                <a:gridCol w="822960"/>
                <a:gridCol w="758952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状況のCEPs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ハーゲンダッツ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ピノ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パルム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言及数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→ ウルトラマンの対応CEP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友達や家族に分け合いながら食べたいとき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4.55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0.76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-6.2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452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「世代を超えた絆」+0.66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子供と一緒に食べたいとき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1.68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-1.07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1.52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-2.53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217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「子どもと一緒に楽しみたい」+1.45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暑い時に涼みながら食べたいとき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-10.6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0.07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4.71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5.82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895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夏場はピノ・パルムが優位 ＝ 冬が主戦場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期間限定フレーバーを試したいとき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-11.08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9.22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-8.63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10.5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1291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味変軸は競合が優位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85800" y="4892040"/>
            <a:ext cx="10817352" cy="960120"/>
          </a:xfrm>
          <a:prstGeom prst="roundRect">
            <a:avLst>
              <a:gd name="adj" fmla="val 7619"/>
            </a:avLst>
          </a:prstGeom>
          <a:solidFill>
            <a:srgbClr val="FD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892040"/>
            <a:ext cx="10268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◆ 適合ゾーンに応える新規の切り口（例・1案のみ）：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昭和・平成・令和のウルトラファミリーと囲む冬 ── 三世代でこたつを囲む「家族と分け合いたいとき」に応える（2026年冬）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スコア＝競合比の相対値（0が基準・正＝競合より強く独占）。出所：アライドアーキテクツ社 VOC分析（X上の生活者投稿、2025/8–2026/7）※分析の一部を抜粋。手法・全データはAppendix参照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 ×「食べるウルトラ図鑑」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「絵柄を楽しみながら食べたい」はコアラのマーチが突出して独占するCEPs。60年×約2,500種の絵柄資産との掛け合わせ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+9.57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85800" y="31272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「絵柄を楽しみながら食べたいとき」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コアラのマーチのスコア差（3ブランド中最強・突出）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06240" y="219456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7F5F1"/>
          </a:solidFill>
          <a:ln w="19050">
            <a:solidFill>
              <a:srgbClr val="1782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26700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絵柄を見る楽しさ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（CEPs独占 +9.57）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06640" y="219456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7F5F1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26700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60年 × 約2,500種の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ヒーロー・怪獣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122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206240" y="3657600"/>
            <a:ext cx="7296912" cy="868680"/>
          </a:xfrm>
          <a:prstGeom prst="roundRect">
            <a:avLst>
              <a:gd name="adj" fmla="val 10526"/>
            </a:avLst>
          </a:prstGeom>
          <a:solidFill>
            <a:srgbClr val="3B3028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657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＝ 「食べるウルトラ図鑑」</a:t>
            </a:r>
            <a:endParaRPr lang="en-US" sz="1900" dirty="0"/>
          </a:p>
          <a:p>
            <a:pPr indent="0" marL="0">
              <a:buNone/>
            </a:pPr>
            <a:r>
              <a:rPr lang="en-US" sz="1050" dirty="0">
                <a:solidFill>
                  <a:srgbClr val="D9C7A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一枚ごとに絵柄と出会い、集め、語りたくなる新しいおやつ体験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754880"/>
          <a:ext cx="1081735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  <a:gridCol w="423367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補強するCEPs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スコア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位置づけ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限定やコラボ商品を試したいとき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+4.48（738件）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コアラのマーチ側の第2の独占CEPs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周年記念を祝いたいとき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+7.46（210件）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ウルトラマン側・全IP中で突出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コラボ情報を知ってワクワクしたとき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+4.56（1,150件）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ウルトラマン側・発話量も最大級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85800" y="608990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スコア＝競合比の相対値（0が基準・正＝競合より強く独占）。出所：アライドアーキテクツ社 VOC分析（X上の生活者投稿、2025/8–2026/7）※分析の一部を抜粋。手法・全データはAppendix参照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一箱ごとに、60年の宇宙へ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データから導かれた具体化イメージ（決定事項ではない）。シリーズを段階的に展開し、パッケージから店頭・SNS・デジタル図鑑までを一つの体験として設計する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シリーズ構成（歴代デザインの段階的復刻）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15184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17828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昭和ウルトラマン編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05456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17828F"/>
          </a:solidFill>
          <a:ln/>
        </p:spPr>
      </p:sp>
      <p:sp>
        <p:nvSpPr>
          <p:cNvPr id="16" name="Text 14"/>
          <p:cNvSpPr/>
          <p:nvPr/>
        </p:nvSpPr>
        <p:spPr>
          <a:xfrm>
            <a:off x="2505456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平成ウルトラマン編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25112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17828F"/>
          </a:solidFill>
          <a:ln/>
        </p:spPr>
      </p:sp>
      <p:sp>
        <p:nvSpPr>
          <p:cNvPr id="18" name="Text 16"/>
          <p:cNvSpPr/>
          <p:nvPr/>
        </p:nvSpPr>
        <p:spPr>
          <a:xfrm>
            <a:off x="4325112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令和ウルトラマン編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44768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144768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怪獣編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64424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964424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宇宙人編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784080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C4761B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0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シークレット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334670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過去5年のIPコラボは「最新作の絵柄」で一貫しており、初代からの歴代デザイン復刻は業界に実績なし（＝新規性）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379476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一つの体験としてつなぐ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123944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パッケージ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（60周年仕様）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24328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898648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菓子の絵柄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（全種描き下ろし）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37176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111496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4648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店頭什器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（三世代で楽しむ売場）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50024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324344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97496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SNS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（#食べるウルトラ図鑑）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262872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37192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10344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デジタル図鑑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（集めて記録・共有）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" y="5349240"/>
            <a:ext cx="10817352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43" name="Text 41"/>
          <p:cNvSpPr/>
          <p:nvPr/>
        </p:nvSpPr>
        <p:spPr>
          <a:xfrm>
            <a:off x="960120" y="534924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コアラのマーチ35周年 × ウルトラマン60周年：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「周年・節目を祝いたいとき」（ウルトラマン+7.46）に応える、両ブランドの特別な1年の物語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" y="614476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企画案はデータから導かれた具体化イメージであり決定事項ではない。詳細はワークショップで御社メンバーと共同設計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819656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4．実証のその先へ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ただし、私たちのゴールはコラボ商品ではありません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コアラのマーチ企画は「売上を取る商品」であると同時に、次のカテゴリーを作るための実証実験。売って終わりではなく、学びを設計して取りにいく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実証で測定するもの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60904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788920"/>
          <a:ext cx="108173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43991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測定項目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何を学ぶか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新規購買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コアラのマーチを初めて／久しぶりに買った人の割合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年代構成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購買者の年代分布 ── 三世代に届いたか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リピート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シリーズ第2弾・第3弾への継続購買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人気キャラクター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どの時代・どのキャラが選ばれたか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SNS発話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#食べるウルトラ図鑑 の発話量・文脈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動いた界隈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推し活・ヤング・コレクターのどこが動いたか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購買理由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VOC再分析による購買きっかけ（CEPs）の変化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30936" y="5349240"/>
            <a:ext cx="10927080" cy="45720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685800" y="59436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特に「購買理由の変化」が重要 ── </a:t>
            </a:r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ここで得るデータが、次のカテゴリー開発の設計図になる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819656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4．実証のその先へ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ロッテは、商品ではなく“習慣”を発明してきた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カテゴリー創造は外部の成功例ではなく、御社自身の勝ちパターンである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12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31720"/>
          <a:ext cx="108173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3566160"/>
                <a:gridCol w="38679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商品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年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発明した習慣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何が起きたか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ビックリマン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1977／85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「集める」という習慣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シール食玩の発明。最盛期年間4億個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1981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「冬にアイスを食べる」習慣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『冬は売れない』の常識を反転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キシリトールガム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1997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「歯のために噛む」習慣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機能性ガムの創造。ガムシェア6割の源泉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クーリッシュ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2003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「アイスを飲む」習慣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容器の発明で世界ヒット商品賞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85800" y="5349240"/>
            <a:ext cx="10817352" cy="777240"/>
          </a:xfrm>
          <a:prstGeom prst="rect">
            <a:avLst/>
          </a:prstGeom>
          <a:solidFill>
            <a:srgbClr val="3B3028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534924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では、次の習慣は何か。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819656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4．実証のその先へ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「3分間を、たべよう。」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実証の先で共同開発したい最終構想 ──『ULTRA 3MIN.』。ウルトラマンの「3分間」を、気分を切り替える食習慣に翻訳する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コンセプト（共同で検証したい仮説）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15184"/>
            <a:ext cx="49377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88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噛んで3分。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気分が、変身する。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" y="39319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「やるぞ」のスイッチ、「落ち着く」の儀式 ── 勉強前・仕事前の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「1日3分のヒーロータイム」という新習慣。形態はグミを第一候補に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（御社のグミ強化・生産投資の方針と整合）、ガム等へ拡張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286000"/>
            <a:ext cx="5513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3分の変身の設計（イメージ）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2615184"/>
            <a:ext cx="551383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2743200"/>
          <a:ext cx="551383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231343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噛みはじめ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変身（3分経過）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気分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ざわつく日常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キリッと集中／すっと落ち着く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味・清涼感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クールな立ち上がり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時限的な変化（検証仮説）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214616" y="3026664"/>
            <a:ext cx="4343400" cy="521208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5989320" y="4251960"/>
            <a:ext cx="5513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「3分後の気分の切り替え」を軸に、香味・清涼感・食感等の時限設計は御社の咀嚼研究・商品開発・研究部門と共同で技術検証したい仮説（実現可能性を保証するものではない）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85800" y="5257800"/>
            <a:ext cx="10817352" cy="731520"/>
          </a:xfrm>
          <a:prstGeom prst="roundRect">
            <a:avLst>
              <a:gd name="adj" fmla="val 10000"/>
            </a:avLst>
          </a:prstGeom>
          <a:solidFill>
            <a:srgbClr val="EAF4F8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" y="5257800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なぜウルトラマンか：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「3分」を物語として背負えるのは、カラータイマーを持つウルトラマンだけ。噛むことの価値（集中・リフレッシュ）は御社の咀嚼研究と整合する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5．共同のかたち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片方だけでは、作れない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円谷プロは物語と資産を、ロッテは技術と売場を持つ。新しい食習慣は、その交点にしか生まれない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377440"/>
            <a:ext cx="4206240" cy="3108960"/>
          </a:xfrm>
          <a:prstGeom prst="roundRect">
            <a:avLst>
              <a:gd name="adj" fmla="val 2941"/>
            </a:avLst>
          </a:prstGeom>
          <a:solidFill>
            <a:srgbClr val="F7F5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円谷プロダクション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変身・3分間・カラータイマー</a:t>
            </a:r>
            <a:endParaRPr lang="en-US" sz="1150" dirty="0"/>
          </a:p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60年 × 約2,500種のキャラクター</a:t>
            </a:r>
            <a:endParaRPr lang="en-US" sz="1150" dirty="0"/>
          </a:p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毎年更新される映像・イベント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三世代・国内外のファンダム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296912" y="2377440"/>
            <a:ext cx="4206240" cy="3108960"/>
          </a:xfrm>
          <a:prstGeom prst="roundRect">
            <a:avLst>
              <a:gd name="adj" fmla="val 2941"/>
            </a:avLst>
          </a:prstGeom>
          <a:solidFill>
            <a:srgbClr val="F7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7616952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16952" y="31089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ガム・グミ・チョコ・アイスの食品技術</a:t>
            </a:r>
            <a:endParaRPr lang="en-US" sz="1150" dirty="0"/>
          </a:p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咀嚼研究・機能性のエビデンス</a:t>
            </a:r>
            <a:endParaRPr lang="en-US" sz="1150" dirty="0"/>
          </a:p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商品開発・製造・品質管理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全国の売場とアジアの流通網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74920" y="3200400"/>
            <a:ext cx="2057400" cy="1463040"/>
          </a:xfrm>
          <a:prstGeom prst="ellipse">
            <a:avLst/>
          </a:prstGeom>
          <a:solidFill>
            <a:srgbClr val="3B3028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2004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新しい</a:t>
            </a:r>
            <a:endParaRPr lang="en-US" sz="15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食習慣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3611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86600" y="3611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" y="57607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習慣の物語は円谷から、習慣の実装はロッテから。どちらが欠けても「変身菓子」は成立しない。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5．共同のかたち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企画して終わらない。データで学び続ける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従来の「単発コラボ」と違うのは、生活者データで仮説と成果を検証し続ける循環を最初から組み込むこと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60120" y="2468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1033272" y="2468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生活者VOC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37560" y="26060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30168" y="2468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2468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ブランド課題の特定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07608" y="26060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0216" y="2468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2468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IP活用の仮説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77656" y="26060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70264" y="2468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9043416" y="2468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商品・プロモーション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70264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0120" y="370332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3EDE0"/>
          </a:solidFill>
          <a:ln w="12700">
            <a:solidFill>
              <a:srgbClr val="7A45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3703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次の商品・次のブランドへ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06240" y="38404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53712" y="370332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703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再分析（CEPs・界隈の変化）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99832" y="38404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←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47304" y="370332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0456" y="3703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購買・SNSデータ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60120" y="4526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↑ 学びが次の起点に戻る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5029200"/>
          <a:ext cx="108173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07415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担い手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役割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円谷プロ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IP・物語・監修・映像連動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ロッテ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商品・製造・売場・ブランド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アライドアーキテクツ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生活者データで仮説と成果を検証する分析パートナー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5．共同のかたち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まず試す。その先で、発明する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いきなりカテゴリーを宣言しない。実証 → 学習 → カテゴリー開発の順に、意思決定を段階的に進める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16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77440"/>
          <a:ext cx="108173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5120640"/>
                <a:gridCol w="258775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フェーズ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時期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取り組み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目的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2026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 × ウルトラマン60周年。歴代絵柄シリーズと#食べるウルトラ図鑑を展開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既存ブランドで新規顧客・新規界隈を実証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学習・検証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2027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実証データの再分析。ULTRA 3MIN.の共同研究・技術検証・試作。ガーナ／雪見だいふくへの横展開判断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新カテゴリーの仮説検証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カテゴリー開発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2028〜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ULTRA 3MIN.の商品化判断と展開。他ブランド・アジア市場への拡張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「変身菓子」カテゴリーの確立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30936" y="2688336"/>
            <a:ext cx="10927080" cy="96012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685800" y="562356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</a:t>
            </a:r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だけが本日の意思決定範囲 ── ②③は実証データを見てから一緒に判断する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6．クロージング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まず、コアラのマーチから一緒に考えさせてください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本日お願いしたいことは3点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17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173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439912"/>
              </a:tblGrid>
              <a:tr h="38404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NEXT STEP：本日ご相談したい三つのこと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 hMerge="1">
                  <a:tcPr/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方向性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ロッテ × 円谷プロで、既存ブランドの新規顧客・新規界隈開拓を共同検討することへのご合意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ワークショップ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第一弾としてコアラのマーチを題材に、御社の商品・マーケティング・研究メンバーを交えた共同ワークショップの設定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その先の検討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実証結果を踏まえ、ULTRA 3MIN.を含む新カテゴリー開発まで検討範囲に含めること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30936" y="2633472"/>
            <a:ext cx="10927080" cy="694944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685800" y="48920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ビックリマンを生んだロッテと、「変身」を生んだウルトラマン。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53035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まず一つ売る。そこで学ぶ。そして、次のカテゴリーを一緒につくる。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円谷プロダクション ｜ 2026年8月 ｜ 本資料の内容は両社間の検討用であり、記載の企画・商品名・時期はすべて仮称・仮案です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834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分析手法・全データ・技術検討事項・権利前提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CEPs（カテゴリーエントリーポイント）とは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「あるカテゴリーの購入状況においてブランドを想起し選ぶきっかけ」。VOCから文脈抽出し、スコアリングして算出できる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SNS上のVOC（例：テーマパーク）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706624"/>
            <a:ext cx="32918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3464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346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「思い出の地といえば」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346704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34670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「友人と過ごす」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858768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5876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「休日に家族で」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4370832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3708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「現実逃避したいなら」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4882896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88289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「恋人とデートで」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539496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39496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「卒業旅行で」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365760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7828F"/>
          </a:solidFill>
          <a:ln/>
        </p:spPr>
      </p:sp>
      <p:sp>
        <p:nvSpPr>
          <p:cNvPr id="26" name="Text 24"/>
          <p:cNvSpPr/>
          <p:nvPr/>
        </p:nvSpPr>
        <p:spPr>
          <a:xfrm>
            <a:off x="434340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AIエージェント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による文脈抽出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データ整形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041648" y="3886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37960" y="3886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03720" y="2377440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テーマパークのCEPs（抽出結果イメージ）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03720" y="2706624"/>
            <a:ext cx="459943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2834640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7086600" y="2834640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非日常の世界観を味わいたいなら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03720" y="3346704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3346704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友人と特別な時間を過ごしたいとき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03720" y="3858768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7086600" y="3858768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家族の休日の行き先として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03720" y="4370832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38" name="Text 36"/>
          <p:cNvSpPr/>
          <p:nvPr/>
        </p:nvSpPr>
        <p:spPr>
          <a:xfrm>
            <a:off x="7086600" y="4370832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現実逃避したいとき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03720" y="4882896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40" name="Text 38"/>
          <p:cNvSpPr/>
          <p:nvPr/>
        </p:nvSpPr>
        <p:spPr>
          <a:xfrm>
            <a:off x="7086600" y="4882896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記念日・節目を祝いたいとき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" y="59436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出所：アライドアーキテクツ社資料。CEPsはメンタル・アベイラビリティ（想起のされやすさ）を構成し、フィジカル・アベイラビリティ（手に入りやすさ）と併せて購買を規定する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VOC分析の手法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収集 → クリーニング → CEPs特定・集計 → 診断の4工程。AI処理とアナリストの妥当性チェックを併用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20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31720"/>
          <a:ext cx="108173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71423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工程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内容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収集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自社／競合ブランドのX投稿を12ヶ月分収集。#PR・#AD、キャンペーン応募、公式メンション、アフィリエイト、URL付き投稿を収集時に除外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クリーニング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期間別の層化比例ランダムサンプリング後、bot・公式アカウント・重複・同一ユーザー15件以上の投稿・関連行動との非一致・ネガティブ言及を除外し、分析対象を決定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CEPs特定・集計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南オーストラリア大学 ジェニー・ロマニウク氏の「W'sフレームワーク」（When／Where／With whom／With what／While／Why／How feeling）で文脈を抽出し、状況・体験価値ごとに最大24種まで整理。複数の生成AI処理＋アナリストの妥当性チェックで全投稿を集計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④ 診断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各ブランド×各状況・体験価値の言及数（リンク数）と期待リンク数との差分を相対スコア化し、ブランド間で比較。スコアが大きいほど、そのCEPsを競合より強く独占していることを示す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出所：アライドアーキテクツ社資料（本資料の各スコアはすべて上記手法による相対スコア）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データ収集条件（2025/8/1 – 2026/7/31）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3カテゴリー×12ブランド。ノイズ除外・サンプリング後、各ブランド最大1,000件を分析対象とした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21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173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011680"/>
                <a:gridCol w="31363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カテゴリー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ブランド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収集件数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ノイズ除外・サンプリング後の分析対象件数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チョコレート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3,069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明治ミルクチョコレート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1,763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meiji THE Chocolate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473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89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DARS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252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190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ビスケット菓子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7,602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ポッキー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7,199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たけのこの里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4,972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アルフォート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6,074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アイス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24,867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ハーゲンダッツ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9,822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ピノ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5,390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パルム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3,195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6080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出所：アライドアーキテツ社資料。収集キーワード・除外条件の全文は元資料参照。ヒーローIP側（ウルトラマン等5IP）は市場件数ベースで比較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 競合比較（CEPsスコア全文）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◎＝コアラのマーチが独占するCEPs。スコアは期待リンク数との差分の相対値（正＝競合より強い）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22</a:t>
            </a:r>
            <a:endParaRPr lang="en-US" sz="9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1735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60120"/>
                <a:gridCol w="777240"/>
                <a:gridCol w="960120"/>
                <a:gridCol w="914400"/>
                <a:gridCol w="621792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状況のCEPs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ポッキー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たけのこの里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アルフォート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言及数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→ ウルトラマンの対応CEP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絵柄を楽しみながら食べたいとき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9.57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-1.78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-4.19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-3.6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366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「知的好奇心」+2.11／「展示・イベント参加」+1.43／通算資産2,500種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限定やコラボ商品を試したいとき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4.48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-1.72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4.39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-7.15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738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「コラボ情報にワクワク」+4.56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懐かしさを感じたいとき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0.89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-1.38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117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三世代IP・昭和平成令和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まとめ買いやストックしておきたいとき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-0.11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-2.82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-0.06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2.99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537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誰かへのプレゼントや差し入れに使いたいとき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-0.59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0.82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-0.97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0.74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153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動画やテレビを見ながら食べたいとき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-0.51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2.03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-0.14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-1.38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121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仕事や勉強の休憩中に食べたいとき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-1.18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0.17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0.08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0.93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コーヒーやお酒と一緒に楽しみたいとき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-2.28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-0.04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0.17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2.15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116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チョコとビスケットのバランスを楽しみたいとき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-2.43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-0.35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1.12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1.65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136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61264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スコア＝競合比の相対値（0が基準・正＝競合より強く独占）。出所：アライドアーキテクツ社 VOC分析（X上の生活者投稿、2025/8–2026/7）スコアの算出方法はP.20参照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ウルトラマンIP 競合比較（対 他ヒーローIP）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◎＝ウルトラマンが独占するCEPs。周年・コラボ・テンションの文脈で他IPを引き離す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23</a:t>
            </a:r>
            <a:endParaRPr lang="en-US" sz="9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173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914400"/>
                <a:gridCol w="914400"/>
                <a:gridCol w="731520"/>
                <a:gridCol w="960120"/>
                <a:gridCol w="621792"/>
                <a:gridCol w="28346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状況のCEPs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ウルトラマン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仮面ライダー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スーパー戦隊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ゴジラ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ドラゴンボール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市場件数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→ 対応するブランド／位置づけ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周年記念を祝いたいとき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7.46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-0.26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-0.62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-3.45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-3.13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210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3ブランド共通の追い風（60周年）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コラボ情報を知ってワクワクしたとき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4.56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5.86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-11.22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-0.39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1150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ガーナ・コアラ「限定コラボを試したい」と重なる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好きな作品同士がコラボした盛り上がり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1.83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9.87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-17.44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10.42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-4.69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2804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テンションを上げたいとき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1.49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-0.97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1.38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-3.14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1.24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614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ガーナ「甘いもの／幸福感」と重なる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コラボグッズや限定アイテムを手に入れたいとき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1.22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-4.16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-2.47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2.91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2.49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489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コラボグッズをSNSでシェアしたいとき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-1.11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-0.35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0.56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56235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参考：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仮面ライダーは「コラボ情報」「作品同士のコラボ」で強いが、「周年記念」はウルトラマンが独占（+7.46 vs -0.26）。60周年起点の本提案はウルトラマン固有の土俵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5800" y="61264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スコア＝競合比の相対値（0が基準・正＝競合より強く独占）。出所：アライドアーキテクツ社 VOC分析（X上の生活者投稿、2025/8–2026/7）スコアの算出方法はP.20参照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ULTRA 3MIN. 技術検討事項と、IP権利・監修の前提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技術は仮説として共同検証、権利はクリーンな状態で提供する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技術検討事項（共同検証したい仮説）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60904"/>
            <a:ext cx="5257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88920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「3分後の気分の切り替え」体験の設計：清涼感・香味の立ち上がり制御 ── 要検証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時限的な味・色の変化（フレーバーカプセル徐放・食用色素）── 検証仮説の一つ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形態はグミを第一候補（御社のグミ強化・生産投資の方針と整合）、ガム等へ拡張 ── 実装可否・食感設計は要検証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機能性表現（集中・リフレッシュ等）：御社の咀嚼研究の知見と表示規制の範囲内で設計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09360" y="233172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IP権利・監修の前提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660904"/>
            <a:ext cx="519379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788920"/>
            <a:ext cx="51937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ウルトラマンシリーズの国内外の権利関係は2019年の米控訴審決着によりクリーン。御社に法務リスクを持ち込まない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キャラクター・世界観・デザインは円谷プロが全面監修（歴代デザイン・怪獣造形の一次資産を提供）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60周年公式商品としての認定・映像連動は円谷プロが主導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スキームはライセンス＋共同マーケティング契約を想定。詳細条件はワークショップにて協議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本資料の市場・分析数値はすべてアライドアーキテクツ社VOC分析（2025/8–2026/7）および公表情報に基づく。新規の推計値は含まない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游ゴシック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游ゴシック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2026-08-17T04:16:34Z</dcterms:created>
  <dcterms:modified xsi:type="dcterms:W3CDTF">2026-08-17T04:16:34Z</dcterms:modified>
</cp:coreProperties>
</file>