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76200">
            <a:solidFill>
              <a:srgbClr val="0399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502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PROPOSAL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「畏怖」</a:t>
            </a:r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という名の、</a:t>
            </a:r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60年熟成</a:t>
            </a:r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された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人類の無意識を、あなたに託す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32688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〜 円谷怪獣 × ラグジュアリー共創に関する最終提案 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" y="4846320"/>
            <a:ext cx="1234440" cy="31089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48463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宛先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04288" y="48463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水口 博 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5285232"/>
            <a:ext cx="1234440" cy="31089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52852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04288" y="52852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円谷プロダクション ライセンス戦略室  /  2026.08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46920" y="5989320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768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46920" y="5989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76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834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41248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206240" y="1060704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399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0" y="1060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オープニング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133502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これはキャラクターライセンスの提案ではない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700784"/>
            <a:ext cx="64008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90195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399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847088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円谷怪獣という資産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1762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60年続く、生ける現代アート運動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542032"/>
            <a:ext cx="64008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2743200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399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68833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五体の怪獣と五つの感情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01752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顧客がまだ知らない情緒の商品化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383280"/>
            <a:ext cx="64008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0" y="3584448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399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52958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メタ・ナラティブ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85876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ウルトラマンは怪獣を「悪」として退治しない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4224528"/>
            <a:ext cx="64008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0" y="4425696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399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4425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437083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共創の三つの階梯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46320" y="470001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闇のサロン / Wells / Kaiju Terroir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5065776"/>
            <a:ext cx="64008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5266944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399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5266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521208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クロージング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46320" y="554126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畏怖を、商品化してください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65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Tsuburaya Productions Co., Ltd. All Right Reserved.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38428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0175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01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オープニング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262872" y="301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Tsuburaya Productions Co., Ltd. All Right Reserved.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本日の提案は、キャラクターライセンスではない。</a:t>
            </a:r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掘り起こされるのを待つ、</a:t>
            </a:r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世界最後の神話的アーカイブ</a:t>
            </a:r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の話である。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130552"/>
            <a:ext cx="384048" cy="384048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1305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キャラクター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" y="271576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メディアに露出し、消費され、やがて飽きられる。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露出量に比例して摩耗していく「使い捨ての記号」。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45352" y="187452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E5F4FB"/>
          </a:solidFill>
          <a:ln w="12700">
            <a:solidFill>
              <a:srgbClr val="E5F4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9672" y="2130552"/>
            <a:ext cx="384048" cy="384048"/>
          </a:xfrm>
          <a:prstGeom prst="ellipse">
            <a:avLst/>
          </a:prstGeom>
          <a:solidFill>
            <a:srgbClr val="0399D8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68312" y="21305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怪獣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271576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日本が60年かけて無意識の底に堆積させてきた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「情緒の鉱脈」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。時間が価値を熟成する神話資産。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この提案は、水口さんのキャリアの延長線上にある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617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MHD 時代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983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モエ・エ・シャンドン、ヘネシー。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「時間を味わいに変える」商売を極めた。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0" y="49834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》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434840" y="448056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4617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Wells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63440" y="4983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日本という原産地の価値を、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1本2,200円の水に結晶させている。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01000" y="49834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》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412480" y="448056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0399D8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41080" y="4617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本提案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41080" y="4983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世界で誰も商品化したことのない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「60年熟成の畏怖」を扱う。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0175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01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円谷怪獣という資産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262872" y="301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Tsuburaya Productions Co., Ltd. All Right Reserved.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1966年、美術家・成田亨はテレビの中に</a:t>
            </a:r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『混沌から生まれた抽象彫刻』</a:t>
            </a:r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を持ち込んだ。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120640" cy="2286000"/>
          </a:xfrm>
          <a:prstGeom prst="roundRect">
            <a:avLst>
              <a:gd name="adj" fmla="val 24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03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1966年、世界の美術史では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ピカソがなお現役で創作を続け、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ブランクーシの抽象彫刻が美術館を賑わせていた。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「美術」は、美術館の中にあった。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》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5605272" cy="2286000"/>
          </a:xfrm>
          <a:prstGeom prst="roundRect">
            <a:avLst>
              <a:gd name="adj" fmla="val 2400"/>
            </a:avLst>
          </a:prstGeom>
          <a:solidFill>
            <a:srgbClr val="E5F4FB"/>
          </a:solidFill>
          <a:ln w="12700">
            <a:solidFill>
              <a:srgbClr val="E5F4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103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成田 亨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—— ピカソと同時代を生きた、もう一人の鬼才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51460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デザイン哲学は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「美醜を超えること」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怪獣を、ただの着ぐるみではなく、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『宇宙の理不尽』を立体化したアートピースとして創造した。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彼の手が生んだ代表作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211226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0292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バルタン星人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5413248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ALIEN BALTAN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52344" y="4892040"/>
            <a:ext cx="211226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52344" y="50292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ゴモラ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52344" y="5413248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GOMORA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47488" y="4892040"/>
            <a:ext cx="211226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50292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47488" y="5413248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42632" y="4892040"/>
            <a:ext cx="211226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42632" y="50292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メトロン星人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42632" y="5413248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ALIEN METRON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637776" y="4892040"/>
            <a:ext cx="211226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37776" y="50292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キングジョー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37776" y="5413248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JOE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0175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01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円谷怪獣という資産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262872" y="301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Tsuburaya Productions Co., Ltd. All Right Reserved.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この創造は一度も止まっていない。世界で唯一、</a:t>
            </a:r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60年間継続する現代アート運動</a:t>
            </a:r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である。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3566160" cy="457200"/>
          </a:xfrm>
          <a:prstGeom prst="rect">
            <a:avLst/>
          </a:prstGeom>
          <a:solidFill>
            <a:srgbClr val="0399D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継続年数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pPr algn="ctr" indent="0" marL="0">
              <a:buNone/>
            </a:pPr>
            <a:r>
              <a:rPr lang="en-US" sz="18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年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1966年の誕生から2026年の今日まで、ノンストップで継続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210312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2103120"/>
            <a:ext cx="3566160" cy="457200"/>
          </a:xfrm>
          <a:prstGeom prst="rect">
            <a:avLst/>
          </a:prstGeom>
          <a:solidFill>
            <a:srgbClr val="0399D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新たな怪獣の創造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2743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毎年</a:t>
            </a:r>
            <a:pPr algn="ctr" indent="0" marL="0">
              <a:buNone/>
            </a:pPr>
            <a:r>
              <a:rPr lang="en-US" sz="18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709160" y="3931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毎週、映像の中で生まれ、倒され、そして悼まれている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0" y="210312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2103120"/>
            <a:ext cx="3566160" cy="457200"/>
          </a:xfrm>
          <a:prstGeom prst="rect">
            <a:avLst/>
          </a:prstGeom>
          <a:solidFill>
            <a:srgbClr val="0399D8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同等のアーカイブ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2743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ctr" indent="0" marL="0">
              <a:buNone/>
            </a:pPr>
            <a:r>
              <a:rPr lang="en-US" sz="18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件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686800" y="3931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60年継続する怪獣デザイン運動は地球上にここだけ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257800"/>
            <a:ext cx="11277295" cy="685800"/>
          </a:xfrm>
          <a:prstGeom prst="rect">
            <a:avLst/>
          </a:prstGeom>
          <a:solidFill>
            <a:srgbClr val="E5F4F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2578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毎年、新しい怪獣がデザインされ続ける ——  こんな国は日本だけ。こんなアーカイブは、</a:t>
            </a:r>
            <a:pPr algn="ctr" indent="0" marL="0">
              <a:buNone/>
            </a:pPr>
            <a:r>
              <a:rPr lang="en-US" sz="14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地球上にここだけ</a:t>
            </a:r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0175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01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円谷怪獣という資産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262872" y="301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Tsuburaya Productions Co., Ltd. All Right Reserved.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最も贅沢な素材は、カシミアでもダイヤモンドでもない。</a:t>
            </a:r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「本物の時間」</a:t>
            </a:r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である。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5486400" cy="2651760"/>
          </a:xfrm>
          <a:prstGeom prst="roundRect">
            <a:avLst>
              <a:gd name="adj" fmla="val 206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240280"/>
            <a:ext cx="384048" cy="384048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240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多くのラグジュアリーの「ヘリテージ」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" y="288036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こぞって『伝統』や『ヘリテージ』を語る。</a:t>
            </a:r>
            <a:endParaRPr lang="en-US" sz="12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しかしその多くは、</a:t>
            </a:r>
            <a:pPr indent="0" marL="0">
              <a:lnSpc>
                <a:spcPct val="160000"/>
              </a:lnSpc>
              <a:buNone/>
            </a:pPr>
            <a:r>
              <a:rPr lang="en-US" sz="1250" b="1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後から付与された物語</a:t>
            </a:r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に過ぎない。</a:t>
            </a:r>
            <a:endParaRPr lang="en-US" sz="12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—— それは、水口さんが誰よりご存知のはず。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1965960"/>
            <a:ext cx="5486400" cy="2651760"/>
          </a:xfrm>
          <a:prstGeom prst="roundRect">
            <a:avLst>
              <a:gd name="adj" fmla="val 2069"/>
            </a:avLst>
          </a:prstGeom>
          <a:solidFill>
            <a:srgbClr val="E5F4FB"/>
          </a:solidFill>
          <a:ln w="12700">
            <a:solidFill>
              <a:srgbClr val="E5F4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9672" y="2240280"/>
            <a:ext cx="384048" cy="384048"/>
          </a:xfrm>
          <a:prstGeom prst="ellipse">
            <a:avLst/>
          </a:prstGeom>
          <a:solidFill>
            <a:srgbClr val="0399D8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68312" y="2240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ウルトラ怪獣の60年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288036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マーケティングのためではなく、</a:t>
            </a:r>
            <a:endParaRPr lang="en-US" sz="12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日本人の集合的無意識が60年かけて</a:t>
            </a:r>
            <a:endParaRPr lang="en-US" sz="12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自然に析出させた</a:t>
            </a:r>
            <a:pPr indent="0" marL="0">
              <a:lnSpc>
                <a:spcPct val="160000"/>
              </a:lnSpc>
              <a:buNone/>
            </a:pPr>
            <a:r>
              <a:rPr lang="en-US" sz="125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『心の化石』</a:t>
            </a:r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2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—— 時間そのものが、素材である。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5074920"/>
            <a:ext cx="11277295" cy="8686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0749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この60年分の時間を、あなたのブランドに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纏わせて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みませんか。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0175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01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五体の怪獣と五つの感情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262872" y="301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Tsuburaya Productions Co., Ltd. All Right Reserved.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566928" cy="566928"/>
          </a:xfrm>
          <a:prstGeom prst="rect">
            <a:avLst/>
          </a:prstGeom>
          <a:solidFill>
            <a:srgbClr val="0399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68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7955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バルタン星人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—— すべてを失った者だけが持つ、気高き静寂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07008" y="12984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ALIEN BALTAN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19072"/>
            <a:ext cx="1051560" cy="120700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719072"/>
            <a:ext cx="1051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08760" y="1719072"/>
            <a:ext cx="10222992" cy="12070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1691640" y="1792224"/>
            <a:ext cx="9875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故郷の星を核実験で失い、宇宙を彷徨う流浪の民。目的は侵略ではなく「新たな安住の地」。はさみ状の手は攻撃のためではなく、壊れやすいものをそっと掴むための器官とも言われる。その鳴き声は、言葉にならない哀しみのメロディ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008376"/>
            <a:ext cx="1051560" cy="78638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08376"/>
            <a:ext cx="1051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翻訳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508760" y="3008376"/>
            <a:ext cx="10222992" cy="7863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1691640" y="308152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「所有」を超えた「喪失」の象徴。家も、国も、惑星も持たない者だけが纏える、孤高の静けさ。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877056"/>
            <a:ext cx="1051560" cy="120700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77056"/>
            <a:ext cx="1051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08760" y="3877056"/>
            <a:ext cx="10222992" cy="1207008"/>
          </a:xfrm>
          <a:prstGeom prst="rect">
            <a:avLst/>
          </a:prstGeom>
          <a:solidFill>
            <a:srgbClr val="E5F4FB"/>
          </a:solidFill>
          <a:ln/>
        </p:spPr>
      </p:sp>
      <p:sp>
        <p:nvSpPr>
          <p:cNvPr id="23" name="Text 21"/>
          <p:cNvSpPr/>
          <p:nvPr/>
        </p:nvSpPr>
        <p:spPr>
          <a:xfrm>
            <a:off x="1691640" y="3950208"/>
            <a:ext cx="9875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すべてを手に入れた顧客に、すべてを失った者だけが知る『軽やかさ』を。最も贅沢なものは「何も持たない自由」—— モノを売るブランドが最後に辿り着く、禅にも似た究極のステートメント。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166360"/>
            <a:ext cx="1051560" cy="1188720"/>
          </a:xfrm>
          <a:prstGeom prst="rect">
            <a:avLst/>
          </a:prstGeom>
          <a:solidFill>
            <a:srgbClr val="0399D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166360"/>
            <a:ext cx="1051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商品像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508760" y="5166360"/>
            <a:ext cx="504748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09928" y="52943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ロロ・ピアーナ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709928" y="5623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シルエットを極限まで抽象化した、静寂と共鳴するカシミアストール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84264" y="5166360"/>
            <a:ext cx="504748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85432" y="52943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ティファニー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85432" y="5623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ダイヤモンドパヴェで描く、故郷を照らす「ただ一つの星」のブローチ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0175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01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五体の怪獣と五つの感情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262872" y="301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Tsuburaya Productions Co., Ltd. All Right Reserved.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566928" cy="566928"/>
          </a:xfrm>
          <a:prstGeom prst="rect">
            <a:avLst/>
          </a:prstGeom>
          <a:solidFill>
            <a:srgbClr val="0399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68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7955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ダダ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—— 人間の顔を被った、不条理という名の芸術家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07008" y="12984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19072"/>
            <a:ext cx="1051560" cy="120700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719072"/>
            <a:ext cx="1051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08760" y="1719072"/>
            <a:ext cx="10222992" cy="12070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1691640" y="1792224"/>
            <a:ext cx="9875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白黒の幾何学模様に包まれた、人間の顔をした異星人。目的は誰にも理解できず、行動は理不尽で、不気味でありながらどこかユーモラス。成田亨が「ポップアートの怪物」として生み出した、反逆のアイコン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008376"/>
            <a:ext cx="1051560" cy="78638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08376"/>
            <a:ext cx="1051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翻訳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508760" y="3008376"/>
            <a:ext cx="10222992" cy="7863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1691640" y="308152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「ダダイズム」の体現者。既存の価値や「良い趣味」を破壊し、混乱の中にこそ美があると叫ぶ、永遠のアヴァンギャルド。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877056"/>
            <a:ext cx="1051560" cy="120700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77056"/>
            <a:ext cx="1051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08760" y="3877056"/>
            <a:ext cx="10222992" cy="1207008"/>
          </a:xfrm>
          <a:prstGeom prst="rect">
            <a:avLst/>
          </a:prstGeom>
          <a:solidFill>
            <a:srgbClr val="E5F4FB"/>
          </a:solidFill>
          <a:ln/>
        </p:spPr>
      </p:sp>
      <p:sp>
        <p:nvSpPr>
          <p:cNvPr id="23" name="Text 21"/>
          <p:cNvSpPr/>
          <p:nvPr/>
        </p:nvSpPr>
        <p:spPr>
          <a:xfrm>
            <a:off x="1691640" y="3950208"/>
            <a:ext cx="9875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『美しいもの』だけを売ることに疲れていませんか。醜さ、不条理、混沌を纏うことで逆説的に自由を得る —— ラグジュアリーが自らの権威を自己批判し、生まれ変わるための「創造的破壊のエンジン」。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166360"/>
            <a:ext cx="1051560" cy="1188720"/>
          </a:xfrm>
          <a:prstGeom prst="rect">
            <a:avLst/>
          </a:prstGeom>
          <a:solidFill>
            <a:srgbClr val="0399D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166360"/>
            <a:ext cx="1051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商品像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508760" y="5166360"/>
            <a:ext cx="504748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09928" y="52943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ルイ・ヴィトン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709928" y="5623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モノグラムにダダの縞模様が侵入する、21世紀のダダイズム宣言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84264" y="5166360"/>
            <a:ext cx="504748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85432" y="52943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リモワ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85432" y="5623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アルミケースにダダの顔をエンボス加工した「異星からの手荷物」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0175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01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五体の怪獣と五つの感情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262872" y="301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Tsuburaya Productions Co., Ltd. All Right Reserved.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566928" cy="566928"/>
          </a:xfrm>
          <a:prstGeom prst="rect">
            <a:avLst/>
          </a:prstGeom>
          <a:solidFill>
            <a:srgbClr val="0399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68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7955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ゴモラ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—— 人間に乱された太古の守護者、生ける彫刻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07008" y="12984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GOMORA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19072"/>
            <a:ext cx="1051560" cy="120700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719072"/>
            <a:ext cx="1051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08760" y="1719072"/>
            <a:ext cx="10222992" cy="12070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1691640" y="1792224"/>
            <a:ext cx="9875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古の昔から地中に眠っていた、生ける伝説。何も悪いことをしていないのに、人間の開発に安眠を妨げられ、怒りと悲しみを抱えて地上に現れる。その咆哮は、自然そのものの慟哭。本来、守られるべき地球の「記憶」だった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008376"/>
            <a:ext cx="1051560" cy="78638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08376"/>
            <a:ext cx="1051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翻訳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508760" y="3008376"/>
            <a:ext cx="10222992" cy="7863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1691640" y="308152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「プリミティブ」かつ「モニュメンタル」。人間のエゴと文明への大いなる警告であり、触れることさえ畏れ多い、最も崇高な「自然」の権化。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877056"/>
            <a:ext cx="1051560" cy="120700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77056"/>
            <a:ext cx="1051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08760" y="3877056"/>
            <a:ext cx="10222992" cy="1207008"/>
          </a:xfrm>
          <a:prstGeom prst="rect">
            <a:avLst/>
          </a:prstGeom>
          <a:solidFill>
            <a:srgbClr val="E5F4FB"/>
          </a:solidFill>
          <a:ln/>
        </p:spPr>
      </p:sp>
      <p:sp>
        <p:nvSpPr>
          <p:cNvPr id="23" name="Text 21"/>
          <p:cNvSpPr/>
          <p:nvPr/>
        </p:nvSpPr>
        <p:spPr>
          <a:xfrm>
            <a:off x="1691640" y="3950208"/>
            <a:ext cx="9875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究極のラグジュアリーとは、二度と触れられない神話の獣の『質感』を所有すること。この獣を纏うことは、もはやファッションではなく「地球の守護者としての宣誓」である。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166360"/>
            <a:ext cx="1051560" cy="1188720"/>
          </a:xfrm>
          <a:prstGeom prst="rect">
            <a:avLst/>
          </a:prstGeom>
          <a:solidFill>
            <a:srgbClr val="0399D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166360"/>
            <a:ext cx="1051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商品像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508760" y="5166360"/>
            <a:ext cx="504748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09928" y="52943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ロエベ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709928" y="5623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レザークラフト技術で表皮を完全再現した「パズルバッグ」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84264" y="5166360"/>
            <a:ext cx="504748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85432" y="52943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フェンディ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85432" y="5623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尻尾の感触を再現したファーストール。纏うことが自然への誓いになる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0175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01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五体の怪獣と五つの感情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262872" y="301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Tsuburaya Productions Co., Ltd. All Right Reserved.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566928" cy="566928"/>
          </a:xfrm>
          <a:prstGeom prst="rect">
            <a:avLst/>
          </a:prstGeom>
          <a:solidFill>
            <a:srgbClr val="0399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68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7955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メトロン星人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—— テーブルを挟んだ、最も危険な知性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07008" y="12984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ALIEN METRON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19072"/>
            <a:ext cx="1051560" cy="120700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719072"/>
            <a:ext cx="1051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08760" y="1719072"/>
            <a:ext cx="10222992" cy="12070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1691640" y="1792224"/>
            <a:ext cx="9875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ウルトラセブン』第8話「狙われた街」。人間を一切攻撃せず、心に侵入し、ちゃぶ台を挟んで対話する。目的は暴力ではなく「人間同士の信頼を破壊し、自滅させること」。シリーズ史上最も哲学的で、背筋が凍るほどスタイリッシュ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008376"/>
            <a:ext cx="1051560" cy="78638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08376"/>
            <a:ext cx="1051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翻訳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508760" y="3008376"/>
            <a:ext cx="10222992" cy="7863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1691640" y="308152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「誘惑」「知性」「裏切り」のデザイン。暴力を振るわないからこそ、最も危険。社交の世界で最も恐ろしい「知的支配者」の寓話。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877056"/>
            <a:ext cx="1051560" cy="120700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77056"/>
            <a:ext cx="1051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08760" y="3877056"/>
            <a:ext cx="10222992" cy="1207008"/>
          </a:xfrm>
          <a:prstGeom prst="rect">
            <a:avLst/>
          </a:prstGeom>
          <a:solidFill>
            <a:srgbClr val="E5F4FB"/>
          </a:solidFill>
          <a:ln/>
        </p:spPr>
      </p:sp>
      <p:sp>
        <p:nvSpPr>
          <p:cNvPr id="23" name="Text 21"/>
          <p:cNvSpPr/>
          <p:nvPr/>
        </p:nvSpPr>
        <p:spPr>
          <a:xfrm>
            <a:off x="1691640" y="3950208"/>
            <a:ext cx="9875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トップVICが集うサロンに、彼のオブジェを。『彼は決して暴力を振るわない。ただ、あなたの内面を全て見透かし、微笑むだけだ』—— 富と権力を手にした者への、最高のスリルと戒め。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166360"/>
            <a:ext cx="1051560" cy="1188720"/>
          </a:xfrm>
          <a:prstGeom prst="rect">
            <a:avLst/>
          </a:prstGeom>
          <a:solidFill>
            <a:srgbClr val="0399D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166360"/>
            <a:ext cx="1051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商品像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508760" y="5166360"/>
            <a:ext cx="504748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09928" y="52943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ディオール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709928" y="5623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ホームコレクションのテーブルウェア。対話の場に置く、静かなる警告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84264" y="5166360"/>
            <a:ext cx="504748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85432" y="52943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ゲラン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85432" y="5623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限定フレグランス ——「誘惑と裏切り」の香り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0175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01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五体の怪獣と五つの感情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262872" y="301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Tsuburaya Productions Co., Ltd. All Right Reserved.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566928" cy="566928"/>
          </a:xfrm>
          <a:prstGeom prst="rect">
            <a:avLst/>
          </a:prstGeom>
          <a:solidFill>
            <a:srgbClr val="0399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68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7955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キングジョー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—— 分解と再構築。完璧な破壊の美学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07008" y="12984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JOE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19072"/>
            <a:ext cx="1051560" cy="120700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719072"/>
            <a:ext cx="1051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08760" y="1719072"/>
            <a:ext cx="10222992" cy="12070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1691640" y="1792224"/>
            <a:ext cx="9875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ダン星人が送り込んだ超合金のロボット怪獣。自らをパーツに分解して潜入し、瞬間的に合体して破壊を尽くす。感情はない。高度経済成長期の「無機質な工業力」への畏れと憧れを象徴する、機能美の結晶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008376"/>
            <a:ext cx="1051560" cy="78638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08376"/>
            <a:ext cx="1051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翻訳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508760" y="3008376"/>
            <a:ext cx="10222992" cy="7863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1691640" y="308152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「メカニック」「トランスフォーム」「冷徹な完璧主義」の神。一切の無駄がない、純粋な機能がもたらす官能。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877056"/>
            <a:ext cx="1051560" cy="120700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77056"/>
            <a:ext cx="1051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08760" y="3877056"/>
            <a:ext cx="10222992" cy="1207008"/>
          </a:xfrm>
          <a:prstGeom prst="rect">
            <a:avLst/>
          </a:prstGeom>
          <a:solidFill>
            <a:srgbClr val="E5F4FB"/>
          </a:solidFill>
          <a:ln/>
        </p:spPr>
      </p:sp>
      <p:sp>
        <p:nvSpPr>
          <p:cNvPr id="23" name="Text 21"/>
          <p:cNvSpPr/>
          <p:nvPr/>
        </p:nvSpPr>
        <p:spPr>
          <a:xfrm>
            <a:off x="1691640" y="3950208"/>
            <a:ext cx="9875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高級時計ブランドの精神そのもの。分解され、旅をし、合体して完全体となる —— 腕時計のケースに落とし込めば、それは時間を刻む機械ではなく「時間を征服する機械」になる。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166360"/>
            <a:ext cx="1051560" cy="1188720"/>
          </a:xfrm>
          <a:prstGeom prst="rect">
            <a:avLst/>
          </a:prstGeom>
          <a:solidFill>
            <a:srgbClr val="0399D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166360"/>
            <a:ext cx="1051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商品像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508760" y="5166360"/>
            <a:ext cx="504748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09928" y="52943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タグ・ホイヤー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709928" y="5623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分解可能なモジュール構造ケース×超合金イメージのヘアライン加工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84264" y="5166360"/>
            <a:ext cx="504748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85432" y="52943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ウブロ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85432" y="5623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「ビッグ・バン」に合体機構を内蔵したアートピースウォッチ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0175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01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メタ・ナラティブ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262872" y="301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Tsuburaya Productions Co., Ltd. All Right Reserved.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ウルトラマンは決して、怪獣を</a:t>
            </a:r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「悪」として退治しない</a:t>
            </a:r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。それが円谷60年のDNAである。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故郷を奪われた者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核実験や環境破壊により、帰る場所を失って地球に現れる。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34840" y="19202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生態系を乱された者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人間の開発に安眠を妨げられ、怒りと悲しみを抱えて目覚める。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12480" y="19202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4108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理解の及ばない者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41080" y="2423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人間の論理が及ばない存在として、ただ、そこにいる。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70448" y="3364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11277295" cy="777240"/>
          </a:xfrm>
          <a:prstGeom prst="rect">
            <a:avLst/>
          </a:prstGeom>
          <a:solidFill>
            <a:srgbClr val="E5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490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戦いの後には、常に哀しみと、共生への問いが残る。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『敵を理解し、畏れ、そして哀れむ』</a:t>
            </a:r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という深いヒューマニズム。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11277295" cy="1051560"/>
          </a:xfrm>
          <a:prstGeom prst="rect">
            <a:avLst/>
          </a:prstGeom>
          <a:solidFill>
            <a:srgbClr val="FDEEF3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892040"/>
            <a:ext cx="82296" cy="1051560"/>
          </a:xfrm>
          <a:prstGeom prst="rect">
            <a:avLst/>
          </a:prstGeom>
          <a:solidFill>
            <a:srgbClr val="F76892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9204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LVMHがこれまで組んできたアーティストやキャラクターに、ここまで深い『存在の哀しみ』と『哲学』があっただろうか。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768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我々が託したいのはデザインではなく、怪獣という名の、人類の無意識と罪の意識である。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0175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01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共創の三つの階梯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262872" y="301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Tsuburaya Productions Co., Ltd. All Right Reserved.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一過性のコラボでは終わらせない。</a:t>
            </a:r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秘密から始まり、あなたの販路で世界へ</a:t>
            </a:r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至る三段階。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777240" cy="1298448"/>
          </a:xfrm>
          <a:prstGeom prst="rect">
            <a:avLst/>
          </a:prstGeom>
          <a:solidFill>
            <a:srgbClr val="0399D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3055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679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階梯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34440" y="1965960"/>
            <a:ext cx="10497312" cy="12984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1481328" y="2075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闇のサロン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―  最も深い共創は、最も深い秘密から始まる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2468880"/>
            <a:ext cx="10012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成田亨の直筆デザイン画、撮影用の実物スーツ、未公開の没デザイン怪獣。あなたと、あなたが信頼する最高のゲストだけの非公開サロン。ここから、すべてが始まる。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392424"/>
            <a:ext cx="777240" cy="1298448"/>
          </a:xfrm>
          <a:prstGeom prst="rect">
            <a:avLst/>
          </a:prstGeom>
          <a:solidFill>
            <a:srgbClr val="0399D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570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41056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階梯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34440" y="3392424"/>
            <a:ext cx="10497312" cy="12984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1481328" y="35021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Wells × 円谷怪獣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―  日本の自然と神話を、世界の食卓へ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81328" y="3895344"/>
            <a:ext cx="10012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Wellsのプレミアムウォーターに、水や自然にまつわる怪獣をラベルアートとして起用。『この水が湧く地層は、太古の怪獣が眠っていた記憶の層と同じ』という物語を添えて。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818888"/>
            <a:ext cx="777240" cy="1298448"/>
          </a:xfrm>
          <a:prstGeom prst="rect">
            <a:avLst/>
          </a:prstGeom>
          <a:solidFill>
            <a:srgbClr val="0399D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9834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55321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階梯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34440" y="4818888"/>
            <a:ext cx="10497312" cy="1298448"/>
          </a:xfrm>
          <a:prstGeom prst="rect">
            <a:avLst/>
          </a:prstGeom>
          <a:solidFill>
            <a:srgbClr val="E5F4FB"/>
          </a:solidFill>
          <a:ln/>
        </p:spPr>
      </p:sp>
      <p:sp>
        <p:nvSpPr>
          <p:cNvPr id="25" name="Text 23"/>
          <p:cNvSpPr/>
          <p:nvPr/>
        </p:nvSpPr>
        <p:spPr>
          <a:xfrm>
            <a:off x="1481328" y="49286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Kaiju Terroir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―  熟成された畏怖を、あなたの販路で世界へ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81328" y="5321808"/>
            <a:ext cx="10012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量販店には置かない。帝国ホテルのバー、ハイアットのラウンジ、星付きレストランから。物語を語れる営業がソムリエのように怪獣の哲学を手渡す —— あなたにしかできない流通戦略。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バーカウンターの片隅で、バルタン星人が静かにグラスを見つめている。それはフィギュアではなく、</a:t>
            </a:r>
            <a:pPr algn="ctr" indent="0" marL="0">
              <a:buNone/>
            </a:pPr>
            <a:r>
              <a:rPr lang="en-US" sz="105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インテリアアート</a:t>
            </a:r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0175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01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クロージング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262872" y="301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Tsuburaya Productions Co., Ltd. All Right Reserved.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だからこそ、この提案は</a:t>
            </a:r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399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水口博にしかできない</a:t>
            </a:r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物語を与える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27889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いいモノに、人を感動させる物語を与えてきた。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92024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適正な価格で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63440" y="27889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時間の価値を、正しい価格に結晶させてきた。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12480" y="192024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0399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4108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ふさわしい場所で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41080" y="27889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その物語に見合う、最高の売り場で売ってきた。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円谷プロが60年かけて育んだ怪獣たちは、キャラクターグッズではない。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『日本という土地の、苦しみと創造性が熟成させた、味わい深いアート』である。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892040"/>
            <a:ext cx="11277295" cy="10515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92040"/>
            <a:ext cx="112772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この価値を、ワインと同じように ——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静かに、深く、適切なグラスで</a:t>
            </a:r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—— 世界の富裕層に注いでほしい。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39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WORDS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17373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畏怖を、商品化してください。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834640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決断は、「闇のサロン」の後で構わない。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まずはこの60年物の『畏怖』を、あなた自身の目と手で確かめてほしい。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127248" y="4069080"/>
            <a:ext cx="59436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27248" y="42793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9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27248" y="459028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非公開サロン「闇のサロン」へのご招待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127248" y="5029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成田亨 直筆デザイン画 / 撮影用実物スーツ / 未公開の没デザイン怪獣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6446520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Tsuburaya Productions Co., Ltd. All Right Reserved.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2026-08-03T10:04:10Z</dcterms:created>
  <dcterms:modified xsi:type="dcterms:W3CDTF">2026-08-03T10:04:10Z</dcterms:modified>
</cp:coreProperties>
</file>