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097280"/>
            <a:ext cx="201168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365760"/>
          </a:xfrm>
          <a:prstGeom prst="rect">
            <a:avLst/>
          </a:prstGeom>
          <a:noFill/>
        </p:spPr>
        <p:txBody>
          <a:bodyPr wrap="square" lIns="0" rIns="0" tIns="0" bIns="0">
            <a:spAutoFit/>
          </a:bodyPr>
          <a:lstStyle/>
          <a:p>
            <a:pPr algn="l">
              <a:spcAft>
                <a:spcPts val="400"/>
              </a:spcAft>
            </a:pPr>
            <a:r>
              <a:rPr sz="1400" b="1" i="0">
                <a:solidFill>
                  <a:srgbClr val="5F5F6E"/>
                </a:solidFill>
                <a:latin typeface="Yu Gothic"/>
                <a:ea typeface="Yu Gothic"/>
                <a:cs typeface="Yu Gothic"/>
              </a:rPr>
              <a:t>部長会・90分（経営会議に諮る前のご相談）</a:t>
            </a:r>
          </a:p>
        </p:txBody>
      </p:sp>
      <p:sp>
        <p:nvSpPr>
          <p:cNvPr id="5" name="TextBox 4"/>
          <p:cNvSpPr txBox="1"/>
          <p:nvPr/>
        </p:nvSpPr>
        <p:spPr>
          <a:xfrm>
            <a:off x="822960" y="2103120"/>
            <a:ext cx="10789920" cy="2286000"/>
          </a:xfrm>
          <a:prstGeom prst="rect">
            <a:avLst/>
          </a:prstGeom>
          <a:noFill/>
        </p:spPr>
        <p:txBody>
          <a:bodyPr wrap="square" lIns="0" rIns="0" tIns="0" bIns="0">
            <a:spAutoFit/>
          </a:bodyPr>
          <a:lstStyle/>
          <a:p>
            <a:pPr algn="l">
              <a:spcAft>
                <a:spcPts val="1400"/>
              </a:spcAft>
            </a:pPr>
            <a:r>
              <a:rPr sz="3200" b="1" i="0">
                <a:solidFill>
                  <a:srgbClr val="262630"/>
                </a:solidFill>
                <a:latin typeface="Yu Gothic"/>
                <a:ea typeface="Yu Gothic"/>
                <a:cs typeface="Yu Gothic"/>
              </a:rPr>
              <a:t>営業改革の全体像を、90分でぜんぶ話します</a:t>
            </a:r>
          </a:p>
          <a:p>
            <a:pPr algn="l">
              <a:spcAft>
                <a:spcPts val="400"/>
              </a:spcAft>
            </a:pPr>
            <a:r>
              <a:rPr sz="1450" b="1" i="0">
                <a:solidFill>
                  <a:srgbClr val="7823DC"/>
                </a:solidFill>
                <a:latin typeface="Yu Gothic"/>
                <a:ea typeface="Yu Gothic"/>
                <a:cs typeface="Yu Gothic"/>
              </a:rPr>
              <a:t>第1部 なぜやるのか　→　第2部 何をやるのか　→　第3部 どう回すのか（会議の仕組み）　→　第4部 皆さんへのお願い</a:t>
            </a:r>
          </a:p>
        </p:txBody>
      </p:sp>
      <p:sp>
        <p:nvSpPr>
          <p:cNvPr id="6" name="TextBox 5"/>
          <p:cNvSpPr txBox="1"/>
          <p:nvPr/>
        </p:nvSpPr>
        <p:spPr>
          <a:xfrm>
            <a:off x="822960" y="4754880"/>
            <a:ext cx="10515600" cy="1188720"/>
          </a:xfrm>
          <a:prstGeom prst="rect">
            <a:avLst/>
          </a:prstGeom>
          <a:noFill/>
        </p:spPr>
        <p:txBody>
          <a:bodyPr wrap="square" lIns="0" rIns="0" tIns="0" bIns="0">
            <a:spAutoFit/>
          </a:bodyPr>
          <a:lstStyle/>
          <a:p>
            <a:pPr algn="l">
              <a:spcAft>
                <a:spcPts val="400"/>
              </a:spcAft>
            </a:pPr>
            <a:r>
              <a:rPr sz="1200" b="1" i="0">
                <a:solidFill>
                  <a:srgbClr val="262630"/>
                </a:solidFill>
                <a:latin typeface="Yu Gothic"/>
                <a:ea typeface="Yu Gothic"/>
                <a:cs typeface="Yu Gothic"/>
              </a:rPr>
              <a:t>円谷プロダクション　専務執行役員　新谷 隼人</a:t>
            </a:r>
          </a:p>
          <a:p>
            <a:pPr algn="l">
              <a:spcAft>
                <a:spcPts val="400"/>
              </a:spcAft>
            </a:pPr>
            <a:r>
              <a:rPr sz="1100" b="0" i="0">
                <a:solidFill>
                  <a:srgbClr val="5F5F6E"/>
                </a:solidFill>
                <a:latin typeface="Yu Gothic"/>
                <a:ea typeface="Yu Gothic"/>
                <a:cs typeface="Yu Gothic"/>
              </a:rPr>
              <a:t>説明 50分 ＋ 意見交換 35分 ＋ 締め 5分　※本日の内容はまだ「たたき台」。皆さんの意見で直してから経営会議に諮ります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本日の流れ</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4部構成——前半で全体像、後半はたっぷり意見交換</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260604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31720"/>
            <a:ext cx="2606040" cy="365760"/>
          </a:xfrm>
          <a:prstGeom prst="rect">
            <a:avLst/>
          </a:prstGeom>
          <a:noFill/>
        </p:spPr>
        <p:txBody>
          <a:bodyPr wrap="square" lIns="0" rIns="0" tIns="0" bIns="0" anchor="ctr">
            <a:spAutoFit/>
          </a:bodyPr>
          <a:lstStyle/>
          <a:p>
            <a:pPr algn="ctr">
              <a:spcAft>
                <a:spcPts val="200"/>
              </a:spcAft>
            </a:pPr>
            <a:r>
              <a:rPr sz="1200" b="1" i="0">
                <a:solidFill>
                  <a:srgbClr val="7823DC"/>
                </a:solidFill>
                <a:latin typeface="Yu Gothic"/>
                <a:ea typeface="Yu Gothic"/>
                <a:cs typeface="Yu Gothic"/>
              </a:rPr>
              <a:t>第1部</a:t>
            </a:r>
          </a:p>
        </p:txBody>
      </p:sp>
      <p:sp>
        <p:nvSpPr>
          <p:cNvPr id="7" name="TextBox 6"/>
          <p:cNvSpPr txBox="1"/>
          <p:nvPr/>
        </p:nvSpPr>
        <p:spPr>
          <a:xfrm>
            <a:off x="640080" y="2697480"/>
            <a:ext cx="2606040" cy="50292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なぜやるのか</a:t>
            </a:r>
          </a:p>
        </p:txBody>
      </p:sp>
      <p:sp>
        <p:nvSpPr>
          <p:cNvPr id="8" name="TextBox 7"/>
          <p:cNvSpPr txBox="1"/>
          <p:nvPr/>
        </p:nvSpPr>
        <p:spPr>
          <a:xfrm>
            <a:off x="868680" y="3291840"/>
            <a:ext cx="2194560" cy="1005840"/>
          </a:xfrm>
          <a:prstGeom prst="rect">
            <a:avLst/>
          </a:prstGeom>
          <a:noFill/>
        </p:spPr>
        <p:txBody>
          <a:bodyPr wrap="square" lIns="0" rIns="0" tIns="0" bIns="0">
            <a:spAutoFit/>
          </a:bodyPr>
          <a:lstStyle/>
          <a:p>
            <a:pPr algn="ctr">
              <a:spcAft>
                <a:spcPts val="300"/>
              </a:spcAft>
            </a:pPr>
            <a:r>
              <a:rPr sz="1050" b="0" i="0">
                <a:solidFill>
                  <a:srgbClr val="262630"/>
                </a:solidFill>
                <a:latin typeface="Yu Gothic"/>
                <a:ea typeface="Yu Gothic"/>
                <a:cs typeface="Yu Gothic"/>
              </a:rPr>
              <a:t>いま何が起きているか</a:t>
            </a:r>
          </a:p>
          <a:p>
            <a:pPr algn="ctr">
              <a:spcAft>
                <a:spcPts val="300"/>
              </a:spcAft>
            </a:pPr>
            <a:r>
              <a:rPr sz="1050" b="0" i="0">
                <a:solidFill>
                  <a:srgbClr val="262630"/>
                </a:solidFill>
                <a:latin typeface="Yu Gothic"/>
                <a:ea typeface="Yu Gothic"/>
                <a:cs typeface="Yu Gothic"/>
              </a:rPr>
              <a:t>（4つの見立て）</a:t>
            </a:r>
          </a:p>
        </p:txBody>
      </p:sp>
      <p:sp>
        <p:nvSpPr>
          <p:cNvPr id="9" name="TextBox 8"/>
          <p:cNvSpPr txBox="1"/>
          <p:nvPr/>
        </p:nvSpPr>
        <p:spPr>
          <a:xfrm>
            <a:off x="640080" y="4297680"/>
            <a:ext cx="2606040" cy="36576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15分</a:t>
            </a:r>
          </a:p>
        </p:txBody>
      </p:sp>
      <p:sp>
        <p:nvSpPr>
          <p:cNvPr id="10" name="Rounded Rectangle 9"/>
          <p:cNvSpPr/>
          <p:nvPr/>
        </p:nvSpPr>
        <p:spPr>
          <a:xfrm>
            <a:off x="3474720" y="2194560"/>
            <a:ext cx="260604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331720"/>
            <a:ext cx="2606040" cy="365760"/>
          </a:xfrm>
          <a:prstGeom prst="rect">
            <a:avLst/>
          </a:prstGeom>
          <a:noFill/>
        </p:spPr>
        <p:txBody>
          <a:bodyPr wrap="square" lIns="0" rIns="0" tIns="0" bIns="0" anchor="ctr">
            <a:spAutoFit/>
          </a:bodyPr>
          <a:lstStyle/>
          <a:p>
            <a:pPr algn="ctr">
              <a:spcAft>
                <a:spcPts val="200"/>
              </a:spcAft>
            </a:pPr>
            <a:r>
              <a:rPr sz="1200" b="1" i="0">
                <a:solidFill>
                  <a:srgbClr val="7823DC"/>
                </a:solidFill>
                <a:latin typeface="Yu Gothic"/>
                <a:ea typeface="Yu Gothic"/>
                <a:cs typeface="Yu Gothic"/>
              </a:rPr>
              <a:t>第2部</a:t>
            </a:r>
          </a:p>
        </p:txBody>
      </p:sp>
      <p:sp>
        <p:nvSpPr>
          <p:cNvPr id="12" name="TextBox 11"/>
          <p:cNvSpPr txBox="1"/>
          <p:nvPr/>
        </p:nvSpPr>
        <p:spPr>
          <a:xfrm>
            <a:off x="3474720" y="2697480"/>
            <a:ext cx="2606040" cy="50292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何をやるのか</a:t>
            </a:r>
          </a:p>
        </p:txBody>
      </p:sp>
      <p:sp>
        <p:nvSpPr>
          <p:cNvPr id="13" name="TextBox 12"/>
          <p:cNvSpPr txBox="1"/>
          <p:nvPr/>
        </p:nvSpPr>
        <p:spPr>
          <a:xfrm>
            <a:off x="3703320" y="3291840"/>
            <a:ext cx="2194560" cy="1005840"/>
          </a:xfrm>
          <a:prstGeom prst="rect">
            <a:avLst/>
          </a:prstGeom>
          <a:noFill/>
        </p:spPr>
        <p:txBody>
          <a:bodyPr wrap="square" lIns="0" rIns="0" tIns="0" bIns="0">
            <a:spAutoFit/>
          </a:bodyPr>
          <a:lstStyle/>
          <a:p>
            <a:pPr algn="ctr">
              <a:spcAft>
                <a:spcPts val="300"/>
              </a:spcAft>
            </a:pPr>
            <a:r>
              <a:rPr sz="1050" b="0" i="0">
                <a:solidFill>
                  <a:srgbClr val="262630"/>
                </a:solidFill>
                <a:latin typeface="Yu Gothic"/>
                <a:ea typeface="Yu Gothic"/>
                <a:cs typeface="Yu Gothic"/>
              </a:rPr>
              <a:t>見える化 → 物差し → 決める</a:t>
            </a:r>
          </a:p>
          <a:p>
            <a:pPr algn="ctr">
              <a:spcAft>
                <a:spcPts val="300"/>
              </a:spcAft>
            </a:pPr>
            <a:r>
              <a:rPr sz="1050" b="0" i="0">
                <a:solidFill>
                  <a:srgbClr val="262630"/>
                </a:solidFill>
                <a:latin typeface="Yu Gothic"/>
                <a:ea typeface="Yu Gothic"/>
                <a:cs typeface="Yu Gothic"/>
              </a:rPr>
              <a:t>の3段階</a:t>
            </a:r>
          </a:p>
        </p:txBody>
      </p:sp>
      <p:sp>
        <p:nvSpPr>
          <p:cNvPr id="14" name="TextBox 13"/>
          <p:cNvSpPr txBox="1"/>
          <p:nvPr/>
        </p:nvSpPr>
        <p:spPr>
          <a:xfrm>
            <a:off x="3474720" y="4297680"/>
            <a:ext cx="2606040" cy="36576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20分</a:t>
            </a:r>
          </a:p>
        </p:txBody>
      </p:sp>
      <p:sp>
        <p:nvSpPr>
          <p:cNvPr id="15" name="Rounded Rectangle 14"/>
          <p:cNvSpPr/>
          <p:nvPr/>
        </p:nvSpPr>
        <p:spPr>
          <a:xfrm>
            <a:off x="6309360" y="2194560"/>
            <a:ext cx="260604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331720"/>
            <a:ext cx="2606040" cy="365760"/>
          </a:xfrm>
          <a:prstGeom prst="rect">
            <a:avLst/>
          </a:prstGeom>
          <a:noFill/>
        </p:spPr>
        <p:txBody>
          <a:bodyPr wrap="square" lIns="0" rIns="0" tIns="0" bIns="0" anchor="ctr">
            <a:spAutoFit/>
          </a:bodyPr>
          <a:lstStyle/>
          <a:p>
            <a:pPr algn="ctr">
              <a:spcAft>
                <a:spcPts val="200"/>
              </a:spcAft>
            </a:pPr>
            <a:r>
              <a:rPr sz="1200" b="1" i="0">
                <a:solidFill>
                  <a:srgbClr val="7823DC"/>
                </a:solidFill>
                <a:latin typeface="Yu Gothic"/>
                <a:ea typeface="Yu Gothic"/>
                <a:cs typeface="Yu Gothic"/>
              </a:rPr>
              <a:t>第3部</a:t>
            </a:r>
          </a:p>
        </p:txBody>
      </p:sp>
      <p:sp>
        <p:nvSpPr>
          <p:cNvPr id="17" name="TextBox 16"/>
          <p:cNvSpPr txBox="1"/>
          <p:nvPr/>
        </p:nvSpPr>
        <p:spPr>
          <a:xfrm>
            <a:off x="6309360" y="2697480"/>
            <a:ext cx="2606040" cy="50292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どう回すのか</a:t>
            </a:r>
          </a:p>
        </p:txBody>
      </p:sp>
      <p:sp>
        <p:nvSpPr>
          <p:cNvPr id="18" name="TextBox 17"/>
          <p:cNvSpPr txBox="1"/>
          <p:nvPr/>
        </p:nvSpPr>
        <p:spPr>
          <a:xfrm>
            <a:off x="6537960" y="3291840"/>
            <a:ext cx="2194560" cy="1005840"/>
          </a:xfrm>
          <a:prstGeom prst="rect">
            <a:avLst/>
          </a:prstGeom>
          <a:noFill/>
        </p:spPr>
        <p:txBody>
          <a:bodyPr wrap="square" lIns="0" rIns="0" tIns="0" bIns="0">
            <a:spAutoFit/>
          </a:bodyPr>
          <a:lstStyle/>
          <a:p>
            <a:pPr algn="ctr">
              <a:spcAft>
                <a:spcPts val="300"/>
              </a:spcAft>
            </a:pPr>
            <a:r>
              <a:rPr sz="1050" b="0" i="0">
                <a:solidFill>
                  <a:srgbClr val="262630"/>
                </a:solidFill>
                <a:latin typeface="Yu Gothic"/>
                <a:ea typeface="Yu Gothic"/>
                <a:cs typeface="Yu Gothic"/>
              </a:rPr>
              <a:t>新しい会議の仕組み</a:t>
            </a:r>
          </a:p>
          <a:p>
            <a:pPr algn="ctr">
              <a:spcAft>
                <a:spcPts val="300"/>
              </a:spcAft>
            </a:pPr>
            <a:r>
              <a:rPr sz="1050" b="0" i="0">
                <a:solidFill>
                  <a:srgbClr val="262630"/>
                </a:solidFill>
                <a:latin typeface="Yu Gothic"/>
                <a:ea typeface="Yu Gothic"/>
                <a:cs typeface="Yu Gothic"/>
              </a:rPr>
              <a:t>（3つの絵）</a:t>
            </a:r>
          </a:p>
        </p:txBody>
      </p:sp>
      <p:sp>
        <p:nvSpPr>
          <p:cNvPr id="19" name="TextBox 18"/>
          <p:cNvSpPr txBox="1"/>
          <p:nvPr/>
        </p:nvSpPr>
        <p:spPr>
          <a:xfrm>
            <a:off x="6309360" y="4297680"/>
            <a:ext cx="2606040" cy="36576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15分</a:t>
            </a:r>
          </a:p>
        </p:txBody>
      </p:sp>
      <p:sp>
        <p:nvSpPr>
          <p:cNvPr id="20" name="Rounded Rectangle 19"/>
          <p:cNvSpPr/>
          <p:nvPr/>
        </p:nvSpPr>
        <p:spPr>
          <a:xfrm>
            <a:off x="9144000" y="2194560"/>
            <a:ext cx="260604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2331720"/>
            <a:ext cx="2606040" cy="365760"/>
          </a:xfrm>
          <a:prstGeom prst="rect">
            <a:avLst/>
          </a:prstGeom>
          <a:noFill/>
        </p:spPr>
        <p:txBody>
          <a:bodyPr wrap="square" lIns="0" rIns="0" tIns="0" bIns="0" anchor="ctr">
            <a:spAutoFit/>
          </a:bodyPr>
          <a:lstStyle/>
          <a:p>
            <a:pPr algn="ctr">
              <a:spcAft>
                <a:spcPts val="200"/>
              </a:spcAft>
            </a:pPr>
            <a:r>
              <a:rPr sz="1200" b="1" i="0">
                <a:solidFill>
                  <a:srgbClr val="7823DC"/>
                </a:solidFill>
                <a:latin typeface="Yu Gothic"/>
                <a:ea typeface="Yu Gothic"/>
                <a:cs typeface="Yu Gothic"/>
              </a:rPr>
              <a:t>第4部</a:t>
            </a:r>
          </a:p>
        </p:txBody>
      </p:sp>
      <p:sp>
        <p:nvSpPr>
          <p:cNvPr id="22" name="TextBox 21"/>
          <p:cNvSpPr txBox="1"/>
          <p:nvPr/>
        </p:nvSpPr>
        <p:spPr>
          <a:xfrm>
            <a:off x="9144000" y="2697480"/>
            <a:ext cx="2606040" cy="50292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お願いと意見交換</a:t>
            </a:r>
          </a:p>
        </p:txBody>
      </p:sp>
      <p:sp>
        <p:nvSpPr>
          <p:cNvPr id="23" name="TextBox 22"/>
          <p:cNvSpPr txBox="1"/>
          <p:nvPr/>
        </p:nvSpPr>
        <p:spPr>
          <a:xfrm>
            <a:off x="9372600" y="3291840"/>
            <a:ext cx="2194560" cy="1005840"/>
          </a:xfrm>
          <a:prstGeom prst="rect">
            <a:avLst/>
          </a:prstGeom>
          <a:noFill/>
        </p:spPr>
        <p:txBody>
          <a:bodyPr wrap="square" lIns="0" rIns="0" tIns="0" bIns="0">
            <a:spAutoFit/>
          </a:bodyPr>
          <a:lstStyle/>
          <a:p>
            <a:pPr algn="ctr">
              <a:spcAft>
                <a:spcPts val="300"/>
              </a:spcAft>
            </a:pPr>
            <a:r>
              <a:rPr sz="1050" b="0" i="0">
                <a:solidFill>
                  <a:srgbClr val="262630"/>
                </a:solidFill>
                <a:latin typeface="Yu Gothic"/>
                <a:ea typeface="Yu Gothic"/>
                <a:cs typeface="Yu Gothic"/>
              </a:rPr>
              <a:t>皆さんへのお願い3つ＋</a:t>
            </a:r>
          </a:p>
          <a:p>
            <a:pPr algn="ctr">
              <a:spcAft>
                <a:spcPts val="300"/>
              </a:spcAft>
            </a:pPr>
            <a:r>
              <a:rPr sz="1050" b="0" i="0">
                <a:solidFill>
                  <a:srgbClr val="262630"/>
                </a:solidFill>
                <a:latin typeface="Yu Gothic"/>
                <a:ea typeface="Yu Gothic"/>
                <a:cs typeface="Yu Gothic"/>
              </a:rPr>
              <a:t>意見交換35分</a:t>
            </a:r>
          </a:p>
        </p:txBody>
      </p:sp>
      <p:sp>
        <p:nvSpPr>
          <p:cNvPr id="24" name="TextBox 23"/>
          <p:cNvSpPr txBox="1"/>
          <p:nvPr/>
        </p:nvSpPr>
        <p:spPr>
          <a:xfrm>
            <a:off x="9144000" y="4297680"/>
            <a:ext cx="2606040" cy="36576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40分</a:t>
            </a:r>
          </a:p>
        </p:txBody>
      </p:sp>
      <p:sp>
        <p:nvSpPr>
          <p:cNvPr id="25" name="Rectangle 24"/>
          <p:cNvSpPr/>
          <p:nvPr/>
        </p:nvSpPr>
        <p:spPr>
          <a:xfrm>
            <a:off x="502920" y="539496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39496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39496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先に一つだけ約束：これは管理強化ではありません。働いた時間の記録は人事評価に一切使いません（第2部で詳しく）</a:t>
            </a:r>
          </a:p>
        </p:txBody>
      </p:sp>
      <p:sp>
        <p:nvSpPr>
          <p:cNvPr id="28" name="TextBox 2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9" name="TextBox 2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第1部 なぜやるのか（15分）</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一言でいうと：現場の時間を、価値を生む仕事に振り向け直す改革です</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03120"/>
            <a:ext cx="10972800" cy="3108960"/>
          </a:xfrm>
          <a:prstGeom prst="rect">
            <a:avLst/>
          </a:prstGeom>
          <a:noFill/>
        </p:spPr>
        <p:txBody>
          <a:bodyPr wrap="square" lIns="0" rIns="0" tIns="0" bIns="0">
            <a:spAutoFit/>
          </a:bodyPr>
          <a:lstStyle/>
          <a:p>
            <a:pPr algn="l">
              <a:spcAft>
                <a:spcPts val="1000"/>
              </a:spcAft>
            </a:pPr>
            <a:r>
              <a:rPr sz="1700" b="0" i="0">
                <a:solidFill>
                  <a:srgbClr val="262630"/>
                </a:solidFill>
                <a:latin typeface="Yu Gothic"/>
                <a:ea typeface="Yu Gothic"/>
                <a:cs typeface="Yu Gothic"/>
              </a:rPr>
              <a:t>ウルトラマンの商売はかつてなく広がっています。</a:t>
            </a:r>
          </a:p>
          <a:p>
            <a:pPr algn="l">
              <a:spcAft>
                <a:spcPts val="1000"/>
              </a:spcAft>
            </a:pPr>
            <a:r>
              <a:rPr sz="1700" b="0" i="0">
                <a:solidFill>
                  <a:srgbClr val="262630"/>
                </a:solidFill>
                <a:latin typeface="Yu Gothic"/>
                <a:ea typeface="Yu Gothic"/>
                <a:cs typeface="Yu Gothic"/>
              </a:rPr>
              <a:t>しかし、機会が増えた分だけ、営業まわりの仕事は複雑になり——</a:t>
            </a:r>
          </a:p>
          <a:p>
            <a:pPr algn="l">
              <a:spcAft>
                <a:spcPts val="1600"/>
              </a:spcAft>
            </a:pPr>
            <a:r>
              <a:rPr sz="1800" b="1" i="0">
                <a:solidFill>
                  <a:srgbClr val="3A106E"/>
                </a:solidFill>
                <a:latin typeface="Yu Gothic"/>
                <a:ea typeface="Yu Gothic"/>
                <a:cs typeface="Yu Gothic"/>
              </a:rPr>
              <a:t>手間のわりに儲からない案件や、調整・資料づくりが、現場の時間を奪っている可能性があります。</a:t>
            </a:r>
          </a:p>
          <a:p>
            <a:pPr algn="l">
              <a:spcAft>
                <a:spcPts val="800"/>
              </a:spcAft>
            </a:pPr>
            <a:r>
              <a:rPr sz="1700" b="0" i="0">
                <a:solidFill>
                  <a:srgbClr val="262630"/>
                </a:solidFill>
                <a:latin typeface="Yu Gothic"/>
                <a:ea typeface="Yu Gothic"/>
                <a:cs typeface="Yu Gothic"/>
              </a:rPr>
              <a:t>そこで、①全部見えるようにして　②物差しで測り　③やめる・力を入れるを決めることで、</a:t>
            </a:r>
          </a:p>
          <a:p>
            <a:pPr algn="l">
              <a:spcAft>
                <a:spcPts val="400"/>
              </a:spcAft>
            </a:pPr>
            <a:r>
              <a:rPr sz="2000" b="1" i="0">
                <a:solidFill>
                  <a:srgbClr val="7823DC"/>
                </a:solidFill>
                <a:latin typeface="Yu Gothic"/>
                <a:ea typeface="Yu Gothic"/>
                <a:cs typeface="Yu Gothic"/>
              </a:rPr>
              <a:t>限られた時間を、提案・商談・お客様づくりに返します。</a:t>
            </a:r>
          </a:p>
        </p:txBody>
      </p:sp>
      <p:sp>
        <p:nvSpPr>
          <p:cNvPr id="6" name="Rectangle 5"/>
          <p:cNvSpPr/>
          <p:nvPr/>
        </p:nvSpPr>
        <p:spPr>
          <a:xfrm>
            <a:off x="502920" y="56692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6692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これは現場の頑張り不足の話ではなく、仕組みの話です。仕組みを直す責任は経営側にあります</a:t>
            </a:r>
          </a:p>
        </p:txBody>
      </p:sp>
      <p:sp>
        <p:nvSpPr>
          <p:cNvPr id="9" name="TextBox 8"/>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10" name="TextBox 9"/>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第1部 なぜやるのか</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商売の間口はここまで広がった——12の営業領域</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26280" y="1920240"/>
            <a:ext cx="3108960" cy="82296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920240"/>
            <a:ext cx="3108960" cy="822960"/>
          </a:xfrm>
          <a:prstGeom prst="rect">
            <a:avLst/>
          </a:prstGeom>
          <a:noFill/>
        </p:spPr>
        <p:txBody>
          <a:bodyPr wrap="square" lIns="0" rIns="0" tIns="0" bIns="0" anchor="ctr">
            <a:spAutoFit/>
          </a:bodyPr>
          <a:lstStyle/>
          <a:p>
            <a:pPr algn="ctr">
              <a:spcAft>
                <a:spcPts val="200"/>
              </a:spcAft>
            </a:pPr>
            <a:r>
              <a:rPr sz="1700" b="1" i="0">
                <a:solidFill>
                  <a:srgbClr val="FFFFFF"/>
                </a:solidFill>
                <a:latin typeface="Yu Gothic"/>
                <a:ea typeface="Yu Gothic"/>
                <a:cs typeface="Yu Gothic"/>
              </a:rPr>
              <a:t>ウルトラマンIP</a:t>
            </a:r>
          </a:p>
        </p:txBody>
      </p:sp>
      <p:sp>
        <p:nvSpPr>
          <p:cNvPr id="7" name="Rounded Rectangle 6"/>
          <p:cNvSpPr/>
          <p:nvPr/>
        </p:nvSpPr>
        <p:spPr>
          <a:xfrm>
            <a:off x="640080"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ライセンス</a:t>
            </a:r>
          </a:p>
        </p:txBody>
      </p:sp>
      <p:sp>
        <p:nvSpPr>
          <p:cNvPr id="9" name="Rounded Rectangle 8"/>
          <p:cNvSpPr/>
          <p:nvPr/>
        </p:nvSpPr>
        <p:spPr>
          <a:xfrm>
            <a:off x="2487168"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自社商品</a:t>
            </a:r>
          </a:p>
        </p:txBody>
      </p:sp>
      <p:sp>
        <p:nvSpPr>
          <p:cNvPr id="11" name="Rounded Rectangle 10"/>
          <p:cNvSpPr/>
          <p:nvPr/>
        </p:nvSpPr>
        <p:spPr>
          <a:xfrm>
            <a:off x="4334256"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4256"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小売り</a:t>
            </a:r>
          </a:p>
        </p:txBody>
      </p:sp>
      <p:sp>
        <p:nvSpPr>
          <p:cNvPr id="13" name="Rounded Rectangle 12"/>
          <p:cNvSpPr/>
          <p:nvPr/>
        </p:nvSpPr>
        <p:spPr>
          <a:xfrm>
            <a:off x="6181344"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イベント</a:t>
            </a:r>
          </a:p>
        </p:txBody>
      </p:sp>
      <p:sp>
        <p:nvSpPr>
          <p:cNvPr id="15" name="Rounded Rectangle 14"/>
          <p:cNvSpPr/>
          <p:nvPr/>
        </p:nvSpPr>
        <p:spPr>
          <a:xfrm>
            <a:off x="8028431"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海外</a:t>
            </a:r>
          </a:p>
        </p:txBody>
      </p:sp>
      <p:sp>
        <p:nvSpPr>
          <p:cNvPr id="17" name="Rounded Rectangle 16"/>
          <p:cNvSpPr/>
          <p:nvPr/>
        </p:nvSpPr>
        <p:spPr>
          <a:xfrm>
            <a:off x="9875519" y="320040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19" y="320040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カードゲーム</a:t>
            </a:r>
          </a:p>
        </p:txBody>
      </p:sp>
      <p:sp>
        <p:nvSpPr>
          <p:cNvPr id="19" name="Rounded Rectangle 18"/>
          <p:cNvSpPr/>
          <p:nvPr/>
        </p:nvSpPr>
        <p:spPr>
          <a:xfrm>
            <a:off x="640080"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広告・タイアップ</a:t>
            </a:r>
          </a:p>
        </p:txBody>
      </p:sp>
      <p:sp>
        <p:nvSpPr>
          <p:cNvPr id="21" name="Rounded Rectangle 20"/>
          <p:cNvSpPr/>
          <p:nvPr/>
        </p:nvSpPr>
        <p:spPr>
          <a:xfrm>
            <a:off x="2487168"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87168"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自社通販・会員</a:t>
            </a:r>
          </a:p>
        </p:txBody>
      </p:sp>
      <p:sp>
        <p:nvSpPr>
          <p:cNvPr id="23" name="Rounded Rectangle 22"/>
          <p:cNvSpPr/>
          <p:nvPr/>
        </p:nvSpPr>
        <p:spPr>
          <a:xfrm>
            <a:off x="4334256"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4256"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新規事業</a:t>
            </a:r>
          </a:p>
        </p:txBody>
      </p:sp>
      <p:sp>
        <p:nvSpPr>
          <p:cNvPr id="25" name="Rounded Rectangle 24"/>
          <p:cNvSpPr/>
          <p:nvPr/>
        </p:nvSpPr>
        <p:spPr>
          <a:xfrm>
            <a:off x="6181344"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81344"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教育・須賀川</a:t>
            </a:r>
          </a:p>
        </p:txBody>
      </p:sp>
      <p:sp>
        <p:nvSpPr>
          <p:cNvPr id="27" name="Rounded Rectangle 26"/>
          <p:cNvSpPr/>
          <p:nvPr/>
        </p:nvSpPr>
        <p:spPr>
          <a:xfrm>
            <a:off x="8028431"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28431"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AIでの協業</a:t>
            </a:r>
          </a:p>
        </p:txBody>
      </p:sp>
      <p:sp>
        <p:nvSpPr>
          <p:cNvPr id="29" name="Rounded Rectangle 28"/>
          <p:cNvSpPr/>
          <p:nvPr/>
        </p:nvSpPr>
        <p:spPr>
          <a:xfrm>
            <a:off x="9875519" y="4251960"/>
            <a:ext cx="1691640" cy="86868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19" y="4251960"/>
            <a:ext cx="1691640" cy="868680"/>
          </a:xfrm>
          <a:prstGeom prst="rect">
            <a:avLst/>
          </a:prstGeom>
          <a:noFill/>
        </p:spPr>
        <p:txBody>
          <a:bodyPr wrap="square" lIns="0" rIns="0" tIns="0" bIns="0" anchor="ctr">
            <a:spAutoFit/>
          </a:bodyPr>
          <a:lstStyle/>
          <a:p>
            <a:pPr algn="ctr">
              <a:spcAft>
                <a:spcPts val="200"/>
              </a:spcAft>
            </a:pPr>
            <a:r>
              <a:rPr sz="1050" b="1" i="0">
                <a:solidFill>
                  <a:srgbClr val="3A106E"/>
                </a:solidFill>
                <a:latin typeface="Yu Gothic"/>
                <a:ea typeface="Yu Gothic"/>
                <a:cs typeface="Yu Gothic"/>
              </a:rPr>
              <a:t>経営陣の面談から</a:t>
            </a:r>
          </a:p>
          <a:p>
            <a:pPr algn="ctr">
              <a:spcAft>
                <a:spcPts val="200"/>
              </a:spcAft>
            </a:pPr>
            <a:r>
              <a:rPr sz="1050" b="1" i="0">
                <a:solidFill>
                  <a:srgbClr val="3A106E"/>
                </a:solidFill>
                <a:latin typeface="Yu Gothic"/>
                <a:ea typeface="Yu Gothic"/>
                <a:cs typeface="Yu Gothic"/>
              </a:rPr>
              <a:t>生まれる商談</a:t>
            </a:r>
          </a:p>
        </p:txBody>
      </p:sp>
      <p:sp>
        <p:nvSpPr>
          <p:cNvPr id="31" name="TextBox 30"/>
          <p:cNvSpPr txBox="1"/>
          <p:nvPr/>
        </p:nvSpPr>
        <p:spPr>
          <a:xfrm>
            <a:off x="640080" y="5394960"/>
            <a:ext cx="10972800" cy="457200"/>
          </a:xfrm>
          <a:prstGeom prst="rect">
            <a:avLst/>
          </a:prstGeom>
          <a:noFill/>
        </p:spPr>
        <p:txBody>
          <a:bodyPr wrap="square" lIns="0" rIns="0" tIns="0" bIns="0">
            <a:spAutoFit/>
          </a:bodyPr>
          <a:lstStyle/>
          <a:p>
            <a:pPr algn="l">
              <a:spcAft>
                <a:spcPts val="400"/>
              </a:spcAft>
            </a:pPr>
            <a:r>
              <a:rPr sz="1300" b="1" i="0">
                <a:solidFill>
                  <a:srgbClr val="262630"/>
                </a:solidFill>
                <a:latin typeface="Yu Gothic"/>
                <a:ea typeface="Yu Gothic"/>
                <a:cs typeface="Yu Gothic"/>
              </a:rPr>
              <a:t>領域が増えるほど、案件の型・関わる部門・判断することが増える。仕組みが昔のままだと、複雑さは全部「現場の個人の頑張り」に乗る</a:t>
            </a:r>
          </a:p>
        </p:txBody>
      </p:sp>
      <p:sp>
        <p:nvSpPr>
          <p:cNvPr id="32" name="Rectangle 31"/>
          <p:cNvSpPr/>
          <p:nvPr/>
        </p:nvSpPr>
        <p:spPr>
          <a:xfrm>
            <a:off x="502920" y="58978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8978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8978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成長しているのに現場がしんどい——この感覚の正体が、次の4つの見立てです</a:t>
            </a:r>
          </a:p>
        </p:txBody>
      </p:sp>
      <p:sp>
        <p:nvSpPr>
          <p:cNvPr id="35" name="TextBox 34"/>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36" name="TextBox 35"/>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第1部 なぜやるのか</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いま起きていること——4つの見立て（仮説）</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5486400" cy="178308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5029200" cy="457200"/>
          </a:xfrm>
          <a:prstGeom prst="rect">
            <a:avLst/>
          </a:prstGeom>
          <a:noFill/>
        </p:spPr>
        <p:txBody>
          <a:bodyPr wrap="square" lIns="0" rIns="0" tIns="0" bIns="0" anchor="ctr">
            <a:spAutoFit/>
          </a:bodyPr>
          <a:lstStyle/>
          <a:p>
            <a:pPr algn="l">
              <a:spcAft>
                <a:spcPts val="200"/>
              </a:spcAft>
            </a:pPr>
            <a:r>
              <a:rPr sz="1500" b="1" i="0">
                <a:solidFill>
                  <a:srgbClr val="3A106E"/>
                </a:solidFill>
                <a:latin typeface="Yu Gothic"/>
                <a:ea typeface="Yu Gothic"/>
                <a:cs typeface="Yu Gothic"/>
              </a:rPr>
              <a:t>① 全体像が見えない</a:t>
            </a:r>
          </a:p>
        </p:txBody>
      </p:sp>
      <p:sp>
        <p:nvSpPr>
          <p:cNvPr id="7" name="TextBox 6"/>
          <p:cNvSpPr txBox="1"/>
          <p:nvPr/>
        </p:nvSpPr>
        <p:spPr>
          <a:xfrm>
            <a:off x="914400" y="2651760"/>
            <a:ext cx="5029200" cy="1051560"/>
          </a:xfrm>
          <a:prstGeom prst="rect">
            <a:avLst/>
          </a:prstGeom>
          <a:noFill/>
        </p:spPr>
        <p:txBody>
          <a:bodyPr wrap="square" lIns="0" rIns="0" tIns="0" bIns="0">
            <a:spAutoFit/>
          </a:bodyPr>
          <a:lstStyle/>
          <a:p>
            <a:pPr algn="l">
              <a:spcAft>
                <a:spcPts val="400"/>
              </a:spcAft>
            </a:pPr>
            <a:r>
              <a:rPr sz="1050" b="0" i="0">
                <a:solidFill>
                  <a:srgbClr val="262630"/>
                </a:solidFill>
                <a:latin typeface="Yu Gothic"/>
                <a:ea typeface="Yu Gothic"/>
                <a:cs typeface="Yu Gothic"/>
              </a:rPr>
              <a:t>会社全体で商談がいくつ動いていて、いくつ止まっているか、誰も正確に答えられない。情報は担当者の頭の中と個人のExcelの中にある</a:t>
            </a:r>
          </a:p>
        </p:txBody>
      </p:sp>
      <p:sp>
        <p:nvSpPr>
          <p:cNvPr id="8" name="Rounded Rectangle 7"/>
          <p:cNvSpPr/>
          <p:nvPr/>
        </p:nvSpPr>
        <p:spPr>
          <a:xfrm>
            <a:off x="6400800" y="2011680"/>
            <a:ext cx="5486400" cy="178308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148840"/>
            <a:ext cx="5029200" cy="457200"/>
          </a:xfrm>
          <a:prstGeom prst="rect">
            <a:avLst/>
          </a:prstGeom>
          <a:noFill/>
        </p:spPr>
        <p:txBody>
          <a:bodyPr wrap="square" lIns="0" rIns="0" tIns="0" bIns="0" anchor="ctr">
            <a:spAutoFit/>
          </a:bodyPr>
          <a:lstStyle/>
          <a:p>
            <a:pPr algn="l">
              <a:spcAft>
                <a:spcPts val="200"/>
              </a:spcAft>
            </a:pPr>
            <a:r>
              <a:rPr sz="1500" b="1" i="0">
                <a:solidFill>
                  <a:srgbClr val="3A106E"/>
                </a:solidFill>
                <a:latin typeface="Yu Gothic"/>
                <a:ea typeface="Yu Gothic"/>
                <a:cs typeface="Yu Gothic"/>
              </a:rPr>
              <a:t>② 物差しが「売上」しかない</a:t>
            </a:r>
          </a:p>
        </p:txBody>
      </p:sp>
      <p:sp>
        <p:nvSpPr>
          <p:cNvPr id="10" name="TextBox 9"/>
          <p:cNvSpPr txBox="1"/>
          <p:nvPr/>
        </p:nvSpPr>
        <p:spPr>
          <a:xfrm>
            <a:off x="6675120" y="2651760"/>
            <a:ext cx="5029200" cy="1051560"/>
          </a:xfrm>
          <a:prstGeom prst="rect">
            <a:avLst/>
          </a:prstGeom>
          <a:noFill/>
        </p:spPr>
        <p:txBody>
          <a:bodyPr wrap="square" lIns="0" rIns="0" tIns="0" bIns="0">
            <a:spAutoFit/>
          </a:bodyPr>
          <a:lstStyle/>
          <a:p>
            <a:pPr algn="l">
              <a:spcAft>
                <a:spcPts val="400"/>
              </a:spcAft>
            </a:pPr>
            <a:r>
              <a:rPr sz="1050" b="0" i="0">
                <a:solidFill>
                  <a:srgbClr val="262630"/>
                </a:solidFill>
                <a:latin typeface="Yu Gothic"/>
                <a:ea typeface="Yu Gothic"/>
                <a:cs typeface="Yu Gothic"/>
              </a:rPr>
              <a:t>利益率や手間が見えないので「断る基準」がない。手間のわりに儲からない案件も、良い案件と同じ熱量で全部背負っている</a:t>
            </a:r>
          </a:p>
        </p:txBody>
      </p:sp>
      <p:sp>
        <p:nvSpPr>
          <p:cNvPr id="11" name="Rounded Rectangle 10"/>
          <p:cNvSpPr/>
          <p:nvPr/>
        </p:nvSpPr>
        <p:spPr>
          <a:xfrm>
            <a:off x="640080" y="3977639"/>
            <a:ext cx="5486400" cy="178308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799"/>
            <a:ext cx="5029200" cy="457200"/>
          </a:xfrm>
          <a:prstGeom prst="rect">
            <a:avLst/>
          </a:prstGeom>
          <a:noFill/>
        </p:spPr>
        <p:txBody>
          <a:bodyPr wrap="square" lIns="0" rIns="0" tIns="0" bIns="0" anchor="ctr">
            <a:spAutoFit/>
          </a:bodyPr>
          <a:lstStyle/>
          <a:p>
            <a:pPr algn="l">
              <a:spcAft>
                <a:spcPts val="200"/>
              </a:spcAft>
            </a:pPr>
            <a:r>
              <a:rPr sz="1500" b="1" i="0">
                <a:solidFill>
                  <a:srgbClr val="3A106E"/>
                </a:solidFill>
                <a:latin typeface="Yu Gothic"/>
                <a:ea typeface="Yu Gothic"/>
                <a:cs typeface="Yu Gothic"/>
              </a:rPr>
              <a:t>③ 時間を食うのは商談の後ろ</a:t>
            </a:r>
          </a:p>
        </p:txBody>
      </p:sp>
      <p:sp>
        <p:nvSpPr>
          <p:cNvPr id="13" name="TextBox 12"/>
          <p:cNvSpPr txBox="1"/>
          <p:nvPr/>
        </p:nvSpPr>
        <p:spPr>
          <a:xfrm>
            <a:off x="914400" y="4617719"/>
            <a:ext cx="5029200" cy="1051560"/>
          </a:xfrm>
          <a:prstGeom prst="rect">
            <a:avLst/>
          </a:prstGeom>
          <a:noFill/>
        </p:spPr>
        <p:txBody>
          <a:bodyPr wrap="square" lIns="0" rIns="0" tIns="0" bIns="0">
            <a:spAutoFit/>
          </a:bodyPr>
          <a:lstStyle/>
          <a:p>
            <a:pPr algn="l">
              <a:spcAft>
                <a:spcPts val="400"/>
              </a:spcAft>
            </a:pPr>
            <a:r>
              <a:rPr sz="1050" b="0" i="0">
                <a:solidFill>
                  <a:srgbClr val="262630"/>
                </a:solidFill>
                <a:latin typeface="Yu Gothic"/>
                <a:ea typeface="Yu Gothic"/>
                <a:cs typeface="Yu Gothic"/>
              </a:rPr>
              <a:t>監修・契約・社内調整に日数の大半がかかっている可能性。※監修はIPの品質を守る要——緩めるのではなく、案件に応じて進め方を分ける</a:t>
            </a:r>
          </a:p>
        </p:txBody>
      </p:sp>
      <p:sp>
        <p:nvSpPr>
          <p:cNvPr id="14" name="Rounded Rectangle 13"/>
          <p:cNvSpPr/>
          <p:nvPr/>
        </p:nvSpPr>
        <p:spPr>
          <a:xfrm>
            <a:off x="6400800" y="3977639"/>
            <a:ext cx="5486400" cy="178308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114799"/>
            <a:ext cx="5029200" cy="457200"/>
          </a:xfrm>
          <a:prstGeom prst="rect">
            <a:avLst/>
          </a:prstGeom>
          <a:noFill/>
        </p:spPr>
        <p:txBody>
          <a:bodyPr wrap="square" lIns="0" rIns="0" tIns="0" bIns="0" anchor="ctr">
            <a:spAutoFit/>
          </a:bodyPr>
          <a:lstStyle/>
          <a:p>
            <a:pPr algn="l">
              <a:spcAft>
                <a:spcPts val="200"/>
              </a:spcAft>
            </a:pPr>
            <a:r>
              <a:rPr sz="1500" b="1" i="0">
                <a:solidFill>
                  <a:srgbClr val="3A106E"/>
                </a:solidFill>
                <a:latin typeface="Yu Gothic"/>
                <a:ea typeface="Yu Gothic"/>
                <a:cs typeface="Yu Gothic"/>
              </a:rPr>
              <a:t>④ 会議で決まらない</a:t>
            </a:r>
          </a:p>
        </p:txBody>
      </p:sp>
      <p:sp>
        <p:nvSpPr>
          <p:cNvPr id="16" name="TextBox 15"/>
          <p:cNvSpPr txBox="1"/>
          <p:nvPr/>
        </p:nvSpPr>
        <p:spPr>
          <a:xfrm>
            <a:off x="6675120" y="4617719"/>
            <a:ext cx="5029200" cy="1051560"/>
          </a:xfrm>
          <a:prstGeom prst="rect">
            <a:avLst/>
          </a:prstGeom>
          <a:noFill/>
        </p:spPr>
        <p:txBody>
          <a:bodyPr wrap="square" lIns="0" rIns="0" tIns="0" bIns="0">
            <a:spAutoFit/>
          </a:bodyPr>
          <a:lstStyle/>
          <a:p>
            <a:pPr algn="l">
              <a:spcAft>
                <a:spcPts val="400"/>
              </a:spcAft>
            </a:pPr>
            <a:r>
              <a:rPr sz="1050" b="0" i="0">
                <a:solidFill>
                  <a:srgbClr val="262630"/>
                </a:solidFill>
                <a:latin typeface="Yu Gothic"/>
                <a:ea typeface="Yu Gothic"/>
                <a:cs typeface="Yu Gothic"/>
              </a:rPr>
              <a:t>報告で時間が尽きて「どれに力を入れるか・どれをやめるか・誰を助けるか」が決まらないまま散会している</a:t>
            </a:r>
          </a:p>
        </p:txBody>
      </p:sp>
      <p:sp>
        <p:nvSpPr>
          <p:cNvPr id="17" name="Rectangle 16"/>
          <p:cNvSpPr/>
          <p:nvPr/>
        </p:nvSpPr>
        <p:spPr>
          <a:xfrm>
            <a:off x="502920" y="58978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58978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この4つ、皆さんの現場の実感と合っていますか——第4部の意見交換で必ず伺います</a:t>
            </a:r>
          </a:p>
        </p:txBody>
      </p:sp>
      <p:sp>
        <p:nvSpPr>
          <p:cNvPr id="20" name="TextBox 19"/>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1" name="TextBox 20"/>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第1部 なぜやるのか</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放置すれば3つの損、直せば「人を増やさずに営業の力が広がる」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5394960" cy="329184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5029200" cy="457200"/>
          </a:xfrm>
          <a:prstGeom prst="rect">
            <a:avLst/>
          </a:prstGeom>
          <a:noFill/>
        </p:spPr>
        <p:txBody>
          <a:bodyPr wrap="square" lIns="0" rIns="0" tIns="0" bIns="0" anchor="ctr">
            <a:spAutoFit/>
          </a:bodyPr>
          <a:lstStyle/>
          <a:p>
            <a:pPr algn="l">
              <a:spcAft>
                <a:spcPts val="200"/>
              </a:spcAft>
            </a:pPr>
            <a:r>
              <a:rPr sz="1500" b="1" i="0">
                <a:solidFill>
                  <a:srgbClr val="5F5F6E"/>
                </a:solidFill>
                <a:latin typeface="Yu Gothic"/>
                <a:ea typeface="Yu Gothic"/>
                <a:cs typeface="Yu Gothic"/>
              </a:rPr>
              <a:t>このままだと</a:t>
            </a:r>
          </a:p>
        </p:txBody>
      </p:sp>
      <p:sp>
        <p:nvSpPr>
          <p:cNvPr id="7" name="TextBox 6"/>
          <p:cNvSpPr txBox="1"/>
          <p:nvPr/>
        </p:nvSpPr>
        <p:spPr>
          <a:xfrm>
            <a:off x="914400" y="2743200"/>
            <a:ext cx="4937760" cy="2377440"/>
          </a:xfrm>
          <a:prstGeom prst="rect">
            <a:avLst/>
          </a:prstGeom>
          <a:noFill/>
        </p:spPr>
        <p:txBody>
          <a:bodyPr wrap="square" lIns="0" rIns="0" tIns="0" bIns="0">
            <a:spAutoFit/>
          </a:bodyPr>
          <a:lstStyle/>
          <a:p>
            <a:pPr algn="l">
              <a:spcAft>
                <a:spcPts val="1400"/>
              </a:spcAft>
            </a:pPr>
            <a:r>
              <a:rPr sz="1250" b="0" i="0">
                <a:solidFill>
                  <a:srgbClr val="262630"/>
                </a:solidFill>
                <a:latin typeface="Yu Gothic"/>
                <a:ea typeface="Yu Gothic"/>
                <a:cs typeface="Yu Gothic"/>
              </a:rPr>
              <a:t>① 商談の機会が、気づかれないまま消えていく</a:t>
            </a:r>
          </a:p>
          <a:p>
            <a:pPr algn="l">
              <a:spcAft>
                <a:spcPts val="1400"/>
              </a:spcAft>
            </a:pPr>
            <a:r>
              <a:rPr sz="1250" b="0" i="0">
                <a:solidFill>
                  <a:srgbClr val="262630"/>
                </a:solidFill>
                <a:latin typeface="Yu Gothic"/>
                <a:ea typeface="Yu Gothic"/>
                <a:cs typeface="Yu Gothic"/>
              </a:rPr>
              <a:t>② 手間ばかりの案件で現場が疲れ、優秀な人ほど消耗する</a:t>
            </a:r>
          </a:p>
          <a:p>
            <a:pPr algn="l">
              <a:spcAft>
                <a:spcPts val="1400"/>
              </a:spcAft>
            </a:pPr>
            <a:r>
              <a:rPr sz="1250" b="0" i="0">
                <a:solidFill>
                  <a:srgbClr val="262630"/>
                </a:solidFill>
                <a:latin typeface="Yu Gothic"/>
                <a:ea typeface="Yu Gothic"/>
                <a:cs typeface="Yu Gothic"/>
              </a:rPr>
              <a:t>③ 全体が見えないので、経営の判断が後手に回る</a:t>
            </a:r>
          </a:p>
        </p:txBody>
      </p:sp>
      <p:sp>
        <p:nvSpPr>
          <p:cNvPr id="8" name="Rounded Rectangle 7"/>
          <p:cNvSpPr/>
          <p:nvPr/>
        </p:nvSpPr>
        <p:spPr>
          <a:xfrm>
            <a:off x="6309360" y="2011680"/>
            <a:ext cx="5394960" cy="329184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48840"/>
            <a:ext cx="5029200" cy="457200"/>
          </a:xfrm>
          <a:prstGeom prst="rect">
            <a:avLst/>
          </a:prstGeom>
          <a:noFill/>
        </p:spPr>
        <p:txBody>
          <a:bodyPr wrap="square" lIns="0" rIns="0" tIns="0" bIns="0" anchor="ctr">
            <a:spAutoFit/>
          </a:bodyPr>
          <a:lstStyle/>
          <a:p>
            <a:pPr algn="l">
              <a:spcAft>
                <a:spcPts val="200"/>
              </a:spcAft>
            </a:pPr>
            <a:r>
              <a:rPr sz="1500" b="1" i="0">
                <a:solidFill>
                  <a:srgbClr val="7823DC"/>
                </a:solidFill>
                <a:latin typeface="Yu Gothic"/>
                <a:ea typeface="Yu Gothic"/>
                <a:cs typeface="Yu Gothic"/>
              </a:rPr>
              <a:t>仕組みを直すと</a:t>
            </a:r>
          </a:p>
        </p:txBody>
      </p:sp>
      <p:sp>
        <p:nvSpPr>
          <p:cNvPr id="10" name="TextBox 9"/>
          <p:cNvSpPr txBox="1"/>
          <p:nvPr/>
        </p:nvSpPr>
        <p:spPr>
          <a:xfrm>
            <a:off x="6583680" y="2743200"/>
            <a:ext cx="4937760" cy="2377440"/>
          </a:xfrm>
          <a:prstGeom prst="rect">
            <a:avLst/>
          </a:prstGeom>
          <a:noFill/>
        </p:spPr>
        <p:txBody>
          <a:bodyPr wrap="square" lIns="0" rIns="0" tIns="0" bIns="0">
            <a:spAutoFit/>
          </a:bodyPr>
          <a:lstStyle/>
          <a:p>
            <a:pPr algn="l">
              <a:spcAft>
                <a:spcPts val="1000"/>
              </a:spcAft>
            </a:pPr>
            <a:r>
              <a:rPr sz="1250" b="0" i="0">
                <a:solidFill>
                  <a:srgbClr val="262630"/>
                </a:solidFill>
                <a:latin typeface="Yu Gothic"/>
                <a:ea typeface="Yu Gothic"/>
                <a:cs typeface="Yu Gothic"/>
              </a:rPr>
              <a:t>営業に関わる時間の2〜3割が、儲からない案件や社内向けの仕事に使われている可能性があります（見立て・90日で実測）。</a:t>
            </a:r>
          </a:p>
          <a:p>
            <a:pPr algn="l">
              <a:spcAft>
                <a:spcPts val="400"/>
              </a:spcAft>
            </a:pPr>
            <a:r>
              <a:rPr sz="1350" b="1" i="0">
                <a:solidFill>
                  <a:srgbClr val="3A106E"/>
                </a:solidFill>
                <a:latin typeface="Yu Gothic"/>
                <a:ea typeface="Yu Gothic"/>
                <a:cs typeface="Yu Gothic"/>
              </a:rPr>
              <a:t>その半分を取り戻すだけで、人を増やさずに営業の力を1〜2割広げるのと同じ効果になります。</a:t>
            </a: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 何をやるのか（20分）</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やることは3段階——「全部見える」→「物差しで測る」→「決める」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vron 4"/>
          <p:cNvSpPr/>
          <p:nvPr/>
        </p:nvSpPr>
        <p:spPr>
          <a:xfrm>
            <a:off x="731520" y="2103120"/>
            <a:ext cx="3657600" cy="2286000"/>
          </a:xfrm>
          <a:prstGeom prst="chevron">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86000"/>
            <a:ext cx="3017520" cy="365760"/>
          </a:xfrm>
          <a:prstGeom prst="rect">
            <a:avLst/>
          </a:prstGeom>
          <a:noFill/>
        </p:spPr>
        <p:txBody>
          <a:bodyPr wrap="square" lIns="0" rIns="0" tIns="0" bIns="0" anchor="ctr">
            <a:spAutoFit/>
          </a:bodyPr>
          <a:lstStyle/>
          <a:p>
            <a:pPr algn="ctr">
              <a:spcAft>
                <a:spcPts val="200"/>
              </a:spcAft>
            </a:pPr>
            <a:r>
              <a:rPr sz="1100" b="1" i="0">
                <a:solidFill>
                  <a:srgbClr val="3A106E"/>
                </a:solidFill>
                <a:latin typeface="Yu Gothic"/>
                <a:ea typeface="Yu Gothic"/>
                <a:cs typeface="Yu Gothic"/>
              </a:rPr>
              <a:t>第1段階　最初の30日</a:t>
            </a:r>
          </a:p>
        </p:txBody>
      </p:sp>
      <p:sp>
        <p:nvSpPr>
          <p:cNvPr id="7" name="TextBox 6"/>
          <p:cNvSpPr txBox="1"/>
          <p:nvPr/>
        </p:nvSpPr>
        <p:spPr>
          <a:xfrm>
            <a:off x="1188720" y="2697480"/>
            <a:ext cx="3017520" cy="54864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全部見えるようにする</a:t>
            </a:r>
          </a:p>
        </p:txBody>
      </p:sp>
      <p:sp>
        <p:nvSpPr>
          <p:cNvPr id="8" name="TextBox 7"/>
          <p:cNvSpPr txBox="1"/>
          <p:nvPr/>
        </p:nvSpPr>
        <p:spPr>
          <a:xfrm>
            <a:off x="1280160" y="3337560"/>
            <a:ext cx="2834640" cy="914400"/>
          </a:xfrm>
          <a:prstGeom prst="rect">
            <a:avLst/>
          </a:prstGeom>
          <a:noFill/>
        </p:spPr>
        <p:txBody>
          <a:bodyPr wrap="square" lIns="0" rIns="0" tIns="0" bIns="0">
            <a:spAutoFit/>
          </a:bodyPr>
          <a:lstStyle/>
          <a:p>
            <a:pPr algn="ctr">
              <a:spcAft>
                <a:spcPts val="300"/>
              </a:spcAft>
            </a:pPr>
            <a:r>
              <a:rPr sz="1050" b="0" i="0">
                <a:solidFill>
                  <a:srgbClr val="3A106E"/>
                </a:solidFill>
                <a:latin typeface="Yu Gothic"/>
                <a:ea typeface="Yu Gothic"/>
                <a:cs typeface="Yu Gothic"/>
              </a:rPr>
              <a:t>顧客・案件・時間の使い方を</a:t>
            </a:r>
          </a:p>
          <a:p>
            <a:pPr algn="ctr">
              <a:spcAft>
                <a:spcPts val="300"/>
              </a:spcAft>
            </a:pPr>
            <a:r>
              <a:rPr sz="1050" b="0" i="0">
                <a:solidFill>
                  <a:srgbClr val="3A106E"/>
                </a:solidFill>
                <a:latin typeface="Yu Gothic"/>
                <a:ea typeface="Yu Gothic"/>
                <a:cs typeface="Yu Gothic"/>
              </a:rPr>
              <a:t>ぜんぶリストにする</a:t>
            </a:r>
          </a:p>
        </p:txBody>
      </p:sp>
      <p:sp>
        <p:nvSpPr>
          <p:cNvPr id="9" name="Chevron 8"/>
          <p:cNvSpPr/>
          <p:nvPr/>
        </p:nvSpPr>
        <p:spPr>
          <a:xfrm>
            <a:off x="4572000" y="2103120"/>
            <a:ext cx="3657600" cy="2286000"/>
          </a:xfrm>
          <a:prstGeom prst="chevron">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2286000"/>
            <a:ext cx="3017520" cy="365760"/>
          </a:xfrm>
          <a:prstGeom prst="rect">
            <a:avLst/>
          </a:prstGeom>
          <a:noFill/>
        </p:spPr>
        <p:txBody>
          <a:bodyPr wrap="square" lIns="0" rIns="0" tIns="0" bIns="0" anchor="ctr">
            <a:spAutoFit/>
          </a:bodyPr>
          <a:lstStyle/>
          <a:p>
            <a:pPr algn="ctr">
              <a:spcAft>
                <a:spcPts val="200"/>
              </a:spcAft>
            </a:pPr>
            <a:r>
              <a:rPr sz="1100" b="1" i="0">
                <a:solidFill>
                  <a:srgbClr val="FFFFFF"/>
                </a:solidFill>
                <a:latin typeface="Yu Gothic"/>
                <a:ea typeface="Yu Gothic"/>
                <a:cs typeface="Yu Gothic"/>
              </a:rPr>
              <a:t>第2段階　〜60日</a:t>
            </a:r>
          </a:p>
        </p:txBody>
      </p:sp>
      <p:sp>
        <p:nvSpPr>
          <p:cNvPr id="11" name="TextBox 10"/>
          <p:cNvSpPr txBox="1"/>
          <p:nvPr/>
        </p:nvSpPr>
        <p:spPr>
          <a:xfrm>
            <a:off x="5029200" y="2697480"/>
            <a:ext cx="3017520" cy="54864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物差しで測る</a:t>
            </a:r>
          </a:p>
        </p:txBody>
      </p:sp>
      <p:sp>
        <p:nvSpPr>
          <p:cNvPr id="12" name="TextBox 11"/>
          <p:cNvSpPr txBox="1"/>
          <p:nvPr/>
        </p:nvSpPr>
        <p:spPr>
          <a:xfrm>
            <a:off x="5120640" y="3337560"/>
            <a:ext cx="2834640" cy="914400"/>
          </a:xfrm>
          <a:prstGeom prst="rect">
            <a:avLst/>
          </a:prstGeom>
          <a:noFill/>
        </p:spPr>
        <p:txBody>
          <a:bodyPr wrap="square" lIns="0" rIns="0" tIns="0" bIns="0">
            <a:spAutoFit/>
          </a:bodyPr>
          <a:lstStyle/>
          <a:p>
            <a:pPr algn="ctr">
              <a:spcAft>
                <a:spcPts val="300"/>
              </a:spcAft>
            </a:pPr>
            <a:r>
              <a:rPr sz="1050" b="0" i="0">
                <a:solidFill>
                  <a:srgbClr val="FFFFFF"/>
                </a:solidFill>
                <a:latin typeface="Yu Gothic"/>
                <a:ea typeface="Yu Gothic"/>
                <a:cs typeface="Yu Gothic"/>
              </a:rPr>
              <a:t>案件を7つの観点で点数化し、</a:t>
            </a:r>
          </a:p>
          <a:p>
            <a:pPr algn="ctr">
              <a:spcAft>
                <a:spcPts val="300"/>
              </a:spcAft>
            </a:pPr>
            <a:r>
              <a:rPr sz="1050" b="0" i="0">
                <a:solidFill>
                  <a:srgbClr val="FFFFFF"/>
                </a:solidFill>
                <a:latin typeface="Yu Gothic"/>
                <a:ea typeface="Yu Gothic"/>
                <a:cs typeface="Yu Gothic"/>
              </a:rPr>
              <a:t>顧客を重要度でランク分け</a:t>
            </a:r>
          </a:p>
        </p:txBody>
      </p:sp>
      <p:sp>
        <p:nvSpPr>
          <p:cNvPr id="13" name="Chevron 12"/>
          <p:cNvSpPr/>
          <p:nvPr/>
        </p:nvSpPr>
        <p:spPr>
          <a:xfrm>
            <a:off x="8412480" y="2103120"/>
            <a:ext cx="3657600" cy="2286000"/>
          </a:xfrm>
          <a:prstGeom prst="chevron">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2286000"/>
            <a:ext cx="3017520" cy="365760"/>
          </a:xfrm>
          <a:prstGeom prst="rect">
            <a:avLst/>
          </a:prstGeom>
          <a:noFill/>
        </p:spPr>
        <p:txBody>
          <a:bodyPr wrap="square" lIns="0" rIns="0" tIns="0" bIns="0" anchor="ctr">
            <a:spAutoFit/>
          </a:bodyPr>
          <a:lstStyle/>
          <a:p>
            <a:pPr algn="ctr">
              <a:spcAft>
                <a:spcPts val="200"/>
              </a:spcAft>
            </a:pPr>
            <a:r>
              <a:rPr sz="1100" b="1" i="0">
                <a:solidFill>
                  <a:srgbClr val="FFFFFF"/>
                </a:solidFill>
                <a:latin typeface="Yu Gothic"/>
                <a:ea typeface="Yu Gothic"/>
                <a:cs typeface="Yu Gothic"/>
              </a:rPr>
              <a:t>第3段階　〜90日</a:t>
            </a:r>
          </a:p>
        </p:txBody>
      </p:sp>
      <p:sp>
        <p:nvSpPr>
          <p:cNvPr id="15" name="TextBox 14"/>
          <p:cNvSpPr txBox="1"/>
          <p:nvPr/>
        </p:nvSpPr>
        <p:spPr>
          <a:xfrm>
            <a:off x="8869680" y="2697480"/>
            <a:ext cx="3017520" cy="54864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決める</a:t>
            </a:r>
          </a:p>
        </p:txBody>
      </p:sp>
      <p:sp>
        <p:nvSpPr>
          <p:cNvPr id="16" name="TextBox 15"/>
          <p:cNvSpPr txBox="1"/>
          <p:nvPr/>
        </p:nvSpPr>
        <p:spPr>
          <a:xfrm>
            <a:off x="8961120" y="3337560"/>
            <a:ext cx="2834640" cy="914400"/>
          </a:xfrm>
          <a:prstGeom prst="rect">
            <a:avLst/>
          </a:prstGeom>
          <a:noFill/>
        </p:spPr>
        <p:txBody>
          <a:bodyPr wrap="square" lIns="0" rIns="0" tIns="0" bIns="0">
            <a:spAutoFit/>
          </a:bodyPr>
          <a:lstStyle/>
          <a:p>
            <a:pPr algn="ctr">
              <a:spcAft>
                <a:spcPts val="300"/>
              </a:spcAft>
            </a:pPr>
            <a:r>
              <a:rPr sz="1050" b="0" i="0">
                <a:solidFill>
                  <a:srgbClr val="FFFFFF"/>
                </a:solidFill>
                <a:latin typeface="Yu Gothic"/>
                <a:ea typeface="Yu Gothic"/>
                <a:cs typeface="Yu Gothic"/>
              </a:rPr>
              <a:t>力を入れる・軽くする・やめるを</a:t>
            </a:r>
          </a:p>
          <a:p>
            <a:pPr algn="ctr">
              <a:spcAft>
                <a:spcPts val="300"/>
              </a:spcAft>
            </a:pPr>
            <a:r>
              <a:rPr sz="1050" b="0" i="0">
                <a:solidFill>
                  <a:srgbClr val="FFFFFF"/>
                </a:solidFill>
                <a:latin typeface="Yu Gothic"/>
                <a:ea typeface="Yu Gothic"/>
                <a:cs typeface="Yu Gothic"/>
              </a:rPr>
              <a:t>データを見て決める</a:t>
            </a:r>
          </a:p>
        </p:txBody>
      </p:sp>
      <p:sp>
        <p:nvSpPr>
          <p:cNvPr id="17" name="TextBox 16"/>
          <p:cNvSpPr txBox="1"/>
          <p:nvPr/>
        </p:nvSpPr>
        <p:spPr>
          <a:xfrm>
            <a:off x="731520" y="4754880"/>
            <a:ext cx="10972800" cy="822960"/>
          </a:xfrm>
          <a:prstGeom prst="rect">
            <a:avLst/>
          </a:prstGeom>
          <a:noFill/>
        </p:spPr>
        <p:txBody>
          <a:bodyPr wrap="square" lIns="0" rIns="0" tIns="0" bIns="0">
            <a:spAutoFit/>
          </a:bodyPr>
          <a:lstStyle/>
          <a:p>
            <a:pPr algn="l">
              <a:spcAft>
                <a:spcPts val="400"/>
              </a:spcAft>
            </a:pPr>
            <a:r>
              <a:rPr sz="1500" b="1" i="0">
                <a:solidFill>
                  <a:srgbClr val="262630"/>
                </a:solidFill>
                <a:latin typeface="Yu Gothic"/>
                <a:ea typeface="Yu Gothic"/>
                <a:cs typeface="Yu Gothic"/>
              </a:rPr>
              <a:t>順番が大事：見えないものは測れない。測れないものは決められない。</a:t>
            </a:r>
          </a:p>
          <a:p>
            <a:pPr algn="l">
              <a:spcAft>
                <a:spcPts val="400"/>
              </a:spcAft>
            </a:pPr>
            <a:r>
              <a:rPr sz="1300" b="0" i="0">
                <a:solidFill>
                  <a:srgbClr val="5F5F6E"/>
                </a:solidFill>
                <a:latin typeface="Yu Gothic"/>
                <a:ea typeface="Yu Gothic"/>
                <a:cs typeface="Yu Gothic"/>
              </a:rPr>
              <a:t>だから最初の30日は、派手なことをせず「見えるようにする」ことに集中します。</a:t>
            </a:r>
          </a:p>
        </p:txBody>
      </p:sp>
      <p:sp>
        <p:nvSpPr>
          <p:cNvPr id="18" name="Rectangle 17"/>
          <p:cNvSpPr/>
          <p:nvPr/>
        </p:nvSpPr>
        <p:spPr>
          <a:xfrm>
            <a:off x="502920" y="58978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8978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8978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90日たっても完璧なシステムはできません。できるのは「見えない状態が終わっている」こと。それで十分です</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第2部｜第1段階</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5つのリストと、時間の記録——現場の負担は最小限に設計</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1417320" cy="11887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1417320" cy="118872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お客様の</a:t>
            </a:r>
          </a:p>
          <a:p>
            <a:pPr algn="ctr">
              <a:spcAft>
                <a:spcPts val="200"/>
              </a:spcAft>
            </a:pPr>
            <a:r>
              <a:rPr sz="1000" b="1" i="0">
                <a:solidFill>
                  <a:srgbClr val="3A106E"/>
                </a:solidFill>
                <a:latin typeface="Yu Gothic"/>
                <a:ea typeface="Yu Gothic"/>
                <a:cs typeface="Yu Gothic"/>
              </a:rPr>
              <a:t>全リスト</a:t>
            </a:r>
          </a:p>
        </p:txBody>
      </p:sp>
      <p:sp>
        <p:nvSpPr>
          <p:cNvPr id="7" name="Rounded Rectangle 6"/>
          <p:cNvSpPr/>
          <p:nvPr/>
        </p:nvSpPr>
        <p:spPr>
          <a:xfrm>
            <a:off x="2212848" y="2103120"/>
            <a:ext cx="1417320" cy="11887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12848" y="2103120"/>
            <a:ext cx="1417320" cy="118872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案件の</a:t>
            </a:r>
          </a:p>
          <a:p>
            <a:pPr algn="ctr">
              <a:spcAft>
                <a:spcPts val="200"/>
              </a:spcAft>
            </a:pPr>
            <a:r>
              <a:rPr sz="1000" b="1" i="0">
                <a:solidFill>
                  <a:srgbClr val="3A106E"/>
                </a:solidFill>
                <a:latin typeface="Yu Gothic"/>
                <a:ea typeface="Yu Gothic"/>
                <a:cs typeface="Yu Gothic"/>
              </a:rPr>
              <a:t>全リスト</a:t>
            </a:r>
          </a:p>
        </p:txBody>
      </p:sp>
      <p:sp>
        <p:nvSpPr>
          <p:cNvPr id="9" name="Rounded Rectangle 8"/>
          <p:cNvSpPr/>
          <p:nvPr/>
        </p:nvSpPr>
        <p:spPr>
          <a:xfrm>
            <a:off x="3785615" y="2103120"/>
            <a:ext cx="1417320" cy="11887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85615" y="2103120"/>
            <a:ext cx="1417320" cy="118872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提携先の</a:t>
            </a:r>
          </a:p>
          <a:p>
            <a:pPr algn="ctr">
              <a:spcAft>
                <a:spcPts val="200"/>
              </a:spcAft>
            </a:pPr>
            <a:r>
              <a:rPr sz="1000" b="1" i="0">
                <a:solidFill>
                  <a:srgbClr val="3A106E"/>
                </a:solidFill>
                <a:latin typeface="Yu Gothic"/>
                <a:ea typeface="Yu Gothic"/>
                <a:cs typeface="Yu Gothic"/>
              </a:rPr>
              <a:t>リスト</a:t>
            </a:r>
          </a:p>
        </p:txBody>
      </p:sp>
      <p:sp>
        <p:nvSpPr>
          <p:cNvPr id="11" name="Rounded Rectangle 10"/>
          <p:cNvSpPr/>
          <p:nvPr/>
        </p:nvSpPr>
        <p:spPr>
          <a:xfrm>
            <a:off x="5358384" y="2103120"/>
            <a:ext cx="1417320" cy="11887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58384" y="2103120"/>
            <a:ext cx="1417320" cy="118872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経営陣の面談から</a:t>
            </a:r>
          </a:p>
          <a:p>
            <a:pPr algn="ctr">
              <a:spcAft>
                <a:spcPts val="200"/>
              </a:spcAft>
            </a:pPr>
            <a:r>
              <a:rPr sz="1000" b="1" i="0">
                <a:solidFill>
                  <a:srgbClr val="3A106E"/>
                </a:solidFill>
                <a:latin typeface="Yu Gothic"/>
                <a:ea typeface="Yu Gothic"/>
                <a:cs typeface="Yu Gothic"/>
              </a:rPr>
              <a:t>生まれた商談の種</a:t>
            </a:r>
          </a:p>
        </p:txBody>
      </p:sp>
      <p:sp>
        <p:nvSpPr>
          <p:cNvPr id="13" name="Rounded Rectangle 12"/>
          <p:cNvSpPr/>
          <p:nvPr/>
        </p:nvSpPr>
        <p:spPr>
          <a:xfrm>
            <a:off x="6931152" y="2103120"/>
            <a:ext cx="1417320" cy="11887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2103120"/>
            <a:ext cx="1417320" cy="118872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取引が途絶えた</a:t>
            </a:r>
          </a:p>
          <a:p>
            <a:pPr algn="ctr">
              <a:spcAft>
                <a:spcPts val="200"/>
              </a:spcAft>
            </a:pPr>
            <a:r>
              <a:rPr sz="1000" b="1" i="0">
                <a:solidFill>
                  <a:srgbClr val="3A106E"/>
                </a:solidFill>
                <a:latin typeface="Yu Gothic"/>
                <a:ea typeface="Yu Gothic"/>
                <a:cs typeface="Yu Gothic"/>
              </a:rPr>
              <a:t>お客様のリスト</a:t>
            </a:r>
          </a:p>
        </p:txBody>
      </p:sp>
      <p:sp>
        <p:nvSpPr>
          <p:cNvPr id="15" name="Rounded Rectangle 14"/>
          <p:cNvSpPr/>
          <p:nvPr/>
        </p:nvSpPr>
        <p:spPr>
          <a:xfrm>
            <a:off x="8778240" y="2103120"/>
            <a:ext cx="2926080" cy="118872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2103120"/>
            <a:ext cx="2926080" cy="1188720"/>
          </a:xfrm>
          <a:prstGeom prst="rect">
            <a:avLst/>
          </a:prstGeom>
          <a:noFill/>
        </p:spPr>
        <p:txBody>
          <a:bodyPr wrap="square" lIns="0" rIns="0" tIns="0" bIns="0" anchor="ctr">
            <a:spAutoFit/>
          </a:bodyPr>
          <a:lstStyle/>
          <a:p>
            <a:pPr algn="ctr">
              <a:spcAft>
                <a:spcPts val="200"/>
              </a:spcAft>
            </a:pPr>
            <a:r>
              <a:rPr sz="1300" b="1" i="0">
                <a:solidFill>
                  <a:srgbClr val="FFFFFF"/>
                </a:solidFill>
                <a:latin typeface="Yu Gothic"/>
                <a:ea typeface="Yu Gothic"/>
                <a:cs typeface="Yu Gothic"/>
              </a:rPr>
              <a:t>＋ 時間の記録</a:t>
            </a:r>
          </a:p>
          <a:p>
            <a:pPr algn="ctr">
              <a:spcAft>
                <a:spcPts val="200"/>
              </a:spcAft>
            </a:pPr>
            <a:r>
              <a:rPr sz="1050" b="0" i="0">
                <a:solidFill>
                  <a:srgbClr val="FFFFFF"/>
                </a:solidFill>
                <a:latin typeface="Yu Gothic"/>
                <a:ea typeface="Yu Gothic"/>
                <a:cs typeface="Yu Gothic"/>
              </a:rPr>
              <a:t>週15分・90日間だけ</a:t>
            </a:r>
          </a:p>
        </p:txBody>
      </p:sp>
      <p:sp>
        <p:nvSpPr>
          <p:cNvPr id="17" name="TextBox 16"/>
          <p:cNvSpPr txBox="1"/>
          <p:nvPr/>
        </p:nvSpPr>
        <p:spPr>
          <a:xfrm>
            <a:off x="640080" y="3611880"/>
            <a:ext cx="11064240" cy="2103120"/>
          </a:xfrm>
          <a:prstGeom prst="rect">
            <a:avLst/>
          </a:prstGeom>
          <a:noFill/>
        </p:spPr>
        <p:txBody>
          <a:bodyPr wrap="square" lIns="0" rIns="0" tIns="0" bIns="0">
            <a:spAutoFit/>
          </a:bodyPr>
          <a:lstStyle/>
          <a:p>
            <a:pPr algn="l">
              <a:spcAft>
                <a:spcPts val="800"/>
              </a:spcAft>
            </a:pPr>
            <a:r>
              <a:rPr sz="1400" b="1" i="0">
                <a:solidFill>
                  <a:srgbClr val="7823DC"/>
                </a:solidFill>
                <a:latin typeface="Yu Gothic"/>
                <a:ea typeface="Yu Gothic"/>
                <a:cs typeface="Yu Gothic"/>
              </a:rPr>
              <a:t>現場の負担はこれだけ</a:t>
            </a:r>
          </a:p>
          <a:p>
            <a:pPr algn="l">
              <a:spcAft>
                <a:spcPts val="800"/>
              </a:spcAft>
            </a:pPr>
            <a:r>
              <a:rPr sz="1250" b="0" i="0">
                <a:solidFill>
                  <a:srgbClr val="262630"/>
                </a:solidFill>
                <a:latin typeface="Yu Gothic"/>
                <a:ea typeface="Yu Gothic"/>
                <a:cs typeface="Yu Gothic"/>
              </a:rPr>
              <a:t>■ リストの下書きは、請求や契約のデータから事務局が8割作ります。皆さんの部門にお願いするのは、確認と手直しの2〜3時間だけ（初回のみ）</a:t>
            </a:r>
          </a:p>
          <a:p>
            <a:pPr algn="l">
              <a:spcAft>
                <a:spcPts val="800"/>
              </a:spcAft>
            </a:pPr>
            <a:r>
              <a:rPr sz="1250" b="0" i="0">
                <a:solidFill>
                  <a:srgbClr val="262630"/>
                </a:solidFill>
                <a:latin typeface="Yu Gothic"/>
                <a:ea typeface="Yu Gothic"/>
                <a:cs typeface="Yu Gothic"/>
              </a:rPr>
              <a:t>■ 時間の記録は、週に15分・30分単位のざっくりでOK。正確さより続くことを優先します</a:t>
            </a:r>
          </a:p>
          <a:p>
            <a:pPr algn="l">
              <a:spcAft>
                <a:spcPts val="400"/>
              </a:spcAft>
            </a:pPr>
            <a:r>
              <a:rPr sz="1250" b="0" i="0">
                <a:solidFill>
                  <a:srgbClr val="262630"/>
                </a:solidFill>
                <a:latin typeface="Yu Gothic"/>
                <a:ea typeface="Yu Gothic"/>
                <a:cs typeface="Yu Gothic"/>
              </a:rPr>
              <a:t>■ 30日後、「会社全体でいま何が動いているか」が初めて1つの画面で見えるようになります</a:t>
            </a:r>
          </a:p>
        </p:txBody>
      </p:sp>
      <p:sp>
        <p:nvSpPr>
          <p:cNvPr id="18" name="Rectangle 17"/>
          <p:cNvSpPr/>
          <p:nvPr/>
        </p:nvSpPr>
        <p:spPr>
          <a:xfrm>
            <a:off x="502920" y="58978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8978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8978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取引が途絶えたお客様のリストは“宝の山”——過去にご縁のあった先への再提案は、新規開拓より早い</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第2部｜第1段階</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時間の記録について、経営として3つ約束します</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356616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57400" y="187452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1</a:t>
            </a:r>
          </a:p>
        </p:txBody>
      </p:sp>
      <p:sp>
        <p:nvSpPr>
          <p:cNvPr id="8" name="TextBox 7"/>
          <p:cNvSpPr txBox="1"/>
          <p:nvPr/>
        </p:nvSpPr>
        <p:spPr>
          <a:xfrm>
            <a:off x="82296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評価に使わない</a:t>
            </a:r>
          </a:p>
        </p:txBody>
      </p:sp>
      <p:sp>
        <p:nvSpPr>
          <p:cNvPr id="9" name="TextBox 8"/>
          <p:cNvSpPr txBox="1"/>
          <p:nvPr/>
        </p:nvSpPr>
        <p:spPr>
          <a:xfrm>
            <a:off x="96012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人事評価には一切使いません。</a:t>
            </a:r>
          </a:p>
          <a:p>
            <a:pPr algn="l">
              <a:spcAft>
                <a:spcPts val="400"/>
              </a:spcAft>
            </a:pPr>
            <a:r>
              <a:rPr sz="1100" b="0" i="0">
                <a:solidFill>
                  <a:srgbClr val="262630"/>
                </a:solidFill>
                <a:latin typeface="Yu Gothic"/>
                <a:ea typeface="Yu Gothic"/>
                <a:cs typeface="Yu Gothic"/>
              </a:rPr>
              <a:t>経営陣の名前で全社に宣言してから</a:t>
            </a:r>
          </a:p>
          <a:p>
            <a:pPr algn="l">
              <a:spcAft>
                <a:spcPts val="400"/>
              </a:spcAft>
            </a:pPr>
            <a:r>
              <a:rPr sz="1100" b="0" i="0">
                <a:solidFill>
                  <a:srgbClr val="262630"/>
                </a:solidFill>
                <a:latin typeface="Yu Gothic"/>
                <a:ea typeface="Yu Gothic"/>
                <a:cs typeface="Yu Gothic"/>
              </a:rPr>
              <a:t>始めます。</a:t>
            </a:r>
          </a:p>
        </p:txBody>
      </p:sp>
      <p:sp>
        <p:nvSpPr>
          <p:cNvPr id="10" name="Rounded Rectangle 9"/>
          <p:cNvSpPr/>
          <p:nvPr/>
        </p:nvSpPr>
        <p:spPr>
          <a:xfrm>
            <a:off x="4434840" y="2194560"/>
            <a:ext cx="356616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52160" y="187452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2</a:t>
            </a:r>
          </a:p>
        </p:txBody>
      </p:sp>
      <p:sp>
        <p:nvSpPr>
          <p:cNvPr id="13" name="TextBox 12"/>
          <p:cNvSpPr txBox="1"/>
          <p:nvPr/>
        </p:nvSpPr>
        <p:spPr>
          <a:xfrm>
            <a:off x="461772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明細は見られない</a:t>
            </a:r>
          </a:p>
        </p:txBody>
      </p:sp>
      <p:sp>
        <p:nvSpPr>
          <p:cNvPr id="14" name="TextBox 13"/>
          <p:cNvSpPr txBox="1"/>
          <p:nvPr/>
        </p:nvSpPr>
        <p:spPr>
          <a:xfrm>
            <a:off x="475488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一人ひとりの記録の明細を見られるのは</a:t>
            </a:r>
          </a:p>
          <a:p>
            <a:pPr algn="l">
              <a:spcAft>
                <a:spcPts val="400"/>
              </a:spcAft>
            </a:pPr>
            <a:r>
              <a:rPr sz="1100" b="0" i="0">
                <a:solidFill>
                  <a:srgbClr val="262630"/>
                </a:solidFill>
                <a:latin typeface="Yu Gothic"/>
                <a:ea typeface="Yu Gothic"/>
                <a:cs typeface="Yu Gothic"/>
              </a:rPr>
              <a:t>本人と事務局だけ。上司に渡るのは</a:t>
            </a:r>
          </a:p>
          <a:p>
            <a:pPr algn="l">
              <a:spcAft>
                <a:spcPts val="400"/>
              </a:spcAft>
            </a:pPr>
            <a:r>
              <a:rPr sz="1100" b="0" i="0">
                <a:solidFill>
                  <a:srgbClr val="262630"/>
                </a:solidFill>
                <a:latin typeface="Yu Gothic"/>
                <a:ea typeface="Yu Gothic"/>
                <a:cs typeface="Yu Gothic"/>
              </a:rPr>
              <a:t>チーム単位の集計だけです。</a:t>
            </a:r>
          </a:p>
        </p:txBody>
      </p:sp>
      <p:sp>
        <p:nvSpPr>
          <p:cNvPr id="15" name="Rounded Rectangle 14"/>
          <p:cNvSpPr/>
          <p:nvPr/>
        </p:nvSpPr>
        <p:spPr>
          <a:xfrm>
            <a:off x="8229600" y="2194560"/>
            <a:ext cx="3566160" cy="26517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46920" y="187452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3</a:t>
            </a:r>
          </a:p>
        </p:txBody>
      </p:sp>
      <p:sp>
        <p:nvSpPr>
          <p:cNvPr id="18" name="TextBox 17"/>
          <p:cNvSpPr txBox="1"/>
          <p:nvPr/>
        </p:nvSpPr>
        <p:spPr>
          <a:xfrm>
            <a:off x="841248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重ければ直す</a:t>
            </a:r>
          </a:p>
        </p:txBody>
      </p:sp>
      <p:sp>
        <p:nvSpPr>
          <p:cNvPr id="19" name="TextBox 18"/>
          <p:cNvSpPr txBox="1"/>
          <p:nvPr/>
        </p:nvSpPr>
        <p:spPr>
          <a:xfrm>
            <a:off x="854964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入力が週15分を超えるようなら、</a:t>
            </a:r>
          </a:p>
          <a:p>
            <a:pPr algn="l">
              <a:spcAft>
                <a:spcPts val="400"/>
              </a:spcAft>
            </a:pPr>
            <a:r>
              <a:rPr sz="1100" b="0" i="0">
                <a:solidFill>
                  <a:srgbClr val="262630"/>
                </a:solidFill>
                <a:latin typeface="Yu Gothic"/>
                <a:ea typeface="Yu Gothic"/>
                <a:cs typeface="Yu Gothic"/>
              </a:rPr>
              <a:t>我慢せず言ってください。</a:t>
            </a:r>
          </a:p>
          <a:p>
            <a:pPr algn="l">
              <a:spcAft>
                <a:spcPts val="400"/>
              </a:spcAft>
            </a:pPr>
            <a:r>
              <a:rPr sz="1100" b="0" i="0">
                <a:solidFill>
                  <a:srgbClr val="262630"/>
                </a:solidFill>
                <a:latin typeface="Yu Gothic"/>
                <a:ea typeface="Yu Gothic"/>
                <a:cs typeface="Yu Gothic"/>
              </a:rPr>
              <a:t>直すのは仕組みの側です。</a:t>
            </a:r>
          </a:p>
        </p:txBody>
      </p:sp>
      <p:sp>
        <p:nvSpPr>
          <p:cNvPr id="20" name="TextBox 19"/>
          <p:cNvSpPr txBox="1"/>
          <p:nvPr/>
        </p:nvSpPr>
        <p:spPr>
          <a:xfrm>
            <a:off x="640080" y="5212080"/>
            <a:ext cx="10972800" cy="548640"/>
          </a:xfrm>
          <a:prstGeom prst="rect">
            <a:avLst/>
          </a:prstGeom>
          <a:noFill/>
        </p:spPr>
        <p:txBody>
          <a:bodyPr wrap="square" lIns="0" rIns="0" tIns="0" bIns="0">
            <a:spAutoFit/>
          </a:bodyPr>
          <a:lstStyle/>
          <a:p>
            <a:pPr algn="l">
              <a:spcAft>
                <a:spcPts val="400"/>
              </a:spcAft>
            </a:pPr>
            <a:r>
              <a:rPr sz="1250" b="1" i="0">
                <a:solidFill>
                  <a:srgbClr val="3A106E"/>
                </a:solidFill>
                <a:latin typeface="Yu Gothic"/>
                <a:ea typeface="Yu Gothic"/>
                <a:cs typeface="Yu Gothic"/>
              </a:rPr>
              <a:t>なぜ記録するのか：「この案件は年間◯◯時間かかっている」と数字で言えると、省力化や増員を会社に求める根拠になる——記録は現場を守る武器です</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第2部｜第2段階</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案件を7つの観点で点数化し、顧客を重要度でランク分けする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売上</a:t>
            </a:r>
          </a:p>
        </p:txBody>
      </p:sp>
      <p:sp>
        <p:nvSpPr>
          <p:cNvPr id="7" name="Oval 6"/>
          <p:cNvSpPr/>
          <p:nvPr/>
        </p:nvSpPr>
        <p:spPr>
          <a:xfrm>
            <a:off x="2121408"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21408"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利益</a:t>
            </a:r>
          </a:p>
        </p:txBody>
      </p:sp>
      <p:sp>
        <p:nvSpPr>
          <p:cNvPr id="9" name="Oval 8"/>
          <p:cNvSpPr/>
          <p:nvPr/>
        </p:nvSpPr>
        <p:spPr>
          <a:xfrm>
            <a:off x="3602736"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手間</a:t>
            </a:r>
          </a:p>
        </p:txBody>
      </p:sp>
      <p:sp>
        <p:nvSpPr>
          <p:cNvPr id="11" name="Oval 10"/>
          <p:cNvSpPr/>
          <p:nvPr/>
        </p:nvSpPr>
        <p:spPr>
          <a:xfrm>
            <a:off x="5084064"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4064"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将来性</a:t>
            </a:r>
          </a:p>
        </p:txBody>
      </p:sp>
      <p:sp>
        <p:nvSpPr>
          <p:cNvPr id="13" name="Oval 12"/>
          <p:cNvSpPr/>
          <p:nvPr/>
        </p:nvSpPr>
        <p:spPr>
          <a:xfrm>
            <a:off x="6565392"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ファンとの</a:t>
            </a:r>
          </a:p>
          <a:p>
            <a:pPr algn="ctr">
              <a:spcAft>
                <a:spcPts val="200"/>
              </a:spcAft>
            </a:pPr>
            <a:r>
              <a:rPr sz="1000" b="1" i="0">
                <a:solidFill>
                  <a:srgbClr val="3A106E"/>
                </a:solidFill>
                <a:latin typeface="Yu Gothic"/>
                <a:ea typeface="Yu Gothic"/>
                <a:cs typeface="Yu Gothic"/>
              </a:rPr>
              <a:t>つながり</a:t>
            </a:r>
          </a:p>
        </p:txBody>
      </p:sp>
      <p:sp>
        <p:nvSpPr>
          <p:cNvPr id="15" name="Oval 14"/>
          <p:cNvSpPr/>
          <p:nvPr/>
        </p:nvSpPr>
        <p:spPr>
          <a:xfrm>
            <a:off x="8046720"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海外への</a:t>
            </a:r>
          </a:p>
          <a:p>
            <a:pPr algn="ctr">
              <a:spcAft>
                <a:spcPts val="200"/>
              </a:spcAft>
            </a:pPr>
            <a:r>
              <a:rPr sz="1000" b="1" i="0">
                <a:solidFill>
                  <a:srgbClr val="3A106E"/>
                </a:solidFill>
                <a:latin typeface="Yu Gothic"/>
                <a:ea typeface="Yu Gothic"/>
                <a:cs typeface="Yu Gothic"/>
              </a:rPr>
              <a:t>広がり</a:t>
            </a:r>
          </a:p>
        </p:txBody>
      </p:sp>
      <p:sp>
        <p:nvSpPr>
          <p:cNvPr id="17" name="Oval 16"/>
          <p:cNvSpPr/>
          <p:nvPr/>
        </p:nvSpPr>
        <p:spPr>
          <a:xfrm>
            <a:off x="9528048" y="2057400"/>
            <a:ext cx="1325880" cy="1325880"/>
          </a:xfrm>
          <a:prstGeom prst="ellipse">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8048" y="2057400"/>
            <a:ext cx="1325880" cy="1325880"/>
          </a:xfrm>
          <a:prstGeom prst="rect">
            <a:avLst/>
          </a:prstGeom>
          <a:noFill/>
        </p:spPr>
        <p:txBody>
          <a:bodyPr wrap="square" lIns="0" rIns="0" tIns="0" bIns="0" anchor="ctr">
            <a:spAutoFit/>
          </a:bodyPr>
          <a:lstStyle/>
          <a:p>
            <a:pPr algn="ctr">
              <a:spcAft>
                <a:spcPts val="200"/>
              </a:spcAft>
            </a:pPr>
            <a:r>
              <a:rPr sz="1000" b="1" i="0">
                <a:solidFill>
                  <a:srgbClr val="3A106E"/>
                </a:solidFill>
                <a:latin typeface="Yu Gothic"/>
                <a:ea typeface="Yu Gothic"/>
                <a:cs typeface="Yu Gothic"/>
              </a:rPr>
              <a:t>ブランドへの</a:t>
            </a:r>
          </a:p>
          <a:p>
            <a:pPr algn="ctr">
              <a:spcAft>
                <a:spcPts val="200"/>
              </a:spcAft>
            </a:pPr>
            <a:r>
              <a:rPr sz="1000" b="1" i="0">
                <a:solidFill>
                  <a:srgbClr val="3A106E"/>
                </a:solidFill>
                <a:latin typeface="Yu Gothic"/>
                <a:ea typeface="Yu Gothic"/>
                <a:cs typeface="Yu Gothic"/>
              </a:rPr>
              <a:t>影響</a:t>
            </a:r>
          </a:p>
        </p:txBody>
      </p:sp>
      <p:sp>
        <p:nvSpPr>
          <p:cNvPr id="19" name="Down Arrow 18"/>
          <p:cNvSpPr/>
          <p:nvPr/>
        </p:nvSpPr>
        <p:spPr>
          <a:xfrm>
            <a:off x="5760720" y="3566160"/>
            <a:ext cx="640080" cy="548640"/>
          </a:xfrm>
          <a:prstGeom prst="downArrow">
            <a:avLst/>
          </a:prstGeom>
          <a:solidFill>
            <a:srgbClr val="F7F7F9"/>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463040" y="4251960"/>
            <a:ext cx="2194560" cy="114300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4251960"/>
            <a:ext cx="2194560" cy="114300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S</a:t>
            </a:r>
          </a:p>
          <a:p>
            <a:pPr algn="ctr">
              <a:spcAft>
                <a:spcPts val="200"/>
              </a:spcAft>
            </a:pPr>
            <a:r>
              <a:rPr sz="1000" b="0" i="0">
                <a:solidFill>
                  <a:srgbClr val="FFFFFF"/>
                </a:solidFill>
                <a:latin typeface="Yu Gothic"/>
                <a:ea typeface="Yu Gothic"/>
                <a:cs typeface="Yu Gothic"/>
              </a:rPr>
              <a:t>経営陣も出て</a:t>
            </a:r>
          </a:p>
          <a:p>
            <a:pPr algn="ctr">
              <a:spcAft>
                <a:spcPts val="200"/>
              </a:spcAft>
            </a:pPr>
            <a:r>
              <a:rPr sz="1000" b="0" i="0">
                <a:solidFill>
                  <a:srgbClr val="FFFFFF"/>
                </a:solidFill>
                <a:latin typeface="Yu Gothic"/>
                <a:ea typeface="Yu Gothic"/>
                <a:cs typeface="Yu Gothic"/>
              </a:rPr>
              <a:t>力を入れる</a:t>
            </a:r>
          </a:p>
        </p:txBody>
      </p:sp>
      <p:sp>
        <p:nvSpPr>
          <p:cNvPr id="22" name="Rounded Rectangle 21"/>
          <p:cNvSpPr/>
          <p:nvPr/>
        </p:nvSpPr>
        <p:spPr>
          <a:xfrm>
            <a:off x="3886200" y="4251960"/>
            <a:ext cx="2194560" cy="114300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4251960"/>
            <a:ext cx="2194560" cy="114300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A</a:t>
            </a:r>
          </a:p>
          <a:p>
            <a:pPr algn="ctr">
              <a:spcAft>
                <a:spcPts val="200"/>
              </a:spcAft>
            </a:pPr>
            <a:r>
              <a:rPr sz="1000" b="0" i="0">
                <a:solidFill>
                  <a:srgbClr val="FFFFFF"/>
                </a:solidFill>
                <a:latin typeface="Yu Gothic"/>
                <a:ea typeface="Yu Gothic"/>
                <a:cs typeface="Yu Gothic"/>
              </a:rPr>
              <a:t>重点的に</a:t>
            </a:r>
          </a:p>
          <a:p>
            <a:pPr algn="ctr">
              <a:spcAft>
                <a:spcPts val="200"/>
              </a:spcAft>
            </a:pPr>
            <a:r>
              <a:rPr sz="1000" b="0" i="0">
                <a:solidFill>
                  <a:srgbClr val="FFFFFF"/>
                </a:solidFill>
                <a:latin typeface="Yu Gothic"/>
                <a:ea typeface="Yu Gothic"/>
                <a:cs typeface="Yu Gothic"/>
              </a:rPr>
              <a:t>進める</a:t>
            </a:r>
          </a:p>
        </p:txBody>
      </p:sp>
      <p:sp>
        <p:nvSpPr>
          <p:cNvPr id="24" name="Rounded Rectangle 23"/>
          <p:cNvSpPr/>
          <p:nvPr/>
        </p:nvSpPr>
        <p:spPr>
          <a:xfrm>
            <a:off x="6309360" y="4251960"/>
            <a:ext cx="2194560" cy="11430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4251960"/>
            <a:ext cx="2194560" cy="114300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B</a:t>
            </a:r>
          </a:p>
          <a:p>
            <a:pPr algn="ctr">
              <a:spcAft>
                <a:spcPts val="200"/>
              </a:spcAft>
            </a:pPr>
            <a:r>
              <a:rPr sz="1000" b="0" i="0">
                <a:solidFill>
                  <a:srgbClr val="3A106E"/>
                </a:solidFill>
                <a:latin typeface="Yu Gothic"/>
                <a:ea typeface="Yu Gothic"/>
                <a:cs typeface="Yu Gothic"/>
              </a:rPr>
              <a:t>標準の対応で</a:t>
            </a:r>
          </a:p>
          <a:p>
            <a:pPr algn="ctr">
              <a:spcAft>
                <a:spcPts val="200"/>
              </a:spcAft>
            </a:pPr>
            <a:r>
              <a:rPr sz="1000" b="0" i="0">
                <a:solidFill>
                  <a:srgbClr val="3A106E"/>
                </a:solidFill>
                <a:latin typeface="Yu Gothic"/>
                <a:ea typeface="Yu Gothic"/>
                <a:cs typeface="Yu Gothic"/>
              </a:rPr>
              <a:t>進める</a:t>
            </a:r>
          </a:p>
        </p:txBody>
      </p:sp>
      <p:sp>
        <p:nvSpPr>
          <p:cNvPr id="26" name="Rounded Rectangle 25"/>
          <p:cNvSpPr/>
          <p:nvPr/>
        </p:nvSpPr>
        <p:spPr>
          <a:xfrm>
            <a:off x="8732519" y="4251960"/>
            <a:ext cx="2194560" cy="11430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19" y="4251960"/>
            <a:ext cx="2194560" cy="114300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C</a:t>
            </a:r>
          </a:p>
          <a:p>
            <a:pPr algn="ctr">
              <a:spcAft>
                <a:spcPts val="200"/>
              </a:spcAft>
            </a:pPr>
            <a:r>
              <a:rPr sz="1000" b="0" i="0">
                <a:solidFill>
                  <a:srgbClr val="3A106E"/>
                </a:solidFill>
                <a:latin typeface="Yu Gothic"/>
                <a:ea typeface="Yu Gothic"/>
                <a:cs typeface="Yu Gothic"/>
              </a:rPr>
              <a:t>軽くする・</a:t>
            </a:r>
          </a:p>
          <a:p>
            <a:pPr algn="ctr">
              <a:spcAft>
                <a:spcPts val="200"/>
              </a:spcAft>
            </a:pPr>
            <a:r>
              <a:rPr sz="1000" b="0" i="0">
                <a:solidFill>
                  <a:srgbClr val="3A106E"/>
                </a:solidFill>
                <a:latin typeface="Yu Gothic"/>
                <a:ea typeface="Yu Gothic"/>
                <a:cs typeface="Yu Gothic"/>
              </a:rPr>
              <a:t>やめるを検討</a:t>
            </a:r>
          </a:p>
        </p:txBody>
      </p:sp>
      <p:sp>
        <p:nvSpPr>
          <p:cNvPr id="28" name="TextBox 27"/>
          <p:cNvSpPr txBox="1"/>
          <p:nvPr/>
        </p:nvSpPr>
        <p:spPr>
          <a:xfrm>
            <a:off x="640080" y="5532120"/>
            <a:ext cx="10972800" cy="365760"/>
          </a:xfrm>
          <a:prstGeom prst="rect">
            <a:avLst/>
          </a:prstGeom>
          <a:noFill/>
        </p:spPr>
        <p:txBody>
          <a:bodyPr wrap="square" lIns="0" rIns="0" tIns="0" bIns="0">
            <a:spAutoFit/>
          </a:bodyPr>
          <a:lstStyle/>
          <a:p>
            <a:pPr algn="l">
              <a:spcAft>
                <a:spcPts val="400"/>
              </a:spcAft>
            </a:pPr>
            <a:r>
              <a:rPr sz="1200" b="1" i="0">
                <a:solidFill>
                  <a:srgbClr val="262630"/>
                </a:solidFill>
                <a:latin typeface="Yu Gothic"/>
                <a:ea typeface="Yu Gothic"/>
                <a:cs typeface="Yu Gothic"/>
              </a:rPr>
              <a:t>採点の基準（どの観点を重くするか）は経営陣の検討会で決めます。売上が小さくても将来性のある案件が埋もれない物差しにします</a:t>
            </a:r>
          </a:p>
        </p:txBody>
      </p:sp>
      <p:sp>
        <p:nvSpPr>
          <p:cNvPr id="29" name="Rectangle 28"/>
          <p:cNvSpPr/>
          <p:nvPr/>
        </p:nvSpPr>
        <p:spPr>
          <a:xfrm>
            <a:off x="502920" y="598932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98932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98932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点数は機械的な合否ではなく「会議の共通言語」。最後に判断するのは人です</a:t>
            </a:r>
          </a:p>
        </p:txBody>
      </p:sp>
      <p:sp>
        <p:nvSpPr>
          <p:cNvPr id="32" name="TextBox 31"/>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33" name="TextBox 32"/>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第2部｜第3段階</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「やめる・軽くする」を、現場ではなく会社が決める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286000"/>
            <a:ext cx="2834640" cy="118872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2834640" cy="1188720"/>
          </a:xfrm>
          <a:prstGeom prst="rect">
            <a:avLst/>
          </a:prstGeom>
          <a:noFill/>
        </p:spPr>
        <p:txBody>
          <a:bodyPr wrap="square" lIns="0" rIns="0" tIns="0" bIns="0" anchor="ctr">
            <a:spAutoFit/>
          </a:bodyPr>
          <a:lstStyle/>
          <a:p>
            <a:pPr algn="ctr">
              <a:spcAft>
                <a:spcPts val="200"/>
              </a:spcAft>
            </a:pPr>
            <a:r>
              <a:rPr sz="1200" b="0" i="0">
                <a:solidFill>
                  <a:srgbClr val="262630"/>
                </a:solidFill>
                <a:latin typeface="Yu Gothic"/>
                <a:ea typeface="Yu Gothic"/>
                <a:cs typeface="Yu Gothic"/>
              </a:rPr>
              <a:t>全案件を</a:t>
            </a:r>
          </a:p>
          <a:p>
            <a:pPr algn="ctr">
              <a:spcAft>
                <a:spcPts val="200"/>
              </a:spcAft>
            </a:pPr>
            <a:r>
              <a:rPr sz="1400" b="1" i="0">
                <a:solidFill>
                  <a:srgbClr val="3A106E"/>
                </a:solidFill>
                <a:latin typeface="Yu Gothic"/>
                <a:ea typeface="Yu Gothic"/>
                <a:cs typeface="Yu Gothic"/>
              </a:rPr>
              <a:t>物差しで測る</a:t>
            </a:r>
          </a:p>
        </p:txBody>
      </p:sp>
      <p:sp>
        <p:nvSpPr>
          <p:cNvPr id="7" name="Right Arrow 6"/>
          <p:cNvSpPr/>
          <p:nvPr/>
        </p:nvSpPr>
        <p:spPr>
          <a:xfrm>
            <a:off x="3611880" y="2606040"/>
            <a:ext cx="731520" cy="548640"/>
          </a:xfrm>
          <a:prstGeom prst="rightArrow">
            <a:avLst/>
          </a:prstGeom>
          <a:solidFill>
            <a:srgbClr val="F7F7F9"/>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0" y="1828800"/>
            <a:ext cx="7132320" cy="100584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901952"/>
            <a:ext cx="6675120" cy="411480"/>
          </a:xfrm>
          <a:prstGeom prst="rect">
            <a:avLst/>
          </a:prstGeom>
          <a:noFill/>
        </p:spPr>
        <p:txBody>
          <a:bodyPr wrap="square" lIns="0" rIns="0" tIns="0" bIns="0" anchor="ctr">
            <a:spAutoFit/>
          </a:bodyPr>
          <a:lstStyle/>
          <a:p>
            <a:pPr algn="l">
              <a:spcAft>
                <a:spcPts val="200"/>
              </a:spcAft>
            </a:pPr>
            <a:r>
              <a:rPr sz="1400" b="1" i="0">
                <a:solidFill>
                  <a:srgbClr val="FFFFFF"/>
                </a:solidFill>
                <a:latin typeface="Yu Gothic"/>
                <a:ea typeface="Yu Gothic"/>
                <a:cs typeface="Yu Gothic"/>
              </a:rPr>
              <a:t>力を入れる</a:t>
            </a:r>
          </a:p>
        </p:txBody>
      </p:sp>
      <p:sp>
        <p:nvSpPr>
          <p:cNvPr id="10" name="TextBox 9"/>
          <p:cNvSpPr txBox="1"/>
          <p:nvPr/>
        </p:nvSpPr>
        <p:spPr>
          <a:xfrm>
            <a:off x="4800600" y="2304288"/>
            <a:ext cx="6675120" cy="457200"/>
          </a:xfrm>
          <a:prstGeom prst="rect">
            <a:avLst/>
          </a:prstGeom>
          <a:noFill/>
        </p:spPr>
        <p:txBody>
          <a:bodyPr wrap="square" lIns="0" rIns="0" tIns="0" bIns="0" anchor="ctr">
            <a:spAutoFit/>
          </a:bodyPr>
          <a:lstStyle/>
          <a:p>
            <a:pPr algn="l">
              <a:spcAft>
                <a:spcPts val="200"/>
              </a:spcAft>
            </a:pPr>
            <a:r>
              <a:rPr sz="1050" b="0" i="0">
                <a:solidFill>
                  <a:srgbClr val="FFFFFF"/>
                </a:solidFill>
                <a:latin typeface="Yu Gothic"/>
                <a:ea typeface="Yu Gothic"/>
                <a:cs typeface="Yu Gothic"/>
              </a:rPr>
              <a:t>人と時間を寄せる。経営陣も面談に出る</a:t>
            </a:r>
          </a:p>
        </p:txBody>
      </p:sp>
      <p:sp>
        <p:nvSpPr>
          <p:cNvPr id="11" name="Rounded Rectangle 10"/>
          <p:cNvSpPr/>
          <p:nvPr/>
        </p:nvSpPr>
        <p:spPr>
          <a:xfrm>
            <a:off x="4572000" y="3017520"/>
            <a:ext cx="7132320" cy="1005840"/>
          </a:xfrm>
          <a:prstGeom prst="round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3090672"/>
            <a:ext cx="6675120" cy="411480"/>
          </a:xfrm>
          <a:prstGeom prst="rect">
            <a:avLst/>
          </a:prstGeom>
          <a:noFill/>
        </p:spPr>
        <p:txBody>
          <a:bodyPr wrap="square" lIns="0" rIns="0" tIns="0" bIns="0" anchor="ctr">
            <a:spAutoFit/>
          </a:bodyPr>
          <a:lstStyle/>
          <a:p>
            <a:pPr algn="l">
              <a:spcAft>
                <a:spcPts val="200"/>
              </a:spcAft>
            </a:pPr>
            <a:r>
              <a:rPr sz="1400" b="1" i="0">
                <a:solidFill>
                  <a:srgbClr val="3A106E"/>
                </a:solidFill>
                <a:latin typeface="Yu Gothic"/>
                <a:ea typeface="Yu Gothic"/>
                <a:cs typeface="Yu Gothic"/>
              </a:rPr>
              <a:t>軽くする</a:t>
            </a:r>
          </a:p>
        </p:txBody>
      </p:sp>
      <p:sp>
        <p:nvSpPr>
          <p:cNvPr id="13" name="TextBox 12"/>
          <p:cNvSpPr txBox="1"/>
          <p:nvPr/>
        </p:nvSpPr>
        <p:spPr>
          <a:xfrm>
            <a:off x="4800600" y="3493008"/>
            <a:ext cx="6675120" cy="457200"/>
          </a:xfrm>
          <a:prstGeom prst="rect">
            <a:avLst/>
          </a:prstGeom>
          <a:noFill/>
        </p:spPr>
        <p:txBody>
          <a:bodyPr wrap="square" lIns="0" rIns="0" tIns="0" bIns="0" anchor="ctr">
            <a:spAutoFit/>
          </a:bodyPr>
          <a:lstStyle/>
          <a:p>
            <a:pPr algn="l">
              <a:spcAft>
                <a:spcPts val="200"/>
              </a:spcAft>
            </a:pPr>
            <a:r>
              <a:rPr sz="1050" b="0" i="0">
                <a:solidFill>
                  <a:srgbClr val="3A106E"/>
                </a:solidFill>
                <a:latin typeface="Yu Gothic"/>
                <a:ea typeface="Yu Gothic"/>
                <a:cs typeface="Yu Gothic"/>
              </a:rPr>
              <a:t>標準の型で効率よく回す（監修も簡易ルートに）</a:t>
            </a:r>
          </a:p>
        </p:txBody>
      </p:sp>
      <p:sp>
        <p:nvSpPr>
          <p:cNvPr id="14" name="Rounded Rectangle 13"/>
          <p:cNvSpPr/>
          <p:nvPr/>
        </p:nvSpPr>
        <p:spPr>
          <a:xfrm>
            <a:off x="4572000" y="4206240"/>
            <a:ext cx="7132320" cy="100584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4279392"/>
            <a:ext cx="6675120" cy="411480"/>
          </a:xfrm>
          <a:prstGeom prst="rect">
            <a:avLst/>
          </a:prstGeom>
          <a:noFill/>
        </p:spPr>
        <p:txBody>
          <a:bodyPr wrap="square" lIns="0" rIns="0" tIns="0" bIns="0" anchor="ctr">
            <a:spAutoFit/>
          </a:bodyPr>
          <a:lstStyle/>
          <a:p>
            <a:pPr algn="l">
              <a:spcAft>
                <a:spcPts val="200"/>
              </a:spcAft>
            </a:pPr>
            <a:r>
              <a:rPr sz="1400" b="1" i="0">
                <a:solidFill>
                  <a:srgbClr val="262630"/>
                </a:solidFill>
                <a:latin typeface="Yu Gothic"/>
                <a:ea typeface="Yu Gothic"/>
                <a:cs typeface="Yu Gothic"/>
              </a:rPr>
              <a:t>やめる</a:t>
            </a:r>
          </a:p>
        </p:txBody>
      </p:sp>
      <p:sp>
        <p:nvSpPr>
          <p:cNvPr id="16" name="TextBox 15"/>
          <p:cNvSpPr txBox="1"/>
          <p:nvPr/>
        </p:nvSpPr>
        <p:spPr>
          <a:xfrm>
            <a:off x="4800600" y="4681728"/>
            <a:ext cx="6675120" cy="457200"/>
          </a:xfrm>
          <a:prstGeom prst="rect">
            <a:avLst/>
          </a:prstGeom>
          <a:noFill/>
        </p:spPr>
        <p:txBody>
          <a:bodyPr wrap="square" lIns="0" rIns="0" tIns="0" bIns="0" anchor="ctr">
            <a:spAutoFit/>
          </a:bodyPr>
          <a:lstStyle/>
          <a:p>
            <a:pPr algn="l">
              <a:spcAft>
                <a:spcPts val="200"/>
              </a:spcAft>
            </a:pPr>
            <a:r>
              <a:rPr sz="1050" b="0" i="0">
                <a:solidFill>
                  <a:srgbClr val="262630"/>
                </a:solidFill>
                <a:latin typeface="Yu Gothic"/>
                <a:ea typeface="Yu Gothic"/>
                <a:cs typeface="Yu Gothic"/>
              </a:rPr>
              <a:t>契約満了時に更新しない等。お客様への丁寧な伝え方も会社が型を用意</a:t>
            </a:r>
          </a:p>
        </p:txBody>
      </p:sp>
      <p:sp>
        <p:nvSpPr>
          <p:cNvPr id="17" name="TextBox 16"/>
          <p:cNvSpPr txBox="1"/>
          <p:nvPr/>
        </p:nvSpPr>
        <p:spPr>
          <a:xfrm>
            <a:off x="640080" y="5486400"/>
            <a:ext cx="10972800" cy="365760"/>
          </a:xfrm>
          <a:prstGeom prst="rect">
            <a:avLst/>
          </a:prstGeom>
          <a:noFill/>
        </p:spPr>
        <p:txBody>
          <a:bodyPr wrap="square" lIns="0" rIns="0" tIns="0" bIns="0">
            <a:spAutoFit/>
          </a:bodyPr>
          <a:lstStyle/>
          <a:p>
            <a:pPr algn="l">
              <a:spcAft>
                <a:spcPts val="400"/>
              </a:spcAft>
            </a:pPr>
            <a:r>
              <a:rPr sz="1250" b="1" i="0">
                <a:solidFill>
                  <a:srgbClr val="3A106E"/>
                </a:solidFill>
                <a:latin typeface="Yu Gothic"/>
                <a:ea typeface="Yu Gothic"/>
                <a:cs typeface="Yu Gothic"/>
              </a:rPr>
              <a:t>大事な設計：「やめたい」と現場が言い出す必要はありません。データをもとに事務局が起案し、経営が決めて、経営が責任を持ちます</a:t>
            </a:r>
          </a:p>
        </p:txBody>
      </p:sp>
      <p:sp>
        <p:nvSpPr>
          <p:cNvPr id="18" name="Rectangle 17"/>
          <p:cNvSpPr/>
          <p:nvPr/>
        </p:nvSpPr>
        <p:spPr>
          <a:xfrm>
            <a:off x="502920" y="594360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94360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94360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空いた時間の行き先（重点案件・新しいお客様づくり）まで必ずセットで決めます。「減らして終わり」にはしません</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第2部｜現場への返礼</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お願いより先に、現場が楽になることを始めます</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57400" y="187452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1</a:t>
            </a:r>
          </a:p>
        </p:txBody>
      </p:sp>
      <p:sp>
        <p:nvSpPr>
          <p:cNvPr id="8" name="TextBox 7"/>
          <p:cNvSpPr txBox="1"/>
          <p:nvPr/>
        </p:nvSpPr>
        <p:spPr>
          <a:xfrm>
            <a:off x="82296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会議資料づくりを廃止</a:t>
            </a:r>
          </a:p>
        </p:txBody>
      </p:sp>
      <p:sp>
        <p:nvSpPr>
          <p:cNvPr id="9" name="TextBox 8"/>
          <p:cNvSpPr txBox="1"/>
          <p:nvPr/>
        </p:nvSpPr>
        <p:spPr>
          <a:xfrm>
            <a:off x="96012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報告用のパワポ・Excel資料は作りません。</a:t>
            </a:r>
          </a:p>
          <a:p>
            <a:pPr algn="l">
              <a:spcAft>
                <a:spcPts val="400"/>
              </a:spcAft>
            </a:pPr>
            <a:r>
              <a:rPr sz="1100" b="0" i="0">
                <a:solidFill>
                  <a:srgbClr val="262630"/>
                </a:solidFill>
                <a:latin typeface="Yu Gothic"/>
                <a:ea typeface="Yu Gothic"/>
                <a:cs typeface="Yu Gothic"/>
              </a:rPr>
              <a:t>会議はリストの画面をそのまま映して</a:t>
            </a:r>
          </a:p>
          <a:p>
            <a:pPr algn="l">
              <a:spcAft>
                <a:spcPts val="400"/>
              </a:spcAft>
            </a:pPr>
            <a:r>
              <a:rPr sz="1100" b="0" i="0">
                <a:solidFill>
                  <a:srgbClr val="262630"/>
                </a:solidFill>
                <a:latin typeface="Yu Gothic"/>
                <a:ea typeface="Yu Gothic"/>
                <a:cs typeface="Yu Gothic"/>
              </a:rPr>
              <a:t>行います。</a:t>
            </a:r>
          </a:p>
        </p:txBody>
      </p:sp>
      <p:sp>
        <p:nvSpPr>
          <p:cNvPr id="10" name="Rounded Rectangle 9"/>
          <p:cNvSpPr/>
          <p:nvPr/>
        </p:nvSpPr>
        <p:spPr>
          <a:xfrm>
            <a:off x="4434840" y="219456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52160" y="187452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2</a:t>
            </a:r>
          </a:p>
        </p:txBody>
      </p:sp>
      <p:sp>
        <p:nvSpPr>
          <p:cNvPr id="13" name="TextBox 12"/>
          <p:cNvSpPr txBox="1"/>
          <p:nvPr/>
        </p:nvSpPr>
        <p:spPr>
          <a:xfrm>
            <a:off x="461772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下書きは事務局が作る</a:t>
            </a:r>
          </a:p>
        </p:txBody>
      </p:sp>
      <p:sp>
        <p:nvSpPr>
          <p:cNvPr id="14" name="TextBox 13"/>
          <p:cNvSpPr txBox="1"/>
          <p:nvPr/>
        </p:nvSpPr>
        <p:spPr>
          <a:xfrm>
            <a:off x="475488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リストづくりも、議事録も、集計も、</a:t>
            </a:r>
          </a:p>
          <a:p>
            <a:pPr algn="l">
              <a:spcAft>
                <a:spcPts val="400"/>
              </a:spcAft>
            </a:pPr>
            <a:r>
              <a:rPr sz="1100" b="0" i="0">
                <a:solidFill>
                  <a:srgbClr val="262630"/>
                </a:solidFill>
                <a:latin typeface="Yu Gothic"/>
                <a:ea typeface="Yu Gothic"/>
                <a:cs typeface="Yu Gothic"/>
              </a:rPr>
              <a:t>事務局の仕事。現場には「確認と手直し」</a:t>
            </a:r>
          </a:p>
          <a:p>
            <a:pPr algn="l">
              <a:spcAft>
                <a:spcPts val="400"/>
              </a:spcAft>
            </a:pPr>
            <a:r>
              <a:rPr sz="1100" b="0" i="0">
                <a:solidFill>
                  <a:srgbClr val="262630"/>
                </a:solidFill>
                <a:latin typeface="Yu Gothic"/>
                <a:ea typeface="Yu Gothic"/>
                <a:cs typeface="Yu Gothic"/>
              </a:rPr>
              <a:t>しかお願いしません。</a:t>
            </a:r>
          </a:p>
        </p:txBody>
      </p:sp>
      <p:sp>
        <p:nvSpPr>
          <p:cNvPr id="15" name="Rounded Rectangle 14"/>
          <p:cNvSpPr/>
          <p:nvPr/>
        </p:nvSpPr>
        <p:spPr>
          <a:xfrm>
            <a:off x="8229600" y="219456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46920" y="187452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87452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3</a:t>
            </a:r>
          </a:p>
        </p:txBody>
      </p:sp>
      <p:sp>
        <p:nvSpPr>
          <p:cNvPr id="18" name="TextBox 17"/>
          <p:cNvSpPr txBox="1"/>
          <p:nvPr/>
        </p:nvSpPr>
        <p:spPr>
          <a:xfrm>
            <a:off x="8412480" y="274320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AIが下書きを手伝う</a:t>
            </a:r>
          </a:p>
        </p:txBody>
      </p:sp>
      <p:sp>
        <p:nvSpPr>
          <p:cNvPr id="19" name="TextBox 18"/>
          <p:cNvSpPr txBox="1"/>
          <p:nvPr/>
        </p:nvSpPr>
        <p:spPr>
          <a:xfrm>
            <a:off x="8549640" y="338328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提案書の初稿づくりや、過去の監修指摘の</a:t>
            </a:r>
          </a:p>
          <a:p>
            <a:pPr algn="l">
              <a:spcAft>
                <a:spcPts val="400"/>
              </a:spcAft>
            </a:pPr>
            <a:r>
              <a:rPr sz="1100" b="0" i="0">
                <a:solidFill>
                  <a:srgbClr val="262630"/>
                </a:solidFill>
                <a:latin typeface="Yu Gothic"/>
                <a:ea typeface="Yu Gothic"/>
                <a:cs typeface="Yu Gothic"/>
              </a:rPr>
              <a:t>検索をAIが支援。提案書づくりの時間の</a:t>
            </a:r>
          </a:p>
          <a:p>
            <a:pPr algn="l">
              <a:spcAft>
                <a:spcPts val="400"/>
              </a:spcAft>
            </a:pPr>
            <a:r>
              <a:rPr sz="1100" b="0" i="0">
                <a:solidFill>
                  <a:srgbClr val="262630"/>
                </a:solidFill>
                <a:latin typeface="Yu Gothic"/>
                <a:ea typeface="Yu Gothic"/>
                <a:cs typeface="Yu Gothic"/>
              </a:rPr>
              <a:t>半減を目指します。</a:t>
            </a:r>
          </a:p>
        </p:txBody>
      </p:sp>
      <p:sp>
        <p:nvSpPr>
          <p:cNvPr id="20" name="TextBox 19"/>
          <p:cNvSpPr txBox="1"/>
          <p:nvPr/>
        </p:nvSpPr>
        <p:spPr>
          <a:xfrm>
            <a:off x="640080" y="5212080"/>
            <a:ext cx="10972800" cy="548640"/>
          </a:xfrm>
          <a:prstGeom prst="rect">
            <a:avLst/>
          </a:prstGeom>
          <a:noFill/>
        </p:spPr>
        <p:txBody>
          <a:bodyPr wrap="square" lIns="0" rIns="0" tIns="0" bIns="0">
            <a:spAutoFit/>
          </a:bodyPr>
          <a:lstStyle/>
          <a:p>
            <a:pPr algn="l">
              <a:spcAft>
                <a:spcPts val="400"/>
              </a:spcAft>
            </a:pPr>
            <a:r>
              <a:rPr sz="1250" b="1" i="0">
                <a:solidFill>
                  <a:srgbClr val="3A106E"/>
                </a:solidFill>
                <a:latin typeface="Yu Gothic"/>
                <a:ea typeface="Yu Gothic"/>
                <a:cs typeface="Yu Gothic"/>
              </a:rPr>
              <a:t>「入力させられるだけ」の改革は必ず失敗します。お願いと同じ数だけ、会社側が返す——これを運営の原則にします</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第2部｜スケジュール</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90日で「見えない状態」を終わらせる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194560"/>
            <a:ext cx="3566160" cy="237744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3566160" cy="411480"/>
          </a:xfrm>
          <a:prstGeom prst="rect">
            <a:avLst/>
          </a:prstGeom>
          <a:noFill/>
        </p:spPr>
        <p:txBody>
          <a:bodyPr wrap="square" lIns="0" rIns="0" tIns="0" bIns="0" anchor="ctr">
            <a:spAutoFit/>
          </a:bodyPr>
          <a:lstStyle/>
          <a:p>
            <a:pPr algn="ctr">
              <a:spcAft>
                <a:spcPts val="200"/>
              </a:spcAft>
            </a:pPr>
            <a:r>
              <a:rPr sz="1300" b="1" i="0">
                <a:solidFill>
                  <a:srgbClr val="3A106E"/>
                </a:solidFill>
                <a:latin typeface="Yu Gothic"/>
                <a:ea typeface="Yu Gothic"/>
                <a:cs typeface="Yu Gothic"/>
              </a:rPr>
              <a:t>30日目</a:t>
            </a:r>
          </a:p>
        </p:txBody>
      </p:sp>
      <p:sp>
        <p:nvSpPr>
          <p:cNvPr id="7" name="TextBox 6"/>
          <p:cNvSpPr txBox="1"/>
          <p:nvPr/>
        </p:nvSpPr>
        <p:spPr>
          <a:xfrm>
            <a:off x="731520" y="2788920"/>
            <a:ext cx="3566160" cy="548640"/>
          </a:xfrm>
          <a:prstGeom prst="rect">
            <a:avLst/>
          </a:prstGeom>
          <a:noFill/>
        </p:spPr>
        <p:txBody>
          <a:bodyPr wrap="square" lIns="0" rIns="0" tIns="0" bIns="0" anchor="ctr">
            <a:spAutoFit/>
          </a:bodyPr>
          <a:lstStyle/>
          <a:p>
            <a:pPr algn="ctr">
              <a:spcAft>
                <a:spcPts val="200"/>
              </a:spcAft>
            </a:pPr>
            <a:r>
              <a:rPr sz="1900" b="1" i="0">
                <a:solidFill>
                  <a:srgbClr val="3A106E"/>
                </a:solidFill>
                <a:latin typeface="Yu Gothic"/>
                <a:ea typeface="Yu Gothic"/>
                <a:cs typeface="Yu Gothic"/>
              </a:rPr>
              <a:t>全部見える</a:t>
            </a:r>
          </a:p>
        </p:txBody>
      </p:sp>
      <p:sp>
        <p:nvSpPr>
          <p:cNvPr id="8" name="TextBox 7"/>
          <p:cNvSpPr txBox="1"/>
          <p:nvPr/>
        </p:nvSpPr>
        <p:spPr>
          <a:xfrm>
            <a:off x="1005840" y="3474720"/>
            <a:ext cx="3108960" cy="1005840"/>
          </a:xfrm>
          <a:prstGeom prst="rect">
            <a:avLst/>
          </a:prstGeom>
          <a:noFill/>
        </p:spPr>
        <p:txBody>
          <a:bodyPr wrap="square" lIns="0" rIns="0" tIns="0" bIns="0">
            <a:spAutoFit/>
          </a:bodyPr>
          <a:lstStyle/>
          <a:p>
            <a:pPr algn="ctr">
              <a:spcAft>
                <a:spcPts val="300"/>
              </a:spcAft>
            </a:pPr>
            <a:r>
              <a:rPr sz="1000" b="0" i="0">
                <a:solidFill>
                  <a:srgbClr val="3A106E"/>
                </a:solidFill>
                <a:latin typeface="Yu Gothic"/>
                <a:ea typeface="Yu Gothic"/>
                <a:cs typeface="Yu Gothic"/>
              </a:rPr>
              <a:t>5つのリスト完成／時間の記録が開始</a:t>
            </a:r>
          </a:p>
          <a:p>
            <a:pPr algn="ctr">
              <a:spcAft>
                <a:spcPts val="300"/>
              </a:spcAft>
            </a:pPr>
            <a:r>
              <a:rPr sz="1000" b="0" i="0">
                <a:solidFill>
                  <a:srgbClr val="3A106E"/>
                </a:solidFill>
                <a:latin typeface="Yu Gothic"/>
                <a:ea typeface="Yu Gothic"/>
                <a:cs typeface="Yu Gothic"/>
              </a:rPr>
              <a:t>／関係者20〜30名への聞き取り完了</a:t>
            </a:r>
          </a:p>
        </p:txBody>
      </p:sp>
      <p:sp>
        <p:nvSpPr>
          <p:cNvPr id="9" name="Rounded Rectangle 8"/>
          <p:cNvSpPr/>
          <p:nvPr/>
        </p:nvSpPr>
        <p:spPr>
          <a:xfrm>
            <a:off x="4572000" y="2194560"/>
            <a:ext cx="3566160" cy="237744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377440"/>
            <a:ext cx="3566160" cy="411480"/>
          </a:xfrm>
          <a:prstGeom prst="rect">
            <a:avLst/>
          </a:prstGeom>
          <a:noFill/>
        </p:spPr>
        <p:txBody>
          <a:bodyPr wrap="square" lIns="0" rIns="0" tIns="0" bIns="0" anchor="ctr">
            <a:spAutoFit/>
          </a:bodyPr>
          <a:lstStyle/>
          <a:p>
            <a:pPr algn="ctr">
              <a:spcAft>
                <a:spcPts val="200"/>
              </a:spcAft>
            </a:pPr>
            <a:r>
              <a:rPr sz="1300" b="1" i="0">
                <a:solidFill>
                  <a:srgbClr val="FFFFFF"/>
                </a:solidFill>
                <a:latin typeface="Yu Gothic"/>
                <a:ea typeface="Yu Gothic"/>
                <a:cs typeface="Yu Gothic"/>
              </a:rPr>
              <a:t>60日目</a:t>
            </a:r>
          </a:p>
        </p:txBody>
      </p:sp>
      <p:sp>
        <p:nvSpPr>
          <p:cNvPr id="11" name="TextBox 10"/>
          <p:cNvSpPr txBox="1"/>
          <p:nvPr/>
        </p:nvSpPr>
        <p:spPr>
          <a:xfrm>
            <a:off x="4572000" y="2788920"/>
            <a:ext cx="3566160" cy="548640"/>
          </a:xfrm>
          <a:prstGeom prst="rect">
            <a:avLst/>
          </a:prstGeom>
          <a:noFill/>
        </p:spPr>
        <p:txBody>
          <a:bodyPr wrap="square" lIns="0" rIns="0" tIns="0" bIns="0" anchor="ctr">
            <a:spAutoFit/>
          </a:bodyPr>
          <a:lstStyle/>
          <a:p>
            <a:pPr algn="ctr">
              <a:spcAft>
                <a:spcPts val="200"/>
              </a:spcAft>
            </a:pPr>
            <a:r>
              <a:rPr sz="1900" b="1" i="0">
                <a:solidFill>
                  <a:srgbClr val="FFFFFF"/>
                </a:solidFill>
                <a:latin typeface="Yu Gothic"/>
                <a:ea typeface="Yu Gothic"/>
                <a:cs typeface="Yu Gothic"/>
              </a:rPr>
              <a:t>物差しで測れる</a:t>
            </a:r>
          </a:p>
        </p:txBody>
      </p:sp>
      <p:sp>
        <p:nvSpPr>
          <p:cNvPr id="12" name="TextBox 11"/>
          <p:cNvSpPr txBox="1"/>
          <p:nvPr/>
        </p:nvSpPr>
        <p:spPr>
          <a:xfrm>
            <a:off x="4846320" y="3474720"/>
            <a:ext cx="3108960" cy="1005840"/>
          </a:xfrm>
          <a:prstGeom prst="rect">
            <a:avLst/>
          </a:prstGeom>
          <a:noFill/>
        </p:spPr>
        <p:txBody>
          <a:bodyPr wrap="square" lIns="0" rIns="0" tIns="0" bIns="0">
            <a:spAutoFit/>
          </a:bodyPr>
          <a:lstStyle/>
          <a:p>
            <a:pPr algn="ctr">
              <a:spcAft>
                <a:spcPts val="300"/>
              </a:spcAft>
            </a:pPr>
            <a:r>
              <a:rPr sz="1000" b="0" i="0">
                <a:solidFill>
                  <a:srgbClr val="FFFFFF"/>
                </a:solidFill>
                <a:latin typeface="Yu Gothic"/>
                <a:ea typeface="Yu Gothic"/>
                <a:cs typeface="Yu Gothic"/>
              </a:rPr>
              <a:t>全案件の点数づけ完了／顧客ランク完成</a:t>
            </a:r>
          </a:p>
          <a:p>
            <a:pPr algn="ctr">
              <a:spcAft>
                <a:spcPts val="300"/>
              </a:spcAft>
            </a:pPr>
            <a:r>
              <a:rPr sz="1000" b="0" i="0">
                <a:solidFill>
                  <a:srgbClr val="FFFFFF"/>
                </a:solidFill>
                <a:latin typeface="Yu Gothic"/>
                <a:ea typeface="Yu Gothic"/>
                <a:cs typeface="Yu Gothic"/>
              </a:rPr>
              <a:t>／監修・契約にかかる日数の実測完了</a:t>
            </a:r>
          </a:p>
        </p:txBody>
      </p:sp>
      <p:sp>
        <p:nvSpPr>
          <p:cNvPr id="13" name="Rounded Rectangle 12"/>
          <p:cNvSpPr/>
          <p:nvPr/>
        </p:nvSpPr>
        <p:spPr>
          <a:xfrm>
            <a:off x="8412480" y="2194560"/>
            <a:ext cx="3566160" cy="237744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77440"/>
            <a:ext cx="3566160" cy="411480"/>
          </a:xfrm>
          <a:prstGeom prst="rect">
            <a:avLst/>
          </a:prstGeom>
          <a:noFill/>
        </p:spPr>
        <p:txBody>
          <a:bodyPr wrap="square" lIns="0" rIns="0" tIns="0" bIns="0" anchor="ctr">
            <a:spAutoFit/>
          </a:bodyPr>
          <a:lstStyle/>
          <a:p>
            <a:pPr algn="ctr">
              <a:spcAft>
                <a:spcPts val="200"/>
              </a:spcAft>
            </a:pPr>
            <a:r>
              <a:rPr sz="1300" b="1" i="0">
                <a:solidFill>
                  <a:srgbClr val="FFFFFF"/>
                </a:solidFill>
                <a:latin typeface="Yu Gothic"/>
                <a:ea typeface="Yu Gothic"/>
                <a:cs typeface="Yu Gothic"/>
              </a:rPr>
              <a:t>90日目</a:t>
            </a:r>
          </a:p>
        </p:txBody>
      </p:sp>
      <p:sp>
        <p:nvSpPr>
          <p:cNvPr id="15" name="TextBox 14"/>
          <p:cNvSpPr txBox="1"/>
          <p:nvPr/>
        </p:nvSpPr>
        <p:spPr>
          <a:xfrm>
            <a:off x="8412480" y="2788920"/>
            <a:ext cx="3566160" cy="548640"/>
          </a:xfrm>
          <a:prstGeom prst="rect">
            <a:avLst/>
          </a:prstGeom>
          <a:noFill/>
        </p:spPr>
        <p:txBody>
          <a:bodyPr wrap="square" lIns="0" rIns="0" tIns="0" bIns="0" anchor="ctr">
            <a:spAutoFit/>
          </a:bodyPr>
          <a:lstStyle/>
          <a:p>
            <a:pPr algn="ctr">
              <a:spcAft>
                <a:spcPts val="200"/>
              </a:spcAft>
            </a:pPr>
            <a:r>
              <a:rPr sz="1900" b="1" i="0">
                <a:solidFill>
                  <a:srgbClr val="FFFFFF"/>
                </a:solidFill>
                <a:latin typeface="Yu Gothic"/>
                <a:ea typeface="Yu Gothic"/>
                <a:cs typeface="Yu Gothic"/>
              </a:rPr>
              <a:t>決め始めている</a:t>
            </a:r>
          </a:p>
        </p:txBody>
      </p:sp>
      <p:sp>
        <p:nvSpPr>
          <p:cNvPr id="16" name="TextBox 15"/>
          <p:cNvSpPr txBox="1"/>
          <p:nvPr/>
        </p:nvSpPr>
        <p:spPr>
          <a:xfrm>
            <a:off x="8686800" y="3474720"/>
            <a:ext cx="3108960" cy="1005840"/>
          </a:xfrm>
          <a:prstGeom prst="rect">
            <a:avLst/>
          </a:prstGeom>
          <a:noFill/>
        </p:spPr>
        <p:txBody>
          <a:bodyPr wrap="square" lIns="0" rIns="0" tIns="0" bIns="0">
            <a:spAutoFit/>
          </a:bodyPr>
          <a:lstStyle/>
          <a:p>
            <a:pPr algn="ctr">
              <a:spcAft>
                <a:spcPts val="300"/>
              </a:spcAft>
            </a:pPr>
            <a:r>
              <a:rPr sz="1000" b="0" i="0">
                <a:solidFill>
                  <a:srgbClr val="FFFFFF"/>
                </a:solidFill>
                <a:latin typeface="Yu Gothic"/>
                <a:ea typeface="Yu Gothic"/>
                <a:cs typeface="Yu Gothic"/>
              </a:rPr>
              <a:t>月例の会議で最初の「やめる・軽くする」</a:t>
            </a:r>
          </a:p>
          <a:p>
            <a:pPr algn="ctr">
              <a:spcAft>
                <a:spcPts val="300"/>
              </a:spcAft>
            </a:pPr>
            <a:r>
              <a:rPr sz="1000" b="0" i="0">
                <a:solidFill>
                  <a:srgbClr val="FFFFFF"/>
                </a:solidFill>
                <a:latin typeface="Yu Gothic"/>
                <a:ea typeface="Yu Gothic"/>
                <a:cs typeface="Yu Gothic"/>
              </a:rPr>
              <a:t>を決定／会議の資料づくり廃止へ移行</a:t>
            </a:r>
          </a:p>
        </p:txBody>
      </p:sp>
      <p:sp>
        <p:nvSpPr>
          <p:cNvPr id="17" name="TextBox 16"/>
          <p:cNvSpPr txBox="1"/>
          <p:nvPr/>
        </p:nvSpPr>
        <p:spPr>
          <a:xfrm>
            <a:off x="731520" y="4937760"/>
            <a:ext cx="10972800" cy="640080"/>
          </a:xfrm>
          <a:prstGeom prst="rect">
            <a:avLst/>
          </a:prstGeom>
          <a:noFill/>
        </p:spPr>
        <p:txBody>
          <a:bodyPr wrap="square" lIns="0" rIns="0" tIns="0" bIns="0">
            <a:spAutoFit/>
          </a:bodyPr>
          <a:lstStyle/>
          <a:p>
            <a:pPr algn="l">
              <a:spcAft>
                <a:spcPts val="400"/>
              </a:spcAft>
            </a:pPr>
            <a:r>
              <a:rPr sz="1250" b="1" i="0">
                <a:solidFill>
                  <a:srgbClr val="262630"/>
                </a:solidFill>
                <a:latin typeface="Yu Gothic"/>
                <a:ea typeface="Yu Gothic"/>
                <a:cs typeface="Yu Gothic"/>
              </a:rPr>
              <a:t>部門への影響はこの範囲だけ：連携窓口役の人選／リストの確認2〜3時間／週15分の時間記録／（61日目〜）会議の運営変更</a:t>
            </a:r>
          </a:p>
        </p:txBody>
      </p:sp>
      <p:sp>
        <p:nvSpPr>
          <p:cNvPr id="18" name="Rectangle 17"/>
          <p:cNvSpPr/>
          <p:nvPr/>
        </p:nvSpPr>
        <p:spPr>
          <a:xfrm>
            <a:off x="502920" y="566928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66928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90日後に工数データを全社に公開し、「入力が何になったか」を必ずお返しします</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第3部 どう回すのか（15分）｜絵①</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会議は4つ——下で検討し、上で決める</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920240" y="1783080"/>
            <a:ext cx="6949440" cy="91440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20240" y="1783080"/>
            <a:ext cx="6949440" cy="914400"/>
          </a:xfrm>
          <a:prstGeom prst="rect">
            <a:avLst/>
          </a:prstGeom>
          <a:noFill/>
        </p:spPr>
        <p:txBody>
          <a:bodyPr wrap="square" lIns="0" rIns="0" tIns="0" bIns="0" anchor="ctr">
            <a:spAutoFit/>
          </a:bodyPr>
          <a:lstStyle/>
          <a:p>
            <a:pPr algn="ctr">
              <a:spcAft>
                <a:spcPts val="200"/>
              </a:spcAft>
            </a:pPr>
            <a:r>
              <a:rPr sz="1700" b="1" i="0">
                <a:solidFill>
                  <a:srgbClr val="FFFFFF"/>
                </a:solidFill>
                <a:latin typeface="Yu Gothic"/>
                <a:ea typeface="Yu Gothic"/>
                <a:cs typeface="Yu Gothic"/>
              </a:rPr>
              <a:t>点検会議（会長）</a:t>
            </a:r>
          </a:p>
          <a:p>
            <a:pPr algn="ctr">
              <a:spcAft>
                <a:spcPts val="200"/>
              </a:spcAft>
            </a:pPr>
            <a:r>
              <a:rPr sz="1150" b="0" i="0">
                <a:solidFill>
                  <a:srgbClr val="FFFFFF"/>
                </a:solidFill>
                <a:latin typeface="Yu Gothic"/>
                <a:ea typeface="Yu Gothic"/>
                <a:cs typeface="Yu Gothic"/>
              </a:rPr>
              <a:t>会社として大事なことを決める　◇ 2週に1回・60分</a:t>
            </a:r>
          </a:p>
        </p:txBody>
      </p:sp>
      <p:sp>
        <p:nvSpPr>
          <p:cNvPr id="7" name="Rounded Rectangle 6"/>
          <p:cNvSpPr/>
          <p:nvPr/>
        </p:nvSpPr>
        <p:spPr>
          <a:xfrm>
            <a:off x="1920240" y="2880360"/>
            <a:ext cx="6949440" cy="91440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2880360"/>
            <a:ext cx="6949440" cy="914400"/>
          </a:xfrm>
          <a:prstGeom prst="rect">
            <a:avLst/>
          </a:prstGeom>
          <a:noFill/>
        </p:spPr>
        <p:txBody>
          <a:bodyPr wrap="square" lIns="0" rIns="0" tIns="0" bIns="0" anchor="ctr">
            <a:spAutoFit/>
          </a:bodyPr>
          <a:lstStyle/>
          <a:p>
            <a:pPr algn="ctr">
              <a:spcAft>
                <a:spcPts val="200"/>
              </a:spcAft>
            </a:pPr>
            <a:r>
              <a:rPr sz="1700" b="1" i="0">
                <a:solidFill>
                  <a:srgbClr val="FFFFFF"/>
                </a:solidFill>
                <a:latin typeface="Yu Gothic"/>
                <a:ea typeface="Yu Gothic"/>
                <a:cs typeface="Yu Gothic"/>
              </a:rPr>
              <a:t>戦略会議（永竹社長）</a:t>
            </a:r>
          </a:p>
          <a:p>
            <a:pPr algn="ctr">
              <a:spcAft>
                <a:spcPts val="200"/>
              </a:spcAft>
            </a:pPr>
            <a:r>
              <a:rPr sz="1150" b="0" i="0">
                <a:solidFill>
                  <a:srgbClr val="FFFFFF"/>
                </a:solidFill>
                <a:latin typeface="Yu Gothic"/>
                <a:ea typeface="Yu Gothic"/>
                <a:cs typeface="Yu Gothic"/>
              </a:rPr>
              <a:t>進み具合を確かめ、人と時間の配分を決める　◇ 2週に1回</a:t>
            </a:r>
          </a:p>
        </p:txBody>
      </p:sp>
      <p:sp>
        <p:nvSpPr>
          <p:cNvPr id="9" name="Rounded Rectangle 8"/>
          <p:cNvSpPr/>
          <p:nvPr/>
        </p:nvSpPr>
        <p:spPr>
          <a:xfrm>
            <a:off x="1920240" y="3977639"/>
            <a:ext cx="6949440" cy="1600200"/>
          </a:xfrm>
          <a:prstGeom prst="round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4041648"/>
            <a:ext cx="6949440" cy="411480"/>
          </a:xfrm>
          <a:prstGeom prst="rect">
            <a:avLst/>
          </a:prstGeom>
          <a:noFill/>
        </p:spPr>
        <p:txBody>
          <a:bodyPr wrap="square" lIns="0" rIns="0" tIns="0" bIns="0" anchor="ctr">
            <a:spAutoFit/>
          </a:bodyPr>
          <a:lstStyle/>
          <a:p>
            <a:pPr algn="ctr">
              <a:spcAft>
                <a:spcPts val="200"/>
              </a:spcAft>
            </a:pPr>
            <a:r>
              <a:rPr sz="1350" b="1" i="0">
                <a:solidFill>
                  <a:srgbClr val="3A106E"/>
                </a:solidFill>
                <a:latin typeface="Yu Gothic"/>
                <a:ea typeface="Yu Gothic"/>
                <a:cs typeface="Yu Gothic"/>
              </a:rPr>
              <a:t>3つの分科会（部長・現場）　テーマごとに検討し、実行する　◇ 毎週</a:t>
            </a:r>
          </a:p>
        </p:txBody>
      </p:sp>
      <p:sp>
        <p:nvSpPr>
          <p:cNvPr id="11" name="Rounded Rectangle 10"/>
          <p:cNvSpPr/>
          <p:nvPr/>
        </p:nvSpPr>
        <p:spPr>
          <a:xfrm>
            <a:off x="2057400" y="4526280"/>
            <a:ext cx="2133600" cy="868680"/>
          </a:xfrm>
          <a:prstGeom prst="roundRect">
            <a:avLst/>
          </a:prstGeom>
          <a:solidFill>
            <a:srgbClr val="FFFFFF"/>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57400" y="4526280"/>
            <a:ext cx="2133600" cy="868680"/>
          </a:xfrm>
          <a:prstGeom prst="rect">
            <a:avLst/>
          </a:prstGeom>
          <a:noFill/>
        </p:spPr>
        <p:txBody>
          <a:bodyPr wrap="square" lIns="0" rIns="0" tIns="0" bIns="0" anchor="ctr">
            <a:spAutoFit/>
          </a:bodyPr>
          <a:lstStyle/>
          <a:p>
            <a:pPr algn="ctr">
              <a:spcAft>
                <a:spcPts val="200"/>
              </a:spcAft>
            </a:pPr>
            <a:r>
              <a:rPr sz="1250" b="1" i="0">
                <a:solidFill>
                  <a:srgbClr val="3A106E"/>
                </a:solidFill>
                <a:latin typeface="Yu Gothic"/>
                <a:ea typeface="Yu Gothic"/>
                <a:cs typeface="Yu Gothic"/>
              </a:rPr>
              <a:t>接点づくり</a:t>
            </a:r>
          </a:p>
          <a:p>
            <a:pPr algn="ctr">
              <a:spcAft>
                <a:spcPts val="200"/>
              </a:spcAft>
            </a:pPr>
            <a:r>
              <a:rPr sz="1000" b="0" i="0">
                <a:solidFill>
                  <a:srgbClr val="5F5F6E"/>
                </a:solidFill>
                <a:latin typeface="Yu Gothic"/>
                <a:ea typeface="Yu Gothic"/>
                <a:cs typeface="Yu Gothic"/>
              </a:rPr>
              <a:t>リーダー：黒澤さん</a:t>
            </a:r>
          </a:p>
        </p:txBody>
      </p:sp>
      <p:sp>
        <p:nvSpPr>
          <p:cNvPr id="13" name="Rounded Rectangle 12"/>
          <p:cNvSpPr/>
          <p:nvPr/>
        </p:nvSpPr>
        <p:spPr>
          <a:xfrm>
            <a:off x="4328160" y="4526280"/>
            <a:ext cx="2133600" cy="868680"/>
          </a:xfrm>
          <a:prstGeom prst="roundRect">
            <a:avLst/>
          </a:prstGeom>
          <a:solidFill>
            <a:srgbClr val="FFFFFF"/>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8160" y="4526280"/>
            <a:ext cx="2133600" cy="868680"/>
          </a:xfrm>
          <a:prstGeom prst="rect">
            <a:avLst/>
          </a:prstGeom>
          <a:noFill/>
        </p:spPr>
        <p:txBody>
          <a:bodyPr wrap="square" lIns="0" rIns="0" tIns="0" bIns="0" anchor="ctr">
            <a:spAutoFit/>
          </a:bodyPr>
          <a:lstStyle/>
          <a:p>
            <a:pPr algn="ctr">
              <a:spcAft>
                <a:spcPts val="200"/>
              </a:spcAft>
            </a:pPr>
            <a:r>
              <a:rPr sz="1250" b="1" i="0">
                <a:solidFill>
                  <a:srgbClr val="3A106E"/>
                </a:solidFill>
                <a:latin typeface="Yu Gothic"/>
                <a:ea typeface="Yu Gothic"/>
                <a:cs typeface="Yu Gothic"/>
              </a:rPr>
              <a:t>ライセンス営業改革</a:t>
            </a:r>
          </a:p>
          <a:p>
            <a:pPr algn="ctr">
              <a:spcAft>
                <a:spcPts val="200"/>
              </a:spcAft>
            </a:pPr>
            <a:r>
              <a:rPr sz="1000" b="0" i="0">
                <a:solidFill>
                  <a:srgbClr val="5F5F6E"/>
                </a:solidFill>
                <a:latin typeface="Yu Gothic"/>
                <a:ea typeface="Yu Gothic"/>
                <a:cs typeface="Yu Gothic"/>
              </a:rPr>
              <a:t>リーダー：南谷さん</a:t>
            </a:r>
          </a:p>
        </p:txBody>
      </p:sp>
      <p:sp>
        <p:nvSpPr>
          <p:cNvPr id="15" name="Rounded Rectangle 14"/>
          <p:cNvSpPr/>
          <p:nvPr/>
        </p:nvSpPr>
        <p:spPr>
          <a:xfrm>
            <a:off x="6598920" y="4526280"/>
            <a:ext cx="2133600" cy="868680"/>
          </a:xfrm>
          <a:prstGeom prst="roundRect">
            <a:avLst/>
          </a:prstGeom>
          <a:solidFill>
            <a:srgbClr val="FFFFFF"/>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8920" y="4526280"/>
            <a:ext cx="2133600" cy="868680"/>
          </a:xfrm>
          <a:prstGeom prst="rect">
            <a:avLst/>
          </a:prstGeom>
          <a:noFill/>
        </p:spPr>
        <p:txBody>
          <a:bodyPr wrap="square" lIns="0" rIns="0" tIns="0" bIns="0" anchor="ctr">
            <a:spAutoFit/>
          </a:bodyPr>
          <a:lstStyle/>
          <a:p>
            <a:pPr algn="ctr">
              <a:spcAft>
                <a:spcPts val="200"/>
              </a:spcAft>
            </a:pPr>
            <a:r>
              <a:rPr sz="1250" b="1" i="0">
                <a:solidFill>
                  <a:srgbClr val="3A106E"/>
                </a:solidFill>
                <a:latin typeface="Yu Gothic"/>
                <a:ea typeface="Yu Gothic"/>
                <a:cs typeface="Yu Gothic"/>
              </a:rPr>
              <a:t>経営基盤強化</a:t>
            </a:r>
          </a:p>
          <a:p>
            <a:pPr algn="ctr">
              <a:spcAft>
                <a:spcPts val="200"/>
              </a:spcAft>
            </a:pPr>
            <a:r>
              <a:rPr sz="1000" b="0" i="0">
                <a:solidFill>
                  <a:srgbClr val="5F5F6E"/>
                </a:solidFill>
                <a:latin typeface="Yu Gothic"/>
                <a:ea typeface="Yu Gothic"/>
                <a:cs typeface="Yu Gothic"/>
              </a:rPr>
              <a:t>リーダー：高橋さん</a:t>
            </a:r>
          </a:p>
        </p:txBody>
      </p:sp>
      <p:sp>
        <p:nvSpPr>
          <p:cNvPr id="17" name="Up Arrow 16"/>
          <p:cNvSpPr/>
          <p:nvPr/>
        </p:nvSpPr>
        <p:spPr>
          <a:xfrm>
            <a:off x="777240" y="1920240"/>
            <a:ext cx="685800" cy="3474720"/>
          </a:xfrm>
          <a:prstGeom prst="upArrow">
            <a:avLst/>
          </a:prstGeom>
          <a:solidFill>
            <a:srgbClr val="F7F7F9"/>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5486400"/>
            <a:ext cx="1737360" cy="640080"/>
          </a:xfrm>
          <a:prstGeom prst="rect">
            <a:avLst/>
          </a:prstGeom>
          <a:noFill/>
        </p:spPr>
        <p:txBody>
          <a:bodyPr wrap="square" lIns="0" rIns="0" tIns="0" bIns="0" anchor="ctr">
            <a:spAutoFit/>
          </a:bodyPr>
          <a:lstStyle/>
          <a:p>
            <a:pPr algn="ctr">
              <a:spcAft>
                <a:spcPts val="200"/>
              </a:spcAft>
            </a:pPr>
            <a:r>
              <a:rPr sz="1050" b="1" i="0">
                <a:solidFill>
                  <a:srgbClr val="7823DC"/>
                </a:solidFill>
                <a:latin typeface="Yu Gothic"/>
                <a:ea typeface="Yu Gothic"/>
                <a:cs typeface="Yu Gothic"/>
              </a:rPr>
              <a:t>決めてほしいこと</a:t>
            </a:r>
          </a:p>
          <a:p>
            <a:pPr algn="ctr">
              <a:spcAft>
                <a:spcPts val="200"/>
              </a:spcAft>
            </a:pPr>
            <a:r>
              <a:rPr sz="1050" b="1" i="0">
                <a:solidFill>
                  <a:srgbClr val="7823DC"/>
                </a:solidFill>
                <a:latin typeface="Yu Gothic"/>
                <a:ea typeface="Yu Gothic"/>
                <a:cs typeface="Yu Gothic"/>
              </a:rPr>
              <a:t>が上がる</a:t>
            </a:r>
          </a:p>
        </p:txBody>
      </p:sp>
      <p:sp>
        <p:nvSpPr>
          <p:cNvPr id="19" name="Down Arrow 18"/>
          <p:cNvSpPr/>
          <p:nvPr/>
        </p:nvSpPr>
        <p:spPr>
          <a:xfrm>
            <a:off x="9144000" y="1920240"/>
            <a:ext cx="685800" cy="3474720"/>
          </a:xfrm>
          <a:prstGeom prst="downArrow">
            <a:avLst/>
          </a:prstGeom>
          <a:solidFill>
            <a:srgbClr val="F7F7F9"/>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1080" y="5486400"/>
            <a:ext cx="1737360" cy="640080"/>
          </a:xfrm>
          <a:prstGeom prst="rect">
            <a:avLst/>
          </a:prstGeom>
          <a:noFill/>
        </p:spPr>
        <p:txBody>
          <a:bodyPr wrap="square" lIns="0" rIns="0" tIns="0" bIns="0" anchor="ctr">
            <a:spAutoFit/>
          </a:bodyPr>
          <a:lstStyle/>
          <a:p>
            <a:pPr algn="ctr">
              <a:spcAft>
                <a:spcPts val="200"/>
              </a:spcAft>
            </a:pPr>
            <a:r>
              <a:rPr sz="1050" b="1" i="0">
                <a:solidFill>
                  <a:srgbClr val="7823DC"/>
                </a:solidFill>
                <a:latin typeface="Yu Gothic"/>
                <a:ea typeface="Yu Gothic"/>
                <a:cs typeface="Yu Gothic"/>
              </a:rPr>
              <a:t>決まったこと</a:t>
            </a:r>
          </a:p>
          <a:p>
            <a:pPr algn="ctr">
              <a:spcAft>
                <a:spcPts val="200"/>
              </a:spcAft>
            </a:pPr>
            <a:r>
              <a:rPr sz="1050" b="1" i="0">
                <a:solidFill>
                  <a:srgbClr val="7823DC"/>
                </a:solidFill>
                <a:latin typeface="Yu Gothic"/>
                <a:ea typeface="Yu Gothic"/>
                <a:cs typeface="Yu Gothic"/>
              </a:rPr>
              <a:t>が降りてくる</a:t>
            </a:r>
          </a:p>
        </p:txBody>
      </p:sp>
      <p:sp>
        <p:nvSpPr>
          <p:cNvPr id="21" name="Rounded Rectangle 20"/>
          <p:cNvSpPr/>
          <p:nvPr/>
        </p:nvSpPr>
        <p:spPr>
          <a:xfrm>
            <a:off x="10332720" y="1783080"/>
            <a:ext cx="1371600" cy="3794760"/>
          </a:xfrm>
          <a:prstGeom prst="roundRect">
            <a:avLst/>
          </a:prstGeom>
          <a:solidFill>
            <a:srgbClr val="F7F7F9"/>
          </a:solidFill>
          <a:ln w="12700">
            <a:solidFill>
              <a:srgbClr val="8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78440" y="1920240"/>
            <a:ext cx="1280160" cy="3566160"/>
          </a:xfrm>
          <a:prstGeom prst="rect">
            <a:avLst/>
          </a:prstGeom>
          <a:noFill/>
        </p:spPr>
        <p:txBody>
          <a:bodyPr wrap="square" lIns="0" rIns="0" tIns="0" bIns="0" anchor="t">
            <a:spAutoFit/>
          </a:bodyPr>
          <a:lstStyle/>
          <a:p>
            <a:pPr algn="ctr">
              <a:spcAft>
                <a:spcPts val="200"/>
              </a:spcAft>
            </a:pPr>
            <a:r>
              <a:rPr sz="1300" b="1" i="0">
                <a:solidFill>
                  <a:srgbClr val="3A106E"/>
                </a:solidFill>
                <a:latin typeface="Yu Gothic"/>
                <a:ea typeface="Yu Gothic"/>
                <a:cs typeface="Yu Gothic"/>
              </a:rPr>
              <a:t>事務局</a:t>
            </a:r>
          </a:p>
          <a:p>
            <a:pPr algn="ctr">
              <a:spcAft>
                <a:spcPts val="200"/>
              </a:spcAft>
            </a:pPr>
            <a:r>
              <a:rPr sz="1000" b="0" i="0">
                <a:solidFill>
                  <a:srgbClr val="5F5F6E"/>
                </a:solidFill>
                <a:latin typeface="Yu Gothic"/>
                <a:ea typeface="Yu Gothic"/>
                <a:cs typeface="Yu Gothic"/>
              </a:rPr>
              <a:t>（PMO）</a:t>
            </a:r>
          </a:p>
          <a:p>
            <a:pPr algn="ctr">
              <a:spcAft>
                <a:spcPts val="200"/>
              </a:spcAft>
            </a:pPr>
            <a:r>
              <a:rPr sz="600" b="0" i="0">
                <a:solidFill>
                  <a:srgbClr val="5F5F6E"/>
                </a:solidFill>
                <a:latin typeface="Yu Gothic"/>
                <a:ea typeface="Yu Gothic"/>
                <a:cs typeface="Yu Gothic"/>
              </a:rPr>
              <a:t/>
            </a:r>
          </a:p>
          <a:p>
            <a:pPr algn="ctr">
              <a:spcAft>
                <a:spcPts val="200"/>
              </a:spcAft>
            </a:pPr>
            <a:r>
              <a:rPr sz="1050" b="0" i="0">
                <a:solidFill>
                  <a:srgbClr val="262630"/>
                </a:solidFill>
                <a:latin typeface="Yu Gothic"/>
                <a:ea typeface="Yu Gothic"/>
                <a:cs typeface="Yu Gothic"/>
              </a:rPr>
              <a:t>毎朝30分</a:t>
            </a:r>
          </a:p>
          <a:p>
            <a:pPr algn="ctr">
              <a:spcAft>
                <a:spcPts val="200"/>
              </a:spcAft>
            </a:pPr>
            <a:r>
              <a:rPr sz="600" b="0" i="0">
                <a:solidFill>
                  <a:srgbClr val="5F5F6E"/>
                </a:solidFill>
                <a:latin typeface="Yu Gothic"/>
                <a:ea typeface="Yu Gothic"/>
                <a:cs typeface="Yu Gothic"/>
              </a:rPr>
              <a:t/>
            </a:r>
          </a:p>
          <a:p>
            <a:pPr algn="ctr">
              <a:spcAft>
                <a:spcPts val="200"/>
              </a:spcAft>
            </a:pPr>
            <a:r>
              <a:rPr sz="1050" b="0" i="0">
                <a:solidFill>
                  <a:srgbClr val="262630"/>
                </a:solidFill>
                <a:latin typeface="Yu Gothic"/>
                <a:ea typeface="Yu Gothic"/>
                <a:cs typeface="Yu Gothic"/>
              </a:rPr>
              <a:t>全体を回す</a:t>
            </a:r>
          </a:p>
          <a:p>
            <a:pPr algn="ctr">
              <a:spcAft>
                <a:spcPts val="200"/>
              </a:spcAft>
            </a:pPr>
            <a:r>
              <a:rPr sz="1050" b="0" i="0">
                <a:solidFill>
                  <a:srgbClr val="262630"/>
                </a:solidFill>
                <a:latin typeface="Yu Gothic"/>
                <a:ea typeface="Yu Gothic"/>
                <a:cs typeface="Yu Gothic"/>
              </a:rPr>
              <a:t>記録・準備は</a:t>
            </a:r>
          </a:p>
          <a:p>
            <a:pPr algn="ctr">
              <a:spcAft>
                <a:spcPts val="200"/>
              </a:spcAft>
            </a:pPr>
            <a:r>
              <a:rPr sz="1050" b="0" i="0">
                <a:solidFill>
                  <a:srgbClr val="262630"/>
                </a:solidFill>
                <a:latin typeface="Yu Gothic"/>
                <a:ea typeface="Yu Gothic"/>
                <a:cs typeface="Yu Gothic"/>
              </a:rPr>
              <a:t>全部ここ</a:t>
            </a:r>
          </a:p>
        </p:txBody>
      </p:sp>
      <p:sp>
        <p:nvSpPr>
          <p:cNvPr id="23" name="TextBox 22"/>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4" name="TextBox 2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第3部｜絵②</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2週間で1周する——毎週の分科会と、隔週の「決める会議」</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0"/>
            <a:ext cx="822960" cy="457200"/>
          </a:xfrm>
          <a:prstGeom prst="rect">
            <a:avLst/>
          </a:prstGeom>
          <a:noFill/>
        </p:spPr>
        <p:txBody>
          <a:bodyPr wrap="square" lIns="0" rIns="0" tIns="0" bIns="0" anchor="ctr">
            <a:spAutoFit/>
          </a:bodyPr>
          <a:lstStyle/>
          <a:p>
            <a:pPr algn="ctr">
              <a:spcAft>
                <a:spcPts val="200"/>
              </a:spcAft>
            </a:pPr>
            <a:r>
              <a:rPr sz="1300" b="1" i="0">
                <a:solidFill>
                  <a:srgbClr val="3A106E"/>
                </a:solidFill>
                <a:latin typeface="Yu Gothic"/>
                <a:ea typeface="Yu Gothic"/>
                <a:cs typeface="Yu Gothic"/>
              </a:rPr>
              <a:t>第1週</a:t>
            </a:r>
          </a:p>
        </p:txBody>
      </p:sp>
      <p:sp>
        <p:nvSpPr>
          <p:cNvPr id="6" name="TextBox 5"/>
          <p:cNvSpPr txBox="1"/>
          <p:nvPr/>
        </p:nvSpPr>
        <p:spPr>
          <a:xfrm>
            <a:off x="502920" y="4160520"/>
            <a:ext cx="822960" cy="457200"/>
          </a:xfrm>
          <a:prstGeom prst="rect">
            <a:avLst/>
          </a:prstGeom>
          <a:noFill/>
        </p:spPr>
        <p:txBody>
          <a:bodyPr wrap="square" lIns="0" rIns="0" tIns="0" bIns="0" anchor="ctr">
            <a:spAutoFit/>
          </a:bodyPr>
          <a:lstStyle/>
          <a:p>
            <a:pPr algn="ctr">
              <a:spcAft>
                <a:spcPts val="200"/>
              </a:spcAft>
            </a:pPr>
            <a:r>
              <a:rPr sz="1300" b="1" i="0">
                <a:solidFill>
                  <a:srgbClr val="3A106E"/>
                </a:solidFill>
                <a:latin typeface="Yu Gothic"/>
                <a:ea typeface="Yu Gothic"/>
                <a:cs typeface="Yu Gothic"/>
              </a:rPr>
              <a:t>第2週</a:t>
            </a:r>
          </a:p>
        </p:txBody>
      </p:sp>
      <p:sp>
        <p:nvSpPr>
          <p:cNvPr id="7" name="TextBox 6"/>
          <p:cNvSpPr txBox="1"/>
          <p:nvPr/>
        </p:nvSpPr>
        <p:spPr>
          <a:xfrm>
            <a:off x="1371600" y="1719072"/>
            <a:ext cx="1965960" cy="32004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月</a:t>
            </a:r>
          </a:p>
        </p:txBody>
      </p:sp>
      <p:sp>
        <p:nvSpPr>
          <p:cNvPr id="8" name="TextBox 7"/>
          <p:cNvSpPr txBox="1"/>
          <p:nvPr/>
        </p:nvSpPr>
        <p:spPr>
          <a:xfrm>
            <a:off x="3383280" y="1719072"/>
            <a:ext cx="1965960" cy="32004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火</a:t>
            </a:r>
          </a:p>
        </p:txBody>
      </p:sp>
      <p:sp>
        <p:nvSpPr>
          <p:cNvPr id="9" name="TextBox 8"/>
          <p:cNvSpPr txBox="1"/>
          <p:nvPr/>
        </p:nvSpPr>
        <p:spPr>
          <a:xfrm>
            <a:off x="5394960" y="1719072"/>
            <a:ext cx="1965960" cy="32004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水</a:t>
            </a:r>
          </a:p>
        </p:txBody>
      </p:sp>
      <p:sp>
        <p:nvSpPr>
          <p:cNvPr id="10" name="TextBox 9"/>
          <p:cNvSpPr txBox="1"/>
          <p:nvPr/>
        </p:nvSpPr>
        <p:spPr>
          <a:xfrm>
            <a:off x="7406640" y="1719072"/>
            <a:ext cx="1965960" cy="32004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木</a:t>
            </a:r>
          </a:p>
        </p:txBody>
      </p:sp>
      <p:sp>
        <p:nvSpPr>
          <p:cNvPr id="11" name="TextBox 10"/>
          <p:cNvSpPr txBox="1"/>
          <p:nvPr/>
        </p:nvSpPr>
        <p:spPr>
          <a:xfrm>
            <a:off x="9418320" y="1719072"/>
            <a:ext cx="1965960" cy="32004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金</a:t>
            </a:r>
          </a:p>
        </p:txBody>
      </p:sp>
      <p:sp>
        <p:nvSpPr>
          <p:cNvPr id="12" name="Rounded Rectangle 11"/>
          <p:cNvSpPr/>
          <p:nvPr/>
        </p:nvSpPr>
        <p:spPr>
          <a:xfrm>
            <a:off x="1371600" y="21031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21031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94960" y="21031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21031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18320" y="21031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371600" y="37033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83280" y="37033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394960" y="37033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06640" y="37033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418320" y="3703320"/>
            <a:ext cx="1965960" cy="137160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83280" y="2103120"/>
            <a:ext cx="1965960" cy="137160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2103120"/>
            <a:ext cx="1965960" cy="1371600"/>
          </a:xfrm>
          <a:prstGeom prst="rect">
            <a:avLst/>
          </a:prstGeom>
          <a:noFill/>
        </p:spPr>
        <p:txBody>
          <a:bodyPr wrap="square" lIns="0" rIns="0" tIns="0" bIns="0" anchor="ctr">
            <a:spAutoFit/>
          </a:bodyPr>
          <a:lstStyle/>
          <a:p>
            <a:pPr algn="ctr">
              <a:spcAft>
                <a:spcPts val="200"/>
              </a:spcAft>
            </a:pPr>
            <a:r>
              <a:rPr sz="1300" b="1" i="0">
                <a:solidFill>
                  <a:srgbClr val="3A106E"/>
                </a:solidFill>
                <a:latin typeface="Yu Gothic"/>
                <a:ea typeface="Yu Gothic"/>
                <a:cs typeface="Yu Gothic"/>
              </a:rPr>
              <a:t>分科会 ×3</a:t>
            </a:r>
          </a:p>
          <a:p>
            <a:pPr algn="ctr">
              <a:spcAft>
                <a:spcPts val="200"/>
              </a:spcAft>
            </a:pPr>
            <a:r>
              <a:rPr sz="1000" b="0" i="0">
                <a:solidFill>
                  <a:srgbClr val="5F5F6E"/>
                </a:solidFill>
                <a:latin typeface="Yu Gothic"/>
                <a:ea typeface="Yu Gothic"/>
                <a:cs typeface="Yu Gothic"/>
              </a:rPr>
              <a:t>各60〜90分</a:t>
            </a:r>
          </a:p>
        </p:txBody>
      </p:sp>
      <p:sp>
        <p:nvSpPr>
          <p:cNvPr id="24" name="Rounded Rectangle 23"/>
          <p:cNvSpPr/>
          <p:nvPr/>
        </p:nvSpPr>
        <p:spPr>
          <a:xfrm>
            <a:off x="3383280" y="3703320"/>
            <a:ext cx="1965960" cy="137160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0" y="3703320"/>
            <a:ext cx="1965960" cy="1371600"/>
          </a:xfrm>
          <a:prstGeom prst="rect">
            <a:avLst/>
          </a:prstGeom>
          <a:noFill/>
        </p:spPr>
        <p:txBody>
          <a:bodyPr wrap="square" lIns="0" rIns="0" tIns="0" bIns="0" anchor="ctr">
            <a:spAutoFit/>
          </a:bodyPr>
          <a:lstStyle/>
          <a:p>
            <a:pPr algn="ctr">
              <a:spcAft>
                <a:spcPts val="200"/>
              </a:spcAft>
            </a:pPr>
            <a:r>
              <a:rPr sz="1300" b="1" i="0">
                <a:solidFill>
                  <a:srgbClr val="3A106E"/>
                </a:solidFill>
                <a:latin typeface="Yu Gothic"/>
                <a:ea typeface="Yu Gothic"/>
                <a:cs typeface="Yu Gothic"/>
              </a:rPr>
              <a:t>分科会 ×3</a:t>
            </a:r>
          </a:p>
          <a:p>
            <a:pPr algn="ctr">
              <a:spcAft>
                <a:spcPts val="200"/>
              </a:spcAft>
            </a:pPr>
            <a:r>
              <a:rPr sz="1000" b="0" i="0">
                <a:solidFill>
                  <a:srgbClr val="5F5F6E"/>
                </a:solidFill>
                <a:latin typeface="Yu Gothic"/>
                <a:ea typeface="Yu Gothic"/>
                <a:cs typeface="Yu Gothic"/>
              </a:rPr>
              <a:t>各60〜90分</a:t>
            </a:r>
          </a:p>
        </p:txBody>
      </p:sp>
      <p:sp>
        <p:nvSpPr>
          <p:cNvPr id="26" name="Rounded Rectangle 25"/>
          <p:cNvSpPr/>
          <p:nvPr/>
        </p:nvSpPr>
        <p:spPr>
          <a:xfrm>
            <a:off x="7406640" y="2103120"/>
            <a:ext cx="1965960" cy="137160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2103120"/>
            <a:ext cx="1965960" cy="1371600"/>
          </a:xfrm>
          <a:prstGeom prst="rect">
            <a:avLst/>
          </a:prstGeom>
          <a:noFill/>
        </p:spPr>
        <p:txBody>
          <a:bodyPr wrap="square" lIns="0" rIns="0" tIns="0" bIns="0" anchor="ctr">
            <a:spAutoFit/>
          </a:bodyPr>
          <a:lstStyle/>
          <a:p>
            <a:pPr algn="ctr">
              <a:spcAft>
                <a:spcPts val="200"/>
              </a:spcAft>
            </a:pPr>
            <a:r>
              <a:rPr sz="1400" b="1" i="0">
                <a:solidFill>
                  <a:srgbClr val="FFFFFF"/>
                </a:solidFill>
                <a:latin typeface="Yu Gothic"/>
                <a:ea typeface="Yu Gothic"/>
                <a:cs typeface="Yu Gothic"/>
              </a:rPr>
              <a:t>戦略会議</a:t>
            </a:r>
          </a:p>
          <a:p>
            <a:pPr algn="ctr">
              <a:spcAft>
                <a:spcPts val="200"/>
              </a:spcAft>
            </a:pPr>
            <a:r>
              <a:rPr sz="1050" b="0" i="0">
                <a:solidFill>
                  <a:srgbClr val="FFFFFF"/>
                </a:solidFill>
                <a:latin typeface="Yu Gothic"/>
                <a:ea typeface="Yu Gothic"/>
                <a:cs typeface="Yu Gothic"/>
              </a:rPr>
              <a:t>社長</a:t>
            </a:r>
          </a:p>
        </p:txBody>
      </p:sp>
      <p:sp>
        <p:nvSpPr>
          <p:cNvPr id="28" name="Rounded Rectangle 27"/>
          <p:cNvSpPr/>
          <p:nvPr/>
        </p:nvSpPr>
        <p:spPr>
          <a:xfrm>
            <a:off x="7406640" y="3703320"/>
            <a:ext cx="1965960" cy="1371600"/>
          </a:xfrm>
          <a:prstGeom prst="roundRect">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03320"/>
            <a:ext cx="1965960" cy="1371600"/>
          </a:xfrm>
          <a:prstGeom prst="rect">
            <a:avLst/>
          </a:prstGeom>
          <a:noFill/>
        </p:spPr>
        <p:txBody>
          <a:bodyPr wrap="square" lIns="0" rIns="0" tIns="0" bIns="0" anchor="ctr">
            <a:spAutoFit/>
          </a:bodyPr>
          <a:lstStyle/>
          <a:p>
            <a:pPr algn="ctr">
              <a:spcAft>
                <a:spcPts val="200"/>
              </a:spcAft>
            </a:pPr>
            <a:r>
              <a:rPr sz="1400" b="1" i="0">
                <a:solidFill>
                  <a:srgbClr val="FFFFFF"/>
                </a:solidFill>
                <a:latin typeface="Yu Gothic"/>
                <a:ea typeface="Yu Gothic"/>
                <a:cs typeface="Yu Gothic"/>
              </a:rPr>
              <a:t>点検会議</a:t>
            </a:r>
          </a:p>
          <a:p>
            <a:pPr algn="ctr">
              <a:spcAft>
                <a:spcPts val="200"/>
              </a:spcAft>
            </a:pPr>
            <a:r>
              <a:rPr sz="1050" b="0" i="0">
                <a:solidFill>
                  <a:srgbClr val="FFFFFF"/>
                </a:solidFill>
                <a:latin typeface="Yu Gothic"/>
                <a:ea typeface="Yu Gothic"/>
                <a:cs typeface="Yu Gothic"/>
              </a:rPr>
              <a:t>会長</a:t>
            </a:r>
          </a:p>
        </p:txBody>
      </p:sp>
      <p:sp>
        <p:nvSpPr>
          <p:cNvPr id="30" name="Rectangle 29"/>
          <p:cNvSpPr/>
          <p:nvPr/>
        </p:nvSpPr>
        <p:spPr>
          <a:xfrm>
            <a:off x="1371600" y="5349240"/>
            <a:ext cx="10012680" cy="502920"/>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71600" y="5349240"/>
            <a:ext cx="10012680" cy="502920"/>
          </a:xfrm>
          <a:prstGeom prst="rect">
            <a:avLst/>
          </a:prstGeom>
          <a:noFill/>
        </p:spPr>
        <p:txBody>
          <a:bodyPr wrap="square" lIns="0" rIns="0" tIns="0" bIns="0" anchor="ctr">
            <a:spAutoFit/>
          </a:bodyPr>
          <a:lstStyle/>
          <a:p>
            <a:pPr algn="ctr">
              <a:spcAft>
                <a:spcPts val="200"/>
              </a:spcAft>
            </a:pPr>
            <a:r>
              <a:rPr sz="1200" b="1" i="0">
                <a:solidFill>
                  <a:srgbClr val="5F5F6E"/>
                </a:solidFill>
                <a:latin typeface="Yu Gothic"/>
                <a:ea typeface="Yu Gothic"/>
                <a:cs typeface="Yu Gothic"/>
              </a:rPr>
              <a:t>毎朝：事務局会議 30分（進捗の確認と、次の会議の準備）</a:t>
            </a:r>
          </a:p>
        </p:txBody>
      </p:sp>
      <p:sp>
        <p:nvSpPr>
          <p:cNvPr id="32" name="TextBox 31"/>
          <p:cNvSpPr txBox="1"/>
          <p:nvPr/>
        </p:nvSpPr>
        <p:spPr>
          <a:xfrm>
            <a:off x="502920" y="5989320"/>
            <a:ext cx="11155680" cy="457200"/>
          </a:xfrm>
          <a:prstGeom prst="rect">
            <a:avLst/>
          </a:prstGeom>
          <a:noFill/>
        </p:spPr>
        <p:txBody>
          <a:bodyPr wrap="square" lIns="0" rIns="0" tIns="0" bIns="0">
            <a:spAutoFit/>
          </a:bodyPr>
          <a:lstStyle/>
          <a:p>
            <a:pPr algn="l">
              <a:spcAft>
                <a:spcPts val="400"/>
              </a:spcAft>
            </a:pPr>
            <a:r>
              <a:rPr sz="1100" b="0" i="0">
                <a:solidFill>
                  <a:srgbClr val="5F5F6E"/>
                </a:solidFill>
                <a:latin typeface="Yu Gothic"/>
                <a:ea typeface="Yu Gothic"/>
                <a:cs typeface="Yu Gothic"/>
              </a:rPr>
              <a:t>※ 曜日は仮。皆さんに毎回出ていただくのは「自部門に関係する分科会」だけです（週1回・60〜90分）</a:t>
            </a:r>
          </a:p>
        </p:txBody>
      </p:sp>
      <p:sp>
        <p:nvSpPr>
          <p:cNvPr id="33" name="TextBox 32"/>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34" name="TextBox 3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第3部｜絵③</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困りごとが上がっていく道——例：「監修の戻りが多くて案件が進まない」</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vron 4"/>
          <p:cNvSpPr/>
          <p:nvPr/>
        </p:nvSpPr>
        <p:spPr>
          <a:xfrm>
            <a:off x="822960" y="2011680"/>
            <a:ext cx="3566160" cy="1371600"/>
          </a:xfrm>
          <a:prstGeom prst="chevron">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011680"/>
            <a:ext cx="3017520" cy="1371600"/>
          </a:xfrm>
          <a:prstGeom prst="rect">
            <a:avLst/>
          </a:prstGeom>
          <a:noFill/>
        </p:spPr>
        <p:txBody>
          <a:bodyPr wrap="square" lIns="0" rIns="0" tIns="0" bIns="0" anchor="ctr">
            <a:spAutoFit/>
          </a:bodyPr>
          <a:lstStyle/>
          <a:p>
            <a:pPr algn="ctr">
              <a:spcAft>
                <a:spcPts val="200"/>
              </a:spcAft>
            </a:pPr>
            <a:r>
              <a:rPr sz="1600" b="1" i="0">
                <a:solidFill>
                  <a:srgbClr val="3A106E"/>
                </a:solidFill>
                <a:latin typeface="Yu Gothic"/>
                <a:ea typeface="Yu Gothic"/>
                <a:cs typeface="Yu Gothic"/>
              </a:rPr>
              <a:t>分科会</a:t>
            </a:r>
          </a:p>
          <a:p>
            <a:pPr algn="ctr">
              <a:spcAft>
                <a:spcPts val="200"/>
              </a:spcAft>
            </a:pPr>
            <a:r>
              <a:rPr sz="1050" b="0" i="0">
                <a:solidFill>
                  <a:srgbClr val="3A106E"/>
                </a:solidFill>
                <a:latin typeface="Yu Gothic"/>
                <a:ea typeface="Yu Gothic"/>
                <a:cs typeface="Yu Gothic"/>
              </a:rPr>
              <a:t>部門内でできる改善は</a:t>
            </a:r>
          </a:p>
          <a:p>
            <a:pPr algn="ctr">
              <a:spcAft>
                <a:spcPts val="200"/>
              </a:spcAft>
            </a:pPr>
            <a:r>
              <a:rPr sz="1050" b="0" i="0">
                <a:solidFill>
                  <a:srgbClr val="3A106E"/>
                </a:solidFill>
                <a:latin typeface="Yu Gothic"/>
                <a:ea typeface="Yu Gothic"/>
                <a:cs typeface="Yu Gothic"/>
              </a:rPr>
              <a:t>ここで決めて、すぐ実行</a:t>
            </a:r>
          </a:p>
        </p:txBody>
      </p:sp>
      <p:sp>
        <p:nvSpPr>
          <p:cNvPr id="7" name="Chevron 6"/>
          <p:cNvSpPr/>
          <p:nvPr/>
        </p:nvSpPr>
        <p:spPr>
          <a:xfrm>
            <a:off x="4617720" y="2011680"/>
            <a:ext cx="3566160" cy="1371600"/>
          </a:xfrm>
          <a:prstGeom prst="chevron">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2011680"/>
            <a:ext cx="3017520" cy="137160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戦略会議</a:t>
            </a:r>
          </a:p>
          <a:p>
            <a:pPr algn="ctr">
              <a:spcAft>
                <a:spcPts val="200"/>
              </a:spcAft>
            </a:pPr>
            <a:r>
              <a:rPr sz="1050" b="0" i="0">
                <a:solidFill>
                  <a:srgbClr val="FFFFFF"/>
                </a:solidFill>
                <a:latin typeface="Yu Gothic"/>
                <a:ea typeface="Yu Gothic"/>
                <a:cs typeface="Yu Gothic"/>
              </a:rPr>
              <a:t>部門をまたぐこと・</a:t>
            </a:r>
          </a:p>
          <a:p>
            <a:pPr algn="ctr">
              <a:spcAft>
                <a:spcPts val="200"/>
              </a:spcAft>
            </a:pPr>
            <a:r>
              <a:rPr sz="1050" b="0" i="0">
                <a:solidFill>
                  <a:srgbClr val="FFFFFF"/>
                </a:solidFill>
                <a:latin typeface="Yu Gothic"/>
                <a:ea typeface="Yu Gothic"/>
                <a:cs typeface="Yu Gothic"/>
              </a:rPr>
              <a:t>人の配分はここで決定</a:t>
            </a:r>
          </a:p>
        </p:txBody>
      </p:sp>
      <p:sp>
        <p:nvSpPr>
          <p:cNvPr id="9" name="Chevron 8"/>
          <p:cNvSpPr/>
          <p:nvPr/>
        </p:nvSpPr>
        <p:spPr>
          <a:xfrm>
            <a:off x="8412480" y="2011680"/>
            <a:ext cx="3566160" cy="1371600"/>
          </a:xfrm>
          <a:prstGeom prst="chevron">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3960" y="2011680"/>
            <a:ext cx="3017520" cy="137160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点検会議</a:t>
            </a:r>
          </a:p>
          <a:p>
            <a:pPr algn="ctr">
              <a:spcAft>
                <a:spcPts val="200"/>
              </a:spcAft>
            </a:pPr>
            <a:r>
              <a:rPr sz="1050" b="0" i="0">
                <a:solidFill>
                  <a:srgbClr val="FFFFFF"/>
                </a:solidFill>
                <a:latin typeface="Yu Gothic"/>
                <a:ea typeface="Yu Gothic"/>
                <a:cs typeface="Yu Gothic"/>
              </a:rPr>
              <a:t>会社の方針・お金・体制に</a:t>
            </a:r>
          </a:p>
          <a:p>
            <a:pPr algn="ctr">
              <a:spcAft>
                <a:spcPts val="200"/>
              </a:spcAft>
            </a:pPr>
            <a:r>
              <a:rPr sz="1050" b="0" i="0">
                <a:solidFill>
                  <a:srgbClr val="FFFFFF"/>
                </a:solidFill>
                <a:latin typeface="Yu Gothic"/>
                <a:ea typeface="Yu Gothic"/>
                <a:cs typeface="Yu Gothic"/>
              </a:rPr>
              <a:t>関わることだけ会長が決定</a:t>
            </a:r>
          </a:p>
        </p:txBody>
      </p:sp>
      <p:sp>
        <p:nvSpPr>
          <p:cNvPr id="11" name="Rectangle 10"/>
          <p:cNvSpPr/>
          <p:nvPr/>
        </p:nvSpPr>
        <p:spPr>
          <a:xfrm>
            <a:off x="822960" y="3749039"/>
            <a:ext cx="10972800" cy="566928"/>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749039"/>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49039"/>
            <a:ext cx="1554480" cy="566928"/>
          </a:xfrm>
          <a:prstGeom prst="rect">
            <a:avLst/>
          </a:prstGeom>
          <a:noFill/>
        </p:spPr>
        <p:txBody>
          <a:bodyPr wrap="square" lIns="0" rIns="0" tIns="0" bIns="0" anchor="ctr">
            <a:spAutoFit/>
          </a:bodyPr>
          <a:lstStyle/>
          <a:p>
            <a:pPr algn="l">
              <a:spcAft>
                <a:spcPts val="200"/>
              </a:spcAft>
            </a:pPr>
            <a:r>
              <a:rPr sz="1200" b="1" i="0">
                <a:solidFill>
                  <a:srgbClr val="3A106E"/>
                </a:solidFill>
                <a:latin typeface="Yu Gothic"/>
                <a:ea typeface="Yu Gothic"/>
                <a:cs typeface="Yu Gothic"/>
              </a:rPr>
              <a:t>分科会で</a:t>
            </a:r>
          </a:p>
        </p:txBody>
      </p:sp>
      <p:sp>
        <p:nvSpPr>
          <p:cNvPr id="14" name="TextBox 13"/>
          <p:cNvSpPr txBox="1"/>
          <p:nvPr/>
        </p:nvSpPr>
        <p:spPr>
          <a:xfrm>
            <a:off x="2697480" y="3749039"/>
            <a:ext cx="8961120" cy="566928"/>
          </a:xfrm>
          <a:prstGeom prst="rect">
            <a:avLst/>
          </a:prstGeom>
          <a:noFill/>
        </p:spPr>
        <p:txBody>
          <a:bodyPr wrap="square" lIns="0" rIns="0" tIns="0" bIns="0" anchor="ctr">
            <a:spAutoFit/>
          </a:bodyPr>
          <a:lstStyle/>
          <a:p>
            <a:pPr algn="l">
              <a:spcAft>
                <a:spcPts val="200"/>
              </a:spcAft>
            </a:pPr>
            <a:r>
              <a:rPr sz="1150" b="0" i="0">
                <a:solidFill>
                  <a:srgbClr val="262630"/>
                </a:solidFill>
                <a:latin typeface="Yu Gothic"/>
                <a:ea typeface="Yu Gothic"/>
                <a:cs typeface="Yu Gothic"/>
              </a:rPr>
              <a:t>戻りの多い原因を確認。「事前チェックリストを作る」は、その場で決めて翌週から実行</a:t>
            </a:r>
          </a:p>
        </p:txBody>
      </p:sp>
      <p:sp>
        <p:nvSpPr>
          <p:cNvPr id="15" name="Rectangle 14"/>
          <p:cNvSpPr/>
          <p:nvPr/>
        </p:nvSpPr>
        <p:spPr>
          <a:xfrm>
            <a:off x="822960" y="4434840"/>
            <a:ext cx="10972800" cy="566928"/>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434840"/>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434840"/>
            <a:ext cx="1554480" cy="566928"/>
          </a:xfrm>
          <a:prstGeom prst="rect">
            <a:avLst/>
          </a:prstGeom>
          <a:noFill/>
        </p:spPr>
        <p:txBody>
          <a:bodyPr wrap="square" lIns="0" rIns="0" tIns="0" bIns="0" anchor="ctr">
            <a:spAutoFit/>
          </a:bodyPr>
          <a:lstStyle/>
          <a:p>
            <a:pPr algn="l">
              <a:spcAft>
                <a:spcPts val="200"/>
              </a:spcAft>
            </a:pPr>
            <a:r>
              <a:rPr sz="1200" b="1" i="0">
                <a:solidFill>
                  <a:srgbClr val="3A106E"/>
                </a:solidFill>
                <a:latin typeface="Yu Gothic"/>
                <a:ea typeface="Yu Gothic"/>
                <a:cs typeface="Yu Gothic"/>
              </a:rPr>
              <a:t>戦略会議へ</a:t>
            </a:r>
          </a:p>
        </p:txBody>
      </p:sp>
      <p:sp>
        <p:nvSpPr>
          <p:cNvPr id="18" name="TextBox 17"/>
          <p:cNvSpPr txBox="1"/>
          <p:nvPr/>
        </p:nvSpPr>
        <p:spPr>
          <a:xfrm>
            <a:off x="2697480" y="4434840"/>
            <a:ext cx="8961120" cy="566928"/>
          </a:xfrm>
          <a:prstGeom prst="rect">
            <a:avLst/>
          </a:prstGeom>
          <a:noFill/>
        </p:spPr>
        <p:txBody>
          <a:bodyPr wrap="square" lIns="0" rIns="0" tIns="0" bIns="0" anchor="ctr">
            <a:spAutoFit/>
          </a:bodyPr>
          <a:lstStyle/>
          <a:p>
            <a:pPr algn="l">
              <a:spcAft>
                <a:spcPts val="200"/>
              </a:spcAft>
            </a:pPr>
            <a:r>
              <a:rPr sz="1150" b="0" i="0">
                <a:solidFill>
                  <a:srgbClr val="262630"/>
                </a:solidFill>
                <a:latin typeface="Yu Gothic"/>
                <a:ea typeface="Yu Gothic"/>
                <a:cs typeface="Yu Gothic"/>
              </a:rPr>
              <a:t>「監修の人手が足りない」は部門をまたぐ話なので上げる → 応援の配置を社長が決定</a:t>
            </a:r>
          </a:p>
        </p:txBody>
      </p:sp>
      <p:sp>
        <p:nvSpPr>
          <p:cNvPr id="19" name="Rectangle 18"/>
          <p:cNvSpPr/>
          <p:nvPr/>
        </p:nvSpPr>
        <p:spPr>
          <a:xfrm>
            <a:off x="822960" y="5120640"/>
            <a:ext cx="10972800" cy="566928"/>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120640"/>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120640"/>
            <a:ext cx="1554480" cy="566928"/>
          </a:xfrm>
          <a:prstGeom prst="rect">
            <a:avLst/>
          </a:prstGeom>
          <a:noFill/>
        </p:spPr>
        <p:txBody>
          <a:bodyPr wrap="square" lIns="0" rIns="0" tIns="0" bIns="0" anchor="ctr">
            <a:spAutoFit/>
          </a:bodyPr>
          <a:lstStyle/>
          <a:p>
            <a:pPr algn="l">
              <a:spcAft>
                <a:spcPts val="200"/>
              </a:spcAft>
            </a:pPr>
            <a:r>
              <a:rPr sz="1200" b="1" i="0">
                <a:solidFill>
                  <a:srgbClr val="3A106E"/>
                </a:solidFill>
                <a:latin typeface="Yu Gothic"/>
                <a:ea typeface="Yu Gothic"/>
                <a:cs typeface="Yu Gothic"/>
              </a:rPr>
              <a:t>点検会議へ</a:t>
            </a:r>
          </a:p>
        </p:txBody>
      </p:sp>
      <p:sp>
        <p:nvSpPr>
          <p:cNvPr id="22" name="TextBox 21"/>
          <p:cNvSpPr txBox="1"/>
          <p:nvPr/>
        </p:nvSpPr>
        <p:spPr>
          <a:xfrm>
            <a:off x="2697480" y="5120640"/>
            <a:ext cx="8961120" cy="566928"/>
          </a:xfrm>
          <a:prstGeom prst="rect">
            <a:avLst/>
          </a:prstGeom>
          <a:noFill/>
        </p:spPr>
        <p:txBody>
          <a:bodyPr wrap="square" lIns="0" rIns="0" tIns="0" bIns="0" anchor="ctr">
            <a:spAutoFit/>
          </a:bodyPr>
          <a:lstStyle/>
          <a:p>
            <a:pPr algn="l">
              <a:spcAft>
                <a:spcPts val="200"/>
              </a:spcAft>
            </a:pPr>
            <a:r>
              <a:rPr sz="1150" b="0" i="0">
                <a:solidFill>
                  <a:srgbClr val="262630"/>
                </a:solidFill>
                <a:latin typeface="Yu Gothic"/>
                <a:ea typeface="Yu Gothic"/>
                <a:cs typeface="Yu Gothic"/>
              </a:rPr>
              <a:t>「監修の体制を増強する（費用が発生）」は会社の判断なので上げる → 会長が決定</a:t>
            </a:r>
          </a:p>
        </p:txBody>
      </p:sp>
      <p:sp>
        <p:nvSpPr>
          <p:cNvPr id="23" name="TextBox 22"/>
          <p:cNvSpPr txBox="1"/>
          <p:nvPr/>
        </p:nvSpPr>
        <p:spPr>
          <a:xfrm>
            <a:off x="822960" y="5943600"/>
            <a:ext cx="10972800" cy="457200"/>
          </a:xfrm>
          <a:prstGeom prst="rect">
            <a:avLst/>
          </a:prstGeom>
          <a:noFill/>
        </p:spPr>
        <p:txBody>
          <a:bodyPr wrap="square" lIns="0" rIns="0" tIns="0" bIns="0">
            <a:spAutoFit/>
          </a:bodyPr>
          <a:lstStyle/>
          <a:p>
            <a:pPr algn="l">
              <a:spcAft>
                <a:spcPts val="400"/>
              </a:spcAft>
            </a:pPr>
            <a:r>
              <a:rPr sz="1200" b="1" i="0">
                <a:solidFill>
                  <a:srgbClr val="7823DC"/>
                </a:solidFill>
                <a:latin typeface="Yu Gothic"/>
                <a:ea typeface="Yu Gothic"/>
                <a:cs typeface="Yu Gothic"/>
              </a:rPr>
              <a:t>ポイント：現場で決められることは現場で決め切る。上の会議には「そこでしか決められないこと」だけを上げる</a:t>
            </a:r>
          </a:p>
        </p:txBody>
      </p:sp>
      <p:sp>
        <p:nvSpPr>
          <p:cNvPr id="24" name="TextBox 23"/>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5" name="TextBox 24"/>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第3部｜運営のルール</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全部の会議に共通するルールは3つだけ</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3566160" cy="301752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57400" y="178308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1</a:t>
            </a:r>
          </a:p>
        </p:txBody>
      </p:sp>
      <p:sp>
        <p:nvSpPr>
          <p:cNvPr id="8" name="TextBox 7"/>
          <p:cNvSpPr txBox="1"/>
          <p:nvPr/>
        </p:nvSpPr>
        <p:spPr>
          <a:xfrm>
            <a:off x="82296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資料を作らない</a:t>
            </a:r>
          </a:p>
        </p:txBody>
      </p:sp>
      <p:sp>
        <p:nvSpPr>
          <p:cNvPr id="9" name="TextBox 8"/>
          <p:cNvSpPr txBox="1"/>
          <p:nvPr/>
        </p:nvSpPr>
        <p:spPr>
          <a:xfrm>
            <a:off x="960120" y="3291840"/>
            <a:ext cx="2926080" cy="164592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会議のためのパワポ・報告資料は禁止。</a:t>
            </a:r>
          </a:p>
          <a:p>
            <a:pPr algn="l">
              <a:spcAft>
                <a:spcPts val="400"/>
              </a:spcAft>
            </a:pPr>
            <a:r>
              <a:rPr sz="1100" b="0" i="0">
                <a:solidFill>
                  <a:srgbClr val="262630"/>
                </a:solidFill>
                <a:latin typeface="Yu Gothic"/>
                <a:ea typeface="Yu Gothic"/>
                <a:cs typeface="Yu Gothic"/>
              </a:rPr>
              <a:t>Wordのメモとその場のデータで話す。</a:t>
            </a:r>
          </a:p>
          <a:p>
            <a:pPr algn="l">
              <a:spcAft>
                <a:spcPts val="400"/>
              </a:spcAft>
            </a:pPr>
            <a:r>
              <a:rPr sz="1100" b="0" i="0">
                <a:solidFill>
                  <a:srgbClr val="8A8A99"/>
                </a:solidFill>
                <a:latin typeface="Yu Gothic"/>
                <a:ea typeface="Yu Gothic"/>
                <a:cs typeface="Yu Gothic"/>
              </a:rPr>
              <a:t>（例外は点検会議の要点数枚のみ・事務局作成）</a:t>
            </a:r>
          </a:p>
        </p:txBody>
      </p:sp>
      <p:sp>
        <p:nvSpPr>
          <p:cNvPr id="10" name="Rounded Rectangle 9"/>
          <p:cNvSpPr/>
          <p:nvPr/>
        </p:nvSpPr>
        <p:spPr>
          <a:xfrm>
            <a:off x="4434840" y="2103120"/>
            <a:ext cx="3566160" cy="301752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52160" y="178308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2</a:t>
            </a:r>
          </a:p>
        </p:txBody>
      </p:sp>
      <p:sp>
        <p:nvSpPr>
          <p:cNvPr id="13" name="TextBox 12"/>
          <p:cNvSpPr txBox="1"/>
          <p:nvPr/>
        </p:nvSpPr>
        <p:spPr>
          <a:xfrm>
            <a:off x="461772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決めたことは台帳に残す</a:t>
            </a:r>
          </a:p>
        </p:txBody>
      </p:sp>
      <p:sp>
        <p:nvSpPr>
          <p:cNvPr id="14" name="TextBox 13"/>
          <p:cNvSpPr txBox="1"/>
          <p:nvPr/>
        </p:nvSpPr>
        <p:spPr>
          <a:xfrm>
            <a:off x="4754880" y="3291840"/>
            <a:ext cx="2926080" cy="164592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「誰が・いつまでに・何を」まで決めて記録。</a:t>
            </a:r>
          </a:p>
          <a:p>
            <a:pPr algn="l">
              <a:spcAft>
                <a:spcPts val="400"/>
              </a:spcAft>
            </a:pPr>
            <a:r>
              <a:rPr sz="1100" b="0" i="0">
                <a:solidFill>
                  <a:srgbClr val="262630"/>
                </a:solidFill>
                <a:latin typeface="Yu Gothic"/>
                <a:ea typeface="Yu Gothic"/>
                <a:cs typeface="Yu Gothic"/>
              </a:rPr>
              <a:t>次の会議の冒頭で、やったかを必ず確認。</a:t>
            </a:r>
          </a:p>
          <a:p>
            <a:pPr algn="l">
              <a:spcAft>
                <a:spcPts val="400"/>
              </a:spcAft>
            </a:pPr>
            <a:r>
              <a:rPr sz="1100" b="0" i="0">
                <a:solidFill>
                  <a:srgbClr val="262630"/>
                </a:solidFill>
                <a:latin typeface="Yu Gothic"/>
                <a:ea typeface="Yu Gothic"/>
                <a:cs typeface="Yu Gothic"/>
              </a:rPr>
              <a:t>記録は全部、事務局がやります。</a:t>
            </a:r>
          </a:p>
        </p:txBody>
      </p:sp>
      <p:sp>
        <p:nvSpPr>
          <p:cNvPr id="15" name="Rounded Rectangle 14"/>
          <p:cNvSpPr/>
          <p:nvPr/>
        </p:nvSpPr>
        <p:spPr>
          <a:xfrm>
            <a:off x="8229600" y="2103120"/>
            <a:ext cx="3566160" cy="301752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46920" y="1783080"/>
            <a:ext cx="731520" cy="731520"/>
          </a:xfrm>
          <a:prstGeom prst="ellipse">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3</a:t>
            </a:r>
          </a:p>
        </p:txBody>
      </p:sp>
      <p:sp>
        <p:nvSpPr>
          <p:cNvPr id="18" name="TextBox 17"/>
          <p:cNvSpPr txBox="1"/>
          <p:nvPr/>
        </p:nvSpPr>
        <p:spPr>
          <a:xfrm>
            <a:off x="841248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止まったら、上に上がる</a:t>
            </a:r>
          </a:p>
        </p:txBody>
      </p:sp>
      <p:sp>
        <p:nvSpPr>
          <p:cNvPr id="19" name="TextBox 18"/>
          <p:cNvSpPr txBox="1"/>
          <p:nvPr/>
        </p:nvSpPr>
        <p:spPr>
          <a:xfrm>
            <a:off x="8549640" y="3291840"/>
            <a:ext cx="2926080" cy="164592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期限を2回超えたことは、自動的に</a:t>
            </a:r>
          </a:p>
          <a:p>
            <a:pPr algn="l">
              <a:spcAft>
                <a:spcPts val="400"/>
              </a:spcAft>
            </a:pPr>
            <a:r>
              <a:rPr sz="1100" b="0" i="0">
                <a:solidFill>
                  <a:srgbClr val="262630"/>
                </a:solidFill>
                <a:latin typeface="Yu Gothic"/>
                <a:ea typeface="Yu Gothic"/>
                <a:cs typeface="Yu Gothic"/>
              </a:rPr>
              <a:t>1つ上の会議の議題になる。</a:t>
            </a:r>
          </a:p>
          <a:p>
            <a:pPr algn="l">
              <a:spcAft>
                <a:spcPts val="400"/>
              </a:spcAft>
            </a:pPr>
            <a:r>
              <a:rPr sz="1100" b="0" i="0">
                <a:solidFill>
                  <a:srgbClr val="262630"/>
                </a:solidFill>
                <a:latin typeface="Yu Gothic"/>
                <a:ea typeface="Yu Gothic"/>
                <a:cs typeface="Yu Gothic"/>
              </a:rPr>
              <a:t>人を責めるためではなく、助けを出すため。</a:t>
            </a:r>
          </a:p>
        </p:txBody>
      </p:sp>
      <p:sp>
        <p:nvSpPr>
          <p:cNvPr id="20" name="Rectangle 19"/>
          <p:cNvSpPr/>
          <p:nvPr/>
        </p:nvSpPr>
        <p:spPr>
          <a:xfrm>
            <a:off x="502920" y="5577840"/>
            <a:ext cx="11183112" cy="548640"/>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5577840"/>
            <a:ext cx="38100" cy="54864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577840"/>
            <a:ext cx="10789920" cy="548640"/>
          </a:xfrm>
          <a:prstGeom prst="rect">
            <a:avLst/>
          </a:prstGeom>
          <a:noFill/>
        </p:spPr>
        <p:txBody>
          <a:bodyPr wrap="square" lIns="0" rIns="0" tIns="0" bIns="0" anchor="ctr">
            <a:spAutoFit/>
          </a:bodyPr>
          <a:lstStyle/>
          <a:p>
            <a:pPr algn="l">
              <a:spcAft>
                <a:spcPts val="400"/>
              </a:spcAft>
            </a:pPr>
            <a:r>
              <a:rPr sz="1200" b="1" i="0">
                <a:solidFill>
                  <a:srgbClr val="262630"/>
                </a:solidFill>
                <a:latin typeface="Yu Gothic"/>
                <a:ea typeface="Yu Gothic"/>
                <a:cs typeface="Yu Gothic"/>
              </a:rPr>
              <a:t>狙いはひとつ：会議と準備の時間を減らして、検討と実行に時間を使うこと</a:t>
            </a:r>
          </a:p>
        </p:txBody>
      </p:sp>
      <p:sp>
        <p:nvSpPr>
          <p:cNvPr id="23" name="TextBox 22"/>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4" name="TextBox 2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第4部 お願い（5分）</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部長の皆さんへのお願いは3つ＋こまごま2つ</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57400" y="178308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1</a:t>
            </a:r>
          </a:p>
        </p:txBody>
      </p:sp>
      <p:sp>
        <p:nvSpPr>
          <p:cNvPr id="8" name="TextBox 7"/>
          <p:cNvSpPr txBox="1"/>
          <p:nvPr/>
        </p:nvSpPr>
        <p:spPr>
          <a:xfrm>
            <a:off x="82296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人を出してください</a:t>
            </a:r>
          </a:p>
        </p:txBody>
      </p:sp>
      <p:sp>
        <p:nvSpPr>
          <p:cNvPr id="9" name="TextBox 8"/>
          <p:cNvSpPr txBox="1"/>
          <p:nvPr/>
        </p:nvSpPr>
        <p:spPr>
          <a:xfrm>
            <a:off x="960120" y="329184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自部門から分科会に出るメンバーを</a:t>
            </a:r>
          </a:p>
          <a:p>
            <a:pPr algn="l">
              <a:spcAft>
                <a:spcPts val="400"/>
              </a:spcAft>
            </a:pPr>
            <a:r>
              <a:rPr sz="1100" b="0" i="0">
                <a:solidFill>
                  <a:srgbClr val="262630"/>
                </a:solidFill>
                <a:latin typeface="Yu Gothic"/>
                <a:ea typeface="Yu Gothic"/>
                <a:cs typeface="Yu Gothic"/>
              </a:rPr>
              <a:t>1〜2名。負荷は週2〜4時間の想定。</a:t>
            </a:r>
          </a:p>
          <a:p>
            <a:pPr algn="l">
              <a:spcAft>
                <a:spcPts val="400"/>
              </a:spcAft>
            </a:pPr>
            <a:r>
              <a:rPr sz="1100" b="0" i="0">
                <a:solidFill>
                  <a:srgbClr val="262630"/>
                </a:solidFill>
                <a:latin typeface="Yu Gothic"/>
                <a:ea typeface="Yu Gothic"/>
                <a:cs typeface="Yu Gothic"/>
              </a:rPr>
              <a:t>今週中に個別にご相談します。</a:t>
            </a:r>
          </a:p>
        </p:txBody>
      </p:sp>
      <p:sp>
        <p:nvSpPr>
          <p:cNvPr id="10" name="Rounded Rectangle 9"/>
          <p:cNvSpPr/>
          <p:nvPr/>
        </p:nvSpPr>
        <p:spPr>
          <a:xfrm>
            <a:off x="4434840" y="210312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52160" y="178308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2</a:t>
            </a:r>
          </a:p>
        </p:txBody>
      </p:sp>
      <p:sp>
        <p:nvSpPr>
          <p:cNvPr id="13" name="TextBox 12"/>
          <p:cNvSpPr txBox="1"/>
          <p:nvPr/>
        </p:nvSpPr>
        <p:spPr>
          <a:xfrm>
            <a:off x="461772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出てください</a:t>
            </a:r>
          </a:p>
        </p:txBody>
      </p:sp>
      <p:sp>
        <p:nvSpPr>
          <p:cNvPr id="14" name="TextBox 13"/>
          <p:cNvSpPr txBox="1"/>
          <p:nvPr/>
        </p:nvSpPr>
        <p:spPr>
          <a:xfrm>
            <a:off x="4754880" y="329184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自部門に関係する分科会に、</a:t>
            </a:r>
          </a:p>
          <a:p>
            <a:pPr algn="l">
              <a:spcAft>
                <a:spcPts val="400"/>
              </a:spcAft>
            </a:pPr>
            <a:r>
              <a:rPr sz="1100" b="0" i="0">
                <a:solidFill>
                  <a:srgbClr val="262630"/>
                </a:solidFill>
                <a:latin typeface="Yu Gothic"/>
                <a:ea typeface="Yu Gothic"/>
                <a:cs typeface="Yu Gothic"/>
              </a:rPr>
              <a:t>部長ご自身も出席を（週1回・60〜90分）。</a:t>
            </a:r>
          </a:p>
          <a:p>
            <a:pPr algn="l">
              <a:spcAft>
                <a:spcPts val="400"/>
              </a:spcAft>
            </a:pPr>
            <a:r>
              <a:rPr sz="1100" b="0" i="0">
                <a:solidFill>
                  <a:srgbClr val="262630"/>
                </a:solidFill>
                <a:latin typeface="Yu Gothic"/>
                <a:ea typeface="Yu Gothic"/>
                <a:cs typeface="Yu Gothic"/>
              </a:rPr>
              <a:t>部門の意見を「決定」に反映する場です。</a:t>
            </a:r>
          </a:p>
        </p:txBody>
      </p:sp>
      <p:sp>
        <p:nvSpPr>
          <p:cNvPr id="15" name="Rounded Rectangle 14"/>
          <p:cNvSpPr/>
          <p:nvPr/>
        </p:nvSpPr>
        <p:spPr>
          <a:xfrm>
            <a:off x="8229600" y="2103120"/>
            <a:ext cx="3566160" cy="265176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46920" y="1783080"/>
            <a:ext cx="731520" cy="731520"/>
          </a:xfrm>
          <a:prstGeom prst="ellipse">
            <a:avLst/>
          </a:prstGeom>
          <a:solidFill>
            <a:srgbClr val="3A1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783080"/>
            <a:ext cx="731520" cy="731520"/>
          </a:xfrm>
          <a:prstGeom prst="rect">
            <a:avLst/>
          </a:prstGeom>
          <a:noFill/>
        </p:spPr>
        <p:txBody>
          <a:bodyPr wrap="square" lIns="0" rIns="0" tIns="0" bIns="0" anchor="ctr">
            <a:spAutoFit/>
          </a:bodyPr>
          <a:lstStyle/>
          <a:p>
            <a:pPr algn="ctr">
              <a:spcAft>
                <a:spcPts val="200"/>
              </a:spcAft>
            </a:pPr>
            <a:r>
              <a:rPr sz="2000" b="1" i="0">
                <a:solidFill>
                  <a:srgbClr val="FFFFFF"/>
                </a:solidFill>
                <a:latin typeface="Yu Gothic"/>
                <a:ea typeface="Yu Gothic"/>
                <a:cs typeface="Yu Gothic"/>
              </a:rPr>
              <a:t>3</a:t>
            </a:r>
          </a:p>
        </p:txBody>
      </p:sp>
      <p:sp>
        <p:nvSpPr>
          <p:cNvPr id="18" name="TextBox 17"/>
          <p:cNvSpPr txBox="1"/>
          <p:nvPr/>
        </p:nvSpPr>
        <p:spPr>
          <a:xfrm>
            <a:off x="8412480" y="2651760"/>
            <a:ext cx="3200400" cy="548640"/>
          </a:xfrm>
          <a:prstGeom prst="rect">
            <a:avLst/>
          </a:prstGeom>
          <a:noFill/>
        </p:spPr>
        <p:txBody>
          <a:bodyPr wrap="square" lIns="0" rIns="0" tIns="0" bIns="0" anchor="ctr">
            <a:spAutoFit/>
          </a:bodyPr>
          <a:lstStyle/>
          <a:p>
            <a:pPr algn="ctr">
              <a:spcAft>
                <a:spcPts val="200"/>
              </a:spcAft>
            </a:pPr>
            <a:r>
              <a:rPr sz="1550" b="1" i="0">
                <a:solidFill>
                  <a:srgbClr val="3A106E"/>
                </a:solidFill>
                <a:latin typeface="Yu Gothic"/>
                <a:ea typeface="Yu Gothic"/>
                <a:cs typeface="Yu Gothic"/>
              </a:rPr>
              <a:t>伝えてください</a:t>
            </a:r>
          </a:p>
        </p:txBody>
      </p:sp>
      <p:sp>
        <p:nvSpPr>
          <p:cNvPr id="19" name="TextBox 18"/>
          <p:cNvSpPr txBox="1"/>
          <p:nvPr/>
        </p:nvSpPr>
        <p:spPr>
          <a:xfrm>
            <a:off x="8549640" y="3291840"/>
            <a:ext cx="2926080" cy="1280160"/>
          </a:xfrm>
          <a:prstGeom prst="rect">
            <a:avLst/>
          </a:prstGeom>
          <a:noFill/>
        </p:spPr>
        <p:txBody>
          <a:bodyPr wrap="square" lIns="0" rIns="0" tIns="0" bIns="0">
            <a:spAutoFit/>
          </a:bodyPr>
          <a:lstStyle/>
          <a:p>
            <a:pPr algn="l">
              <a:spcAft>
                <a:spcPts val="400"/>
              </a:spcAft>
            </a:pPr>
            <a:r>
              <a:rPr sz="1100" b="0" i="0">
                <a:solidFill>
                  <a:srgbClr val="262630"/>
                </a:solidFill>
                <a:latin typeface="Yu Gothic"/>
                <a:ea typeface="Yu Gothic"/>
                <a:cs typeface="Yu Gothic"/>
              </a:rPr>
              <a:t>会議で決まったことを、部門のメンバーに</a:t>
            </a:r>
          </a:p>
          <a:p>
            <a:pPr algn="l">
              <a:spcAft>
                <a:spcPts val="400"/>
              </a:spcAft>
            </a:pPr>
            <a:r>
              <a:rPr sz="1100" b="0" i="0">
                <a:solidFill>
                  <a:srgbClr val="262630"/>
                </a:solidFill>
                <a:latin typeface="Yu Gothic"/>
                <a:ea typeface="Yu Gothic"/>
                <a:cs typeface="Yu Gothic"/>
              </a:rPr>
              <a:t>伝えて動かしてください。決定の台帳は</a:t>
            </a:r>
          </a:p>
          <a:p>
            <a:pPr algn="l">
              <a:spcAft>
                <a:spcPts val="400"/>
              </a:spcAft>
            </a:pPr>
            <a:r>
              <a:rPr sz="1100" b="0" i="0">
                <a:solidFill>
                  <a:srgbClr val="262630"/>
                </a:solidFill>
                <a:latin typeface="Yu Gothic"/>
                <a:ea typeface="Yu Gothic"/>
                <a:cs typeface="Yu Gothic"/>
              </a:rPr>
              <a:t>毎回、全部長に共有されます。</a:t>
            </a:r>
          </a:p>
        </p:txBody>
      </p:sp>
      <p:sp>
        <p:nvSpPr>
          <p:cNvPr id="20" name="TextBox 19"/>
          <p:cNvSpPr txBox="1"/>
          <p:nvPr/>
        </p:nvSpPr>
        <p:spPr>
          <a:xfrm>
            <a:off x="640080" y="5120640"/>
            <a:ext cx="10972800" cy="731520"/>
          </a:xfrm>
          <a:prstGeom prst="rect">
            <a:avLst/>
          </a:prstGeom>
          <a:noFill/>
        </p:spPr>
        <p:txBody>
          <a:bodyPr wrap="square" lIns="0" rIns="0" tIns="0" bIns="0">
            <a:spAutoFit/>
          </a:bodyPr>
          <a:lstStyle/>
          <a:p>
            <a:pPr algn="l">
              <a:spcAft>
                <a:spcPts val="400"/>
              </a:spcAft>
            </a:pPr>
            <a:r>
              <a:rPr sz="1250" b="1" i="0">
                <a:solidFill>
                  <a:srgbClr val="262630"/>
                </a:solidFill>
                <a:latin typeface="Yu Gothic"/>
                <a:ea typeface="Yu Gothic"/>
                <a:cs typeface="Yu Gothic"/>
              </a:rPr>
              <a:t>こまごま2つ：①リストの確認・手直し（初回のみ2〜3時間）　②時間の記録の提出徹底（週15分・90日間）</a:t>
            </a:r>
          </a:p>
          <a:p>
            <a:pPr algn="l">
              <a:spcAft>
                <a:spcPts val="400"/>
              </a:spcAft>
            </a:pPr>
            <a:r>
              <a:rPr sz="1150" b="0" i="0">
                <a:solidFill>
                  <a:srgbClr val="5F5F6E"/>
                </a:solidFill>
                <a:latin typeface="Yu Gothic"/>
                <a:ea typeface="Yu Gothic"/>
                <a:cs typeface="Yu Gothic"/>
              </a:rPr>
              <a:t>議事録・資料・集計はすべて事務局がやります。この5つ以外を皆さんにお願いすることはありません</a:t>
            </a: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274320"/>
          </a:xfrm>
          <a:prstGeom prst="rect">
            <a:avLst/>
          </a:prstGeom>
          <a:noFill/>
        </p:spPr>
        <p:txBody>
          <a:bodyPr wrap="square" lIns="0" rIns="0" tIns="0" bIns="0">
            <a:spAutoFit/>
          </a:bodyPr>
          <a:lstStyle/>
          <a:p>
            <a:pPr algn="l">
              <a:spcAft>
                <a:spcPts val="400"/>
              </a:spcAft>
            </a:pPr>
            <a:r>
              <a:rPr sz="1100" b="1" i="0">
                <a:solidFill>
                  <a:srgbClr val="7823DC"/>
                </a:solidFill>
                <a:latin typeface="Yu Gothic"/>
                <a:ea typeface="Yu Gothic"/>
                <a:cs typeface="Yu Gothic"/>
              </a:rPr>
              <a:t>第4部 意見交換（35分）</a:t>
            </a:r>
          </a:p>
        </p:txBody>
      </p:sp>
      <p:sp>
        <p:nvSpPr>
          <p:cNvPr id="3" name="TextBox 2"/>
          <p:cNvSpPr txBox="1"/>
          <p:nvPr/>
        </p:nvSpPr>
        <p:spPr>
          <a:xfrm>
            <a:off x="502920" y="621792"/>
            <a:ext cx="11155680" cy="685800"/>
          </a:xfrm>
          <a:prstGeom prst="rect">
            <a:avLst/>
          </a:prstGeom>
          <a:noFill/>
        </p:spPr>
        <p:txBody>
          <a:bodyPr wrap="square" lIns="0" rIns="0" tIns="0" bIns="0">
            <a:spAutoFit/>
          </a:bodyPr>
          <a:lstStyle/>
          <a:p>
            <a:pPr algn="l">
              <a:spcAft>
                <a:spcPts val="400"/>
              </a:spcAft>
            </a:pPr>
            <a:r>
              <a:rPr sz="2300" b="1" i="0">
                <a:solidFill>
                  <a:srgbClr val="262630"/>
                </a:solidFill>
                <a:latin typeface="Yu Gothic"/>
                <a:ea typeface="Yu Gothic"/>
                <a:cs typeface="Yu Gothic"/>
              </a:rPr>
              <a:t>3つの問いで伺います——ここからが本番です</a:t>
            </a:r>
          </a:p>
        </p:txBody>
      </p:sp>
      <p:sp>
        <p:nvSpPr>
          <p:cNvPr id="4" name="Rectangle 3"/>
          <p:cNvSpPr/>
          <p:nvPr/>
        </p:nvSpPr>
        <p:spPr>
          <a:xfrm>
            <a:off x="502920" y="1371600"/>
            <a:ext cx="164592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11064240" cy="822960"/>
          </a:xfrm>
          <a:prstGeom prst="roundRect">
            <a:avLst/>
          </a:prstGeom>
          <a:solidFill>
            <a:srgbClr val="F3EFFB"/>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1005840" cy="822960"/>
          </a:xfrm>
          <a:prstGeom prst="rect">
            <a:avLst/>
          </a:prstGeom>
          <a:noFill/>
        </p:spPr>
        <p:txBody>
          <a:bodyPr wrap="square" lIns="0" rIns="0" tIns="0" bIns="0" anchor="ctr">
            <a:spAutoFit/>
          </a:bodyPr>
          <a:lstStyle/>
          <a:p>
            <a:pPr algn="l">
              <a:spcAft>
                <a:spcPts val="200"/>
              </a:spcAft>
            </a:pPr>
            <a:r>
              <a:rPr sz="1500" b="1" i="0">
                <a:solidFill>
                  <a:srgbClr val="7823DC"/>
                </a:solidFill>
                <a:latin typeface="Yu Gothic"/>
                <a:ea typeface="Yu Gothic"/>
                <a:cs typeface="Yu Gothic"/>
              </a:rPr>
              <a:t>問1</a:t>
            </a:r>
          </a:p>
        </p:txBody>
      </p:sp>
      <p:sp>
        <p:nvSpPr>
          <p:cNvPr id="7" name="TextBox 6"/>
          <p:cNvSpPr txBox="1"/>
          <p:nvPr/>
        </p:nvSpPr>
        <p:spPr>
          <a:xfrm>
            <a:off x="1920240" y="2103120"/>
            <a:ext cx="9601200" cy="365760"/>
          </a:xfrm>
          <a:prstGeom prst="rect">
            <a:avLst/>
          </a:prstGeom>
          <a:noFill/>
        </p:spPr>
        <p:txBody>
          <a:bodyPr wrap="square" lIns="0" rIns="0" tIns="0" bIns="0" anchor="ctr">
            <a:spAutoFit/>
          </a:bodyPr>
          <a:lstStyle/>
          <a:p>
            <a:pPr algn="l">
              <a:spcAft>
                <a:spcPts val="200"/>
              </a:spcAft>
            </a:pPr>
            <a:r>
              <a:rPr sz="1400" b="1" i="0">
                <a:solidFill>
                  <a:srgbClr val="3A106E"/>
                </a:solidFill>
                <a:latin typeface="Yu Gothic"/>
                <a:ea typeface="Yu Gothic"/>
                <a:cs typeface="Yu Gothic"/>
              </a:rPr>
              <a:t>4つの見立ては、現場の実感と合っているか</a:t>
            </a:r>
          </a:p>
        </p:txBody>
      </p:sp>
      <p:sp>
        <p:nvSpPr>
          <p:cNvPr id="8" name="TextBox 7"/>
          <p:cNvSpPr txBox="1"/>
          <p:nvPr/>
        </p:nvSpPr>
        <p:spPr>
          <a:xfrm>
            <a:off x="1920240" y="2468880"/>
            <a:ext cx="9601200" cy="320040"/>
          </a:xfrm>
          <a:prstGeom prst="rect">
            <a:avLst/>
          </a:prstGeom>
          <a:noFill/>
        </p:spPr>
        <p:txBody>
          <a:bodyPr wrap="square" lIns="0" rIns="0" tIns="0" bIns="0" anchor="ctr">
            <a:spAutoFit/>
          </a:bodyPr>
          <a:lstStyle/>
          <a:p>
            <a:pPr algn="l">
              <a:spcAft>
                <a:spcPts val="200"/>
              </a:spcAft>
            </a:pPr>
            <a:r>
              <a:rPr sz="1050" b="0" i="0">
                <a:solidFill>
                  <a:srgbClr val="5F5F6E"/>
                </a:solidFill>
                <a:latin typeface="Yu Gothic"/>
                <a:ea typeface="Yu Gothic"/>
                <a:cs typeface="Yu Gothic"/>
              </a:rPr>
              <a:t>ズレ・もっと深刻な問題があれば（15分）</a:t>
            </a:r>
          </a:p>
        </p:txBody>
      </p:sp>
      <p:sp>
        <p:nvSpPr>
          <p:cNvPr id="9" name="Rounded Rectangle 8"/>
          <p:cNvSpPr/>
          <p:nvPr/>
        </p:nvSpPr>
        <p:spPr>
          <a:xfrm>
            <a:off x="640080" y="2971800"/>
            <a:ext cx="11064240" cy="8229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71800"/>
            <a:ext cx="1005840" cy="822960"/>
          </a:xfrm>
          <a:prstGeom prst="rect">
            <a:avLst/>
          </a:prstGeom>
          <a:noFill/>
        </p:spPr>
        <p:txBody>
          <a:bodyPr wrap="square" lIns="0" rIns="0" tIns="0" bIns="0" anchor="ctr">
            <a:spAutoFit/>
          </a:bodyPr>
          <a:lstStyle/>
          <a:p>
            <a:pPr algn="l">
              <a:spcAft>
                <a:spcPts val="200"/>
              </a:spcAft>
            </a:pPr>
            <a:r>
              <a:rPr sz="1500" b="1" i="0">
                <a:solidFill>
                  <a:srgbClr val="7823DC"/>
                </a:solidFill>
                <a:latin typeface="Yu Gothic"/>
                <a:ea typeface="Yu Gothic"/>
                <a:cs typeface="Yu Gothic"/>
              </a:rPr>
              <a:t>問2</a:t>
            </a:r>
          </a:p>
        </p:txBody>
      </p:sp>
      <p:sp>
        <p:nvSpPr>
          <p:cNvPr id="11" name="TextBox 10"/>
          <p:cNvSpPr txBox="1"/>
          <p:nvPr/>
        </p:nvSpPr>
        <p:spPr>
          <a:xfrm>
            <a:off x="1920240" y="3063240"/>
            <a:ext cx="9601200" cy="365760"/>
          </a:xfrm>
          <a:prstGeom prst="rect">
            <a:avLst/>
          </a:prstGeom>
          <a:noFill/>
        </p:spPr>
        <p:txBody>
          <a:bodyPr wrap="square" lIns="0" rIns="0" tIns="0" bIns="0" anchor="ctr">
            <a:spAutoFit/>
          </a:bodyPr>
          <a:lstStyle/>
          <a:p>
            <a:pPr algn="l">
              <a:spcAft>
                <a:spcPts val="200"/>
              </a:spcAft>
            </a:pPr>
            <a:r>
              <a:rPr sz="1400" b="1" i="0">
                <a:solidFill>
                  <a:srgbClr val="3A106E"/>
                </a:solidFill>
                <a:latin typeface="Yu Gothic"/>
                <a:ea typeface="Yu Gothic"/>
                <a:cs typeface="Yu Gothic"/>
              </a:rPr>
              <a:t>この進め方の、どこで詰まりそうか</a:t>
            </a:r>
          </a:p>
        </p:txBody>
      </p:sp>
      <p:sp>
        <p:nvSpPr>
          <p:cNvPr id="12" name="TextBox 11"/>
          <p:cNvSpPr txBox="1"/>
          <p:nvPr/>
        </p:nvSpPr>
        <p:spPr>
          <a:xfrm>
            <a:off x="1920240" y="3429000"/>
            <a:ext cx="9601200" cy="320040"/>
          </a:xfrm>
          <a:prstGeom prst="rect">
            <a:avLst/>
          </a:prstGeom>
          <a:noFill/>
        </p:spPr>
        <p:txBody>
          <a:bodyPr wrap="square" lIns="0" rIns="0" tIns="0" bIns="0" anchor="ctr">
            <a:spAutoFit/>
          </a:bodyPr>
          <a:lstStyle/>
          <a:p>
            <a:pPr algn="l">
              <a:spcAft>
                <a:spcPts val="200"/>
              </a:spcAft>
            </a:pPr>
            <a:r>
              <a:rPr sz="1050" b="0" i="0">
                <a:solidFill>
                  <a:srgbClr val="5F5F6E"/>
                </a:solidFill>
                <a:latin typeface="Yu Gothic"/>
                <a:ea typeface="Yu Gothic"/>
                <a:cs typeface="Yu Gothic"/>
              </a:rPr>
              <a:t>点数化／やめる判断／時間の記録／会議の変更／人選（15分）</a:t>
            </a:r>
          </a:p>
        </p:txBody>
      </p:sp>
      <p:sp>
        <p:nvSpPr>
          <p:cNvPr id="13" name="Rounded Rectangle 12"/>
          <p:cNvSpPr/>
          <p:nvPr/>
        </p:nvSpPr>
        <p:spPr>
          <a:xfrm>
            <a:off x="640080" y="3931920"/>
            <a:ext cx="11064240" cy="822960"/>
          </a:xfrm>
          <a:prstGeom prst="roundRect">
            <a:avLst/>
          </a:prstGeom>
          <a:solidFill>
            <a:srgbClr val="F3EFFB"/>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31920"/>
            <a:ext cx="1005840" cy="822960"/>
          </a:xfrm>
          <a:prstGeom prst="rect">
            <a:avLst/>
          </a:prstGeom>
          <a:noFill/>
        </p:spPr>
        <p:txBody>
          <a:bodyPr wrap="square" lIns="0" rIns="0" tIns="0" bIns="0" anchor="ctr">
            <a:spAutoFit/>
          </a:bodyPr>
          <a:lstStyle/>
          <a:p>
            <a:pPr algn="l">
              <a:spcAft>
                <a:spcPts val="200"/>
              </a:spcAft>
            </a:pPr>
            <a:r>
              <a:rPr sz="1500" b="1" i="0">
                <a:solidFill>
                  <a:srgbClr val="7823DC"/>
                </a:solidFill>
                <a:latin typeface="Yu Gothic"/>
                <a:ea typeface="Yu Gothic"/>
                <a:cs typeface="Yu Gothic"/>
              </a:rPr>
              <a:t>問3</a:t>
            </a:r>
          </a:p>
        </p:txBody>
      </p:sp>
      <p:sp>
        <p:nvSpPr>
          <p:cNvPr id="15" name="TextBox 14"/>
          <p:cNvSpPr txBox="1"/>
          <p:nvPr/>
        </p:nvSpPr>
        <p:spPr>
          <a:xfrm>
            <a:off x="1920240" y="4023360"/>
            <a:ext cx="9601200" cy="365760"/>
          </a:xfrm>
          <a:prstGeom prst="rect">
            <a:avLst/>
          </a:prstGeom>
          <a:noFill/>
        </p:spPr>
        <p:txBody>
          <a:bodyPr wrap="square" lIns="0" rIns="0" tIns="0" bIns="0" anchor="ctr">
            <a:spAutoFit/>
          </a:bodyPr>
          <a:lstStyle/>
          <a:p>
            <a:pPr algn="l">
              <a:spcAft>
                <a:spcPts val="200"/>
              </a:spcAft>
            </a:pPr>
            <a:r>
              <a:rPr sz="1400" b="1" i="0">
                <a:solidFill>
                  <a:srgbClr val="3A106E"/>
                </a:solidFill>
                <a:latin typeface="Yu Gothic"/>
                <a:ea typeface="Yu Gothic"/>
                <a:cs typeface="Yu Gothic"/>
              </a:rPr>
              <a:t>既存の会議で、この仕組みに統合できるものは</a:t>
            </a:r>
          </a:p>
        </p:txBody>
      </p:sp>
      <p:sp>
        <p:nvSpPr>
          <p:cNvPr id="16" name="TextBox 15"/>
          <p:cNvSpPr txBox="1"/>
          <p:nvPr/>
        </p:nvSpPr>
        <p:spPr>
          <a:xfrm>
            <a:off x="1920240" y="4389120"/>
            <a:ext cx="9601200" cy="320040"/>
          </a:xfrm>
          <a:prstGeom prst="rect">
            <a:avLst/>
          </a:prstGeom>
          <a:noFill/>
        </p:spPr>
        <p:txBody>
          <a:bodyPr wrap="square" lIns="0" rIns="0" tIns="0" bIns="0" anchor="ctr">
            <a:spAutoFit/>
          </a:bodyPr>
          <a:lstStyle/>
          <a:p>
            <a:pPr algn="l">
              <a:spcAft>
                <a:spcPts val="200"/>
              </a:spcAft>
            </a:pPr>
            <a:r>
              <a:rPr sz="1050" b="0" i="0">
                <a:solidFill>
                  <a:srgbClr val="5F5F6E"/>
                </a:solidFill>
                <a:latin typeface="Yu Gothic"/>
                <a:ea typeface="Yu Gothic"/>
                <a:cs typeface="Yu Gothic"/>
              </a:rPr>
              <a:t>「会議は増やさない」を守るために（5分）</a:t>
            </a:r>
          </a:p>
        </p:txBody>
      </p:sp>
      <p:sp>
        <p:nvSpPr>
          <p:cNvPr id="17" name="TextBox 16"/>
          <p:cNvSpPr txBox="1"/>
          <p:nvPr/>
        </p:nvSpPr>
        <p:spPr>
          <a:xfrm>
            <a:off x="640080" y="5074920"/>
            <a:ext cx="10972800" cy="822960"/>
          </a:xfrm>
          <a:prstGeom prst="rect">
            <a:avLst/>
          </a:prstGeom>
          <a:noFill/>
        </p:spPr>
        <p:txBody>
          <a:bodyPr wrap="square" lIns="0" rIns="0" tIns="0" bIns="0">
            <a:spAutoFit/>
          </a:bodyPr>
          <a:lstStyle/>
          <a:p>
            <a:pPr algn="l">
              <a:spcAft>
                <a:spcPts val="400"/>
              </a:spcAft>
            </a:pPr>
            <a:r>
              <a:rPr sz="1250" b="1" i="0">
                <a:solidFill>
                  <a:srgbClr val="262630"/>
                </a:solidFill>
                <a:latin typeface="Yu Gothic"/>
                <a:ea typeface="Yu Gothic"/>
                <a:cs typeface="Yu Gothic"/>
              </a:rPr>
              <a:t>今後の流れ：本日＋1週間の意見受付 → 反映結果を全部長へ共有 → 経営会議に諮る → 承認後すぐ開始（道具・様式は準備済み）</a:t>
            </a:r>
          </a:p>
          <a:p>
            <a:pPr algn="l">
              <a:spcAft>
                <a:spcPts val="400"/>
              </a:spcAft>
            </a:pPr>
            <a:r>
              <a:rPr sz="1150" b="0" i="0">
                <a:solidFill>
                  <a:srgbClr val="5F5F6E"/>
                </a:solidFill>
                <a:latin typeface="Yu Gothic"/>
                <a:ea typeface="Yu Gothic"/>
                <a:cs typeface="Yu Gothic"/>
              </a:rPr>
              <a:t>言いそびれた意見は、今後1週間、新谷まで直接どうぞ（メール・口頭どちらでも）。この改革は、皆さんが「自分ごと」と思えなければ成功しません。</a:t>
            </a:r>
          </a:p>
        </p:txBody>
      </p:sp>
      <p:sp>
        <p:nvSpPr>
          <p:cNvPr id="18" name="TextBox 1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円谷プロダクション｜営業改革の全体像（部長会・90分版・社外秘）</a:t>
            </a:r>
          </a:p>
        </p:txBody>
      </p:sp>
      <p:sp>
        <p:nvSpPr>
          <p:cNvPr id="19" name="TextBox 1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